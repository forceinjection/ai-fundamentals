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12192000" cy="6858000"/>
  <p:notesSz cx="12192000" cy="6858000"/>
  <p:embeddedFontLst>
    <p:embeddedFont>
      <p:font typeface="MiSans" pitchFamily="2" charset="-122"/>
      <p:regular r:id="rId42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3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39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font" Target="fonts/font1.fntdata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标准注意力 O(N²)</c:v>
          </c:tx>
          <c:spPr>
            <a:ln w="25400">
              <a:solidFill>
                <a:srgbClr val="0B2440"/>
              </a:solidFill>
            </a:ln>
          </c:spPr>
          <c:marker>
            <c:symbol val="circle"/>
            <c:size val="5"/>
            <c:spPr>
              <a:solidFill>
                <a:srgbClr val="0B2440"/>
              </a:solidFill>
              <a:ln w="25400">
                <a:solidFill>
                  <a:srgbClr val="0B2440"/>
                </a:solidFill>
              </a:ln>
            </c:spPr>
          </c:marker>
          <c:cat>
            <c:strLit>
              <c:ptCount val="5"/>
              <c:pt idx="0">
                <c:v>1K</c:v>
              </c:pt>
              <c:pt idx="1">
                <c:v>8K</c:v>
              </c:pt>
              <c:pt idx="2">
                <c:v>64K</c:v>
              </c:pt>
              <c:pt idx="3">
                <c:v>256K</c:v>
              </c:pt>
              <c:pt idx="4">
                <c:v>1M</c:v>
              </c:pt>
            </c:strLit>
          </c:cat>
          <c:val>
            <c:numLit>
              <c:formatCode>General</c:formatCode>
              <c:ptCount val="5"/>
              <c:pt idx="0">
                <c:v>0</c:v>
              </c:pt>
              <c:pt idx="1">
                <c:v>1.8</c:v>
              </c:pt>
              <c:pt idx="2">
                <c:v>3.6</c:v>
              </c:pt>
              <c:pt idx="3">
                <c:v>4.8</c:v>
              </c:pt>
              <c:pt idx="4">
                <c:v>6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3DD7-1941-B3D6-BDC6DE4DAB25}"/>
            </c:ext>
          </c:extLst>
        </c:ser>
        <c:ser>
          <c:idx val="1"/>
          <c:order val="1"/>
          <c:tx>
            <c:v>线性注意力 O(N)</c:v>
          </c:tx>
          <c:spPr>
            <a:ln w="31750">
              <a:solidFill>
                <a:srgbClr val="F07D0A"/>
              </a:solidFill>
            </a:ln>
          </c:spPr>
          <c:marker>
            <c:symbol val="circle"/>
            <c:size val="5"/>
            <c:spPr>
              <a:solidFill>
                <a:srgbClr val="F07D0A"/>
              </a:solidFill>
              <a:ln w="31750">
                <a:solidFill>
                  <a:srgbClr val="F07D0A"/>
                </a:solidFill>
              </a:ln>
            </c:spPr>
          </c:marker>
          <c:cat>
            <c:strLit>
              <c:ptCount val="5"/>
              <c:pt idx="0">
                <c:v>1K</c:v>
              </c:pt>
              <c:pt idx="1">
                <c:v>8K</c:v>
              </c:pt>
              <c:pt idx="2">
                <c:v>64K</c:v>
              </c:pt>
              <c:pt idx="3">
                <c:v>256K</c:v>
              </c:pt>
              <c:pt idx="4">
                <c:v>1M</c:v>
              </c:pt>
            </c:strLit>
          </c:cat>
          <c:val>
            <c:numLit>
              <c:formatCode>General</c:formatCode>
              <c:ptCount val="5"/>
              <c:pt idx="0">
                <c:v>0</c:v>
              </c:pt>
              <c:pt idx="1">
                <c:v>0.9</c:v>
              </c:pt>
              <c:pt idx="2">
                <c:v>1.8</c:v>
              </c:pt>
              <c:pt idx="3">
                <c:v>2.4</c:v>
              </c:pt>
              <c:pt idx="4">
                <c:v>3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3DD7-1941-B3D6-BDC6DE4DAB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"/>
        <c:axId val="2"/>
      </c:lineChart>
      <c:catAx>
        <c:axId val="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low"/>
        <c:spPr>
          <a:ln w="12700">
            <a:solidFill>
              <a:srgbClr val="888888"/>
            </a:solidFill>
          </a:ln>
        </c:spPr>
        <c:txPr>
          <a:bodyPr/>
          <a:lstStyle/>
          <a:p>
            <a:pPr>
              <a:defRPr sz="1000" b="0" i="0" u="none" strike="noStrike" noProof="1">
                <a:latin typeface="MiSans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6"/>
          <c:min val="0"/>
        </c:scaling>
        <c:delete val="0"/>
        <c:axPos val="l"/>
        <c:majorGridlines>
          <c:spPr>
            <a:ln w="12700">
              <a:solidFill>
                <a:srgbClr val="D9E1EB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000" noProof="1"/>
                  <a:t>相对计算量（log₁₀）</a:t>
                </a:r>
              </a:p>
            </c:rich>
          </c:tx>
          <c:layout>
            <c:manualLayout>
              <c:xMode val="edge"/>
              <c:yMode val="edge"/>
              <c:x val="0.02"/>
              <c:y val="0.44"/>
            </c:manualLayout>
          </c:layout>
          <c:overlay val="0"/>
        </c:title>
        <c:numFmt formatCode="General" sourceLinked="0"/>
        <c:majorTickMark val="out"/>
        <c:minorTickMark val="none"/>
        <c:tickLblPos val="nextTo"/>
        <c:spPr>
          <a:ln w="12700">
            <a:solidFill>
              <a:srgbClr val="888888"/>
            </a:solidFill>
          </a:ln>
        </c:spPr>
        <c:txPr>
          <a:bodyPr/>
          <a:lstStyle/>
          <a:p>
            <a:pPr>
              <a:defRPr sz="1000" b="0" i="0" u="none" strike="noStrike" noProof="1">
                <a:latin typeface="MiSans"/>
              </a:defRPr>
            </a:pPr>
            <a:endParaRPr lang="en-US"/>
          </a:p>
        </c:txPr>
        <c:crossAx val="1"/>
        <c:crosses val="autoZero"/>
        <c:crossBetween val="between"/>
        <c:majorUnit val="1"/>
      </c:valAx>
      <c:spPr>
        <a:noFill/>
        <a:ln>
          <a:noFill/>
        </a:ln>
      </c:spPr>
    </c:plotArea>
    <c:legend>
      <c:legendPos val="b"/>
      <c:overlay val="0"/>
      <c:txPr>
        <a:bodyPr/>
        <a:lstStyle/>
        <a:p>
          <a:pPr>
            <a:defRPr sz="1000" b="0" i="0" u="none" strike="noStrike" noProof="1">
              <a:latin typeface="MiSans"/>
            </a:defRPr>
          </a:pPr>
          <a:endParaRPr lang="en-US"/>
        </a:p>
      </c:txPr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b="0" i="0" u="none" strike="noStrike" noProof="1">
          <a:latin typeface="MiSans"/>
        </a:defRPr>
      </a:pPr>
      <a:endParaRPr lang="en-US"/>
    </a:p>
  </c:tx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r>
              <a:rPr lang="en-US" sz="1200" noProof="1"/>
              <a:t>DeepSeek-V3 解码吞吐（token/s）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解码吞吐（token/s）</c:v>
          </c:tx>
          <c:spPr>
            <a:solidFill>
              <a:srgbClr val="F07D0A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 noProof="1"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H200</c:v>
              </c:pt>
              <c:pt idx="1">
                <c:v>GB200</c:v>
              </c:pt>
            </c:strLit>
          </c:cat>
          <c:val>
            <c:numLit>
              <c:formatCode>General</c:formatCode>
              <c:ptCount val="2"/>
              <c:pt idx="0">
                <c:v>2200</c:v>
              </c:pt>
              <c:pt idx="1">
                <c:v>10100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6EFB-0643-817B-445EDA5AAC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22"/>
        <c:axId val="1"/>
        <c:axId val="2"/>
      </c:barChart>
      <c:catAx>
        <c:axId val="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low"/>
        <c:spPr>
          <a:ln w="12700">
            <a:solidFill>
              <a:srgbClr val="888888"/>
            </a:solidFill>
          </a:ln>
        </c:spPr>
        <c:txPr>
          <a:bodyPr/>
          <a:lstStyle/>
          <a:p>
            <a:pPr>
              <a:defRPr sz="1100" b="0" i="0" u="none" strike="noStrike" noProof="1">
                <a:latin typeface="MiSans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12000"/>
          <c:min val="0"/>
        </c:scaling>
        <c:delete val="0"/>
        <c:axPos val="l"/>
        <c:majorGridlines>
          <c:spPr>
            <a:ln w="12700">
              <a:solidFill>
                <a:srgbClr val="D9E1EB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>
            <a:solidFill>
              <a:srgbClr val="888888"/>
            </a:solidFill>
          </a:ln>
        </c:spPr>
        <c:txPr>
          <a:bodyPr/>
          <a:lstStyle/>
          <a:p>
            <a:pPr>
              <a:defRPr sz="1000" b="0" i="0" u="none" strike="noStrike" noProof="1">
                <a:latin typeface="MiSans"/>
              </a:defRPr>
            </a:pPr>
            <a:endParaRPr lang="en-US"/>
          </a:p>
        </c:txPr>
        <c:crossAx val="1"/>
        <c:crosses val="autoZero"/>
        <c:crossBetween val="between"/>
        <c:majorUnit val="2000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b="0" i="0" u="none" strike="noStrike" noProof="1">
          <a:latin typeface="MiSans"/>
        </a:defRPr>
      </a:pPr>
      <a:endParaRPr lang="en-US"/>
    </a:p>
  </c:tx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r>
              <a:rPr lang="en-US" sz="1200" noProof="1"/>
              <a:t>矩阵乘法（GEMM）优化阶梯 · 同一 GPU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性能（TFLOPS）</c:v>
          </c:tx>
          <c:spPr>
            <a:solidFill>
              <a:srgbClr val="F07D0A"/>
            </a:solidFill>
          </c:spPr>
          <c:invertIfNegative val="1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 noProof="1"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朴素实现</c:v>
              </c:pt>
              <c:pt idx="1">
                <c:v>合并访问</c:v>
              </c:pt>
              <c:pt idx="2">
                <c:v>共享内存</c:v>
              </c:pt>
              <c:pt idx="3">
                <c:v>向量化</c:v>
              </c:pt>
              <c:pt idx="4">
                <c:v>Tensor Core</c:v>
              </c:pt>
            </c:strLit>
          </c:cat>
          <c:val>
            <c:numLit>
              <c:formatCode>General</c:formatCode>
              <c:ptCount val="5"/>
              <c:pt idx="0">
                <c:v>0.5</c:v>
              </c:pt>
              <c:pt idx="1">
                <c:v>2.1</c:v>
              </c:pt>
              <c:pt idx="2">
                <c:v>8.5</c:v>
              </c:pt>
              <c:pt idx="3">
                <c:v>15.2</c:v>
              </c:pt>
              <c:pt idx="4">
                <c:v>67.3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F7D3-2141-BF75-62603E5733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2"/>
        <c:axId val="1"/>
        <c:axId val="2"/>
      </c:barChart>
      <c:catAx>
        <c:axId val="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low"/>
        <c:spPr>
          <a:ln w="12700">
            <a:solidFill>
              <a:srgbClr val="888888"/>
            </a:solidFill>
          </a:ln>
        </c:spPr>
        <c:txPr>
          <a:bodyPr/>
          <a:lstStyle/>
          <a:p>
            <a:pPr>
              <a:defRPr sz="1000" b="0" i="0" u="none" strike="noStrike" noProof="1">
                <a:latin typeface="MiSans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70"/>
          <c:min val="0"/>
        </c:scaling>
        <c:delete val="0"/>
        <c:axPos val="l"/>
        <c:majorGridlines>
          <c:spPr>
            <a:ln w="12700">
              <a:solidFill>
                <a:srgbClr val="D9E1EB"/>
              </a:solidFill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>
            <a:solidFill>
              <a:srgbClr val="888888"/>
            </a:solidFill>
          </a:ln>
        </c:spPr>
        <c:txPr>
          <a:bodyPr/>
          <a:lstStyle/>
          <a:p>
            <a:pPr>
              <a:defRPr sz="1000" b="0" i="0" u="none" strike="noStrike" noProof="1">
                <a:latin typeface="MiSans"/>
              </a:defRPr>
            </a:pPr>
            <a:endParaRPr lang="en-US"/>
          </a:p>
        </c:txPr>
        <c:crossAx val="1"/>
        <c:crosses val="autoZero"/>
        <c:crossBetween val="between"/>
        <c:majorUnit val="10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b="0" i="0" u="none" strike="noStrike" noProof="1">
          <a:latin typeface="MiSans"/>
        </a:defRPr>
      </a:pPr>
      <a:endParaRPr lang="en-US"/>
    </a:p>
  </c:txPr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B2440"/>
            </a:gs>
            <a:gs pos="100000">
              <a:srgbClr val="071527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"/>
          <p:cNvSpPr txBox="1"/>
          <p:nvPr/>
        </p:nvSpPr>
        <p:spPr>
          <a:xfrm>
            <a:off x="711200" y="13462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F07D0A"/>
                </a:solidFill>
                <a:latin typeface="MiSans"/>
                <a:ea typeface="MiSans"/>
              </a:rPr>
              <a:t>AI INFRA 课程 · 专题讲座</a:t>
            </a:r>
            <a:endParaRPr lang="en-US" sz="1200" noProof="1"/>
          </a:p>
        </p:txBody>
      </p:sp>
      <p:sp>
        <p:nvSpPr>
          <p:cNvPr id="3" name="t1"/>
          <p:cNvSpPr txBox="1"/>
          <p:nvPr/>
        </p:nvSpPr>
        <p:spPr>
          <a:xfrm>
            <a:off x="711200" y="1752600"/>
            <a:ext cx="8128000" cy="1041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5800" b="1" noProof="1">
                <a:solidFill>
                  <a:srgbClr val="FFFFFF"/>
                </a:solidFill>
                <a:latin typeface="MiSans"/>
                <a:ea typeface="MiSans"/>
              </a:rPr>
              <a:t>Token Factory</a:t>
            </a:r>
            <a:endParaRPr lang="en-US" sz="5800" noProof="1"/>
          </a:p>
        </p:txBody>
      </p:sp>
      <p:sp>
        <p:nvSpPr>
          <p:cNvPr id="4" name="t2"/>
          <p:cNvSpPr txBox="1"/>
          <p:nvPr/>
        </p:nvSpPr>
        <p:spPr>
          <a:xfrm>
            <a:off x="711200" y="2819400"/>
            <a:ext cx="8128000" cy="635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400" b="1" noProof="1">
                <a:solidFill>
                  <a:srgbClr val="FFFFFF"/>
                </a:solidFill>
                <a:latin typeface="MiSans"/>
                <a:ea typeface="MiSans"/>
              </a:rPr>
              <a:t>AI 推理的成本革命</a:t>
            </a:r>
            <a:endParaRPr lang="en-US" sz="3400" noProof="1"/>
          </a:p>
        </p:txBody>
      </p:sp>
      <p:sp>
        <p:nvSpPr>
          <p:cNvPr id="5" name="sub"/>
          <p:cNvSpPr txBox="1"/>
          <p:nvPr/>
        </p:nvSpPr>
        <p:spPr>
          <a:xfrm>
            <a:off x="711200" y="3657600"/>
            <a:ext cx="7620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700" noProof="1">
                <a:solidFill>
                  <a:srgbClr val="A9BCD2"/>
                </a:solidFill>
                <a:latin typeface="MiSans"/>
                <a:ea typeface="MiSans"/>
              </a:rPr>
              <a:t>大模型如何从奢侈品变成水电</a:t>
            </a:r>
            <a:endParaRPr lang="en-US" sz="1700" noProof="1"/>
          </a:p>
        </p:txBody>
      </p:sp>
      <p:sp>
        <p:nvSpPr>
          <p:cNvPr id="6" name="orule"/>
          <p:cNvSpPr/>
          <p:nvPr/>
        </p:nvSpPr>
        <p:spPr>
          <a:xfrm>
            <a:off x="711200" y="4216400"/>
            <a:ext cx="812800" cy="508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meta"/>
          <p:cNvSpPr txBox="1"/>
          <p:nvPr/>
        </p:nvSpPr>
        <p:spPr>
          <a:xfrm>
            <a:off x="711200" y="44704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8FA3BC"/>
                </a:solidFill>
                <a:latin typeface="MiSans"/>
                <a:ea typeface="MiSans"/>
              </a:rPr>
              <a:t>演讲者：Grissom ｜ 2026 年 8 月 ｜ 90 分钟（含 Q&amp;A）</a:t>
            </a:r>
            <a:endParaRPr lang="en-US" sz="1300" noProof="1"/>
          </a:p>
        </p:txBody>
      </p:sp>
      <p:sp>
        <p:nvSpPr>
          <p:cNvPr id="8" name="lane1"/>
          <p:cNvSpPr/>
          <p:nvPr/>
        </p:nvSpPr>
        <p:spPr>
          <a:xfrm>
            <a:off x="7874000" y="1905000"/>
            <a:ext cx="3606800" cy="12700"/>
          </a:xfrm>
          <a:prstGeom prst="rect">
            <a:avLst/>
          </a:prstGeom>
          <a:solidFill>
            <a:srgbClr val="21456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lane2"/>
          <p:cNvSpPr/>
          <p:nvPr/>
        </p:nvSpPr>
        <p:spPr>
          <a:xfrm>
            <a:off x="7874000" y="2667000"/>
            <a:ext cx="3606800" cy="12700"/>
          </a:xfrm>
          <a:prstGeom prst="rect">
            <a:avLst/>
          </a:prstGeom>
          <a:solidFill>
            <a:srgbClr val="21456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lane3"/>
          <p:cNvSpPr/>
          <p:nvPr/>
        </p:nvSpPr>
        <p:spPr>
          <a:xfrm>
            <a:off x="7874000" y="3429000"/>
            <a:ext cx="3606800" cy="12700"/>
          </a:xfrm>
          <a:prstGeom prst="rect">
            <a:avLst/>
          </a:prstGeom>
          <a:solidFill>
            <a:srgbClr val="21456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lane4"/>
          <p:cNvSpPr/>
          <p:nvPr/>
        </p:nvSpPr>
        <p:spPr>
          <a:xfrm>
            <a:off x="7874000" y="4191000"/>
            <a:ext cx="3606800" cy="12700"/>
          </a:xfrm>
          <a:prstGeom prst="rect">
            <a:avLst/>
          </a:prstGeom>
          <a:solidFill>
            <a:srgbClr val="21456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lane5"/>
          <p:cNvSpPr/>
          <p:nvPr/>
        </p:nvSpPr>
        <p:spPr>
          <a:xfrm>
            <a:off x="7874000" y="4953000"/>
            <a:ext cx="3606800" cy="12700"/>
          </a:xfrm>
          <a:prstGeom prst="rect">
            <a:avLst/>
          </a:prstGeom>
          <a:solidFill>
            <a:srgbClr val="21456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ok11"/>
          <p:cNvSpPr/>
          <p:nvPr/>
        </p:nvSpPr>
        <p:spPr>
          <a:xfrm>
            <a:off x="8128000" y="1816100"/>
            <a:ext cx="190500" cy="190500"/>
          </a:xfrm>
          <a:prstGeom prst="rect">
            <a:avLst/>
          </a:prstGeom>
          <a:solidFill>
            <a:srgbClr val="2A558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ok12"/>
          <p:cNvSpPr/>
          <p:nvPr/>
        </p:nvSpPr>
        <p:spPr>
          <a:xfrm>
            <a:off x="8890000" y="1816100"/>
            <a:ext cx="190500" cy="190500"/>
          </a:xfrm>
          <a:prstGeom prst="rect">
            <a:avLst/>
          </a:prstGeom>
          <a:solidFill>
            <a:srgbClr val="2A558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ok13"/>
          <p:cNvSpPr/>
          <p:nvPr/>
        </p:nvSpPr>
        <p:spPr>
          <a:xfrm>
            <a:off x="9804400" y="1816100"/>
            <a:ext cx="190500" cy="1905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ok21"/>
          <p:cNvSpPr/>
          <p:nvPr/>
        </p:nvSpPr>
        <p:spPr>
          <a:xfrm>
            <a:off x="8432800" y="2578100"/>
            <a:ext cx="190500" cy="190500"/>
          </a:xfrm>
          <a:prstGeom prst="rect">
            <a:avLst/>
          </a:prstGeom>
          <a:solidFill>
            <a:srgbClr val="2A558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ok22"/>
          <p:cNvSpPr/>
          <p:nvPr/>
        </p:nvSpPr>
        <p:spPr>
          <a:xfrm>
            <a:off x="9347200" y="2578100"/>
            <a:ext cx="190500" cy="190500"/>
          </a:xfrm>
          <a:prstGeom prst="rect">
            <a:avLst/>
          </a:prstGeom>
          <a:solidFill>
            <a:srgbClr val="2A558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ok23"/>
          <p:cNvSpPr/>
          <p:nvPr/>
        </p:nvSpPr>
        <p:spPr>
          <a:xfrm>
            <a:off x="10566400" y="2578100"/>
            <a:ext cx="190500" cy="1905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ok31"/>
          <p:cNvSpPr/>
          <p:nvPr/>
        </p:nvSpPr>
        <p:spPr>
          <a:xfrm>
            <a:off x="7975600" y="3340100"/>
            <a:ext cx="190500" cy="1905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ok32"/>
          <p:cNvSpPr/>
          <p:nvPr/>
        </p:nvSpPr>
        <p:spPr>
          <a:xfrm>
            <a:off x="9042400" y="3340100"/>
            <a:ext cx="190500" cy="190500"/>
          </a:xfrm>
          <a:prstGeom prst="rect">
            <a:avLst/>
          </a:prstGeom>
          <a:solidFill>
            <a:srgbClr val="2A558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ok33"/>
          <p:cNvSpPr/>
          <p:nvPr/>
        </p:nvSpPr>
        <p:spPr>
          <a:xfrm>
            <a:off x="10109200" y="3340100"/>
            <a:ext cx="190500" cy="190500"/>
          </a:xfrm>
          <a:prstGeom prst="rect">
            <a:avLst/>
          </a:prstGeom>
          <a:solidFill>
            <a:srgbClr val="2A558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ok41"/>
          <p:cNvSpPr/>
          <p:nvPr/>
        </p:nvSpPr>
        <p:spPr>
          <a:xfrm>
            <a:off x="8737600" y="4102100"/>
            <a:ext cx="190500" cy="190500"/>
          </a:xfrm>
          <a:prstGeom prst="rect">
            <a:avLst/>
          </a:prstGeom>
          <a:solidFill>
            <a:srgbClr val="2A558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ok42"/>
          <p:cNvSpPr/>
          <p:nvPr/>
        </p:nvSpPr>
        <p:spPr>
          <a:xfrm>
            <a:off x="9652000" y="4102100"/>
            <a:ext cx="190500" cy="1905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ok43"/>
          <p:cNvSpPr/>
          <p:nvPr/>
        </p:nvSpPr>
        <p:spPr>
          <a:xfrm>
            <a:off x="10871200" y="4102100"/>
            <a:ext cx="190500" cy="190500"/>
          </a:xfrm>
          <a:prstGeom prst="rect">
            <a:avLst/>
          </a:prstGeom>
          <a:solidFill>
            <a:srgbClr val="2A558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ok51"/>
          <p:cNvSpPr/>
          <p:nvPr/>
        </p:nvSpPr>
        <p:spPr>
          <a:xfrm>
            <a:off x="8280400" y="4864100"/>
            <a:ext cx="190500" cy="190500"/>
          </a:xfrm>
          <a:prstGeom prst="rect">
            <a:avLst/>
          </a:prstGeom>
          <a:solidFill>
            <a:srgbClr val="2A558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ok52"/>
          <p:cNvSpPr/>
          <p:nvPr/>
        </p:nvSpPr>
        <p:spPr>
          <a:xfrm>
            <a:off x="9194800" y="4864100"/>
            <a:ext cx="190500" cy="190500"/>
          </a:xfrm>
          <a:prstGeom prst="rect">
            <a:avLst/>
          </a:prstGeom>
          <a:solidFill>
            <a:srgbClr val="2A558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ok53"/>
          <p:cNvSpPr/>
          <p:nvPr/>
        </p:nvSpPr>
        <p:spPr>
          <a:xfrm>
            <a:off x="10261600" y="4864100"/>
            <a:ext cx="190500" cy="1905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arrow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eyJpY29uTmFtZSI6ImZhczphcnJvdy1yaWdodCJ9</pptd:icon>
              </p:ext>
            </p:extLst>
          </p:nvPr>
        </p:nvSpPr>
        <p:spPr>
          <a:xfrm>
            <a:off x="11125200" y="3175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03" y="279"/>
                </a:moveTo>
                <a:cubicBezTo>
                  <a:pt x="515" y="266"/>
                  <a:pt x="515" y="246"/>
                  <a:pt x="503" y="233"/>
                </a:cubicBezTo>
                <a:lnTo>
                  <a:pt x="343" y="73"/>
                </a:lnTo>
                <a:cubicBezTo>
                  <a:pt x="330" y="61"/>
                  <a:pt x="310" y="61"/>
                  <a:pt x="297" y="73"/>
                </a:cubicBezTo>
                <a:cubicBezTo>
                  <a:pt x="285" y="86"/>
                  <a:pt x="285" y="106"/>
                  <a:pt x="297" y="119"/>
                </a:cubicBezTo>
                <a:lnTo>
                  <a:pt x="403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03" y="288"/>
                </a:lnTo>
                <a:lnTo>
                  <a:pt x="297" y="393"/>
                </a:lnTo>
                <a:cubicBezTo>
                  <a:pt x="285" y="406"/>
                  <a:pt x="285" y="426"/>
                  <a:pt x="297" y="439"/>
                </a:cubicBezTo>
                <a:cubicBezTo>
                  <a:pt x="310" y="451"/>
                  <a:pt x="330" y="451"/>
                  <a:pt x="343" y="439"/>
                </a:cubicBezTo>
                <a:lnTo>
                  <a:pt x="503" y="279"/>
                </a:lnTo>
                <a:close/>
              </a:path>
            </a:pathLst>
          </a:cu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costdown"/>
          <p:cNvSpPr txBox="1"/>
          <p:nvPr/>
        </p:nvSpPr>
        <p:spPr>
          <a:xfrm>
            <a:off x="7874000" y="5384800"/>
            <a:ext cx="36068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300" b="1" noProof="1">
                <a:solidFill>
                  <a:srgbClr val="F07D0A"/>
                </a:solidFill>
                <a:latin typeface="MiSans"/>
                <a:ea typeface="MiSans"/>
              </a:rPr>
              <a:t>四年，每 token 成本 ↓ 100 倍</a:t>
            </a:r>
            <a:endParaRPr lang="en-US" sz="13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"/>
          <p:cNvSpPr txBox="1"/>
          <p:nvPr/>
        </p:nvSpPr>
        <p:spPr>
          <a:xfrm>
            <a:off x="711200" y="3810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F07D0A"/>
                </a:solidFill>
                <a:latin typeface="MiSans"/>
                <a:ea typeface="MiSans"/>
              </a:rPr>
              <a:t>AGENDA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350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600" b="1" noProof="1">
                <a:solidFill>
                  <a:srgbClr val="0B2440"/>
                </a:solidFill>
                <a:latin typeface="MiSans"/>
                <a:ea typeface="MiSans"/>
              </a:rPr>
              <a:t>四层杠杆，一个目标</a:t>
            </a:r>
            <a:endParaRPr lang="en-US" sz="2600" noProof="1"/>
          </a:p>
        </p:txBody>
      </p:sp>
      <p:sp>
        <p:nvSpPr>
          <p:cNvPr id="4" name="rule"/>
          <p:cNvSpPr/>
          <p:nvPr/>
        </p:nvSpPr>
        <p:spPr>
          <a:xfrm>
            <a:off x="711200" y="1270000"/>
            <a:ext cx="107696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abar"/>
          <p:cNvSpPr/>
          <p:nvPr/>
        </p:nvSpPr>
        <p:spPr>
          <a:xfrm>
            <a:off x="711200" y="1244600"/>
            <a:ext cx="812800" cy="381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n1"/>
          <p:cNvSpPr txBox="1"/>
          <p:nvPr/>
        </p:nvSpPr>
        <p:spPr>
          <a:xfrm>
            <a:off x="711200" y="1676400"/>
            <a:ext cx="558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900" b="1" noProof="1">
                <a:solidFill>
                  <a:srgbClr val="F07D0A"/>
                </a:solidFill>
                <a:latin typeface="MiSans"/>
                <a:ea typeface="MiSans"/>
              </a:rPr>
              <a:t>01</a:t>
            </a:r>
            <a:endParaRPr lang="en-US" sz="1900" noProof="1"/>
          </a:p>
        </p:txBody>
      </p:sp>
      <p:sp>
        <p:nvSpPr>
          <p:cNvPr id="7" name="n1t"/>
          <p:cNvSpPr txBox="1"/>
          <p:nvPr/>
        </p:nvSpPr>
        <p:spPr>
          <a:xfrm>
            <a:off x="1371600" y="16637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50" b="1" noProof="1">
                <a:solidFill>
                  <a:srgbClr val="0B2440"/>
                </a:solidFill>
                <a:latin typeface="MiSans"/>
                <a:ea typeface="MiSans"/>
              </a:rPr>
              <a:t>Token 工厂</a:t>
            </a:r>
            <a:endParaRPr lang="en-US" sz="1550" noProof="1"/>
          </a:p>
        </p:txBody>
      </p:sp>
      <p:sp>
        <p:nvSpPr>
          <p:cNvPr id="8" name="n1d"/>
          <p:cNvSpPr txBox="1"/>
          <p:nvPr/>
        </p:nvSpPr>
        <p:spPr>
          <a:xfrm>
            <a:off x="1371600" y="1968500"/>
            <a:ext cx="48260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6B7A8C"/>
                </a:solidFill>
                <a:latin typeface="MiSans"/>
                <a:ea typeface="MiSans"/>
              </a:rPr>
              <a:t>AI 经济的基本单位</a:t>
            </a:r>
            <a:endParaRPr lang="en-US" sz="1100" noProof="1"/>
          </a:p>
        </p:txBody>
      </p:sp>
      <p:sp>
        <p:nvSpPr>
          <p:cNvPr id="9" name="n1time"/>
          <p:cNvSpPr txBox="1"/>
          <p:nvPr/>
        </p:nvSpPr>
        <p:spPr>
          <a:xfrm>
            <a:off x="6350000" y="17526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6B7A8C"/>
                </a:solidFill>
                <a:latin typeface="MiSans"/>
                <a:ea typeface="MiSans"/>
              </a:rPr>
              <a:t>12 分钟</a:t>
            </a:r>
            <a:endParaRPr lang="en-US" sz="1200" noProof="1"/>
          </a:p>
        </p:txBody>
      </p:sp>
      <p:sp>
        <p:nvSpPr>
          <p:cNvPr id="10" name="n1line"/>
          <p:cNvSpPr/>
          <p:nvPr/>
        </p:nvSpPr>
        <p:spPr>
          <a:xfrm>
            <a:off x="711200" y="2336800"/>
            <a:ext cx="71628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n2"/>
          <p:cNvSpPr txBox="1"/>
          <p:nvPr/>
        </p:nvSpPr>
        <p:spPr>
          <a:xfrm>
            <a:off x="711200" y="2489200"/>
            <a:ext cx="558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900" b="1" noProof="1">
                <a:solidFill>
                  <a:srgbClr val="F07D0A"/>
                </a:solidFill>
                <a:latin typeface="MiSans"/>
                <a:ea typeface="MiSans"/>
              </a:rPr>
              <a:t>02</a:t>
            </a:r>
            <a:endParaRPr lang="en-US" sz="1900" noProof="1"/>
          </a:p>
        </p:txBody>
      </p:sp>
      <p:sp>
        <p:nvSpPr>
          <p:cNvPr id="12" name="n2t"/>
          <p:cNvSpPr txBox="1"/>
          <p:nvPr/>
        </p:nvSpPr>
        <p:spPr>
          <a:xfrm>
            <a:off x="1371600" y="2476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50" b="1" noProof="1">
                <a:solidFill>
                  <a:srgbClr val="0B2440"/>
                </a:solidFill>
                <a:latin typeface="MiSans"/>
                <a:ea typeface="MiSans"/>
              </a:rPr>
              <a:t>第一层杠杆：模型架构</a:t>
            </a:r>
            <a:endParaRPr lang="en-US" sz="1550" noProof="1"/>
          </a:p>
        </p:txBody>
      </p:sp>
      <p:sp>
        <p:nvSpPr>
          <p:cNvPr id="13" name="n2d"/>
          <p:cNvSpPr txBox="1"/>
          <p:nvPr/>
        </p:nvSpPr>
        <p:spPr>
          <a:xfrm>
            <a:off x="1371600" y="2781300"/>
            <a:ext cx="48260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6B7A8C"/>
                </a:solidFill>
                <a:latin typeface="MiSans"/>
                <a:ea typeface="MiSans"/>
              </a:rPr>
              <a:t>让效率成为架构设计</a:t>
            </a:r>
            <a:endParaRPr lang="en-US" sz="1100" noProof="1"/>
          </a:p>
        </p:txBody>
      </p:sp>
      <p:sp>
        <p:nvSpPr>
          <p:cNvPr id="14" name="n2time"/>
          <p:cNvSpPr txBox="1"/>
          <p:nvPr/>
        </p:nvSpPr>
        <p:spPr>
          <a:xfrm>
            <a:off x="6350000" y="25654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6B7A8C"/>
                </a:solidFill>
                <a:latin typeface="MiSans"/>
                <a:ea typeface="MiSans"/>
              </a:rPr>
              <a:t>17 分钟</a:t>
            </a:r>
            <a:endParaRPr lang="en-US" sz="1200" noProof="1"/>
          </a:p>
        </p:txBody>
      </p:sp>
      <p:sp>
        <p:nvSpPr>
          <p:cNvPr id="15" name="n2line"/>
          <p:cNvSpPr/>
          <p:nvPr/>
        </p:nvSpPr>
        <p:spPr>
          <a:xfrm>
            <a:off x="711200" y="3149600"/>
            <a:ext cx="71628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n3"/>
          <p:cNvSpPr txBox="1"/>
          <p:nvPr/>
        </p:nvSpPr>
        <p:spPr>
          <a:xfrm>
            <a:off x="711200" y="3302000"/>
            <a:ext cx="558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900" b="1" noProof="1">
                <a:solidFill>
                  <a:srgbClr val="F07D0A"/>
                </a:solidFill>
                <a:latin typeface="MiSans"/>
                <a:ea typeface="MiSans"/>
              </a:rPr>
              <a:t>03</a:t>
            </a:r>
            <a:endParaRPr lang="en-US" sz="1900" noProof="1"/>
          </a:p>
        </p:txBody>
      </p:sp>
      <p:sp>
        <p:nvSpPr>
          <p:cNvPr id="17" name="n3t"/>
          <p:cNvSpPr txBox="1"/>
          <p:nvPr/>
        </p:nvSpPr>
        <p:spPr>
          <a:xfrm>
            <a:off x="1371600" y="32893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50" b="1" noProof="1">
                <a:solidFill>
                  <a:srgbClr val="0B2440"/>
                </a:solidFill>
                <a:latin typeface="MiSans"/>
                <a:ea typeface="MiSans"/>
              </a:rPr>
              <a:t>第二层杠杆：硬件</a:t>
            </a:r>
            <a:endParaRPr lang="en-US" sz="1550" noProof="1"/>
          </a:p>
        </p:txBody>
      </p:sp>
      <p:sp>
        <p:nvSpPr>
          <p:cNvPr id="18" name="n3d"/>
          <p:cNvSpPr txBox="1"/>
          <p:nvPr/>
        </p:nvSpPr>
        <p:spPr>
          <a:xfrm>
            <a:off x="1371600" y="3594100"/>
            <a:ext cx="48260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6B7A8C"/>
                </a:solidFill>
                <a:latin typeface="MiSans"/>
                <a:ea typeface="MiSans"/>
              </a:rPr>
              <a:t>GPU 的极限压榨</a:t>
            </a:r>
            <a:endParaRPr lang="en-US" sz="1100" noProof="1"/>
          </a:p>
        </p:txBody>
      </p:sp>
      <p:sp>
        <p:nvSpPr>
          <p:cNvPr id="19" name="n3time"/>
          <p:cNvSpPr txBox="1"/>
          <p:nvPr/>
        </p:nvSpPr>
        <p:spPr>
          <a:xfrm>
            <a:off x="6350000" y="33782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6B7A8C"/>
                </a:solidFill>
                <a:latin typeface="MiSans"/>
                <a:ea typeface="MiSans"/>
              </a:rPr>
              <a:t>22 分钟</a:t>
            </a:r>
            <a:endParaRPr lang="en-US" sz="1200" noProof="1"/>
          </a:p>
        </p:txBody>
      </p:sp>
      <p:sp>
        <p:nvSpPr>
          <p:cNvPr id="20" name="n3line"/>
          <p:cNvSpPr/>
          <p:nvPr/>
        </p:nvSpPr>
        <p:spPr>
          <a:xfrm>
            <a:off x="711200" y="3962400"/>
            <a:ext cx="71628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n4"/>
          <p:cNvSpPr txBox="1"/>
          <p:nvPr/>
        </p:nvSpPr>
        <p:spPr>
          <a:xfrm>
            <a:off x="711200" y="4114800"/>
            <a:ext cx="558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900" b="1" noProof="1">
                <a:solidFill>
                  <a:srgbClr val="F07D0A"/>
                </a:solidFill>
                <a:latin typeface="MiSans"/>
                <a:ea typeface="MiSans"/>
              </a:rPr>
              <a:t>04</a:t>
            </a:r>
            <a:endParaRPr lang="en-US" sz="1900" noProof="1"/>
          </a:p>
        </p:txBody>
      </p:sp>
      <p:sp>
        <p:nvSpPr>
          <p:cNvPr id="22" name="n4t"/>
          <p:cNvSpPr txBox="1"/>
          <p:nvPr/>
        </p:nvSpPr>
        <p:spPr>
          <a:xfrm>
            <a:off x="1371600" y="41021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50" b="1" noProof="1">
                <a:solidFill>
                  <a:srgbClr val="0B2440"/>
                </a:solidFill>
                <a:latin typeface="MiSans"/>
                <a:ea typeface="MiSans"/>
              </a:rPr>
              <a:t>第三层杠杆：推理引擎</a:t>
            </a:r>
            <a:endParaRPr lang="en-US" sz="1550" noProof="1"/>
          </a:p>
        </p:txBody>
      </p:sp>
      <p:sp>
        <p:nvSpPr>
          <p:cNvPr id="23" name="n4d"/>
          <p:cNvSpPr txBox="1"/>
          <p:nvPr/>
        </p:nvSpPr>
        <p:spPr>
          <a:xfrm>
            <a:off x="1371600" y="4406900"/>
            <a:ext cx="48260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6B7A8C"/>
                </a:solidFill>
                <a:latin typeface="MiSans"/>
                <a:ea typeface="MiSans"/>
              </a:rPr>
              <a:t>软件定义的成本</a:t>
            </a:r>
            <a:endParaRPr lang="en-US" sz="1100" noProof="1"/>
          </a:p>
        </p:txBody>
      </p:sp>
      <p:sp>
        <p:nvSpPr>
          <p:cNvPr id="24" name="n4time"/>
          <p:cNvSpPr txBox="1"/>
          <p:nvPr/>
        </p:nvSpPr>
        <p:spPr>
          <a:xfrm>
            <a:off x="6350000" y="41910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6B7A8C"/>
                </a:solidFill>
                <a:latin typeface="MiSans"/>
                <a:ea typeface="MiSans"/>
              </a:rPr>
              <a:t>22 分钟</a:t>
            </a:r>
            <a:endParaRPr lang="en-US" sz="1200" noProof="1"/>
          </a:p>
        </p:txBody>
      </p:sp>
      <p:sp>
        <p:nvSpPr>
          <p:cNvPr id="25" name="n4line"/>
          <p:cNvSpPr/>
          <p:nvPr/>
        </p:nvSpPr>
        <p:spPr>
          <a:xfrm>
            <a:off x="711200" y="4775200"/>
            <a:ext cx="71628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n5"/>
          <p:cNvSpPr txBox="1"/>
          <p:nvPr/>
        </p:nvSpPr>
        <p:spPr>
          <a:xfrm>
            <a:off x="711200" y="4927600"/>
            <a:ext cx="558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900" b="1" noProof="1">
                <a:solidFill>
                  <a:srgbClr val="F07D0A"/>
                </a:solidFill>
                <a:latin typeface="MiSans"/>
                <a:ea typeface="MiSans"/>
              </a:rPr>
              <a:t>05</a:t>
            </a:r>
            <a:endParaRPr lang="en-US" sz="1900" noProof="1"/>
          </a:p>
        </p:txBody>
      </p:sp>
      <p:sp>
        <p:nvSpPr>
          <p:cNvPr id="27" name="n5t"/>
          <p:cNvSpPr txBox="1"/>
          <p:nvPr/>
        </p:nvSpPr>
        <p:spPr>
          <a:xfrm>
            <a:off x="1371600" y="49149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50" b="1" noProof="1">
                <a:solidFill>
                  <a:srgbClr val="0B2440"/>
                </a:solidFill>
                <a:latin typeface="MiSans"/>
                <a:ea typeface="MiSans"/>
              </a:rPr>
              <a:t>第四层杠杆：基础设施与生态</a:t>
            </a:r>
            <a:endParaRPr lang="en-US" sz="1550" noProof="1"/>
          </a:p>
        </p:txBody>
      </p:sp>
      <p:sp>
        <p:nvSpPr>
          <p:cNvPr id="28" name="n5d"/>
          <p:cNvSpPr txBox="1"/>
          <p:nvPr/>
        </p:nvSpPr>
        <p:spPr>
          <a:xfrm>
            <a:off x="1371600" y="5219700"/>
            <a:ext cx="48260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6B7A8C"/>
                </a:solidFill>
                <a:latin typeface="MiSans"/>
                <a:ea typeface="MiSans"/>
              </a:rPr>
              <a:t>价格战与新形态</a:t>
            </a:r>
            <a:endParaRPr lang="en-US" sz="1100" noProof="1"/>
          </a:p>
        </p:txBody>
      </p:sp>
      <p:sp>
        <p:nvSpPr>
          <p:cNvPr id="29" name="n5time"/>
          <p:cNvSpPr txBox="1"/>
          <p:nvPr/>
        </p:nvSpPr>
        <p:spPr>
          <a:xfrm>
            <a:off x="6350000" y="50038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6B7A8C"/>
                </a:solidFill>
                <a:latin typeface="MiSans"/>
                <a:ea typeface="MiSans"/>
              </a:rPr>
              <a:t>12 分钟</a:t>
            </a:r>
            <a:endParaRPr lang="en-US" sz="1200" noProof="1"/>
          </a:p>
        </p:txBody>
      </p:sp>
      <p:sp>
        <p:nvSpPr>
          <p:cNvPr id="30" name="n5line"/>
          <p:cNvSpPr/>
          <p:nvPr/>
        </p:nvSpPr>
        <p:spPr>
          <a:xfrm>
            <a:off x="711200" y="5588000"/>
            <a:ext cx="71628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n6"/>
          <p:cNvSpPr txBox="1"/>
          <p:nvPr/>
        </p:nvSpPr>
        <p:spPr>
          <a:xfrm>
            <a:off x="711200" y="5740400"/>
            <a:ext cx="558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900" b="1" noProof="1">
                <a:solidFill>
                  <a:srgbClr val="F07D0A"/>
                </a:solidFill>
                <a:latin typeface="MiSans"/>
                <a:ea typeface="MiSans"/>
              </a:rPr>
              <a:t>06</a:t>
            </a:r>
            <a:endParaRPr lang="en-US" sz="1900" noProof="1"/>
          </a:p>
        </p:txBody>
      </p:sp>
      <p:sp>
        <p:nvSpPr>
          <p:cNvPr id="32" name="n6t"/>
          <p:cNvSpPr txBox="1"/>
          <p:nvPr/>
        </p:nvSpPr>
        <p:spPr>
          <a:xfrm>
            <a:off x="1371600" y="57277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50" b="1" noProof="1">
                <a:solidFill>
                  <a:srgbClr val="0B2440"/>
                </a:solidFill>
                <a:latin typeface="MiSans"/>
                <a:ea typeface="MiSans"/>
              </a:rPr>
              <a:t>总结</a:t>
            </a:r>
            <a:endParaRPr lang="en-US" sz="1550" noProof="1"/>
          </a:p>
        </p:txBody>
      </p:sp>
      <p:sp>
        <p:nvSpPr>
          <p:cNvPr id="33" name="n6d"/>
          <p:cNvSpPr txBox="1"/>
          <p:nvPr/>
        </p:nvSpPr>
        <p:spPr>
          <a:xfrm>
            <a:off x="1371600" y="6032500"/>
            <a:ext cx="50800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6B7A8C"/>
                </a:solidFill>
                <a:latin typeface="MiSans"/>
                <a:ea typeface="MiSans"/>
              </a:rPr>
              <a:t>成本下降 100 倍意味着什么</a:t>
            </a:r>
            <a:endParaRPr lang="en-US" sz="1100" noProof="1"/>
          </a:p>
        </p:txBody>
      </p:sp>
      <p:sp>
        <p:nvSpPr>
          <p:cNvPr id="34" name="n6time"/>
          <p:cNvSpPr txBox="1"/>
          <p:nvPr/>
        </p:nvSpPr>
        <p:spPr>
          <a:xfrm>
            <a:off x="6350000" y="58166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6B7A8C"/>
                </a:solidFill>
                <a:latin typeface="MiSans"/>
                <a:ea typeface="MiSans"/>
              </a:rPr>
              <a:t>5 分钟</a:t>
            </a:r>
            <a:endParaRPr lang="en-US" sz="1200" noProof="1"/>
          </a:p>
        </p:txBody>
      </p:sp>
      <p:sp>
        <p:nvSpPr>
          <p:cNvPr id="35" name="rhead"/>
          <p:cNvSpPr txBox="1"/>
          <p:nvPr/>
        </p:nvSpPr>
        <p:spPr>
          <a:xfrm>
            <a:off x="8636000" y="1549400"/>
            <a:ext cx="2844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45000"/>
              </a:lnSpc>
            </a:pPr>
            <a:r>
              <a:rPr lang="en-US" sz="1100" noProof="1">
                <a:solidFill>
                  <a:srgbClr val="6B7A8C"/>
                </a:solidFill>
                <a:latin typeface="MiSans"/>
                <a:ea typeface="MiSans"/>
              </a:rPr>
              <a:t>四层杠杆，共同指向</a:t>
            </a:r>
            <a:endParaRPr lang="en-US" sz="1100" noProof="1"/>
          </a:p>
        </p:txBody>
      </p:sp>
      <p:sp>
        <p:nvSpPr>
          <p:cNvPr id="36" name="rb1"/>
          <p:cNvSpPr/>
          <p:nvPr/>
        </p:nvSpPr>
        <p:spPr>
          <a:xfrm>
            <a:off x="8890000" y="1879600"/>
            <a:ext cx="2336800" cy="457200"/>
          </a:xfrm>
          <a:prstGeom prst="rect">
            <a:avLst/>
          </a:prstGeom>
          <a:solidFill>
            <a:srgbClr val="F3F6FA"/>
          </a:solidFill>
          <a:ln w="12700">
            <a:solidFill>
              <a:srgbClr val="D9E1E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rb1t"/>
          <p:cNvSpPr txBox="1"/>
          <p:nvPr/>
        </p:nvSpPr>
        <p:spPr>
          <a:xfrm>
            <a:off x="8890000" y="1879600"/>
            <a:ext cx="23368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noProof="1">
                <a:solidFill>
                  <a:srgbClr val="0B2440"/>
                </a:solidFill>
                <a:latin typeface="MiSans"/>
                <a:ea typeface="MiSans"/>
              </a:rPr>
              <a:t>① 模型架构</a:t>
            </a:r>
            <a:endParaRPr lang="en-US" sz="1250" noProof="1"/>
          </a:p>
        </p:txBody>
      </p:sp>
      <p:sp>
        <p:nvSpPr>
          <p:cNvPr id="38" name="ra1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eyJ2aWV3Qm94IjpbMTIsMjBdLCJwb2ludHMiOiI2LDAgNiwyMCJ9</pptd:line>
              </p:ext>
            </p:extLst>
          </p:nvPr>
        </p:nvSpPr>
        <p:spPr>
          <a:xfrm>
            <a:off x="9982200" y="2387600"/>
            <a:ext cx="152400" cy="25400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6" y="0"/>
                </a:moveTo>
                <a:lnTo>
                  <a:pt x="6" y="20"/>
                </a:lnTo>
              </a:path>
            </a:pathLst>
          </a:custGeom>
          <a:noFill/>
          <a:ln w="19050" cap="rnd">
            <a:solidFill>
              <a:srgbClr val="6B7A8C"/>
            </a:solidFill>
            <a:round/>
            <a:tailEnd type="arrow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rb2"/>
          <p:cNvSpPr/>
          <p:nvPr/>
        </p:nvSpPr>
        <p:spPr>
          <a:xfrm>
            <a:off x="8890000" y="2692400"/>
            <a:ext cx="2336800" cy="457200"/>
          </a:xfrm>
          <a:prstGeom prst="rect">
            <a:avLst/>
          </a:prstGeom>
          <a:solidFill>
            <a:srgbClr val="F3F6FA"/>
          </a:solidFill>
          <a:ln w="12700">
            <a:solidFill>
              <a:srgbClr val="D9E1E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rb2t"/>
          <p:cNvSpPr txBox="1"/>
          <p:nvPr/>
        </p:nvSpPr>
        <p:spPr>
          <a:xfrm>
            <a:off x="8890000" y="2692400"/>
            <a:ext cx="23368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noProof="1">
                <a:solidFill>
                  <a:srgbClr val="0B2440"/>
                </a:solidFill>
                <a:latin typeface="MiSans"/>
                <a:ea typeface="MiSans"/>
              </a:rPr>
              <a:t>② 硬件</a:t>
            </a:r>
            <a:endParaRPr lang="en-US" sz="1250" noProof="1"/>
          </a:p>
        </p:txBody>
      </p:sp>
      <p:sp>
        <p:nvSpPr>
          <p:cNvPr id="41" name="ra2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eyJ2aWV3Qm94IjpbMTIsMjBdLCJwb2ludHMiOiI2LDAgNiwyMCJ9</pptd:line>
              </p:ext>
            </p:extLst>
          </p:nvPr>
        </p:nvSpPr>
        <p:spPr>
          <a:xfrm>
            <a:off x="9982200" y="3200400"/>
            <a:ext cx="152400" cy="25400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6" y="0"/>
                </a:moveTo>
                <a:lnTo>
                  <a:pt x="6" y="20"/>
                </a:lnTo>
              </a:path>
            </a:pathLst>
          </a:custGeom>
          <a:noFill/>
          <a:ln w="19050" cap="rnd">
            <a:solidFill>
              <a:srgbClr val="6B7A8C"/>
            </a:solidFill>
            <a:round/>
            <a:tailEnd type="arrow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rb3"/>
          <p:cNvSpPr/>
          <p:nvPr/>
        </p:nvSpPr>
        <p:spPr>
          <a:xfrm>
            <a:off x="8890000" y="3505200"/>
            <a:ext cx="2336800" cy="457200"/>
          </a:xfrm>
          <a:prstGeom prst="rect">
            <a:avLst/>
          </a:prstGeom>
          <a:solidFill>
            <a:srgbClr val="F3F6FA"/>
          </a:solidFill>
          <a:ln w="12700">
            <a:solidFill>
              <a:srgbClr val="D9E1E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rb3t"/>
          <p:cNvSpPr txBox="1"/>
          <p:nvPr/>
        </p:nvSpPr>
        <p:spPr>
          <a:xfrm>
            <a:off x="8890000" y="3505200"/>
            <a:ext cx="23368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noProof="1">
                <a:solidFill>
                  <a:srgbClr val="0B2440"/>
                </a:solidFill>
                <a:latin typeface="MiSans"/>
                <a:ea typeface="MiSans"/>
              </a:rPr>
              <a:t>③ 推理引擎</a:t>
            </a:r>
            <a:endParaRPr lang="en-US" sz="1250" noProof="1"/>
          </a:p>
        </p:txBody>
      </p:sp>
      <p:sp>
        <p:nvSpPr>
          <p:cNvPr id="44" name="ra3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eyJ2aWV3Qm94IjpbMTIsMjBdLCJwb2ludHMiOiI2LDAgNiwyMCJ9</pptd:line>
              </p:ext>
            </p:extLst>
          </p:nvPr>
        </p:nvSpPr>
        <p:spPr>
          <a:xfrm>
            <a:off x="9982200" y="4013200"/>
            <a:ext cx="152400" cy="25400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6" y="0"/>
                </a:moveTo>
                <a:lnTo>
                  <a:pt x="6" y="20"/>
                </a:lnTo>
              </a:path>
            </a:pathLst>
          </a:custGeom>
          <a:noFill/>
          <a:ln w="19050" cap="rnd">
            <a:solidFill>
              <a:srgbClr val="6B7A8C"/>
            </a:solidFill>
            <a:round/>
            <a:tailEnd type="arrow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rb4"/>
          <p:cNvSpPr/>
          <p:nvPr/>
        </p:nvSpPr>
        <p:spPr>
          <a:xfrm>
            <a:off x="8890000" y="4318000"/>
            <a:ext cx="2336800" cy="457200"/>
          </a:xfrm>
          <a:prstGeom prst="rect">
            <a:avLst/>
          </a:prstGeom>
          <a:solidFill>
            <a:srgbClr val="F3F6FA"/>
          </a:solidFill>
          <a:ln w="12700">
            <a:solidFill>
              <a:srgbClr val="D9E1E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rb4t"/>
          <p:cNvSpPr txBox="1"/>
          <p:nvPr/>
        </p:nvSpPr>
        <p:spPr>
          <a:xfrm>
            <a:off x="8890000" y="4318000"/>
            <a:ext cx="23368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noProof="1">
                <a:solidFill>
                  <a:srgbClr val="0B2440"/>
                </a:solidFill>
                <a:latin typeface="MiSans"/>
                <a:ea typeface="MiSans"/>
              </a:rPr>
              <a:t>④ 基础设施与生态</a:t>
            </a:r>
            <a:endParaRPr lang="en-US" sz="1250" noProof="1"/>
          </a:p>
        </p:txBody>
      </p:sp>
      <p:sp>
        <p:nvSpPr>
          <p:cNvPr id="47" name="ra4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eyJ2aWV3Qm94IjpbMTIsMjBdLCJwb2ludHMiOiI2LDAgNiwyMCJ9</pptd:line>
              </p:ext>
            </p:extLst>
          </p:nvPr>
        </p:nvSpPr>
        <p:spPr>
          <a:xfrm>
            <a:off x="9982200" y="4826000"/>
            <a:ext cx="152400" cy="25400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6" y="0"/>
                </a:moveTo>
                <a:lnTo>
                  <a:pt x="6" y="20"/>
                </a:lnTo>
              </a:path>
            </a:pathLst>
          </a:custGeom>
          <a:noFill/>
          <a:ln w="19050" cap="rnd">
            <a:solidFill>
              <a:srgbClr val="F07D0A"/>
            </a:solidFill>
            <a:round/>
            <a:tailEnd type="arrow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rb5"/>
          <p:cNvSpPr/>
          <p:nvPr/>
        </p:nvSpPr>
        <p:spPr>
          <a:xfrm>
            <a:off x="8636000" y="5130800"/>
            <a:ext cx="2844800" cy="7112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rb5t"/>
          <p:cNvSpPr txBox="1"/>
          <p:nvPr/>
        </p:nvSpPr>
        <p:spPr>
          <a:xfrm>
            <a:off x="8636000" y="5130800"/>
            <a:ext cx="2844800" cy="711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700" b="1" noProof="1">
                <a:solidFill>
                  <a:srgbClr val="FFFFFF"/>
                </a:solidFill>
                <a:latin typeface="MiSans"/>
                <a:ea typeface="MiSans"/>
              </a:rPr>
              <a:t>每 token 成本 ↓</a:t>
            </a:r>
            <a:endParaRPr lang="en-US" sz="1700" noProof="1"/>
          </a:p>
        </p:txBody>
      </p:sp>
      <p:sp>
        <p:nvSpPr>
          <p:cNvPr id="50" name="fline"/>
          <p:cNvSpPr/>
          <p:nvPr/>
        </p:nvSpPr>
        <p:spPr>
          <a:xfrm>
            <a:off x="711200" y="6477000"/>
            <a:ext cx="107696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fl"/>
          <p:cNvSpPr txBox="1"/>
          <p:nvPr/>
        </p:nvSpPr>
        <p:spPr>
          <a:xfrm>
            <a:off x="711200" y="65532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B7A8C"/>
                </a:solidFill>
                <a:latin typeface="MiSans"/>
                <a:ea typeface="MiSans"/>
              </a:rPr>
              <a:t>Token Factory · AI 推理的成本革命</a:t>
            </a:r>
            <a:endParaRPr lang="en-US" sz="950" noProof="1"/>
          </a:p>
        </p:txBody>
      </p:sp>
      <p:sp>
        <p:nvSpPr>
          <p:cNvPr id="52" name="fr"/>
          <p:cNvSpPr txBox="1"/>
          <p:nvPr/>
        </p:nvSpPr>
        <p:spPr>
          <a:xfrm>
            <a:off x="10210800" y="65532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6B7A8C"/>
                </a:solidFill>
                <a:latin typeface="MiSans"/>
                <a:ea typeface="MiSans"/>
              </a:rPr>
              <a:t>02 / 40</a:t>
            </a:r>
            <a:endParaRPr lang="en-US" sz="95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"/>
          <p:cNvSpPr txBox="1"/>
          <p:nvPr/>
        </p:nvSpPr>
        <p:spPr>
          <a:xfrm>
            <a:off x="711200" y="3810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F07D0A"/>
                </a:solidFill>
                <a:latin typeface="MiSans"/>
                <a:ea typeface="MiSans"/>
              </a:rPr>
              <a:t>第一部分 · TOKEN 工厂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350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600" b="1" noProof="1">
                <a:solidFill>
                  <a:srgbClr val="0B2440"/>
                </a:solidFill>
                <a:latin typeface="MiSans"/>
                <a:ea typeface="MiSans"/>
              </a:rPr>
              <a:t>Token：AI 经济的基本单位</a:t>
            </a:r>
            <a:endParaRPr lang="en-US" sz="2600" noProof="1"/>
          </a:p>
        </p:txBody>
      </p:sp>
      <p:sp>
        <p:nvSpPr>
          <p:cNvPr id="4" name="rule"/>
          <p:cNvSpPr/>
          <p:nvPr/>
        </p:nvSpPr>
        <p:spPr>
          <a:xfrm>
            <a:off x="711200" y="1270000"/>
            <a:ext cx="107696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abar"/>
          <p:cNvSpPr/>
          <p:nvPr/>
        </p:nvSpPr>
        <p:spPr>
          <a:xfrm>
            <a:off x="711200" y="1244600"/>
            <a:ext cx="812800" cy="381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def1"/>
          <p:cNvSpPr txBox="1"/>
          <p:nvPr/>
        </p:nvSpPr>
        <p:spPr>
          <a:xfrm>
            <a:off x="711200" y="1600200"/>
            <a:ext cx="54610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350" b="1" noProof="1">
                <a:solidFill>
                  <a:srgbClr val="23303E"/>
                </a:solidFill>
                <a:latin typeface="MiSans"/>
                <a:ea typeface="MiSans"/>
              </a:rPr>
              <a:t>Token 是 AI 处理文本的最小单位</a:t>
            </a:r>
            <a:endParaRPr lang="en-US" sz="135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约 0.7 个汉字，或 4 个英文字符（1 个汉字约 1-1.5 个 token）</a:t>
            </a:r>
            <a:endParaRPr lang="en-US" sz="135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模型的“思考”和“回答”，都以 token 计量</a:t>
            </a:r>
            <a:endParaRPr lang="en-US" sz="135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一次对话 ＝ 输入 token ＋ 输出 token</a:t>
            </a:r>
            <a:endParaRPr lang="en-US" sz="1350" noProof="1"/>
          </a:p>
        </p:txBody>
      </p:sp>
      <p:sp>
        <p:nvSpPr>
          <p:cNvPr id="7" name="def2"/>
          <p:cNvSpPr txBox="1"/>
          <p:nvPr/>
        </p:nvSpPr>
        <p:spPr>
          <a:xfrm>
            <a:off x="711200" y="3175000"/>
            <a:ext cx="54610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350" b="1" noProof="1">
                <a:solidFill>
                  <a:srgbClr val="23303E"/>
                </a:solidFill>
                <a:latin typeface="MiSans"/>
                <a:ea typeface="MiSans"/>
              </a:rPr>
              <a:t>为什么 token 是经济单位</a:t>
            </a:r>
            <a:endParaRPr lang="en-US" sz="135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所有模型都按 token 计费</a:t>
            </a:r>
            <a:endParaRPr lang="en-US" sz="135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推理成本 ≈ 每 token 成本 × token 数量</a:t>
            </a:r>
            <a:endParaRPr lang="en-US" sz="135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AI 服务商就是“token 工厂”：原料是文本，产品是 token，效率指标只有一个——</a:t>
            </a:r>
            <a:r>
              <a:rPr lang="en-US" sz="1350" b="1" noProof="1">
                <a:solidFill>
                  <a:srgbClr val="F07D0A"/>
                </a:solidFill>
                <a:latin typeface="MiSans"/>
                <a:ea typeface="MiSans"/>
              </a:rPr>
              <a:t>每 token 成本</a:t>
            </a:r>
            <a:endParaRPr lang="en-US" sz="1350" noProof="1"/>
          </a:p>
        </p:txBody>
      </p:sp>
      <p:sp>
        <p:nvSpPr>
          <p:cNvPr id="8" name="divider"/>
          <p:cNvSpPr/>
          <p:nvPr/>
        </p:nvSpPr>
        <p:spPr>
          <a:xfrm>
            <a:off x="6451600" y="1600200"/>
            <a:ext cx="12700" cy="43180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rh"/>
          <p:cNvSpPr txBox="1"/>
          <p:nvPr/>
        </p:nvSpPr>
        <p:spPr>
          <a:xfrm>
            <a:off x="6858000" y="1600200"/>
            <a:ext cx="4622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noProof="1">
                <a:solidFill>
                  <a:srgbClr val="0B2440"/>
                </a:solidFill>
                <a:latin typeface="MiSans"/>
                <a:ea typeface="MiSans"/>
              </a:rPr>
              <a:t>一个直观换算</a:t>
            </a:r>
            <a:endParaRPr lang="en-US" sz="1300" noProof="1"/>
          </a:p>
        </p:txBody>
      </p:sp>
      <p:sp>
        <p:nvSpPr>
          <p:cNvPr id="10" name="book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eyJpY29uTmFtZSI6ImZhczpib29rLW9wZW4ifQ</pptd:icon>
              </p:ext>
            </p:extLst>
          </p:nvPr>
        </p:nvSpPr>
        <p:spPr>
          <a:xfrm>
            <a:off x="6858000" y="20574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141"/>
                </a:moveTo>
                <a:lnTo>
                  <a:pt x="256" y="451"/>
                </a:lnTo>
                <a:lnTo>
                  <a:pt x="257" y="450"/>
                </a:lnTo>
                <a:cubicBezTo>
                  <a:pt x="311" y="428"/>
                  <a:pt x="370" y="416"/>
                  <a:pt x="429" y="416"/>
                </a:cubicBezTo>
                <a:lnTo>
                  <a:pt x="448" y="416"/>
                </a:lnTo>
                <a:lnTo>
                  <a:pt x="448" y="96"/>
                </a:lnTo>
                <a:lnTo>
                  <a:pt x="429" y="96"/>
                </a:lnTo>
                <a:cubicBezTo>
                  <a:pt x="387" y="96"/>
                  <a:pt x="345" y="104"/>
                  <a:pt x="306" y="121"/>
                </a:cubicBezTo>
                <a:cubicBezTo>
                  <a:pt x="289" y="128"/>
                  <a:pt x="272" y="135"/>
                  <a:pt x="256" y="141"/>
                </a:cubicBezTo>
                <a:close/>
                <a:moveTo>
                  <a:pt x="231" y="62"/>
                </a:moveTo>
                <a:lnTo>
                  <a:pt x="256" y="72"/>
                </a:lnTo>
                <a:lnTo>
                  <a:pt x="281" y="62"/>
                </a:lnTo>
                <a:cubicBezTo>
                  <a:pt x="328" y="42"/>
                  <a:pt x="378" y="32"/>
                  <a:pt x="429" y="32"/>
                </a:cubicBezTo>
                <a:lnTo>
                  <a:pt x="464" y="32"/>
                </a:lnTo>
                <a:cubicBezTo>
                  <a:pt x="491" y="32"/>
                  <a:pt x="512" y="54"/>
                  <a:pt x="512" y="80"/>
                </a:cubicBezTo>
                <a:lnTo>
                  <a:pt x="512" y="432"/>
                </a:lnTo>
                <a:cubicBezTo>
                  <a:pt x="512" y="459"/>
                  <a:pt x="491" y="480"/>
                  <a:pt x="464" y="480"/>
                </a:cubicBezTo>
                <a:lnTo>
                  <a:pt x="429" y="480"/>
                </a:lnTo>
                <a:cubicBezTo>
                  <a:pt x="378" y="480"/>
                  <a:pt x="328" y="490"/>
                  <a:pt x="281" y="510"/>
                </a:cubicBezTo>
                <a:lnTo>
                  <a:pt x="268" y="515"/>
                </a:lnTo>
                <a:cubicBezTo>
                  <a:pt x="260" y="518"/>
                  <a:pt x="252" y="518"/>
                  <a:pt x="244" y="515"/>
                </a:cubicBezTo>
                <a:lnTo>
                  <a:pt x="231" y="509"/>
                </a:lnTo>
                <a:cubicBezTo>
                  <a:pt x="184" y="490"/>
                  <a:pt x="134" y="480"/>
                  <a:pt x="83" y="480"/>
                </a:cubicBezTo>
                <a:lnTo>
                  <a:pt x="48" y="480"/>
                </a:lnTo>
                <a:cubicBezTo>
                  <a:pt x="22" y="480"/>
                  <a:pt x="0" y="459"/>
                  <a:pt x="0" y="432"/>
                </a:cubicBezTo>
                <a:lnTo>
                  <a:pt x="0" y="80"/>
                </a:lnTo>
                <a:cubicBezTo>
                  <a:pt x="0" y="54"/>
                  <a:pt x="22" y="32"/>
                  <a:pt x="48" y="32"/>
                </a:cubicBezTo>
                <a:lnTo>
                  <a:pt x="83" y="32"/>
                </a:lnTo>
                <a:cubicBezTo>
                  <a:pt x="134" y="32"/>
                  <a:pt x="184" y="42"/>
                  <a:pt x="231" y="62"/>
                </a:cubicBezTo>
                <a:close/>
              </a:path>
            </a:pathLst>
          </a:custGeom>
          <a:solidFill>
            <a:srgbClr val="0B244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book"/>
          <p:cNvSpPr txBox="1"/>
          <p:nvPr/>
        </p:nvSpPr>
        <p:spPr>
          <a:xfrm>
            <a:off x="7416800" y="2006600"/>
            <a:ext cx="4064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23303E"/>
                </a:solidFill>
                <a:latin typeface="MiSans"/>
                <a:ea typeface="MiSans"/>
              </a:rPr>
              <a:t>读一本 10 万字的书 ≈ </a:t>
            </a:r>
            <a:r>
              <a:rPr lang="en-US" sz="1400" b="1" noProof="1">
                <a:solidFill>
                  <a:srgbClr val="F07D0A"/>
                </a:solidFill>
                <a:latin typeface="MiSans"/>
                <a:ea typeface="MiSans"/>
              </a:rPr>
              <a:t>15 万</a:t>
            </a:r>
            <a:r>
              <a:rPr lang="en-US" sz="1400" noProof="1">
                <a:solidFill>
                  <a:srgbClr val="23303E"/>
                </a:solidFill>
                <a:latin typeface="MiSans"/>
                <a:ea typeface="MiSans"/>
              </a:rPr>
              <a:t> token</a:t>
            </a:r>
            <a:endParaRPr lang="en-US" sz="1400" noProof="1"/>
          </a:p>
        </p:txBody>
      </p:sp>
      <p:sp>
        <p:nvSpPr>
          <p:cNvPr id="12" name="doc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eyJpY29uTmFtZSI6ImZhczpmaWxlLWxpbmVzIn0</pptd:icon>
              </p:ext>
            </p:extLst>
          </p:nvPr>
        </p:nvSpPr>
        <p:spPr>
          <a:xfrm>
            <a:off x="6858000" y="26924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0" y="64"/>
                </a:moveTo>
                <a:cubicBezTo>
                  <a:pt x="0" y="29"/>
                  <a:pt x="29" y="0"/>
                  <a:pt x="64" y="0"/>
                </a:cubicBezTo>
                <a:lnTo>
                  <a:pt x="214" y="0"/>
                </a:lnTo>
                <a:cubicBezTo>
                  <a:pt x="231" y="0"/>
                  <a:pt x="247" y="7"/>
                  <a:pt x="259" y="19"/>
                </a:cubicBezTo>
                <a:lnTo>
                  <a:pt x="365" y="125"/>
                </a:lnTo>
                <a:cubicBezTo>
                  <a:pt x="377" y="137"/>
                  <a:pt x="384" y="154"/>
                  <a:pt x="384" y="171"/>
                </a:cubicBezTo>
                <a:lnTo>
                  <a:pt x="384" y="448"/>
                </a:lnTo>
                <a:cubicBezTo>
                  <a:pt x="384" y="483"/>
                  <a:pt x="355" y="512"/>
                  <a:pt x="320" y="512"/>
                </a:cubicBezTo>
                <a:lnTo>
                  <a:pt x="64" y="512"/>
                </a:lnTo>
                <a:cubicBezTo>
                  <a:pt x="29" y="512"/>
                  <a:pt x="0" y="483"/>
                  <a:pt x="0" y="448"/>
                </a:cubicBezTo>
                <a:lnTo>
                  <a:pt x="0" y="64"/>
                </a:lnTo>
                <a:close/>
                <a:moveTo>
                  <a:pt x="208" y="59"/>
                </a:moveTo>
                <a:lnTo>
                  <a:pt x="208" y="152"/>
                </a:lnTo>
                <a:cubicBezTo>
                  <a:pt x="208" y="165"/>
                  <a:pt x="219" y="176"/>
                  <a:pt x="232" y="176"/>
                </a:cubicBezTo>
                <a:lnTo>
                  <a:pt x="326" y="176"/>
                </a:lnTo>
                <a:lnTo>
                  <a:pt x="208" y="59"/>
                </a:lnTo>
                <a:close/>
                <a:moveTo>
                  <a:pt x="120" y="256"/>
                </a:moveTo>
                <a:cubicBezTo>
                  <a:pt x="107" y="256"/>
                  <a:pt x="96" y="267"/>
                  <a:pt x="96" y="280"/>
                </a:cubicBezTo>
                <a:cubicBezTo>
                  <a:pt x="96" y="293"/>
                  <a:pt x="107" y="304"/>
                  <a:pt x="120" y="304"/>
                </a:cubicBezTo>
                <a:lnTo>
                  <a:pt x="264" y="304"/>
                </a:lnTo>
                <a:cubicBezTo>
                  <a:pt x="277" y="304"/>
                  <a:pt x="288" y="293"/>
                  <a:pt x="288" y="280"/>
                </a:cubicBezTo>
                <a:cubicBezTo>
                  <a:pt x="288" y="267"/>
                  <a:pt x="277" y="256"/>
                  <a:pt x="264" y="256"/>
                </a:cubicBezTo>
                <a:lnTo>
                  <a:pt x="120" y="256"/>
                </a:lnTo>
                <a:close/>
                <a:moveTo>
                  <a:pt x="120" y="352"/>
                </a:moveTo>
                <a:cubicBezTo>
                  <a:pt x="107" y="352"/>
                  <a:pt x="96" y="363"/>
                  <a:pt x="96" y="376"/>
                </a:cubicBezTo>
                <a:cubicBezTo>
                  <a:pt x="96" y="389"/>
                  <a:pt x="107" y="400"/>
                  <a:pt x="120" y="400"/>
                </a:cubicBezTo>
                <a:lnTo>
                  <a:pt x="264" y="400"/>
                </a:lnTo>
                <a:cubicBezTo>
                  <a:pt x="277" y="400"/>
                  <a:pt x="288" y="389"/>
                  <a:pt x="288" y="376"/>
                </a:cubicBezTo>
                <a:cubicBezTo>
                  <a:pt x="288" y="363"/>
                  <a:pt x="277" y="352"/>
                  <a:pt x="264" y="352"/>
                </a:cubicBezTo>
                <a:lnTo>
                  <a:pt x="120" y="352"/>
                </a:lnTo>
                <a:close/>
              </a:path>
            </a:pathLst>
          </a:custGeom>
          <a:solidFill>
            <a:srgbClr val="0B244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doc"/>
          <p:cNvSpPr txBox="1"/>
          <p:nvPr/>
        </p:nvSpPr>
        <p:spPr>
          <a:xfrm>
            <a:off x="7416800" y="2641600"/>
            <a:ext cx="4064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23303E"/>
                </a:solidFill>
                <a:latin typeface="MiSans"/>
                <a:ea typeface="MiSans"/>
              </a:rPr>
              <a:t>写一篇 2000 字文章 ≈ </a:t>
            </a:r>
            <a:r>
              <a:rPr lang="en-US" sz="1400" b="1" noProof="1">
                <a:solidFill>
                  <a:srgbClr val="F07D0A"/>
                </a:solidFill>
                <a:latin typeface="MiSans"/>
                <a:ea typeface="MiSans"/>
              </a:rPr>
              <a:t>3,000</a:t>
            </a:r>
            <a:r>
              <a:rPr lang="en-US" sz="1400" noProof="1">
                <a:solidFill>
                  <a:srgbClr val="23303E"/>
                </a:solidFill>
                <a:latin typeface="MiSans"/>
                <a:ea typeface="MiSans"/>
              </a:rPr>
              <a:t> token</a:t>
            </a:r>
            <a:endParaRPr lang="en-US" sz="1400" noProof="1"/>
          </a:p>
        </p:txBody>
      </p:sp>
      <p:sp>
        <p:nvSpPr>
          <p:cNvPr id="14" name="formula"/>
          <p:cNvSpPr/>
          <p:nvPr/>
        </p:nvSpPr>
        <p:spPr>
          <a:xfrm>
            <a:off x="6858000" y="3403600"/>
            <a:ext cx="4622800" cy="812800"/>
          </a:xfrm>
          <a:prstGeom prst="rect">
            <a:avLst/>
          </a:prstGeom>
          <a:solidFill>
            <a:srgbClr val="F3F6FA"/>
          </a:solidFill>
          <a:ln w="12700">
            <a:solidFill>
              <a:srgbClr val="D9E1E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formulat"/>
          <p:cNvSpPr txBox="1"/>
          <p:nvPr/>
        </p:nvSpPr>
        <p:spPr>
          <a:xfrm>
            <a:off x="7061200" y="3403600"/>
            <a:ext cx="42672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300" noProof="1">
                <a:solidFill>
                  <a:srgbClr val="0B2440"/>
                </a:solidFill>
                <a:latin typeface="MiSans"/>
                <a:ea typeface="MiSans"/>
              </a:rPr>
              <a:t>一次对话的账单 ＝</a:t>
            </a:r>
            <a:endParaRPr lang="en-US" sz="1300" noProof="1"/>
          </a:p>
          <a:p>
            <a:pPr algn="l">
              <a:lnSpc>
                <a:spcPct val="150000"/>
              </a:lnSpc>
            </a:pPr>
            <a:r>
              <a:rPr lang="en-US" sz="1300" b="1" noProof="1">
                <a:solidFill>
                  <a:srgbClr val="0B2440"/>
                </a:solidFill>
                <a:latin typeface="MiSans"/>
                <a:ea typeface="MiSans"/>
              </a:rPr>
              <a:t>（输入 token ＋ 输出 token）× 每 token 单价</a:t>
            </a:r>
            <a:endParaRPr lang="en-US" sz="1300" noProof="1"/>
          </a:p>
        </p:txBody>
      </p:sp>
      <p:sp>
        <p:nvSpPr>
          <p:cNvPr id="16" name="note"/>
          <p:cNvSpPr txBox="1"/>
          <p:nvPr/>
        </p:nvSpPr>
        <p:spPr>
          <a:xfrm>
            <a:off x="6858000" y="4521200"/>
            <a:ext cx="46228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6B7A8C"/>
                </a:solidFill>
                <a:latin typeface="MiSans"/>
                <a:ea typeface="MiSans"/>
              </a:rPr>
              <a:t>Token Factory 的比喻贯穿全场：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400"/>
              </a:spcBef>
            </a:pPr>
            <a:r>
              <a:rPr lang="en-US" sz="1100" noProof="1">
                <a:solidFill>
                  <a:srgbClr val="6B7A8C"/>
                </a:solidFill>
                <a:latin typeface="MiSans"/>
                <a:ea typeface="MiSans"/>
              </a:rPr>
              <a:t>衡量这家工厂效率的唯一指标，是每 token 成本。后面四层杠杆，每一层都在回答同一个问题——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400"/>
              </a:spcBef>
            </a:pPr>
            <a:r>
              <a:rPr lang="en-US" sz="1100" b="1" noProof="1">
                <a:solidFill>
                  <a:srgbClr val="F07D0A"/>
                </a:solidFill>
                <a:latin typeface="MiSans"/>
                <a:ea typeface="MiSans"/>
              </a:rPr>
              <a:t>这层如何让 token 变便宜？</a:t>
            </a:r>
            <a:endParaRPr lang="en-US" sz="1100" noProof="1"/>
          </a:p>
        </p:txBody>
      </p:sp>
      <p:sp>
        <p:nvSpPr>
          <p:cNvPr id="17" name="fline"/>
          <p:cNvSpPr/>
          <p:nvPr/>
        </p:nvSpPr>
        <p:spPr>
          <a:xfrm>
            <a:off x="711200" y="6477000"/>
            <a:ext cx="107696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fl"/>
          <p:cNvSpPr txBox="1"/>
          <p:nvPr/>
        </p:nvSpPr>
        <p:spPr>
          <a:xfrm>
            <a:off x="711200" y="65532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B7A8C"/>
                </a:solidFill>
                <a:latin typeface="MiSans"/>
                <a:ea typeface="MiSans"/>
              </a:rPr>
              <a:t>Token Factory · AI 推理的成本革命</a:t>
            </a:r>
            <a:endParaRPr lang="en-US" sz="950" noProof="1"/>
          </a:p>
        </p:txBody>
      </p:sp>
      <p:sp>
        <p:nvSpPr>
          <p:cNvPr id="19" name="fr"/>
          <p:cNvSpPr txBox="1"/>
          <p:nvPr/>
        </p:nvSpPr>
        <p:spPr>
          <a:xfrm>
            <a:off x="10210800" y="65532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6B7A8C"/>
                </a:solidFill>
                <a:latin typeface="MiSans"/>
                <a:ea typeface="MiSans"/>
              </a:rPr>
              <a:t>03 / 40</a:t>
            </a:r>
            <a:endParaRPr lang="en-US" sz="95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"/>
          <p:cNvSpPr txBox="1"/>
          <p:nvPr/>
        </p:nvSpPr>
        <p:spPr>
          <a:xfrm>
            <a:off x="711200" y="3810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F07D0A"/>
                </a:solidFill>
                <a:latin typeface="MiSans"/>
                <a:ea typeface="MiSans"/>
              </a:rPr>
              <a:t>第一部分 · TOKEN 工厂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350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600" b="1" noProof="1">
                <a:solidFill>
                  <a:srgbClr val="0B2440"/>
                </a:solidFill>
                <a:latin typeface="MiSans"/>
                <a:ea typeface="MiSans"/>
              </a:rPr>
              <a:t>四年，token 价格下降 100 倍</a:t>
            </a:r>
            <a:endParaRPr lang="en-US" sz="2600" noProof="1"/>
          </a:p>
        </p:txBody>
      </p:sp>
      <p:sp>
        <p:nvSpPr>
          <p:cNvPr id="4" name="rule"/>
          <p:cNvSpPr/>
          <p:nvPr/>
        </p:nvSpPr>
        <p:spPr>
          <a:xfrm>
            <a:off x="711200" y="1270000"/>
            <a:ext cx="107696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abar"/>
          <p:cNvSpPr/>
          <p:nvPr/>
        </p:nvSpPr>
        <p:spPr>
          <a:xfrm>
            <a:off x="711200" y="1244600"/>
            <a:ext cx="812800" cy="381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charttitle"/>
          <p:cNvSpPr txBox="1"/>
          <p:nvPr/>
        </p:nvSpPr>
        <p:spPr>
          <a:xfrm>
            <a:off x="1219200" y="1549400"/>
            <a:ext cx="4826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6B7A8C"/>
                </a:solidFill>
                <a:latin typeface="MiSans"/>
                <a:ea typeface="MiSans"/>
              </a:rPr>
              <a:t>达到 GPT-4 水平的折算价格（输出</a:t>
            </a:r>
            <a:r>
              <a:rPr lang="zh-CN" altLang="en-US" sz="1150" noProof="1">
                <a:solidFill>
                  <a:srgbClr val="6B7A8C"/>
                </a:solidFill>
                <a:latin typeface="MiSans"/>
                <a:ea typeface="MiSans"/>
              </a:rPr>
              <a:t>，</a:t>
            </a:r>
            <a:r>
              <a:rPr lang="en-US" sz="1150" noProof="1">
                <a:solidFill>
                  <a:srgbClr val="6B7A8C"/>
                </a:solidFill>
                <a:latin typeface="MiSans"/>
                <a:ea typeface="MiSans"/>
              </a:rPr>
              <a:t>$/百万 token，对数坐标）</a:t>
            </a:r>
            <a:endParaRPr lang="en-US" sz="1150" noProof="1"/>
          </a:p>
        </p:txBody>
      </p:sp>
      <p:sp>
        <p:nvSpPr>
          <p:cNvPr id="7" name="g1"/>
          <p:cNvSpPr/>
          <p:nvPr/>
        </p:nvSpPr>
        <p:spPr>
          <a:xfrm>
            <a:off x="1219200" y="2006600"/>
            <a:ext cx="44958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g2"/>
          <p:cNvSpPr/>
          <p:nvPr/>
        </p:nvSpPr>
        <p:spPr>
          <a:xfrm>
            <a:off x="1219200" y="2870200"/>
            <a:ext cx="44958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g3"/>
          <p:cNvSpPr/>
          <p:nvPr/>
        </p:nvSpPr>
        <p:spPr>
          <a:xfrm>
            <a:off x="1219200" y="3733800"/>
            <a:ext cx="44958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g4"/>
          <p:cNvSpPr/>
          <p:nvPr/>
        </p:nvSpPr>
        <p:spPr>
          <a:xfrm>
            <a:off x="1219200" y="4597400"/>
            <a:ext cx="44958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gl1"/>
          <p:cNvSpPr txBox="1"/>
          <p:nvPr/>
        </p:nvSpPr>
        <p:spPr>
          <a:xfrm>
            <a:off x="508000" y="1905000"/>
            <a:ext cx="635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noProof="1">
                <a:solidFill>
                  <a:srgbClr val="6B7A8C"/>
                </a:solidFill>
                <a:latin typeface="MiSans"/>
                <a:ea typeface="MiSans"/>
              </a:rPr>
              <a:t>$100</a:t>
            </a:r>
            <a:endParaRPr lang="en-US" sz="1050" noProof="1"/>
          </a:p>
        </p:txBody>
      </p:sp>
      <p:sp>
        <p:nvSpPr>
          <p:cNvPr id="12" name="gl2"/>
          <p:cNvSpPr txBox="1"/>
          <p:nvPr/>
        </p:nvSpPr>
        <p:spPr>
          <a:xfrm>
            <a:off x="508000" y="2768600"/>
            <a:ext cx="635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noProof="1">
                <a:solidFill>
                  <a:srgbClr val="6B7A8C"/>
                </a:solidFill>
                <a:latin typeface="MiSans"/>
                <a:ea typeface="MiSans"/>
              </a:rPr>
              <a:t>$10</a:t>
            </a:r>
            <a:endParaRPr lang="en-US" sz="1050" noProof="1"/>
          </a:p>
        </p:txBody>
      </p:sp>
      <p:sp>
        <p:nvSpPr>
          <p:cNvPr id="13" name="gl3"/>
          <p:cNvSpPr txBox="1"/>
          <p:nvPr/>
        </p:nvSpPr>
        <p:spPr>
          <a:xfrm>
            <a:off x="508000" y="3632200"/>
            <a:ext cx="635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noProof="1">
                <a:solidFill>
                  <a:srgbClr val="6B7A8C"/>
                </a:solidFill>
                <a:latin typeface="MiSans"/>
                <a:ea typeface="MiSans"/>
              </a:rPr>
              <a:t>$1</a:t>
            </a:r>
            <a:endParaRPr lang="en-US" sz="1050" noProof="1"/>
          </a:p>
        </p:txBody>
      </p:sp>
      <p:sp>
        <p:nvSpPr>
          <p:cNvPr id="14" name="gl4"/>
          <p:cNvSpPr txBox="1"/>
          <p:nvPr/>
        </p:nvSpPr>
        <p:spPr>
          <a:xfrm>
            <a:off x="508000" y="4495800"/>
            <a:ext cx="635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noProof="1">
                <a:solidFill>
                  <a:srgbClr val="6B7A8C"/>
                </a:solidFill>
                <a:latin typeface="MiSans"/>
                <a:ea typeface="MiSans"/>
              </a:rPr>
              <a:t>$0.1</a:t>
            </a:r>
            <a:endParaRPr lang="en-US" sz="1050" noProof="1"/>
          </a:p>
        </p:txBody>
      </p:sp>
      <p:sp>
        <p:nvSpPr>
          <p:cNvPr id="15" name="curve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eyJ2aWV3Qm94IjpbMjYwLDEzNl0sInBvaW50cyI6IjAsMCAxMjUsNDEgMjYwLDEzNiIsImN1cnZlIjoic2hhcnAifQ</pptd:line>
              </p:ext>
            </p:extLst>
          </p:nvPr>
        </p:nvSpPr>
        <p:spPr>
          <a:xfrm>
            <a:off x="1778000" y="2197100"/>
            <a:ext cx="3302000" cy="1727200"/>
          </a:xfrm>
          <a:custGeom>
            <a:avLst/>
            <a:gdLst/>
            <a:ahLst/>
            <a:cxnLst/>
            <a:rect l="l" t="t" r="r" b="b"/>
            <a:pathLst>
              <a:path w="260" h="136">
                <a:moveTo>
                  <a:pt x="0" y="0"/>
                </a:moveTo>
                <a:lnTo>
                  <a:pt x="125" y="41"/>
                </a:lnTo>
                <a:lnTo>
                  <a:pt x="260" y="136"/>
                </a:lnTo>
              </a:path>
            </a:pathLst>
          </a:custGeom>
          <a:noFill/>
          <a:ln w="31750">
            <a:solidFill>
              <a:srgbClr val="F07D0A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d1"/>
          <p:cNvSpPr/>
          <p:nvPr/>
        </p:nvSpPr>
        <p:spPr>
          <a:xfrm>
            <a:off x="1714500" y="2133600"/>
            <a:ext cx="127000" cy="127000"/>
          </a:xfrm>
          <a:prstGeom prst="ellipse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d2"/>
          <p:cNvSpPr/>
          <p:nvPr/>
        </p:nvSpPr>
        <p:spPr>
          <a:xfrm>
            <a:off x="3302000" y="2654300"/>
            <a:ext cx="127000" cy="127000"/>
          </a:xfrm>
          <a:prstGeom prst="ellipse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d3"/>
          <p:cNvSpPr/>
          <p:nvPr/>
        </p:nvSpPr>
        <p:spPr>
          <a:xfrm>
            <a:off x="5016500" y="3860800"/>
            <a:ext cx="127000" cy="127000"/>
          </a:xfrm>
          <a:prstGeom prst="ellipse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dl1"/>
          <p:cNvSpPr txBox="1"/>
          <p:nvPr/>
        </p:nvSpPr>
        <p:spPr>
          <a:xfrm>
            <a:off x="1117600" y="1879600"/>
            <a:ext cx="1397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noProof="1">
                <a:solidFill>
                  <a:srgbClr val="0B2440"/>
                </a:solidFill>
                <a:latin typeface="MiSans"/>
                <a:ea typeface="MiSans"/>
              </a:rPr>
              <a:t>$60 · GPT-4</a:t>
            </a:r>
            <a:endParaRPr lang="en-US" sz="1100" noProof="1"/>
          </a:p>
        </p:txBody>
      </p:sp>
      <p:sp>
        <p:nvSpPr>
          <p:cNvPr id="20" name="dl2"/>
          <p:cNvSpPr txBox="1"/>
          <p:nvPr/>
        </p:nvSpPr>
        <p:spPr>
          <a:xfrm>
            <a:off x="2692400" y="2413000"/>
            <a:ext cx="1397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noProof="1">
                <a:solidFill>
                  <a:srgbClr val="0B2440"/>
                </a:solidFill>
                <a:latin typeface="MiSans"/>
                <a:ea typeface="MiSans"/>
              </a:rPr>
              <a:t>$15 · GPT-4o</a:t>
            </a:r>
            <a:endParaRPr lang="en-US" sz="1100" noProof="1"/>
          </a:p>
        </p:txBody>
      </p:sp>
      <p:sp>
        <p:nvSpPr>
          <p:cNvPr id="21" name="dl3"/>
          <p:cNvSpPr txBox="1"/>
          <p:nvPr/>
        </p:nvSpPr>
        <p:spPr>
          <a:xfrm>
            <a:off x="4013200" y="4038600"/>
            <a:ext cx="20828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050" b="1" noProof="1">
                <a:solidFill>
                  <a:srgbClr val="0B2440"/>
                </a:solidFill>
                <a:latin typeface="MiSans"/>
                <a:ea typeface="MiSans"/>
              </a:rPr>
              <a:t>≤ $0.6</a:t>
            </a:r>
            <a:r>
              <a:rPr lang="en-US" sz="1050" noProof="1">
                <a:solidFill>
                  <a:srgbClr val="0B2440"/>
                </a:solidFill>
                <a:latin typeface="MiSans"/>
                <a:ea typeface="MiSans"/>
              </a:rPr>
              <a:t>（同等能力折算）</a:t>
            </a:r>
            <a:endParaRPr lang="en-US" sz="1050" noProof="1"/>
          </a:p>
        </p:txBody>
      </p:sp>
      <p:sp>
        <p:nvSpPr>
          <p:cNvPr id="22" name="xl1"/>
          <p:cNvSpPr txBox="1"/>
          <p:nvPr/>
        </p:nvSpPr>
        <p:spPr>
          <a:xfrm>
            <a:off x="1270000" y="47752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noProof="1">
                <a:solidFill>
                  <a:srgbClr val="6B7A8C"/>
                </a:solidFill>
                <a:latin typeface="MiSans"/>
                <a:ea typeface="MiSans"/>
              </a:rPr>
              <a:t>2023</a:t>
            </a:r>
            <a:endParaRPr lang="en-US" sz="1050" noProof="1"/>
          </a:p>
        </p:txBody>
      </p:sp>
      <p:sp>
        <p:nvSpPr>
          <p:cNvPr id="23" name="xl2"/>
          <p:cNvSpPr txBox="1"/>
          <p:nvPr/>
        </p:nvSpPr>
        <p:spPr>
          <a:xfrm>
            <a:off x="2857500" y="47752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noProof="1">
                <a:solidFill>
                  <a:srgbClr val="6B7A8C"/>
                </a:solidFill>
                <a:latin typeface="MiSans"/>
                <a:ea typeface="MiSans"/>
              </a:rPr>
              <a:t>2024</a:t>
            </a:r>
            <a:endParaRPr lang="en-US" sz="1050" noProof="1"/>
          </a:p>
        </p:txBody>
      </p:sp>
      <p:sp>
        <p:nvSpPr>
          <p:cNvPr id="24" name="xl3"/>
          <p:cNvSpPr txBox="1"/>
          <p:nvPr/>
        </p:nvSpPr>
        <p:spPr>
          <a:xfrm>
            <a:off x="4572000" y="47752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noProof="1">
                <a:solidFill>
                  <a:srgbClr val="6B7A8C"/>
                </a:solidFill>
                <a:latin typeface="MiSans"/>
                <a:ea typeface="MiSans"/>
              </a:rPr>
              <a:t>2026</a:t>
            </a:r>
            <a:endParaRPr lang="en-US" sz="1050" noProof="1"/>
          </a:p>
        </p:txBody>
      </p:sp>
      <p:sp>
        <p:nvSpPr>
          <p:cNvPr id="25" name="callout"/>
          <p:cNvSpPr txBox="1"/>
          <p:nvPr/>
        </p:nvSpPr>
        <p:spPr>
          <a:xfrm>
            <a:off x="711200" y="51308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50" b="1" noProof="1">
                <a:solidFill>
                  <a:srgbClr val="333333"/>
                </a:solidFill>
                <a:latin typeface="MiSans"/>
                <a:ea typeface="MiSans"/>
              </a:rPr>
              <a:t>1 美元能买到的 token：</a:t>
            </a:r>
            <a:r>
              <a:rPr lang="en-US" sz="1250" noProof="1">
                <a:solidFill>
                  <a:srgbClr val="333333"/>
                </a:solidFill>
                <a:latin typeface="MiSans"/>
                <a:ea typeface="MiSans"/>
              </a:rPr>
              <a:t>2023 年 </a:t>
            </a:r>
            <a:r>
              <a:rPr lang="en-US" sz="1250" b="1" noProof="1">
                <a:solidFill>
                  <a:srgbClr val="333333"/>
                </a:solidFill>
                <a:latin typeface="MiSans"/>
                <a:ea typeface="MiSans"/>
              </a:rPr>
              <a:t>1.7 万</a:t>
            </a:r>
            <a:r>
              <a:rPr lang="en-US" sz="1250" noProof="1">
                <a:solidFill>
                  <a:srgbClr val="333333"/>
                </a:solidFill>
                <a:latin typeface="MiSans"/>
                <a:ea typeface="MiSans"/>
              </a:rPr>
              <a:t> → 2026 年 </a:t>
            </a:r>
            <a:r>
              <a:rPr lang="en-US" sz="1250" b="1" noProof="1">
                <a:solidFill>
                  <a:srgbClr val="F07D0A"/>
                </a:solidFill>
                <a:latin typeface="MiSans"/>
                <a:ea typeface="MiSans"/>
              </a:rPr>
              <a:t>550 万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b="1" noProof="1">
                <a:solidFill>
                  <a:srgbClr val="F07D0A"/>
                </a:solidFill>
                <a:latin typeface="MiSans"/>
                <a:ea typeface="MiSans"/>
              </a:rPr>
              <a:t>问题：这 100 倍是怎么来的？</a:t>
            </a:r>
            <a:r>
              <a:rPr lang="en-US" sz="1250" noProof="1">
                <a:solidFill>
                  <a:srgbClr val="333333"/>
                </a:solidFill>
                <a:latin typeface="MiSans"/>
                <a:ea typeface="MiSans"/>
              </a:rPr>
              <a:t>答案在后面的四层杠杆。</a:t>
            </a:r>
            <a:endParaRPr lang="en-US" sz="1250" noProof="1"/>
          </a:p>
        </p:txBody>
      </p:sp>
      <p:sp>
        <p:nvSpPr>
          <p:cNvPr id="26" name="rhead"/>
          <p:cNvSpPr txBox="1"/>
          <p:nvPr/>
        </p:nvSpPr>
        <p:spPr>
          <a:xfrm>
            <a:off x="6604000" y="1549400"/>
            <a:ext cx="48768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6B7A8C"/>
                </a:solidFill>
                <a:latin typeface="MiSans"/>
                <a:ea typeface="MiSans"/>
              </a:rPr>
              <a:t>2026 年在售旗舰价格（输出</a:t>
            </a:r>
            <a:r>
              <a:rPr lang="zh-CN" altLang="en-US" sz="1150" noProof="1">
                <a:solidFill>
                  <a:srgbClr val="6B7A8C"/>
                </a:solidFill>
                <a:latin typeface="MiSans"/>
                <a:ea typeface="MiSans"/>
              </a:rPr>
              <a:t>，</a:t>
            </a:r>
            <a:r>
              <a:rPr lang="en-US" sz="1150" noProof="1">
                <a:solidFill>
                  <a:srgbClr val="6B7A8C"/>
                </a:solidFill>
                <a:latin typeface="MiSans"/>
                <a:ea typeface="MiSans"/>
              </a:rPr>
              <a:t>$/百万 token，条长为对数比例）</a:t>
            </a:r>
            <a:endParaRPr lang="en-US" sz="1150" noProof="1"/>
          </a:p>
        </p:txBody>
      </p:sp>
      <p:sp>
        <p:nvSpPr>
          <p:cNvPr id="27" name="bl1"/>
          <p:cNvSpPr txBox="1"/>
          <p:nvPr/>
        </p:nvSpPr>
        <p:spPr>
          <a:xfrm>
            <a:off x="6604000" y="1930400"/>
            <a:ext cx="15748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23303E"/>
                </a:solidFill>
                <a:latin typeface="MiSans"/>
                <a:ea typeface="MiSans"/>
              </a:rPr>
              <a:t>DeepSeek-V4 Pro</a:t>
            </a:r>
            <a:endParaRPr lang="en-US" sz="1100" noProof="1"/>
          </a:p>
        </p:txBody>
      </p:sp>
      <p:sp>
        <p:nvSpPr>
          <p:cNvPr id="28" name="bb1"/>
          <p:cNvSpPr/>
          <p:nvPr/>
        </p:nvSpPr>
        <p:spPr>
          <a:xfrm>
            <a:off x="8229600" y="1930400"/>
            <a:ext cx="254000" cy="2032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bv1"/>
          <p:cNvSpPr txBox="1"/>
          <p:nvPr/>
        </p:nvSpPr>
        <p:spPr>
          <a:xfrm>
            <a:off x="8585200" y="19304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50" b="1" noProof="1">
                <a:solidFill>
                  <a:srgbClr val="F07D0A"/>
                </a:solidFill>
                <a:latin typeface="MiSans"/>
                <a:ea typeface="MiSans"/>
              </a:rPr>
              <a:t>$0.18</a:t>
            </a:r>
            <a:endParaRPr lang="en-US" sz="1150" noProof="1"/>
          </a:p>
        </p:txBody>
      </p:sp>
      <p:sp>
        <p:nvSpPr>
          <p:cNvPr id="30" name="bl2"/>
          <p:cNvSpPr txBox="1"/>
          <p:nvPr/>
        </p:nvSpPr>
        <p:spPr>
          <a:xfrm>
            <a:off x="6604000" y="2514600"/>
            <a:ext cx="15748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23303E"/>
                </a:solidFill>
                <a:latin typeface="MiSans"/>
                <a:ea typeface="MiSans"/>
              </a:rPr>
              <a:t>GLM-5.2</a:t>
            </a:r>
            <a:endParaRPr lang="en-US" sz="1100" noProof="1"/>
          </a:p>
        </p:txBody>
      </p:sp>
      <p:sp>
        <p:nvSpPr>
          <p:cNvPr id="31" name="bb2"/>
          <p:cNvSpPr/>
          <p:nvPr/>
        </p:nvSpPr>
        <p:spPr>
          <a:xfrm>
            <a:off x="8229600" y="2514600"/>
            <a:ext cx="965200" cy="2032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bv2"/>
          <p:cNvSpPr txBox="1"/>
          <p:nvPr/>
        </p:nvSpPr>
        <p:spPr>
          <a:xfrm>
            <a:off x="9296400" y="25146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50" b="1" noProof="1">
                <a:solidFill>
                  <a:srgbClr val="F07D0A"/>
                </a:solidFill>
                <a:latin typeface="MiSans"/>
                <a:ea typeface="MiSans"/>
              </a:rPr>
              <a:t>$0.9</a:t>
            </a:r>
            <a:endParaRPr lang="en-US" sz="1150" noProof="1"/>
          </a:p>
        </p:txBody>
      </p:sp>
      <p:sp>
        <p:nvSpPr>
          <p:cNvPr id="33" name="bl3"/>
          <p:cNvSpPr txBox="1"/>
          <p:nvPr/>
        </p:nvSpPr>
        <p:spPr>
          <a:xfrm>
            <a:off x="6604000" y="3098800"/>
            <a:ext cx="15748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23303E"/>
                </a:solidFill>
                <a:latin typeface="MiSans"/>
                <a:ea typeface="MiSans"/>
              </a:rPr>
              <a:t>GPT-5.6 Sol</a:t>
            </a:r>
            <a:endParaRPr lang="en-US" sz="1100" noProof="1"/>
          </a:p>
        </p:txBody>
      </p:sp>
      <p:sp>
        <p:nvSpPr>
          <p:cNvPr id="34" name="bb3"/>
          <p:cNvSpPr/>
          <p:nvPr/>
        </p:nvSpPr>
        <p:spPr>
          <a:xfrm>
            <a:off x="8229600" y="3098800"/>
            <a:ext cx="1727200" cy="203200"/>
          </a:xfrm>
          <a:prstGeom prst="rect">
            <a:avLst/>
          </a:prstGeom>
          <a:solidFill>
            <a:srgbClr val="0B244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bv3"/>
          <p:cNvSpPr txBox="1"/>
          <p:nvPr/>
        </p:nvSpPr>
        <p:spPr>
          <a:xfrm>
            <a:off x="10058400" y="30988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50" b="1" noProof="1">
                <a:solidFill>
                  <a:srgbClr val="0B2440"/>
                </a:solidFill>
                <a:latin typeface="MiSans"/>
                <a:ea typeface="MiSans"/>
              </a:rPr>
              <a:t>$5</a:t>
            </a:r>
            <a:endParaRPr lang="en-US" sz="1150" noProof="1"/>
          </a:p>
        </p:txBody>
      </p:sp>
      <p:sp>
        <p:nvSpPr>
          <p:cNvPr id="36" name="bl4"/>
          <p:cNvSpPr txBox="1"/>
          <p:nvPr/>
        </p:nvSpPr>
        <p:spPr>
          <a:xfrm>
            <a:off x="6604000" y="3683000"/>
            <a:ext cx="15748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23303E"/>
                </a:solidFill>
                <a:latin typeface="MiSans"/>
                <a:ea typeface="MiSans"/>
              </a:rPr>
              <a:t>Claude Fable 5</a:t>
            </a:r>
            <a:endParaRPr lang="en-US" sz="1100" noProof="1"/>
          </a:p>
        </p:txBody>
      </p:sp>
      <p:sp>
        <p:nvSpPr>
          <p:cNvPr id="37" name="bb4"/>
          <p:cNvSpPr/>
          <p:nvPr/>
        </p:nvSpPr>
        <p:spPr>
          <a:xfrm>
            <a:off x="8229600" y="3683000"/>
            <a:ext cx="2743200" cy="203200"/>
          </a:xfrm>
          <a:prstGeom prst="rect">
            <a:avLst/>
          </a:prstGeom>
          <a:solidFill>
            <a:srgbClr val="0B244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bv4"/>
          <p:cNvSpPr txBox="1"/>
          <p:nvPr/>
        </p:nvSpPr>
        <p:spPr>
          <a:xfrm>
            <a:off x="11074400" y="36830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50" b="1" noProof="1">
                <a:solidFill>
                  <a:srgbClr val="0B2440"/>
                </a:solidFill>
                <a:latin typeface="MiSans"/>
                <a:ea typeface="MiSans"/>
              </a:rPr>
              <a:t>$50</a:t>
            </a:r>
            <a:endParaRPr lang="en-US" sz="1150" noProof="1"/>
          </a:p>
        </p:txBody>
      </p:sp>
      <p:sp>
        <p:nvSpPr>
          <p:cNvPr id="39" name="legend"/>
          <p:cNvSpPr txBox="1"/>
          <p:nvPr/>
        </p:nvSpPr>
        <p:spPr>
          <a:xfrm>
            <a:off x="6604000" y="4140200"/>
            <a:ext cx="48768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50" noProof="1">
                <a:solidFill>
                  <a:srgbClr val="F07D0A"/>
                </a:solidFill>
                <a:latin typeface="MiSans"/>
                <a:ea typeface="MiSans"/>
              </a:rPr>
              <a:t>■</a:t>
            </a:r>
            <a:r>
              <a:rPr lang="en-US" sz="1050" noProof="1">
                <a:solidFill>
                  <a:srgbClr val="6B7A8C"/>
                </a:solidFill>
                <a:latin typeface="MiSans"/>
                <a:ea typeface="MiSans"/>
              </a:rPr>
              <a:t> 开源　</a:t>
            </a:r>
            <a:r>
              <a:rPr lang="en-US" sz="1050" noProof="1">
                <a:solidFill>
                  <a:srgbClr val="0B2440"/>
                </a:solidFill>
                <a:latin typeface="MiSans"/>
                <a:ea typeface="MiSans"/>
              </a:rPr>
              <a:t>■</a:t>
            </a:r>
            <a:r>
              <a:rPr lang="en-US" sz="1050" noProof="1">
                <a:solidFill>
                  <a:srgbClr val="6B7A8C"/>
                </a:solidFill>
                <a:latin typeface="MiSans"/>
                <a:ea typeface="MiSans"/>
              </a:rPr>
              <a:t> 闭源</a:t>
            </a:r>
            <a:endParaRPr lang="en-US" sz="1050" noProof="1"/>
          </a:p>
        </p:txBody>
      </p:sp>
      <p:sp>
        <p:nvSpPr>
          <p:cNvPr id="40" name="gapbox"/>
          <p:cNvSpPr/>
          <p:nvPr/>
        </p:nvSpPr>
        <p:spPr>
          <a:xfrm>
            <a:off x="6604000" y="4521200"/>
            <a:ext cx="4876800" cy="1117600"/>
          </a:xfrm>
          <a:prstGeom prst="rect">
            <a:avLst/>
          </a:prstGeom>
          <a:solidFill>
            <a:srgbClr val="FDEBD7"/>
          </a:solidFill>
          <a:ln w="12700">
            <a:solidFill>
              <a:srgbClr val="F07D0A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gapt"/>
          <p:cNvSpPr txBox="1"/>
          <p:nvPr/>
        </p:nvSpPr>
        <p:spPr>
          <a:xfrm>
            <a:off x="6858000" y="4521200"/>
            <a:ext cx="4419600" cy="1117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b="1" noProof="1">
                <a:solidFill>
                  <a:srgbClr val="F07D0A"/>
                </a:solidFill>
                <a:latin typeface="MiSans"/>
                <a:ea typeface="MiSans"/>
              </a:rPr>
              <a:t>同档开源 vs 闭源：价差 28 倍</a:t>
            </a:r>
            <a:endParaRPr lang="en-US" sz="1600" noProof="1"/>
          </a:p>
          <a:p>
            <a:pPr algn="l">
              <a:lnSpc>
                <a:spcPct val="150000"/>
              </a:lnSpc>
            </a:pPr>
            <a:r>
              <a:rPr lang="en-US" sz="1150" noProof="1">
                <a:solidFill>
                  <a:srgbClr val="23303E"/>
                </a:solidFill>
                <a:latin typeface="MiSans"/>
                <a:ea typeface="MiSans"/>
              </a:rPr>
              <a:t>DeepSeek-V4 Pro $0.18 ｜ GPT-5.6 Sol $5</a:t>
            </a:r>
            <a:endParaRPr lang="en-US" sz="1600" noProof="1"/>
          </a:p>
          <a:p>
            <a:pPr algn="l">
              <a:lnSpc>
                <a:spcPct val="150000"/>
              </a:lnSpc>
            </a:pPr>
            <a:r>
              <a:rPr lang="en-US" sz="1150" noProof="1">
                <a:solidFill>
                  <a:srgbClr val="6B7A8C"/>
                </a:solidFill>
                <a:latin typeface="MiSans"/>
                <a:ea typeface="MiSans"/>
              </a:rPr>
              <a:t>闭源价格更低的是“能力更强档”，同等能力折算仍贵出一个数量级</a:t>
            </a:r>
            <a:endParaRPr lang="en-US" sz="1600" noProof="1"/>
          </a:p>
        </p:txBody>
      </p:sp>
      <p:sp>
        <p:nvSpPr>
          <p:cNvPr id="42" name="src"/>
          <p:cNvSpPr txBox="1"/>
          <p:nvPr/>
        </p:nvSpPr>
        <p:spPr>
          <a:xfrm>
            <a:off x="6604000" y="5740400"/>
            <a:ext cx="48768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B7A8C"/>
                </a:solidFill>
                <a:latin typeface="MiSans"/>
                <a:ea typeface="MiSans"/>
              </a:rPr>
              <a:t>来源：各厂商公开 API 定价页（2026 年 7 月），演讲材料整理</a:t>
            </a:r>
            <a:endParaRPr lang="en-US" sz="950" noProof="1"/>
          </a:p>
        </p:txBody>
      </p:sp>
      <p:sp>
        <p:nvSpPr>
          <p:cNvPr id="43" name="fline"/>
          <p:cNvSpPr/>
          <p:nvPr/>
        </p:nvSpPr>
        <p:spPr>
          <a:xfrm>
            <a:off x="711200" y="6477000"/>
            <a:ext cx="107696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fl"/>
          <p:cNvSpPr txBox="1"/>
          <p:nvPr/>
        </p:nvSpPr>
        <p:spPr>
          <a:xfrm>
            <a:off x="711200" y="65532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B7A8C"/>
                </a:solidFill>
                <a:latin typeface="MiSans"/>
                <a:ea typeface="MiSans"/>
              </a:rPr>
              <a:t>Token Factory · AI 推理的成本革命</a:t>
            </a:r>
            <a:endParaRPr lang="en-US" sz="950" noProof="1"/>
          </a:p>
        </p:txBody>
      </p:sp>
      <p:sp>
        <p:nvSpPr>
          <p:cNvPr id="45" name="fr"/>
          <p:cNvSpPr txBox="1"/>
          <p:nvPr/>
        </p:nvSpPr>
        <p:spPr>
          <a:xfrm>
            <a:off x="10210800" y="65532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6B7A8C"/>
                </a:solidFill>
                <a:latin typeface="MiSans"/>
                <a:ea typeface="MiSans"/>
              </a:rPr>
              <a:t>04 / 40</a:t>
            </a:r>
            <a:endParaRPr lang="en-US" sz="95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"/>
          <p:cNvSpPr txBox="1"/>
          <p:nvPr/>
        </p:nvSpPr>
        <p:spPr>
          <a:xfrm>
            <a:off x="711200" y="3810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F07D0A"/>
                </a:solidFill>
                <a:latin typeface="MiSans"/>
                <a:ea typeface="MiSans"/>
              </a:rPr>
              <a:t>第一部分 · TOKEN 工厂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350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600" b="1" noProof="1">
                <a:solidFill>
                  <a:srgbClr val="0B2440"/>
                </a:solidFill>
                <a:latin typeface="MiSans"/>
                <a:ea typeface="MiSans"/>
              </a:rPr>
              <a:t>降低 token 成本的四层杠杆</a:t>
            </a:r>
            <a:endParaRPr lang="en-US" sz="2600" noProof="1"/>
          </a:p>
        </p:txBody>
      </p:sp>
      <p:sp>
        <p:nvSpPr>
          <p:cNvPr id="4" name="rule"/>
          <p:cNvSpPr/>
          <p:nvPr/>
        </p:nvSpPr>
        <p:spPr>
          <a:xfrm>
            <a:off x="711200" y="1270000"/>
            <a:ext cx="107696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abar"/>
          <p:cNvSpPr/>
          <p:nvPr/>
        </p:nvSpPr>
        <p:spPr>
          <a:xfrm>
            <a:off x="711200" y="1244600"/>
            <a:ext cx="812800" cy="381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l1no"/>
          <p:cNvSpPr txBox="1"/>
          <p:nvPr/>
        </p:nvSpPr>
        <p:spPr>
          <a:xfrm>
            <a:off x="711200" y="1701800"/>
            <a:ext cx="5588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F07D0A"/>
                </a:solidFill>
                <a:latin typeface="MiSans"/>
                <a:ea typeface="MiSans"/>
              </a:rPr>
              <a:t>L1</a:t>
            </a:r>
            <a:endParaRPr lang="en-US" sz="1600" noProof="1"/>
          </a:p>
        </p:txBody>
      </p:sp>
      <p:sp>
        <p:nvSpPr>
          <p:cNvPr id="7" name="l1n"/>
          <p:cNvSpPr txBox="1"/>
          <p:nvPr/>
        </p:nvSpPr>
        <p:spPr>
          <a:xfrm>
            <a:off x="1320800" y="1676400"/>
            <a:ext cx="2921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0B2440"/>
                </a:solidFill>
                <a:latin typeface="MiSans"/>
                <a:ea typeface="MiSans"/>
              </a:rPr>
              <a:t>模型架构</a:t>
            </a:r>
            <a:endParaRPr lang="en-US" sz="1600" noProof="1"/>
          </a:p>
        </p:txBody>
      </p:sp>
      <p:sp>
        <p:nvSpPr>
          <p:cNvPr id="8" name="l1s"/>
          <p:cNvSpPr txBox="1"/>
          <p:nvPr/>
        </p:nvSpPr>
        <p:spPr>
          <a:xfrm>
            <a:off x="1320800" y="2006600"/>
            <a:ext cx="2921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6B7A8C"/>
                </a:solidFill>
                <a:latin typeface="MiSans"/>
                <a:ea typeface="MiSans"/>
              </a:rPr>
              <a:t>让效率成为架构设计</a:t>
            </a:r>
            <a:endParaRPr lang="en-US" sz="1100" noProof="1"/>
          </a:p>
        </p:txBody>
      </p:sp>
      <p:sp>
        <p:nvSpPr>
          <p:cNvPr id="9" name="l1t"/>
          <p:cNvSpPr txBox="1"/>
          <p:nvPr/>
        </p:nvSpPr>
        <p:spPr>
          <a:xfrm>
            <a:off x="4445000" y="1676400"/>
            <a:ext cx="4191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23303E"/>
                </a:solidFill>
                <a:latin typeface="MiSans"/>
                <a:ea typeface="MiSans"/>
              </a:rPr>
              <a:t>MLA 压缩 KV Cache ｜ MoE 稀疏激活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23303E"/>
                </a:solidFill>
                <a:latin typeface="MiSans"/>
                <a:ea typeface="MiSans"/>
              </a:rPr>
              <a:t>CSA/HCA 时域压缩 ｜ KDA 线性注意力</a:t>
            </a:r>
            <a:endParaRPr lang="en-US" sz="1200" noProof="1"/>
          </a:p>
        </p:txBody>
      </p:sp>
      <p:sp>
        <p:nvSpPr>
          <p:cNvPr id="10" name="l1c"/>
          <p:cNvSpPr txBox="1"/>
          <p:nvPr/>
        </p:nvSpPr>
        <p:spPr>
          <a:xfrm>
            <a:off x="8890000" y="17526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500" b="1" noProof="1">
                <a:solidFill>
                  <a:srgbClr val="F07D0A"/>
                </a:solidFill>
                <a:latin typeface="MiSans"/>
                <a:ea typeface="MiSans"/>
              </a:rPr>
              <a:t>约 10–100×</a:t>
            </a:r>
            <a:endParaRPr lang="en-US" sz="1500" noProof="1"/>
          </a:p>
        </p:txBody>
      </p:sp>
      <p:sp>
        <p:nvSpPr>
          <p:cNvPr id="11" name="l1line"/>
          <p:cNvSpPr/>
          <p:nvPr/>
        </p:nvSpPr>
        <p:spPr>
          <a:xfrm>
            <a:off x="711200" y="2489200"/>
            <a:ext cx="97536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l2no"/>
          <p:cNvSpPr txBox="1"/>
          <p:nvPr/>
        </p:nvSpPr>
        <p:spPr>
          <a:xfrm>
            <a:off x="711200" y="2667000"/>
            <a:ext cx="5588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F07D0A"/>
                </a:solidFill>
                <a:latin typeface="MiSans"/>
                <a:ea typeface="MiSans"/>
              </a:rPr>
              <a:t>L2</a:t>
            </a:r>
            <a:endParaRPr lang="en-US" sz="1600" noProof="1"/>
          </a:p>
        </p:txBody>
      </p:sp>
      <p:sp>
        <p:nvSpPr>
          <p:cNvPr id="13" name="l2n"/>
          <p:cNvSpPr txBox="1"/>
          <p:nvPr/>
        </p:nvSpPr>
        <p:spPr>
          <a:xfrm>
            <a:off x="1320800" y="2641600"/>
            <a:ext cx="2921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0B2440"/>
                </a:solidFill>
                <a:latin typeface="MiSans"/>
                <a:ea typeface="MiSans"/>
              </a:rPr>
              <a:t>硬件</a:t>
            </a:r>
            <a:endParaRPr lang="en-US" sz="1600" noProof="1"/>
          </a:p>
        </p:txBody>
      </p:sp>
      <p:sp>
        <p:nvSpPr>
          <p:cNvPr id="14" name="l2s"/>
          <p:cNvSpPr txBox="1"/>
          <p:nvPr/>
        </p:nvSpPr>
        <p:spPr>
          <a:xfrm>
            <a:off x="1320800" y="2971800"/>
            <a:ext cx="2921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6B7A8C"/>
                </a:solidFill>
                <a:latin typeface="MiSans"/>
                <a:ea typeface="MiSans"/>
              </a:rPr>
              <a:t>让每块 GPU 产出更多 token</a:t>
            </a:r>
            <a:endParaRPr lang="en-US" sz="1100" noProof="1"/>
          </a:p>
        </p:txBody>
      </p:sp>
      <p:sp>
        <p:nvSpPr>
          <p:cNvPr id="15" name="l2t"/>
          <p:cNvSpPr txBox="1"/>
          <p:nvPr/>
        </p:nvSpPr>
        <p:spPr>
          <a:xfrm>
            <a:off x="4445000" y="2641600"/>
            <a:ext cx="4191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23303E"/>
                </a:solidFill>
                <a:latin typeface="MiSans"/>
                <a:ea typeface="MiSans"/>
              </a:rPr>
              <a:t>Blackwell FP4 ｜ HBM3e 8 TB/s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23303E"/>
                </a:solidFill>
                <a:latin typeface="MiSans"/>
                <a:ea typeface="MiSans"/>
              </a:rPr>
              <a:t>NVLink-C2C ｜ GPU 虚拟化共享</a:t>
            </a:r>
            <a:endParaRPr lang="en-US" sz="1200" noProof="1"/>
          </a:p>
        </p:txBody>
      </p:sp>
      <p:sp>
        <p:nvSpPr>
          <p:cNvPr id="16" name="l2c"/>
          <p:cNvSpPr txBox="1"/>
          <p:nvPr/>
        </p:nvSpPr>
        <p:spPr>
          <a:xfrm>
            <a:off x="8890000" y="27178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500" b="1" noProof="1">
                <a:solidFill>
                  <a:srgbClr val="F07D0A"/>
                </a:solidFill>
                <a:latin typeface="MiSans"/>
                <a:ea typeface="MiSans"/>
              </a:rPr>
              <a:t>约 10×</a:t>
            </a:r>
            <a:endParaRPr lang="en-US" sz="1500" noProof="1"/>
          </a:p>
        </p:txBody>
      </p:sp>
      <p:sp>
        <p:nvSpPr>
          <p:cNvPr id="17" name="l2line"/>
          <p:cNvSpPr/>
          <p:nvPr/>
        </p:nvSpPr>
        <p:spPr>
          <a:xfrm>
            <a:off x="711200" y="3454400"/>
            <a:ext cx="97536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l3no"/>
          <p:cNvSpPr txBox="1"/>
          <p:nvPr/>
        </p:nvSpPr>
        <p:spPr>
          <a:xfrm>
            <a:off x="711200" y="3632200"/>
            <a:ext cx="5588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F07D0A"/>
                </a:solidFill>
                <a:latin typeface="MiSans"/>
                <a:ea typeface="MiSans"/>
              </a:rPr>
              <a:t>L3</a:t>
            </a:r>
            <a:endParaRPr lang="en-US" sz="1600" noProof="1"/>
          </a:p>
        </p:txBody>
      </p:sp>
      <p:sp>
        <p:nvSpPr>
          <p:cNvPr id="19" name="l3n"/>
          <p:cNvSpPr txBox="1"/>
          <p:nvPr/>
        </p:nvSpPr>
        <p:spPr>
          <a:xfrm>
            <a:off x="1320800" y="3606800"/>
            <a:ext cx="2921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0B2440"/>
                </a:solidFill>
                <a:latin typeface="MiSans"/>
                <a:ea typeface="MiSans"/>
              </a:rPr>
              <a:t>推理引擎</a:t>
            </a:r>
            <a:endParaRPr lang="en-US" sz="1600" noProof="1"/>
          </a:p>
        </p:txBody>
      </p:sp>
      <p:sp>
        <p:nvSpPr>
          <p:cNvPr id="20" name="l3s"/>
          <p:cNvSpPr txBox="1"/>
          <p:nvPr/>
        </p:nvSpPr>
        <p:spPr>
          <a:xfrm>
            <a:off x="1320800" y="3937000"/>
            <a:ext cx="2921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6B7A8C"/>
                </a:solidFill>
                <a:latin typeface="MiSans"/>
                <a:ea typeface="MiSans"/>
              </a:rPr>
              <a:t>让软件吃干榨净硬件</a:t>
            </a:r>
            <a:endParaRPr lang="en-US" sz="1100" noProof="1"/>
          </a:p>
        </p:txBody>
      </p:sp>
      <p:sp>
        <p:nvSpPr>
          <p:cNvPr id="21" name="l3t"/>
          <p:cNvSpPr txBox="1"/>
          <p:nvPr/>
        </p:nvSpPr>
        <p:spPr>
          <a:xfrm>
            <a:off x="4445000" y="3606800"/>
            <a:ext cx="4191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23303E"/>
                </a:solidFill>
                <a:latin typeface="MiSans"/>
                <a:ea typeface="MiSans"/>
              </a:rPr>
              <a:t>KV Cache 分页 ｜ 连续批处理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23303E"/>
                </a:solidFill>
                <a:latin typeface="MiSans"/>
                <a:ea typeface="MiSans"/>
              </a:rPr>
              <a:t>投机解码 ｜ FP8 / FP4 量化</a:t>
            </a:r>
            <a:endParaRPr lang="en-US" sz="1200" noProof="1"/>
          </a:p>
        </p:txBody>
      </p:sp>
      <p:sp>
        <p:nvSpPr>
          <p:cNvPr id="22" name="l3c"/>
          <p:cNvSpPr txBox="1"/>
          <p:nvPr/>
        </p:nvSpPr>
        <p:spPr>
          <a:xfrm>
            <a:off x="8890000" y="36830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500" b="1" noProof="1">
                <a:solidFill>
                  <a:srgbClr val="F07D0A"/>
                </a:solidFill>
                <a:latin typeface="MiSans"/>
                <a:ea typeface="MiSans"/>
              </a:rPr>
              <a:t>2–4×</a:t>
            </a:r>
            <a:endParaRPr lang="en-US" sz="1500" noProof="1"/>
          </a:p>
        </p:txBody>
      </p:sp>
      <p:sp>
        <p:nvSpPr>
          <p:cNvPr id="23" name="l3line"/>
          <p:cNvSpPr/>
          <p:nvPr/>
        </p:nvSpPr>
        <p:spPr>
          <a:xfrm>
            <a:off x="711200" y="4419600"/>
            <a:ext cx="97536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l4no"/>
          <p:cNvSpPr txBox="1"/>
          <p:nvPr/>
        </p:nvSpPr>
        <p:spPr>
          <a:xfrm>
            <a:off x="711200" y="4597400"/>
            <a:ext cx="5588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F07D0A"/>
                </a:solidFill>
                <a:latin typeface="MiSans"/>
                <a:ea typeface="MiSans"/>
              </a:rPr>
              <a:t>L4</a:t>
            </a:r>
            <a:endParaRPr lang="en-US" sz="1600" noProof="1"/>
          </a:p>
        </p:txBody>
      </p:sp>
      <p:sp>
        <p:nvSpPr>
          <p:cNvPr id="25" name="l4n"/>
          <p:cNvSpPr txBox="1"/>
          <p:nvPr/>
        </p:nvSpPr>
        <p:spPr>
          <a:xfrm>
            <a:off x="1320800" y="4572000"/>
            <a:ext cx="2921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0B2440"/>
                </a:solidFill>
                <a:latin typeface="MiSans"/>
                <a:ea typeface="MiSans"/>
              </a:rPr>
              <a:t>基础设施与生态</a:t>
            </a:r>
            <a:endParaRPr lang="en-US" sz="1600" noProof="1"/>
          </a:p>
        </p:txBody>
      </p:sp>
      <p:sp>
        <p:nvSpPr>
          <p:cNvPr id="26" name="l4s"/>
          <p:cNvSpPr txBox="1"/>
          <p:nvPr/>
        </p:nvSpPr>
        <p:spPr>
          <a:xfrm>
            <a:off x="1320800" y="4902200"/>
            <a:ext cx="2921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6B7A8C"/>
                </a:solidFill>
                <a:latin typeface="MiSans"/>
                <a:ea typeface="MiSans"/>
              </a:rPr>
              <a:t>让集群更满、价格战更狠</a:t>
            </a:r>
            <a:endParaRPr lang="en-US" sz="1100" noProof="1"/>
          </a:p>
        </p:txBody>
      </p:sp>
      <p:sp>
        <p:nvSpPr>
          <p:cNvPr id="27" name="l4t"/>
          <p:cNvSpPr txBox="1"/>
          <p:nvPr/>
        </p:nvSpPr>
        <p:spPr>
          <a:xfrm>
            <a:off x="4445000" y="4572000"/>
            <a:ext cx="4191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23303E"/>
                </a:solidFill>
                <a:latin typeface="MiSans"/>
                <a:ea typeface="MiSans"/>
              </a:rPr>
              <a:t>PD 分离 ｜ GPU 共享 ｜ 云原生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23303E"/>
                </a:solidFill>
                <a:latin typeface="MiSans"/>
                <a:ea typeface="MiSans"/>
              </a:rPr>
              <a:t>开源模型价格战</a:t>
            </a:r>
            <a:endParaRPr lang="en-US" sz="1200" noProof="1"/>
          </a:p>
        </p:txBody>
      </p:sp>
      <p:sp>
        <p:nvSpPr>
          <p:cNvPr id="28" name="l4c"/>
          <p:cNvSpPr txBox="1"/>
          <p:nvPr/>
        </p:nvSpPr>
        <p:spPr>
          <a:xfrm>
            <a:off x="8890000" y="46482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500" b="1" noProof="1">
                <a:solidFill>
                  <a:srgbClr val="F07D0A"/>
                </a:solidFill>
                <a:latin typeface="MiSans"/>
                <a:ea typeface="MiSans"/>
              </a:rPr>
              <a:t>价差 28×</a:t>
            </a:r>
            <a:endParaRPr lang="en-US" sz="1500" noProof="1"/>
          </a:p>
        </p:txBody>
      </p:sp>
      <p:sp>
        <p:nvSpPr>
          <p:cNvPr id="29" name="l4line"/>
          <p:cNvSpPr/>
          <p:nvPr/>
        </p:nvSpPr>
        <p:spPr>
          <a:xfrm>
            <a:off x="711200" y="5384800"/>
            <a:ext cx="97536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varrow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eyJ2aWV3Qm94IjpbMTIsMjgwXSwicG9pbnRzIjoiNiwwIDYsMjgwIn0</pptd:line>
              </p:ext>
            </p:extLst>
          </p:nvPr>
        </p:nvSpPr>
        <p:spPr>
          <a:xfrm>
            <a:off x="10947400" y="1778000"/>
            <a:ext cx="152400" cy="3556000"/>
          </a:xfrm>
          <a:custGeom>
            <a:avLst/>
            <a:gdLst/>
            <a:ahLst/>
            <a:cxnLst/>
            <a:rect l="l" t="t" r="r" b="b"/>
            <a:pathLst>
              <a:path w="12" h="280">
                <a:moveTo>
                  <a:pt x="6" y="0"/>
                </a:moveTo>
                <a:lnTo>
                  <a:pt x="6" y="280"/>
                </a:lnTo>
              </a:path>
            </a:pathLst>
          </a:custGeom>
          <a:noFill/>
          <a:ln w="25400" cap="rnd">
            <a:solidFill>
              <a:srgbClr val="F07D0A"/>
            </a:solidFill>
            <a:round/>
            <a:tailEnd type="arrow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umbox"/>
          <p:cNvSpPr/>
          <p:nvPr/>
        </p:nvSpPr>
        <p:spPr>
          <a:xfrm>
            <a:off x="711200" y="5613400"/>
            <a:ext cx="10769600" cy="584200"/>
          </a:xfrm>
          <a:prstGeom prst="rect">
            <a:avLst/>
          </a:prstGeom>
          <a:solidFill>
            <a:srgbClr val="0B244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umt"/>
          <p:cNvSpPr txBox="1"/>
          <p:nvPr/>
        </p:nvSpPr>
        <p:spPr>
          <a:xfrm>
            <a:off x="711200" y="5613400"/>
            <a:ext cx="10769600" cy="584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50" b="1" noProof="1">
                <a:solidFill>
                  <a:srgbClr val="FFFFFF"/>
                </a:solidFill>
                <a:latin typeface="MiSans"/>
                <a:ea typeface="MiSans"/>
              </a:rPr>
              <a:t>四层是乘法，不是加法 —— 共同指向 每 token 成本 ↓</a:t>
            </a:r>
            <a:endParaRPr lang="en-US" sz="1550" noProof="1"/>
          </a:p>
        </p:txBody>
      </p:sp>
      <p:sp>
        <p:nvSpPr>
          <p:cNvPr id="33" name="fline"/>
          <p:cNvSpPr/>
          <p:nvPr/>
        </p:nvSpPr>
        <p:spPr>
          <a:xfrm>
            <a:off x="711200" y="6477000"/>
            <a:ext cx="107696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fl"/>
          <p:cNvSpPr txBox="1"/>
          <p:nvPr/>
        </p:nvSpPr>
        <p:spPr>
          <a:xfrm>
            <a:off x="711200" y="65532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B7A8C"/>
                </a:solidFill>
                <a:latin typeface="MiSans"/>
                <a:ea typeface="MiSans"/>
              </a:rPr>
              <a:t>Token Factory · AI 推理的成本革命</a:t>
            </a:r>
            <a:endParaRPr lang="en-US" sz="950" noProof="1"/>
          </a:p>
        </p:txBody>
      </p:sp>
      <p:sp>
        <p:nvSpPr>
          <p:cNvPr id="35" name="fr"/>
          <p:cNvSpPr txBox="1"/>
          <p:nvPr/>
        </p:nvSpPr>
        <p:spPr>
          <a:xfrm>
            <a:off x="10210800" y="65532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6B7A8C"/>
                </a:solidFill>
                <a:latin typeface="MiSans"/>
                <a:ea typeface="MiSans"/>
              </a:rPr>
              <a:t>05 / 40</a:t>
            </a:r>
            <a:endParaRPr lang="en-US" sz="95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"/>
          <p:cNvSpPr txBox="1"/>
          <p:nvPr/>
        </p:nvSpPr>
        <p:spPr>
          <a:xfrm>
            <a:off x="711200" y="3810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F07D0A"/>
                </a:solidFill>
                <a:latin typeface="MiSans"/>
                <a:ea typeface="MiSans"/>
              </a:rPr>
              <a:t>第一层杠杆 · 模型架构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350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600" b="1" noProof="1">
                <a:solidFill>
                  <a:srgbClr val="0B2440"/>
                </a:solidFill>
                <a:latin typeface="MiSans"/>
                <a:ea typeface="MiSans"/>
              </a:rPr>
              <a:t>大模型如何工作：90 秒回顾</a:t>
            </a:r>
            <a:endParaRPr lang="en-US" sz="2600" noProof="1"/>
          </a:p>
        </p:txBody>
      </p:sp>
      <p:sp>
        <p:nvSpPr>
          <p:cNvPr id="4" name="rule"/>
          <p:cNvSpPr/>
          <p:nvPr/>
        </p:nvSpPr>
        <p:spPr>
          <a:xfrm>
            <a:off x="711200" y="1270000"/>
            <a:ext cx="107696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abar"/>
          <p:cNvSpPr/>
          <p:nvPr/>
        </p:nvSpPr>
        <p:spPr>
          <a:xfrm>
            <a:off x="711200" y="1244600"/>
            <a:ext cx="812800" cy="381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left1"/>
          <p:cNvSpPr txBox="1"/>
          <p:nvPr/>
        </p:nvSpPr>
        <p:spPr>
          <a:xfrm>
            <a:off x="711200" y="1600200"/>
            <a:ext cx="5334000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350" b="1" noProof="1">
                <a:solidFill>
                  <a:srgbClr val="23303E"/>
                </a:solidFill>
                <a:latin typeface="MiSans"/>
                <a:ea typeface="MiSans"/>
              </a:rPr>
              <a:t>注意力机制</a:t>
            </a: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：模型看当前词时，知道该关注前面哪些词</a:t>
            </a:r>
            <a:endParaRPr lang="en-US" sz="135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Query ＝我想找什么 ｜ Key ＝我有什么 ｜ Value ＝实际内容</a:t>
            </a:r>
            <a:endParaRPr lang="en-US" sz="1350" noProof="1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350" b="1" noProof="1">
                <a:solidFill>
                  <a:srgbClr val="23303E"/>
                </a:solidFill>
                <a:latin typeface="MiSans"/>
                <a:ea typeface="MiSans"/>
              </a:rPr>
              <a:t>自回归生成</a:t>
            </a: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：每次预测下一个 token，每生成一个都要重新算一遍注意力</a:t>
            </a:r>
            <a:endParaRPr lang="en-US" sz="1350" noProof="1"/>
          </a:p>
        </p:txBody>
      </p:sp>
      <p:sp>
        <p:nvSpPr>
          <p:cNvPr id="7" name="left2"/>
          <p:cNvSpPr txBox="1"/>
          <p:nvPr/>
        </p:nvSpPr>
        <p:spPr>
          <a:xfrm>
            <a:off x="711200" y="3632200"/>
            <a:ext cx="53340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350" b="1" noProof="1">
                <a:solidFill>
                  <a:srgbClr val="23303E"/>
                </a:solidFill>
                <a:latin typeface="MiSans"/>
                <a:ea typeface="MiSans"/>
              </a:rPr>
              <a:t>关键细节</a:t>
            </a: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：已处理 token 的中间结果（K 和 V）可以复用，缓存在显存里，叫 </a:t>
            </a:r>
            <a:r>
              <a:rPr lang="en-US" sz="1350" b="1" noProof="1">
                <a:solidFill>
                  <a:srgbClr val="23303E"/>
                </a:solidFill>
                <a:latin typeface="MiSans"/>
                <a:ea typeface="MiSans"/>
              </a:rPr>
              <a:t>KV Cache</a:t>
            </a:r>
            <a:endParaRPr lang="en-US" sz="135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但 KV Cache 随对话长度线性增长：对话越长，显存占用越大，每 token 成本越高</a:t>
            </a:r>
            <a:endParaRPr lang="en-US" sz="1350" noProof="1"/>
          </a:p>
        </p:txBody>
      </p:sp>
      <p:sp>
        <p:nvSpPr>
          <p:cNvPr id="8" name="left3"/>
          <p:cNvSpPr/>
          <p:nvPr/>
        </p:nvSpPr>
        <p:spPr>
          <a:xfrm>
            <a:off x="711200" y="5384800"/>
            <a:ext cx="5334000" cy="660400"/>
          </a:xfrm>
          <a:prstGeom prst="rect">
            <a:avLst/>
          </a:prstGeom>
          <a:solidFill>
            <a:srgbClr val="FDEBD7"/>
          </a:solidFill>
          <a:ln w="12700">
            <a:solidFill>
              <a:srgbClr val="F07D0A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left3t"/>
          <p:cNvSpPr txBox="1"/>
          <p:nvPr/>
        </p:nvSpPr>
        <p:spPr>
          <a:xfrm>
            <a:off x="914400" y="5384800"/>
            <a:ext cx="4978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b="1" noProof="1">
                <a:solidFill>
                  <a:srgbClr val="0B2440"/>
                </a:solidFill>
                <a:latin typeface="MiSans"/>
                <a:ea typeface="MiSans"/>
              </a:rPr>
              <a:t>突破口：怎么把 KV Cache 变小？</a:t>
            </a:r>
            <a:r>
              <a:rPr lang="en-US" sz="1300" b="1" noProof="1">
                <a:solidFill>
                  <a:srgbClr val="F07D0A"/>
                </a:solidFill>
                <a:latin typeface="MiSans"/>
                <a:ea typeface="MiSans"/>
              </a:rPr>
              <a:t>—— 第一层杠杆的四个答案</a:t>
            </a:r>
            <a:endParaRPr lang="en-US" sz="1300" noProof="1"/>
          </a:p>
        </p:txBody>
      </p:sp>
      <p:sp>
        <p:nvSpPr>
          <p:cNvPr id="10" name="rh"/>
          <p:cNvSpPr txBox="1"/>
          <p:nvPr/>
        </p:nvSpPr>
        <p:spPr>
          <a:xfrm>
            <a:off x="6604000" y="1600200"/>
            <a:ext cx="48768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6B7A8C"/>
                </a:solidFill>
                <a:latin typeface="MiSans"/>
                <a:ea typeface="MiSans"/>
              </a:rPr>
              <a:t>自回归生成示意：生成第 5 个 token 时</a:t>
            </a:r>
            <a:endParaRPr lang="en-US" sz="1150" noProof="1"/>
          </a:p>
        </p:txBody>
      </p:sp>
      <p:sp>
        <p:nvSpPr>
          <p:cNvPr id="11" name="tk1"/>
          <p:cNvSpPr/>
          <p:nvPr/>
        </p:nvSpPr>
        <p:spPr>
          <a:xfrm>
            <a:off x="6604000" y="1930400"/>
            <a:ext cx="609600" cy="609600"/>
          </a:xfrm>
          <a:prstGeom prst="rect">
            <a:avLst/>
          </a:prstGeom>
          <a:solidFill>
            <a:srgbClr val="E7EDF4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k1t"/>
          <p:cNvSpPr txBox="1"/>
          <p:nvPr/>
        </p:nvSpPr>
        <p:spPr>
          <a:xfrm>
            <a:off x="6604000" y="1930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noProof="1">
                <a:solidFill>
                  <a:srgbClr val="0B2440"/>
                </a:solidFill>
                <a:latin typeface="MiSans"/>
                <a:ea typeface="MiSans"/>
              </a:rPr>
              <a:t>今</a:t>
            </a:r>
            <a:endParaRPr lang="en-US" sz="1500" noProof="1"/>
          </a:p>
        </p:txBody>
      </p:sp>
      <p:sp>
        <p:nvSpPr>
          <p:cNvPr id="13" name="tk2"/>
          <p:cNvSpPr/>
          <p:nvPr/>
        </p:nvSpPr>
        <p:spPr>
          <a:xfrm>
            <a:off x="7569200" y="1930400"/>
            <a:ext cx="609600" cy="609600"/>
          </a:xfrm>
          <a:prstGeom prst="rect">
            <a:avLst/>
          </a:prstGeom>
          <a:solidFill>
            <a:srgbClr val="E7EDF4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k2t"/>
          <p:cNvSpPr txBox="1"/>
          <p:nvPr/>
        </p:nvSpPr>
        <p:spPr>
          <a:xfrm>
            <a:off x="7569200" y="1930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noProof="1">
                <a:solidFill>
                  <a:srgbClr val="0B2440"/>
                </a:solidFill>
                <a:latin typeface="MiSans"/>
                <a:ea typeface="MiSans"/>
              </a:rPr>
              <a:t>天</a:t>
            </a:r>
            <a:endParaRPr lang="en-US" sz="1500" noProof="1"/>
          </a:p>
        </p:txBody>
      </p:sp>
      <p:sp>
        <p:nvSpPr>
          <p:cNvPr id="15" name="tk3"/>
          <p:cNvSpPr/>
          <p:nvPr/>
        </p:nvSpPr>
        <p:spPr>
          <a:xfrm>
            <a:off x="8534400" y="1930400"/>
            <a:ext cx="609600" cy="609600"/>
          </a:xfrm>
          <a:prstGeom prst="rect">
            <a:avLst/>
          </a:prstGeom>
          <a:solidFill>
            <a:srgbClr val="E7EDF4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k3t"/>
          <p:cNvSpPr txBox="1"/>
          <p:nvPr/>
        </p:nvSpPr>
        <p:spPr>
          <a:xfrm>
            <a:off x="8534400" y="1930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noProof="1">
                <a:solidFill>
                  <a:srgbClr val="0B2440"/>
                </a:solidFill>
                <a:latin typeface="MiSans"/>
                <a:ea typeface="MiSans"/>
              </a:rPr>
              <a:t>天</a:t>
            </a:r>
            <a:endParaRPr lang="en-US" sz="1500" noProof="1"/>
          </a:p>
        </p:txBody>
      </p:sp>
      <p:sp>
        <p:nvSpPr>
          <p:cNvPr id="17" name="tk4"/>
          <p:cNvSpPr/>
          <p:nvPr/>
        </p:nvSpPr>
        <p:spPr>
          <a:xfrm>
            <a:off x="9499600" y="1930400"/>
            <a:ext cx="609600" cy="609600"/>
          </a:xfrm>
          <a:prstGeom prst="rect">
            <a:avLst/>
          </a:prstGeom>
          <a:solidFill>
            <a:srgbClr val="E7EDF4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k4t"/>
          <p:cNvSpPr txBox="1"/>
          <p:nvPr/>
        </p:nvSpPr>
        <p:spPr>
          <a:xfrm>
            <a:off x="9499600" y="1930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noProof="1">
                <a:solidFill>
                  <a:srgbClr val="0B2440"/>
                </a:solidFill>
                <a:latin typeface="MiSans"/>
                <a:ea typeface="MiSans"/>
              </a:rPr>
              <a:t>气</a:t>
            </a:r>
            <a:endParaRPr lang="en-US" sz="1500" noProof="1"/>
          </a:p>
        </p:txBody>
      </p:sp>
      <p:sp>
        <p:nvSpPr>
          <p:cNvPr id="19" name="tk5"/>
          <p:cNvSpPr/>
          <p:nvPr/>
        </p:nvSpPr>
        <p:spPr>
          <a:xfrm>
            <a:off x="10464800" y="1930400"/>
            <a:ext cx="609600" cy="609600"/>
          </a:xfrm>
          <a:prstGeom prst="rect">
            <a:avLst/>
          </a:prstGeom>
          <a:solidFill>
            <a:srgbClr val="FDEBD7"/>
          </a:solidFill>
          <a:ln w="25400">
            <a:solidFill>
              <a:srgbClr val="F07D0A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k5t"/>
          <p:cNvSpPr txBox="1"/>
          <p:nvPr/>
        </p:nvSpPr>
        <p:spPr>
          <a:xfrm>
            <a:off x="10464800" y="1930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noProof="1">
                <a:solidFill>
                  <a:srgbClr val="F07D0A"/>
                </a:solidFill>
                <a:latin typeface="MiSans"/>
                <a:ea typeface="MiSans"/>
              </a:rPr>
              <a:t>？</a:t>
            </a:r>
            <a:endParaRPr lang="en-US" sz="1500" noProof="1"/>
          </a:p>
        </p:txBody>
      </p:sp>
      <p:sp>
        <p:nvSpPr>
          <p:cNvPr id="21" name="attn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eyJ2aWV3Qm94IjpbMzA0LDMwXSwicG9pbnRzIjoiMCwwIDE1MiwzMCAzMDQsMCIsImN1cnZlIjoic21vb3RoIn0</pptd:line>
              </p:ext>
            </p:extLst>
          </p:nvPr>
        </p:nvSpPr>
        <p:spPr>
          <a:xfrm>
            <a:off x="6908800" y="2616200"/>
            <a:ext cx="3860800" cy="381000"/>
          </a:xfrm>
          <a:custGeom>
            <a:avLst/>
            <a:gdLst/>
            <a:ahLst/>
            <a:cxnLst/>
            <a:rect l="l" t="t" r="r" b="b"/>
            <a:pathLst>
              <a:path w="304" h="30">
                <a:moveTo>
                  <a:pt x="0" y="0"/>
                </a:moveTo>
                <a:quadBezTo>
                  <a:pt x="152" y="30"/>
                  <a:pt x="304" y="0"/>
                </a:quadBezTo>
              </a:path>
            </a:pathLst>
          </a:custGeom>
          <a:noFill/>
          <a:ln w="19050" cap="rnd">
            <a:solidFill>
              <a:srgbClr val="6B7A8C"/>
            </a:solidFill>
            <a:prstDash val="dash"/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attnlab"/>
          <p:cNvSpPr txBox="1"/>
          <p:nvPr/>
        </p:nvSpPr>
        <p:spPr>
          <a:xfrm>
            <a:off x="6604000" y="2997200"/>
            <a:ext cx="48768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noProof="1">
                <a:solidFill>
                  <a:srgbClr val="6B7A8C"/>
                </a:solidFill>
                <a:latin typeface="MiSans"/>
                <a:ea typeface="MiSans"/>
              </a:rPr>
              <a:t>新 token 的 Query 关注全部历史 token 的 Key / Value</a:t>
            </a:r>
            <a:endParaRPr lang="en-US" sz="1050" noProof="1"/>
          </a:p>
        </p:txBody>
      </p:sp>
      <p:sp>
        <p:nvSpPr>
          <p:cNvPr id="23" name="kvbox"/>
          <p:cNvSpPr/>
          <p:nvPr/>
        </p:nvSpPr>
        <p:spPr>
          <a:xfrm>
            <a:off x="6604000" y="3403600"/>
            <a:ext cx="4876800" cy="1117600"/>
          </a:xfrm>
          <a:prstGeom prst="rect">
            <a:avLst/>
          </a:prstGeom>
          <a:solidFill>
            <a:srgbClr val="F3F6FA"/>
          </a:solidFill>
          <a:ln w="12700">
            <a:solidFill>
              <a:srgbClr val="D9E1E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kvb1"/>
          <p:cNvSpPr/>
          <p:nvPr/>
        </p:nvSpPr>
        <p:spPr>
          <a:xfrm>
            <a:off x="6858000" y="3708400"/>
            <a:ext cx="762000" cy="508000"/>
          </a:xfrm>
          <a:prstGeom prst="rect">
            <a:avLst/>
          </a:prstGeom>
          <a:solidFill>
            <a:srgbClr val="0B244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kvb1t"/>
          <p:cNvSpPr txBox="1"/>
          <p:nvPr/>
        </p:nvSpPr>
        <p:spPr>
          <a:xfrm>
            <a:off x="6858000" y="3708400"/>
            <a:ext cx="762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noProof="1">
                <a:solidFill>
                  <a:srgbClr val="FFFFFF"/>
                </a:solidFill>
                <a:latin typeface="MiSans"/>
                <a:ea typeface="MiSans"/>
              </a:rPr>
              <a:t>今 K/V</a:t>
            </a:r>
            <a:endParaRPr lang="en-US" sz="1050" noProof="1"/>
          </a:p>
        </p:txBody>
      </p:sp>
      <p:sp>
        <p:nvSpPr>
          <p:cNvPr id="26" name="kvb2"/>
          <p:cNvSpPr/>
          <p:nvPr/>
        </p:nvSpPr>
        <p:spPr>
          <a:xfrm>
            <a:off x="7797800" y="3708400"/>
            <a:ext cx="762000" cy="508000"/>
          </a:xfrm>
          <a:prstGeom prst="rect">
            <a:avLst/>
          </a:prstGeom>
          <a:solidFill>
            <a:srgbClr val="0B244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kvb2t"/>
          <p:cNvSpPr txBox="1"/>
          <p:nvPr/>
        </p:nvSpPr>
        <p:spPr>
          <a:xfrm>
            <a:off x="7797800" y="3708400"/>
            <a:ext cx="762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noProof="1">
                <a:solidFill>
                  <a:srgbClr val="FFFFFF"/>
                </a:solidFill>
                <a:latin typeface="MiSans"/>
                <a:ea typeface="MiSans"/>
              </a:rPr>
              <a:t>天 K/V</a:t>
            </a:r>
            <a:endParaRPr lang="en-US" sz="1050" noProof="1"/>
          </a:p>
        </p:txBody>
      </p:sp>
      <p:sp>
        <p:nvSpPr>
          <p:cNvPr id="28" name="kvb3"/>
          <p:cNvSpPr/>
          <p:nvPr/>
        </p:nvSpPr>
        <p:spPr>
          <a:xfrm>
            <a:off x="8737600" y="3708400"/>
            <a:ext cx="762000" cy="508000"/>
          </a:xfrm>
          <a:prstGeom prst="rect">
            <a:avLst/>
          </a:prstGeom>
          <a:solidFill>
            <a:srgbClr val="0B244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kvb3t"/>
          <p:cNvSpPr txBox="1"/>
          <p:nvPr/>
        </p:nvSpPr>
        <p:spPr>
          <a:xfrm>
            <a:off x="8737600" y="3708400"/>
            <a:ext cx="762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noProof="1">
                <a:solidFill>
                  <a:srgbClr val="FFFFFF"/>
                </a:solidFill>
                <a:latin typeface="MiSans"/>
                <a:ea typeface="MiSans"/>
              </a:rPr>
              <a:t>天 K/V</a:t>
            </a:r>
            <a:endParaRPr lang="en-US" sz="1050" noProof="1"/>
          </a:p>
        </p:txBody>
      </p:sp>
      <p:sp>
        <p:nvSpPr>
          <p:cNvPr id="30" name="kvb4"/>
          <p:cNvSpPr/>
          <p:nvPr/>
        </p:nvSpPr>
        <p:spPr>
          <a:xfrm>
            <a:off x="9677400" y="3708400"/>
            <a:ext cx="762000" cy="508000"/>
          </a:xfrm>
          <a:prstGeom prst="rect">
            <a:avLst/>
          </a:prstGeom>
          <a:solidFill>
            <a:srgbClr val="0B244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kvb4t"/>
          <p:cNvSpPr txBox="1"/>
          <p:nvPr/>
        </p:nvSpPr>
        <p:spPr>
          <a:xfrm>
            <a:off x="9677400" y="3708400"/>
            <a:ext cx="762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noProof="1">
                <a:solidFill>
                  <a:srgbClr val="FFFFFF"/>
                </a:solidFill>
                <a:latin typeface="MiSans"/>
                <a:ea typeface="MiSans"/>
              </a:rPr>
              <a:t>气 K/V</a:t>
            </a:r>
            <a:endParaRPr lang="en-US" sz="1050" noProof="1"/>
          </a:p>
        </p:txBody>
      </p:sp>
      <p:sp>
        <p:nvSpPr>
          <p:cNvPr id="32" name="kvdots"/>
          <p:cNvSpPr txBox="1"/>
          <p:nvPr/>
        </p:nvSpPr>
        <p:spPr>
          <a:xfrm>
            <a:off x="10541000" y="3708400"/>
            <a:ext cx="762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noProof="1">
                <a:solidFill>
                  <a:srgbClr val="6B7A8C"/>
                </a:solidFill>
                <a:latin typeface="MiSans"/>
                <a:ea typeface="MiSans"/>
              </a:rPr>
              <a:t>…</a:t>
            </a:r>
            <a:endParaRPr lang="en-US" sz="1400" noProof="1"/>
          </a:p>
        </p:txBody>
      </p:sp>
      <p:sp>
        <p:nvSpPr>
          <p:cNvPr id="33" name="kvlab"/>
          <p:cNvSpPr txBox="1"/>
          <p:nvPr/>
        </p:nvSpPr>
        <p:spPr>
          <a:xfrm>
            <a:off x="6858000" y="3454400"/>
            <a:ext cx="43688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noProof="1">
                <a:solidFill>
                  <a:srgbClr val="0B2440"/>
                </a:solidFill>
                <a:latin typeface="MiSans"/>
                <a:ea typeface="MiSans"/>
              </a:rPr>
              <a:t>KV Cache（显存中的缓存区）：只增不减</a:t>
            </a:r>
            <a:endParaRPr lang="en-US" sz="1100" noProof="1"/>
          </a:p>
        </p:txBody>
      </p:sp>
      <p:sp>
        <p:nvSpPr>
          <p:cNvPr id="34" name="kvnote"/>
          <p:cNvSpPr txBox="1"/>
          <p:nvPr/>
        </p:nvSpPr>
        <p:spPr>
          <a:xfrm>
            <a:off x="6604000" y="4724400"/>
            <a:ext cx="48768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6B7A8C"/>
                </a:solidFill>
                <a:latin typeface="MiSans"/>
                <a:ea typeface="MiSans"/>
              </a:rPr>
              <a:t>生成新 token 时，历史 token 的 K/V 直接从缓存读取，不用重算；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400"/>
              </a:spcBef>
            </a:pPr>
            <a:r>
              <a:rPr lang="en-US" sz="1100" noProof="1">
                <a:solidFill>
                  <a:srgbClr val="6B7A8C"/>
                </a:solidFill>
                <a:latin typeface="MiSans"/>
                <a:ea typeface="MiSans"/>
              </a:rPr>
              <a:t>但缓存随对话长度线性增长——对话越长，显存越满，</a:t>
            </a:r>
            <a:r>
              <a:rPr lang="en-US" sz="1100" b="1" noProof="1">
                <a:solidFill>
                  <a:srgbClr val="F07D0A"/>
                </a:solidFill>
                <a:latin typeface="MiSans"/>
                <a:ea typeface="MiSans"/>
              </a:rPr>
              <a:t>每 token 成本越高</a:t>
            </a:r>
            <a:r>
              <a:rPr lang="en-US" sz="1100" noProof="1">
                <a:solidFill>
                  <a:srgbClr val="6B7A8C"/>
                </a:solidFill>
                <a:latin typeface="MiSans"/>
                <a:ea typeface="MiSans"/>
              </a:rPr>
              <a:t>。</a:t>
            </a:r>
            <a:endParaRPr lang="en-US" sz="1100" noProof="1"/>
          </a:p>
        </p:txBody>
      </p:sp>
      <p:sp>
        <p:nvSpPr>
          <p:cNvPr id="35" name="fline"/>
          <p:cNvSpPr/>
          <p:nvPr/>
        </p:nvSpPr>
        <p:spPr>
          <a:xfrm>
            <a:off x="711200" y="6477000"/>
            <a:ext cx="107696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fl"/>
          <p:cNvSpPr txBox="1"/>
          <p:nvPr/>
        </p:nvSpPr>
        <p:spPr>
          <a:xfrm>
            <a:off x="711200" y="65532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B7A8C"/>
                </a:solidFill>
                <a:latin typeface="MiSans"/>
                <a:ea typeface="MiSans"/>
              </a:rPr>
              <a:t>Token Factory · AI 推理的成本革命</a:t>
            </a:r>
            <a:endParaRPr lang="en-US" sz="950" noProof="1"/>
          </a:p>
        </p:txBody>
      </p:sp>
      <p:sp>
        <p:nvSpPr>
          <p:cNvPr id="37" name="fr"/>
          <p:cNvSpPr txBox="1"/>
          <p:nvPr/>
        </p:nvSpPr>
        <p:spPr>
          <a:xfrm>
            <a:off x="10210800" y="65532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6B7A8C"/>
                </a:solidFill>
                <a:latin typeface="MiSans"/>
                <a:ea typeface="MiSans"/>
              </a:rPr>
              <a:t>06 / 40</a:t>
            </a:r>
            <a:endParaRPr lang="en-US" sz="95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"/>
          <p:cNvSpPr txBox="1"/>
          <p:nvPr/>
        </p:nvSpPr>
        <p:spPr>
          <a:xfrm>
            <a:off x="711200" y="3810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F07D0A"/>
                </a:solidFill>
                <a:latin typeface="MiSans"/>
                <a:ea typeface="MiSans"/>
              </a:rPr>
              <a:t>效率革命 ① · 模型架构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350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600" b="1" noProof="1">
                <a:solidFill>
                  <a:srgbClr val="0B2440"/>
                </a:solidFill>
                <a:latin typeface="MiSans"/>
                <a:ea typeface="MiSans"/>
              </a:rPr>
              <a:t>MLA：把 KV Cache 压缩 93.3%</a:t>
            </a:r>
            <a:endParaRPr lang="en-US" sz="2600" noProof="1"/>
          </a:p>
        </p:txBody>
      </p:sp>
      <p:sp>
        <p:nvSpPr>
          <p:cNvPr id="4" name="rule"/>
          <p:cNvSpPr/>
          <p:nvPr/>
        </p:nvSpPr>
        <p:spPr>
          <a:xfrm>
            <a:off x="711200" y="1270000"/>
            <a:ext cx="107696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abar"/>
          <p:cNvSpPr/>
          <p:nvPr/>
        </p:nvSpPr>
        <p:spPr>
          <a:xfrm>
            <a:off x="711200" y="1244600"/>
            <a:ext cx="812800" cy="381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prob"/>
          <p:cNvSpPr txBox="1"/>
          <p:nvPr/>
        </p:nvSpPr>
        <p:spPr>
          <a:xfrm>
            <a:off x="711200" y="1600200"/>
            <a:ext cx="5588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350" b="1" noProof="1">
                <a:solidFill>
                  <a:srgbClr val="23303E"/>
                </a:solidFill>
                <a:latin typeface="MiSans"/>
                <a:ea typeface="MiSans"/>
              </a:rPr>
              <a:t>问题</a:t>
            </a:r>
            <a:endParaRPr lang="en-US" sz="1350" noProof="1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标准注意力下，KV Cache 随序列长度线性增长：长对话、长文档直接占满显存，成本飙升。</a:t>
            </a:r>
            <a:endParaRPr lang="en-US" sz="1350" noProof="1"/>
          </a:p>
        </p:txBody>
      </p:sp>
      <p:sp>
        <p:nvSpPr>
          <p:cNvPr id="7" name="sol"/>
          <p:cNvSpPr txBox="1"/>
          <p:nvPr/>
        </p:nvSpPr>
        <p:spPr>
          <a:xfrm>
            <a:off x="711200" y="3048000"/>
            <a:ext cx="5588000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350" b="1" noProof="1">
                <a:solidFill>
                  <a:srgbClr val="23303E"/>
                </a:solidFill>
                <a:latin typeface="MiSans"/>
                <a:ea typeface="MiSans"/>
              </a:rPr>
              <a:t>MLA 的解法（DeepSeek V2，2024）</a:t>
            </a:r>
            <a:endParaRPr lang="en-US" sz="1350" noProof="1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把高维 K、V 投影到低维潜在空间，计算时再展开：</a:t>
            </a:r>
            <a:endParaRPr lang="en-US" sz="135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KV 维度 4096 → 512（压缩 8 倍）</a:t>
            </a:r>
            <a:endParaRPr lang="en-US" sz="1350" noProof="1"/>
          </a:p>
          <a:p>
            <a:pPr>
              <a:lnSpc>
                <a:spcPct val="155000"/>
              </a:lnSpc>
              <a:spcBef>
                <a:spcPts val="200"/>
              </a:spcBef>
            </a:pP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注意力质量几乎无损失</a:t>
            </a:r>
            <a:endParaRPr lang="en-US" sz="1350" noProof="1"/>
          </a:p>
        </p:txBody>
      </p:sp>
      <p:sp>
        <p:nvSpPr>
          <p:cNvPr id="8" name="impact"/>
          <p:cNvSpPr txBox="1"/>
          <p:nvPr/>
        </p:nvSpPr>
        <p:spPr>
          <a:xfrm>
            <a:off x="711200" y="5080000"/>
            <a:ext cx="5588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350" b="1" noProof="1">
                <a:solidFill>
                  <a:srgbClr val="23303E"/>
                </a:solidFill>
                <a:latin typeface="MiSans"/>
                <a:ea typeface="MiSans"/>
              </a:rPr>
              <a:t>行业影响</a:t>
            </a: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：MLA 成为 2024–2026 年主流架构标配（DeepSeek、GLM 等）。</a:t>
            </a:r>
            <a:endParaRPr lang="en-US" sz="1350" noProof="1"/>
          </a:p>
        </p:txBody>
      </p:sp>
      <p:sp>
        <p:nvSpPr>
          <p:cNvPr id="9" name="rh"/>
          <p:cNvSpPr txBox="1"/>
          <p:nvPr/>
        </p:nvSpPr>
        <p:spPr>
          <a:xfrm>
            <a:off x="7112000" y="1600200"/>
            <a:ext cx="43688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6B7A8C"/>
                </a:solidFill>
                <a:latin typeface="MiSans"/>
                <a:ea typeface="MiSans"/>
              </a:rPr>
              <a:t>KV 维度压缩示意（柱状高度 ∝ 维度）</a:t>
            </a:r>
            <a:endParaRPr lang="en-US" sz="1150" noProof="1"/>
          </a:p>
        </p:txBody>
      </p:sp>
      <p:sp>
        <p:nvSpPr>
          <p:cNvPr id="10" name="bar1"/>
          <p:cNvSpPr/>
          <p:nvPr/>
        </p:nvSpPr>
        <p:spPr>
          <a:xfrm>
            <a:off x="7302500" y="1981200"/>
            <a:ext cx="660400" cy="3048000"/>
          </a:xfrm>
          <a:prstGeom prst="rect">
            <a:avLst/>
          </a:prstGeom>
          <a:solidFill>
            <a:srgbClr val="0B244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bar1lab"/>
          <p:cNvSpPr txBox="1"/>
          <p:nvPr/>
        </p:nvSpPr>
        <p:spPr>
          <a:xfrm>
            <a:off x="6997700" y="5105400"/>
            <a:ext cx="127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noProof="1">
                <a:solidFill>
                  <a:srgbClr val="0B2440"/>
                </a:solidFill>
                <a:latin typeface="MiSans"/>
                <a:ea typeface="MiSans"/>
              </a:rPr>
              <a:t>4096 维</a:t>
            </a:r>
            <a:endParaRPr lang="en-US" sz="1100" noProof="1"/>
          </a:p>
        </p:txBody>
      </p:sp>
      <p:sp>
        <p:nvSpPr>
          <p:cNvPr id="12" name="bar1sub"/>
          <p:cNvSpPr txBox="1"/>
          <p:nvPr/>
        </p:nvSpPr>
        <p:spPr>
          <a:xfrm>
            <a:off x="6997700" y="53340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6B7A8C"/>
                </a:solidFill>
                <a:latin typeface="MiSans"/>
                <a:ea typeface="MiSans"/>
              </a:rPr>
              <a:t>原始 K / V</a:t>
            </a:r>
            <a:endParaRPr lang="en-US" sz="1000" noProof="1"/>
          </a:p>
        </p:txBody>
      </p:sp>
      <p:sp>
        <p:nvSpPr>
          <p:cNvPr id="13" name="arr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eyJpY29uTmFtZSI6ImZhczphcnJvdy1yaWdodCJ9</pptd:icon>
              </p:ext>
            </p:extLst>
          </p:nvPr>
        </p:nvSpPr>
        <p:spPr>
          <a:xfrm>
            <a:off x="8318500" y="3327400"/>
            <a:ext cx="431800" cy="431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03" y="279"/>
                </a:moveTo>
                <a:cubicBezTo>
                  <a:pt x="515" y="266"/>
                  <a:pt x="515" y="246"/>
                  <a:pt x="503" y="233"/>
                </a:cubicBezTo>
                <a:lnTo>
                  <a:pt x="343" y="73"/>
                </a:lnTo>
                <a:cubicBezTo>
                  <a:pt x="330" y="61"/>
                  <a:pt x="310" y="61"/>
                  <a:pt x="297" y="73"/>
                </a:cubicBezTo>
                <a:cubicBezTo>
                  <a:pt x="285" y="86"/>
                  <a:pt x="285" y="106"/>
                  <a:pt x="297" y="119"/>
                </a:cubicBezTo>
                <a:lnTo>
                  <a:pt x="403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03" y="288"/>
                </a:lnTo>
                <a:lnTo>
                  <a:pt x="297" y="393"/>
                </a:lnTo>
                <a:cubicBezTo>
                  <a:pt x="285" y="406"/>
                  <a:pt x="285" y="426"/>
                  <a:pt x="297" y="439"/>
                </a:cubicBezTo>
                <a:cubicBezTo>
                  <a:pt x="310" y="451"/>
                  <a:pt x="330" y="451"/>
                  <a:pt x="343" y="439"/>
                </a:cubicBezTo>
                <a:lnTo>
                  <a:pt x="503" y="279"/>
                </a:lnTo>
                <a:close/>
              </a:path>
            </a:pathLst>
          </a:cu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bar2"/>
          <p:cNvSpPr/>
          <p:nvPr/>
        </p:nvSpPr>
        <p:spPr>
          <a:xfrm>
            <a:off x="9105900" y="4648200"/>
            <a:ext cx="660400" cy="3810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bar2lab"/>
          <p:cNvSpPr txBox="1"/>
          <p:nvPr/>
        </p:nvSpPr>
        <p:spPr>
          <a:xfrm>
            <a:off x="8801100" y="5105400"/>
            <a:ext cx="127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noProof="1">
                <a:solidFill>
                  <a:srgbClr val="F07D0A"/>
                </a:solidFill>
                <a:latin typeface="MiSans"/>
                <a:ea typeface="MiSans"/>
              </a:rPr>
              <a:t>512 维</a:t>
            </a:r>
            <a:endParaRPr lang="en-US" sz="1100" noProof="1"/>
          </a:p>
        </p:txBody>
      </p:sp>
      <p:sp>
        <p:nvSpPr>
          <p:cNvPr id="16" name="bar2sub"/>
          <p:cNvSpPr txBox="1"/>
          <p:nvPr/>
        </p:nvSpPr>
        <p:spPr>
          <a:xfrm>
            <a:off x="8801100" y="53340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6B7A8C"/>
                </a:solidFill>
                <a:latin typeface="MiSans"/>
                <a:ea typeface="MiSans"/>
              </a:rPr>
              <a:t>潜在空间</a:t>
            </a:r>
            <a:endParaRPr lang="en-US" sz="1000" noProof="1"/>
          </a:p>
        </p:txBody>
      </p:sp>
      <p:sp>
        <p:nvSpPr>
          <p:cNvPr id="17" name="big"/>
          <p:cNvSpPr txBox="1"/>
          <p:nvPr/>
        </p:nvSpPr>
        <p:spPr>
          <a:xfrm>
            <a:off x="10236200" y="2413000"/>
            <a:ext cx="12446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200" b="1" noProof="1">
                <a:solidFill>
                  <a:srgbClr val="F07D0A"/>
                </a:solidFill>
                <a:latin typeface="MiSans"/>
                <a:ea typeface="MiSans"/>
              </a:rPr>
              <a:t>-93.3%</a:t>
            </a:r>
            <a:endParaRPr lang="en-US" sz="3200" noProof="1"/>
          </a:p>
        </p:txBody>
      </p:sp>
      <p:sp>
        <p:nvSpPr>
          <p:cNvPr id="18" name="biglab"/>
          <p:cNvSpPr txBox="1"/>
          <p:nvPr/>
        </p:nvSpPr>
        <p:spPr>
          <a:xfrm>
            <a:off x="10109200" y="3022600"/>
            <a:ext cx="14986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6B7A8C"/>
                </a:solidFill>
                <a:latin typeface="MiSans"/>
                <a:ea typeface="MiSans"/>
              </a:rPr>
              <a:t>KV Cache 占用降幅</a:t>
            </a:r>
            <a:endParaRPr lang="en-US" sz="1100" noProof="1"/>
          </a:p>
        </p:txBody>
      </p:sp>
      <p:sp>
        <p:nvSpPr>
          <p:cNvPr id="19" name="bottom"/>
          <p:cNvSpPr/>
          <p:nvPr/>
        </p:nvSpPr>
        <p:spPr>
          <a:xfrm>
            <a:off x="7112000" y="5689600"/>
            <a:ext cx="4368800" cy="508000"/>
          </a:xfrm>
          <a:prstGeom prst="rect">
            <a:avLst/>
          </a:prstGeom>
          <a:solidFill>
            <a:srgbClr val="F3F6FA"/>
          </a:solidFill>
          <a:ln w="12700">
            <a:solidFill>
              <a:srgbClr val="D9E1E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bottomt"/>
          <p:cNvSpPr txBox="1"/>
          <p:nvPr/>
        </p:nvSpPr>
        <p:spPr>
          <a:xfrm>
            <a:off x="7315200" y="5689600"/>
            <a:ext cx="4013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150" noProof="1">
                <a:solidFill>
                  <a:srgbClr val="0B2440"/>
                </a:solidFill>
                <a:latin typeface="MiSans"/>
                <a:ea typeface="MiSans"/>
              </a:rPr>
              <a:t>显存就是成本：同一张 GPU，可支撑的上下文从 </a:t>
            </a:r>
            <a:r>
              <a:rPr lang="en-US" sz="1150" b="1" noProof="1">
                <a:solidFill>
                  <a:srgbClr val="0B2440"/>
                </a:solidFill>
                <a:latin typeface="MiSans"/>
                <a:ea typeface="MiSans"/>
              </a:rPr>
              <a:t>1,000 → 15,000 token</a:t>
            </a:r>
            <a:endParaRPr lang="en-US" sz="1150" noProof="1"/>
          </a:p>
        </p:txBody>
      </p:sp>
      <p:sp>
        <p:nvSpPr>
          <p:cNvPr id="21" name="fline"/>
          <p:cNvSpPr/>
          <p:nvPr/>
        </p:nvSpPr>
        <p:spPr>
          <a:xfrm>
            <a:off x="711200" y="6477000"/>
            <a:ext cx="107696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fl"/>
          <p:cNvSpPr txBox="1"/>
          <p:nvPr/>
        </p:nvSpPr>
        <p:spPr>
          <a:xfrm>
            <a:off x="711200" y="65532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B7A8C"/>
                </a:solidFill>
                <a:latin typeface="MiSans"/>
                <a:ea typeface="MiSans"/>
              </a:rPr>
              <a:t>Token Factory · AI 推理的成本革命</a:t>
            </a:r>
            <a:endParaRPr lang="en-US" sz="950" noProof="1"/>
          </a:p>
        </p:txBody>
      </p:sp>
      <p:sp>
        <p:nvSpPr>
          <p:cNvPr id="23" name="fr"/>
          <p:cNvSpPr txBox="1"/>
          <p:nvPr/>
        </p:nvSpPr>
        <p:spPr>
          <a:xfrm>
            <a:off x="10210800" y="65532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6B7A8C"/>
                </a:solidFill>
                <a:latin typeface="MiSans"/>
                <a:ea typeface="MiSans"/>
              </a:rPr>
              <a:t>07 / 40</a:t>
            </a:r>
            <a:endParaRPr lang="en-US" sz="95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"/>
          <p:cNvSpPr txBox="1"/>
          <p:nvPr/>
        </p:nvSpPr>
        <p:spPr>
          <a:xfrm>
            <a:off x="711200" y="3810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F07D0A"/>
                </a:solidFill>
                <a:latin typeface="MiSans"/>
                <a:ea typeface="MiSans"/>
              </a:rPr>
              <a:t>效率革命 ② · 模型架构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350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600" b="1" noProof="1">
                <a:solidFill>
                  <a:srgbClr val="0B2440"/>
                </a:solidFill>
                <a:latin typeface="MiSans"/>
                <a:ea typeface="MiSans"/>
              </a:rPr>
              <a:t>MoE：257 个专家，每次只激活 6 个</a:t>
            </a:r>
            <a:endParaRPr lang="en-US" sz="2600" noProof="1"/>
          </a:p>
        </p:txBody>
      </p:sp>
      <p:sp>
        <p:nvSpPr>
          <p:cNvPr id="4" name="rule"/>
          <p:cNvSpPr/>
          <p:nvPr/>
        </p:nvSpPr>
        <p:spPr>
          <a:xfrm>
            <a:off x="711200" y="1270000"/>
            <a:ext cx="107696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abar"/>
          <p:cNvSpPr/>
          <p:nvPr/>
        </p:nvSpPr>
        <p:spPr>
          <a:xfrm>
            <a:off x="711200" y="1244600"/>
            <a:ext cx="812800" cy="381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prob"/>
          <p:cNvSpPr txBox="1"/>
          <p:nvPr/>
        </p:nvSpPr>
        <p:spPr>
          <a:xfrm>
            <a:off x="711200" y="1600200"/>
            <a:ext cx="54610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350" b="1" noProof="1">
                <a:solidFill>
                  <a:srgbClr val="23303E"/>
                </a:solidFill>
                <a:latin typeface="MiSans"/>
                <a:ea typeface="MiSans"/>
              </a:rPr>
              <a:t>问题</a:t>
            </a: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：参数越多能力越强，但稠密模型每次推理都要算全部参数，代价巨大。</a:t>
            </a:r>
            <a:endParaRPr lang="en-US" sz="1350" noProof="1"/>
          </a:p>
        </p:txBody>
      </p:sp>
      <p:sp>
        <p:nvSpPr>
          <p:cNvPr id="7" name="sol"/>
          <p:cNvSpPr txBox="1"/>
          <p:nvPr/>
        </p:nvSpPr>
        <p:spPr>
          <a:xfrm>
            <a:off x="711200" y="2641600"/>
            <a:ext cx="5461000" cy="228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350" b="1" noProof="1">
                <a:solidFill>
                  <a:srgbClr val="23303E"/>
                </a:solidFill>
                <a:latin typeface="MiSans"/>
                <a:ea typeface="MiSans"/>
              </a:rPr>
              <a:t>MoE 的解法</a:t>
            </a: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：把模型拆成多个“专家”（子网络），每个 token 只路由给少数专家</a:t>
            </a:r>
            <a:endParaRPr lang="en-US" sz="135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DeepSeek-V3：每层 </a:t>
            </a:r>
            <a:r>
              <a:rPr lang="en-US" sz="1350" b="1" noProof="1">
                <a:solidFill>
                  <a:srgbClr val="23303E"/>
                </a:solidFill>
                <a:latin typeface="MiSans"/>
                <a:ea typeface="MiSans"/>
              </a:rPr>
              <a:t>257</a:t>
            </a: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 个专家，Top-</a:t>
            </a:r>
            <a:r>
              <a:rPr lang="en-US" sz="1350" b="1" noProof="1">
                <a:solidFill>
                  <a:srgbClr val="23303E"/>
                </a:solidFill>
                <a:latin typeface="MiSans"/>
                <a:ea typeface="MiSans"/>
              </a:rPr>
              <a:t>6</a:t>
            </a: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 激活</a:t>
            </a:r>
            <a:endParaRPr lang="en-US" sz="135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激活参数仅占总参数 </a:t>
            </a:r>
            <a:r>
              <a:rPr lang="en-US" sz="1350" b="1" noProof="1">
                <a:solidFill>
                  <a:srgbClr val="F07D0A"/>
                </a:solidFill>
                <a:latin typeface="MiSans"/>
                <a:ea typeface="MiSans"/>
              </a:rPr>
              <a:t>5.5%</a:t>
            </a:r>
            <a:endParaRPr lang="en-US" sz="135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推理成本 ≈ 同等参数量稠密模型的 </a:t>
            </a:r>
            <a:r>
              <a:rPr lang="en-US" sz="1350" b="1" noProof="1">
                <a:solidFill>
                  <a:srgbClr val="F07D0A"/>
                </a:solidFill>
                <a:latin typeface="MiSans"/>
                <a:ea typeface="MiSans"/>
              </a:rPr>
              <a:t>1/18</a:t>
            </a:r>
            <a:endParaRPr lang="en-US" sz="1350" noProof="1"/>
          </a:p>
        </p:txBody>
      </p:sp>
      <p:sp>
        <p:nvSpPr>
          <p:cNvPr id="8" name="new"/>
          <p:cNvSpPr txBox="1"/>
          <p:nvPr/>
        </p:nvSpPr>
        <p:spPr>
          <a:xfrm>
            <a:off x="711200" y="5080000"/>
            <a:ext cx="5461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350" b="1" noProof="1">
                <a:solidFill>
                  <a:srgbClr val="23303E"/>
                </a:solidFill>
                <a:latin typeface="MiSans"/>
                <a:ea typeface="MiSans"/>
              </a:rPr>
              <a:t>2026 新进展</a:t>
            </a: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：Kimi K3 —— 896 个专家、激活 16 个（总参数 2.8T）；专家路由＋负载均衡成为标配。</a:t>
            </a:r>
            <a:endParaRPr lang="en-US" sz="1350" noProof="1"/>
          </a:p>
        </p:txBody>
      </p:sp>
      <p:sp>
        <p:nvSpPr>
          <p:cNvPr id="9" name="rh"/>
          <p:cNvSpPr txBox="1"/>
          <p:nvPr/>
        </p:nvSpPr>
        <p:spPr>
          <a:xfrm>
            <a:off x="6858000" y="1600200"/>
            <a:ext cx="46228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6B7A8C"/>
                </a:solidFill>
                <a:latin typeface="MiSans"/>
                <a:ea typeface="MiSans"/>
              </a:rPr>
              <a:t>路由示意：一个 token 流向少数专家（每格示意一个专家）</a:t>
            </a:r>
            <a:endParaRPr lang="en-US" sz="1150" noProof="1"/>
          </a:p>
        </p:txBody>
      </p:sp>
      <p:sp>
        <p:nvSpPr>
          <p:cNvPr id="10" name="tokbox"/>
          <p:cNvSpPr/>
          <p:nvPr/>
        </p:nvSpPr>
        <p:spPr>
          <a:xfrm>
            <a:off x="6858000" y="1930400"/>
            <a:ext cx="1524000" cy="381000"/>
          </a:xfrm>
          <a:prstGeom prst="rect">
            <a:avLst/>
          </a:prstGeom>
          <a:solidFill>
            <a:srgbClr val="0B244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okboxt"/>
          <p:cNvSpPr txBox="1"/>
          <p:nvPr/>
        </p:nvSpPr>
        <p:spPr>
          <a:xfrm>
            <a:off x="6858000" y="1930400"/>
            <a:ext cx="1524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50" b="1" noProof="1">
                <a:solidFill>
                  <a:srgbClr val="FFFFFF"/>
                </a:solidFill>
                <a:latin typeface="MiSans"/>
                <a:ea typeface="MiSans"/>
              </a:rPr>
              <a:t>一个 token</a:t>
            </a:r>
            <a:endParaRPr lang="en-US" sz="1150" noProof="1"/>
          </a:p>
        </p:txBody>
      </p:sp>
      <p:sp>
        <p:nvSpPr>
          <p:cNvPr id="12" name="routerarr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eyJ2aWV3Qm94IjpbMTIsMjZdLCJwb2ludHMiOiI2LDAgNiwyNiJ9</pptd:line>
              </p:ext>
            </p:extLst>
          </p:nvPr>
        </p:nvSpPr>
        <p:spPr>
          <a:xfrm>
            <a:off x="7543800" y="2362200"/>
            <a:ext cx="152400" cy="330200"/>
          </a:xfrm>
          <a:custGeom>
            <a:avLst/>
            <a:gdLst/>
            <a:ahLst/>
            <a:cxnLst/>
            <a:rect l="l" t="t" r="r" b="b"/>
            <a:pathLst>
              <a:path w="12" h="26">
                <a:moveTo>
                  <a:pt x="6" y="0"/>
                </a:moveTo>
                <a:lnTo>
                  <a:pt x="6" y="26"/>
                </a:lnTo>
              </a:path>
            </a:pathLst>
          </a:custGeom>
          <a:noFill/>
          <a:ln w="19050" cap="rnd">
            <a:solidFill>
              <a:srgbClr val="6B7A8C"/>
            </a:solidFill>
            <a:round/>
            <a:tailEnd type="arrow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routerlab"/>
          <p:cNvSpPr txBox="1"/>
          <p:nvPr/>
        </p:nvSpPr>
        <p:spPr>
          <a:xfrm>
            <a:off x="7797800" y="24130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50" noProof="1">
                <a:solidFill>
                  <a:srgbClr val="6B7A8C"/>
                </a:solidFill>
                <a:latin typeface="MiSans"/>
                <a:ea typeface="MiSans"/>
              </a:rPr>
              <a:t>路由器 Router</a:t>
            </a:r>
            <a:endParaRPr lang="en-US" sz="1050" noProof="1"/>
          </a:p>
        </p:txBody>
      </p:sp>
      <p:sp>
        <p:nvSpPr>
          <p:cNvPr id="14" name="e1"/>
          <p:cNvSpPr/>
          <p:nvPr/>
        </p:nvSpPr>
        <p:spPr>
          <a:xfrm>
            <a:off x="6858000" y="2819400"/>
            <a:ext cx="381000" cy="381000"/>
          </a:xfrm>
          <a:prstGeom prst="rect">
            <a:avLst/>
          </a:prstGeom>
          <a:solidFill>
            <a:srgbClr val="E7EDF4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e2"/>
          <p:cNvSpPr/>
          <p:nvPr/>
        </p:nvSpPr>
        <p:spPr>
          <a:xfrm>
            <a:off x="7340600" y="2819400"/>
            <a:ext cx="381000" cy="3810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e3"/>
          <p:cNvSpPr/>
          <p:nvPr/>
        </p:nvSpPr>
        <p:spPr>
          <a:xfrm>
            <a:off x="7823200" y="2819400"/>
            <a:ext cx="381000" cy="381000"/>
          </a:xfrm>
          <a:prstGeom prst="rect">
            <a:avLst/>
          </a:prstGeom>
          <a:solidFill>
            <a:srgbClr val="E7EDF4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e4"/>
          <p:cNvSpPr/>
          <p:nvPr/>
        </p:nvSpPr>
        <p:spPr>
          <a:xfrm>
            <a:off x="8305800" y="2819400"/>
            <a:ext cx="381000" cy="381000"/>
          </a:xfrm>
          <a:prstGeom prst="rect">
            <a:avLst/>
          </a:prstGeom>
          <a:solidFill>
            <a:srgbClr val="E7EDF4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e5"/>
          <p:cNvSpPr/>
          <p:nvPr/>
        </p:nvSpPr>
        <p:spPr>
          <a:xfrm>
            <a:off x="8788400" y="2819400"/>
            <a:ext cx="381000" cy="381000"/>
          </a:xfrm>
          <a:prstGeom prst="rect">
            <a:avLst/>
          </a:prstGeom>
          <a:solidFill>
            <a:srgbClr val="E7EDF4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e6"/>
          <p:cNvSpPr/>
          <p:nvPr/>
        </p:nvSpPr>
        <p:spPr>
          <a:xfrm>
            <a:off x="9271000" y="2819400"/>
            <a:ext cx="381000" cy="3810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e7"/>
          <p:cNvSpPr/>
          <p:nvPr/>
        </p:nvSpPr>
        <p:spPr>
          <a:xfrm>
            <a:off x="9753600" y="2819400"/>
            <a:ext cx="381000" cy="381000"/>
          </a:xfrm>
          <a:prstGeom prst="rect">
            <a:avLst/>
          </a:prstGeom>
          <a:solidFill>
            <a:srgbClr val="E7EDF4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e8"/>
          <p:cNvSpPr/>
          <p:nvPr/>
        </p:nvSpPr>
        <p:spPr>
          <a:xfrm>
            <a:off x="10236200" y="2819400"/>
            <a:ext cx="381000" cy="381000"/>
          </a:xfrm>
          <a:prstGeom prst="rect">
            <a:avLst/>
          </a:prstGeom>
          <a:solidFill>
            <a:srgbClr val="E7EDF4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e9"/>
          <p:cNvSpPr/>
          <p:nvPr/>
        </p:nvSpPr>
        <p:spPr>
          <a:xfrm>
            <a:off x="10718800" y="2819400"/>
            <a:ext cx="381000" cy="381000"/>
          </a:xfrm>
          <a:prstGeom prst="rect">
            <a:avLst/>
          </a:prstGeom>
          <a:solidFill>
            <a:srgbClr val="E7EDF4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e10"/>
          <p:cNvSpPr/>
          <p:nvPr/>
        </p:nvSpPr>
        <p:spPr>
          <a:xfrm>
            <a:off x="6858000" y="3302000"/>
            <a:ext cx="381000" cy="381000"/>
          </a:xfrm>
          <a:prstGeom prst="rect">
            <a:avLst/>
          </a:prstGeom>
          <a:solidFill>
            <a:srgbClr val="E7EDF4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e11"/>
          <p:cNvSpPr/>
          <p:nvPr/>
        </p:nvSpPr>
        <p:spPr>
          <a:xfrm>
            <a:off x="7340600" y="3302000"/>
            <a:ext cx="381000" cy="381000"/>
          </a:xfrm>
          <a:prstGeom prst="rect">
            <a:avLst/>
          </a:prstGeom>
          <a:solidFill>
            <a:srgbClr val="E7EDF4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e12"/>
          <p:cNvSpPr/>
          <p:nvPr/>
        </p:nvSpPr>
        <p:spPr>
          <a:xfrm>
            <a:off x="7823200" y="3302000"/>
            <a:ext cx="381000" cy="381000"/>
          </a:xfrm>
          <a:prstGeom prst="rect">
            <a:avLst/>
          </a:prstGeom>
          <a:solidFill>
            <a:srgbClr val="E7EDF4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e13"/>
          <p:cNvSpPr/>
          <p:nvPr/>
        </p:nvSpPr>
        <p:spPr>
          <a:xfrm>
            <a:off x="8305800" y="3302000"/>
            <a:ext cx="381000" cy="3810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e14"/>
          <p:cNvSpPr/>
          <p:nvPr/>
        </p:nvSpPr>
        <p:spPr>
          <a:xfrm>
            <a:off x="8788400" y="3302000"/>
            <a:ext cx="381000" cy="381000"/>
          </a:xfrm>
          <a:prstGeom prst="rect">
            <a:avLst/>
          </a:prstGeom>
          <a:solidFill>
            <a:srgbClr val="E7EDF4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e15"/>
          <p:cNvSpPr/>
          <p:nvPr/>
        </p:nvSpPr>
        <p:spPr>
          <a:xfrm>
            <a:off x="9271000" y="3302000"/>
            <a:ext cx="381000" cy="381000"/>
          </a:xfrm>
          <a:prstGeom prst="rect">
            <a:avLst/>
          </a:prstGeom>
          <a:solidFill>
            <a:srgbClr val="E7EDF4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e16"/>
          <p:cNvSpPr/>
          <p:nvPr/>
        </p:nvSpPr>
        <p:spPr>
          <a:xfrm>
            <a:off x="9753600" y="3302000"/>
            <a:ext cx="381000" cy="381000"/>
          </a:xfrm>
          <a:prstGeom prst="rect">
            <a:avLst/>
          </a:prstGeom>
          <a:solidFill>
            <a:srgbClr val="E7EDF4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e17"/>
          <p:cNvSpPr/>
          <p:nvPr/>
        </p:nvSpPr>
        <p:spPr>
          <a:xfrm>
            <a:off x="10236200" y="3302000"/>
            <a:ext cx="381000" cy="3810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e18"/>
          <p:cNvSpPr/>
          <p:nvPr/>
        </p:nvSpPr>
        <p:spPr>
          <a:xfrm>
            <a:off x="10718800" y="3302000"/>
            <a:ext cx="381000" cy="381000"/>
          </a:xfrm>
          <a:prstGeom prst="rect">
            <a:avLst/>
          </a:prstGeom>
          <a:solidFill>
            <a:srgbClr val="E7EDF4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e19"/>
          <p:cNvSpPr/>
          <p:nvPr/>
        </p:nvSpPr>
        <p:spPr>
          <a:xfrm>
            <a:off x="6858000" y="3784600"/>
            <a:ext cx="381000" cy="381000"/>
          </a:xfrm>
          <a:prstGeom prst="rect">
            <a:avLst/>
          </a:prstGeom>
          <a:solidFill>
            <a:srgbClr val="E7EDF4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e20"/>
          <p:cNvSpPr/>
          <p:nvPr/>
        </p:nvSpPr>
        <p:spPr>
          <a:xfrm>
            <a:off x="7340600" y="3784600"/>
            <a:ext cx="381000" cy="381000"/>
          </a:xfrm>
          <a:prstGeom prst="rect">
            <a:avLst/>
          </a:prstGeom>
          <a:solidFill>
            <a:srgbClr val="E7EDF4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e21"/>
          <p:cNvSpPr/>
          <p:nvPr/>
        </p:nvSpPr>
        <p:spPr>
          <a:xfrm>
            <a:off x="7823200" y="3784600"/>
            <a:ext cx="381000" cy="381000"/>
          </a:xfrm>
          <a:prstGeom prst="rect">
            <a:avLst/>
          </a:prstGeom>
          <a:solidFill>
            <a:srgbClr val="E7EDF4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e22"/>
          <p:cNvSpPr/>
          <p:nvPr/>
        </p:nvSpPr>
        <p:spPr>
          <a:xfrm>
            <a:off x="8305800" y="3784600"/>
            <a:ext cx="381000" cy="381000"/>
          </a:xfrm>
          <a:prstGeom prst="rect">
            <a:avLst/>
          </a:prstGeom>
          <a:solidFill>
            <a:srgbClr val="E7EDF4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e23"/>
          <p:cNvSpPr/>
          <p:nvPr/>
        </p:nvSpPr>
        <p:spPr>
          <a:xfrm>
            <a:off x="8788400" y="3784600"/>
            <a:ext cx="381000" cy="381000"/>
          </a:xfrm>
          <a:prstGeom prst="rect">
            <a:avLst/>
          </a:prstGeom>
          <a:solidFill>
            <a:srgbClr val="E7EDF4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e24"/>
          <p:cNvSpPr/>
          <p:nvPr/>
        </p:nvSpPr>
        <p:spPr>
          <a:xfrm>
            <a:off x="9271000" y="3784600"/>
            <a:ext cx="381000" cy="3810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e25"/>
          <p:cNvSpPr/>
          <p:nvPr/>
        </p:nvSpPr>
        <p:spPr>
          <a:xfrm>
            <a:off x="9753600" y="3784600"/>
            <a:ext cx="381000" cy="381000"/>
          </a:xfrm>
          <a:prstGeom prst="rect">
            <a:avLst/>
          </a:prstGeom>
          <a:solidFill>
            <a:srgbClr val="E7EDF4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e26"/>
          <p:cNvSpPr/>
          <p:nvPr/>
        </p:nvSpPr>
        <p:spPr>
          <a:xfrm>
            <a:off x="10236200" y="3784600"/>
            <a:ext cx="381000" cy="381000"/>
          </a:xfrm>
          <a:prstGeom prst="rect">
            <a:avLst/>
          </a:prstGeom>
          <a:solidFill>
            <a:srgbClr val="E7EDF4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e27"/>
          <p:cNvSpPr/>
          <p:nvPr/>
        </p:nvSpPr>
        <p:spPr>
          <a:xfrm>
            <a:off x="10718800" y="3784600"/>
            <a:ext cx="381000" cy="381000"/>
          </a:xfrm>
          <a:prstGeom prst="rect">
            <a:avLst/>
          </a:prstGeom>
          <a:solidFill>
            <a:srgbClr val="E7EDF4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e28"/>
          <p:cNvSpPr/>
          <p:nvPr/>
        </p:nvSpPr>
        <p:spPr>
          <a:xfrm>
            <a:off x="6858000" y="4267200"/>
            <a:ext cx="381000" cy="381000"/>
          </a:xfrm>
          <a:prstGeom prst="rect">
            <a:avLst/>
          </a:prstGeom>
          <a:solidFill>
            <a:srgbClr val="E7EDF4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e29"/>
          <p:cNvSpPr/>
          <p:nvPr/>
        </p:nvSpPr>
        <p:spPr>
          <a:xfrm>
            <a:off x="7340600" y="4267200"/>
            <a:ext cx="381000" cy="381000"/>
          </a:xfrm>
          <a:prstGeom prst="rect">
            <a:avLst/>
          </a:prstGeom>
          <a:solidFill>
            <a:srgbClr val="E7EDF4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e30"/>
          <p:cNvSpPr/>
          <p:nvPr/>
        </p:nvSpPr>
        <p:spPr>
          <a:xfrm>
            <a:off x="7823200" y="4267200"/>
            <a:ext cx="381000" cy="3810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e31"/>
          <p:cNvSpPr/>
          <p:nvPr/>
        </p:nvSpPr>
        <p:spPr>
          <a:xfrm>
            <a:off x="8305800" y="4267200"/>
            <a:ext cx="381000" cy="381000"/>
          </a:xfrm>
          <a:prstGeom prst="rect">
            <a:avLst/>
          </a:prstGeom>
          <a:solidFill>
            <a:srgbClr val="E7EDF4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e32"/>
          <p:cNvSpPr/>
          <p:nvPr/>
        </p:nvSpPr>
        <p:spPr>
          <a:xfrm>
            <a:off x="8788400" y="4267200"/>
            <a:ext cx="381000" cy="381000"/>
          </a:xfrm>
          <a:prstGeom prst="rect">
            <a:avLst/>
          </a:prstGeom>
          <a:solidFill>
            <a:srgbClr val="E7EDF4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e33"/>
          <p:cNvSpPr/>
          <p:nvPr/>
        </p:nvSpPr>
        <p:spPr>
          <a:xfrm>
            <a:off x="9271000" y="4267200"/>
            <a:ext cx="381000" cy="381000"/>
          </a:xfrm>
          <a:prstGeom prst="rect">
            <a:avLst/>
          </a:prstGeom>
          <a:solidFill>
            <a:srgbClr val="E7EDF4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e34"/>
          <p:cNvSpPr/>
          <p:nvPr/>
        </p:nvSpPr>
        <p:spPr>
          <a:xfrm>
            <a:off x="9753600" y="4267200"/>
            <a:ext cx="381000" cy="381000"/>
          </a:xfrm>
          <a:prstGeom prst="rect">
            <a:avLst/>
          </a:prstGeom>
          <a:solidFill>
            <a:srgbClr val="E7EDF4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e35"/>
          <p:cNvSpPr/>
          <p:nvPr/>
        </p:nvSpPr>
        <p:spPr>
          <a:xfrm>
            <a:off x="10236200" y="4267200"/>
            <a:ext cx="381000" cy="381000"/>
          </a:xfrm>
          <a:prstGeom prst="rect">
            <a:avLst/>
          </a:prstGeom>
          <a:solidFill>
            <a:srgbClr val="E7EDF4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e36"/>
          <p:cNvSpPr/>
          <p:nvPr/>
        </p:nvSpPr>
        <p:spPr>
          <a:xfrm>
            <a:off x="10718800" y="4267200"/>
            <a:ext cx="381000" cy="381000"/>
          </a:xfrm>
          <a:prstGeom prst="rect">
            <a:avLst/>
          </a:prstGeom>
          <a:solidFill>
            <a:srgbClr val="E7EDF4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legend"/>
          <p:cNvSpPr txBox="1"/>
          <p:nvPr/>
        </p:nvSpPr>
        <p:spPr>
          <a:xfrm>
            <a:off x="6858000" y="48514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F07D0A"/>
                </a:solidFill>
                <a:latin typeface="MiSans"/>
                <a:ea typeface="MiSans"/>
              </a:rPr>
              <a:t>■</a:t>
            </a:r>
            <a:r>
              <a:rPr lang="en-US" sz="1100" noProof="1">
                <a:solidFill>
                  <a:srgbClr val="6B7A8C"/>
                </a:solidFill>
                <a:latin typeface="MiSans"/>
                <a:ea typeface="MiSans"/>
              </a:rPr>
              <a:t> 本 token 激活的 6 个专家　</a:t>
            </a:r>
            <a:r>
              <a:rPr lang="en-US" sz="1100" noProof="1">
                <a:solidFill>
                  <a:srgbClr val="C7D2E0"/>
                </a:solidFill>
                <a:latin typeface="MiSans"/>
                <a:ea typeface="MiSans"/>
              </a:rPr>
              <a:t>■</a:t>
            </a:r>
            <a:r>
              <a:rPr lang="en-US" sz="1100" noProof="1">
                <a:solidFill>
                  <a:srgbClr val="6B7A8C"/>
                </a:solidFill>
                <a:latin typeface="MiSans"/>
                <a:ea typeface="MiSans"/>
              </a:rPr>
              <a:t> 未激活（实际每层 257 个）</a:t>
            </a:r>
            <a:endParaRPr lang="en-US" sz="1100" noProof="1"/>
          </a:p>
        </p:txBody>
      </p:sp>
      <p:sp>
        <p:nvSpPr>
          <p:cNvPr id="51" name="stat"/>
          <p:cNvSpPr/>
          <p:nvPr/>
        </p:nvSpPr>
        <p:spPr>
          <a:xfrm>
            <a:off x="6858000" y="5334000"/>
            <a:ext cx="4622800" cy="711200"/>
          </a:xfrm>
          <a:prstGeom prst="rect">
            <a:avLst/>
          </a:prstGeom>
          <a:solidFill>
            <a:srgbClr val="F3F6FA"/>
          </a:solidFill>
          <a:ln w="12700">
            <a:solidFill>
              <a:srgbClr val="D9E1E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statt"/>
          <p:cNvSpPr txBox="1"/>
          <p:nvPr/>
        </p:nvSpPr>
        <p:spPr>
          <a:xfrm>
            <a:off x="7061200" y="5334000"/>
            <a:ext cx="42672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noProof="1">
                <a:solidFill>
                  <a:srgbClr val="0B2440"/>
                </a:solidFill>
                <a:latin typeface="MiSans"/>
                <a:ea typeface="MiSans"/>
              </a:rPr>
              <a:t>激活参数 </a:t>
            </a:r>
            <a:r>
              <a:rPr lang="en-US" sz="1300" b="1" noProof="1">
                <a:solidFill>
                  <a:srgbClr val="F07D0A"/>
                </a:solidFill>
                <a:latin typeface="MiSans"/>
                <a:ea typeface="MiSans"/>
              </a:rPr>
              <a:t>5.5%</a:t>
            </a:r>
            <a:r>
              <a:rPr lang="en-US" sz="1300" noProof="1">
                <a:solidFill>
                  <a:srgbClr val="0B2440"/>
                </a:solidFill>
                <a:latin typeface="MiSans"/>
                <a:ea typeface="MiSans"/>
              </a:rPr>
              <a:t>，其余 94.5% 这次“不上班”</a:t>
            </a:r>
            <a:endParaRPr lang="en-US" sz="1600" noProof="1"/>
          </a:p>
          <a:p>
            <a:pPr algn="l">
              <a:lnSpc>
                <a:spcPct val="140000"/>
              </a:lnSpc>
            </a:pPr>
            <a:r>
              <a:rPr lang="en-US" sz="1100" noProof="1">
                <a:solidFill>
                  <a:srgbClr val="6B7A8C"/>
                </a:solidFill>
                <a:latin typeface="MiSans"/>
                <a:ea typeface="MiSans"/>
              </a:rPr>
              <a:t>MLA 省内存，MoE 省计算——两者互补</a:t>
            </a:r>
            <a:endParaRPr lang="en-US" sz="1600" noProof="1"/>
          </a:p>
        </p:txBody>
      </p:sp>
      <p:sp>
        <p:nvSpPr>
          <p:cNvPr id="53" name="fline"/>
          <p:cNvSpPr/>
          <p:nvPr/>
        </p:nvSpPr>
        <p:spPr>
          <a:xfrm>
            <a:off x="711200" y="6477000"/>
            <a:ext cx="107696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fl"/>
          <p:cNvSpPr txBox="1"/>
          <p:nvPr/>
        </p:nvSpPr>
        <p:spPr>
          <a:xfrm>
            <a:off x="711200" y="65532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B7A8C"/>
                </a:solidFill>
                <a:latin typeface="MiSans"/>
                <a:ea typeface="MiSans"/>
              </a:rPr>
              <a:t>Token Factory · AI 推理的成本革命</a:t>
            </a:r>
            <a:endParaRPr lang="en-US" sz="950" noProof="1"/>
          </a:p>
        </p:txBody>
      </p:sp>
      <p:sp>
        <p:nvSpPr>
          <p:cNvPr id="55" name="fr"/>
          <p:cNvSpPr txBox="1"/>
          <p:nvPr/>
        </p:nvSpPr>
        <p:spPr>
          <a:xfrm>
            <a:off x="10210800" y="65532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6B7A8C"/>
                </a:solidFill>
                <a:latin typeface="MiSans"/>
                <a:ea typeface="MiSans"/>
              </a:rPr>
              <a:t>08 / 40</a:t>
            </a:r>
            <a:endParaRPr lang="en-US" sz="95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"/>
          <p:cNvSpPr txBox="1"/>
          <p:nvPr/>
        </p:nvSpPr>
        <p:spPr>
          <a:xfrm>
            <a:off x="711200" y="3810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F07D0A"/>
                </a:solidFill>
                <a:latin typeface="MiSans"/>
                <a:ea typeface="MiSans"/>
              </a:rPr>
              <a:t>效率革命 ③ · 模型架构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350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600" b="1" noProof="1">
                <a:solidFill>
                  <a:srgbClr val="0B2440"/>
                </a:solidFill>
                <a:latin typeface="MiSans"/>
                <a:ea typeface="MiSans"/>
              </a:rPr>
              <a:t>DeepSeek V4：推理计算量降至 V3.2 的 27%</a:t>
            </a:r>
            <a:endParaRPr lang="en-US" sz="2600" noProof="1"/>
          </a:p>
        </p:txBody>
      </p:sp>
      <p:sp>
        <p:nvSpPr>
          <p:cNvPr id="4" name="rule"/>
          <p:cNvSpPr/>
          <p:nvPr/>
        </p:nvSpPr>
        <p:spPr>
          <a:xfrm>
            <a:off x="711200" y="1270000"/>
            <a:ext cx="107696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abar"/>
          <p:cNvSpPr/>
          <p:nvPr/>
        </p:nvSpPr>
        <p:spPr>
          <a:xfrm>
            <a:off x="711200" y="1244600"/>
            <a:ext cx="812800" cy="381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line"/>
          <p:cNvSpPr/>
          <p:nvPr/>
        </p:nvSpPr>
        <p:spPr>
          <a:xfrm>
            <a:off x="1143000" y="2260600"/>
            <a:ext cx="9906000" cy="254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n1"/>
          <p:cNvSpPr/>
          <p:nvPr/>
        </p:nvSpPr>
        <p:spPr>
          <a:xfrm>
            <a:off x="1689100" y="2184400"/>
            <a:ext cx="177800" cy="177800"/>
          </a:xfrm>
          <a:prstGeom prst="ellipse">
            <a:avLst/>
          </a:prstGeom>
          <a:solidFill>
            <a:srgbClr val="33506E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y1"/>
          <p:cNvSpPr txBox="1"/>
          <p:nvPr/>
        </p:nvSpPr>
        <p:spPr>
          <a:xfrm>
            <a:off x="1016000" y="17780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33506E"/>
                </a:solidFill>
                <a:latin typeface="MiSans"/>
                <a:ea typeface="MiSans"/>
              </a:rPr>
              <a:t>V2 · 2024</a:t>
            </a:r>
            <a:endParaRPr lang="en-US" sz="1300" noProof="1"/>
          </a:p>
        </p:txBody>
      </p:sp>
      <p:sp>
        <p:nvSpPr>
          <p:cNvPr id="9" name="td1"/>
          <p:cNvSpPr txBox="1"/>
          <p:nvPr/>
        </p:nvSpPr>
        <p:spPr>
          <a:xfrm>
            <a:off x="762000" y="2489200"/>
            <a:ext cx="2032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35000"/>
              </a:lnSpc>
            </a:pPr>
            <a:r>
              <a:rPr lang="en-US" sz="1050" noProof="1">
                <a:solidFill>
                  <a:srgbClr val="6B7A8C"/>
                </a:solidFill>
                <a:latin typeface="MiSans"/>
                <a:ea typeface="MiSans"/>
              </a:rPr>
              <a:t>MLA——KV Cache 压缩 93.3%</a:t>
            </a:r>
            <a:endParaRPr lang="en-US" sz="1050" noProof="1"/>
          </a:p>
        </p:txBody>
      </p:sp>
      <p:sp>
        <p:nvSpPr>
          <p:cNvPr id="10" name="tn2"/>
          <p:cNvSpPr/>
          <p:nvPr/>
        </p:nvSpPr>
        <p:spPr>
          <a:xfrm>
            <a:off x="4229100" y="2184400"/>
            <a:ext cx="177800" cy="177800"/>
          </a:xfrm>
          <a:prstGeom prst="ellipse">
            <a:avLst/>
          </a:prstGeom>
          <a:solidFill>
            <a:srgbClr val="33506E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y2"/>
          <p:cNvSpPr txBox="1"/>
          <p:nvPr/>
        </p:nvSpPr>
        <p:spPr>
          <a:xfrm>
            <a:off x="3556000" y="17780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33506E"/>
                </a:solidFill>
                <a:latin typeface="MiSans"/>
                <a:ea typeface="MiSans"/>
              </a:rPr>
              <a:t>V3 · 2024</a:t>
            </a:r>
            <a:endParaRPr lang="en-US" sz="1300" noProof="1"/>
          </a:p>
        </p:txBody>
      </p:sp>
      <p:sp>
        <p:nvSpPr>
          <p:cNvPr id="12" name="td2"/>
          <p:cNvSpPr txBox="1"/>
          <p:nvPr/>
        </p:nvSpPr>
        <p:spPr>
          <a:xfrm>
            <a:off x="3302000" y="2489200"/>
            <a:ext cx="2032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35000"/>
              </a:lnSpc>
            </a:pPr>
            <a:r>
              <a:rPr lang="en-US" sz="1050" noProof="1">
                <a:solidFill>
                  <a:srgbClr val="6B7A8C"/>
                </a:solidFill>
                <a:latin typeface="MiSans"/>
                <a:ea typeface="MiSans"/>
              </a:rPr>
              <a:t>MoE + FP8——激活参数仅 5.5%</a:t>
            </a:r>
            <a:endParaRPr lang="en-US" sz="1050" noProof="1"/>
          </a:p>
        </p:txBody>
      </p:sp>
      <p:sp>
        <p:nvSpPr>
          <p:cNvPr id="13" name="tn3"/>
          <p:cNvSpPr/>
          <p:nvPr/>
        </p:nvSpPr>
        <p:spPr>
          <a:xfrm>
            <a:off x="6769100" y="2184400"/>
            <a:ext cx="177800" cy="177800"/>
          </a:xfrm>
          <a:prstGeom prst="ellipse">
            <a:avLst/>
          </a:prstGeom>
          <a:solidFill>
            <a:srgbClr val="33506E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y3"/>
          <p:cNvSpPr txBox="1"/>
          <p:nvPr/>
        </p:nvSpPr>
        <p:spPr>
          <a:xfrm>
            <a:off x="6096000" y="17780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33506E"/>
                </a:solidFill>
                <a:latin typeface="MiSans"/>
                <a:ea typeface="MiSans"/>
              </a:rPr>
              <a:t>R1 · 2025</a:t>
            </a:r>
            <a:endParaRPr lang="en-US" sz="1300" noProof="1"/>
          </a:p>
        </p:txBody>
      </p:sp>
      <p:sp>
        <p:nvSpPr>
          <p:cNvPr id="15" name="td3"/>
          <p:cNvSpPr txBox="1"/>
          <p:nvPr/>
        </p:nvSpPr>
        <p:spPr>
          <a:xfrm>
            <a:off x="5842000" y="2489200"/>
            <a:ext cx="2032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35000"/>
              </a:lnSpc>
            </a:pPr>
            <a:r>
              <a:rPr lang="en-US" sz="1050" noProof="1">
                <a:solidFill>
                  <a:srgbClr val="6B7A8C"/>
                </a:solidFill>
                <a:latin typeface="MiSans"/>
                <a:ea typeface="MiSans"/>
              </a:rPr>
              <a:t>强化学习推理</a:t>
            </a:r>
            <a:endParaRPr lang="en-US" sz="1050" noProof="1"/>
          </a:p>
        </p:txBody>
      </p:sp>
      <p:sp>
        <p:nvSpPr>
          <p:cNvPr id="16" name="tn4"/>
          <p:cNvSpPr/>
          <p:nvPr/>
        </p:nvSpPr>
        <p:spPr>
          <a:xfrm>
            <a:off x="9283700" y="2146300"/>
            <a:ext cx="254000" cy="254000"/>
          </a:xfrm>
          <a:prstGeom prst="ellipse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y4"/>
          <p:cNvSpPr txBox="1"/>
          <p:nvPr/>
        </p:nvSpPr>
        <p:spPr>
          <a:xfrm>
            <a:off x="8648700" y="1752600"/>
            <a:ext cx="1524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noProof="1">
                <a:solidFill>
                  <a:srgbClr val="F07D0A"/>
                </a:solidFill>
                <a:latin typeface="MiSans"/>
                <a:ea typeface="MiSans"/>
              </a:rPr>
              <a:t>V4 · 2026</a:t>
            </a:r>
            <a:endParaRPr lang="en-US" sz="1400" noProof="1"/>
          </a:p>
        </p:txBody>
      </p:sp>
      <p:sp>
        <p:nvSpPr>
          <p:cNvPr id="18" name="td4"/>
          <p:cNvSpPr txBox="1"/>
          <p:nvPr/>
        </p:nvSpPr>
        <p:spPr>
          <a:xfrm>
            <a:off x="8394700" y="2489200"/>
            <a:ext cx="2032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35000"/>
              </a:lnSpc>
            </a:pPr>
            <a:r>
              <a:rPr lang="en-US" sz="1050" b="1" noProof="1">
                <a:solidFill>
                  <a:srgbClr val="0B2440"/>
                </a:solidFill>
                <a:latin typeface="MiSans"/>
                <a:ea typeface="MiSans"/>
              </a:rPr>
              <a:t>CSA / HCA——时域压缩注意力</a:t>
            </a:r>
            <a:endParaRPr lang="en-US" sz="1050" noProof="1"/>
          </a:p>
        </p:txBody>
      </p:sp>
      <p:sp>
        <p:nvSpPr>
          <p:cNvPr id="19" name="innov"/>
          <p:cNvSpPr txBox="1"/>
          <p:nvPr/>
        </p:nvSpPr>
        <p:spPr>
          <a:xfrm>
            <a:off x="711200" y="3327400"/>
            <a:ext cx="5588000" cy="25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350" b="1" noProof="1">
                <a:solidFill>
                  <a:srgbClr val="23303E"/>
                </a:solidFill>
                <a:latin typeface="MiSans"/>
                <a:ea typeface="MiSans"/>
              </a:rPr>
              <a:t>V4 的架构创新</a:t>
            </a:r>
            <a:endParaRPr lang="en-US" sz="135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350" b="1" noProof="1">
                <a:solidFill>
                  <a:srgbClr val="23303E"/>
                </a:solidFill>
                <a:latin typeface="MiSans"/>
                <a:ea typeface="MiSans"/>
              </a:rPr>
              <a:t>CSA（压缩状态注意力）</a:t>
            </a: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：把整段注意力历史压缩为固定大小的状态——像把一本日记变成一张便签，只保留最重要的信息</a:t>
            </a:r>
            <a:endParaRPr lang="en-US" sz="135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350" b="1" noProof="1">
                <a:solidFill>
                  <a:srgbClr val="23303E"/>
                </a:solidFill>
                <a:latin typeface="MiSans"/>
                <a:ea typeface="MiSans"/>
              </a:rPr>
              <a:t>HCA（混合压缩注意力）</a:t>
            </a: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：多流残差替代标准残差</a:t>
            </a:r>
            <a:endParaRPr lang="en-US" sz="135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350" b="1" noProof="1">
                <a:solidFill>
                  <a:srgbClr val="23303E"/>
                </a:solidFill>
                <a:latin typeface="MiSans"/>
                <a:ea typeface="MiSans"/>
              </a:rPr>
              <a:t>MQA 替代 MLA</a:t>
            </a: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，隐藏维度减半</a:t>
            </a:r>
            <a:endParaRPr lang="en-US" sz="1350" noProof="1"/>
          </a:p>
        </p:txBody>
      </p:sp>
      <p:sp>
        <p:nvSpPr>
          <p:cNvPr id="20" name="s1n"/>
          <p:cNvSpPr txBox="1"/>
          <p:nvPr/>
        </p:nvSpPr>
        <p:spPr>
          <a:xfrm>
            <a:off x="7112000" y="3429000"/>
            <a:ext cx="2032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000" b="1" noProof="1">
                <a:solidFill>
                  <a:srgbClr val="F07D0A"/>
                </a:solidFill>
                <a:latin typeface="MiSans"/>
                <a:ea typeface="MiSans"/>
              </a:rPr>
              <a:t>27%</a:t>
            </a:r>
            <a:endParaRPr lang="en-US" sz="3000" noProof="1"/>
          </a:p>
        </p:txBody>
      </p:sp>
      <p:sp>
        <p:nvSpPr>
          <p:cNvPr id="21" name="s1l"/>
          <p:cNvSpPr txBox="1"/>
          <p:nvPr/>
        </p:nvSpPr>
        <p:spPr>
          <a:xfrm>
            <a:off x="9194800" y="3530600"/>
            <a:ext cx="2286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23303E"/>
                </a:solidFill>
                <a:latin typeface="MiSans"/>
                <a:ea typeface="MiSans"/>
              </a:rPr>
              <a:t>正式版推理计算量（相对 V3.2）</a:t>
            </a:r>
            <a:endParaRPr lang="en-US" sz="1200" noProof="1"/>
          </a:p>
        </p:txBody>
      </p:sp>
      <p:sp>
        <p:nvSpPr>
          <p:cNvPr id="22" name="s1line"/>
          <p:cNvSpPr/>
          <p:nvPr/>
        </p:nvSpPr>
        <p:spPr>
          <a:xfrm>
            <a:off x="7112000" y="4089400"/>
            <a:ext cx="43688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2n"/>
          <p:cNvSpPr txBox="1"/>
          <p:nvPr/>
        </p:nvSpPr>
        <p:spPr>
          <a:xfrm>
            <a:off x="7112000" y="4343400"/>
            <a:ext cx="2032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000" b="1" noProof="1">
                <a:solidFill>
                  <a:srgbClr val="F07D0A"/>
                </a:solidFill>
                <a:latin typeface="MiSans"/>
                <a:ea typeface="MiSans"/>
              </a:rPr>
              <a:t>10%</a:t>
            </a:r>
            <a:endParaRPr lang="en-US" sz="3000" noProof="1"/>
          </a:p>
        </p:txBody>
      </p:sp>
      <p:sp>
        <p:nvSpPr>
          <p:cNvPr id="24" name="s2l"/>
          <p:cNvSpPr txBox="1"/>
          <p:nvPr/>
        </p:nvSpPr>
        <p:spPr>
          <a:xfrm>
            <a:off x="9194800" y="4445000"/>
            <a:ext cx="2286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23303E"/>
                </a:solidFill>
                <a:latin typeface="MiSans"/>
                <a:ea typeface="MiSans"/>
              </a:rPr>
              <a:t>显存占用（相对前代）</a:t>
            </a:r>
            <a:endParaRPr lang="en-US" sz="1200" noProof="1"/>
          </a:p>
        </p:txBody>
      </p:sp>
      <p:sp>
        <p:nvSpPr>
          <p:cNvPr id="25" name="s2line"/>
          <p:cNvSpPr/>
          <p:nvPr/>
        </p:nvSpPr>
        <p:spPr>
          <a:xfrm>
            <a:off x="7112000" y="5003800"/>
            <a:ext cx="43688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3n"/>
          <p:cNvSpPr txBox="1"/>
          <p:nvPr/>
        </p:nvSpPr>
        <p:spPr>
          <a:xfrm>
            <a:off x="7112000" y="5257800"/>
            <a:ext cx="2032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000" b="1" noProof="1">
                <a:solidFill>
                  <a:srgbClr val="F07D0A"/>
                </a:solidFill>
                <a:latin typeface="MiSans"/>
                <a:ea typeface="MiSans"/>
              </a:rPr>
              <a:t>$0.18/M</a:t>
            </a:r>
            <a:endParaRPr lang="en-US" sz="3000" noProof="1"/>
          </a:p>
        </p:txBody>
      </p:sp>
      <p:sp>
        <p:nvSpPr>
          <p:cNvPr id="27" name="s3l"/>
          <p:cNvSpPr txBox="1"/>
          <p:nvPr/>
        </p:nvSpPr>
        <p:spPr>
          <a:xfrm>
            <a:off x="9194800" y="5359400"/>
            <a:ext cx="2286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23303E"/>
                </a:solidFill>
                <a:latin typeface="MiSans"/>
                <a:ea typeface="MiSans"/>
              </a:rPr>
              <a:t>API 价格，约为同档闭源的 1/28</a:t>
            </a:r>
            <a:endParaRPr lang="en-US" sz="1200" noProof="1"/>
          </a:p>
        </p:txBody>
      </p:sp>
      <p:sp>
        <p:nvSpPr>
          <p:cNvPr id="28" name="fline"/>
          <p:cNvSpPr/>
          <p:nvPr/>
        </p:nvSpPr>
        <p:spPr>
          <a:xfrm>
            <a:off x="711200" y="6477000"/>
            <a:ext cx="107696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fl"/>
          <p:cNvSpPr txBox="1"/>
          <p:nvPr/>
        </p:nvSpPr>
        <p:spPr>
          <a:xfrm>
            <a:off x="711200" y="65532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B7A8C"/>
                </a:solidFill>
                <a:latin typeface="MiSans"/>
                <a:ea typeface="MiSans"/>
              </a:rPr>
              <a:t>Token Factory · AI 推理的成本革命</a:t>
            </a:r>
            <a:endParaRPr lang="en-US" sz="950" noProof="1"/>
          </a:p>
        </p:txBody>
      </p:sp>
      <p:sp>
        <p:nvSpPr>
          <p:cNvPr id="30" name="fr"/>
          <p:cNvSpPr txBox="1"/>
          <p:nvPr/>
        </p:nvSpPr>
        <p:spPr>
          <a:xfrm>
            <a:off x="10210800" y="65532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6B7A8C"/>
                </a:solidFill>
                <a:latin typeface="MiSans"/>
                <a:ea typeface="MiSans"/>
              </a:rPr>
              <a:t>09 / 40</a:t>
            </a:r>
            <a:endParaRPr lang="en-US" sz="95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"/>
          <p:cNvSpPr txBox="1"/>
          <p:nvPr/>
        </p:nvSpPr>
        <p:spPr>
          <a:xfrm>
            <a:off x="711200" y="3810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F07D0A"/>
                </a:solidFill>
                <a:latin typeface="MiSans"/>
                <a:ea typeface="MiSans"/>
              </a:rPr>
              <a:t>效率革命 ④ · 模型架构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350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600" b="1" noProof="1">
                <a:solidFill>
                  <a:srgbClr val="0B2440"/>
                </a:solidFill>
                <a:latin typeface="MiSans"/>
                <a:ea typeface="MiSans"/>
              </a:rPr>
              <a:t>Kimi K3：2.8T 参数 + 1M 上下文的开源旗舰</a:t>
            </a:r>
            <a:endParaRPr lang="en-US" sz="2600" noProof="1"/>
          </a:p>
        </p:txBody>
      </p:sp>
      <p:sp>
        <p:nvSpPr>
          <p:cNvPr id="4" name="rule"/>
          <p:cNvSpPr/>
          <p:nvPr/>
        </p:nvSpPr>
        <p:spPr>
          <a:xfrm>
            <a:off x="711200" y="1270000"/>
            <a:ext cx="107696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abar"/>
          <p:cNvSpPr/>
          <p:nvPr/>
        </p:nvSpPr>
        <p:spPr>
          <a:xfrm>
            <a:off x="711200" y="1244600"/>
            <a:ext cx="812800" cy="381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prob"/>
          <p:cNvSpPr txBox="1"/>
          <p:nvPr/>
        </p:nvSpPr>
        <p:spPr>
          <a:xfrm>
            <a:off x="711200" y="1600200"/>
            <a:ext cx="5461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350" b="1" noProof="1">
                <a:solidFill>
                  <a:srgbClr val="23303E"/>
                </a:solidFill>
                <a:latin typeface="MiSans"/>
                <a:ea typeface="MiSans"/>
              </a:rPr>
              <a:t>问题</a:t>
            </a: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：1M 上下文的 KV Cache 高达数百 GB——标准注意力（O(N²)）根本扛不住。</a:t>
            </a:r>
            <a:endParaRPr lang="en-US" sz="1350" noProof="1"/>
          </a:p>
        </p:txBody>
      </p:sp>
      <p:sp>
        <p:nvSpPr>
          <p:cNvPr id="7" name="sol"/>
          <p:cNvSpPr txBox="1"/>
          <p:nvPr/>
        </p:nvSpPr>
        <p:spPr>
          <a:xfrm>
            <a:off x="711200" y="2590800"/>
            <a:ext cx="5461000" cy="228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350" b="1" noProof="1">
                <a:solidFill>
                  <a:srgbClr val="23303E"/>
                </a:solidFill>
                <a:latin typeface="MiSans"/>
                <a:ea typeface="MiSans"/>
              </a:rPr>
              <a:t>KDA（Kimi Delta Attention）的解法</a:t>
            </a:r>
            <a:endParaRPr lang="en-US" sz="1350" noProof="1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用</a:t>
            </a:r>
            <a:r>
              <a:rPr lang="en-US" sz="1350" b="1" noProof="1">
                <a:solidFill>
                  <a:srgbClr val="23303E"/>
                </a:solidFill>
                <a:latin typeface="MiSans"/>
                <a:ea typeface="MiSans"/>
              </a:rPr>
              <a:t>固定大小的递推状态</a:t>
            </a: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替代增长的 KV Cache——1M 与 1K 上下文，状态内存一样</a:t>
            </a:r>
            <a:endParaRPr lang="en-US" sz="135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69 层 KDA（线性注意力，O(N)）＋ 24 层 Gated MLA（全局锚点），3:1 交替</a:t>
            </a:r>
            <a:endParaRPr lang="en-US" sz="135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配合 AttnRes（深度注意力）：把注意力从序列轴扩展到模型深度轴</a:t>
            </a:r>
            <a:endParaRPr lang="en-US" sz="1350" noProof="1"/>
          </a:p>
        </p:txBody>
      </p:sp>
      <p:sp>
        <p:nvSpPr>
          <p:cNvPr id="8" name="res"/>
          <p:cNvSpPr txBox="1"/>
          <p:nvPr/>
        </p:nvSpPr>
        <p:spPr>
          <a:xfrm>
            <a:off x="711200" y="5029200"/>
            <a:ext cx="5461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350" b="1" noProof="1">
                <a:solidFill>
                  <a:srgbClr val="23303E"/>
                </a:solidFill>
                <a:latin typeface="MiSans"/>
                <a:ea typeface="MiSans"/>
              </a:rPr>
              <a:t>结果</a:t>
            </a: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：2.8T 参数，全球最大开源权重模型；1M 上下文原生支持；Frontend Code Arena 全球第一。</a:t>
            </a:r>
            <a:endParaRPr lang="en-US" sz="1350" noProof="1"/>
          </a:p>
        </p:txBody>
      </p:sp>
      <p:sp>
        <p:nvSpPr>
          <p:cNvPr id="9" name="stackh"/>
          <p:cNvSpPr txBox="1"/>
          <p:nvPr/>
        </p:nvSpPr>
        <p:spPr>
          <a:xfrm>
            <a:off x="6858000" y="1600200"/>
            <a:ext cx="46228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6B7A8C"/>
                </a:solidFill>
                <a:latin typeface="MiSans"/>
                <a:ea typeface="MiSans"/>
              </a:rPr>
              <a:t>层布局示意（3:1 交替，共 69 + 24 层）</a:t>
            </a:r>
            <a:endParaRPr lang="en-US" sz="1150" noProof="1"/>
          </a:p>
        </p:txBody>
      </p:sp>
      <p:sp>
        <p:nvSpPr>
          <p:cNvPr id="10" name="st1"/>
          <p:cNvSpPr/>
          <p:nvPr/>
        </p:nvSpPr>
        <p:spPr>
          <a:xfrm>
            <a:off x="6858000" y="1905000"/>
            <a:ext cx="3429000" cy="304800"/>
          </a:xfrm>
          <a:prstGeom prst="rect">
            <a:avLst/>
          </a:prstGeom>
          <a:solidFill>
            <a:srgbClr val="E7EDF4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t1t"/>
          <p:cNvSpPr txBox="1"/>
          <p:nvPr/>
        </p:nvSpPr>
        <p:spPr>
          <a:xfrm>
            <a:off x="7010400" y="1905000"/>
            <a:ext cx="3175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0B2440"/>
                </a:solidFill>
                <a:latin typeface="MiSans"/>
                <a:ea typeface="MiSans"/>
              </a:rPr>
              <a:t>KDA 线性注意力层</a:t>
            </a:r>
            <a:endParaRPr lang="en-US" sz="1100" noProof="1"/>
          </a:p>
        </p:txBody>
      </p:sp>
      <p:sp>
        <p:nvSpPr>
          <p:cNvPr id="12" name="st2"/>
          <p:cNvSpPr/>
          <p:nvPr/>
        </p:nvSpPr>
        <p:spPr>
          <a:xfrm>
            <a:off x="6858000" y="2260600"/>
            <a:ext cx="3429000" cy="304800"/>
          </a:xfrm>
          <a:prstGeom prst="rect">
            <a:avLst/>
          </a:prstGeom>
          <a:solidFill>
            <a:srgbClr val="E7EDF4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t2t"/>
          <p:cNvSpPr txBox="1"/>
          <p:nvPr/>
        </p:nvSpPr>
        <p:spPr>
          <a:xfrm>
            <a:off x="7010400" y="2260600"/>
            <a:ext cx="3175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0B2440"/>
                </a:solidFill>
                <a:latin typeface="MiSans"/>
                <a:ea typeface="MiSans"/>
              </a:rPr>
              <a:t>KDA 线性注意力层</a:t>
            </a:r>
            <a:endParaRPr lang="en-US" sz="1100" noProof="1"/>
          </a:p>
        </p:txBody>
      </p:sp>
      <p:sp>
        <p:nvSpPr>
          <p:cNvPr id="14" name="st3"/>
          <p:cNvSpPr/>
          <p:nvPr/>
        </p:nvSpPr>
        <p:spPr>
          <a:xfrm>
            <a:off x="6858000" y="2616200"/>
            <a:ext cx="3429000" cy="304800"/>
          </a:xfrm>
          <a:prstGeom prst="rect">
            <a:avLst/>
          </a:prstGeom>
          <a:solidFill>
            <a:srgbClr val="E7EDF4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t3t"/>
          <p:cNvSpPr txBox="1"/>
          <p:nvPr/>
        </p:nvSpPr>
        <p:spPr>
          <a:xfrm>
            <a:off x="7010400" y="2616200"/>
            <a:ext cx="3175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0B2440"/>
                </a:solidFill>
                <a:latin typeface="MiSans"/>
                <a:ea typeface="MiSans"/>
              </a:rPr>
              <a:t>KDA 线性注意力层</a:t>
            </a:r>
            <a:endParaRPr lang="en-US" sz="1100" noProof="1"/>
          </a:p>
        </p:txBody>
      </p:sp>
      <p:sp>
        <p:nvSpPr>
          <p:cNvPr id="16" name="st4"/>
          <p:cNvSpPr/>
          <p:nvPr/>
        </p:nvSpPr>
        <p:spPr>
          <a:xfrm>
            <a:off x="6858000" y="2971800"/>
            <a:ext cx="3429000" cy="3048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t4t"/>
          <p:cNvSpPr txBox="1"/>
          <p:nvPr/>
        </p:nvSpPr>
        <p:spPr>
          <a:xfrm>
            <a:off x="7010400" y="2971800"/>
            <a:ext cx="3175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b="1" noProof="1">
                <a:solidFill>
                  <a:srgbClr val="FFFFFF"/>
                </a:solidFill>
                <a:latin typeface="MiSans"/>
                <a:ea typeface="MiSans"/>
              </a:rPr>
              <a:t>Gated MLA 全局锚点层</a:t>
            </a:r>
            <a:endParaRPr lang="en-US" sz="1100" noProof="1"/>
          </a:p>
        </p:txBody>
      </p:sp>
      <p:sp>
        <p:nvSpPr>
          <p:cNvPr id="18" name="stcap"/>
          <p:cNvSpPr txBox="1"/>
          <p:nvPr/>
        </p:nvSpPr>
        <p:spPr>
          <a:xfrm>
            <a:off x="6858000" y="3327400"/>
            <a:ext cx="3429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50" noProof="1">
                <a:solidFill>
                  <a:srgbClr val="6B7A8C"/>
                </a:solidFill>
                <a:latin typeface="MiSans"/>
                <a:ea typeface="MiSans"/>
              </a:rPr>
              <a:t>⋮ 按 3:1 交替堆叠</a:t>
            </a:r>
            <a:endParaRPr lang="en-US" sz="1050" noProof="1"/>
          </a:p>
        </p:txBody>
      </p:sp>
      <p:sp>
        <p:nvSpPr>
          <p:cNvPr id="19" name="stacknote"/>
          <p:cNvSpPr txBox="1"/>
          <p:nvPr/>
        </p:nvSpPr>
        <p:spPr>
          <a:xfrm>
            <a:off x="10439400" y="1905000"/>
            <a:ext cx="1041400" cy="142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050" noProof="1">
                <a:solidFill>
                  <a:srgbClr val="6B7A8C"/>
                </a:solidFill>
                <a:latin typeface="MiSans"/>
                <a:ea typeface="MiSans"/>
              </a:rPr>
              <a:t>状态大小固定，不随序列增长</a:t>
            </a:r>
            <a:endParaRPr lang="en-US" sz="1050" noProof="1"/>
          </a:p>
        </p:txBody>
      </p:sp>
      <p:graphicFrame>
        <p:nvGraphicFramePr>
          <p:cNvPr id="20" name="chart"/>
          <p:cNvGraphicFramePr/>
          <p:nvPr/>
        </p:nvGraphicFramePr>
        <p:xfrm>
          <a:off x="6604000" y="3708400"/>
          <a:ext cx="4876800" cy="248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1" name="fline"/>
          <p:cNvSpPr/>
          <p:nvPr/>
        </p:nvSpPr>
        <p:spPr>
          <a:xfrm>
            <a:off x="711200" y="6477000"/>
            <a:ext cx="107696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fl"/>
          <p:cNvSpPr txBox="1"/>
          <p:nvPr/>
        </p:nvSpPr>
        <p:spPr>
          <a:xfrm>
            <a:off x="711200" y="65532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B7A8C"/>
                </a:solidFill>
                <a:latin typeface="MiSans"/>
                <a:ea typeface="MiSans"/>
              </a:rPr>
              <a:t>Token Factory · AI 推理的成本革命</a:t>
            </a:r>
            <a:endParaRPr lang="en-US" sz="950" noProof="1"/>
          </a:p>
        </p:txBody>
      </p:sp>
      <p:sp>
        <p:nvSpPr>
          <p:cNvPr id="23" name="fr"/>
          <p:cNvSpPr txBox="1"/>
          <p:nvPr/>
        </p:nvSpPr>
        <p:spPr>
          <a:xfrm>
            <a:off x="10210800" y="65532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6B7A8C"/>
                </a:solidFill>
                <a:latin typeface="MiSans"/>
                <a:ea typeface="MiSans"/>
              </a:rPr>
              <a:t>10 / 40</a:t>
            </a:r>
            <a:endParaRPr lang="en-US" sz="950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"/>
          <p:cNvSpPr txBox="1"/>
          <p:nvPr/>
        </p:nvSpPr>
        <p:spPr>
          <a:xfrm>
            <a:off x="711200" y="3810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F07D0A"/>
                </a:solidFill>
                <a:latin typeface="MiSans"/>
                <a:ea typeface="MiSans"/>
              </a:rPr>
              <a:t>第一层杠杆 · 小结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350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600" b="1" noProof="1">
                <a:solidFill>
                  <a:srgbClr val="0B2440"/>
                </a:solidFill>
                <a:latin typeface="MiSans"/>
                <a:ea typeface="MiSans"/>
              </a:rPr>
              <a:t>架构效率的四次革命</a:t>
            </a:r>
            <a:endParaRPr lang="en-US" sz="2600" noProof="1"/>
          </a:p>
        </p:txBody>
      </p:sp>
      <p:sp>
        <p:nvSpPr>
          <p:cNvPr id="4" name="rule"/>
          <p:cNvSpPr/>
          <p:nvPr/>
        </p:nvSpPr>
        <p:spPr>
          <a:xfrm>
            <a:off x="711200" y="1270000"/>
            <a:ext cx="107696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abar"/>
          <p:cNvSpPr/>
          <p:nvPr/>
        </p:nvSpPr>
        <p:spPr>
          <a:xfrm>
            <a:off x="711200" y="1244600"/>
            <a:ext cx="812800" cy="381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6" name="tbl"/>
          <p:cNvGraphicFramePr>
            <a:graphicFrameLocks noGrp="1"/>
          </p:cNvGraphicFramePr>
          <p:nvPr/>
        </p:nvGraphicFramePr>
        <p:xfrm>
          <a:off x="711200" y="1600200"/>
          <a:ext cx="10769600" cy="2667000"/>
        </p:xfrm>
        <a:graphic>
          <a:graphicData uri="http://schemas.openxmlformats.org/drawingml/2006/table">
            <a:tbl>
              <a:tblPr/>
              <a:tblGrid>
                <a:gridCol w="1723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0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539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2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b="1" noProof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技术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0B2440"/>
                      </a:solidFill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b="1" noProof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代表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0B2440"/>
                      </a:solidFill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b="1" noProof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省什么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0B2440"/>
                      </a:solidFill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b="1" noProof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幅度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0B2440"/>
                      </a:solidFill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noProof="1">
                          <a:solidFill>
                            <a:srgbClr val="23303E"/>
                          </a:solidFill>
                          <a:latin typeface="Times New Roman"/>
                          <a:ea typeface="Times New Roman"/>
                        </a:rPr>
                        <a:t>MLA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B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1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noProof="1">
                          <a:solidFill>
                            <a:srgbClr val="23303E"/>
                          </a:solidFill>
                          <a:latin typeface="Times New Roman"/>
                          <a:ea typeface="Times New Roman"/>
                        </a:rPr>
                        <a:t>DeepSeek V2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B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1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noProof="1">
                          <a:solidFill>
                            <a:srgbClr val="23303E"/>
                          </a:solidFill>
                          <a:latin typeface="Times New Roman"/>
                          <a:ea typeface="Times New Roman"/>
                        </a:rPr>
                        <a:t>KV Cache 内存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B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1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b="1" noProof="1">
                          <a:solidFill>
                            <a:srgbClr val="F07D0A"/>
                          </a:solidFill>
                          <a:latin typeface="Times New Roman"/>
                          <a:ea typeface="Times New Roman"/>
                        </a:rPr>
                        <a:t>-93.3%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B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1E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noProof="1">
                          <a:solidFill>
                            <a:srgbClr val="23303E"/>
                          </a:solidFill>
                          <a:latin typeface="Times New Roman"/>
                          <a:ea typeface="Times New Roman"/>
                        </a:rPr>
                        <a:t>MoE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1EB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noProof="1">
                          <a:solidFill>
                            <a:srgbClr val="23303E"/>
                          </a:solidFill>
                          <a:latin typeface="Times New Roman"/>
                          <a:ea typeface="Times New Roman"/>
                        </a:rPr>
                        <a:t>DeepSeek V3 · Kimi K3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1EB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noProof="1">
                          <a:solidFill>
                            <a:srgbClr val="23303E"/>
                          </a:solidFill>
                          <a:latin typeface="Times New Roman"/>
                          <a:ea typeface="Times New Roman"/>
                        </a:rPr>
                        <a:t>计算量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1EB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b="1" noProof="1">
                          <a:solidFill>
                            <a:srgbClr val="F07D0A"/>
                          </a:solidFill>
                          <a:latin typeface="Times New Roman"/>
                          <a:ea typeface="Times New Roman"/>
                        </a:rPr>
                        <a:t>激活仅 5.5%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1EB"/>
                      </a:solidFill>
                    </a:lnB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noProof="1">
                          <a:solidFill>
                            <a:srgbClr val="23303E"/>
                          </a:solidFill>
                          <a:latin typeface="Times New Roman"/>
                          <a:ea typeface="Times New Roman"/>
                        </a:rPr>
                        <a:t>CSA / HCA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1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noProof="1">
                          <a:solidFill>
                            <a:srgbClr val="23303E"/>
                          </a:solidFill>
                          <a:latin typeface="Times New Roman"/>
                          <a:ea typeface="Times New Roman"/>
                        </a:rPr>
                        <a:t>DeepSeek V4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1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noProof="1">
                          <a:solidFill>
                            <a:srgbClr val="23303E"/>
                          </a:solidFill>
                          <a:latin typeface="Times New Roman"/>
                          <a:ea typeface="Times New Roman"/>
                        </a:rPr>
                        <a:t>推理计算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1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b="1" noProof="1">
                          <a:solidFill>
                            <a:srgbClr val="F07D0A"/>
                          </a:solidFill>
                          <a:latin typeface="Times New Roman"/>
                          <a:ea typeface="Times New Roman"/>
                        </a:rPr>
                        <a:t>-73%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1E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noProof="1">
                          <a:solidFill>
                            <a:srgbClr val="23303E"/>
                          </a:solidFill>
                          <a:latin typeface="Times New Roman"/>
                          <a:ea typeface="Times New Roman"/>
                        </a:rPr>
                        <a:t>KDA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1EB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noProof="1">
                          <a:solidFill>
                            <a:srgbClr val="23303E"/>
                          </a:solidFill>
                          <a:latin typeface="Times New Roman"/>
                          <a:ea typeface="Times New Roman"/>
                        </a:rPr>
                        <a:t>Kimi K3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1EB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noProof="1">
                          <a:solidFill>
                            <a:srgbClr val="23303E"/>
                          </a:solidFill>
                          <a:latin typeface="Times New Roman"/>
                          <a:ea typeface="Times New Roman"/>
                        </a:rPr>
                        <a:t>长上下文内存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1EB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b="1" noProof="1">
                          <a:solidFill>
                            <a:srgbClr val="F07D0A"/>
                          </a:solidFill>
                          <a:latin typeface="Times New Roman"/>
                          <a:ea typeface="Times New Roman"/>
                        </a:rPr>
                        <a:t>O(N²) → O(N)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1EB"/>
                      </a:solidFill>
                    </a:lnB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k1"/>
          <p:cNvSpPr txBox="1"/>
          <p:nvPr/>
        </p:nvSpPr>
        <p:spPr>
          <a:xfrm>
            <a:off x="711200" y="4648200"/>
            <a:ext cx="107696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350" b="1" noProof="1">
                <a:solidFill>
                  <a:srgbClr val="23303E"/>
                </a:solidFill>
                <a:latin typeface="MiSans"/>
                <a:ea typeface="MiSans"/>
              </a:rPr>
              <a:t>关键认知</a:t>
            </a: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：2023 年的“能力军备竞赛”（堆参数）已经转向“效率军备竞赛”（省成本）；模型架构是每 token 成本的第一决定因素。</a:t>
            </a:r>
            <a:endParaRPr lang="en-US" sz="1350" noProof="1"/>
          </a:p>
        </p:txBody>
      </p:sp>
      <p:sp>
        <p:nvSpPr>
          <p:cNvPr id="8" name="trans"/>
          <p:cNvSpPr/>
          <p:nvPr/>
        </p:nvSpPr>
        <p:spPr>
          <a:xfrm>
            <a:off x="711200" y="5511800"/>
            <a:ext cx="10769600" cy="609600"/>
          </a:xfrm>
          <a:prstGeom prst="rect">
            <a:avLst/>
          </a:prstGeom>
          <a:solidFill>
            <a:srgbClr val="F3F6FA"/>
          </a:solidFill>
          <a:ln w="12700">
            <a:solidFill>
              <a:srgbClr val="D9E1E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ranst"/>
          <p:cNvSpPr txBox="1"/>
          <p:nvPr/>
        </p:nvSpPr>
        <p:spPr>
          <a:xfrm>
            <a:off x="965200" y="5511800"/>
            <a:ext cx="102616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50" noProof="1">
                <a:solidFill>
                  <a:srgbClr val="0B2440"/>
                </a:solidFill>
                <a:latin typeface="MiSans"/>
                <a:ea typeface="MiSans"/>
              </a:rPr>
              <a:t>但架构再好，也需要硬件来执行 </a:t>
            </a:r>
            <a:r>
              <a:rPr lang="en-US" sz="1350" b="1" noProof="1">
                <a:solidFill>
                  <a:srgbClr val="F07D0A"/>
                </a:solidFill>
                <a:latin typeface="MiSans"/>
                <a:ea typeface="MiSans"/>
              </a:rPr>
              <a:t>→ 第二层杠杆：硬件</a:t>
            </a:r>
            <a:endParaRPr lang="en-US" sz="1350" noProof="1"/>
          </a:p>
        </p:txBody>
      </p:sp>
      <p:sp>
        <p:nvSpPr>
          <p:cNvPr id="10" name="fline"/>
          <p:cNvSpPr/>
          <p:nvPr/>
        </p:nvSpPr>
        <p:spPr>
          <a:xfrm>
            <a:off x="711200" y="6477000"/>
            <a:ext cx="107696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fl"/>
          <p:cNvSpPr txBox="1"/>
          <p:nvPr/>
        </p:nvSpPr>
        <p:spPr>
          <a:xfrm>
            <a:off x="711200" y="65532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B7A8C"/>
                </a:solidFill>
                <a:latin typeface="MiSans"/>
                <a:ea typeface="MiSans"/>
              </a:rPr>
              <a:t>Token Factory · AI 推理的成本革命</a:t>
            </a:r>
            <a:endParaRPr lang="en-US" sz="950" noProof="1"/>
          </a:p>
        </p:txBody>
      </p:sp>
      <p:sp>
        <p:nvSpPr>
          <p:cNvPr id="12" name="fr"/>
          <p:cNvSpPr txBox="1"/>
          <p:nvPr/>
        </p:nvSpPr>
        <p:spPr>
          <a:xfrm>
            <a:off x="10210800" y="65532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6B7A8C"/>
                </a:solidFill>
                <a:latin typeface="MiSans"/>
                <a:ea typeface="MiSans"/>
              </a:rPr>
              <a:t>11 / 40</a:t>
            </a:r>
            <a:endParaRPr lang="en-US" sz="950" noProof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"/>
          <p:cNvSpPr txBox="1"/>
          <p:nvPr/>
        </p:nvSpPr>
        <p:spPr>
          <a:xfrm>
            <a:off x="711200" y="3810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F07D0A"/>
                </a:solidFill>
                <a:latin typeface="MiSans"/>
                <a:ea typeface="MiSans"/>
              </a:rPr>
              <a:t>第二层杠杆 · 硬件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350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600" b="1" noProof="1">
                <a:solidFill>
                  <a:srgbClr val="0B2440"/>
                </a:solidFill>
                <a:latin typeface="MiSans"/>
                <a:ea typeface="MiSans"/>
              </a:rPr>
              <a:t>GPU：token 工厂的机器</a:t>
            </a:r>
            <a:endParaRPr lang="en-US" sz="2600" noProof="1"/>
          </a:p>
        </p:txBody>
      </p:sp>
      <p:sp>
        <p:nvSpPr>
          <p:cNvPr id="4" name="rule"/>
          <p:cNvSpPr/>
          <p:nvPr/>
        </p:nvSpPr>
        <p:spPr>
          <a:xfrm>
            <a:off x="711200" y="1270000"/>
            <a:ext cx="107696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abar"/>
          <p:cNvSpPr/>
          <p:nvPr/>
        </p:nvSpPr>
        <p:spPr>
          <a:xfrm>
            <a:off x="711200" y="1244600"/>
            <a:ext cx="812800" cy="381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why"/>
          <p:cNvSpPr txBox="1"/>
          <p:nvPr/>
        </p:nvSpPr>
        <p:spPr>
          <a:xfrm>
            <a:off x="711200" y="1600200"/>
            <a:ext cx="5334000" cy="203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350" b="1" noProof="1">
                <a:solidFill>
                  <a:srgbClr val="23303E"/>
                </a:solidFill>
                <a:latin typeface="MiSans"/>
                <a:ea typeface="MiSans"/>
              </a:rPr>
              <a:t>为什么 AI 需要 GPU</a:t>
            </a:r>
            <a:endParaRPr lang="en-US" sz="1350" noProof="1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Transformer 的核心是矩阵乘法：成千上万个数字同时相乘相加。</a:t>
            </a:r>
            <a:endParaRPr lang="en-US" sz="135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350" b="1" noProof="1">
                <a:solidFill>
                  <a:srgbClr val="23303E"/>
                </a:solidFill>
                <a:latin typeface="MiSans"/>
                <a:ea typeface="MiSans"/>
              </a:rPr>
              <a:t>CPU</a:t>
            </a: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：4–64 核，每个核很强，擅长串行逻辑、复杂控制</a:t>
            </a:r>
            <a:endParaRPr lang="en-US" sz="1350" noProof="1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350" b="1" noProof="1">
                <a:solidFill>
                  <a:srgbClr val="23303E"/>
                </a:solidFill>
                <a:latin typeface="MiSans"/>
                <a:ea typeface="MiSans"/>
              </a:rPr>
              <a:t>GPU</a:t>
            </a: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：数千个核，每个核简单，但人多力量大</a:t>
            </a:r>
            <a:endParaRPr lang="en-US" sz="1350" noProof="1"/>
          </a:p>
        </p:txBody>
      </p:sp>
      <p:sp>
        <p:nvSpPr>
          <p:cNvPr id="7" name="cpulab"/>
          <p:cNvSpPr txBox="1"/>
          <p:nvPr/>
        </p:nvSpPr>
        <p:spPr>
          <a:xfrm>
            <a:off x="6604000" y="16002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noProof="1">
                <a:solidFill>
                  <a:srgbClr val="0B2440"/>
                </a:solidFill>
                <a:latin typeface="MiSans"/>
                <a:ea typeface="MiSans"/>
              </a:rPr>
              <a:t>CPU：少数大核</a:t>
            </a:r>
            <a:endParaRPr lang="en-US" sz="1200" noProof="1"/>
          </a:p>
        </p:txBody>
      </p:sp>
      <p:sp>
        <p:nvSpPr>
          <p:cNvPr id="8" name="cpubox"/>
          <p:cNvSpPr/>
          <p:nvPr/>
        </p:nvSpPr>
        <p:spPr>
          <a:xfrm>
            <a:off x="6604000" y="1879600"/>
            <a:ext cx="2286000" cy="1397000"/>
          </a:xfrm>
          <a:prstGeom prst="rect">
            <a:avLst/>
          </a:prstGeom>
          <a:solidFill>
            <a:srgbClr val="F3F6FA"/>
          </a:solidFill>
          <a:ln w="12700">
            <a:solidFill>
              <a:srgbClr val="D9E1E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cc1"/>
          <p:cNvSpPr/>
          <p:nvPr/>
        </p:nvSpPr>
        <p:spPr>
          <a:xfrm>
            <a:off x="6858000" y="2108200"/>
            <a:ext cx="381000" cy="381000"/>
          </a:xfrm>
          <a:prstGeom prst="rect">
            <a:avLst/>
          </a:prstGeom>
          <a:solidFill>
            <a:srgbClr val="33506E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cc2"/>
          <p:cNvSpPr/>
          <p:nvPr/>
        </p:nvSpPr>
        <p:spPr>
          <a:xfrm>
            <a:off x="7366000" y="2108200"/>
            <a:ext cx="381000" cy="381000"/>
          </a:xfrm>
          <a:prstGeom prst="rect">
            <a:avLst/>
          </a:prstGeom>
          <a:solidFill>
            <a:srgbClr val="33506E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cc3"/>
          <p:cNvSpPr/>
          <p:nvPr/>
        </p:nvSpPr>
        <p:spPr>
          <a:xfrm>
            <a:off x="7874000" y="2108200"/>
            <a:ext cx="381000" cy="381000"/>
          </a:xfrm>
          <a:prstGeom prst="rect">
            <a:avLst/>
          </a:prstGeom>
          <a:solidFill>
            <a:srgbClr val="33506E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cc4"/>
          <p:cNvSpPr/>
          <p:nvPr/>
        </p:nvSpPr>
        <p:spPr>
          <a:xfrm>
            <a:off x="8382000" y="2108200"/>
            <a:ext cx="381000" cy="381000"/>
          </a:xfrm>
          <a:prstGeom prst="rect">
            <a:avLst/>
          </a:prstGeom>
          <a:solidFill>
            <a:srgbClr val="33506E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cc5"/>
          <p:cNvSpPr/>
          <p:nvPr/>
        </p:nvSpPr>
        <p:spPr>
          <a:xfrm>
            <a:off x="6858000" y="2616200"/>
            <a:ext cx="381000" cy="381000"/>
          </a:xfrm>
          <a:prstGeom prst="rect">
            <a:avLst/>
          </a:prstGeom>
          <a:solidFill>
            <a:srgbClr val="33506E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cc6"/>
          <p:cNvSpPr/>
          <p:nvPr/>
        </p:nvSpPr>
        <p:spPr>
          <a:xfrm>
            <a:off x="7366000" y="2616200"/>
            <a:ext cx="381000" cy="381000"/>
          </a:xfrm>
          <a:prstGeom prst="rect">
            <a:avLst/>
          </a:prstGeom>
          <a:solidFill>
            <a:srgbClr val="33506E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cc7"/>
          <p:cNvSpPr/>
          <p:nvPr/>
        </p:nvSpPr>
        <p:spPr>
          <a:xfrm>
            <a:off x="7874000" y="2616200"/>
            <a:ext cx="381000" cy="381000"/>
          </a:xfrm>
          <a:prstGeom prst="rect">
            <a:avLst/>
          </a:prstGeom>
          <a:solidFill>
            <a:srgbClr val="33506E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cc8"/>
          <p:cNvSpPr/>
          <p:nvPr/>
        </p:nvSpPr>
        <p:spPr>
          <a:xfrm>
            <a:off x="8382000" y="2616200"/>
            <a:ext cx="381000" cy="381000"/>
          </a:xfrm>
          <a:prstGeom prst="rect">
            <a:avLst/>
          </a:prstGeom>
          <a:solidFill>
            <a:srgbClr val="33506E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gpulab"/>
          <p:cNvSpPr txBox="1"/>
          <p:nvPr/>
        </p:nvSpPr>
        <p:spPr>
          <a:xfrm>
            <a:off x="9194800" y="16002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noProof="1">
                <a:solidFill>
                  <a:srgbClr val="F07D0A"/>
                </a:solidFill>
                <a:latin typeface="MiSans"/>
                <a:ea typeface="MiSans"/>
              </a:rPr>
              <a:t>GPU：数千小核</a:t>
            </a:r>
            <a:endParaRPr lang="en-US" sz="1200" noProof="1"/>
          </a:p>
        </p:txBody>
      </p:sp>
      <p:sp>
        <p:nvSpPr>
          <p:cNvPr id="18" name="gpubox"/>
          <p:cNvSpPr/>
          <p:nvPr/>
        </p:nvSpPr>
        <p:spPr>
          <a:xfrm>
            <a:off x="9194800" y="1879600"/>
            <a:ext cx="2286000" cy="1397000"/>
          </a:xfrm>
          <a:prstGeom prst="rect">
            <a:avLst/>
          </a:prstGeom>
          <a:solidFill>
            <a:srgbClr val="F3F6FA"/>
          </a:solidFill>
          <a:ln w="12700">
            <a:solidFill>
              <a:srgbClr val="F07D0A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gcrow1"/>
          <p:cNvSpPr/>
          <p:nvPr/>
        </p:nvSpPr>
        <p:spPr>
          <a:xfrm>
            <a:off x="9347200" y="2032000"/>
            <a:ext cx="152400" cy="1524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gcrow2"/>
          <p:cNvSpPr/>
          <p:nvPr/>
        </p:nvSpPr>
        <p:spPr>
          <a:xfrm>
            <a:off x="9601200" y="2032000"/>
            <a:ext cx="152400" cy="1524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gcrow3"/>
          <p:cNvSpPr/>
          <p:nvPr/>
        </p:nvSpPr>
        <p:spPr>
          <a:xfrm>
            <a:off x="9855200" y="2032000"/>
            <a:ext cx="152400" cy="1524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gcrow4"/>
          <p:cNvSpPr/>
          <p:nvPr/>
        </p:nvSpPr>
        <p:spPr>
          <a:xfrm>
            <a:off x="10109200" y="2032000"/>
            <a:ext cx="152400" cy="1524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gcrow5"/>
          <p:cNvSpPr/>
          <p:nvPr/>
        </p:nvSpPr>
        <p:spPr>
          <a:xfrm>
            <a:off x="10363200" y="2032000"/>
            <a:ext cx="152400" cy="1524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gcrow6"/>
          <p:cNvSpPr/>
          <p:nvPr/>
        </p:nvSpPr>
        <p:spPr>
          <a:xfrm>
            <a:off x="10617200" y="2032000"/>
            <a:ext cx="152400" cy="1524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gcrow7"/>
          <p:cNvSpPr/>
          <p:nvPr/>
        </p:nvSpPr>
        <p:spPr>
          <a:xfrm>
            <a:off x="10871200" y="2032000"/>
            <a:ext cx="152400" cy="1524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gcrow8"/>
          <p:cNvSpPr/>
          <p:nvPr/>
        </p:nvSpPr>
        <p:spPr>
          <a:xfrm>
            <a:off x="11125200" y="2032000"/>
            <a:ext cx="152400" cy="1524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gcr1"/>
          <p:cNvSpPr/>
          <p:nvPr/>
        </p:nvSpPr>
        <p:spPr>
          <a:xfrm>
            <a:off x="9347200" y="2286000"/>
            <a:ext cx="152400" cy="1524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gcr2"/>
          <p:cNvSpPr/>
          <p:nvPr/>
        </p:nvSpPr>
        <p:spPr>
          <a:xfrm>
            <a:off x="9601200" y="2286000"/>
            <a:ext cx="152400" cy="1524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gcr3"/>
          <p:cNvSpPr/>
          <p:nvPr/>
        </p:nvSpPr>
        <p:spPr>
          <a:xfrm>
            <a:off x="9855200" y="2286000"/>
            <a:ext cx="152400" cy="1524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gcr4"/>
          <p:cNvSpPr/>
          <p:nvPr/>
        </p:nvSpPr>
        <p:spPr>
          <a:xfrm>
            <a:off x="10109200" y="2286000"/>
            <a:ext cx="152400" cy="1524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gcr5"/>
          <p:cNvSpPr/>
          <p:nvPr/>
        </p:nvSpPr>
        <p:spPr>
          <a:xfrm>
            <a:off x="10363200" y="2286000"/>
            <a:ext cx="152400" cy="1524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gcr6"/>
          <p:cNvSpPr/>
          <p:nvPr/>
        </p:nvSpPr>
        <p:spPr>
          <a:xfrm>
            <a:off x="10617200" y="2286000"/>
            <a:ext cx="152400" cy="1524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gcr7"/>
          <p:cNvSpPr/>
          <p:nvPr/>
        </p:nvSpPr>
        <p:spPr>
          <a:xfrm>
            <a:off x="10871200" y="2286000"/>
            <a:ext cx="152400" cy="1524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gcr8"/>
          <p:cNvSpPr/>
          <p:nvPr/>
        </p:nvSpPr>
        <p:spPr>
          <a:xfrm>
            <a:off x="11125200" y="2286000"/>
            <a:ext cx="152400" cy="1524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gcr9"/>
          <p:cNvSpPr/>
          <p:nvPr/>
        </p:nvSpPr>
        <p:spPr>
          <a:xfrm>
            <a:off x="9347200" y="2540000"/>
            <a:ext cx="152400" cy="1524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gcr10"/>
          <p:cNvSpPr/>
          <p:nvPr/>
        </p:nvSpPr>
        <p:spPr>
          <a:xfrm>
            <a:off x="9601200" y="2540000"/>
            <a:ext cx="152400" cy="1524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gcr11"/>
          <p:cNvSpPr/>
          <p:nvPr/>
        </p:nvSpPr>
        <p:spPr>
          <a:xfrm>
            <a:off x="9855200" y="2540000"/>
            <a:ext cx="152400" cy="1524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gcr12"/>
          <p:cNvSpPr/>
          <p:nvPr/>
        </p:nvSpPr>
        <p:spPr>
          <a:xfrm>
            <a:off x="10109200" y="2540000"/>
            <a:ext cx="152400" cy="1524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gcr13"/>
          <p:cNvSpPr/>
          <p:nvPr/>
        </p:nvSpPr>
        <p:spPr>
          <a:xfrm>
            <a:off x="10363200" y="2540000"/>
            <a:ext cx="152400" cy="1524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gcr14"/>
          <p:cNvSpPr/>
          <p:nvPr/>
        </p:nvSpPr>
        <p:spPr>
          <a:xfrm>
            <a:off x="10617200" y="2540000"/>
            <a:ext cx="152400" cy="1524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gcr15"/>
          <p:cNvSpPr/>
          <p:nvPr/>
        </p:nvSpPr>
        <p:spPr>
          <a:xfrm>
            <a:off x="10871200" y="2540000"/>
            <a:ext cx="152400" cy="1524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gcr16"/>
          <p:cNvSpPr/>
          <p:nvPr/>
        </p:nvSpPr>
        <p:spPr>
          <a:xfrm>
            <a:off x="11125200" y="2540000"/>
            <a:ext cx="152400" cy="1524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gcr17"/>
          <p:cNvSpPr/>
          <p:nvPr/>
        </p:nvSpPr>
        <p:spPr>
          <a:xfrm>
            <a:off x="9347200" y="2794000"/>
            <a:ext cx="152400" cy="1524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gcr18"/>
          <p:cNvSpPr/>
          <p:nvPr/>
        </p:nvSpPr>
        <p:spPr>
          <a:xfrm>
            <a:off x="9601200" y="2794000"/>
            <a:ext cx="152400" cy="1524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gcr19"/>
          <p:cNvSpPr/>
          <p:nvPr/>
        </p:nvSpPr>
        <p:spPr>
          <a:xfrm>
            <a:off x="9855200" y="2794000"/>
            <a:ext cx="152400" cy="1524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gcr20"/>
          <p:cNvSpPr/>
          <p:nvPr/>
        </p:nvSpPr>
        <p:spPr>
          <a:xfrm>
            <a:off x="10109200" y="2794000"/>
            <a:ext cx="152400" cy="1524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gcr21"/>
          <p:cNvSpPr/>
          <p:nvPr/>
        </p:nvSpPr>
        <p:spPr>
          <a:xfrm>
            <a:off x="10363200" y="2794000"/>
            <a:ext cx="152400" cy="1524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gcr22"/>
          <p:cNvSpPr/>
          <p:nvPr/>
        </p:nvSpPr>
        <p:spPr>
          <a:xfrm>
            <a:off x="10617200" y="2794000"/>
            <a:ext cx="152400" cy="1524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gcr23"/>
          <p:cNvSpPr/>
          <p:nvPr/>
        </p:nvSpPr>
        <p:spPr>
          <a:xfrm>
            <a:off x="10871200" y="2794000"/>
            <a:ext cx="152400" cy="1524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gcr24"/>
          <p:cNvSpPr/>
          <p:nvPr/>
        </p:nvSpPr>
        <p:spPr>
          <a:xfrm>
            <a:off x="11125200" y="2794000"/>
            <a:ext cx="152400" cy="1524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gcdots"/>
          <p:cNvSpPr txBox="1"/>
          <p:nvPr/>
        </p:nvSpPr>
        <p:spPr>
          <a:xfrm>
            <a:off x="9194800" y="3048000"/>
            <a:ext cx="228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6B7A8C"/>
                </a:solidFill>
                <a:latin typeface="MiSans"/>
                <a:ea typeface="MiSans"/>
              </a:rPr>
              <a:t>… 数千个</a:t>
            </a:r>
            <a:endParaRPr lang="en-US" sz="1000" noProof="1"/>
          </a:p>
        </p:txBody>
      </p:sp>
      <p:graphicFrame>
        <p:nvGraphicFramePr>
          <p:cNvPr id="52" name="tbl"/>
          <p:cNvGraphicFramePr>
            <a:graphicFrameLocks noGrp="1"/>
          </p:cNvGraphicFramePr>
          <p:nvPr/>
        </p:nvGraphicFramePr>
        <p:xfrm>
          <a:off x="711200" y="3810000"/>
          <a:ext cx="10769600" cy="2032000"/>
        </p:xfrm>
        <a:graphic>
          <a:graphicData uri="http://schemas.openxmlformats.org/drawingml/2006/table">
            <a:tbl>
              <a:tblPr/>
              <a:tblGrid>
                <a:gridCol w="3015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70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70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b="1" noProof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指标（2026）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0B2440"/>
                      </a:solidFill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b="1" noProof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CPU（Xeon）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0B2440"/>
                      </a:solidFill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b="1" noProof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GPU（B200）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0B2440"/>
                      </a:solidFill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noProof="1">
                          <a:solidFill>
                            <a:srgbClr val="23303E"/>
                          </a:solidFill>
                          <a:latin typeface="Times New Roman"/>
                          <a:ea typeface="Times New Roman"/>
                        </a:rPr>
                        <a:t>核心与并行方式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B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1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noProof="1">
                          <a:solidFill>
                            <a:srgbClr val="23303E"/>
                          </a:solidFill>
                          <a:latin typeface="Times New Roman"/>
                          <a:ea typeface="Times New Roman"/>
                        </a:rPr>
                        <a:t>4–64 核，串行逻辑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B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1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noProof="1">
                          <a:solidFill>
                            <a:srgbClr val="23303E"/>
                          </a:solidFill>
                          <a:latin typeface="Times New Roman"/>
                          <a:ea typeface="Times New Roman"/>
                        </a:rPr>
                        <a:t>数千核，大规模并行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B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1E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noProof="1">
                          <a:solidFill>
                            <a:srgbClr val="23303E"/>
                          </a:solidFill>
                          <a:latin typeface="Times New Roman"/>
                          <a:ea typeface="Times New Roman"/>
                        </a:rPr>
                        <a:t>FP32 算力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1EB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noProof="1">
                          <a:solidFill>
                            <a:srgbClr val="23303E"/>
                          </a:solidFill>
                          <a:latin typeface="Times New Roman"/>
                          <a:ea typeface="Times New Roman"/>
                        </a:rPr>
                        <a:t>约 1 TFLOPS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1EB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b="1" noProof="1">
                          <a:solidFill>
                            <a:srgbClr val="23303E"/>
                          </a:solidFill>
                          <a:latin typeface="Times New Roman"/>
                          <a:ea typeface="Times New Roman"/>
                        </a:rPr>
                        <a:t>约 80 TFLOPS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1EB"/>
                      </a:solidFill>
                    </a:lnB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noProof="1">
                          <a:solidFill>
                            <a:srgbClr val="23303E"/>
                          </a:solidFill>
                          <a:latin typeface="Times New Roman"/>
                          <a:ea typeface="Times New Roman"/>
                        </a:rPr>
                        <a:t>内存带宽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1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noProof="1">
                          <a:solidFill>
                            <a:srgbClr val="23303E"/>
                          </a:solidFill>
                          <a:latin typeface="Times New Roman"/>
                          <a:ea typeface="Times New Roman"/>
                        </a:rPr>
                        <a:t>约 400 GB/s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1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b="1" noProof="1">
                          <a:solidFill>
                            <a:srgbClr val="23303E"/>
                          </a:solidFill>
                          <a:latin typeface="Times New Roman"/>
                          <a:ea typeface="Times New Roman"/>
                        </a:rPr>
                        <a:t>8 TB/s（20 倍）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1E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noProof="1">
                          <a:solidFill>
                            <a:srgbClr val="23303E"/>
                          </a:solidFill>
                          <a:latin typeface="Times New Roman"/>
                          <a:ea typeface="Times New Roman"/>
                        </a:rPr>
                        <a:t>同一生成任务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1EB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noProof="1">
                          <a:solidFill>
                            <a:srgbClr val="23303E"/>
                          </a:solidFill>
                          <a:latin typeface="Times New Roman"/>
                          <a:ea typeface="Times New Roman"/>
                        </a:rPr>
                        <a:t>约 0.8 token/s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1EB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b="1" noProof="1">
                          <a:solidFill>
                            <a:srgbClr val="F07D0A"/>
                          </a:solidFill>
                          <a:latin typeface="Times New Roman"/>
                          <a:ea typeface="Times New Roman"/>
                        </a:rPr>
                        <a:t>约 127 token/s（159×）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1EB"/>
                      </a:solidFill>
                    </a:lnB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3" name="concl"/>
          <p:cNvSpPr txBox="1"/>
          <p:nvPr/>
        </p:nvSpPr>
        <p:spPr>
          <a:xfrm>
            <a:off x="711200" y="5994400"/>
            <a:ext cx="107696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50" b="1" noProof="1">
                <a:solidFill>
                  <a:srgbClr val="0B2440"/>
                </a:solidFill>
                <a:latin typeface="MiSans"/>
                <a:ea typeface="MiSans"/>
              </a:rPr>
              <a:t>结论：token 工厂的产能，由 GPU 决定。</a:t>
            </a:r>
            <a:endParaRPr lang="en-US" sz="1350" noProof="1"/>
          </a:p>
        </p:txBody>
      </p:sp>
      <p:sp>
        <p:nvSpPr>
          <p:cNvPr id="54" name="fline"/>
          <p:cNvSpPr/>
          <p:nvPr/>
        </p:nvSpPr>
        <p:spPr>
          <a:xfrm>
            <a:off x="711200" y="6477000"/>
            <a:ext cx="107696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fl"/>
          <p:cNvSpPr txBox="1"/>
          <p:nvPr/>
        </p:nvSpPr>
        <p:spPr>
          <a:xfrm>
            <a:off x="711200" y="65532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B7A8C"/>
                </a:solidFill>
                <a:latin typeface="MiSans"/>
                <a:ea typeface="MiSans"/>
              </a:rPr>
              <a:t>Token Factory · AI 推理的成本革命</a:t>
            </a:r>
            <a:endParaRPr lang="en-US" sz="950" noProof="1"/>
          </a:p>
        </p:txBody>
      </p:sp>
      <p:sp>
        <p:nvSpPr>
          <p:cNvPr id="56" name="fr"/>
          <p:cNvSpPr txBox="1"/>
          <p:nvPr/>
        </p:nvSpPr>
        <p:spPr>
          <a:xfrm>
            <a:off x="10210800" y="65532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6B7A8C"/>
                </a:solidFill>
                <a:latin typeface="MiSans"/>
                <a:ea typeface="MiSans"/>
              </a:rPr>
              <a:t>12 / 40</a:t>
            </a:r>
            <a:endParaRPr lang="en-US" sz="950" noProof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"/>
          <p:cNvSpPr txBox="1"/>
          <p:nvPr/>
        </p:nvSpPr>
        <p:spPr>
          <a:xfrm>
            <a:off x="711200" y="3810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F07D0A"/>
                </a:solidFill>
                <a:latin typeface="MiSans"/>
                <a:ea typeface="MiSans"/>
              </a:rPr>
              <a:t>第二层杠杆 · 硬件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350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600" b="1" noProof="1">
                <a:solidFill>
                  <a:srgbClr val="0B2440"/>
                </a:solidFill>
                <a:latin typeface="MiSans"/>
                <a:ea typeface="MiSans"/>
              </a:rPr>
              <a:t>NVIDIA 架构演进：每代 token 成本大约减半</a:t>
            </a:r>
            <a:endParaRPr lang="en-US" sz="2600" noProof="1"/>
          </a:p>
        </p:txBody>
      </p:sp>
      <p:sp>
        <p:nvSpPr>
          <p:cNvPr id="4" name="rule"/>
          <p:cNvSpPr/>
          <p:nvPr/>
        </p:nvSpPr>
        <p:spPr>
          <a:xfrm>
            <a:off x="711200" y="1270000"/>
            <a:ext cx="107696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abar"/>
          <p:cNvSpPr/>
          <p:nvPr/>
        </p:nvSpPr>
        <p:spPr>
          <a:xfrm>
            <a:off x="711200" y="1244600"/>
            <a:ext cx="812800" cy="381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tline"/>
          <p:cNvSpPr/>
          <p:nvPr/>
        </p:nvSpPr>
        <p:spPr>
          <a:xfrm>
            <a:off x="1016000" y="2235200"/>
            <a:ext cx="10160000" cy="254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tn1"/>
          <p:cNvSpPr/>
          <p:nvPr/>
        </p:nvSpPr>
        <p:spPr>
          <a:xfrm>
            <a:off x="1562100" y="2159000"/>
            <a:ext cx="165100" cy="165100"/>
          </a:xfrm>
          <a:prstGeom prst="ellipse">
            <a:avLst/>
          </a:prstGeom>
          <a:solidFill>
            <a:srgbClr val="33506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ty1"/>
          <p:cNvSpPr txBox="1"/>
          <p:nvPr/>
        </p:nvSpPr>
        <p:spPr>
          <a:xfrm>
            <a:off x="889000" y="17780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noProof="1">
                <a:solidFill>
                  <a:srgbClr val="33506E"/>
                </a:solidFill>
                <a:latin typeface="MiSans"/>
                <a:ea typeface="MiSans"/>
              </a:rPr>
              <a:t>2006</a:t>
            </a:r>
            <a:endParaRPr lang="en-US" sz="1250" noProof="1"/>
          </a:p>
        </p:txBody>
      </p:sp>
      <p:sp>
        <p:nvSpPr>
          <p:cNvPr id="9" name="tn1n"/>
          <p:cNvSpPr txBox="1"/>
          <p:nvPr/>
        </p:nvSpPr>
        <p:spPr>
          <a:xfrm>
            <a:off x="762000" y="2463800"/>
            <a:ext cx="1778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noProof="1">
                <a:solidFill>
                  <a:srgbClr val="0B2440"/>
                </a:solidFill>
                <a:latin typeface="MiSans"/>
                <a:ea typeface="MiSans"/>
              </a:rPr>
              <a:t>Tesla</a:t>
            </a:r>
            <a:endParaRPr lang="en-US" sz="1250" noProof="1"/>
          </a:p>
        </p:txBody>
      </p:sp>
      <p:sp>
        <p:nvSpPr>
          <p:cNvPr id="10" name="td1"/>
          <p:cNvSpPr txBox="1"/>
          <p:nvPr/>
        </p:nvSpPr>
        <p:spPr>
          <a:xfrm>
            <a:off x="762000" y="2692400"/>
            <a:ext cx="1778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000" noProof="1">
                <a:solidFill>
                  <a:srgbClr val="6B7A8C"/>
                </a:solidFill>
                <a:latin typeface="MiSans"/>
                <a:ea typeface="MiSans"/>
              </a:rPr>
              <a:t>首个 CUDA 架构</a:t>
            </a:r>
            <a:endParaRPr lang="en-US" sz="1000" noProof="1"/>
          </a:p>
        </p:txBody>
      </p:sp>
      <p:sp>
        <p:nvSpPr>
          <p:cNvPr id="11" name="tn2"/>
          <p:cNvSpPr/>
          <p:nvPr/>
        </p:nvSpPr>
        <p:spPr>
          <a:xfrm>
            <a:off x="3340100" y="2159000"/>
            <a:ext cx="165100" cy="165100"/>
          </a:xfrm>
          <a:prstGeom prst="ellipse">
            <a:avLst/>
          </a:prstGeom>
          <a:solidFill>
            <a:srgbClr val="33506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ty2"/>
          <p:cNvSpPr txBox="1"/>
          <p:nvPr/>
        </p:nvSpPr>
        <p:spPr>
          <a:xfrm>
            <a:off x="2667000" y="17780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noProof="1">
                <a:solidFill>
                  <a:srgbClr val="33506E"/>
                </a:solidFill>
                <a:latin typeface="MiSans"/>
                <a:ea typeface="MiSans"/>
              </a:rPr>
              <a:t>2017</a:t>
            </a:r>
            <a:endParaRPr lang="en-US" sz="1250" noProof="1"/>
          </a:p>
        </p:txBody>
      </p:sp>
      <p:sp>
        <p:nvSpPr>
          <p:cNvPr id="13" name="tn2n"/>
          <p:cNvSpPr txBox="1"/>
          <p:nvPr/>
        </p:nvSpPr>
        <p:spPr>
          <a:xfrm>
            <a:off x="2540000" y="2463800"/>
            <a:ext cx="1778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noProof="1">
                <a:solidFill>
                  <a:srgbClr val="0B2440"/>
                </a:solidFill>
                <a:latin typeface="MiSans"/>
                <a:ea typeface="MiSans"/>
              </a:rPr>
              <a:t>Volta</a:t>
            </a:r>
            <a:endParaRPr lang="en-US" sz="1250" noProof="1"/>
          </a:p>
        </p:txBody>
      </p:sp>
      <p:sp>
        <p:nvSpPr>
          <p:cNvPr id="14" name="td2"/>
          <p:cNvSpPr txBox="1"/>
          <p:nvPr/>
        </p:nvSpPr>
        <p:spPr>
          <a:xfrm>
            <a:off x="2540000" y="2692400"/>
            <a:ext cx="1778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000" noProof="1">
                <a:solidFill>
                  <a:srgbClr val="6B7A8C"/>
                </a:solidFill>
                <a:latin typeface="MiSans"/>
                <a:ea typeface="MiSans"/>
              </a:rPr>
              <a:t>Tensor Core——AI 专用计算单元</a:t>
            </a:r>
            <a:endParaRPr lang="en-US" sz="1000" noProof="1"/>
          </a:p>
        </p:txBody>
      </p:sp>
      <p:sp>
        <p:nvSpPr>
          <p:cNvPr id="15" name="tn3"/>
          <p:cNvSpPr/>
          <p:nvPr/>
        </p:nvSpPr>
        <p:spPr>
          <a:xfrm>
            <a:off x="5118100" y="2159000"/>
            <a:ext cx="165100" cy="165100"/>
          </a:xfrm>
          <a:prstGeom prst="ellipse">
            <a:avLst/>
          </a:prstGeom>
          <a:solidFill>
            <a:srgbClr val="33506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ty3"/>
          <p:cNvSpPr txBox="1"/>
          <p:nvPr/>
        </p:nvSpPr>
        <p:spPr>
          <a:xfrm>
            <a:off x="4445000" y="17780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noProof="1">
                <a:solidFill>
                  <a:srgbClr val="33506E"/>
                </a:solidFill>
                <a:latin typeface="MiSans"/>
                <a:ea typeface="MiSans"/>
              </a:rPr>
              <a:t>2020</a:t>
            </a:r>
            <a:endParaRPr lang="en-US" sz="1250" noProof="1"/>
          </a:p>
        </p:txBody>
      </p:sp>
      <p:sp>
        <p:nvSpPr>
          <p:cNvPr id="17" name="tn3n"/>
          <p:cNvSpPr txBox="1"/>
          <p:nvPr/>
        </p:nvSpPr>
        <p:spPr>
          <a:xfrm>
            <a:off x="4318000" y="2463800"/>
            <a:ext cx="1778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noProof="1">
                <a:solidFill>
                  <a:srgbClr val="0B2440"/>
                </a:solidFill>
                <a:latin typeface="MiSans"/>
                <a:ea typeface="MiSans"/>
              </a:rPr>
              <a:t>Ampere</a:t>
            </a:r>
            <a:endParaRPr lang="en-US" sz="1250" noProof="1"/>
          </a:p>
        </p:txBody>
      </p:sp>
      <p:sp>
        <p:nvSpPr>
          <p:cNvPr id="18" name="td3"/>
          <p:cNvSpPr txBox="1"/>
          <p:nvPr/>
        </p:nvSpPr>
        <p:spPr>
          <a:xfrm>
            <a:off x="4318000" y="2692400"/>
            <a:ext cx="1778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000" noProof="1">
                <a:solidFill>
                  <a:srgbClr val="6B7A8C"/>
                </a:solidFill>
                <a:latin typeface="MiSans"/>
                <a:ea typeface="MiSans"/>
              </a:rPr>
              <a:t>第三代 Tensor Core</a:t>
            </a:r>
            <a:endParaRPr lang="en-US" sz="1000" noProof="1"/>
          </a:p>
        </p:txBody>
      </p:sp>
      <p:sp>
        <p:nvSpPr>
          <p:cNvPr id="19" name="tn4"/>
          <p:cNvSpPr/>
          <p:nvPr/>
        </p:nvSpPr>
        <p:spPr>
          <a:xfrm>
            <a:off x="6896100" y="2159000"/>
            <a:ext cx="165100" cy="165100"/>
          </a:xfrm>
          <a:prstGeom prst="ellipse">
            <a:avLst/>
          </a:prstGeom>
          <a:solidFill>
            <a:srgbClr val="33506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ty4"/>
          <p:cNvSpPr txBox="1"/>
          <p:nvPr/>
        </p:nvSpPr>
        <p:spPr>
          <a:xfrm>
            <a:off x="6223000" y="17780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noProof="1">
                <a:solidFill>
                  <a:srgbClr val="33506E"/>
                </a:solidFill>
                <a:latin typeface="MiSans"/>
                <a:ea typeface="MiSans"/>
              </a:rPr>
              <a:t>2022</a:t>
            </a:r>
            <a:endParaRPr lang="en-US" sz="1250" noProof="1"/>
          </a:p>
        </p:txBody>
      </p:sp>
      <p:sp>
        <p:nvSpPr>
          <p:cNvPr id="21" name="tn4n"/>
          <p:cNvSpPr txBox="1"/>
          <p:nvPr/>
        </p:nvSpPr>
        <p:spPr>
          <a:xfrm>
            <a:off x="6096000" y="2463800"/>
            <a:ext cx="1778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noProof="1">
                <a:solidFill>
                  <a:srgbClr val="0B2440"/>
                </a:solidFill>
                <a:latin typeface="MiSans"/>
                <a:ea typeface="MiSans"/>
              </a:rPr>
              <a:t>Hopper</a:t>
            </a:r>
            <a:endParaRPr lang="en-US" sz="1250" noProof="1"/>
          </a:p>
        </p:txBody>
      </p:sp>
      <p:sp>
        <p:nvSpPr>
          <p:cNvPr id="22" name="td4"/>
          <p:cNvSpPr txBox="1"/>
          <p:nvPr/>
        </p:nvSpPr>
        <p:spPr>
          <a:xfrm>
            <a:off x="6096000" y="2692400"/>
            <a:ext cx="1778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000" noProof="1">
                <a:solidFill>
                  <a:srgbClr val="6B7A8C"/>
                </a:solidFill>
                <a:latin typeface="MiSans"/>
                <a:ea typeface="MiSans"/>
              </a:rPr>
              <a:t>Transformer 引擎、FP8</a:t>
            </a:r>
            <a:endParaRPr lang="en-US" sz="1000" noProof="1"/>
          </a:p>
        </p:txBody>
      </p:sp>
      <p:sp>
        <p:nvSpPr>
          <p:cNvPr id="23" name="tn5"/>
          <p:cNvSpPr/>
          <p:nvPr/>
        </p:nvSpPr>
        <p:spPr>
          <a:xfrm>
            <a:off x="8636000" y="2120900"/>
            <a:ext cx="241300" cy="241300"/>
          </a:xfrm>
          <a:prstGeom prst="ellipse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ty5"/>
          <p:cNvSpPr txBox="1"/>
          <p:nvPr/>
        </p:nvSpPr>
        <p:spPr>
          <a:xfrm>
            <a:off x="8001000" y="17526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F07D0A"/>
                </a:solidFill>
                <a:latin typeface="MiSans"/>
                <a:ea typeface="MiSans"/>
              </a:rPr>
              <a:t>2024–25</a:t>
            </a:r>
            <a:endParaRPr lang="en-US" sz="1300" noProof="1"/>
          </a:p>
        </p:txBody>
      </p:sp>
      <p:sp>
        <p:nvSpPr>
          <p:cNvPr id="25" name="tn5n"/>
          <p:cNvSpPr txBox="1"/>
          <p:nvPr/>
        </p:nvSpPr>
        <p:spPr>
          <a:xfrm>
            <a:off x="7874000" y="2463800"/>
            <a:ext cx="1778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noProof="1">
                <a:solidFill>
                  <a:srgbClr val="0B2440"/>
                </a:solidFill>
                <a:latin typeface="MiSans"/>
                <a:ea typeface="MiSans"/>
              </a:rPr>
              <a:t>Blackwell</a:t>
            </a:r>
            <a:endParaRPr lang="en-US" sz="1250" noProof="1"/>
          </a:p>
        </p:txBody>
      </p:sp>
      <p:sp>
        <p:nvSpPr>
          <p:cNvPr id="26" name="td5"/>
          <p:cNvSpPr txBox="1"/>
          <p:nvPr/>
        </p:nvSpPr>
        <p:spPr>
          <a:xfrm>
            <a:off x="7874000" y="2692400"/>
            <a:ext cx="1778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000" b="1" noProof="1">
                <a:solidFill>
                  <a:srgbClr val="0B2440"/>
                </a:solidFill>
                <a:latin typeface="MiSans"/>
                <a:ea typeface="MiSans"/>
              </a:rPr>
              <a:t>FP4、NVLink-C2C</a:t>
            </a:r>
            <a:endParaRPr lang="en-US" sz="1000" noProof="1"/>
          </a:p>
        </p:txBody>
      </p:sp>
      <p:sp>
        <p:nvSpPr>
          <p:cNvPr id="27" name="tn6"/>
          <p:cNvSpPr/>
          <p:nvPr/>
        </p:nvSpPr>
        <p:spPr>
          <a:xfrm>
            <a:off x="10452100" y="2159000"/>
            <a:ext cx="165100" cy="165100"/>
          </a:xfrm>
          <a:prstGeom prst="ellipse">
            <a:avLst/>
          </a:prstGeom>
          <a:solidFill>
            <a:srgbClr val="6B7A8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" name="ty6"/>
          <p:cNvSpPr txBox="1"/>
          <p:nvPr/>
        </p:nvSpPr>
        <p:spPr>
          <a:xfrm>
            <a:off x="9779000" y="17780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noProof="1">
                <a:solidFill>
                  <a:srgbClr val="6B7A8C"/>
                </a:solidFill>
                <a:latin typeface="MiSans"/>
                <a:ea typeface="MiSans"/>
              </a:rPr>
              <a:t>2026–27</a:t>
            </a:r>
            <a:endParaRPr lang="en-US" sz="1250" noProof="1"/>
          </a:p>
        </p:txBody>
      </p:sp>
      <p:sp>
        <p:nvSpPr>
          <p:cNvPr id="29" name="tn6n"/>
          <p:cNvSpPr txBox="1"/>
          <p:nvPr/>
        </p:nvSpPr>
        <p:spPr>
          <a:xfrm>
            <a:off x="9652000" y="2463800"/>
            <a:ext cx="1778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noProof="1">
                <a:solidFill>
                  <a:srgbClr val="0B2440"/>
                </a:solidFill>
                <a:latin typeface="MiSans"/>
                <a:ea typeface="MiSans"/>
              </a:rPr>
              <a:t>Rubin</a:t>
            </a:r>
            <a:endParaRPr lang="en-US" sz="1250" noProof="1"/>
          </a:p>
        </p:txBody>
      </p:sp>
      <p:sp>
        <p:nvSpPr>
          <p:cNvPr id="30" name="td6"/>
          <p:cNvSpPr txBox="1"/>
          <p:nvPr/>
        </p:nvSpPr>
        <p:spPr>
          <a:xfrm>
            <a:off x="9652000" y="2692400"/>
            <a:ext cx="1778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000" noProof="1">
                <a:solidFill>
                  <a:srgbClr val="6B7A8C"/>
                </a:solidFill>
                <a:latin typeface="MiSans"/>
                <a:ea typeface="MiSans"/>
              </a:rPr>
              <a:t>下一代（预告）</a:t>
            </a:r>
            <a:endParaRPr lang="en-US" sz="1000" noProof="1"/>
          </a:p>
        </p:txBody>
      </p:sp>
      <p:sp>
        <p:nvSpPr>
          <p:cNvPr id="31" name="lawh"/>
          <p:cNvSpPr txBox="1"/>
          <p:nvPr/>
        </p:nvSpPr>
        <p:spPr>
          <a:xfrm>
            <a:off x="711200" y="34036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50" b="1" noProof="1">
                <a:solidFill>
                  <a:srgbClr val="0B2440"/>
                </a:solidFill>
                <a:latin typeface="MiSans"/>
                <a:ea typeface="MiSans"/>
              </a:rPr>
              <a:t>规律：三个维度同时进化，每代成本约减半</a:t>
            </a:r>
            <a:endParaRPr lang="en-US" sz="1350" noProof="1"/>
          </a:p>
        </p:txBody>
      </p:sp>
      <p:sp>
        <p:nvSpPr>
          <p:cNvPr id="32" name="law"/>
          <p:cNvSpPr txBox="1"/>
          <p:nvPr/>
        </p:nvSpPr>
        <p:spPr>
          <a:xfrm>
            <a:off x="711200" y="3708400"/>
            <a:ext cx="5334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计算密度提升 ＋ 精度降低（FP16→FP8→FP4）＋ 带宽提升</a:t>
            </a:r>
            <a:endParaRPr lang="en-US" sz="1350" noProof="1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350" noProof="1">
                <a:solidFill>
                  <a:srgbClr val="6B7A8C"/>
                </a:solidFill>
                <a:latin typeface="MiSans"/>
                <a:ea typeface="MiSans"/>
              </a:rPr>
              <a:t>右图为同等质量 token 的成本指数（示意）</a:t>
            </a:r>
            <a:endParaRPr lang="en-US" sz="1350" noProof="1"/>
          </a:p>
        </p:txBody>
      </p:sp>
      <p:sp>
        <p:nvSpPr>
          <p:cNvPr id="33" name="b1"/>
          <p:cNvSpPr/>
          <p:nvPr/>
        </p:nvSpPr>
        <p:spPr>
          <a:xfrm>
            <a:off x="7112000" y="4191000"/>
            <a:ext cx="889000" cy="1651000"/>
          </a:xfrm>
          <a:prstGeom prst="rect">
            <a:avLst/>
          </a:prstGeom>
          <a:solidFill>
            <a:srgbClr val="0B24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" name="b1l"/>
          <p:cNvSpPr txBox="1"/>
          <p:nvPr/>
        </p:nvSpPr>
        <p:spPr>
          <a:xfrm>
            <a:off x="7112000" y="3937000"/>
            <a:ext cx="889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noProof="1">
                <a:solidFill>
                  <a:srgbClr val="0B2440"/>
                </a:solidFill>
                <a:latin typeface="MiSans"/>
                <a:ea typeface="MiSans"/>
              </a:rPr>
              <a:t>100</a:t>
            </a:r>
            <a:endParaRPr lang="en-US" sz="1100" noProof="1"/>
          </a:p>
        </p:txBody>
      </p:sp>
      <p:sp>
        <p:nvSpPr>
          <p:cNvPr id="35" name="b2"/>
          <p:cNvSpPr/>
          <p:nvPr/>
        </p:nvSpPr>
        <p:spPr>
          <a:xfrm>
            <a:off x="8255000" y="5016500"/>
            <a:ext cx="889000" cy="825500"/>
          </a:xfrm>
          <a:prstGeom prst="rect">
            <a:avLst/>
          </a:prstGeom>
          <a:solidFill>
            <a:srgbClr val="33506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6" name="b2l"/>
          <p:cNvSpPr txBox="1"/>
          <p:nvPr/>
        </p:nvSpPr>
        <p:spPr>
          <a:xfrm>
            <a:off x="8255000" y="4762500"/>
            <a:ext cx="889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noProof="1">
                <a:solidFill>
                  <a:srgbClr val="33506E"/>
                </a:solidFill>
                <a:latin typeface="MiSans"/>
                <a:ea typeface="MiSans"/>
              </a:rPr>
              <a:t>50</a:t>
            </a:r>
            <a:endParaRPr lang="en-US" sz="1100" noProof="1"/>
          </a:p>
        </p:txBody>
      </p:sp>
      <p:sp>
        <p:nvSpPr>
          <p:cNvPr id="37" name="b3"/>
          <p:cNvSpPr/>
          <p:nvPr/>
        </p:nvSpPr>
        <p:spPr>
          <a:xfrm>
            <a:off x="9398000" y="5435600"/>
            <a:ext cx="889000" cy="406400"/>
          </a:xfrm>
          <a:prstGeom prst="rect">
            <a:avLst/>
          </a:prstGeom>
          <a:solidFill>
            <a:srgbClr val="6B7A8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8" name="b3l"/>
          <p:cNvSpPr txBox="1"/>
          <p:nvPr/>
        </p:nvSpPr>
        <p:spPr>
          <a:xfrm>
            <a:off x="9398000" y="5181600"/>
            <a:ext cx="889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noProof="1">
                <a:solidFill>
                  <a:srgbClr val="6B7A8C"/>
                </a:solidFill>
                <a:latin typeface="MiSans"/>
                <a:ea typeface="MiSans"/>
              </a:rPr>
              <a:t>25</a:t>
            </a:r>
            <a:endParaRPr lang="en-US" sz="1100" noProof="1"/>
          </a:p>
        </p:txBody>
      </p:sp>
      <p:sp>
        <p:nvSpPr>
          <p:cNvPr id="39" name="b4"/>
          <p:cNvSpPr/>
          <p:nvPr/>
        </p:nvSpPr>
        <p:spPr>
          <a:xfrm>
            <a:off x="10541000" y="5638800"/>
            <a:ext cx="889000" cy="2032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" name="b4l"/>
          <p:cNvSpPr txBox="1"/>
          <p:nvPr/>
        </p:nvSpPr>
        <p:spPr>
          <a:xfrm>
            <a:off x="10541000" y="5384800"/>
            <a:ext cx="889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noProof="1">
                <a:solidFill>
                  <a:srgbClr val="F07D0A"/>
                </a:solidFill>
                <a:latin typeface="MiSans"/>
                <a:ea typeface="MiSans"/>
              </a:rPr>
              <a:t>12</a:t>
            </a:r>
            <a:endParaRPr lang="en-US" sz="1100" noProof="1"/>
          </a:p>
        </p:txBody>
      </p:sp>
      <p:sp>
        <p:nvSpPr>
          <p:cNvPr id="41" name="bcaps"/>
          <p:cNvSpPr txBox="1"/>
          <p:nvPr/>
        </p:nvSpPr>
        <p:spPr>
          <a:xfrm>
            <a:off x="7112000" y="5918200"/>
            <a:ext cx="43688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6B7A8C"/>
                </a:solidFill>
                <a:latin typeface="MiSans"/>
                <a:ea typeface="MiSans"/>
              </a:rPr>
              <a:t>每代架构 → 成本指数约减半</a:t>
            </a:r>
            <a:endParaRPr lang="en-US" sz="1000" noProof="1"/>
          </a:p>
        </p:txBody>
      </p:sp>
      <p:sp>
        <p:nvSpPr>
          <p:cNvPr id="42" name="fline"/>
          <p:cNvSpPr/>
          <p:nvPr/>
        </p:nvSpPr>
        <p:spPr>
          <a:xfrm>
            <a:off x="711200" y="6477000"/>
            <a:ext cx="107696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3" name="fl"/>
          <p:cNvSpPr txBox="1"/>
          <p:nvPr/>
        </p:nvSpPr>
        <p:spPr>
          <a:xfrm>
            <a:off x="711200" y="65532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B7A8C"/>
                </a:solidFill>
                <a:latin typeface="MiSans"/>
                <a:ea typeface="MiSans"/>
              </a:rPr>
              <a:t>Token Factory · AI 推理的成本革命</a:t>
            </a:r>
            <a:endParaRPr lang="en-US" sz="950" noProof="1"/>
          </a:p>
        </p:txBody>
      </p:sp>
      <p:sp>
        <p:nvSpPr>
          <p:cNvPr id="44" name="fr"/>
          <p:cNvSpPr txBox="1"/>
          <p:nvPr/>
        </p:nvSpPr>
        <p:spPr>
          <a:xfrm>
            <a:off x="10210800" y="65532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6B7A8C"/>
                </a:solidFill>
                <a:latin typeface="MiSans"/>
                <a:ea typeface="MiSans"/>
              </a:rPr>
              <a:t>13 / 40</a:t>
            </a:r>
            <a:endParaRPr lang="en-US" sz="950" noProof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"/>
          <p:cNvSpPr txBox="1"/>
          <p:nvPr/>
        </p:nvSpPr>
        <p:spPr>
          <a:xfrm>
            <a:off x="711200" y="3810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F07D0A"/>
                </a:solidFill>
                <a:latin typeface="MiSans"/>
                <a:ea typeface="MiSans"/>
              </a:rPr>
              <a:t>第二层杠杆 · 硬件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350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600" b="1" noProof="1">
                <a:solidFill>
                  <a:srgbClr val="0B2440"/>
                </a:solidFill>
                <a:latin typeface="MiSans"/>
                <a:ea typeface="MiSans"/>
              </a:rPr>
              <a:t>Blackwell：每 token 硬件成本再降约 4 倍</a:t>
            </a:r>
            <a:endParaRPr lang="en-US" sz="2600" noProof="1"/>
          </a:p>
        </p:txBody>
      </p:sp>
      <p:sp>
        <p:nvSpPr>
          <p:cNvPr id="4" name="rule"/>
          <p:cNvSpPr/>
          <p:nvPr/>
        </p:nvSpPr>
        <p:spPr>
          <a:xfrm>
            <a:off x="711200" y="1270000"/>
            <a:ext cx="107696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abar"/>
          <p:cNvSpPr/>
          <p:nvPr/>
        </p:nvSpPr>
        <p:spPr>
          <a:xfrm>
            <a:off x="711200" y="1244600"/>
            <a:ext cx="812800" cy="381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i1n"/>
          <p:cNvSpPr txBox="1"/>
          <p:nvPr/>
        </p:nvSpPr>
        <p:spPr>
          <a:xfrm>
            <a:off x="711200" y="1625600"/>
            <a:ext cx="381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00" b="1" noProof="1">
                <a:solidFill>
                  <a:srgbClr val="F07D0A"/>
                </a:solidFill>
                <a:latin typeface="MiSans"/>
                <a:ea typeface="MiSans"/>
              </a:rPr>
              <a:t>1</a:t>
            </a:r>
            <a:endParaRPr lang="en-US" sz="1800" noProof="1"/>
          </a:p>
        </p:txBody>
      </p:sp>
      <p:sp>
        <p:nvSpPr>
          <p:cNvPr id="7" name="i1"/>
          <p:cNvSpPr txBox="1"/>
          <p:nvPr/>
        </p:nvSpPr>
        <p:spPr>
          <a:xfrm>
            <a:off x="1168400" y="1600200"/>
            <a:ext cx="51308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350" b="1" noProof="1">
                <a:solidFill>
                  <a:srgbClr val="23303E"/>
                </a:solidFill>
                <a:latin typeface="MiSans"/>
                <a:ea typeface="MiSans"/>
              </a:rPr>
              <a:t>FP4 精度（NVFP4）</a:t>
            </a:r>
            <a:endParaRPr lang="en-US" sz="1350" noProof="1"/>
          </a:p>
          <a:p>
            <a:pPr>
              <a:lnSpc>
                <a:spcPct val="155000"/>
              </a:lnSpc>
              <a:spcBef>
                <a:spcPts val="200"/>
              </a:spcBef>
            </a:pP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4-bit 打包，Tensor Core 内即时反量化；显存减半、吞吐翻倍。DeepSeek-V4、GLM-5.2 等 MoE 模型标配。</a:t>
            </a:r>
            <a:endParaRPr lang="en-US" sz="1350" noProof="1"/>
          </a:p>
        </p:txBody>
      </p:sp>
      <p:sp>
        <p:nvSpPr>
          <p:cNvPr id="8" name="i2n"/>
          <p:cNvSpPr txBox="1"/>
          <p:nvPr/>
        </p:nvSpPr>
        <p:spPr>
          <a:xfrm>
            <a:off x="711200" y="3022600"/>
            <a:ext cx="381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00" b="1" noProof="1">
                <a:solidFill>
                  <a:srgbClr val="F07D0A"/>
                </a:solidFill>
                <a:latin typeface="MiSans"/>
                <a:ea typeface="MiSans"/>
              </a:rPr>
              <a:t>2</a:t>
            </a:r>
            <a:endParaRPr lang="en-US" sz="1800" noProof="1"/>
          </a:p>
        </p:txBody>
      </p:sp>
      <p:sp>
        <p:nvSpPr>
          <p:cNvPr id="9" name="i2"/>
          <p:cNvSpPr txBox="1"/>
          <p:nvPr/>
        </p:nvSpPr>
        <p:spPr>
          <a:xfrm>
            <a:off x="1168400" y="2997200"/>
            <a:ext cx="51308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350" b="1" noProof="1">
                <a:solidFill>
                  <a:srgbClr val="23303E"/>
                </a:solidFill>
                <a:latin typeface="MiSans"/>
                <a:ea typeface="MiSans"/>
              </a:rPr>
              <a:t>NVLink-C2C（GB200）</a:t>
            </a:r>
            <a:endParaRPr lang="en-US" sz="1350" noProof="1"/>
          </a:p>
          <a:p>
            <a:pPr>
              <a:lnSpc>
                <a:spcPct val="155000"/>
              </a:lnSpc>
              <a:spcBef>
                <a:spcPts val="200"/>
              </a:spcBef>
            </a:pP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CPU-GPU 一体化，1.8 TB/s 双向带宽；显存不够时从 CPU 内存异步加载权重——“权重卸载”成为现实。</a:t>
            </a:r>
            <a:endParaRPr lang="en-US" sz="1350" noProof="1"/>
          </a:p>
        </p:txBody>
      </p:sp>
      <p:sp>
        <p:nvSpPr>
          <p:cNvPr id="10" name="i3n"/>
          <p:cNvSpPr txBox="1"/>
          <p:nvPr/>
        </p:nvSpPr>
        <p:spPr>
          <a:xfrm>
            <a:off x="711200" y="4419600"/>
            <a:ext cx="381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00" b="1" noProof="1">
                <a:solidFill>
                  <a:srgbClr val="F07D0A"/>
                </a:solidFill>
                <a:latin typeface="MiSans"/>
                <a:ea typeface="MiSans"/>
              </a:rPr>
              <a:t>3</a:t>
            </a:r>
            <a:endParaRPr lang="en-US" sz="1800" noProof="1"/>
          </a:p>
        </p:txBody>
      </p:sp>
      <p:sp>
        <p:nvSpPr>
          <p:cNvPr id="11" name="i3"/>
          <p:cNvSpPr txBox="1"/>
          <p:nvPr/>
        </p:nvSpPr>
        <p:spPr>
          <a:xfrm>
            <a:off x="1168400" y="4394200"/>
            <a:ext cx="51308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350" b="1" noProof="1">
                <a:solidFill>
                  <a:srgbClr val="23303E"/>
                </a:solidFill>
                <a:latin typeface="MiSans"/>
                <a:ea typeface="MiSans"/>
              </a:rPr>
              <a:t>HBM3e 8 TB/s</a:t>
            </a:r>
            <a:endParaRPr lang="en-US" sz="1350" noProof="1"/>
          </a:p>
          <a:p>
            <a:pPr>
              <a:lnSpc>
                <a:spcPct val="155000"/>
              </a:lnSpc>
              <a:spcBef>
                <a:spcPts val="200"/>
              </a:spcBef>
            </a:pP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显存带宽较 H100 翻倍还多。</a:t>
            </a:r>
            <a:endParaRPr lang="en-US" sz="1350" noProof="1"/>
          </a:p>
        </p:txBody>
      </p:sp>
      <p:sp>
        <p:nvSpPr>
          <p:cNvPr id="12" name="q"/>
          <p:cNvSpPr txBox="1"/>
          <p:nvPr/>
        </p:nvSpPr>
        <p:spPr>
          <a:xfrm>
            <a:off x="711200" y="5461000"/>
            <a:ext cx="5588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50" b="1" noProof="1">
                <a:solidFill>
                  <a:srgbClr val="F07D0A"/>
                </a:solidFill>
                <a:latin typeface="MiSans"/>
                <a:ea typeface="MiSans"/>
              </a:rPr>
              <a:t>思考</a:t>
            </a:r>
            <a:r>
              <a:rPr lang="en-US" sz="1250" noProof="1">
                <a:solidFill>
                  <a:srgbClr val="6B7A8C"/>
                </a:solidFill>
                <a:latin typeface="MiSans"/>
                <a:ea typeface="MiSans"/>
              </a:rPr>
              <a:t>：同样的模型，为什么换一代 GPU，成本能便宜 4 倍？</a:t>
            </a:r>
            <a:endParaRPr lang="en-US" sz="1250" noProof="1"/>
          </a:p>
        </p:txBody>
      </p:sp>
      <p:graphicFrame>
        <p:nvGraphicFramePr>
          <p:cNvPr id="13" name="chart"/>
          <p:cNvGraphicFramePr/>
          <p:nvPr/>
        </p:nvGraphicFramePr>
        <p:xfrm>
          <a:off x="6604000" y="1600200"/>
          <a:ext cx="4876800" cy="279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" name="st1n"/>
          <p:cNvSpPr txBox="1"/>
          <p:nvPr/>
        </p:nvSpPr>
        <p:spPr>
          <a:xfrm>
            <a:off x="6604000" y="4597400"/>
            <a:ext cx="127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400" b="1" noProof="1">
                <a:solidFill>
                  <a:srgbClr val="F07D0A"/>
                </a:solidFill>
                <a:latin typeface="MiSans"/>
                <a:ea typeface="MiSans"/>
              </a:rPr>
              <a:t>4.6×</a:t>
            </a:r>
            <a:endParaRPr lang="en-US" sz="2400" noProof="1"/>
          </a:p>
        </p:txBody>
      </p:sp>
      <p:sp>
        <p:nvSpPr>
          <p:cNvPr id="15" name="st1l"/>
          <p:cNvSpPr txBox="1"/>
          <p:nvPr/>
        </p:nvSpPr>
        <p:spPr>
          <a:xfrm>
            <a:off x="7975600" y="4648200"/>
            <a:ext cx="35052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23303E"/>
                </a:solidFill>
                <a:latin typeface="MiSans"/>
                <a:ea typeface="MiSans"/>
              </a:rPr>
              <a:t>解码吞吐：2.2K → 10.1K tok/s</a:t>
            </a:r>
            <a:endParaRPr lang="en-US" sz="1200" noProof="1"/>
          </a:p>
        </p:txBody>
      </p:sp>
      <p:sp>
        <p:nvSpPr>
          <p:cNvPr id="16" name="st2n"/>
          <p:cNvSpPr txBox="1"/>
          <p:nvPr/>
        </p:nvSpPr>
        <p:spPr>
          <a:xfrm>
            <a:off x="6604000" y="5080000"/>
            <a:ext cx="127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400" b="1" noProof="1">
                <a:solidFill>
                  <a:srgbClr val="F07D0A"/>
                </a:solidFill>
                <a:latin typeface="MiSans"/>
                <a:ea typeface="MiSans"/>
              </a:rPr>
              <a:t>32→8</a:t>
            </a:r>
            <a:endParaRPr lang="en-US" sz="2400" noProof="1"/>
          </a:p>
        </p:txBody>
      </p:sp>
      <p:sp>
        <p:nvSpPr>
          <p:cNvPr id="17" name="st2l"/>
          <p:cNvSpPr txBox="1"/>
          <p:nvPr/>
        </p:nvSpPr>
        <p:spPr>
          <a:xfrm>
            <a:off x="7975600" y="5130800"/>
            <a:ext cx="35052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23303E"/>
                </a:solidFill>
                <a:latin typeface="MiSans"/>
                <a:ea typeface="MiSans"/>
              </a:rPr>
              <a:t>相同负载所需 Decode 卡数</a:t>
            </a:r>
            <a:endParaRPr lang="en-US" sz="1200" noProof="1"/>
          </a:p>
        </p:txBody>
      </p:sp>
      <p:sp>
        <p:nvSpPr>
          <p:cNvPr id="18" name="st3n"/>
          <p:cNvSpPr txBox="1"/>
          <p:nvPr/>
        </p:nvSpPr>
        <p:spPr>
          <a:xfrm>
            <a:off x="6604000" y="5562600"/>
            <a:ext cx="127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400" b="1" noProof="1">
                <a:solidFill>
                  <a:srgbClr val="F07D0A"/>
                </a:solidFill>
                <a:latin typeface="MiSans"/>
                <a:ea typeface="MiSans"/>
              </a:rPr>
              <a:t>约 4×</a:t>
            </a:r>
            <a:endParaRPr lang="en-US" sz="2400" noProof="1"/>
          </a:p>
        </p:txBody>
      </p:sp>
      <p:sp>
        <p:nvSpPr>
          <p:cNvPr id="19" name="st3l"/>
          <p:cNvSpPr txBox="1"/>
          <p:nvPr/>
        </p:nvSpPr>
        <p:spPr>
          <a:xfrm>
            <a:off x="7975600" y="5613400"/>
            <a:ext cx="35052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23303E"/>
                </a:solidFill>
                <a:latin typeface="MiSans"/>
                <a:ea typeface="MiSans"/>
              </a:rPr>
              <a:t>每 token 硬件成本降幅</a:t>
            </a:r>
            <a:endParaRPr lang="en-US" sz="1200" noProof="1"/>
          </a:p>
        </p:txBody>
      </p:sp>
      <p:sp>
        <p:nvSpPr>
          <p:cNvPr id="20" name="src"/>
          <p:cNvSpPr txBox="1"/>
          <p:nvPr/>
        </p:nvSpPr>
        <p:spPr>
          <a:xfrm>
            <a:off x="6604000" y="6019800"/>
            <a:ext cx="48768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B7A8C"/>
                </a:solidFill>
                <a:latin typeface="MiSans"/>
                <a:ea typeface="MiSans"/>
              </a:rPr>
              <a:t>来源：厂商公开实测数据（DeepSeek-V3 on GB200），演讲材料整理</a:t>
            </a:r>
            <a:endParaRPr lang="en-US" sz="950" noProof="1"/>
          </a:p>
        </p:txBody>
      </p:sp>
      <p:sp>
        <p:nvSpPr>
          <p:cNvPr id="21" name="fline"/>
          <p:cNvSpPr/>
          <p:nvPr/>
        </p:nvSpPr>
        <p:spPr>
          <a:xfrm>
            <a:off x="711200" y="6477000"/>
            <a:ext cx="107696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fl"/>
          <p:cNvSpPr txBox="1"/>
          <p:nvPr/>
        </p:nvSpPr>
        <p:spPr>
          <a:xfrm>
            <a:off x="711200" y="65532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B7A8C"/>
                </a:solidFill>
                <a:latin typeface="MiSans"/>
                <a:ea typeface="MiSans"/>
              </a:rPr>
              <a:t>Token Factory · AI 推理的成本革命</a:t>
            </a:r>
            <a:endParaRPr lang="en-US" sz="950" noProof="1"/>
          </a:p>
        </p:txBody>
      </p:sp>
      <p:sp>
        <p:nvSpPr>
          <p:cNvPr id="23" name="fr"/>
          <p:cNvSpPr txBox="1"/>
          <p:nvPr/>
        </p:nvSpPr>
        <p:spPr>
          <a:xfrm>
            <a:off x="10210800" y="65532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6B7A8C"/>
                </a:solidFill>
                <a:latin typeface="MiSans"/>
                <a:ea typeface="MiSans"/>
              </a:rPr>
              <a:t>14 / 40</a:t>
            </a:r>
            <a:endParaRPr lang="en-US" sz="950" noProof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"/>
          <p:cNvSpPr txBox="1"/>
          <p:nvPr/>
        </p:nvSpPr>
        <p:spPr>
          <a:xfrm>
            <a:off x="711200" y="3810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F07D0A"/>
                </a:solidFill>
                <a:latin typeface="MiSans"/>
                <a:ea typeface="MiSans"/>
              </a:rPr>
              <a:t>第二层杠杆 · 硬件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350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600" b="1" noProof="1">
                <a:solidFill>
                  <a:srgbClr val="0B2440"/>
                </a:solidFill>
                <a:latin typeface="MiSans"/>
                <a:ea typeface="MiSans"/>
              </a:rPr>
              <a:t>CUDA：token 工厂的操作系统</a:t>
            </a:r>
            <a:endParaRPr lang="en-US" sz="2600" noProof="1"/>
          </a:p>
        </p:txBody>
      </p:sp>
      <p:sp>
        <p:nvSpPr>
          <p:cNvPr id="4" name="rule"/>
          <p:cNvSpPr/>
          <p:nvPr/>
        </p:nvSpPr>
        <p:spPr>
          <a:xfrm>
            <a:off x="711200" y="1270000"/>
            <a:ext cx="107696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abar"/>
          <p:cNvSpPr/>
          <p:nvPr/>
        </p:nvSpPr>
        <p:spPr>
          <a:xfrm>
            <a:off x="711200" y="1244600"/>
            <a:ext cx="812800" cy="381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what"/>
          <p:cNvSpPr txBox="1"/>
          <p:nvPr/>
        </p:nvSpPr>
        <p:spPr>
          <a:xfrm>
            <a:off x="711200" y="1600200"/>
            <a:ext cx="53340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350" b="1" noProof="1">
                <a:solidFill>
                  <a:srgbClr val="23303E"/>
                </a:solidFill>
                <a:latin typeface="MiSans"/>
                <a:ea typeface="MiSans"/>
              </a:rPr>
              <a:t>CUDA 是什么</a:t>
            </a:r>
            <a:endParaRPr lang="en-US" sz="1350" noProof="1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NVIDIA 的编程平台：让开发者直接指挥 GPU 的数千个核心。</a:t>
            </a:r>
            <a:endParaRPr lang="en-US" sz="1350" noProof="1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所有 AI 框架（PyTorch、vLLM、SGLang）底层都跑在 CUDA 上。</a:t>
            </a:r>
            <a:endParaRPr lang="en-US" sz="1350" noProof="1"/>
          </a:p>
        </p:txBody>
      </p:sp>
      <p:sp>
        <p:nvSpPr>
          <p:cNvPr id="7" name="model"/>
          <p:cNvSpPr txBox="1"/>
          <p:nvPr/>
        </p:nvSpPr>
        <p:spPr>
          <a:xfrm>
            <a:off x="711200" y="3149600"/>
            <a:ext cx="5334000" cy="279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350" b="1" noProof="1">
                <a:solidFill>
                  <a:srgbClr val="23303E"/>
                </a:solidFill>
                <a:latin typeface="MiSans"/>
                <a:ea typeface="MiSans"/>
              </a:rPr>
              <a:t>编程模型</a:t>
            </a:r>
            <a:endParaRPr lang="en-US" sz="1350" noProof="1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350" b="1" noProof="1">
                <a:solidFill>
                  <a:srgbClr val="23303E"/>
                </a:solidFill>
                <a:latin typeface="MiSans"/>
                <a:ea typeface="MiSans"/>
              </a:rPr>
              <a:t>Host-Device</a:t>
            </a: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：CPU 负责指挥，GPU 负责计算，数据经 PCIe / NVLink 传输</a:t>
            </a:r>
            <a:endParaRPr lang="en-US" sz="135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350" b="1" noProof="1">
                <a:solidFill>
                  <a:srgbClr val="23303E"/>
                </a:solidFill>
                <a:latin typeface="MiSans"/>
                <a:ea typeface="MiSans"/>
              </a:rPr>
              <a:t>Kernel</a:t>
            </a: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：一段在 GPU 上并行执行的函数，用 &lt;&lt;&lt;grid, block&gt;&gt;&gt; 配置启动</a:t>
            </a:r>
            <a:endParaRPr lang="en-US" sz="135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350" b="1" noProof="1">
                <a:solidFill>
                  <a:srgbClr val="23303E"/>
                </a:solidFill>
                <a:latin typeface="MiSans"/>
                <a:ea typeface="MiSans"/>
              </a:rPr>
              <a:t>线程层次</a:t>
            </a: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：Grid → Block → Warp（32 线程）→ Thread；GPU 一次调度一个 Warp</a:t>
            </a:r>
            <a:endParaRPr lang="en-US" sz="135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350" b="1" noProof="1">
                <a:solidFill>
                  <a:srgbClr val="23303E"/>
                </a:solidFill>
                <a:latin typeface="MiSans"/>
                <a:ea typeface="MiSans"/>
              </a:rPr>
              <a:t>内存层次</a:t>
            </a: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：寄存器（最快）→ 共享内存 → 全局内存（大、慢）</a:t>
            </a:r>
            <a:endParaRPr lang="en-US" sz="1350" noProof="1"/>
          </a:p>
        </p:txBody>
      </p:sp>
      <p:sp>
        <p:nvSpPr>
          <p:cNvPr id="8" name="rh1"/>
          <p:cNvSpPr txBox="1"/>
          <p:nvPr/>
        </p:nvSpPr>
        <p:spPr>
          <a:xfrm>
            <a:off x="6858000" y="1600200"/>
            <a:ext cx="46228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6B7A8C"/>
                </a:solidFill>
                <a:latin typeface="MiSans"/>
                <a:ea typeface="MiSans"/>
              </a:rPr>
              <a:t>线程层次：层层嵌套</a:t>
            </a:r>
            <a:endParaRPr lang="en-US" sz="1150" noProof="1"/>
          </a:p>
        </p:txBody>
      </p:sp>
      <p:sp>
        <p:nvSpPr>
          <p:cNvPr id="9" name="grid"/>
          <p:cNvSpPr/>
          <p:nvPr/>
        </p:nvSpPr>
        <p:spPr>
          <a:xfrm>
            <a:off x="6858000" y="1879600"/>
            <a:ext cx="2794000" cy="1905000"/>
          </a:xfrm>
          <a:prstGeom prst="rect">
            <a:avLst/>
          </a:prstGeom>
          <a:solidFill>
            <a:srgbClr val="F3F6FA"/>
          </a:solidFill>
          <a:ln w="19050">
            <a:solidFill>
              <a:srgbClr val="0B244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gridlab"/>
          <p:cNvSpPr txBox="1"/>
          <p:nvPr/>
        </p:nvSpPr>
        <p:spPr>
          <a:xfrm>
            <a:off x="7010400" y="19304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noProof="1">
                <a:solidFill>
                  <a:srgbClr val="0B2440"/>
                </a:solidFill>
                <a:latin typeface="MiSans"/>
                <a:ea typeface="MiSans"/>
              </a:rPr>
              <a:t>Grid</a:t>
            </a:r>
            <a:endParaRPr lang="en-US" sz="1100" noProof="1"/>
          </a:p>
        </p:txBody>
      </p:sp>
      <p:sp>
        <p:nvSpPr>
          <p:cNvPr id="11" name="blk1"/>
          <p:cNvSpPr/>
          <p:nvPr/>
        </p:nvSpPr>
        <p:spPr>
          <a:xfrm>
            <a:off x="7010400" y="2235200"/>
            <a:ext cx="1143000" cy="127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33506E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blk1lab"/>
          <p:cNvSpPr txBox="1"/>
          <p:nvPr/>
        </p:nvSpPr>
        <p:spPr>
          <a:xfrm>
            <a:off x="7112000" y="2286000"/>
            <a:ext cx="9398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noProof="1">
                <a:solidFill>
                  <a:srgbClr val="33506E"/>
                </a:solidFill>
                <a:latin typeface="MiSans"/>
                <a:ea typeface="MiSans"/>
              </a:rPr>
              <a:t>Block</a:t>
            </a:r>
            <a:endParaRPr lang="en-US" sz="1000" noProof="1"/>
          </a:p>
        </p:txBody>
      </p:sp>
      <p:sp>
        <p:nvSpPr>
          <p:cNvPr id="13" name="warp"/>
          <p:cNvSpPr/>
          <p:nvPr/>
        </p:nvSpPr>
        <p:spPr>
          <a:xfrm>
            <a:off x="7112000" y="2540000"/>
            <a:ext cx="939800" cy="762000"/>
          </a:xfrm>
          <a:prstGeom prst="rect">
            <a:avLst/>
          </a:prstGeom>
          <a:solidFill>
            <a:srgbClr val="FDEBD7"/>
          </a:solidFill>
          <a:ln w="19050">
            <a:solidFill>
              <a:srgbClr val="F07D0A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warplab"/>
          <p:cNvSpPr txBox="1"/>
          <p:nvPr/>
        </p:nvSpPr>
        <p:spPr>
          <a:xfrm>
            <a:off x="7188200" y="2590800"/>
            <a:ext cx="7874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noProof="1">
                <a:solidFill>
                  <a:srgbClr val="F07D0A"/>
                </a:solidFill>
                <a:latin typeface="MiSans"/>
                <a:ea typeface="MiSans"/>
              </a:rPr>
              <a:t>Warp ×32</a:t>
            </a:r>
            <a:endParaRPr lang="en-US" sz="1000" noProof="1"/>
          </a:p>
        </p:txBody>
      </p:sp>
      <p:sp>
        <p:nvSpPr>
          <p:cNvPr id="15" name="thr1"/>
          <p:cNvSpPr/>
          <p:nvPr/>
        </p:nvSpPr>
        <p:spPr>
          <a:xfrm>
            <a:off x="7188200" y="2870200"/>
            <a:ext cx="127000" cy="1270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hr2"/>
          <p:cNvSpPr/>
          <p:nvPr/>
        </p:nvSpPr>
        <p:spPr>
          <a:xfrm>
            <a:off x="7366000" y="2870200"/>
            <a:ext cx="127000" cy="1270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hr3"/>
          <p:cNvSpPr/>
          <p:nvPr/>
        </p:nvSpPr>
        <p:spPr>
          <a:xfrm>
            <a:off x="7543800" y="2870200"/>
            <a:ext cx="127000" cy="1270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hr4"/>
          <p:cNvSpPr/>
          <p:nvPr/>
        </p:nvSpPr>
        <p:spPr>
          <a:xfrm>
            <a:off x="7721600" y="2870200"/>
            <a:ext cx="127000" cy="1270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hrlab"/>
          <p:cNvSpPr txBox="1"/>
          <p:nvPr/>
        </p:nvSpPr>
        <p:spPr>
          <a:xfrm>
            <a:off x="7188200" y="3073400"/>
            <a:ext cx="7874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6B7A8C"/>
                </a:solidFill>
                <a:latin typeface="MiSans"/>
                <a:ea typeface="MiSans"/>
              </a:rPr>
              <a:t>Thread…</a:t>
            </a:r>
            <a:endParaRPr lang="en-US" sz="900" noProof="1"/>
          </a:p>
        </p:txBody>
      </p:sp>
      <p:sp>
        <p:nvSpPr>
          <p:cNvPr id="20" name="blk2"/>
          <p:cNvSpPr/>
          <p:nvPr/>
        </p:nvSpPr>
        <p:spPr>
          <a:xfrm>
            <a:off x="8280400" y="2235200"/>
            <a:ext cx="1143000" cy="127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33506E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blk2lab"/>
          <p:cNvSpPr txBox="1"/>
          <p:nvPr/>
        </p:nvSpPr>
        <p:spPr>
          <a:xfrm>
            <a:off x="8382000" y="2286000"/>
            <a:ext cx="9398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noProof="1">
                <a:solidFill>
                  <a:srgbClr val="33506E"/>
                </a:solidFill>
                <a:latin typeface="MiSans"/>
                <a:ea typeface="MiSans"/>
              </a:rPr>
              <a:t>Block</a:t>
            </a:r>
            <a:endParaRPr lang="en-US" sz="1000" noProof="1"/>
          </a:p>
        </p:txBody>
      </p:sp>
      <p:sp>
        <p:nvSpPr>
          <p:cNvPr id="22" name="blk2dots"/>
          <p:cNvSpPr txBox="1"/>
          <p:nvPr/>
        </p:nvSpPr>
        <p:spPr>
          <a:xfrm>
            <a:off x="8280400" y="2667000"/>
            <a:ext cx="1143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>
                <a:solidFill>
                  <a:srgbClr val="6B7A8C"/>
                </a:solidFill>
                <a:latin typeface="MiSans"/>
                <a:ea typeface="MiSans"/>
              </a:rPr>
              <a:t>…</a:t>
            </a:r>
            <a:endParaRPr lang="en-US" sz="1400" noProof="1"/>
          </a:p>
        </p:txBody>
      </p:sp>
      <p:sp>
        <p:nvSpPr>
          <p:cNvPr id="23" name="rh2"/>
          <p:cNvSpPr txBox="1"/>
          <p:nvPr/>
        </p:nvSpPr>
        <p:spPr>
          <a:xfrm>
            <a:off x="9956800" y="1600200"/>
            <a:ext cx="1524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6B7A8C"/>
                </a:solidFill>
                <a:latin typeface="MiSans"/>
                <a:ea typeface="MiSans"/>
              </a:rPr>
              <a:t>内存层次</a:t>
            </a:r>
            <a:endParaRPr lang="en-US" sz="1150" noProof="1"/>
          </a:p>
        </p:txBody>
      </p:sp>
      <p:sp>
        <p:nvSpPr>
          <p:cNvPr id="24" name="mem1"/>
          <p:cNvSpPr/>
          <p:nvPr/>
        </p:nvSpPr>
        <p:spPr>
          <a:xfrm>
            <a:off x="10464800" y="1930400"/>
            <a:ext cx="1143000" cy="4318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mem1t"/>
          <p:cNvSpPr txBox="1"/>
          <p:nvPr/>
        </p:nvSpPr>
        <p:spPr>
          <a:xfrm>
            <a:off x="10464800" y="1930400"/>
            <a:ext cx="1143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b="1" noProof="1">
                <a:solidFill>
                  <a:srgbClr val="FFFFFF"/>
                </a:solidFill>
                <a:latin typeface="MiSans"/>
                <a:ea typeface="MiSans"/>
              </a:rPr>
              <a:t>寄存器 最快</a:t>
            </a:r>
            <a:endParaRPr lang="en-US" sz="1000" noProof="1"/>
          </a:p>
        </p:txBody>
      </p:sp>
      <p:sp>
        <p:nvSpPr>
          <p:cNvPr id="26" name="mem2"/>
          <p:cNvSpPr/>
          <p:nvPr/>
        </p:nvSpPr>
        <p:spPr>
          <a:xfrm>
            <a:off x="10210800" y="2463800"/>
            <a:ext cx="1651000" cy="431800"/>
          </a:xfrm>
          <a:prstGeom prst="rect">
            <a:avLst/>
          </a:prstGeom>
          <a:solidFill>
            <a:srgbClr val="33506E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mem2t"/>
          <p:cNvSpPr txBox="1"/>
          <p:nvPr/>
        </p:nvSpPr>
        <p:spPr>
          <a:xfrm>
            <a:off x="10210800" y="2463800"/>
            <a:ext cx="1651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b="1" noProof="1">
                <a:solidFill>
                  <a:srgbClr val="FFFFFF"/>
                </a:solidFill>
                <a:latin typeface="MiSans"/>
                <a:ea typeface="MiSans"/>
              </a:rPr>
              <a:t>共享内存 快</a:t>
            </a:r>
            <a:endParaRPr lang="en-US" sz="1000" noProof="1"/>
          </a:p>
        </p:txBody>
      </p:sp>
      <p:sp>
        <p:nvSpPr>
          <p:cNvPr id="28" name="mem3"/>
          <p:cNvSpPr/>
          <p:nvPr/>
        </p:nvSpPr>
        <p:spPr>
          <a:xfrm>
            <a:off x="9956800" y="2997200"/>
            <a:ext cx="2159000" cy="431800"/>
          </a:xfrm>
          <a:prstGeom prst="rect">
            <a:avLst/>
          </a:prstGeom>
          <a:solidFill>
            <a:srgbClr val="0B244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mem3t"/>
          <p:cNvSpPr txBox="1"/>
          <p:nvPr/>
        </p:nvSpPr>
        <p:spPr>
          <a:xfrm>
            <a:off x="9956800" y="2997200"/>
            <a:ext cx="2159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b="1" noProof="1">
                <a:solidFill>
                  <a:srgbClr val="FFFFFF"/>
                </a:solidFill>
                <a:latin typeface="MiSans"/>
                <a:ea typeface="MiSans"/>
              </a:rPr>
              <a:t>全局内存 大、慢</a:t>
            </a:r>
            <a:endParaRPr lang="en-US" sz="1000" noProof="1"/>
          </a:p>
        </p:txBody>
      </p:sp>
      <p:sp>
        <p:nvSpPr>
          <p:cNvPr id="30" name="memnote"/>
          <p:cNvSpPr txBox="1"/>
          <p:nvPr/>
        </p:nvSpPr>
        <p:spPr>
          <a:xfrm>
            <a:off x="9956800" y="3530600"/>
            <a:ext cx="1524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6B7A8C"/>
                </a:solidFill>
                <a:latin typeface="MiSans"/>
                <a:ea typeface="MiSans"/>
              </a:rPr>
              <a:t>优化＝让数据尽量留在快的层次</a:t>
            </a:r>
            <a:endParaRPr lang="en-US" sz="1000" noProof="1"/>
          </a:p>
        </p:txBody>
      </p:sp>
      <p:sp>
        <p:nvSpPr>
          <p:cNvPr id="31" name="note"/>
          <p:cNvSpPr/>
          <p:nvPr/>
        </p:nvSpPr>
        <p:spPr>
          <a:xfrm>
            <a:off x="6858000" y="4064000"/>
            <a:ext cx="4622800" cy="1651000"/>
          </a:xfrm>
          <a:prstGeom prst="rect">
            <a:avLst/>
          </a:prstGeom>
          <a:solidFill>
            <a:srgbClr val="F3F6FA"/>
          </a:solidFill>
          <a:ln w="12700">
            <a:solidFill>
              <a:srgbClr val="D9E1E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notet"/>
          <p:cNvSpPr txBox="1"/>
          <p:nvPr/>
        </p:nvSpPr>
        <p:spPr>
          <a:xfrm>
            <a:off x="7112000" y="4241800"/>
            <a:ext cx="4114800" cy="132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200" b="1" noProof="1">
                <a:solidFill>
                  <a:srgbClr val="23303E"/>
                </a:solidFill>
                <a:latin typeface="MiSans"/>
                <a:ea typeface="MiSans"/>
              </a:rPr>
              <a:t>为什么听众要关心 CUDA？</a:t>
            </a:r>
            <a:endParaRPr lang="en-US" sz="1200" noProof="1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200" noProof="1">
                <a:solidFill>
                  <a:srgbClr val="23303E"/>
                </a:solidFill>
                <a:latin typeface="MiSans"/>
                <a:ea typeface="MiSans"/>
              </a:rPr>
              <a:t>推理引擎里的每一个优化（KV Cache 分页、算子融合、投机解码），最终都是一段 CUDA kernel。</a:t>
            </a:r>
            <a:endParaRPr lang="en-US" sz="1200" noProof="1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200" noProof="1">
                <a:solidFill>
                  <a:srgbClr val="23303E"/>
                </a:solidFill>
                <a:latin typeface="MiSans"/>
                <a:ea typeface="MiSans"/>
              </a:rPr>
              <a:t>理解线程与内存层次，就理解了“GPU 为什么会被浪费”。</a:t>
            </a:r>
            <a:endParaRPr lang="en-US" sz="1200" noProof="1"/>
          </a:p>
        </p:txBody>
      </p:sp>
      <p:sp>
        <p:nvSpPr>
          <p:cNvPr id="33" name="fline"/>
          <p:cNvSpPr/>
          <p:nvPr/>
        </p:nvSpPr>
        <p:spPr>
          <a:xfrm>
            <a:off x="711200" y="6477000"/>
            <a:ext cx="107696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fl"/>
          <p:cNvSpPr txBox="1"/>
          <p:nvPr/>
        </p:nvSpPr>
        <p:spPr>
          <a:xfrm>
            <a:off x="711200" y="65532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B7A8C"/>
                </a:solidFill>
                <a:latin typeface="MiSans"/>
                <a:ea typeface="MiSans"/>
              </a:rPr>
              <a:t>Token Factory · AI 推理的成本革命</a:t>
            </a:r>
            <a:endParaRPr lang="en-US" sz="950" noProof="1"/>
          </a:p>
        </p:txBody>
      </p:sp>
      <p:sp>
        <p:nvSpPr>
          <p:cNvPr id="35" name="fr"/>
          <p:cNvSpPr txBox="1"/>
          <p:nvPr/>
        </p:nvSpPr>
        <p:spPr>
          <a:xfrm>
            <a:off x="10210800" y="65532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6B7A8C"/>
                </a:solidFill>
                <a:latin typeface="MiSans"/>
                <a:ea typeface="MiSans"/>
              </a:rPr>
              <a:t>15 / 40</a:t>
            </a:r>
            <a:endParaRPr lang="en-US" sz="950" noProof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"/>
          <p:cNvSpPr txBox="1"/>
          <p:nvPr/>
        </p:nvSpPr>
        <p:spPr>
          <a:xfrm>
            <a:off x="711200" y="3810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F07D0A"/>
                </a:solidFill>
                <a:latin typeface="MiSans"/>
                <a:ea typeface="MiSans"/>
              </a:rPr>
              <a:t>第二层杠杆 · 硬件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350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600" b="1" noProof="1">
                <a:solidFill>
                  <a:srgbClr val="0B2440"/>
                </a:solidFill>
                <a:latin typeface="MiSans"/>
                <a:ea typeface="MiSans"/>
              </a:rPr>
              <a:t>同样的硬件，软件优化差 135 倍</a:t>
            </a:r>
            <a:endParaRPr lang="en-US" sz="2600" noProof="1"/>
          </a:p>
        </p:txBody>
      </p:sp>
      <p:sp>
        <p:nvSpPr>
          <p:cNvPr id="4" name="rule"/>
          <p:cNvSpPr/>
          <p:nvPr/>
        </p:nvSpPr>
        <p:spPr>
          <a:xfrm>
            <a:off x="711200" y="1270000"/>
            <a:ext cx="107696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abar"/>
          <p:cNvSpPr/>
          <p:nvPr/>
        </p:nvSpPr>
        <p:spPr>
          <a:xfrm>
            <a:off x="711200" y="1244600"/>
            <a:ext cx="812800" cy="381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why"/>
          <p:cNvSpPr txBox="1"/>
          <p:nvPr/>
        </p:nvSpPr>
        <p:spPr>
          <a:xfrm>
            <a:off x="711200" y="1600200"/>
            <a:ext cx="5334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350" b="1" noProof="1">
                <a:solidFill>
                  <a:srgbClr val="23303E"/>
                </a:solidFill>
                <a:latin typeface="MiSans"/>
                <a:ea typeface="MiSans"/>
              </a:rPr>
              <a:t>为什么优化重要</a:t>
            </a: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：GPU 很贵，满载率直接决定每 token 成本；典型优化可把利用率从 30% 拉到 80%+。</a:t>
            </a:r>
            <a:endParaRPr lang="en-US" sz="1350" noProof="1"/>
          </a:p>
        </p:txBody>
      </p:sp>
      <p:sp>
        <p:nvSpPr>
          <p:cNvPr id="7" name="tips"/>
          <p:cNvSpPr txBox="1"/>
          <p:nvPr/>
        </p:nvSpPr>
        <p:spPr>
          <a:xfrm>
            <a:off x="711200" y="2489200"/>
            <a:ext cx="5334000" cy="304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350" b="1" noProof="1">
                <a:solidFill>
                  <a:srgbClr val="23303E"/>
                </a:solidFill>
                <a:latin typeface="MiSans"/>
                <a:ea typeface="MiSans"/>
              </a:rPr>
              <a:t>四个核心技巧</a:t>
            </a:r>
            <a:endParaRPr lang="en-US" sz="135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350" b="1" noProof="1">
                <a:solidFill>
                  <a:srgbClr val="23303E"/>
                </a:solidFill>
                <a:latin typeface="MiSans"/>
                <a:ea typeface="MiSans"/>
              </a:rPr>
              <a:t>① 合并内存访问</a:t>
            </a: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：连续线程访问连续内存，带宽利用率 10% → 90%+</a:t>
            </a:r>
            <a:endParaRPr lang="en-US" sz="135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350" b="1" noProof="1">
                <a:solidFill>
                  <a:srgbClr val="23303E"/>
                </a:solidFill>
                <a:latin typeface="MiSans"/>
                <a:ea typeface="MiSans"/>
              </a:rPr>
              <a:t>② 共享内存分块（Tiling）</a:t>
            </a: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：热点数据放上片上，矩阵乘法可提速 10 倍以上</a:t>
            </a:r>
            <a:endParaRPr lang="en-US" sz="135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350" b="1" noProof="1">
                <a:solidFill>
                  <a:srgbClr val="23303E"/>
                </a:solidFill>
                <a:latin typeface="MiSans"/>
                <a:ea typeface="MiSans"/>
              </a:rPr>
              <a:t>③ 避免分支发散</a:t>
            </a: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：Warp 内 32 个线程尽量走同一条路</a:t>
            </a:r>
            <a:endParaRPr lang="en-US" sz="135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350" b="1" noProof="1">
                <a:solidFill>
                  <a:srgbClr val="23303E"/>
                </a:solidFill>
                <a:latin typeface="MiSans"/>
                <a:ea typeface="MiSans"/>
              </a:rPr>
              <a:t>④ 混合精度</a:t>
            </a: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：FP16 计算、FP32 累加，跑满 Tensor Core</a:t>
            </a:r>
            <a:endParaRPr lang="en-US" sz="1350" noProof="1"/>
          </a:p>
        </p:txBody>
      </p:sp>
      <p:sp>
        <p:nvSpPr>
          <p:cNvPr id="8" name="goal"/>
          <p:cNvSpPr/>
          <p:nvPr/>
        </p:nvSpPr>
        <p:spPr>
          <a:xfrm>
            <a:off x="711200" y="5689600"/>
            <a:ext cx="5334000" cy="508000"/>
          </a:xfrm>
          <a:prstGeom prst="rect">
            <a:avLst/>
          </a:prstGeom>
          <a:solidFill>
            <a:srgbClr val="F3F6FA"/>
          </a:solidFill>
          <a:ln w="12700">
            <a:solidFill>
              <a:srgbClr val="D9E1E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goalt"/>
          <p:cNvSpPr txBox="1"/>
          <p:nvPr/>
        </p:nvSpPr>
        <p:spPr>
          <a:xfrm>
            <a:off x="914400" y="5689600"/>
            <a:ext cx="49784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0B2440"/>
                </a:solidFill>
                <a:latin typeface="MiSans"/>
                <a:ea typeface="MiSans"/>
              </a:rPr>
              <a:t>目标：算力利用率 </a:t>
            </a:r>
            <a:r>
              <a:rPr lang="en-US" sz="1200" b="1" noProof="1">
                <a:solidFill>
                  <a:srgbClr val="0B2440"/>
                </a:solidFill>
                <a:latin typeface="MiSans"/>
                <a:ea typeface="MiSans"/>
              </a:rPr>
              <a:t>&gt;80%</a:t>
            </a:r>
            <a:r>
              <a:rPr lang="en-US" sz="1200" noProof="1">
                <a:solidFill>
                  <a:srgbClr val="0B2440"/>
                </a:solidFill>
                <a:latin typeface="MiSans"/>
                <a:ea typeface="MiSans"/>
              </a:rPr>
              <a:t> ｜ 带宽利用率 </a:t>
            </a:r>
            <a:r>
              <a:rPr lang="en-US" sz="1200" b="1" noProof="1">
                <a:solidFill>
                  <a:srgbClr val="0B2440"/>
                </a:solidFill>
                <a:latin typeface="MiSans"/>
                <a:ea typeface="MiSans"/>
              </a:rPr>
              <a:t>&gt;70%</a:t>
            </a:r>
            <a:endParaRPr lang="en-US" sz="1200" noProof="1"/>
          </a:p>
        </p:txBody>
      </p:sp>
      <p:graphicFrame>
        <p:nvGraphicFramePr>
          <p:cNvPr id="10" name="chart"/>
          <p:cNvGraphicFramePr/>
          <p:nvPr/>
        </p:nvGraphicFramePr>
        <p:xfrm>
          <a:off x="6604000" y="1600200"/>
          <a:ext cx="48768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cap"/>
          <p:cNvSpPr txBox="1"/>
          <p:nvPr/>
        </p:nvSpPr>
        <p:spPr>
          <a:xfrm>
            <a:off x="6604000" y="5511800"/>
            <a:ext cx="4876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0B2440"/>
                </a:solidFill>
                <a:latin typeface="MiSans"/>
                <a:ea typeface="MiSans"/>
              </a:rPr>
              <a:t>相对朴素实现：</a:t>
            </a:r>
            <a:r>
              <a:rPr lang="en-US" sz="1200" b="1" noProof="1">
                <a:solidFill>
                  <a:srgbClr val="0B2440"/>
                </a:solidFill>
                <a:latin typeface="MiSans"/>
                <a:ea typeface="MiSans"/>
              </a:rPr>
              <a:t>4.2× → 17× → 30× → </a:t>
            </a:r>
            <a:r>
              <a:rPr lang="en-US" sz="1200" b="1" noProof="1">
                <a:solidFill>
                  <a:srgbClr val="F07D0A"/>
                </a:solidFill>
                <a:latin typeface="MiSans"/>
                <a:ea typeface="MiSans"/>
              </a:rPr>
              <a:t>135×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6B7A8C"/>
                </a:solidFill>
                <a:latin typeface="MiSans"/>
                <a:ea typeface="MiSans"/>
              </a:rPr>
              <a:t>来源：课程实验数据（GEMM 优化阶梯），演讲材料整理</a:t>
            </a:r>
            <a:endParaRPr lang="en-US" sz="1200" noProof="1"/>
          </a:p>
        </p:txBody>
      </p:sp>
      <p:sp>
        <p:nvSpPr>
          <p:cNvPr id="12" name="fline"/>
          <p:cNvSpPr/>
          <p:nvPr/>
        </p:nvSpPr>
        <p:spPr>
          <a:xfrm>
            <a:off x="711200" y="6477000"/>
            <a:ext cx="107696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fl"/>
          <p:cNvSpPr txBox="1"/>
          <p:nvPr/>
        </p:nvSpPr>
        <p:spPr>
          <a:xfrm>
            <a:off x="711200" y="65532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B7A8C"/>
                </a:solidFill>
                <a:latin typeface="MiSans"/>
                <a:ea typeface="MiSans"/>
              </a:rPr>
              <a:t>Token Factory · AI 推理的成本革命</a:t>
            </a:r>
            <a:endParaRPr lang="en-US" sz="950" noProof="1"/>
          </a:p>
        </p:txBody>
      </p:sp>
      <p:sp>
        <p:nvSpPr>
          <p:cNvPr id="14" name="fr"/>
          <p:cNvSpPr txBox="1"/>
          <p:nvPr/>
        </p:nvSpPr>
        <p:spPr>
          <a:xfrm>
            <a:off x="10210800" y="65532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6B7A8C"/>
                </a:solidFill>
                <a:latin typeface="MiSans"/>
                <a:ea typeface="MiSans"/>
              </a:rPr>
              <a:t>16 / 40</a:t>
            </a:r>
            <a:endParaRPr lang="en-US" sz="950" noProof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"/>
          <p:cNvSpPr txBox="1"/>
          <p:nvPr/>
        </p:nvSpPr>
        <p:spPr>
          <a:xfrm>
            <a:off x="711200" y="3810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F07D0A"/>
                </a:solidFill>
                <a:latin typeface="MiSans"/>
                <a:ea typeface="MiSans"/>
              </a:rPr>
              <a:t>第二层杠杆 · 硬件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350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600" b="1" noProof="1">
                <a:solidFill>
                  <a:srgbClr val="0B2440"/>
                </a:solidFill>
                <a:latin typeface="MiSans"/>
                <a:ea typeface="MiSans"/>
              </a:rPr>
              <a:t>GPU 共享：让昂贵的 GPU 不再闲置</a:t>
            </a:r>
            <a:endParaRPr lang="en-US" sz="2600" noProof="1"/>
          </a:p>
        </p:txBody>
      </p:sp>
      <p:sp>
        <p:nvSpPr>
          <p:cNvPr id="4" name="rule"/>
          <p:cNvSpPr/>
          <p:nvPr/>
        </p:nvSpPr>
        <p:spPr>
          <a:xfrm>
            <a:off x="711200" y="1270000"/>
            <a:ext cx="107696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abar"/>
          <p:cNvSpPr/>
          <p:nvPr/>
        </p:nvSpPr>
        <p:spPr>
          <a:xfrm>
            <a:off x="711200" y="1244600"/>
            <a:ext cx="812800" cy="381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prob"/>
          <p:cNvSpPr txBox="1"/>
          <p:nvPr/>
        </p:nvSpPr>
        <p:spPr>
          <a:xfrm>
            <a:off x="711200" y="1549400"/>
            <a:ext cx="107696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50" b="1" noProof="1">
                <a:solidFill>
                  <a:srgbClr val="23303E"/>
                </a:solidFill>
                <a:latin typeface="MiSans"/>
                <a:ea typeface="MiSans"/>
              </a:rPr>
              <a:t>问题</a:t>
            </a: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：GPU 太贵，独占用是浪费——平均利用率只有 </a:t>
            </a:r>
            <a:r>
              <a:rPr lang="en-US" sz="1350" b="1" noProof="1">
                <a:solidFill>
                  <a:srgbClr val="F07D0A"/>
                </a:solidFill>
                <a:latin typeface="MiSans"/>
                <a:ea typeface="MiSans"/>
              </a:rPr>
              <a:t>30%</a:t>
            </a: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。三种共享方案：</a:t>
            </a:r>
            <a:endParaRPr lang="en-US" sz="1350" noProof="1"/>
          </a:p>
        </p:txBody>
      </p:sp>
      <p:graphicFrame>
        <p:nvGraphicFramePr>
          <p:cNvPr id="7" name="tbl"/>
          <p:cNvGraphicFramePr>
            <a:graphicFrameLocks noGrp="1"/>
          </p:cNvGraphicFramePr>
          <p:nvPr/>
        </p:nvGraphicFramePr>
        <p:xfrm>
          <a:off x="711200" y="1981200"/>
          <a:ext cx="10769600" cy="2413000"/>
        </p:xfrm>
        <a:graphic>
          <a:graphicData uri="http://schemas.openxmlformats.org/drawingml/2006/table">
            <a:tbl>
              <a:tblPr/>
              <a:tblGrid>
                <a:gridCol w="25847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54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85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30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860"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b="1" noProof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方案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0B2440"/>
                      </a:solidFill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b="1" noProof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隔离级别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0B2440"/>
                      </a:solidFill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b="1" noProof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虚拟化比例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0B2440"/>
                      </a:solidFill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b="1" noProof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适用场景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0B2440"/>
                      </a:solidFill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380"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b="1" noProof="1">
                          <a:solidFill>
                            <a:srgbClr val="23303E"/>
                          </a:solidFill>
                          <a:latin typeface="Times New Roman"/>
                          <a:ea typeface="Times New Roman"/>
                        </a:rPr>
                        <a:t>MIG（硬件切分）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B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1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noProof="1">
                          <a:solidFill>
                            <a:srgbClr val="23303E"/>
                          </a:solidFill>
                          <a:latin typeface="Times New Roman"/>
                          <a:ea typeface="Times New Roman"/>
                        </a:rPr>
                        <a:t>硬件级，物理隔离，性能稳定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B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1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noProof="1">
                          <a:solidFill>
                            <a:srgbClr val="23303E"/>
                          </a:solidFill>
                          <a:latin typeface="Times New Roman"/>
                          <a:ea typeface="Times New Roman"/>
                        </a:rPr>
                        <a:t>1 : 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B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1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noProof="1">
                          <a:solidFill>
                            <a:srgbClr val="23303E"/>
                          </a:solidFill>
                          <a:latin typeface="Times New Roman"/>
                          <a:ea typeface="Times New Roman"/>
                        </a:rPr>
                        <a:t>金融 / 医疗，严格 SLA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B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1E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380"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b="1" noProof="1">
                          <a:solidFill>
                            <a:srgbClr val="23303E"/>
                          </a:solidFill>
                          <a:latin typeface="Times New Roman"/>
                          <a:ea typeface="Times New Roman"/>
                        </a:rPr>
                        <a:t>时间切片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1EB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noProof="1">
                          <a:solidFill>
                            <a:srgbClr val="23303E"/>
                          </a:solidFill>
                          <a:latin typeface="Times New Roman"/>
                          <a:ea typeface="Times New Roman"/>
                        </a:rPr>
                        <a:t>软件调度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1EB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noProof="1">
                          <a:solidFill>
                            <a:srgbClr val="23303E"/>
                          </a:solidFill>
                          <a:latin typeface="Times New Roman"/>
                          <a:ea typeface="Times New Roman"/>
                        </a:rPr>
                        <a:t>1 : 48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1EB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noProof="1">
                          <a:solidFill>
                            <a:srgbClr val="23303E"/>
                          </a:solidFill>
                          <a:latin typeface="Times New Roman"/>
                          <a:ea typeface="Times New Roman"/>
                        </a:rPr>
                        <a:t>开发测试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1EB"/>
                      </a:solidFill>
                    </a:lnB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380"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b="1" noProof="1">
                          <a:solidFill>
                            <a:srgbClr val="23303E"/>
                          </a:solidFill>
                          <a:latin typeface="Times New Roman"/>
                          <a:ea typeface="Times New Roman"/>
                        </a:rPr>
                        <a:t>HAMi（用户态虚拟化）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1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noProof="1">
                          <a:solidFill>
                            <a:srgbClr val="23303E"/>
                          </a:solidFill>
                          <a:latin typeface="Times New Roman"/>
                          <a:ea typeface="Times New Roman"/>
                        </a:rPr>
                        <a:t>显存＋算力按需分配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1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b="1" noProof="1">
                          <a:solidFill>
                            <a:srgbClr val="F07D0A"/>
                          </a:solidFill>
                          <a:latin typeface="Times New Roman"/>
                          <a:ea typeface="Times New Roman"/>
                        </a:rPr>
                        <a:t>1 : 100+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1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noProof="1">
                          <a:solidFill>
                            <a:srgbClr val="23303E"/>
                          </a:solidFill>
                          <a:latin typeface="Times New Roman"/>
                          <a:ea typeface="Times New Roman"/>
                        </a:rPr>
                        <a:t>互联网企业，成本敏感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1E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t1box"/>
          <p:cNvSpPr/>
          <p:nvPr/>
        </p:nvSpPr>
        <p:spPr>
          <a:xfrm>
            <a:off x="711200" y="4826000"/>
            <a:ext cx="5207000" cy="1219200"/>
          </a:xfrm>
          <a:prstGeom prst="rect">
            <a:avLst/>
          </a:prstGeom>
          <a:solidFill>
            <a:srgbClr val="F3F6FA"/>
          </a:solidFill>
          <a:ln w="12700">
            <a:solidFill>
              <a:srgbClr val="D9E1E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t1n"/>
          <p:cNvSpPr txBox="1"/>
          <p:nvPr/>
        </p:nvSpPr>
        <p:spPr>
          <a:xfrm>
            <a:off x="1016000" y="5003800"/>
            <a:ext cx="2540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600" b="1" noProof="1">
                <a:solidFill>
                  <a:srgbClr val="F07D0A"/>
                </a:solidFill>
                <a:latin typeface="MiSans"/>
                <a:ea typeface="MiSans"/>
              </a:rPr>
              <a:t>30% → 80%+</a:t>
            </a:r>
            <a:endParaRPr lang="en-US" sz="2600" noProof="1"/>
          </a:p>
        </p:txBody>
      </p:sp>
      <p:sp>
        <p:nvSpPr>
          <p:cNvPr id="10" name="st1l"/>
          <p:cNvSpPr txBox="1"/>
          <p:nvPr/>
        </p:nvSpPr>
        <p:spPr>
          <a:xfrm>
            <a:off x="1016000" y="5562600"/>
            <a:ext cx="4572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23303E"/>
                </a:solidFill>
                <a:latin typeface="MiSans"/>
                <a:ea typeface="MiSans"/>
              </a:rPr>
              <a:t>GPU 利用率提升（共享之后）</a:t>
            </a:r>
            <a:endParaRPr lang="en-US" sz="1200" noProof="1"/>
          </a:p>
        </p:txBody>
      </p:sp>
      <p:sp>
        <p:nvSpPr>
          <p:cNvPr id="11" name="st2box"/>
          <p:cNvSpPr/>
          <p:nvPr/>
        </p:nvSpPr>
        <p:spPr>
          <a:xfrm>
            <a:off x="6273800" y="4826000"/>
            <a:ext cx="5207000" cy="1219200"/>
          </a:xfrm>
          <a:prstGeom prst="rect">
            <a:avLst/>
          </a:prstGeom>
          <a:solidFill>
            <a:srgbClr val="F3F6FA"/>
          </a:solidFill>
          <a:ln w="12700">
            <a:solidFill>
              <a:srgbClr val="D9E1E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t2n"/>
          <p:cNvSpPr txBox="1"/>
          <p:nvPr/>
        </p:nvSpPr>
        <p:spPr>
          <a:xfrm>
            <a:off x="6578600" y="5003800"/>
            <a:ext cx="2540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600" b="1" noProof="1">
                <a:solidFill>
                  <a:srgbClr val="F07D0A"/>
                </a:solidFill>
                <a:latin typeface="MiSans"/>
                <a:ea typeface="MiSans"/>
              </a:rPr>
              <a:t>60–70%</a:t>
            </a:r>
            <a:endParaRPr lang="en-US" sz="2600" noProof="1"/>
          </a:p>
        </p:txBody>
      </p:sp>
      <p:sp>
        <p:nvSpPr>
          <p:cNvPr id="13" name="st2l"/>
          <p:cNvSpPr txBox="1"/>
          <p:nvPr/>
        </p:nvSpPr>
        <p:spPr>
          <a:xfrm>
            <a:off x="6578600" y="5562600"/>
            <a:ext cx="4572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23303E"/>
                </a:solidFill>
                <a:latin typeface="MiSans"/>
                <a:ea typeface="MiSans"/>
              </a:rPr>
              <a:t>成本节省——token 工厂满负荷运转的第一步</a:t>
            </a:r>
            <a:endParaRPr lang="en-US" sz="1200" noProof="1"/>
          </a:p>
        </p:txBody>
      </p:sp>
      <p:sp>
        <p:nvSpPr>
          <p:cNvPr id="14" name="fline"/>
          <p:cNvSpPr/>
          <p:nvPr/>
        </p:nvSpPr>
        <p:spPr>
          <a:xfrm>
            <a:off x="711200" y="6477000"/>
            <a:ext cx="107696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fl"/>
          <p:cNvSpPr txBox="1"/>
          <p:nvPr/>
        </p:nvSpPr>
        <p:spPr>
          <a:xfrm>
            <a:off x="711200" y="65532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B7A8C"/>
                </a:solidFill>
                <a:latin typeface="MiSans"/>
                <a:ea typeface="MiSans"/>
              </a:rPr>
              <a:t>Token Factory · AI 推理的成本革命</a:t>
            </a:r>
            <a:endParaRPr lang="en-US" sz="950" noProof="1"/>
          </a:p>
        </p:txBody>
      </p:sp>
      <p:sp>
        <p:nvSpPr>
          <p:cNvPr id="16" name="fr"/>
          <p:cNvSpPr txBox="1"/>
          <p:nvPr/>
        </p:nvSpPr>
        <p:spPr>
          <a:xfrm>
            <a:off x="10210800" y="65532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6B7A8C"/>
                </a:solidFill>
                <a:latin typeface="MiSans"/>
                <a:ea typeface="MiSans"/>
              </a:rPr>
              <a:t>17 / 40</a:t>
            </a:r>
            <a:endParaRPr lang="en-US" sz="950" noProof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"/>
          <p:cNvSpPr txBox="1"/>
          <p:nvPr/>
        </p:nvSpPr>
        <p:spPr>
          <a:xfrm>
            <a:off x="711200" y="3810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F07D0A"/>
                </a:solidFill>
                <a:latin typeface="MiSans"/>
                <a:ea typeface="MiSans"/>
              </a:rPr>
              <a:t>第二层杠杆 · 小结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350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600" b="1" noProof="1">
                <a:solidFill>
                  <a:srgbClr val="0B2440"/>
                </a:solidFill>
                <a:latin typeface="MiSans"/>
                <a:ea typeface="MiSans"/>
              </a:rPr>
              <a:t>硬件效率：三股力量，约 10 倍</a:t>
            </a:r>
            <a:endParaRPr lang="en-US" sz="2600" noProof="1"/>
          </a:p>
        </p:txBody>
      </p:sp>
      <p:sp>
        <p:nvSpPr>
          <p:cNvPr id="4" name="rule"/>
          <p:cNvSpPr/>
          <p:nvPr/>
        </p:nvSpPr>
        <p:spPr>
          <a:xfrm>
            <a:off x="711200" y="1270000"/>
            <a:ext cx="107696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abar"/>
          <p:cNvSpPr/>
          <p:nvPr/>
        </p:nvSpPr>
        <p:spPr>
          <a:xfrm>
            <a:off x="711200" y="1244600"/>
            <a:ext cx="812800" cy="381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r1n"/>
          <p:cNvSpPr txBox="1"/>
          <p:nvPr/>
        </p:nvSpPr>
        <p:spPr>
          <a:xfrm>
            <a:off x="711200" y="1676400"/>
            <a:ext cx="3302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50" b="1" noProof="1">
                <a:solidFill>
                  <a:srgbClr val="0B2440"/>
                </a:solidFill>
                <a:latin typeface="MiSans"/>
                <a:ea typeface="MiSans"/>
              </a:rPr>
              <a:t>架构演进（FP4）</a:t>
            </a:r>
            <a:endParaRPr lang="en-US" sz="1550" noProof="1"/>
          </a:p>
        </p:txBody>
      </p:sp>
      <p:sp>
        <p:nvSpPr>
          <p:cNvPr id="7" name="r1d"/>
          <p:cNvSpPr txBox="1"/>
          <p:nvPr/>
        </p:nvSpPr>
        <p:spPr>
          <a:xfrm>
            <a:off x="4064000" y="1676400"/>
            <a:ext cx="4826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3303E"/>
                </a:solidFill>
                <a:latin typeface="MiSans"/>
                <a:ea typeface="MiSans"/>
              </a:rPr>
              <a:t>显存减半、吞吐翻倍；MoE 模型标配 NVFP4</a:t>
            </a:r>
            <a:endParaRPr lang="en-US" sz="1250" noProof="1"/>
          </a:p>
        </p:txBody>
      </p:sp>
      <p:sp>
        <p:nvSpPr>
          <p:cNvPr id="8" name="r1line"/>
          <p:cNvSpPr/>
          <p:nvPr/>
        </p:nvSpPr>
        <p:spPr>
          <a:xfrm>
            <a:off x="711200" y="2362200"/>
            <a:ext cx="81788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r2n"/>
          <p:cNvSpPr txBox="1"/>
          <p:nvPr/>
        </p:nvSpPr>
        <p:spPr>
          <a:xfrm>
            <a:off x="711200" y="2565400"/>
            <a:ext cx="3302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50" b="1" noProof="1">
                <a:solidFill>
                  <a:srgbClr val="0B2440"/>
                </a:solidFill>
                <a:latin typeface="MiSans"/>
                <a:ea typeface="MiSans"/>
              </a:rPr>
              <a:t>带宽跃升（HBM3e）</a:t>
            </a:r>
            <a:endParaRPr lang="en-US" sz="1550" noProof="1"/>
          </a:p>
        </p:txBody>
      </p:sp>
      <p:sp>
        <p:nvSpPr>
          <p:cNvPr id="10" name="r2d"/>
          <p:cNvSpPr txBox="1"/>
          <p:nvPr/>
        </p:nvSpPr>
        <p:spPr>
          <a:xfrm>
            <a:off x="4064000" y="2565400"/>
            <a:ext cx="4826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3303E"/>
                </a:solidFill>
                <a:latin typeface="MiSans"/>
                <a:ea typeface="MiSans"/>
              </a:rPr>
              <a:t>8 TB/s 显存带宽；NVLink-C2C 1.8 TB/s 让权重卸载成为现实</a:t>
            </a:r>
            <a:endParaRPr lang="en-US" sz="1250" noProof="1"/>
          </a:p>
        </p:txBody>
      </p:sp>
      <p:sp>
        <p:nvSpPr>
          <p:cNvPr id="11" name="r2line"/>
          <p:cNvSpPr/>
          <p:nvPr/>
        </p:nvSpPr>
        <p:spPr>
          <a:xfrm>
            <a:off x="711200" y="3251200"/>
            <a:ext cx="81788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r3n"/>
          <p:cNvSpPr txBox="1"/>
          <p:nvPr/>
        </p:nvSpPr>
        <p:spPr>
          <a:xfrm>
            <a:off x="711200" y="3454400"/>
            <a:ext cx="3302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50" b="1" noProof="1">
                <a:solidFill>
                  <a:srgbClr val="0B2440"/>
                </a:solidFill>
                <a:latin typeface="MiSans"/>
                <a:ea typeface="MiSans"/>
              </a:rPr>
              <a:t>共享虚拟化</a:t>
            </a:r>
            <a:endParaRPr lang="en-US" sz="1550" noProof="1"/>
          </a:p>
        </p:txBody>
      </p:sp>
      <p:sp>
        <p:nvSpPr>
          <p:cNvPr id="13" name="r3d"/>
          <p:cNvSpPr txBox="1"/>
          <p:nvPr/>
        </p:nvSpPr>
        <p:spPr>
          <a:xfrm>
            <a:off x="4064000" y="3454400"/>
            <a:ext cx="4826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3303E"/>
                </a:solidFill>
                <a:latin typeface="MiSans"/>
                <a:ea typeface="MiSans"/>
              </a:rPr>
              <a:t>GPU 利用率 30% → 80%+，成本节省 60–70%</a:t>
            </a:r>
            <a:endParaRPr lang="en-US" sz="1250" noProof="1"/>
          </a:p>
        </p:txBody>
      </p:sp>
      <p:sp>
        <p:nvSpPr>
          <p:cNvPr id="14" name="r3line"/>
          <p:cNvSpPr/>
          <p:nvPr/>
        </p:nvSpPr>
        <p:spPr>
          <a:xfrm>
            <a:off x="711200" y="4140200"/>
            <a:ext cx="81788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bign"/>
          <p:cNvSpPr txBox="1"/>
          <p:nvPr/>
        </p:nvSpPr>
        <p:spPr>
          <a:xfrm>
            <a:off x="9144000" y="1905000"/>
            <a:ext cx="23368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600" b="1" noProof="1">
                <a:solidFill>
                  <a:srgbClr val="F07D0A"/>
                </a:solidFill>
                <a:latin typeface="MiSans"/>
                <a:ea typeface="MiSans"/>
              </a:rPr>
              <a:t>约 10×</a:t>
            </a:r>
            <a:endParaRPr lang="en-US" sz="4600" noProof="1"/>
          </a:p>
        </p:txBody>
      </p:sp>
      <p:sp>
        <p:nvSpPr>
          <p:cNvPr id="16" name="bigl"/>
          <p:cNvSpPr txBox="1"/>
          <p:nvPr/>
        </p:nvSpPr>
        <p:spPr>
          <a:xfrm>
            <a:off x="9144000" y="2717800"/>
            <a:ext cx="2336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200" noProof="1">
                <a:solidFill>
                  <a:srgbClr val="6B7A8C"/>
                </a:solidFill>
                <a:latin typeface="MiSans"/>
                <a:ea typeface="MiSans"/>
              </a:rPr>
              <a:t>硬件层累计压低每 token 成本</a:t>
            </a:r>
            <a:endParaRPr lang="en-US" sz="1200" noProof="1"/>
          </a:p>
        </p:txBody>
      </p:sp>
      <p:sp>
        <p:nvSpPr>
          <p:cNvPr id="17" name="k1"/>
          <p:cNvSpPr txBox="1"/>
          <p:nvPr/>
        </p:nvSpPr>
        <p:spPr>
          <a:xfrm>
            <a:off x="711200" y="4521200"/>
            <a:ext cx="107696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350" b="1" noProof="1">
                <a:solidFill>
                  <a:srgbClr val="23303E"/>
                </a:solidFill>
                <a:latin typeface="MiSans"/>
                <a:ea typeface="MiSans"/>
              </a:rPr>
              <a:t>关键认知</a:t>
            </a: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：但硬件再强，不会用也是浪费——GPU 满载率、显存管理、调度策略，这些是软件的事。</a:t>
            </a:r>
            <a:endParaRPr lang="en-US" sz="1350" noProof="1"/>
          </a:p>
        </p:txBody>
      </p:sp>
      <p:sp>
        <p:nvSpPr>
          <p:cNvPr id="18" name="trans"/>
          <p:cNvSpPr/>
          <p:nvPr/>
        </p:nvSpPr>
        <p:spPr>
          <a:xfrm>
            <a:off x="711200" y="5511800"/>
            <a:ext cx="10769600" cy="609600"/>
          </a:xfrm>
          <a:prstGeom prst="rect">
            <a:avLst/>
          </a:prstGeom>
          <a:solidFill>
            <a:srgbClr val="F3F6FA"/>
          </a:solidFill>
          <a:ln w="12700">
            <a:solidFill>
              <a:srgbClr val="D9E1E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ranst"/>
          <p:cNvSpPr txBox="1"/>
          <p:nvPr/>
        </p:nvSpPr>
        <p:spPr>
          <a:xfrm>
            <a:off x="965200" y="5511800"/>
            <a:ext cx="102616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50" noProof="1">
                <a:solidFill>
                  <a:srgbClr val="0B2440"/>
                </a:solidFill>
                <a:latin typeface="MiSans"/>
                <a:ea typeface="MiSans"/>
              </a:rPr>
              <a:t>接下来看软件如何吃干榨净硬件 </a:t>
            </a:r>
            <a:r>
              <a:rPr lang="en-US" sz="1350" b="1" noProof="1">
                <a:solidFill>
                  <a:srgbClr val="F07D0A"/>
                </a:solidFill>
                <a:latin typeface="MiSans"/>
                <a:ea typeface="MiSans"/>
              </a:rPr>
              <a:t>→ 第三层杠杆：推理引擎</a:t>
            </a:r>
            <a:endParaRPr lang="en-US" sz="1350" noProof="1"/>
          </a:p>
        </p:txBody>
      </p:sp>
      <p:sp>
        <p:nvSpPr>
          <p:cNvPr id="20" name="fline"/>
          <p:cNvSpPr/>
          <p:nvPr/>
        </p:nvSpPr>
        <p:spPr>
          <a:xfrm>
            <a:off x="711200" y="6477000"/>
            <a:ext cx="107696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fl"/>
          <p:cNvSpPr txBox="1"/>
          <p:nvPr/>
        </p:nvSpPr>
        <p:spPr>
          <a:xfrm>
            <a:off x="711200" y="65532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B7A8C"/>
                </a:solidFill>
                <a:latin typeface="MiSans"/>
                <a:ea typeface="MiSans"/>
              </a:rPr>
              <a:t>Token Factory · AI 推理的成本革命</a:t>
            </a:r>
            <a:endParaRPr lang="en-US" sz="950" noProof="1"/>
          </a:p>
        </p:txBody>
      </p:sp>
      <p:sp>
        <p:nvSpPr>
          <p:cNvPr id="22" name="fr"/>
          <p:cNvSpPr txBox="1"/>
          <p:nvPr/>
        </p:nvSpPr>
        <p:spPr>
          <a:xfrm>
            <a:off x="10210800" y="65532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6B7A8C"/>
                </a:solidFill>
                <a:latin typeface="MiSans"/>
                <a:ea typeface="MiSans"/>
              </a:rPr>
              <a:t>18 / 40</a:t>
            </a:r>
            <a:endParaRPr lang="en-US" sz="950" noProof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"/>
          <p:cNvSpPr txBox="1"/>
          <p:nvPr/>
        </p:nvSpPr>
        <p:spPr>
          <a:xfrm>
            <a:off x="711200" y="3810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F07D0A"/>
                </a:solidFill>
                <a:latin typeface="MiSans"/>
                <a:ea typeface="MiSans"/>
              </a:rPr>
              <a:t>第三层杠杆 · 推理引擎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350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600" b="1" noProof="1">
                <a:solidFill>
                  <a:srgbClr val="0B2440"/>
                </a:solidFill>
                <a:latin typeface="MiSans"/>
                <a:ea typeface="MiSans"/>
              </a:rPr>
              <a:t>推理引擎：token 工厂的生产车间</a:t>
            </a:r>
            <a:endParaRPr lang="en-US" sz="2600" noProof="1"/>
          </a:p>
        </p:txBody>
      </p:sp>
      <p:sp>
        <p:nvSpPr>
          <p:cNvPr id="4" name="rule"/>
          <p:cNvSpPr/>
          <p:nvPr/>
        </p:nvSpPr>
        <p:spPr>
          <a:xfrm>
            <a:off x="711200" y="1270000"/>
            <a:ext cx="107696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abar"/>
          <p:cNvSpPr/>
          <p:nvPr/>
        </p:nvSpPr>
        <p:spPr>
          <a:xfrm>
            <a:off x="711200" y="1244600"/>
            <a:ext cx="812800" cy="381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1"/>
          <p:cNvSpPr/>
          <p:nvPr/>
        </p:nvSpPr>
        <p:spPr>
          <a:xfrm>
            <a:off x="711200" y="1600200"/>
            <a:ext cx="2286000" cy="508000"/>
          </a:xfrm>
          <a:prstGeom prst="rect">
            <a:avLst/>
          </a:prstGeom>
          <a:solidFill>
            <a:srgbClr val="F3F6FA"/>
          </a:solidFill>
          <a:ln w="12700">
            <a:solidFill>
              <a:srgbClr val="D9E1E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1t"/>
          <p:cNvSpPr txBox="1"/>
          <p:nvPr/>
        </p:nvSpPr>
        <p:spPr>
          <a:xfrm>
            <a:off x="711200" y="1600200"/>
            <a:ext cx="2286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0B2440"/>
                </a:solidFill>
                <a:latin typeface="MiSans"/>
                <a:ea typeface="MiSans"/>
              </a:rPr>
              <a:t>① 接收请求</a:t>
            </a:r>
            <a:endParaRPr lang="en-US" sz="1300" noProof="1"/>
          </a:p>
        </p:txBody>
      </p:sp>
      <p:sp>
        <p:nvSpPr>
          <p:cNvPr id="8" name="a1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eyJpY29uTmFtZSI6ImZhczphbmdsZS1yaWdodCJ9</pptd:icon>
              </p:ext>
            </p:extLst>
          </p:nvPr>
        </p:nvSpPr>
        <p:spPr>
          <a:xfrm>
            <a:off x="3124200" y="17526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>
            <a:srgbClr val="6B7A8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2"/>
          <p:cNvSpPr/>
          <p:nvPr/>
        </p:nvSpPr>
        <p:spPr>
          <a:xfrm>
            <a:off x="3454400" y="1600200"/>
            <a:ext cx="2286000" cy="508000"/>
          </a:xfrm>
          <a:prstGeom prst="rect">
            <a:avLst/>
          </a:prstGeom>
          <a:solidFill>
            <a:srgbClr val="F3F6FA"/>
          </a:solidFill>
          <a:ln w="12700">
            <a:solidFill>
              <a:srgbClr val="D9E1E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2t"/>
          <p:cNvSpPr txBox="1"/>
          <p:nvPr/>
        </p:nvSpPr>
        <p:spPr>
          <a:xfrm>
            <a:off x="3454400" y="1600200"/>
            <a:ext cx="2286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0B2440"/>
                </a:solidFill>
                <a:latin typeface="MiSans"/>
                <a:ea typeface="MiSans"/>
              </a:rPr>
              <a:t>② 管理 GPU 显存</a:t>
            </a:r>
            <a:endParaRPr lang="en-US" sz="1300" noProof="1"/>
          </a:p>
        </p:txBody>
      </p:sp>
      <p:sp>
        <p:nvSpPr>
          <p:cNvPr id="11" name="a2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eyJpY29uTmFtZSI6ImZhczphbmdsZS1yaWdodCJ9</pptd:icon>
              </p:ext>
            </p:extLst>
          </p:nvPr>
        </p:nvSpPr>
        <p:spPr>
          <a:xfrm>
            <a:off x="5867400" y="17526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>
            <a:srgbClr val="6B7A8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3"/>
          <p:cNvSpPr/>
          <p:nvPr/>
        </p:nvSpPr>
        <p:spPr>
          <a:xfrm>
            <a:off x="6197600" y="1600200"/>
            <a:ext cx="2286000" cy="508000"/>
          </a:xfrm>
          <a:prstGeom prst="rect">
            <a:avLst/>
          </a:prstGeom>
          <a:solidFill>
            <a:srgbClr val="F3F6FA"/>
          </a:solidFill>
          <a:ln w="12700">
            <a:solidFill>
              <a:srgbClr val="D9E1E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3t"/>
          <p:cNvSpPr txBox="1"/>
          <p:nvPr/>
        </p:nvSpPr>
        <p:spPr>
          <a:xfrm>
            <a:off x="6197600" y="1600200"/>
            <a:ext cx="2286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0B2440"/>
                </a:solidFill>
                <a:latin typeface="MiSans"/>
                <a:ea typeface="MiSans"/>
              </a:rPr>
              <a:t>③ 调度计算</a:t>
            </a:r>
            <a:endParaRPr lang="en-US" sz="1300" noProof="1"/>
          </a:p>
        </p:txBody>
      </p:sp>
      <p:sp>
        <p:nvSpPr>
          <p:cNvPr id="14" name="a3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eyJpY29uTmFtZSI6ImZhczphbmdsZS1yaWdodCJ9</pptd:icon>
              </p:ext>
            </p:extLst>
          </p:nvPr>
        </p:nvSpPr>
        <p:spPr>
          <a:xfrm>
            <a:off x="8610600" y="17526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>
            <a:srgbClr val="6B7A8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4"/>
          <p:cNvSpPr/>
          <p:nvPr/>
        </p:nvSpPr>
        <p:spPr>
          <a:xfrm>
            <a:off x="8940800" y="1600200"/>
            <a:ext cx="2540000" cy="508000"/>
          </a:xfrm>
          <a:prstGeom prst="rect">
            <a:avLst/>
          </a:prstGeom>
          <a:solidFill>
            <a:srgbClr val="FDEBD7"/>
          </a:solidFill>
          <a:ln w="12700">
            <a:solidFill>
              <a:srgbClr val="F07D0A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4t"/>
          <p:cNvSpPr txBox="1"/>
          <p:nvPr/>
        </p:nvSpPr>
        <p:spPr>
          <a:xfrm>
            <a:off x="8940800" y="1600200"/>
            <a:ext cx="2540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F07D0A"/>
                </a:solidFill>
                <a:latin typeface="MiSans"/>
                <a:ea typeface="MiSans"/>
              </a:rPr>
              <a:t>④ 返回 token</a:t>
            </a:r>
            <a:endParaRPr lang="en-US" sz="1300" noProof="1"/>
          </a:p>
        </p:txBody>
      </p:sp>
      <p:sp>
        <p:nvSpPr>
          <p:cNvPr id="17" name="key"/>
          <p:cNvSpPr txBox="1"/>
          <p:nvPr/>
        </p:nvSpPr>
        <p:spPr>
          <a:xfrm>
            <a:off x="711200" y="2260600"/>
            <a:ext cx="107696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同样的模型 ＋ 同样的 GPU，</a:t>
            </a:r>
            <a:r>
              <a:rPr lang="en-US" sz="1350" b="1" noProof="1">
                <a:solidFill>
                  <a:srgbClr val="F07D0A"/>
                </a:solidFill>
                <a:latin typeface="MiSans"/>
                <a:ea typeface="MiSans"/>
              </a:rPr>
              <a:t>引擎不同，成本差 2–4 倍</a:t>
            </a: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。2026 年主流引擎：</a:t>
            </a:r>
            <a:endParaRPr lang="en-US" sz="1350" noProof="1"/>
          </a:p>
        </p:txBody>
      </p:sp>
      <p:graphicFrame>
        <p:nvGraphicFramePr>
          <p:cNvPr id="18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3625254"/>
              </p:ext>
            </p:extLst>
          </p:nvPr>
        </p:nvGraphicFramePr>
        <p:xfrm>
          <a:off x="711200" y="2667000"/>
          <a:ext cx="10769600" cy="2540000"/>
        </p:xfrm>
        <a:graphic>
          <a:graphicData uri="http://schemas.openxmlformats.org/drawingml/2006/table">
            <a:tbl>
              <a:tblPr/>
              <a:tblGrid>
                <a:gridCol w="19385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3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924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54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b="1" noProof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引擎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0B2440"/>
                      </a:solidFill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b="1" noProof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开发者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0B2440"/>
                      </a:solidFill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b="1" noProof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核心特性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0B2440"/>
                      </a:solidFill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b="1" noProof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定位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0B2440"/>
                      </a:solidFill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b="1" noProof="1">
                          <a:solidFill>
                            <a:srgbClr val="23303E"/>
                          </a:solidFill>
                          <a:latin typeface="Times New Roman"/>
                          <a:ea typeface="Times New Roman"/>
                        </a:rPr>
                        <a:t>vLLM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B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1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noProof="1">
                          <a:solidFill>
                            <a:srgbClr val="23303E"/>
                          </a:solidFill>
                          <a:latin typeface="Times New Roman"/>
                          <a:ea typeface="Times New Roman"/>
                        </a:rPr>
                        <a:t>vLLM 团队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B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1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noProof="1">
                          <a:solidFill>
                            <a:srgbClr val="23303E"/>
                          </a:solidFill>
                          <a:latin typeface="Times New Roman"/>
                          <a:ea typeface="Times New Roman"/>
                        </a:rPr>
                        <a:t>PagedAttention、生产级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B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1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noProof="1">
                          <a:solidFill>
                            <a:srgbClr val="23303E"/>
                          </a:solidFill>
                          <a:latin typeface="Times New Roman"/>
                          <a:ea typeface="Times New Roman"/>
                        </a:rPr>
                        <a:t>最广泛部署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B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1E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b="1" noProof="1">
                          <a:solidFill>
                            <a:srgbClr val="23303E"/>
                          </a:solidFill>
                          <a:latin typeface="Times New Roman"/>
                          <a:ea typeface="Times New Roman"/>
                        </a:rPr>
                        <a:t>SGLang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1EB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noProof="1">
                          <a:solidFill>
                            <a:srgbClr val="23303E"/>
                          </a:solidFill>
                          <a:latin typeface="Times New Roman"/>
                          <a:ea typeface="Times New Roman"/>
                        </a:rPr>
                        <a:t>LMSYS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1EB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noProof="1">
                          <a:solidFill>
                            <a:srgbClr val="23303E"/>
                          </a:solidFill>
                          <a:latin typeface="Times New Roman"/>
                          <a:ea typeface="Times New Roman"/>
                        </a:rPr>
                        <a:t>RadixAttention、DSpark 投机解码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1EB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noProof="1">
                          <a:solidFill>
                            <a:srgbClr val="23303E"/>
                          </a:solidFill>
                          <a:latin typeface="Times New Roman"/>
                          <a:ea typeface="Times New Roman"/>
                        </a:rPr>
                        <a:t>迭代最快（</a:t>
                      </a:r>
                      <a:r>
                        <a:rPr lang="zh-CN" altLang="en-US" sz="1200" noProof="1">
                          <a:solidFill>
                            <a:srgbClr val="23303E"/>
                          </a:solidFill>
                          <a:latin typeface="Times New Roman"/>
                          <a:ea typeface="Times New Roman"/>
                        </a:rPr>
                        <a:t>月均 </a:t>
                      </a:r>
                      <a:r>
                        <a:rPr lang="en-US" altLang="zh-CN" sz="1200" noProof="1">
                          <a:solidFill>
                            <a:srgbClr val="23303E"/>
                          </a:solidFill>
                          <a:latin typeface="Times New Roman"/>
                          <a:ea typeface="Times New Roman"/>
                        </a:rPr>
                        <a:t>400+ </a:t>
                      </a:r>
                      <a:r>
                        <a:rPr lang="en-US" sz="1200" noProof="1">
                          <a:solidFill>
                            <a:srgbClr val="23303E"/>
                          </a:solidFill>
                          <a:latin typeface="Times New Roman"/>
                          <a:ea typeface="Times New Roman"/>
                        </a:rPr>
                        <a:t>PR）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1EB"/>
                      </a:solidFill>
                    </a:lnB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b="1" noProof="1">
                          <a:solidFill>
                            <a:srgbClr val="23303E"/>
                          </a:solidFill>
                          <a:latin typeface="Times New Roman"/>
                          <a:ea typeface="Times New Roman"/>
                        </a:rPr>
                        <a:t>TensorRT-LLM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1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noProof="1">
                          <a:solidFill>
                            <a:srgbClr val="23303E"/>
                          </a:solidFill>
                          <a:latin typeface="Times New Roman"/>
                          <a:ea typeface="Times New Roman"/>
                        </a:rPr>
                        <a:t>NVIDIA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1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noProof="1">
                          <a:solidFill>
                            <a:srgbClr val="23303E"/>
                          </a:solidFill>
                          <a:latin typeface="Times New Roman"/>
                          <a:ea typeface="Times New Roman"/>
                        </a:rPr>
                        <a:t>极致优化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1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noProof="1">
                          <a:solidFill>
                            <a:srgbClr val="23303E"/>
                          </a:solidFill>
                          <a:latin typeface="Times New Roman"/>
                          <a:ea typeface="Times New Roman"/>
                        </a:rPr>
                        <a:t>Blackwell 深度优化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1E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b="1" noProof="1">
                          <a:solidFill>
                            <a:srgbClr val="23303E"/>
                          </a:solidFill>
                          <a:latin typeface="Times New Roman"/>
                          <a:ea typeface="Times New Roman"/>
                        </a:rPr>
                        <a:t>llama.cpp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1EB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noProof="1">
                          <a:solidFill>
                            <a:srgbClr val="23303E"/>
                          </a:solidFill>
                          <a:latin typeface="Times New Roman"/>
                          <a:ea typeface="Times New Roman"/>
                        </a:rPr>
                        <a:t>社区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1EB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noProof="1">
                          <a:solidFill>
                            <a:srgbClr val="23303E"/>
                          </a:solidFill>
                          <a:latin typeface="Times New Roman"/>
                          <a:ea typeface="Times New Roman"/>
                        </a:rPr>
                        <a:t>轻量级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1EB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noProof="1">
                          <a:solidFill>
                            <a:srgbClr val="23303E"/>
                          </a:solidFill>
                          <a:latin typeface="Times New Roman"/>
                          <a:ea typeface="Times New Roman"/>
                        </a:rPr>
                        <a:t>CPU / 边缘部署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1EB"/>
                      </a:solidFill>
                    </a:lnB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metrics"/>
          <p:cNvSpPr/>
          <p:nvPr/>
        </p:nvSpPr>
        <p:spPr>
          <a:xfrm>
            <a:off x="711200" y="5461000"/>
            <a:ext cx="10769600" cy="660400"/>
          </a:xfrm>
          <a:prstGeom prst="rect">
            <a:avLst/>
          </a:prstGeom>
          <a:solidFill>
            <a:srgbClr val="F3F6FA"/>
          </a:solidFill>
          <a:ln w="12700">
            <a:solidFill>
              <a:srgbClr val="D9E1E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metricst"/>
          <p:cNvSpPr txBox="1"/>
          <p:nvPr/>
        </p:nvSpPr>
        <p:spPr>
          <a:xfrm>
            <a:off x="965200" y="5461000"/>
            <a:ext cx="102616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250" b="1" noProof="1">
                <a:solidFill>
                  <a:srgbClr val="0B2440"/>
                </a:solidFill>
                <a:latin typeface="MiSans"/>
                <a:ea typeface="MiSans"/>
              </a:rPr>
              <a:t>关键指标</a:t>
            </a:r>
            <a:r>
              <a:rPr lang="en-US" sz="1250" noProof="1">
                <a:solidFill>
                  <a:srgbClr val="0B2440"/>
                </a:solidFill>
                <a:latin typeface="MiSans"/>
                <a:ea typeface="MiSans"/>
              </a:rPr>
              <a:t>：TTFT（首 token 延迟——用户感知的响应速度）｜ TPOT（每 token 时间——吞吐量的核心）｜ 吞吐量</a:t>
            </a:r>
            <a:endParaRPr lang="en-US" sz="1250" noProof="1"/>
          </a:p>
        </p:txBody>
      </p:sp>
      <p:sp>
        <p:nvSpPr>
          <p:cNvPr id="21" name="fline"/>
          <p:cNvSpPr/>
          <p:nvPr/>
        </p:nvSpPr>
        <p:spPr>
          <a:xfrm>
            <a:off x="711200" y="6477000"/>
            <a:ext cx="107696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fl"/>
          <p:cNvSpPr txBox="1"/>
          <p:nvPr/>
        </p:nvSpPr>
        <p:spPr>
          <a:xfrm>
            <a:off x="711200" y="65532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B7A8C"/>
                </a:solidFill>
                <a:latin typeface="MiSans"/>
                <a:ea typeface="MiSans"/>
              </a:rPr>
              <a:t>Token Factory · AI 推理的成本革命</a:t>
            </a:r>
            <a:endParaRPr lang="en-US" sz="950" noProof="1"/>
          </a:p>
        </p:txBody>
      </p:sp>
      <p:sp>
        <p:nvSpPr>
          <p:cNvPr id="23" name="fr"/>
          <p:cNvSpPr txBox="1"/>
          <p:nvPr/>
        </p:nvSpPr>
        <p:spPr>
          <a:xfrm>
            <a:off x="10210800" y="65532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6B7A8C"/>
                </a:solidFill>
                <a:latin typeface="MiSans"/>
                <a:ea typeface="MiSans"/>
              </a:rPr>
              <a:t>19 / 40</a:t>
            </a:r>
            <a:endParaRPr lang="en-US" sz="950" noProof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"/>
          <p:cNvSpPr txBox="1"/>
          <p:nvPr/>
        </p:nvSpPr>
        <p:spPr>
          <a:xfrm>
            <a:off x="711200" y="3810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F07D0A"/>
                </a:solidFill>
                <a:latin typeface="MiSans"/>
                <a:ea typeface="MiSans"/>
              </a:rPr>
              <a:t>第三层杠杆 · 推理引擎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350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600" b="1" noProof="1">
                <a:solidFill>
                  <a:srgbClr val="0B2440"/>
                </a:solidFill>
                <a:latin typeface="MiSans"/>
                <a:ea typeface="MiSans"/>
              </a:rPr>
              <a:t>KV Cache：推理成本的第一大头</a:t>
            </a:r>
            <a:endParaRPr lang="en-US" sz="2600" noProof="1"/>
          </a:p>
        </p:txBody>
      </p:sp>
      <p:sp>
        <p:nvSpPr>
          <p:cNvPr id="4" name="rule"/>
          <p:cNvSpPr/>
          <p:nvPr/>
        </p:nvSpPr>
        <p:spPr>
          <a:xfrm>
            <a:off x="711200" y="1270000"/>
            <a:ext cx="107696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abar"/>
          <p:cNvSpPr/>
          <p:nvPr/>
        </p:nvSpPr>
        <p:spPr>
          <a:xfrm>
            <a:off x="711200" y="1244600"/>
            <a:ext cx="812800" cy="381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why"/>
          <p:cNvSpPr txBox="1"/>
          <p:nvPr/>
        </p:nvSpPr>
        <p:spPr>
          <a:xfrm>
            <a:off x="711200" y="1600200"/>
            <a:ext cx="5334000" cy="177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350" b="1" noProof="1">
                <a:solidFill>
                  <a:srgbClr val="23303E"/>
                </a:solidFill>
                <a:latin typeface="MiSans"/>
                <a:ea typeface="MiSans"/>
              </a:rPr>
              <a:t>为什么它是最大成本项</a:t>
            </a:r>
            <a:endParaRPr lang="en-US" sz="1350" noProof="1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每生成一个 token，都要保留所有历史 K/V</a:t>
            </a:r>
            <a:endParaRPr lang="en-US" sz="1350" noProof="1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1M 上下文 → KV Cache 高达</a:t>
            </a:r>
            <a:r>
              <a:rPr lang="en-US" sz="1350" b="1" noProof="1">
                <a:solidFill>
                  <a:srgbClr val="F07D0A"/>
                </a:solidFill>
                <a:latin typeface="MiSans"/>
                <a:ea typeface="MiSans"/>
              </a:rPr>
              <a:t>数百 GB</a:t>
            </a:r>
            <a:endParaRPr lang="en-US" sz="1350" noProof="1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显存是 GPU 上最贵的资源——占用多少显存，就吃掉多少成本</a:t>
            </a:r>
            <a:endParaRPr lang="en-US" sz="1350" noProof="1"/>
          </a:p>
        </p:txBody>
      </p:sp>
      <p:sp>
        <p:nvSpPr>
          <p:cNvPr id="7" name="sol"/>
          <p:cNvSpPr txBox="1"/>
          <p:nvPr/>
        </p:nvSpPr>
        <p:spPr>
          <a:xfrm>
            <a:off x="711200" y="3530600"/>
            <a:ext cx="5334000" cy="25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350" b="1" noProof="1">
                <a:solidFill>
                  <a:srgbClr val="23303E"/>
                </a:solidFill>
                <a:latin typeface="MiSans"/>
                <a:ea typeface="MiSans"/>
              </a:rPr>
              <a:t>四层解法</a:t>
            </a:r>
            <a:endParaRPr lang="en-US" sz="135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350" b="1" noProof="1">
                <a:solidFill>
                  <a:srgbClr val="23303E"/>
                </a:solidFill>
                <a:latin typeface="MiSans"/>
                <a:ea typeface="MiSans"/>
              </a:rPr>
              <a:t>① 架构层</a:t>
            </a: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：MLA / KDA 压缩（第一层杠杆）</a:t>
            </a:r>
            <a:endParaRPr lang="en-US" sz="135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350" b="1" noProof="1">
                <a:solidFill>
                  <a:srgbClr val="23303E"/>
                </a:solidFill>
                <a:latin typeface="MiSans"/>
                <a:ea typeface="MiSans"/>
              </a:rPr>
              <a:t>② 量化层</a:t>
            </a: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：KV Cache 用 FP8 / FP4 存储</a:t>
            </a:r>
            <a:endParaRPr lang="en-US" sz="135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350" b="1" noProof="1">
                <a:solidFill>
                  <a:srgbClr val="23303E"/>
                </a:solidFill>
                <a:latin typeface="MiSans"/>
                <a:ea typeface="MiSans"/>
              </a:rPr>
              <a:t>③ 分页层</a:t>
            </a: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：PagedAttention（vLLM）——像操作系统分页一样管理显存，消除碎片</a:t>
            </a:r>
            <a:endParaRPr lang="en-US" sz="135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350" b="1" noProof="1">
                <a:solidFill>
                  <a:srgbClr val="23303E"/>
                </a:solidFill>
                <a:latin typeface="MiSans"/>
                <a:ea typeface="MiSans"/>
              </a:rPr>
              <a:t>④ 多级缓存</a:t>
            </a: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：GPU → CPU → SSD（L1 / L2 / L3）</a:t>
            </a:r>
            <a:endParaRPr lang="en-US" sz="1350" noProof="1"/>
          </a:p>
        </p:txBody>
      </p:sp>
      <p:sp>
        <p:nvSpPr>
          <p:cNvPr id="8" name="rh"/>
          <p:cNvSpPr txBox="1"/>
          <p:nvPr/>
        </p:nvSpPr>
        <p:spPr>
          <a:xfrm>
            <a:off x="6858000" y="1600200"/>
            <a:ext cx="46228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6B7A8C"/>
                </a:solidFill>
                <a:latin typeface="MiSans"/>
                <a:ea typeface="MiSans"/>
              </a:rPr>
              <a:t>KV Cache 规模 vs 上下文长度（示意，随序列线性增长）</a:t>
            </a:r>
            <a:endParaRPr lang="en-US" sz="1150" noProof="1"/>
          </a:p>
        </p:txBody>
      </p:sp>
      <p:sp>
        <p:nvSpPr>
          <p:cNvPr id="9" name="b1"/>
          <p:cNvSpPr/>
          <p:nvPr/>
        </p:nvSpPr>
        <p:spPr>
          <a:xfrm>
            <a:off x="7112000" y="5080000"/>
            <a:ext cx="889000" cy="762000"/>
          </a:xfrm>
          <a:prstGeom prst="rect">
            <a:avLst/>
          </a:prstGeom>
          <a:solidFill>
            <a:srgbClr val="E7EDF4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b1l"/>
          <p:cNvSpPr txBox="1"/>
          <p:nvPr/>
        </p:nvSpPr>
        <p:spPr>
          <a:xfrm>
            <a:off x="7112000" y="5918200"/>
            <a:ext cx="889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noProof="1">
                <a:solidFill>
                  <a:srgbClr val="0B2440"/>
                </a:solidFill>
                <a:latin typeface="MiSans"/>
                <a:ea typeface="MiSans"/>
              </a:rPr>
              <a:t>1K</a:t>
            </a:r>
            <a:endParaRPr lang="en-US" sz="1100" noProof="1"/>
          </a:p>
        </p:txBody>
      </p:sp>
      <p:sp>
        <p:nvSpPr>
          <p:cNvPr id="11" name="b2"/>
          <p:cNvSpPr/>
          <p:nvPr/>
        </p:nvSpPr>
        <p:spPr>
          <a:xfrm>
            <a:off x="8255000" y="4318000"/>
            <a:ext cx="889000" cy="1524000"/>
          </a:xfrm>
          <a:prstGeom prst="rect">
            <a:avLst/>
          </a:prstGeom>
          <a:solidFill>
            <a:srgbClr val="E7EDF4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b2l"/>
          <p:cNvSpPr txBox="1"/>
          <p:nvPr/>
        </p:nvSpPr>
        <p:spPr>
          <a:xfrm>
            <a:off x="8255000" y="5918200"/>
            <a:ext cx="889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noProof="1">
                <a:solidFill>
                  <a:srgbClr val="0B2440"/>
                </a:solidFill>
                <a:latin typeface="MiSans"/>
                <a:ea typeface="MiSans"/>
              </a:rPr>
              <a:t>32K</a:t>
            </a:r>
            <a:endParaRPr lang="en-US" sz="1100" noProof="1"/>
          </a:p>
        </p:txBody>
      </p:sp>
      <p:sp>
        <p:nvSpPr>
          <p:cNvPr id="13" name="b3"/>
          <p:cNvSpPr/>
          <p:nvPr/>
        </p:nvSpPr>
        <p:spPr>
          <a:xfrm>
            <a:off x="9398000" y="3175000"/>
            <a:ext cx="889000" cy="2667000"/>
          </a:xfrm>
          <a:prstGeom prst="rect">
            <a:avLst/>
          </a:prstGeom>
          <a:solidFill>
            <a:srgbClr val="33506E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b3l"/>
          <p:cNvSpPr txBox="1"/>
          <p:nvPr/>
        </p:nvSpPr>
        <p:spPr>
          <a:xfrm>
            <a:off x="9398000" y="5918200"/>
            <a:ext cx="889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noProof="1">
                <a:solidFill>
                  <a:srgbClr val="0B2440"/>
                </a:solidFill>
                <a:latin typeface="MiSans"/>
                <a:ea typeface="MiSans"/>
              </a:rPr>
              <a:t>128K</a:t>
            </a:r>
            <a:endParaRPr lang="en-US" sz="1100" noProof="1"/>
          </a:p>
        </p:txBody>
      </p:sp>
      <p:sp>
        <p:nvSpPr>
          <p:cNvPr id="15" name="b4"/>
          <p:cNvSpPr/>
          <p:nvPr/>
        </p:nvSpPr>
        <p:spPr>
          <a:xfrm>
            <a:off x="10541000" y="2032000"/>
            <a:ext cx="889000" cy="38100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b4l"/>
          <p:cNvSpPr txBox="1"/>
          <p:nvPr/>
        </p:nvSpPr>
        <p:spPr>
          <a:xfrm>
            <a:off x="10541000" y="5918200"/>
            <a:ext cx="889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noProof="1">
                <a:solidFill>
                  <a:srgbClr val="0B2440"/>
                </a:solidFill>
                <a:latin typeface="MiSans"/>
                <a:ea typeface="MiSans"/>
              </a:rPr>
              <a:t>1M</a:t>
            </a:r>
            <a:endParaRPr lang="en-US" sz="1100" noProof="1"/>
          </a:p>
        </p:txBody>
      </p:sp>
      <p:sp>
        <p:nvSpPr>
          <p:cNvPr id="17" name="b4cap"/>
          <p:cNvSpPr txBox="1"/>
          <p:nvPr/>
        </p:nvSpPr>
        <p:spPr>
          <a:xfrm>
            <a:off x="10287000" y="1727200"/>
            <a:ext cx="1397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50" b="1" noProof="1">
                <a:solidFill>
                  <a:srgbClr val="F07D0A"/>
                </a:solidFill>
                <a:latin typeface="MiSans"/>
                <a:ea typeface="MiSans"/>
              </a:rPr>
              <a:t>数百 GB</a:t>
            </a:r>
            <a:endParaRPr lang="en-US" sz="1150" noProof="1"/>
          </a:p>
        </p:txBody>
      </p:sp>
      <p:sp>
        <p:nvSpPr>
          <p:cNvPr id="18" name="chartnote"/>
          <p:cNvSpPr txBox="1"/>
          <p:nvPr/>
        </p:nvSpPr>
        <p:spPr>
          <a:xfrm>
            <a:off x="6858000" y="6172200"/>
            <a:ext cx="46228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B7A8C"/>
                </a:solidFill>
                <a:latin typeface="MiSans"/>
                <a:ea typeface="MiSans"/>
              </a:rPr>
              <a:t>上下文长度（token）；具体规模取决于模型与精度</a:t>
            </a:r>
            <a:endParaRPr lang="en-US" sz="1000" noProof="1"/>
          </a:p>
        </p:txBody>
      </p:sp>
      <p:sp>
        <p:nvSpPr>
          <p:cNvPr id="19" name="fline"/>
          <p:cNvSpPr/>
          <p:nvPr/>
        </p:nvSpPr>
        <p:spPr>
          <a:xfrm>
            <a:off x="711200" y="6477000"/>
            <a:ext cx="107696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fl"/>
          <p:cNvSpPr txBox="1"/>
          <p:nvPr/>
        </p:nvSpPr>
        <p:spPr>
          <a:xfrm>
            <a:off x="711200" y="65532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B7A8C"/>
                </a:solidFill>
                <a:latin typeface="MiSans"/>
                <a:ea typeface="MiSans"/>
              </a:rPr>
              <a:t>Token Factory · AI 推理的成本革命</a:t>
            </a:r>
            <a:endParaRPr lang="en-US" sz="950" noProof="1"/>
          </a:p>
        </p:txBody>
      </p:sp>
      <p:sp>
        <p:nvSpPr>
          <p:cNvPr id="21" name="fr"/>
          <p:cNvSpPr txBox="1"/>
          <p:nvPr/>
        </p:nvSpPr>
        <p:spPr>
          <a:xfrm>
            <a:off x="10210800" y="65532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6B7A8C"/>
                </a:solidFill>
                <a:latin typeface="MiSans"/>
                <a:ea typeface="MiSans"/>
              </a:rPr>
              <a:t>20 / 40</a:t>
            </a:r>
            <a:endParaRPr lang="en-US" sz="950" noProof="1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"/>
          <p:cNvSpPr txBox="1"/>
          <p:nvPr/>
        </p:nvSpPr>
        <p:spPr>
          <a:xfrm>
            <a:off x="711200" y="3810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F07D0A"/>
                </a:solidFill>
                <a:latin typeface="MiSans"/>
                <a:ea typeface="MiSans"/>
              </a:rPr>
              <a:t>第三层杠杆 · 推理引擎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350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600" b="1" noProof="1">
                <a:solidFill>
                  <a:srgbClr val="0B2440"/>
                </a:solidFill>
                <a:latin typeface="MiSans"/>
                <a:ea typeface="MiSans"/>
              </a:rPr>
              <a:t>连续批处理：让 GPU 一分钟都不闲</a:t>
            </a:r>
            <a:endParaRPr lang="en-US" sz="2600" noProof="1"/>
          </a:p>
        </p:txBody>
      </p:sp>
      <p:sp>
        <p:nvSpPr>
          <p:cNvPr id="4" name="rule"/>
          <p:cNvSpPr/>
          <p:nvPr/>
        </p:nvSpPr>
        <p:spPr>
          <a:xfrm>
            <a:off x="711200" y="1270000"/>
            <a:ext cx="107696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abar"/>
          <p:cNvSpPr/>
          <p:nvPr/>
        </p:nvSpPr>
        <p:spPr>
          <a:xfrm>
            <a:off x="711200" y="1244600"/>
            <a:ext cx="812800" cy="381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lane1lab"/>
          <p:cNvSpPr txBox="1"/>
          <p:nvPr/>
        </p:nvSpPr>
        <p:spPr>
          <a:xfrm>
            <a:off x="711200" y="1778000"/>
            <a:ext cx="1778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noProof="1">
                <a:solidFill>
                  <a:srgbClr val="0B2440"/>
                </a:solidFill>
                <a:latin typeface="MiSans"/>
                <a:ea typeface="MiSans"/>
              </a:rPr>
              <a:t>传统批处理</a:t>
            </a:r>
            <a:endParaRPr lang="en-US" sz="1300" noProof="1"/>
          </a:p>
        </p:txBody>
      </p:sp>
      <p:sp>
        <p:nvSpPr>
          <p:cNvPr id="7" name="t1a"/>
          <p:cNvSpPr/>
          <p:nvPr/>
        </p:nvSpPr>
        <p:spPr>
          <a:xfrm>
            <a:off x="2540000" y="1752600"/>
            <a:ext cx="3048000" cy="330200"/>
          </a:xfrm>
          <a:prstGeom prst="rect">
            <a:avLst/>
          </a:prstGeom>
          <a:solidFill>
            <a:srgbClr val="0B244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1at"/>
          <p:cNvSpPr txBox="1"/>
          <p:nvPr/>
        </p:nvSpPr>
        <p:spPr>
          <a:xfrm>
            <a:off x="2641600" y="1752600"/>
            <a:ext cx="2794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>
                <a:solidFill>
                  <a:srgbClr val="FFFFFF"/>
                </a:solidFill>
                <a:latin typeface="MiSans"/>
                <a:ea typeface="MiSans"/>
              </a:rPr>
              <a:t>请求 A</a:t>
            </a:r>
            <a:endParaRPr lang="en-US" sz="1050" noProof="1"/>
          </a:p>
        </p:txBody>
      </p:sp>
      <p:sp>
        <p:nvSpPr>
          <p:cNvPr id="9" name="t1aidle"/>
          <p:cNvSpPr/>
          <p:nvPr/>
        </p:nvSpPr>
        <p:spPr>
          <a:xfrm>
            <a:off x="5588000" y="1752600"/>
            <a:ext cx="1524000" cy="330200"/>
          </a:xfrm>
          <a:prstGeom prst="rect">
            <a:avLst/>
          </a:prstGeom>
          <a:solidFill>
            <a:srgbClr val="E7EDF4"/>
          </a:solidFill>
          <a:ln w="12700">
            <a:solidFill>
              <a:srgbClr val="6B7A8C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1b"/>
          <p:cNvSpPr/>
          <p:nvPr/>
        </p:nvSpPr>
        <p:spPr>
          <a:xfrm>
            <a:off x="2540000" y="2184400"/>
            <a:ext cx="2032000" cy="330200"/>
          </a:xfrm>
          <a:prstGeom prst="rect">
            <a:avLst/>
          </a:prstGeom>
          <a:solidFill>
            <a:srgbClr val="33506E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1bt"/>
          <p:cNvSpPr txBox="1"/>
          <p:nvPr/>
        </p:nvSpPr>
        <p:spPr>
          <a:xfrm>
            <a:off x="2641600" y="2184400"/>
            <a:ext cx="1778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>
                <a:solidFill>
                  <a:srgbClr val="FFFFFF"/>
                </a:solidFill>
                <a:latin typeface="MiSans"/>
                <a:ea typeface="MiSans"/>
              </a:rPr>
              <a:t>请求 B</a:t>
            </a:r>
            <a:endParaRPr lang="en-US" sz="1050" noProof="1"/>
          </a:p>
        </p:txBody>
      </p:sp>
      <p:sp>
        <p:nvSpPr>
          <p:cNvPr id="12" name="t1bidle"/>
          <p:cNvSpPr/>
          <p:nvPr/>
        </p:nvSpPr>
        <p:spPr>
          <a:xfrm>
            <a:off x="4572000" y="2184400"/>
            <a:ext cx="2540000" cy="330200"/>
          </a:xfrm>
          <a:prstGeom prst="rect">
            <a:avLst/>
          </a:prstGeom>
          <a:solidFill>
            <a:srgbClr val="E7EDF4"/>
          </a:solidFill>
          <a:ln w="12700">
            <a:solidFill>
              <a:srgbClr val="6B7A8C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1c"/>
          <p:cNvSpPr/>
          <p:nvPr/>
        </p:nvSpPr>
        <p:spPr>
          <a:xfrm>
            <a:off x="2540000" y="2616200"/>
            <a:ext cx="4572000" cy="330200"/>
          </a:xfrm>
          <a:prstGeom prst="rect">
            <a:avLst/>
          </a:prstGeom>
          <a:solidFill>
            <a:srgbClr val="0B244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1ct"/>
          <p:cNvSpPr txBox="1"/>
          <p:nvPr/>
        </p:nvSpPr>
        <p:spPr>
          <a:xfrm>
            <a:off x="2641600" y="2616200"/>
            <a:ext cx="4318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>
                <a:solidFill>
                  <a:srgbClr val="FFFFFF"/>
                </a:solidFill>
                <a:latin typeface="MiSans"/>
                <a:ea typeface="MiSans"/>
              </a:rPr>
              <a:t>请求 C（最慢，拖住整个批次）</a:t>
            </a:r>
            <a:endParaRPr lang="en-US" sz="1050" noProof="1"/>
          </a:p>
        </p:txBody>
      </p:sp>
      <p:sp>
        <p:nvSpPr>
          <p:cNvPr id="15" name="t1note"/>
          <p:cNvSpPr txBox="1"/>
          <p:nvPr/>
        </p:nvSpPr>
        <p:spPr>
          <a:xfrm>
            <a:off x="7493000" y="1905000"/>
            <a:ext cx="39878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6B7A8C"/>
                </a:solidFill>
                <a:latin typeface="MiSans"/>
                <a:ea typeface="MiSans"/>
              </a:rPr>
              <a:t>要等最慢的请求完成，整个批次才能释放——虚线区域里 GPU 在空转</a:t>
            </a:r>
            <a:endParaRPr lang="en-US" sz="1150" noProof="1"/>
          </a:p>
        </p:txBody>
      </p:sp>
      <p:sp>
        <p:nvSpPr>
          <p:cNvPr id="16" name="lane2lab"/>
          <p:cNvSpPr txBox="1"/>
          <p:nvPr/>
        </p:nvSpPr>
        <p:spPr>
          <a:xfrm>
            <a:off x="711200" y="3683000"/>
            <a:ext cx="1778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noProof="1">
                <a:solidFill>
                  <a:srgbClr val="F07D0A"/>
                </a:solidFill>
                <a:latin typeface="MiSans"/>
                <a:ea typeface="MiSans"/>
              </a:rPr>
              <a:t>连续批处理</a:t>
            </a:r>
            <a:endParaRPr lang="en-US" sz="1300" noProof="1"/>
          </a:p>
        </p:txBody>
      </p:sp>
      <p:sp>
        <p:nvSpPr>
          <p:cNvPr id="17" name="t2a"/>
          <p:cNvSpPr/>
          <p:nvPr/>
        </p:nvSpPr>
        <p:spPr>
          <a:xfrm>
            <a:off x="2540000" y="3657600"/>
            <a:ext cx="3048000" cy="330200"/>
          </a:xfrm>
          <a:prstGeom prst="rect">
            <a:avLst/>
          </a:prstGeom>
          <a:solidFill>
            <a:srgbClr val="0B244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2at"/>
          <p:cNvSpPr txBox="1"/>
          <p:nvPr/>
        </p:nvSpPr>
        <p:spPr>
          <a:xfrm>
            <a:off x="2641600" y="3657600"/>
            <a:ext cx="2794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>
                <a:solidFill>
                  <a:srgbClr val="FFFFFF"/>
                </a:solidFill>
                <a:latin typeface="MiSans"/>
                <a:ea typeface="MiSans"/>
              </a:rPr>
              <a:t>请求 A</a:t>
            </a:r>
            <a:endParaRPr lang="en-US" sz="1050" noProof="1"/>
          </a:p>
        </p:txBody>
      </p:sp>
      <p:sp>
        <p:nvSpPr>
          <p:cNvPr id="19" name="t2a2"/>
          <p:cNvSpPr/>
          <p:nvPr/>
        </p:nvSpPr>
        <p:spPr>
          <a:xfrm>
            <a:off x="5588000" y="3657600"/>
            <a:ext cx="1905000" cy="3302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2a2t"/>
          <p:cNvSpPr txBox="1"/>
          <p:nvPr/>
        </p:nvSpPr>
        <p:spPr>
          <a:xfrm>
            <a:off x="5689600" y="3657600"/>
            <a:ext cx="1651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050" b="1" noProof="1">
                <a:solidFill>
                  <a:srgbClr val="FFFFFF"/>
                </a:solidFill>
                <a:latin typeface="MiSans"/>
                <a:ea typeface="MiSans"/>
              </a:rPr>
              <a:t>新请求 D 补位</a:t>
            </a:r>
            <a:endParaRPr lang="en-US" sz="1050" noProof="1"/>
          </a:p>
        </p:txBody>
      </p:sp>
      <p:sp>
        <p:nvSpPr>
          <p:cNvPr id="21" name="t2b"/>
          <p:cNvSpPr/>
          <p:nvPr/>
        </p:nvSpPr>
        <p:spPr>
          <a:xfrm>
            <a:off x="2540000" y="4089400"/>
            <a:ext cx="2032000" cy="330200"/>
          </a:xfrm>
          <a:prstGeom prst="rect">
            <a:avLst/>
          </a:prstGeom>
          <a:solidFill>
            <a:srgbClr val="33506E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2bt"/>
          <p:cNvSpPr txBox="1"/>
          <p:nvPr/>
        </p:nvSpPr>
        <p:spPr>
          <a:xfrm>
            <a:off x="2641600" y="4089400"/>
            <a:ext cx="1778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>
                <a:solidFill>
                  <a:srgbClr val="FFFFFF"/>
                </a:solidFill>
                <a:latin typeface="MiSans"/>
                <a:ea typeface="MiSans"/>
              </a:rPr>
              <a:t>请求 B</a:t>
            </a:r>
            <a:endParaRPr lang="en-US" sz="1050" noProof="1"/>
          </a:p>
        </p:txBody>
      </p:sp>
      <p:sp>
        <p:nvSpPr>
          <p:cNvPr id="23" name="t2b2"/>
          <p:cNvSpPr/>
          <p:nvPr/>
        </p:nvSpPr>
        <p:spPr>
          <a:xfrm>
            <a:off x="4572000" y="4089400"/>
            <a:ext cx="2921000" cy="3302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2b2t"/>
          <p:cNvSpPr txBox="1"/>
          <p:nvPr/>
        </p:nvSpPr>
        <p:spPr>
          <a:xfrm>
            <a:off x="4673600" y="4089400"/>
            <a:ext cx="2667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050" b="1" noProof="1">
                <a:solidFill>
                  <a:srgbClr val="FFFFFF"/>
                </a:solidFill>
                <a:latin typeface="MiSans"/>
                <a:ea typeface="MiSans"/>
              </a:rPr>
              <a:t>新请求 E 补位</a:t>
            </a:r>
            <a:endParaRPr lang="en-US" sz="1050" noProof="1"/>
          </a:p>
        </p:txBody>
      </p:sp>
      <p:sp>
        <p:nvSpPr>
          <p:cNvPr id="25" name="t2c"/>
          <p:cNvSpPr/>
          <p:nvPr/>
        </p:nvSpPr>
        <p:spPr>
          <a:xfrm>
            <a:off x="2540000" y="4521200"/>
            <a:ext cx="4572000" cy="330200"/>
          </a:xfrm>
          <a:prstGeom prst="rect">
            <a:avLst/>
          </a:prstGeom>
          <a:solidFill>
            <a:srgbClr val="0B244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2ct"/>
          <p:cNvSpPr txBox="1"/>
          <p:nvPr/>
        </p:nvSpPr>
        <p:spPr>
          <a:xfrm>
            <a:off x="2641600" y="4521200"/>
            <a:ext cx="4318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>
                <a:solidFill>
                  <a:srgbClr val="FFFFFF"/>
                </a:solidFill>
                <a:latin typeface="MiSans"/>
                <a:ea typeface="MiSans"/>
              </a:rPr>
              <a:t>请求 C</a:t>
            </a:r>
            <a:endParaRPr lang="en-US" sz="1050" noProof="1"/>
          </a:p>
        </p:txBody>
      </p:sp>
      <p:sp>
        <p:nvSpPr>
          <p:cNvPr id="27" name="t2note"/>
          <p:cNvSpPr txBox="1"/>
          <p:nvPr/>
        </p:nvSpPr>
        <p:spPr>
          <a:xfrm>
            <a:off x="7874000" y="3810000"/>
            <a:ext cx="36068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23303E"/>
                </a:solidFill>
                <a:latin typeface="MiSans"/>
                <a:ea typeface="MiSans"/>
              </a:rPr>
              <a:t>序列一完成，立刻腾出位置，</a:t>
            </a:r>
            <a:r>
              <a:rPr lang="en-US" sz="1150" b="1" noProof="1">
                <a:solidFill>
                  <a:srgbClr val="F07D0A"/>
                </a:solidFill>
                <a:latin typeface="MiSans"/>
                <a:ea typeface="MiSans"/>
              </a:rPr>
              <a:t>新请求马上补上</a:t>
            </a:r>
            <a:r>
              <a:rPr lang="en-US" sz="1150" noProof="1">
                <a:solidFill>
                  <a:srgbClr val="23303E"/>
                </a:solidFill>
                <a:latin typeface="MiSans"/>
                <a:ea typeface="MiSans"/>
              </a:rPr>
              <a:t>——GPU 永不空闲</a:t>
            </a:r>
            <a:endParaRPr lang="en-US" sz="1150" noProof="1"/>
          </a:p>
        </p:txBody>
      </p:sp>
      <p:sp>
        <p:nvSpPr>
          <p:cNvPr id="28" name="legend"/>
          <p:cNvSpPr txBox="1"/>
          <p:nvPr/>
        </p:nvSpPr>
        <p:spPr>
          <a:xfrm>
            <a:off x="2540000" y="50292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50" noProof="1">
                <a:solidFill>
                  <a:srgbClr val="0B2440"/>
                </a:solidFill>
                <a:latin typeface="MiSans"/>
                <a:ea typeface="MiSans"/>
              </a:rPr>
              <a:t>■</a:t>
            </a:r>
            <a:r>
              <a:rPr lang="en-US" sz="1050" noProof="1">
                <a:solidFill>
                  <a:srgbClr val="6B7A8C"/>
                </a:solidFill>
                <a:latin typeface="MiSans"/>
                <a:ea typeface="MiSans"/>
              </a:rPr>
              <a:t> 原批次请求　</a:t>
            </a:r>
            <a:r>
              <a:rPr lang="en-US" sz="1050" noProof="1">
                <a:solidFill>
                  <a:srgbClr val="F07D0A"/>
                </a:solidFill>
                <a:latin typeface="MiSans"/>
                <a:ea typeface="MiSans"/>
              </a:rPr>
              <a:t>■</a:t>
            </a:r>
            <a:r>
              <a:rPr lang="en-US" sz="1050" noProof="1">
                <a:solidFill>
                  <a:srgbClr val="6B7A8C"/>
                </a:solidFill>
                <a:latin typeface="MiSans"/>
                <a:ea typeface="MiSans"/>
              </a:rPr>
              <a:t> 完成后立即补位的新请求　□ GPU 空转</a:t>
            </a:r>
            <a:endParaRPr lang="en-US" sz="1050" noProof="1"/>
          </a:p>
        </p:txBody>
      </p:sp>
      <p:sp>
        <p:nvSpPr>
          <p:cNvPr id="29" name="st1"/>
          <p:cNvSpPr txBox="1"/>
          <p:nvPr/>
        </p:nvSpPr>
        <p:spPr>
          <a:xfrm>
            <a:off x="2540000" y="5537200"/>
            <a:ext cx="4318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2200" b="1" noProof="1">
                <a:solidFill>
                  <a:srgbClr val="F07D0A"/>
                </a:solidFill>
                <a:latin typeface="MiSans"/>
                <a:ea typeface="MiSans"/>
              </a:rPr>
              <a:t>50% → 90%+</a:t>
            </a:r>
            <a:endParaRPr lang="en-US" sz="1600" noProof="1"/>
          </a:p>
          <a:p>
            <a:pPr>
              <a:lnSpc>
                <a:spcPct val="140000"/>
              </a:lnSpc>
            </a:pPr>
            <a:r>
              <a:rPr lang="en-US" sz="1150" noProof="1">
                <a:solidFill>
                  <a:srgbClr val="6B7A8C"/>
                </a:solidFill>
                <a:latin typeface="MiSans"/>
                <a:ea typeface="MiSans"/>
              </a:rPr>
              <a:t>GPU 利用率</a:t>
            </a:r>
            <a:endParaRPr lang="en-US" sz="1600" noProof="1"/>
          </a:p>
        </p:txBody>
      </p:sp>
      <p:sp>
        <p:nvSpPr>
          <p:cNvPr id="30" name="st2"/>
          <p:cNvSpPr txBox="1"/>
          <p:nvPr/>
        </p:nvSpPr>
        <p:spPr>
          <a:xfrm>
            <a:off x="7112000" y="5537200"/>
            <a:ext cx="4318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2200" b="1" noProof="1">
                <a:solidFill>
                  <a:srgbClr val="F07D0A"/>
                </a:solidFill>
                <a:latin typeface="MiSans"/>
                <a:ea typeface="MiSans"/>
              </a:rPr>
              <a:t>2–4×</a:t>
            </a:r>
            <a:endParaRPr lang="en-US" sz="1600" noProof="1"/>
          </a:p>
          <a:p>
            <a:pPr>
              <a:lnSpc>
                <a:spcPct val="140000"/>
              </a:lnSpc>
            </a:pPr>
            <a:r>
              <a:rPr lang="en-US" sz="1150" noProof="1">
                <a:solidFill>
                  <a:srgbClr val="6B7A8C"/>
                </a:solidFill>
                <a:latin typeface="MiSans"/>
                <a:ea typeface="MiSans"/>
              </a:rPr>
              <a:t>吞吐量提升</a:t>
            </a:r>
            <a:endParaRPr lang="en-US" sz="1600" noProof="1"/>
          </a:p>
        </p:txBody>
      </p:sp>
      <p:sp>
        <p:nvSpPr>
          <p:cNvPr id="31" name="fline"/>
          <p:cNvSpPr/>
          <p:nvPr/>
        </p:nvSpPr>
        <p:spPr>
          <a:xfrm>
            <a:off x="711200" y="6477000"/>
            <a:ext cx="107696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fl"/>
          <p:cNvSpPr txBox="1"/>
          <p:nvPr/>
        </p:nvSpPr>
        <p:spPr>
          <a:xfrm>
            <a:off x="711200" y="65532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B7A8C"/>
                </a:solidFill>
                <a:latin typeface="MiSans"/>
                <a:ea typeface="MiSans"/>
              </a:rPr>
              <a:t>Token Factory · AI 推理的成本革命</a:t>
            </a:r>
            <a:endParaRPr lang="en-US" sz="950" noProof="1"/>
          </a:p>
        </p:txBody>
      </p:sp>
      <p:sp>
        <p:nvSpPr>
          <p:cNvPr id="33" name="fr"/>
          <p:cNvSpPr txBox="1"/>
          <p:nvPr/>
        </p:nvSpPr>
        <p:spPr>
          <a:xfrm>
            <a:off x="10210800" y="65532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6B7A8C"/>
                </a:solidFill>
                <a:latin typeface="MiSans"/>
                <a:ea typeface="MiSans"/>
              </a:rPr>
              <a:t>21 / 40</a:t>
            </a:r>
            <a:endParaRPr lang="en-US" sz="950" noProof="1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"/>
          <p:cNvSpPr txBox="1"/>
          <p:nvPr/>
        </p:nvSpPr>
        <p:spPr>
          <a:xfrm>
            <a:off x="711200" y="3810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F07D0A"/>
                </a:solidFill>
                <a:latin typeface="MiSans"/>
                <a:ea typeface="MiSans"/>
              </a:rPr>
              <a:t>第三层杠杆 · 推理引擎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350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600" b="1" noProof="1">
                <a:solidFill>
                  <a:srgbClr val="0B2440"/>
                </a:solidFill>
                <a:latin typeface="MiSans"/>
                <a:ea typeface="MiSans"/>
              </a:rPr>
              <a:t>投机解码：让小模型帮大模型“打草稿”</a:t>
            </a:r>
            <a:endParaRPr lang="en-US" sz="2600" noProof="1"/>
          </a:p>
        </p:txBody>
      </p:sp>
      <p:sp>
        <p:nvSpPr>
          <p:cNvPr id="4" name="rule"/>
          <p:cNvSpPr/>
          <p:nvPr/>
        </p:nvSpPr>
        <p:spPr>
          <a:xfrm>
            <a:off x="711200" y="1270000"/>
            <a:ext cx="107696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abar"/>
          <p:cNvSpPr/>
          <p:nvPr/>
        </p:nvSpPr>
        <p:spPr>
          <a:xfrm>
            <a:off x="711200" y="1244600"/>
            <a:ext cx="812800" cy="381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how"/>
          <p:cNvSpPr txBox="1"/>
          <p:nvPr/>
        </p:nvSpPr>
        <p:spPr>
          <a:xfrm>
            <a:off x="711200" y="1600200"/>
            <a:ext cx="5334000" cy="215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350" b="1" noProof="1">
                <a:solidFill>
                  <a:srgbClr val="23303E"/>
                </a:solidFill>
                <a:latin typeface="MiSans"/>
                <a:ea typeface="MiSans"/>
              </a:rPr>
              <a:t>原理</a:t>
            </a:r>
            <a:endParaRPr lang="en-US" sz="1350" noProof="1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① 小模型（快、便宜）先猜几个 token</a:t>
            </a:r>
            <a:endParaRPr lang="en-US" sz="1350" noProof="1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② 大模型（慢、贵）一次并行验证整批</a:t>
            </a:r>
            <a:endParaRPr lang="en-US" sz="1350" noProof="1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③ 猜对几个，就一次产出几个</a:t>
            </a:r>
            <a:endParaRPr lang="en-US" sz="135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收益：解码提速 </a:t>
            </a:r>
            <a:r>
              <a:rPr lang="en-US" sz="1350" b="1" noProof="1">
                <a:solidFill>
                  <a:srgbClr val="F07D0A"/>
                </a:solidFill>
                <a:latin typeface="MiSans"/>
                <a:ea typeface="MiSans"/>
              </a:rPr>
              <a:t>2–3×</a:t>
            </a:r>
            <a:endParaRPr lang="en-US" sz="1350" noProof="1"/>
          </a:p>
        </p:txBody>
      </p:sp>
      <p:sp>
        <p:nvSpPr>
          <p:cNvPr id="7" name="pain"/>
          <p:cNvSpPr txBox="1"/>
          <p:nvPr/>
        </p:nvSpPr>
        <p:spPr>
          <a:xfrm>
            <a:off x="711200" y="3886200"/>
            <a:ext cx="53340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350" b="1" noProof="1">
                <a:solidFill>
                  <a:srgbClr val="23303E"/>
                </a:solidFill>
                <a:latin typeface="MiSans"/>
                <a:ea typeface="MiSans"/>
              </a:rPr>
              <a:t>传统痛点：验证窗口一刀切</a:t>
            </a:r>
            <a:endParaRPr lang="en-US" sz="1350" noProof="1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有的内容容易猜（数学题），有的难猜（诗歌）。固定窗口下：易猜的窗口不够大，难猜的窗口白白浪费。</a:t>
            </a:r>
            <a:endParaRPr lang="en-US" sz="1350" noProof="1"/>
          </a:p>
        </p:txBody>
      </p:sp>
      <p:sp>
        <p:nvSpPr>
          <p:cNvPr id="8" name="dspark"/>
          <p:cNvSpPr/>
          <p:nvPr/>
        </p:nvSpPr>
        <p:spPr>
          <a:xfrm>
            <a:off x="711200" y="5588000"/>
            <a:ext cx="5334000" cy="584200"/>
          </a:xfrm>
          <a:prstGeom prst="rect">
            <a:avLst/>
          </a:prstGeom>
          <a:solidFill>
            <a:srgbClr val="FDEBD7"/>
          </a:solidFill>
          <a:ln w="12700">
            <a:solidFill>
              <a:srgbClr val="F07D0A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dsparkt"/>
          <p:cNvSpPr txBox="1"/>
          <p:nvPr/>
        </p:nvSpPr>
        <p:spPr>
          <a:xfrm>
            <a:off x="914400" y="5588000"/>
            <a:ext cx="49784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250" b="1" noProof="1">
                <a:solidFill>
                  <a:srgbClr val="0B2440"/>
                </a:solidFill>
                <a:latin typeface="MiSans"/>
                <a:ea typeface="MiSans"/>
              </a:rPr>
              <a:t>DSpark（SGLang 0.5.16）</a:t>
            </a:r>
            <a:r>
              <a:rPr lang="en-US" sz="1250" noProof="1">
                <a:solidFill>
                  <a:srgbClr val="0B2440"/>
                </a:solidFill>
                <a:latin typeface="MiSans"/>
                <a:ea typeface="MiSans"/>
              </a:rPr>
              <a:t>：由草稿模型自己的置信度，决定每个请求验证多长</a:t>
            </a:r>
            <a:endParaRPr lang="en-US" sz="1250" noProof="1"/>
          </a:p>
        </p:txBody>
      </p:sp>
      <p:sp>
        <p:nvSpPr>
          <p:cNvPr id="10" name="rh"/>
          <p:cNvSpPr txBox="1"/>
          <p:nvPr/>
        </p:nvSpPr>
        <p:spPr>
          <a:xfrm>
            <a:off x="6858000" y="1600200"/>
            <a:ext cx="46228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6B7A8C"/>
                </a:solidFill>
                <a:latin typeface="MiSans"/>
                <a:ea typeface="MiSans"/>
              </a:rPr>
              <a:t>DSpark 实测：不同流量的动态验证窗口（混合流量）</a:t>
            </a:r>
            <a:endParaRPr lang="en-US" sz="1150" noProof="1"/>
          </a:p>
        </p:txBody>
      </p:sp>
      <p:sp>
        <p:nvSpPr>
          <p:cNvPr id="11" name="r1l"/>
          <p:cNvSpPr txBox="1"/>
          <p:nvPr/>
        </p:nvSpPr>
        <p:spPr>
          <a:xfrm>
            <a:off x="6858000" y="20320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23303E"/>
                </a:solidFill>
                <a:latin typeface="MiSans"/>
                <a:ea typeface="MiSans"/>
              </a:rPr>
              <a:t>数学题（易猜）</a:t>
            </a:r>
            <a:endParaRPr lang="en-US" sz="1200" noProof="1"/>
          </a:p>
        </p:txBody>
      </p:sp>
      <p:sp>
        <p:nvSpPr>
          <p:cNvPr id="12" name="r1b"/>
          <p:cNvSpPr/>
          <p:nvPr/>
        </p:nvSpPr>
        <p:spPr>
          <a:xfrm>
            <a:off x="8432800" y="2006600"/>
            <a:ext cx="2400300" cy="2540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r1v"/>
          <p:cNvSpPr txBox="1"/>
          <p:nvPr/>
        </p:nvSpPr>
        <p:spPr>
          <a:xfrm>
            <a:off x="10934700" y="20066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noProof="1">
                <a:solidFill>
                  <a:srgbClr val="F07D0A"/>
                </a:solidFill>
                <a:latin typeface="MiSans"/>
                <a:ea typeface="MiSans"/>
              </a:rPr>
              <a:t>5.24</a:t>
            </a:r>
            <a:endParaRPr lang="en-US" sz="1200" noProof="1"/>
          </a:p>
        </p:txBody>
      </p:sp>
      <p:sp>
        <p:nvSpPr>
          <p:cNvPr id="14" name="r2l"/>
          <p:cNvSpPr txBox="1"/>
          <p:nvPr/>
        </p:nvSpPr>
        <p:spPr>
          <a:xfrm>
            <a:off x="6858000" y="27432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23303E"/>
                </a:solidFill>
                <a:latin typeface="MiSans"/>
                <a:ea typeface="MiSans"/>
              </a:rPr>
              <a:t>困难问答</a:t>
            </a:r>
            <a:endParaRPr lang="en-US" sz="1200" noProof="1"/>
          </a:p>
        </p:txBody>
      </p:sp>
      <p:sp>
        <p:nvSpPr>
          <p:cNvPr id="15" name="r2b"/>
          <p:cNvSpPr/>
          <p:nvPr/>
        </p:nvSpPr>
        <p:spPr>
          <a:xfrm>
            <a:off x="8432800" y="2717800"/>
            <a:ext cx="1727200" cy="254000"/>
          </a:xfrm>
          <a:prstGeom prst="rect">
            <a:avLst/>
          </a:prstGeom>
          <a:solidFill>
            <a:srgbClr val="33506E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r2v"/>
          <p:cNvSpPr txBox="1"/>
          <p:nvPr/>
        </p:nvSpPr>
        <p:spPr>
          <a:xfrm>
            <a:off x="10261600" y="27178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noProof="1">
                <a:solidFill>
                  <a:srgbClr val="33506E"/>
                </a:solidFill>
                <a:latin typeface="MiSans"/>
                <a:ea typeface="MiSans"/>
              </a:rPr>
              <a:t>3.78</a:t>
            </a:r>
            <a:endParaRPr lang="en-US" sz="1200" noProof="1"/>
          </a:p>
        </p:txBody>
      </p:sp>
      <p:sp>
        <p:nvSpPr>
          <p:cNvPr id="17" name="r3l"/>
          <p:cNvSpPr txBox="1"/>
          <p:nvPr/>
        </p:nvSpPr>
        <p:spPr>
          <a:xfrm>
            <a:off x="6858000" y="34544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23303E"/>
                </a:solidFill>
                <a:latin typeface="MiSans"/>
                <a:ea typeface="MiSans"/>
              </a:rPr>
              <a:t>诗歌（难猜）</a:t>
            </a:r>
            <a:endParaRPr lang="en-US" sz="1200" noProof="1"/>
          </a:p>
        </p:txBody>
      </p:sp>
      <p:sp>
        <p:nvSpPr>
          <p:cNvPr id="18" name="r3b"/>
          <p:cNvSpPr/>
          <p:nvPr/>
        </p:nvSpPr>
        <p:spPr>
          <a:xfrm>
            <a:off x="8432800" y="3429000"/>
            <a:ext cx="1333500" cy="254000"/>
          </a:xfrm>
          <a:prstGeom prst="rect">
            <a:avLst/>
          </a:prstGeom>
          <a:solidFill>
            <a:srgbClr val="0B244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r3v"/>
          <p:cNvSpPr txBox="1"/>
          <p:nvPr/>
        </p:nvSpPr>
        <p:spPr>
          <a:xfrm>
            <a:off x="9867900" y="34290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noProof="1">
                <a:solidFill>
                  <a:srgbClr val="0B2440"/>
                </a:solidFill>
                <a:latin typeface="MiSans"/>
                <a:ea typeface="MiSans"/>
              </a:rPr>
              <a:t>2.91</a:t>
            </a:r>
            <a:endParaRPr lang="en-US" sz="1200" noProof="1"/>
          </a:p>
        </p:txBody>
      </p:sp>
      <p:sp>
        <p:nvSpPr>
          <p:cNvPr id="20" name="runit"/>
          <p:cNvSpPr txBox="1"/>
          <p:nvPr/>
        </p:nvSpPr>
        <p:spPr>
          <a:xfrm>
            <a:off x="8432800" y="3835400"/>
            <a:ext cx="304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50" noProof="1">
                <a:solidFill>
                  <a:srgbClr val="6B7A8C"/>
                </a:solidFill>
                <a:latin typeface="MiSans"/>
                <a:ea typeface="MiSans"/>
              </a:rPr>
              <a:t>单位：每次验证的 token 数</a:t>
            </a:r>
            <a:endParaRPr lang="en-US" sz="1050" noProof="1"/>
          </a:p>
        </p:txBody>
      </p:sp>
      <p:sp>
        <p:nvSpPr>
          <p:cNvPr id="21" name="rnote"/>
          <p:cNvSpPr txBox="1"/>
          <p:nvPr/>
        </p:nvSpPr>
        <p:spPr>
          <a:xfrm>
            <a:off x="6858000" y="4267200"/>
            <a:ext cx="46228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置信度越低 → 窗口越短，不浪费验证算力；</a:t>
            </a:r>
            <a:endParaRPr lang="en-US" sz="1350" noProof="1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置信度越高 → 窗口越长，一次多收几个 token。</a:t>
            </a:r>
            <a:endParaRPr lang="en-US" sz="135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350" b="1" noProof="1">
                <a:solidFill>
                  <a:srgbClr val="23303E"/>
                </a:solidFill>
                <a:latin typeface="MiSans"/>
                <a:ea typeface="MiSans"/>
              </a:rPr>
              <a:t>结果</a:t>
            </a: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：高并发下吞吐显著提升——“按需分配”思想在解码层的体现。</a:t>
            </a:r>
            <a:endParaRPr lang="en-US" sz="1350" noProof="1"/>
          </a:p>
        </p:txBody>
      </p:sp>
      <p:sp>
        <p:nvSpPr>
          <p:cNvPr id="22" name="fline"/>
          <p:cNvSpPr/>
          <p:nvPr/>
        </p:nvSpPr>
        <p:spPr>
          <a:xfrm>
            <a:off x="711200" y="6477000"/>
            <a:ext cx="107696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fl"/>
          <p:cNvSpPr txBox="1"/>
          <p:nvPr/>
        </p:nvSpPr>
        <p:spPr>
          <a:xfrm>
            <a:off x="711200" y="65532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B7A8C"/>
                </a:solidFill>
                <a:latin typeface="MiSans"/>
                <a:ea typeface="MiSans"/>
              </a:rPr>
              <a:t>Token Factory · AI 推理的成本革命</a:t>
            </a:r>
            <a:endParaRPr lang="en-US" sz="950" noProof="1"/>
          </a:p>
        </p:txBody>
      </p:sp>
      <p:sp>
        <p:nvSpPr>
          <p:cNvPr id="24" name="fr"/>
          <p:cNvSpPr txBox="1"/>
          <p:nvPr/>
        </p:nvSpPr>
        <p:spPr>
          <a:xfrm>
            <a:off x="10210800" y="65532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6B7A8C"/>
                </a:solidFill>
                <a:latin typeface="MiSans"/>
                <a:ea typeface="MiSans"/>
              </a:rPr>
              <a:t>22 / 40</a:t>
            </a:r>
            <a:endParaRPr lang="en-US" sz="950" noProof="1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"/>
          <p:cNvSpPr txBox="1"/>
          <p:nvPr/>
        </p:nvSpPr>
        <p:spPr>
          <a:xfrm>
            <a:off x="711200" y="3810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F07D0A"/>
                </a:solidFill>
                <a:latin typeface="MiSans"/>
                <a:ea typeface="MiSans"/>
              </a:rPr>
              <a:t>第三层杠杆 · 推理引擎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350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600" b="1" noProof="1">
                <a:solidFill>
                  <a:srgbClr val="0B2440"/>
                </a:solidFill>
                <a:latin typeface="MiSans"/>
                <a:ea typeface="MiSans"/>
              </a:rPr>
              <a:t>量化：模型“瘦身”，显存减半、吞吐翻倍</a:t>
            </a:r>
            <a:endParaRPr lang="en-US" sz="2600" noProof="1"/>
          </a:p>
        </p:txBody>
      </p:sp>
      <p:sp>
        <p:nvSpPr>
          <p:cNvPr id="4" name="rule"/>
          <p:cNvSpPr/>
          <p:nvPr/>
        </p:nvSpPr>
        <p:spPr>
          <a:xfrm>
            <a:off x="711200" y="1270000"/>
            <a:ext cx="107696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abar"/>
          <p:cNvSpPr/>
          <p:nvPr/>
        </p:nvSpPr>
        <p:spPr>
          <a:xfrm>
            <a:off x="711200" y="1244600"/>
            <a:ext cx="812800" cy="381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rh"/>
          <p:cNvSpPr txBox="1"/>
          <p:nvPr/>
        </p:nvSpPr>
        <p:spPr>
          <a:xfrm>
            <a:off x="711200" y="16002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 noProof="1">
                <a:solidFill>
                  <a:srgbClr val="0B2440"/>
                </a:solidFill>
                <a:latin typeface="MiSans"/>
                <a:ea typeface="MiSans"/>
              </a:rPr>
              <a:t>每个权重占用的字节数</a:t>
            </a:r>
            <a:endParaRPr lang="en-US" sz="1250" noProof="1"/>
          </a:p>
        </p:txBody>
      </p:sp>
      <p:sp>
        <p:nvSpPr>
          <p:cNvPr id="7" name="q1l"/>
          <p:cNvSpPr txBox="1"/>
          <p:nvPr/>
        </p:nvSpPr>
        <p:spPr>
          <a:xfrm>
            <a:off x="711200" y="2006600"/>
            <a:ext cx="1143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noProof="1">
                <a:solidFill>
                  <a:srgbClr val="0B2440"/>
                </a:solidFill>
                <a:latin typeface="MiSans"/>
                <a:ea typeface="MiSans"/>
              </a:rPr>
              <a:t>FP16</a:t>
            </a:r>
            <a:endParaRPr lang="en-US" sz="1300" noProof="1"/>
          </a:p>
        </p:txBody>
      </p:sp>
      <p:sp>
        <p:nvSpPr>
          <p:cNvPr id="8" name="q1b"/>
          <p:cNvSpPr/>
          <p:nvPr/>
        </p:nvSpPr>
        <p:spPr>
          <a:xfrm>
            <a:off x="1905000" y="2006600"/>
            <a:ext cx="4572000" cy="279400"/>
          </a:xfrm>
          <a:prstGeom prst="rect">
            <a:avLst/>
          </a:prstGeom>
          <a:solidFill>
            <a:srgbClr val="0B244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q1v"/>
          <p:cNvSpPr txBox="1"/>
          <p:nvPr/>
        </p:nvSpPr>
        <p:spPr>
          <a:xfrm>
            <a:off x="6629400" y="20066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6B7A8C"/>
                </a:solidFill>
                <a:latin typeface="MiSans"/>
                <a:ea typeface="MiSans"/>
              </a:rPr>
              <a:t>2 字节 ｜ 2023 年主流</a:t>
            </a:r>
            <a:endParaRPr lang="en-US" sz="1200" noProof="1"/>
          </a:p>
        </p:txBody>
      </p:sp>
      <p:sp>
        <p:nvSpPr>
          <p:cNvPr id="10" name="q2l"/>
          <p:cNvSpPr txBox="1"/>
          <p:nvPr/>
        </p:nvSpPr>
        <p:spPr>
          <a:xfrm>
            <a:off x="711200" y="2540000"/>
            <a:ext cx="1143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noProof="1">
                <a:solidFill>
                  <a:srgbClr val="0B2440"/>
                </a:solidFill>
                <a:latin typeface="MiSans"/>
                <a:ea typeface="MiSans"/>
              </a:rPr>
              <a:t>FP8</a:t>
            </a:r>
            <a:endParaRPr lang="en-US" sz="1300" noProof="1"/>
          </a:p>
        </p:txBody>
      </p:sp>
      <p:sp>
        <p:nvSpPr>
          <p:cNvPr id="11" name="q2b"/>
          <p:cNvSpPr/>
          <p:nvPr/>
        </p:nvSpPr>
        <p:spPr>
          <a:xfrm>
            <a:off x="1905000" y="2540000"/>
            <a:ext cx="2286000" cy="279400"/>
          </a:xfrm>
          <a:prstGeom prst="rect">
            <a:avLst/>
          </a:prstGeom>
          <a:solidFill>
            <a:srgbClr val="33506E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q2v"/>
          <p:cNvSpPr txBox="1"/>
          <p:nvPr/>
        </p:nvSpPr>
        <p:spPr>
          <a:xfrm>
            <a:off x="4343400" y="25400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6B7A8C"/>
                </a:solidFill>
                <a:latin typeface="MiSans"/>
                <a:ea typeface="MiSans"/>
              </a:rPr>
              <a:t>1 字节 ｜ 2026 年标准配置</a:t>
            </a:r>
            <a:endParaRPr lang="en-US" sz="1200" noProof="1"/>
          </a:p>
        </p:txBody>
      </p:sp>
      <p:sp>
        <p:nvSpPr>
          <p:cNvPr id="13" name="q3l"/>
          <p:cNvSpPr txBox="1"/>
          <p:nvPr/>
        </p:nvSpPr>
        <p:spPr>
          <a:xfrm>
            <a:off x="711200" y="3073400"/>
            <a:ext cx="1143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noProof="1">
                <a:solidFill>
                  <a:srgbClr val="F07D0A"/>
                </a:solidFill>
                <a:latin typeface="MiSans"/>
                <a:ea typeface="MiSans"/>
              </a:rPr>
              <a:t>FP4</a:t>
            </a:r>
            <a:endParaRPr lang="en-US" sz="1300" noProof="1"/>
          </a:p>
        </p:txBody>
      </p:sp>
      <p:sp>
        <p:nvSpPr>
          <p:cNvPr id="14" name="q3b"/>
          <p:cNvSpPr/>
          <p:nvPr/>
        </p:nvSpPr>
        <p:spPr>
          <a:xfrm>
            <a:off x="1905000" y="3073400"/>
            <a:ext cx="1143000" cy="2794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q3v"/>
          <p:cNvSpPr txBox="1"/>
          <p:nvPr/>
        </p:nvSpPr>
        <p:spPr>
          <a:xfrm>
            <a:off x="3200400" y="30734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6B7A8C"/>
                </a:solidFill>
                <a:latin typeface="MiSans"/>
                <a:ea typeface="MiSans"/>
              </a:rPr>
              <a:t>0.5 字节 ｜ NVFP4：Blackwell 上 MoE 标配</a:t>
            </a:r>
            <a:endParaRPr lang="en-US" sz="1200" noProof="1"/>
          </a:p>
        </p:txBody>
      </p:sp>
      <p:sp>
        <p:nvSpPr>
          <p:cNvPr id="16" name="pts"/>
          <p:cNvSpPr txBox="1"/>
          <p:nvPr/>
        </p:nvSpPr>
        <p:spPr>
          <a:xfrm>
            <a:off x="711200" y="3759200"/>
            <a:ext cx="10769600" cy="177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350" b="1" noProof="1">
                <a:solidFill>
                  <a:srgbClr val="23303E"/>
                </a:solidFill>
                <a:latin typeface="MiSans"/>
                <a:ea typeface="MiSans"/>
              </a:rPr>
              <a:t>显存减半</a:t>
            </a: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 → 同样的 GPU 能装更大的模型、更长的上下文；小精度在 Tensor Core 上计算也更快。</a:t>
            </a:r>
            <a:endParaRPr lang="en-US" sz="135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350" b="1" noProof="1">
                <a:solidFill>
                  <a:srgbClr val="23303E"/>
                </a:solidFill>
                <a:latin typeface="MiSans"/>
                <a:ea typeface="MiSans"/>
              </a:rPr>
              <a:t>2026 现状</a:t>
            </a: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：DeepSeek-V4、GLM-5.2 均已支持 NVFP4——显存减半、吞吐翻倍。</a:t>
            </a:r>
            <a:endParaRPr lang="en-US" sz="135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350" b="1" noProof="1">
                <a:solidFill>
                  <a:srgbClr val="23303E"/>
                </a:solidFill>
                <a:latin typeface="MiSans"/>
                <a:ea typeface="MiSans"/>
              </a:rPr>
              <a:t>代价</a:t>
            </a: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：精度损失——但 2026 年的量化技术，损失已经小到可以忽略。</a:t>
            </a:r>
            <a:endParaRPr lang="en-US" sz="1350" noProof="1"/>
          </a:p>
        </p:txBody>
      </p:sp>
      <p:sp>
        <p:nvSpPr>
          <p:cNvPr id="17" name="note"/>
          <p:cNvSpPr/>
          <p:nvPr/>
        </p:nvSpPr>
        <p:spPr>
          <a:xfrm>
            <a:off x="711200" y="5588000"/>
            <a:ext cx="10769600" cy="584200"/>
          </a:xfrm>
          <a:prstGeom prst="rect">
            <a:avLst/>
          </a:prstGeom>
          <a:solidFill>
            <a:srgbClr val="F3F6FA"/>
          </a:solidFill>
          <a:ln w="12700">
            <a:solidFill>
              <a:srgbClr val="D9E1E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notet"/>
          <p:cNvSpPr txBox="1"/>
          <p:nvPr/>
        </p:nvSpPr>
        <p:spPr>
          <a:xfrm>
            <a:off x="965200" y="5588000"/>
            <a:ext cx="10261600" cy="584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0B2440"/>
                </a:solidFill>
                <a:latin typeface="MiSans"/>
                <a:ea typeface="MiSans"/>
              </a:rPr>
              <a:t>硬件（Blackwell FP4 Tensor Core）与模型（MoE 原生低精度）在这一层汇合——</a:t>
            </a:r>
            <a:r>
              <a:rPr lang="en-US" sz="1300" b="1" noProof="1">
                <a:solidFill>
                  <a:srgbClr val="F07D0A"/>
                </a:solidFill>
                <a:latin typeface="MiSans"/>
                <a:ea typeface="MiSans"/>
              </a:rPr>
              <a:t>量化是软硬件的接缝</a:t>
            </a:r>
            <a:endParaRPr lang="en-US" sz="1300" noProof="1"/>
          </a:p>
        </p:txBody>
      </p:sp>
      <p:sp>
        <p:nvSpPr>
          <p:cNvPr id="19" name="fline"/>
          <p:cNvSpPr/>
          <p:nvPr/>
        </p:nvSpPr>
        <p:spPr>
          <a:xfrm>
            <a:off x="711200" y="6477000"/>
            <a:ext cx="107696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fl"/>
          <p:cNvSpPr txBox="1"/>
          <p:nvPr/>
        </p:nvSpPr>
        <p:spPr>
          <a:xfrm>
            <a:off x="711200" y="65532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B7A8C"/>
                </a:solidFill>
                <a:latin typeface="MiSans"/>
                <a:ea typeface="MiSans"/>
              </a:rPr>
              <a:t>Token Factory · AI 推理的成本革命</a:t>
            </a:r>
            <a:endParaRPr lang="en-US" sz="950" noProof="1"/>
          </a:p>
        </p:txBody>
      </p:sp>
      <p:sp>
        <p:nvSpPr>
          <p:cNvPr id="21" name="fr"/>
          <p:cNvSpPr txBox="1"/>
          <p:nvPr/>
        </p:nvSpPr>
        <p:spPr>
          <a:xfrm>
            <a:off x="10210800" y="65532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6B7A8C"/>
                </a:solidFill>
                <a:latin typeface="MiSans"/>
                <a:ea typeface="MiSans"/>
              </a:rPr>
              <a:t>23 / 40</a:t>
            </a:r>
            <a:endParaRPr lang="en-US" sz="950" noProof="1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"/>
          <p:cNvSpPr txBox="1"/>
          <p:nvPr/>
        </p:nvSpPr>
        <p:spPr>
          <a:xfrm>
            <a:off x="711200" y="3810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F07D0A"/>
                </a:solidFill>
                <a:latin typeface="MiSans"/>
                <a:ea typeface="MiSans"/>
              </a:rPr>
              <a:t>第三层杠杆 · 推理引擎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350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600" b="1" noProof="1">
                <a:solidFill>
                  <a:srgbClr val="0B2440"/>
                </a:solidFill>
                <a:latin typeface="MiSans"/>
                <a:ea typeface="MiSans"/>
              </a:rPr>
              <a:t>推理优化全景：一次请求的完整优化链</a:t>
            </a:r>
            <a:endParaRPr lang="en-US" sz="2600" noProof="1"/>
          </a:p>
        </p:txBody>
      </p:sp>
      <p:sp>
        <p:nvSpPr>
          <p:cNvPr id="4" name="rule"/>
          <p:cNvSpPr/>
          <p:nvPr/>
        </p:nvSpPr>
        <p:spPr>
          <a:xfrm>
            <a:off x="711200" y="1270000"/>
            <a:ext cx="107696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abar"/>
          <p:cNvSpPr/>
          <p:nvPr/>
        </p:nvSpPr>
        <p:spPr>
          <a:xfrm>
            <a:off x="711200" y="1244600"/>
            <a:ext cx="812800" cy="381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c1n"/>
          <p:cNvSpPr txBox="1"/>
          <p:nvPr/>
        </p:nvSpPr>
        <p:spPr>
          <a:xfrm>
            <a:off x="711200" y="1778000"/>
            <a:ext cx="4064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400" b="1" noProof="1">
                <a:solidFill>
                  <a:srgbClr val="F07D0A"/>
                </a:solidFill>
                <a:latin typeface="MiSans"/>
                <a:ea typeface="MiSans"/>
              </a:rPr>
              <a:t>1</a:t>
            </a:r>
            <a:endParaRPr lang="en-US" sz="2400" noProof="1"/>
          </a:p>
        </p:txBody>
      </p:sp>
      <p:sp>
        <p:nvSpPr>
          <p:cNvPr id="7" name="c1t"/>
          <p:cNvSpPr txBox="1"/>
          <p:nvPr/>
        </p:nvSpPr>
        <p:spPr>
          <a:xfrm>
            <a:off x="1143000" y="1752600"/>
            <a:ext cx="1524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50" b="1" noProof="1">
                <a:solidFill>
                  <a:srgbClr val="0B2440"/>
                </a:solidFill>
                <a:latin typeface="MiSans"/>
                <a:ea typeface="MiSans"/>
              </a:rPr>
              <a:t>模型加载</a:t>
            </a:r>
            <a:endParaRPr lang="en-US" sz="1450" noProof="1"/>
          </a:p>
        </p:txBody>
      </p:sp>
      <p:sp>
        <p:nvSpPr>
          <p:cNvPr id="8" name="c1d"/>
          <p:cNvSpPr txBox="1"/>
          <p:nvPr/>
        </p:nvSpPr>
        <p:spPr>
          <a:xfrm>
            <a:off x="1143000" y="2057400"/>
            <a:ext cx="1524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6B7A8C"/>
                </a:solidFill>
                <a:latin typeface="MiSans"/>
                <a:ea typeface="MiSans"/>
              </a:rPr>
              <a:t>FP4 量化 ＋ 权重卸载</a:t>
            </a:r>
            <a:endParaRPr lang="en-US" sz="1100" noProof="1"/>
          </a:p>
        </p:txBody>
      </p:sp>
      <p:sp>
        <p:nvSpPr>
          <p:cNvPr id="9" name="ca1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eyJpY29uTmFtZSI6ImZhczphbmdsZS1yaWdodCJ9</pptd:icon>
              </p:ext>
            </p:extLst>
          </p:nvPr>
        </p:nvSpPr>
        <p:spPr>
          <a:xfrm>
            <a:off x="2768600" y="18796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>
            <a:srgbClr val="6B7A8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c2n"/>
          <p:cNvSpPr txBox="1"/>
          <p:nvPr/>
        </p:nvSpPr>
        <p:spPr>
          <a:xfrm>
            <a:off x="3022600" y="1778000"/>
            <a:ext cx="4064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400" b="1" noProof="1">
                <a:solidFill>
                  <a:srgbClr val="F07D0A"/>
                </a:solidFill>
                <a:latin typeface="MiSans"/>
                <a:ea typeface="MiSans"/>
              </a:rPr>
              <a:t>2</a:t>
            </a:r>
            <a:endParaRPr lang="en-US" sz="2400" noProof="1"/>
          </a:p>
        </p:txBody>
      </p:sp>
      <p:sp>
        <p:nvSpPr>
          <p:cNvPr id="11" name="c2t"/>
          <p:cNvSpPr txBox="1"/>
          <p:nvPr/>
        </p:nvSpPr>
        <p:spPr>
          <a:xfrm>
            <a:off x="3454400" y="1752600"/>
            <a:ext cx="1524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50" b="1" noProof="1">
                <a:solidFill>
                  <a:srgbClr val="0B2440"/>
                </a:solidFill>
                <a:latin typeface="MiSans"/>
                <a:ea typeface="MiSans"/>
              </a:rPr>
              <a:t>调度</a:t>
            </a:r>
            <a:endParaRPr lang="en-US" sz="1450" noProof="1"/>
          </a:p>
        </p:txBody>
      </p:sp>
      <p:sp>
        <p:nvSpPr>
          <p:cNvPr id="12" name="c2d"/>
          <p:cNvSpPr txBox="1"/>
          <p:nvPr/>
        </p:nvSpPr>
        <p:spPr>
          <a:xfrm>
            <a:off x="3454400" y="2057400"/>
            <a:ext cx="1524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6B7A8C"/>
                </a:solidFill>
                <a:latin typeface="MiSans"/>
                <a:ea typeface="MiSans"/>
              </a:rPr>
              <a:t>连续批处理 ＋ 优先级</a:t>
            </a:r>
            <a:endParaRPr lang="en-US" sz="1100" noProof="1"/>
          </a:p>
        </p:txBody>
      </p:sp>
      <p:sp>
        <p:nvSpPr>
          <p:cNvPr id="13" name="ca2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eyJpY29uTmFtZSI6ImZhczphbmdsZS1yaWdodCJ9</pptd:icon>
              </p:ext>
            </p:extLst>
          </p:nvPr>
        </p:nvSpPr>
        <p:spPr>
          <a:xfrm>
            <a:off x="5080000" y="18796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>
            <a:srgbClr val="6B7A8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c3n"/>
          <p:cNvSpPr txBox="1"/>
          <p:nvPr/>
        </p:nvSpPr>
        <p:spPr>
          <a:xfrm>
            <a:off x="5334000" y="1778000"/>
            <a:ext cx="4064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400" b="1" noProof="1">
                <a:solidFill>
                  <a:srgbClr val="F07D0A"/>
                </a:solidFill>
                <a:latin typeface="MiSans"/>
                <a:ea typeface="MiSans"/>
              </a:rPr>
              <a:t>3</a:t>
            </a:r>
            <a:endParaRPr lang="en-US" sz="2400" noProof="1"/>
          </a:p>
        </p:txBody>
      </p:sp>
      <p:sp>
        <p:nvSpPr>
          <p:cNvPr id="15" name="c3t"/>
          <p:cNvSpPr txBox="1"/>
          <p:nvPr/>
        </p:nvSpPr>
        <p:spPr>
          <a:xfrm>
            <a:off x="5765800" y="1752600"/>
            <a:ext cx="1524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50" b="1" noProof="1">
                <a:solidFill>
                  <a:srgbClr val="0B2440"/>
                </a:solidFill>
                <a:latin typeface="MiSans"/>
                <a:ea typeface="MiSans"/>
              </a:rPr>
              <a:t>显存</a:t>
            </a:r>
            <a:endParaRPr lang="en-US" sz="1450" noProof="1"/>
          </a:p>
        </p:txBody>
      </p:sp>
      <p:sp>
        <p:nvSpPr>
          <p:cNvPr id="16" name="c3d"/>
          <p:cNvSpPr txBox="1"/>
          <p:nvPr/>
        </p:nvSpPr>
        <p:spPr>
          <a:xfrm>
            <a:off x="5765800" y="2057400"/>
            <a:ext cx="1524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6B7A8C"/>
                </a:solidFill>
                <a:latin typeface="MiSans"/>
                <a:ea typeface="MiSans"/>
              </a:rPr>
              <a:t>KV Cache 分页 ＋ 多级缓存</a:t>
            </a:r>
            <a:endParaRPr lang="en-US" sz="1100" noProof="1"/>
          </a:p>
        </p:txBody>
      </p:sp>
      <p:sp>
        <p:nvSpPr>
          <p:cNvPr id="17" name="ca3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eyJpY29uTmFtZSI6ImZhczphbmdsZS1yaWdodCJ9</pptd:icon>
              </p:ext>
            </p:extLst>
          </p:nvPr>
        </p:nvSpPr>
        <p:spPr>
          <a:xfrm>
            <a:off x="7391400" y="18796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>
            <a:srgbClr val="6B7A8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c4n"/>
          <p:cNvSpPr txBox="1"/>
          <p:nvPr/>
        </p:nvSpPr>
        <p:spPr>
          <a:xfrm>
            <a:off x="7645400" y="1778000"/>
            <a:ext cx="4064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400" b="1" noProof="1">
                <a:solidFill>
                  <a:srgbClr val="F07D0A"/>
                </a:solidFill>
                <a:latin typeface="MiSans"/>
                <a:ea typeface="MiSans"/>
              </a:rPr>
              <a:t>4</a:t>
            </a:r>
            <a:endParaRPr lang="en-US" sz="2400" noProof="1"/>
          </a:p>
        </p:txBody>
      </p:sp>
      <p:sp>
        <p:nvSpPr>
          <p:cNvPr id="19" name="c4t"/>
          <p:cNvSpPr txBox="1"/>
          <p:nvPr/>
        </p:nvSpPr>
        <p:spPr>
          <a:xfrm>
            <a:off x="8077200" y="1752600"/>
            <a:ext cx="1524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50" b="1" noProof="1">
                <a:solidFill>
                  <a:srgbClr val="0B2440"/>
                </a:solidFill>
                <a:latin typeface="MiSans"/>
                <a:ea typeface="MiSans"/>
              </a:rPr>
              <a:t>计算</a:t>
            </a:r>
            <a:endParaRPr lang="en-US" sz="1450" noProof="1"/>
          </a:p>
        </p:txBody>
      </p:sp>
      <p:sp>
        <p:nvSpPr>
          <p:cNvPr id="20" name="c4d"/>
          <p:cNvSpPr txBox="1"/>
          <p:nvPr/>
        </p:nvSpPr>
        <p:spPr>
          <a:xfrm>
            <a:off x="8077200" y="2057400"/>
            <a:ext cx="1524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6B7A8C"/>
                </a:solidFill>
                <a:latin typeface="MiSans"/>
                <a:ea typeface="MiSans"/>
              </a:rPr>
              <a:t>投机解码 ＋ 算子融合</a:t>
            </a:r>
            <a:endParaRPr lang="en-US" sz="1100" noProof="1"/>
          </a:p>
        </p:txBody>
      </p:sp>
      <p:sp>
        <p:nvSpPr>
          <p:cNvPr id="21" name="ca4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eyJpY29uTmFtZSI6ImZhczphbmdsZS1yaWdodCJ9</pptd:icon>
              </p:ext>
            </p:extLst>
          </p:nvPr>
        </p:nvSpPr>
        <p:spPr>
          <a:xfrm>
            <a:off x="9702800" y="18796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>
            <a:srgbClr val="6B7A8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c5n"/>
          <p:cNvSpPr txBox="1"/>
          <p:nvPr/>
        </p:nvSpPr>
        <p:spPr>
          <a:xfrm>
            <a:off x="9956800" y="1778000"/>
            <a:ext cx="4064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400" b="1" noProof="1">
                <a:solidFill>
                  <a:srgbClr val="F07D0A"/>
                </a:solidFill>
                <a:latin typeface="MiSans"/>
                <a:ea typeface="MiSans"/>
              </a:rPr>
              <a:t>5</a:t>
            </a:r>
            <a:endParaRPr lang="en-US" sz="2400" noProof="1"/>
          </a:p>
        </p:txBody>
      </p:sp>
      <p:sp>
        <p:nvSpPr>
          <p:cNvPr id="23" name="c5t"/>
          <p:cNvSpPr txBox="1"/>
          <p:nvPr/>
        </p:nvSpPr>
        <p:spPr>
          <a:xfrm>
            <a:off x="10388600" y="1752600"/>
            <a:ext cx="10922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50" b="1" noProof="1">
                <a:solidFill>
                  <a:srgbClr val="0B2440"/>
                </a:solidFill>
                <a:latin typeface="MiSans"/>
                <a:ea typeface="MiSans"/>
              </a:rPr>
              <a:t>路由</a:t>
            </a:r>
            <a:endParaRPr lang="en-US" sz="1450" noProof="1"/>
          </a:p>
        </p:txBody>
      </p:sp>
      <p:sp>
        <p:nvSpPr>
          <p:cNvPr id="24" name="c5d"/>
          <p:cNvSpPr txBox="1"/>
          <p:nvPr/>
        </p:nvSpPr>
        <p:spPr>
          <a:xfrm>
            <a:off x="10388600" y="2057400"/>
            <a:ext cx="10922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6B7A8C"/>
                </a:solidFill>
                <a:latin typeface="MiSans"/>
                <a:ea typeface="MiSans"/>
              </a:rPr>
              <a:t>负载均衡 ＋ 缓存感知</a:t>
            </a:r>
            <a:endParaRPr lang="en-US" sz="1100" noProof="1"/>
          </a:p>
        </p:txBody>
      </p:sp>
      <p:sp>
        <p:nvSpPr>
          <p:cNvPr id="25" name="chainline"/>
          <p:cNvSpPr/>
          <p:nvPr/>
        </p:nvSpPr>
        <p:spPr>
          <a:xfrm>
            <a:off x="711200" y="2819400"/>
            <a:ext cx="107696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gap"/>
          <p:cNvSpPr txBox="1"/>
          <p:nvPr/>
        </p:nvSpPr>
        <p:spPr>
          <a:xfrm>
            <a:off x="711200" y="3022600"/>
            <a:ext cx="107696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每一项优化单独看只有 20–50% 的收益，但它们作用在请求的不同阶段，</a:t>
            </a:r>
            <a:r>
              <a:rPr lang="en-US" sz="1350" b="1" noProof="1">
                <a:solidFill>
                  <a:srgbClr val="23303E"/>
                </a:solidFill>
                <a:latin typeface="MiSans"/>
                <a:ea typeface="MiSans"/>
              </a:rPr>
              <a:t>互不重叠、可以叠加</a:t>
            </a: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。</a:t>
            </a:r>
            <a:endParaRPr lang="en-US" sz="1350" noProof="1"/>
          </a:p>
        </p:txBody>
      </p:sp>
      <p:sp>
        <p:nvSpPr>
          <p:cNvPr id="27" name="math"/>
          <p:cNvSpPr/>
          <p:nvPr/>
        </p:nvSpPr>
        <p:spPr>
          <a:xfrm>
            <a:off x="711200" y="4064000"/>
            <a:ext cx="10769600" cy="1016000"/>
          </a:xfrm>
          <a:prstGeom prst="rect">
            <a:avLst/>
          </a:prstGeom>
          <a:solidFill>
            <a:srgbClr val="0B244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matht"/>
          <p:cNvSpPr txBox="1"/>
          <p:nvPr/>
        </p:nvSpPr>
        <p:spPr>
          <a:xfrm>
            <a:off x="711200" y="4064000"/>
            <a:ext cx="107696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000" b="1" noProof="1">
                <a:solidFill>
                  <a:srgbClr val="FFFFFF"/>
                </a:solidFill>
                <a:latin typeface="MiSans"/>
                <a:ea typeface="MiSans"/>
              </a:rPr>
              <a:t>单项 20–50% × 5 项叠加 ≈ 一个数量级</a:t>
            </a:r>
            <a:endParaRPr lang="en-US" sz="1600" noProof="1"/>
          </a:p>
          <a:p>
            <a:pPr algn="ctr">
              <a:lnSpc>
                <a:spcPct val="150000"/>
              </a:lnSpc>
            </a:pPr>
            <a:r>
              <a:rPr lang="en-US" sz="1250" noProof="1">
                <a:solidFill>
                  <a:srgbClr val="A9BCD2"/>
                </a:solidFill>
                <a:latin typeface="MiSans"/>
                <a:ea typeface="MiSans"/>
              </a:rPr>
              <a:t>软件吃掉硬件——同样的 GPU，产出翻倍</a:t>
            </a:r>
            <a:endParaRPr lang="en-US" sz="1600" noProof="1"/>
          </a:p>
        </p:txBody>
      </p:sp>
      <p:sp>
        <p:nvSpPr>
          <p:cNvPr id="29" name="foot"/>
          <p:cNvSpPr txBox="1"/>
          <p:nvPr/>
        </p:nvSpPr>
        <p:spPr>
          <a:xfrm>
            <a:off x="711200" y="5384800"/>
            <a:ext cx="107696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这就是推理引擎层的打法：</a:t>
            </a:r>
            <a:r>
              <a:rPr lang="en-US" sz="1350" b="1" noProof="1">
                <a:solidFill>
                  <a:srgbClr val="23303E"/>
                </a:solidFill>
                <a:latin typeface="MiSans"/>
                <a:ea typeface="MiSans"/>
              </a:rPr>
              <a:t>不换一个零件</a:t>
            </a: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，只靠调度、显存、计算、路由的软件优化，把同一块 GPU 的 token 产能再放大几倍。</a:t>
            </a:r>
            <a:endParaRPr lang="en-US" sz="1350" noProof="1"/>
          </a:p>
        </p:txBody>
      </p:sp>
      <p:sp>
        <p:nvSpPr>
          <p:cNvPr id="30" name="fline"/>
          <p:cNvSpPr/>
          <p:nvPr/>
        </p:nvSpPr>
        <p:spPr>
          <a:xfrm>
            <a:off x="711200" y="6477000"/>
            <a:ext cx="107696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fl"/>
          <p:cNvSpPr txBox="1"/>
          <p:nvPr/>
        </p:nvSpPr>
        <p:spPr>
          <a:xfrm>
            <a:off x="711200" y="65532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B7A8C"/>
                </a:solidFill>
                <a:latin typeface="MiSans"/>
                <a:ea typeface="MiSans"/>
              </a:rPr>
              <a:t>Token Factory · AI 推理的成本革命</a:t>
            </a:r>
            <a:endParaRPr lang="en-US" sz="950" noProof="1"/>
          </a:p>
        </p:txBody>
      </p:sp>
      <p:sp>
        <p:nvSpPr>
          <p:cNvPr id="32" name="fr"/>
          <p:cNvSpPr txBox="1"/>
          <p:nvPr/>
        </p:nvSpPr>
        <p:spPr>
          <a:xfrm>
            <a:off x="10210800" y="65532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6B7A8C"/>
                </a:solidFill>
                <a:latin typeface="MiSans"/>
                <a:ea typeface="MiSans"/>
              </a:rPr>
              <a:t>24 / 40</a:t>
            </a:r>
            <a:endParaRPr lang="en-US" sz="950" noProof="1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"/>
          <p:cNvSpPr txBox="1"/>
          <p:nvPr/>
        </p:nvSpPr>
        <p:spPr>
          <a:xfrm>
            <a:off x="711200" y="3810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F07D0A"/>
                </a:solidFill>
                <a:latin typeface="MiSans"/>
                <a:ea typeface="MiSans"/>
              </a:rPr>
              <a:t>第三层杠杆 · 小结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350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600" b="1" noProof="1">
                <a:solidFill>
                  <a:srgbClr val="0B2440"/>
                </a:solidFill>
                <a:latin typeface="MiSans"/>
                <a:ea typeface="MiSans"/>
              </a:rPr>
              <a:t>软件吃掉硬件</a:t>
            </a:r>
            <a:endParaRPr lang="en-US" sz="2600" noProof="1"/>
          </a:p>
        </p:txBody>
      </p:sp>
      <p:sp>
        <p:nvSpPr>
          <p:cNvPr id="4" name="rule"/>
          <p:cNvSpPr/>
          <p:nvPr/>
        </p:nvSpPr>
        <p:spPr>
          <a:xfrm>
            <a:off x="711200" y="1270000"/>
            <a:ext cx="107696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abar"/>
          <p:cNvSpPr/>
          <p:nvPr/>
        </p:nvSpPr>
        <p:spPr>
          <a:xfrm>
            <a:off x="711200" y="1244600"/>
            <a:ext cx="812800" cy="381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r1n"/>
          <p:cNvSpPr txBox="1"/>
          <p:nvPr/>
        </p:nvSpPr>
        <p:spPr>
          <a:xfrm>
            <a:off x="711200" y="1727200"/>
            <a:ext cx="4318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50" b="1" noProof="1">
                <a:solidFill>
                  <a:srgbClr val="0B2440"/>
                </a:solidFill>
                <a:latin typeface="MiSans"/>
                <a:ea typeface="MiSans"/>
              </a:rPr>
              <a:t>同样的 GPU，吞吐差 2–4 倍</a:t>
            </a:r>
            <a:endParaRPr lang="en-US" sz="1550" noProof="1"/>
          </a:p>
        </p:txBody>
      </p:sp>
      <p:sp>
        <p:nvSpPr>
          <p:cNvPr id="7" name="r1d"/>
          <p:cNvSpPr txBox="1"/>
          <p:nvPr/>
        </p:nvSpPr>
        <p:spPr>
          <a:xfrm>
            <a:off x="711200" y="2082800"/>
            <a:ext cx="7112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3303E"/>
                </a:solidFill>
                <a:latin typeface="MiSans"/>
                <a:ea typeface="MiSans"/>
              </a:rPr>
              <a:t>差距不在模型、不在硬件，在引擎：KV Cache 管理、批处理、投机解码、量化</a:t>
            </a:r>
            <a:endParaRPr lang="en-US" sz="1250" noProof="1"/>
          </a:p>
        </p:txBody>
      </p:sp>
      <p:sp>
        <p:nvSpPr>
          <p:cNvPr id="8" name="r1line"/>
          <p:cNvSpPr/>
          <p:nvPr/>
        </p:nvSpPr>
        <p:spPr>
          <a:xfrm>
            <a:off x="711200" y="2743200"/>
            <a:ext cx="71120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r2n"/>
          <p:cNvSpPr txBox="1"/>
          <p:nvPr/>
        </p:nvSpPr>
        <p:spPr>
          <a:xfrm>
            <a:off x="711200" y="2946400"/>
            <a:ext cx="4318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50" b="1" noProof="1">
                <a:solidFill>
                  <a:srgbClr val="0B2440"/>
                </a:solidFill>
                <a:latin typeface="MiSans"/>
                <a:ea typeface="MiSans"/>
              </a:rPr>
              <a:t>竞争最激烈的软件层</a:t>
            </a:r>
            <a:endParaRPr lang="en-US" sz="1550" noProof="1"/>
          </a:p>
        </p:txBody>
      </p:sp>
      <p:sp>
        <p:nvSpPr>
          <p:cNvPr id="10" name="r2d"/>
          <p:cNvSpPr txBox="1"/>
          <p:nvPr/>
        </p:nvSpPr>
        <p:spPr>
          <a:xfrm>
            <a:off x="711200" y="3302000"/>
            <a:ext cx="7112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3303E"/>
                </a:solidFill>
                <a:latin typeface="MiSans"/>
                <a:ea typeface="MiSans"/>
              </a:rPr>
              <a:t>推理引擎是 2025–2026 年迭代最快的层——SGLang 月均合入 400+ 个 PR（单版本 574 个）</a:t>
            </a:r>
            <a:endParaRPr lang="en-US" sz="1250" noProof="1"/>
          </a:p>
        </p:txBody>
      </p:sp>
      <p:sp>
        <p:nvSpPr>
          <p:cNvPr id="11" name="r2line"/>
          <p:cNvSpPr/>
          <p:nvPr/>
        </p:nvSpPr>
        <p:spPr>
          <a:xfrm>
            <a:off x="711200" y="3962400"/>
            <a:ext cx="71120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r3n"/>
          <p:cNvSpPr txBox="1"/>
          <p:nvPr/>
        </p:nvSpPr>
        <p:spPr>
          <a:xfrm>
            <a:off x="711200" y="4165600"/>
            <a:ext cx="4318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50" b="1" noProof="1">
                <a:solidFill>
                  <a:srgbClr val="0B2440"/>
                </a:solidFill>
                <a:latin typeface="MiSans"/>
                <a:ea typeface="MiSans"/>
              </a:rPr>
              <a:t>开源引擎是主力</a:t>
            </a:r>
            <a:endParaRPr lang="en-US" sz="1550" noProof="1"/>
          </a:p>
        </p:txBody>
      </p:sp>
      <p:sp>
        <p:nvSpPr>
          <p:cNvPr id="13" name="r3d"/>
          <p:cNvSpPr txBox="1"/>
          <p:nvPr/>
        </p:nvSpPr>
        <p:spPr>
          <a:xfrm>
            <a:off x="711200" y="4521200"/>
            <a:ext cx="7112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3303E"/>
                </a:solidFill>
                <a:latin typeface="MiSans"/>
                <a:ea typeface="MiSans"/>
              </a:rPr>
              <a:t>vLLM / SGLang 均为开源项目——这也是开源的力量</a:t>
            </a:r>
            <a:endParaRPr lang="en-US" sz="1250" noProof="1"/>
          </a:p>
        </p:txBody>
      </p:sp>
      <p:sp>
        <p:nvSpPr>
          <p:cNvPr id="14" name="bign"/>
          <p:cNvSpPr txBox="1"/>
          <p:nvPr/>
        </p:nvSpPr>
        <p:spPr>
          <a:xfrm>
            <a:off x="8636000" y="2286000"/>
            <a:ext cx="2844800" cy="711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200" b="1" noProof="1">
                <a:solidFill>
                  <a:srgbClr val="F07D0A"/>
                </a:solidFill>
                <a:latin typeface="MiSans"/>
                <a:ea typeface="MiSans"/>
              </a:rPr>
              <a:t>2–4×</a:t>
            </a:r>
            <a:endParaRPr lang="en-US" sz="4200" noProof="1"/>
          </a:p>
        </p:txBody>
      </p:sp>
      <p:sp>
        <p:nvSpPr>
          <p:cNvPr id="15" name="bigl"/>
          <p:cNvSpPr txBox="1"/>
          <p:nvPr/>
        </p:nvSpPr>
        <p:spPr>
          <a:xfrm>
            <a:off x="8636000" y="3048000"/>
            <a:ext cx="2844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200" noProof="1">
                <a:solidFill>
                  <a:srgbClr val="6B7A8C"/>
                </a:solidFill>
                <a:latin typeface="MiSans"/>
                <a:ea typeface="MiSans"/>
              </a:rPr>
              <a:t>引擎层让每 token 成本再降的幅度</a:t>
            </a:r>
            <a:endParaRPr lang="en-US" sz="1200" noProof="1"/>
          </a:p>
        </p:txBody>
      </p:sp>
      <p:sp>
        <p:nvSpPr>
          <p:cNvPr id="16" name="trans"/>
          <p:cNvSpPr/>
          <p:nvPr/>
        </p:nvSpPr>
        <p:spPr>
          <a:xfrm>
            <a:off x="711200" y="5511800"/>
            <a:ext cx="10769600" cy="609600"/>
          </a:xfrm>
          <a:prstGeom prst="rect">
            <a:avLst/>
          </a:prstGeom>
          <a:solidFill>
            <a:srgbClr val="F3F6FA"/>
          </a:solidFill>
          <a:ln w="12700">
            <a:solidFill>
              <a:srgbClr val="D9E1E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ranst"/>
          <p:cNvSpPr txBox="1"/>
          <p:nvPr/>
        </p:nvSpPr>
        <p:spPr>
          <a:xfrm>
            <a:off x="965200" y="5511800"/>
            <a:ext cx="102616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50" noProof="1">
                <a:solidFill>
                  <a:srgbClr val="0B2440"/>
                </a:solidFill>
                <a:latin typeface="MiSans"/>
                <a:ea typeface="MiSans"/>
              </a:rPr>
              <a:t>模型、硬件、引擎走完，token 已便宜几十倍；但最戏剧性的还在后面 </a:t>
            </a:r>
            <a:r>
              <a:rPr lang="en-US" sz="1350" b="1" noProof="1">
                <a:solidFill>
                  <a:srgbClr val="F07D0A"/>
                </a:solidFill>
                <a:latin typeface="MiSans"/>
                <a:ea typeface="MiSans"/>
              </a:rPr>
              <a:t>→ 第四层杠杆：基础设施与生态</a:t>
            </a:r>
            <a:endParaRPr lang="en-US" sz="1350" noProof="1"/>
          </a:p>
        </p:txBody>
      </p:sp>
      <p:sp>
        <p:nvSpPr>
          <p:cNvPr id="18" name="fline"/>
          <p:cNvSpPr/>
          <p:nvPr/>
        </p:nvSpPr>
        <p:spPr>
          <a:xfrm>
            <a:off x="711200" y="6477000"/>
            <a:ext cx="107696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fl"/>
          <p:cNvSpPr txBox="1"/>
          <p:nvPr/>
        </p:nvSpPr>
        <p:spPr>
          <a:xfrm>
            <a:off x="711200" y="65532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B7A8C"/>
                </a:solidFill>
                <a:latin typeface="MiSans"/>
                <a:ea typeface="MiSans"/>
              </a:rPr>
              <a:t>Token Factory · AI 推理的成本革命</a:t>
            </a:r>
            <a:endParaRPr lang="en-US" sz="950" noProof="1"/>
          </a:p>
        </p:txBody>
      </p:sp>
      <p:sp>
        <p:nvSpPr>
          <p:cNvPr id="20" name="fr"/>
          <p:cNvSpPr txBox="1"/>
          <p:nvPr/>
        </p:nvSpPr>
        <p:spPr>
          <a:xfrm>
            <a:off x="10210800" y="65532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6B7A8C"/>
                </a:solidFill>
                <a:latin typeface="MiSans"/>
                <a:ea typeface="MiSans"/>
              </a:rPr>
              <a:t>25 / 40</a:t>
            </a:r>
            <a:endParaRPr lang="en-US" sz="950" noProof="1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"/>
          <p:cNvSpPr txBox="1"/>
          <p:nvPr/>
        </p:nvSpPr>
        <p:spPr>
          <a:xfrm>
            <a:off x="711200" y="3810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F07D0A"/>
                </a:solidFill>
                <a:latin typeface="MiSans"/>
                <a:ea typeface="MiSans"/>
              </a:rPr>
              <a:t>第四层杠杆 · 基础设施与生态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350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600" b="1" noProof="1">
                <a:solidFill>
                  <a:srgbClr val="0B2440"/>
                </a:solidFill>
                <a:latin typeface="MiSans"/>
                <a:ea typeface="MiSans"/>
              </a:rPr>
              <a:t>token 工厂的厂区规划：云原生三层架构</a:t>
            </a:r>
            <a:endParaRPr lang="en-US" sz="2600" noProof="1"/>
          </a:p>
        </p:txBody>
      </p:sp>
      <p:sp>
        <p:nvSpPr>
          <p:cNvPr id="4" name="rule"/>
          <p:cNvSpPr/>
          <p:nvPr/>
        </p:nvSpPr>
        <p:spPr>
          <a:xfrm>
            <a:off x="711200" y="1270000"/>
            <a:ext cx="107696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abar"/>
          <p:cNvSpPr/>
          <p:nvPr/>
        </p:nvSpPr>
        <p:spPr>
          <a:xfrm>
            <a:off x="711200" y="1244600"/>
            <a:ext cx="812800" cy="381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l3box"/>
          <p:cNvSpPr/>
          <p:nvPr/>
        </p:nvSpPr>
        <p:spPr>
          <a:xfrm>
            <a:off x="711200" y="1727200"/>
            <a:ext cx="5461000" cy="1143000"/>
          </a:xfrm>
          <a:prstGeom prst="rect">
            <a:avLst/>
          </a:prstGeom>
          <a:solidFill>
            <a:srgbClr val="F3F6FA"/>
          </a:solidFill>
          <a:ln w="12700">
            <a:solidFill>
              <a:srgbClr val="D9E1E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l3t"/>
          <p:cNvSpPr txBox="1"/>
          <p:nvPr/>
        </p:nvSpPr>
        <p:spPr>
          <a:xfrm>
            <a:off x="965200" y="1879600"/>
            <a:ext cx="49530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400" b="1" noProof="1">
                <a:solidFill>
                  <a:srgbClr val="0B2440"/>
                </a:solidFill>
                <a:latin typeface="MiSans"/>
                <a:ea typeface="MiSans"/>
              </a:rPr>
              <a:t>应用层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6B7A8C"/>
                </a:solidFill>
                <a:latin typeface="MiSans"/>
                <a:ea typeface="MiSans"/>
              </a:rPr>
              <a:t>训练框架 ｜ 推理引擎 ｜ 模型管理</a:t>
            </a:r>
            <a:endParaRPr lang="en-US" sz="1600" noProof="1"/>
          </a:p>
        </p:txBody>
      </p:sp>
      <p:sp>
        <p:nvSpPr>
          <p:cNvPr id="8" name="l2box"/>
          <p:cNvSpPr/>
          <p:nvPr/>
        </p:nvSpPr>
        <p:spPr>
          <a:xfrm>
            <a:off x="711200" y="3048000"/>
            <a:ext cx="5461000" cy="1143000"/>
          </a:xfrm>
          <a:prstGeom prst="rect">
            <a:avLst/>
          </a:prstGeom>
          <a:solidFill>
            <a:srgbClr val="F3F6FA"/>
          </a:solidFill>
          <a:ln w="12700">
            <a:solidFill>
              <a:srgbClr val="D9E1E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l2t"/>
          <p:cNvSpPr txBox="1"/>
          <p:nvPr/>
        </p:nvSpPr>
        <p:spPr>
          <a:xfrm>
            <a:off x="965200" y="3200400"/>
            <a:ext cx="49530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400" b="1" noProof="1">
                <a:solidFill>
                  <a:srgbClr val="0B2440"/>
                </a:solidFill>
                <a:latin typeface="MiSans"/>
                <a:ea typeface="MiSans"/>
              </a:rPr>
              <a:t>平台层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6B7A8C"/>
                </a:solidFill>
                <a:latin typeface="MiSans"/>
                <a:ea typeface="MiSans"/>
              </a:rPr>
              <a:t>Kubernetes 编排 ｜ GPU 调度 ｜ 监控</a:t>
            </a:r>
            <a:endParaRPr lang="en-US" sz="1600" noProof="1"/>
          </a:p>
        </p:txBody>
      </p:sp>
      <p:sp>
        <p:nvSpPr>
          <p:cNvPr id="10" name="l1box"/>
          <p:cNvSpPr/>
          <p:nvPr/>
        </p:nvSpPr>
        <p:spPr>
          <a:xfrm>
            <a:off x="711200" y="4368800"/>
            <a:ext cx="5461000" cy="1143000"/>
          </a:xfrm>
          <a:prstGeom prst="rect">
            <a:avLst/>
          </a:prstGeom>
          <a:solidFill>
            <a:srgbClr val="0B244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l1t"/>
          <p:cNvSpPr txBox="1"/>
          <p:nvPr/>
        </p:nvSpPr>
        <p:spPr>
          <a:xfrm>
            <a:off x="965200" y="4521200"/>
            <a:ext cx="49530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400" b="1" noProof="1">
                <a:solidFill>
                  <a:srgbClr val="FFFFFF"/>
                </a:solidFill>
                <a:latin typeface="MiSans"/>
                <a:ea typeface="MiSans"/>
              </a:rPr>
              <a:t>硬件层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A9BCD2"/>
                </a:solidFill>
                <a:latin typeface="MiSans"/>
                <a:ea typeface="MiSans"/>
              </a:rPr>
              <a:t>GPU 集群 ｜ 存储 ｜ 网络</a:t>
            </a:r>
            <a:endParaRPr lang="en-US" sz="1600" noProof="1"/>
          </a:p>
        </p:txBody>
      </p:sp>
      <p:sp>
        <p:nvSpPr>
          <p:cNvPr id="12" name="vh"/>
          <p:cNvSpPr txBox="1"/>
          <p:nvPr/>
        </p:nvSpPr>
        <p:spPr>
          <a:xfrm>
            <a:off x="6858000" y="1727200"/>
            <a:ext cx="46228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0B2440"/>
                </a:solidFill>
                <a:latin typeface="MiSans"/>
                <a:ea typeface="MiSans"/>
              </a:rPr>
              <a:t>云原生的核心价值</a:t>
            </a:r>
            <a:endParaRPr lang="en-US" sz="1400" noProof="1"/>
          </a:p>
        </p:txBody>
      </p:sp>
      <p:sp>
        <p:nvSpPr>
          <p:cNvPr id="13" name="v1"/>
          <p:cNvSpPr txBox="1"/>
          <p:nvPr/>
        </p:nvSpPr>
        <p:spPr>
          <a:xfrm>
            <a:off x="6858000" y="2159000"/>
            <a:ext cx="46228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350" b="1" noProof="1">
                <a:solidFill>
                  <a:srgbClr val="23303E"/>
                </a:solidFill>
                <a:latin typeface="MiSans"/>
                <a:ea typeface="MiSans"/>
              </a:rPr>
              <a:t>弹性</a:t>
            </a: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——按需扩缩容，高峰加机器、低谷释放</a:t>
            </a:r>
            <a:endParaRPr lang="en-US" sz="1350" noProof="1"/>
          </a:p>
        </p:txBody>
      </p:sp>
      <p:sp>
        <p:nvSpPr>
          <p:cNvPr id="14" name="v2"/>
          <p:cNvSpPr txBox="1"/>
          <p:nvPr/>
        </p:nvSpPr>
        <p:spPr>
          <a:xfrm>
            <a:off x="6858000" y="3048000"/>
            <a:ext cx="46228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350" b="1" noProof="1">
                <a:solidFill>
                  <a:srgbClr val="23303E"/>
                </a:solidFill>
                <a:latin typeface="MiSans"/>
                <a:ea typeface="MiSans"/>
              </a:rPr>
              <a:t>共享</a:t>
            </a: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——GPU 池化，利用率从“独占闲置”变“池化满载”</a:t>
            </a:r>
            <a:endParaRPr lang="en-US" sz="1350" noProof="1"/>
          </a:p>
        </p:txBody>
      </p:sp>
      <p:sp>
        <p:nvSpPr>
          <p:cNvPr id="15" name="v3"/>
          <p:cNvSpPr txBox="1"/>
          <p:nvPr/>
        </p:nvSpPr>
        <p:spPr>
          <a:xfrm>
            <a:off x="6858000" y="3937000"/>
            <a:ext cx="46228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350" b="1" noProof="1">
                <a:solidFill>
                  <a:srgbClr val="23303E"/>
                </a:solidFill>
                <a:latin typeface="MiSans"/>
                <a:ea typeface="MiSans"/>
              </a:rPr>
              <a:t>自动化</a:t>
            </a: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——故障自愈，减少人肉运维</a:t>
            </a:r>
            <a:endParaRPr lang="en-US" sz="1350" noProof="1"/>
          </a:p>
        </p:txBody>
      </p:sp>
      <p:sp>
        <p:nvSpPr>
          <p:cNvPr id="16" name="vnote"/>
          <p:cNvSpPr/>
          <p:nvPr/>
        </p:nvSpPr>
        <p:spPr>
          <a:xfrm>
            <a:off x="6858000" y="4953000"/>
            <a:ext cx="4622800" cy="762000"/>
          </a:xfrm>
          <a:prstGeom prst="rect">
            <a:avLst/>
          </a:prstGeom>
          <a:solidFill>
            <a:srgbClr val="FDEBD7"/>
          </a:solidFill>
          <a:ln w="12700">
            <a:solidFill>
              <a:srgbClr val="F07D0A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vnotet"/>
          <p:cNvSpPr txBox="1"/>
          <p:nvPr/>
        </p:nvSpPr>
        <p:spPr>
          <a:xfrm>
            <a:off x="7061200" y="4953000"/>
            <a:ext cx="42672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45000"/>
              </a:lnSpc>
            </a:pPr>
            <a:r>
              <a:rPr lang="en-US" sz="1250" noProof="1">
                <a:solidFill>
                  <a:srgbClr val="0B2440"/>
                </a:solidFill>
                <a:latin typeface="MiSans"/>
                <a:ea typeface="MiSans"/>
              </a:rPr>
              <a:t>云原生是第四层杠杆的地基：没有它，PD 分离、GPU 共享、自动扩缩容都无从谈起。</a:t>
            </a:r>
            <a:endParaRPr lang="en-US" sz="1250" noProof="1"/>
          </a:p>
        </p:txBody>
      </p:sp>
      <p:sp>
        <p:nvSpPr>
          <p:cNvPr id="18" name="fline"/>
          <p:cNvSpPr/>
          <p:nvPr/>
        </p:nvSpPr>
        <p:spPr>
          <a:xfrm>
            <a:off x="711200" y="6477000"/>
            <a:ext cx="107696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fl"/>
          <p:cNvSpPr txBox="1"/>
          <p:nvPr/>
        </p:nvSpPr>
        <p:spPr>
          <a:xfrm>
            <a:off x="711200" y="65532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B7A8C"/>
                </a:solidFill>
                <a:latin typeface="MiSans"/>
                <a:ea typeface="MiSans"/>
              </a:rPr>
              <a:t>Token Factory · AI 推理的成本革命</a:t>
            </a:r>
            <a:endParaRPr lang="en-US" sz="950" noProof="1"/>
          </a:p>
        </p:txBody>
      </p:sp>
      <p:sp>
        <p:nvSpPr>
          <p:cNvPr id="20" name="fr"/>
          <p:cNvSpPr txBox="1"/>
          <p:nvPr/>
        </p:nvSpPr>
        <p:spPr>
          <a:xfrm>
            <a:off x="10210800" y="65532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6B7A8C"/>
                </a:solidFill>
                <a:latin typeface="MiSans"/>
                <a:ea typeface="MiSans"/>
              </a:rPr>
              <a:t>26 / 40</a:t>
            </a:r>
            <a:endParaRPr lang="en-US" sz="950" noProof="1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"/>
          <p:cNvSpPr txBox="1"/>
          <p:nvPr/>
        </p:nvSpPr>
        <p:spPr>
          <a:xfrm>
            <a:off x="711200" y="3810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F07D0A"/>
                </a:solidFill>
                <a:latin typeface="MiSans"/>
                <a:ea typeface="MiSans"/>
              </a:rPr>
              <a:t>第四层杠杆 · 基础设施与生态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350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600" b="1" noProof="1">
                <a:solidFill>
                  <a:srgbClr val="0B2440"/>
                </a:solidFill>
                <a:latin typeface="MiSans"/>
                <a:ea typeface="MiSans"/>
              </a:rPr>
              <a:t>PD 分离：把 token 工厂分成两个车间</a:t>
            </a:r>
            <a:endParaRPr lang="en-US" sz="2600" noProof="1"/>
          </a:p>
        </p:txBody>
      </p:sp>
      <p:sp>
        <p:nvSpPr>
          <p:cNvPr id="4" name="rule"/>
          <p:cNvSpPr/>
          <p:nvPr/>
        </p:nvSpPr>
        <p:spPr>
          <a:xfrm>
            <a:off x="711200" y="1270000"/>
            <a:ext cx="107696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abar"/>
          <p:cNvSpPr/>
          <p:nvPr/>
        </p:nvSpPr>
        <p:spPr>
          <a:xfrm>
            <a:off x="711200" y="1244600"/>
            <a:ext cx="812800" cy="381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prob"/>
          <p:cNvSpPr txBox="1"/>
          <p:nvPr/>
        </p:nvSpPr>
        <p:spPr>
          <a:xfrm>
            <a:off x="711200" y="1600200"/>
            <a:ext cx="5334000" cy="241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350" b="1" noProof="1">
                <a:solidFill>
                  <a:srgbClr val="23303E"/>
                </a:solidFill>
                <a:latin typeface="MiSans"/>
                <a:ea typeface="MiSans"/>
              </a:rPr>
              <a:t>问题：推理的两个阶段，需求完全不同</a:t>
            </a:r>
            <a:endParaRPr lang="en-US" sz="135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350" b="1" noProof="1">
                <a:solidFill>
                  <a:srgbClr val="23303E"/>
                </a:solidFill>
                <a:latin typeface="MiSans"/>
                <a:ea typeface="MiSans"/>
              </a:rPr>
              <a:t>Prefill（处理输入）</a:t>
            </a: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：计算密集——要快速读完整个 prompt</a:t>
            </a:r>
            <a:endParaRPr lang="en-US" sz="135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350" b="1" noProof="1">
                <a:solidFill>
                  <a:srgbClr val="23303E"/>
                </a:solidFill>
                <a:latin typeface="MiSans"/>
                <a:ea typeface="MiSans"/>
              </a:rPr>
              <a:t>Decode（生成输出）</a:t>
            </a: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：内存 / 带宽密集——逐 token 生成</a:t>
            </a:r>
            <a:endParaRPr lang="en-US" sz="135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混在一起跑：两种负载互相拖累，谁都不满负荷</a:t>
            </a:r>
            <a:endParaRPr lang="en-US" sz="1350" noProof="1"/>
          </a:p>
        </p:txBody>
      </p:sp>
      <p:sp>
        <p:nvSpPr>
          <p:cNvPr id="7" name="sol"/>
          <p:cNvSpPr txBox="1"/>
          <p:nvPr/>
        </p:nvSpPr>
        <p:spPr>
          <a:xfrm>
            <a:off x="711200" y="4191000"/>
            <a:ext cx="53340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350" b="1" noProof="1">
                <a:solidFill>
                  <a:srgbClr val="23303E"/>
                </a:solidFill>
                <a:latin typeface="MiSans"/>
                <a:ea typeface="MiSans"/>
              </a:rPr>
              <a:t>PD 分离的解法</a:t>
            </a: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：拆成两个独立集群，各配独立的扩缩容策略</a:t>
            </a:r>
            <a:endParaRPr lang="en-US" sz="135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省钱逻辑：</a:t>
            </a:r>
            <a:r>
              <a:rPr lang="en-US" sz="1350" b="1" noProof="1">
                <a:solidFill>
                  <a:srgbClr val="F07D0A"/>
                </a:solidFill>
                <a:latin typeface="MiSans"/>
                <a:ea typeface="MiSans"/>
              </a:rPr>
              <a:t>让每台机器干它最擅长的事</a:t>
            </a:r>
            <a:endParaRPr lang="en-US" sz="1350" noProof="1"/>
          </a:p>
        </p:txBody>
      </p:sp>
      <p:sp>
        <p:nvSpPr>
          <p:cNvPr id="8" name="pbox"/>
          <p:cNvSpPr/>
          <p:nvPr/>
        </p:nvSpPr>
        <p:spPr>
          <a:xfrm>
            <a:off x="6731000" y="1905000"/>
            <a:ext cx="2159000" cy="1397000"/>
          </a:xfrm>
          <a:prstGeom prst="rect">
            <a:avLst/>
          </a:prstGeom>
          <a:solidFill>
            <a:srgbClr val="0B244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pt"/>
          <p:cNvSpPr txBox="1"/>
          <p:nvPr/>
        </p:nvSpPr>
        <p:spPr>
          <a:xfrm>
            <a:off x="6731000" y="1905000"/>
            <a:ext cx="21590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500" b="1" noProof="1">
                <a:solidFill>
                  <a:srgbClr val="FFFFFF"/>
                </a:solidFill>
                <a:latin typeface="MiSans"/>
                <a:ea typeface="MiSans"/>
              </a:rPr>
              <a:t>Prefill 集群</a:t>
            </a:r>
            <a:endParaRPr lang="en-US" sz="1600" noProof="1"/>
          </a:p>
          <a:p>
            <a:pPr algn="ctr">
              <a:lnSpc>
                <a:spcPct val="150000"/>
              </a:lnSpc>
            </a:pPr>
            <a:r>
              <a:rPr lang="en-US" sz="1100" noProof="1">
                <a:solidFill>
                  <a:srgbClr val="A9BCD2"/>
                </a:solidFill>
                <a:latin typeface="MiSans"/>
                <a:ea typeface="MiSans"/>
              </a:rPr>
              <a:t>卡多 · 算力强</a:t>
            </a:r>
            <a:endParaRPr lang="en-US" sz="1600" noProof="1"/>
          </a:p>
          <a:p>
            <a:pPr algn="ctr">
              <a:lnSpc>
                <a:spcPct val="150000"/>
              </a:lnSpc>
            </a:pPr>
            <a:r>
              <a:rPr lang="en-US" sz="1100" noProof="1">
                <a:solidFill>
                  <a:srgbClr val="A9BCD2"/>
                </a:solidFill>
                <a:latin typeface="MiSans"/>
                <a:ea typeface="MiSans"/>
              </a:rPr>
              <a:t>计算密集</a:t>
            </a:r>
            <a:endParaRPr lang="en-US" sz="1600" noProof="1"/>
          </a:p>
        </p:txBody>
      </p:sp>
      <p:sp>
        <p:nvSpPr>
          <p:cNvPr id="10" name="parr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eyJ2aWV3Qm94IjpbNjAsMTZdLCJwb2ludHMiOiIwLDggNjAsOCJ9</pptd:line>
              </p:ext>
            </p:extLst>
          </p:nvPr>
        </p:nvSpPr>
        <p:spPr>
          <a:xfrm>
            <a:off x="8991600" y="2489200"/>
            <a:ext cx="762000" cy="203200"/>
          </a:xfrm>
          <a:custGeom>
            <a:avLst/>
            <a:gdLst/>
            <a:ahLst/>
            <a:cxnLst/>
            <a:rect l="l" t="t" r="r" b="b"/>
            <a:pathLst>
              <a:path w="60" h="16">
                <a:moveTo>
                  <a:pt x="0" y="8"/>
                </a:moveTo>
                <a:lnTo>
                  <a:pt x="60" y="8"/>
                </a:lnTo>
              </a:path>
            </a:pathLst>
          </a:custGeom>
          <a:noFill/>
          <a:ln w="25400" cap="rnd">
            <a:solidFill>
              <a:srgbClr val="F07D0A"/>
            </a:solidFill>
            <a:round/>
            <a:tailEnd type="arrow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parrlab"/>
          <p:cNvSpPr txBox="1"/>
          <p:nvPr/>
        </p:nvSpPr>
        <p:spPr>
          <a:xfrm>
            <a:off x="8839200" y="2184400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noProof="1">
                <a:solidFill>
                  <a:srgbClr val="6B7A8C"/>
                </a:solidFill>
                <a:latin typeface="MiSans"/>
                <a:ea typeface="MiSans"/>
              </a:rPr>
              <a:t>KV 传递</a:t>
            </a:r>
            <a:endParaRPr lang="en-US" sz="1050" noProof="1"/>
          </a:p>
        </p:txBody>
      </p:sp>
      <p:sp>
        <p:nvSpPr>
          <p:cNvPr id="12" name="dbox"/>
          <p:cNvSpPr/>
          <p:nvPr/>
        </p:nvSpPr>
        <p:spPr>
          <a:xfrm>
            <a:off x="9855200" y="1905000"/>
            <a:ext cx="1625600" cy="13970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dt"/>
          <p:cNvSpPr txBox="1"/>
          <p:nvPr/>
        </p:nvSpPr>
        <p:spPr>
          <a:xfrm>
            <a:off x="9855200" y="1905000"/>
            <a:ext cx="16256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500" b="1" noProof="1">
                <a:solidFill>
                  <a:srgbClr val="FFFFFF"/>
                </a:solidFill>
                <a:latin typeface="MiSans"/>
                <a:ea typeface="MiSans"/>
              </a:rPr>
              <a:t>Decode 集群</a:t>
            </a:r>
            <a:endParaRPr lang="en-US" sz="1600" noProof="1"/>
          </a:p>
          <a:p>
            <a:pPr algn="ctr">
              <a:lnSpc>
                <a:spcPct val="150000"/>
              </a:lnSpc>
            </a:pPr>
            <a:r>
              <a:rPr lang="en-US" sz="1100" noProof="1">
                <a:solidFill>
                  <a:srgbClr val="FFF3E4"/>
                </a:solidFill>
                <a:latin typeface="MiSans"/>
                <a:ea typeface="MiSans"/>
              </a:rPr>
              <a:t>带宽大</a:t>
            </a:r>
            <a:endParaRPr lang="en-US" sz="1600" noProof="1"/>
          </a:p>
          <a:p>
            <a:pPr algn="ctr">
              <a:lnSpc>
                <a:spcPct val="150000"/>
              </a:lnSpc>
            </a:pPr>
            <a:r>
              <a:rPr lang="en-US" sz="1100" noProof="1">
                <a:solidFill>
                  <a:srgbClr val="FFF3E4"/>
                </a:solidFill>
                <a:latin typeface="MiSans"/>
                <a:ea typeface="MiSans"/>
              </a:rPr>
              <a:t>逐 token 生成</a:t>
            </a:r>
            <a:endParaRPr lang="en-US" sz="1600" noProof="1"/>
          </a:p>
        </p:txBody>
      </p:sp>
      <p:sp>
        <p:nvSpPr>
          <p:cNvPr id="14" name="scale"/>
          <p:cNvSpPr txBox="1"/>
          <p:nvPr/>
        </p:nvSpPr>
        <p:spPr>
          <a:xfrm>
            <a:off x="6731000" y="3454400"/>
            <a:ext cx="4749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50" noProof="1">
                <a:solidFill>
                  <a:srgbClr val="6B7A8C"/>
                </a:solidFill>
                <a:latin typeface="MiSans"/>
                <a:ea typeface="MiSans"/>
              </a:rPr>
              <a:t>两个集群各自独立扩缩容</a:t>
            </a:r>
            <a:endParaRPr lang="en-US" sz="1150" noProof="1"/>
          </a:p>
        </p:txBody>
      </p:sp>
      <p:sp>
        <p:nvSpPr>
          <p:cNvPr id="15" name="st1"/>
          <p:cNvSpPr txBox="1"/>
          <p:nvPr/>
        </p:nvSpPr>
        <p:spPr>
          <a:xfrm>
            <a:off x="6731000" y="4013200"/>
            <a:ext cx="47498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2400" b="1" noProof="1">
                <a:solidFill>
                  <a:srgbClr val="F07D0A"/>
                </a:solidFill>
                <a:latin typeface="MiSans"/>
                <a:ea typeface="MiSans"/>
              </a:rPr>
              <a:t>吞吐 +30–50%</a:t>
            </a:r>
            <a:endParaRPr lang="en-US" sz="1600" noProof="1"/>
          </a:p>
        </p:txBody>
      </p:sp>
      <p:sp>
        <p:nvSpPr>
          <p:cNvPr id="16" name="st1l"/>
          <p:cNvSpPr txBox="1"/>
          <p:nvPr/>
        </p:nvSpPr>
        <p:spPr>
          <a:xfrm>
            <a:off x="6731000" y="4648200"/>
            <a:ext cx="4749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45000"/>
              </a:lnSpc>
            </a:pPr>
            <a:r>
              <a:rPr lang="en-US" sz="1150" noProof="1">
                <a:solidFill>
                  <a:srgbClr val="23303E"/>
                </a:solidFill>
                <a:latin typeface="MiSans"/>
                <a:ea typeface="MiSans"/>
              </a:rPr>
              <a:t>每个阶段的利用率都提升；2026 年成为大厂标配（vLLM Router PD 模式、SGLang PD 分离）</a:t>
            </a:r>
            <a:endParaRPr lang="en-US" sz="1150" noProof="1"/>
          </a:p>
        </p:txBody>
      </p:sp>
      <p:sp>
        <p:nvSpPr>
          <p:cNvPr id="17" name="fline"/>
          <p:cNvSpPr/>
          <p:nvPr/>
        </p:nvSpPr>
        <p:spPr>
          <a:xfrm>
            <a:off x="711200" y="6477000"/>
            <a:ext cx="107696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fl"/>
          <p:cNvSpPr txBox="1"/>
          <p:nvPr/>
        </p:nvSpPr>
        <p:spPr>
          <a:xfrm>
            <a:off x="711200" y="65532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B7A8C"/>
                </a:solidFill>
                <a:latin typeface="MiSans"/>
                <a:ea typeface="MiSans"/>
              </a:rPr>
              <a:t>Token Factory · AI 推理的成本革命</a:t>
            </a:r>
            <a:endParaRPr lang="en-US" sz="950" noProof="1"/>
          </a:p>
        </p:txBody>
      </p:sp>
      <p:sp>
        <p:nvSpPr>
          <p:cNvPr id="19" name="fr"/>
          <p:cNvSpPr txBox="1"/>
          <p:nvPr/>
        </p:nvSpPr>
        <p:spPr>
          <a:xfrm>
            <a:off x="10210800" y="65532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6B7A8C"/>
                </a:solidFill>
                <a:latin typeface="MiSans"/>
                <a:ea typeface="MiSans"/>
              </a:rPr>
              <a:t>27 / 40</a:t>
            </a:r>
            <a:endParaRPr lang="en-US" sz="950" noProof="1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"/>
          <p:cNvSpPr txBox="1"/>
          <p:nvPr/>
        </p:nvSpPr>
        <p:spPr>
          <a:xfrm>
            <a:off x="711200" y="3810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F07D0A"/>
                </a:solidFill>
                <a:latin typeface="MiSans"/>
                <a:ea typeface="MiSans"/>
              </a:rPr>
              <a:t>第四层杠杆 · 基础设施与生态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350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600" b="1" noProof="1">
                <a:solidFill>
                  <a:srgbClr val="0B2440"/>
                </a:solidFill>
                <a:latin typeface="MiSans"/>
                <a:ea typeface="MiSans"/>
              </a:rPr>
              <a:t>2026：开源模型的“无限战争”</a:t>
            </a:r>
            <a:endParaRPr lang="en-US" sz="2600" noProof="1"/>
          </a:p>
        </p:txBody>
      </p:sp>
      <p:sp>
        <p:nvSpPr>
          <p:cNvPr id="4" name="rule"/>
          <p:cNvSpPr/>
          <p:nvPr/>
        </p:nvSpPr>
        <p:spPr>
          <a:xfrm>
            <a:off x="711200" y="1270000"/>
            <a:ext cx="107696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abar"/>
          <p:cNvSpPr/>
          <p:nvPr/>
        </p:nvSpPr>
        <p:spPr>
          <a:xfrm>
            <a:off x="711200" y="1244600"/>
            <a:ext cx="812800" cy="381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line"/>
          <p:cNvSpPr/>
          <p:nvPr/>
        </p:nvSpPr>
        <p:spPr>
          <a:xfrm>
            <a:off x="1143000" y="1930400"/>
            <a:ext cx="9906000" cy="254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n1"/>
          <p:cNvSpPr/>
          <p:nvPr/>
        </p:nvSpPr>
        <p:spPr>
          <a:xfrm>
            <a:off x="2070100" y="1854200"/>
            <a:ext cx="165100" cy="165100"/>
          </a:xfrm>
          <a:prstGeom prst="ellipse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y1"/>
          <p:cNvSpPr txBox="1"/>
          <p:nvPr/>
        </p:nvSpPr>
        <p:spPr>
          <a:xfrm>
            <a:off x="1397000" y="15494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noProof="1">
                <a:solidFill>
                  <a:srgbClr val="F07D0A"/>
                </a:solidFill>
                <a:latin typeface="MiSans"/>
                <a:ea typeface="MiSans"/>
              </a:rPr>
              <a:t>6.17</a:t>
            </a:r>
            <a:endParaRPr lang="en-US" sz="1200" noProof="1"/>
          </a:p>
        </p:txBody>
      </p:sp>
      <p:sp>
        <p:nvSpPr>
          <p:cNvPr id="9" name="tn1n"/>
          <p:cNvSpPr txBox="1"/>
          <p:nvPr/>
        </p:nvSpPr>
        <p:spPr>
          <a:xfrm>
            <a:off x="1270000" y="2108200"/>
            <a:ext cx="1778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noProof="1">
                <a:solidFill>
                  <a:srgbClr val="0B2440"/>
                </a:solidFill>
                <a:latin typeface="MiSans"/>
                <a:ea typeface="MiSans"/>
              </a:rPr>
              <a:t>GLM-5.2</a:t>
            </a:r>
            <a:endParaRPr lang="en-US" sz="1250" noProof="1"/>
          </a:p>
        </p:txBody>
      </p:sp>
      <p:sp>
        <p:nvSpPr>
          <p:cNvPr id="10" name="td1"/>
          <p:cNvSpPr txBox="1"/>
          <p:nvPr/>
        </p:nvSpPr>
        <p:spPr>
          <a:xfrm>
            <a:off x="1270000" y="2336800"/>
            <a:ext cx="1778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000" noProof="1">
                <a:solidFill>
                  <a:srgbClr val="6B7A8C"/>
                </a:solidFill>
                <a:latin typeface="MiSans"/>
                <a:ea typeface="MiSans"/>
              </a:rPr>
              <a:t>“Claude 级编程的开源平替”</a:t>
            </a:r>
            <a:endParaRPr lang="en-US" sz="1000" noProof="1"/>
          </a:p>
        </p:txBody>
      </p:sp>
      <p:sp>
        <p:nvSpPr>
          <p:cNvPr id="11" name="tn2"/>
          <p:cNvSpPr/>
          <p:nvPr/>
        </p:nvSpPr>
        <p:spPr>
          <a:xfrm>
            <a:off x="4610100" y="1854200"/>
            <a:ext cx="165100" cy="165100"/>
          </a:xfrm>
          <a:prstGeom prst="ellipse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y2"/>
          <p:cNvSpPr txBox="1"/>
          <p:nvPr/>
        </p:nvSpPr>
        <p:spPr>
          <a:xfrm>
            <a:off x="3937000" y="15494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noProof="1">
                <a:solidFill>
                  <a:srgbClr val="F07D0A"/>
                </a:solidFill>
                <a:latin typeface="MiSans"/>
                <a:ea typeface="MiSans"/>
              </a:rPr>
              <a:t>7.16</a:t>
            </a:r>
            <a:endParaRPr lang="en-US" sz="1200" noProof="1"/>
          </a:p>
        </p:txBody>
      </p:sp>
      <p:sp>
        <p:nvSpPr>
          <p:cNvPr id="13" name="tn2n"/>
          <p:cNvSpPr txBox="1"/>
          <p:nvPr/>
        </p:nvSpPr>
        <p:spPr>
          <a:xfrm>
            <a:off x="3810000" y="2108200"/>
            <a:ext cx="1778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noProof="1">
                <a:solidFill>
                  <a:srgbClr val="0B2440"/>
                </a:solidFill>
                <a:latin typeface="MiSans"/>
                <a:ea typeface="MiSans"/>
              </a:rPr>
              <a:t>Kimi K3</a:t>
            </a:r>
            <a:endParaRPr lang="en-US" sz="1250" noProof="1"/>
          </a:p>
        </p:txBody>
      </p:sp>
      <p:sp>
        <p:nvSpPr>
          <p:cNvPr id="14" name="td2"/>
          <p:cNvSpPr txBox="1"/>
          <p:nvPr/>
        </p:nvSpPr>
        <p:spPr>
          <a:xfrm>
            <a:off x="3810000" y="2336800"/>
            <a:ext cx="1778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000" noProof="1">
                <a:solidFill>
                  <a:srgbClr val="6B7A8C"/>
                </a:solidFill>
                <a:latin typeface="MiSans"/>
                <a:ea typeface="MiSans"/>
              </a:rPr>
              <a:t>2.8T 参数，全球最大开源权重</a:t>
            </a:r>
            <a:endParaRPr lang="en-US" sz="1000" noProof="1"/>
          </a:p>
        </p:txBody>
      </p:sp>
      <p:sp>
        <p:nvSpPr>
          <p:cNvPr id="15" name="tn3"/>
          <p:cNvSpPr/>
          <p:nvPr/>
        </p:nvSpPr>
        <p:spPr>
          <a:xfrm>
            <a:off x="7150100" y="1854200"/>
            <a:ext cx="165100" cy="165100"/>
          </a:xfrm>
          <a:prstGeom prst="ellipse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y3"/>
          <p:cNvSpPr txBox="1"/>
          <p:nvPr/>
        </p:nvSpPr>
        <p:spPr>
          <a:xfrm>
            <a:off x="6477000" y="15494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noProof="1">
                <a:solidFill>
                  <a:srgbClr val="F07D0A"/>
                </a:solidFill>
                <a:latin typeface="MiSans"/>
                <a:ea typeface="MiSans"/>
              </a:rPr>
              <a:t>7.19</a:t>
            </a:r>
            <a:endParaRPr lang="en-US" sz="1200" noProof="1"/>
          </a:p>
        </p:txBody>
      </p:sp>
      <p:sp>
        <p:nvSpPr>
          <p:cNvPr id="17" name="tn3n"/>
          <p:cNvSpPr txBox="1"/>
          <p:nvPr/>
        </p:nvSpPr>
        <p:spPr>
          <a:xfrm>
            <a:off x="6350000" y="2108200"/>
            <a:ext cx="1778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noProof="1">
                <a:solidFill>
                  <a:srgbClr val="0B2440"/>
                </a:solidFill>
                <a:latin typeface="MiSans"/>
                <a:ea typeface="MiSans"/>
              </a:rPr>
              <a:t>Qwen3.8</a:t>
            </a:r>
            <a:endParaRPr lang="en-US" sz="1250" noProof="1"/>
          </a:p>
        </p:txBody>
      </p:sp>
      <p:sp>
        <p:nvSpPr>
          <p:cNvPr id="18" name="td3"/>
          <p:cNvSpPr txBox="1"/>
          <p:nvPr/>
        </p:nvSpPr>
        <p:spPr>
          <a:xfrm>
            <a:off x="6350000" y="2336800"/>
            <a:ext cx="1778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000" noProof="1">
                <a:solidFill>
                  <a:srgbClr val="6B7A8C"/>
                </a:solidFill>
                <a:latin typeface="MiSans"/>
                <a:ea typeface="MiSans"/>
              </a:rPr>
              <a:t>2.4T 参数</a:t>
            </a:r>
            <a:endParaRPr lang="en-US" sz="1000" noProof="1"/>
          </a:p>
        </p:txBody>
      </p:sp>
      <p:sp>
        <p:nvSpPr>
          <p:cNvPr id="19" name="tn4"/>
          <p:cNvSpPr/>
          <p:nvPr/>
        </p:nvSpPr>
        <p:spPr>
          <a:xfrm>
            <a:off x="9690100" y="1854200"/>
            <a:ext cx="165100" cy="165100"/>
          </a:xfrm>
          <a:prstGeom prst="ellipse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y4"/>
          <p:cNvSpPr txBox="1"/>
          <p:nvPr/>
        </p:nvSpPr>
        <p:spPr>
          <a:xfrm>
            <a:off x="9017000" y="15494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noProof="1">
                <a:solidFill>
                  <a:srgbClr val="F07D0A"/>
                </a:solidFill>
                <a:latin typeface="MiSans"/>
                <a:ea typeface="MiSans"/>
              </a:rPr>
              <a:t>7 月底</a:t>
            </a:r>
            <a:endParaRPr lang="en-US" sz="1200" noProof="1"/>
          </a:p>
        </p:txBody>
      </p:sp>
      <p:sp>
        <p:nvSpPr>
          <p:cNvPr id="21" name="tn4n"/>
          <p:cNvSpPr txBox="1"/>
          <p:nvPr/>
        </p:nvSpPr>
        <p:spPr>
          <a:xfrm>
            <a:off x="8890000" y="2108200"/>
            <a:ext cx="1778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noProof="1">
                <a:solidFill>
                  <a:srgbClr val="0B2440"/>
                </a:solidFill>
                <a:latin typeface="MiSans"/>
                <a:ea typeface="MiSans"/>
              </a:rPr>
              <a:t>DeepSeek-V4</a:t>
            </a:r>
            <a:endParaRPr lang="en-US" sz="1250" noProof="1"/>
          </a:p>
        </p:txBody>
      </p:sp>
      <p:sp>
        <p:nvSpPr>
          <p:cNvPr id="22" name="td4"/>
          <p:cNvSpPr txBox="1"/>
          <p:nvPr/>
        </p:nvSpPr>
        <p:spPr>
          <a:xfrm>
            <a:off x="8890000" y="2336800"/>
            <a:ext cx="1778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000" noProof="1">
                <a:solidFill>
                  <a:srgbClr val="6B7A8C"/>
                </a:solidFill>
                <a:latin typeface="MiSans"/>
                <a:ea typeface="MiSans"/>
              </a:rPr>
              <a:t>1.6T，成本仅 V3.2 的 27%</a:t>
            </a:r>
            <a:endParaRPr lang="en-US" sz="1000" noProof="1"/>
          </a:p>
        </p:txBody>
      </p:sp>
      <p:sp>
        <p:nvSpPr>
          <p:cNvPr id="23" name="thead"/>
          <p:cNvSpPr txBox="1"/>
          <p:nvPr/>
        </p:nvSpPr>
        <p:spPr>
          <a:xfrm>
            <a:off x="711200" y="2946400"/>
            <a:ext cx="107696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6B7A8C"/>
                </a:solidFill>
                <a:latin typeface="MiSans"/>
                <a:ea typeface="MiSans"/>
              </a:rPr>
              <a:t>一个月内四家中国厂商密集发布。定价（$/百万 token，条长为对数比例）：</a:t>
            </a:r>
            <a:endParaRPr lang="en-US" sz="1150" noProof="1"/>
          </a:p>
        </p:txBody>
      </p:sp>
      <p:sp>
        <p:nvSpPr>
          <p:cNvPr id="24" name="p1l"/>
          <p:cNvSpPr txBox="1"/>
          <p:nvPr/>
        </p:nvSpPr>
        <p:spPr>
          <a:xfrm>
            <a:off x="711200" y="3276600"/>
            <a:ext cx="1905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23303E"/>
                </a:solidFill>
                <a:latin typeface="MiSans"/>
                <a:ea typeface="MiSans"/>
              </a:rPr>
              <a:t>DeepSeek V4 Pro</a:t>
            </a:r>
            <a:endParaRPr lang="en-US" sz="1100" noProof="1"/>
          </a:p>
        </p:txBody>
      </p:sp>
      <p:sp>
        <p:nvSpPr>
          <p:cNvPr id="25" name="p1b"/>
          <p:cNvSpPr/>
          <p:nvPr/>
        </p:nvSpPr>
        <p:spPr>
          <a:xfrm>
            <a:off x="2667000" y="3276600"/>
            <a:ext cx="482600" cy="1905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p1v"/>
          <p:cNvSpPr txBox="1"/>
          <p:nvPr/>
        </p:nvSpPr>
        <p:spPr>
          <a:xfrm>
            <a:off x="3251200" y="3276600"/>
            <a:ext cx="889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noProof="1">
                <a:solidFill>
                  <a:srgbClr val="F07D0A"/>
                </a:solidFill>
                <a:latin typeface="MiSans"/>
                <a:ea typeface="MiSans"/>
              </a:rPr>
              <a:t>$0.18</a:t>
            </a:r>
            <a:endParaRPr lang="en-US" sz="1100" noProof="1"/>
          </a:p>
        </p:txBody>
      </p:sp>
      <p:sp>
        <p:nvSpPr>
          <p:cNvPr id="27" name="p2l"/>
          <p:cNvSpPr txBox="1"/>
          <p:nvPr/>
        </p:nvSpPr>
        <p:spPr>
          <a:xfrm>
            <a:off x="711200" y="3683000"/>
            <a:ext cx="1905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23303E"/>
                </a:solidFill>
                <a:latin typeface="MiSans"/>
                <a:ea typeface="MiSans"/>
              </a:rPr>
              <a:t>GLM-5.2</a:t>
            </a:r>
            <a:endParaRPr lang="en-US" sz="1100" noProof="1"/>
          </a:p>
        </p:txBody>
      </p:sp>
      <p:sp>
        <p:nvSpPr>
          <p:cNvPr id="28" name="p2b"/>
          <p:cNvSpPr/>
          <p:nvPr/>
        </p:nvSpPr>
        <p:spPr>
          <a:xfrm>
            <a:off x="2667000" y="3683000"/>
            <a:ext cx="1816100" cy="1905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p2v"/>
          <p:cNvSpPr txBox="1"/>
          <p:nvPr/>
        </p:nvSpPr>
        <p:spPr>
          <a:xfrm>
            <a:off x="4584700" y="3683000"/>
            <a:ext cx="889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noProof="1">
                <a:solidFill>
                  <a:srgbClr val="F07D0A"/>
                </a:solidFill>
                <a:latin typeface="MiSans"/>
                <a:ea typeface="MiSans"/>
              </a:rPr>
              <a:t>$0.9</a:t>
            </a:r>
            <a:endParaRPr lang="en-US" sz="1100" noProof="1"/>
          </a:p>
        </p:txBody>
      </p:sp>
      <p:sp>
        <p:nvSpPr>
          <p:cNvPr id="30" name="p3l"/>
          <p:cNvSpPr txBox="1"/>
          <p:nvPr/>
        </p:nvSpPr>
        <p:spPr>
          <a:xfrm>
            <a:off x="711200" y="4089400"/>
            <a:ext cx="1905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23303E"/>
                </a:solidFill>
                <a:latin typeface="MiSans"/>
                <a:ea typeface="MiSans"/>
              </a:rPr>
              <a:t>Qwen3.7 Max</a:t>
            </a:r>
            <a:endParaRPr lang="en-US" sz="1100" noProof="1"/>
          </a:p>
        </p:txBody>
      </p:sp>
      <p:sp>
        <p:nvSpPr>
          <p:cNvPr id="31" name="p3b"/>
          <p:cNvSpPr/>
          <p:nvPr/>
        </p:nvSpPr>
        <p:spPr>
          <a:xfrm>
            <a:off x="2667000" y="4089400"/>
            <a:ext cx="2184400" cy="1905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p3v"/>
          <p:cNvSpPr txBox="1"/>
          <p:nvPr/>
        </p:nvSpPr>
        <p:spPr>
          <a:xfrm>
            <a:off x="4953000" y="4089400"/>
            <a:ext cx="889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noProof="1">
                <a:solidFill>
                  <a:srgbClr val="F07D0A"/>
                </a:solidFill>
                <a:latin typeface="MiSans"/>
                <a:ea typeface="MiSans"/>
              </a:rPr>
              <a:t>$1.4</a:t>
            </a:r>
            <a:endParaRPr lang="en-US" sz="1100" noProof="1"/>
          </a:p>
        </p:txBody>
      </p:sp>
      <p:sp>
        <p:nvSpPr>
          <p:cNvPr id="33" name="p4l"/>
          <p:cNvSpPr txBox="1"/>
          <p:nvPr/>
        </p:nvSpPr>
        <p:spPr>
          <a:xfrm>
            <a:off x="711200" y="4495800"/>
            <a:ext cx="1905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23303E"/>
                </a:solidFill>
                <a:latin typeface="MiSans"/>
                <a:ea typeface="MiSans"/>
              </a:rPr>
              <a:t>Kimi K3</a:t>
            </a:r>
            <a:endParaRPr lang="en-US" sz="1100" noProof="1"/>
          </a:p>
        </p:txBody>
      </p:sp>
      <p:sp>
        <p:nvSpPr>
          <p:cNvPr id="34" name="p4b"/>
          <p:cNvSpPr/>
          <p:nvPr/>
        </p:nvSpPr>
        <p:spPr>
          <a:xfrm>
            <a:off x="2667000" y="4495800"/>
            <a:ext cx="2590800" cy="1905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p4v"/>
          <p:cNvSpPr txBox="1"/>
          <p:nvPr/>
        </p:nvSpPr>
        <p:spPr>
          <a:xfrm>
            <a:off x="5359400" y="4495800"/>
            <a:ext cx="889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noProof="1">
                <a:solidFill>
                  <a:srgbClr val="F07D0A"/>
                </a:solidFill>
                <a:latin typeface="MiSans"/>
                <a:ea typeface="MiSans"/>
              </a:rPr>
              <a:t>$2.3</a:t>
            </a:r>
            <a:endParaRPr lang="en-US" sz="1100" noProof="1"/>
          </a:p>
        </p:txBody>
      </p:sp>
      <p:sp>
        <p:nvSpPr>
          <p:cNvPr id="36" name="p5l"/>
          <p:cNvSpPr txBox="1"/>
          <p:nvPr/>
        </p:nvSpPr>
        <p:spPr>
          <a:xfrm>
            <a:off x="711200" y="4902200"/>
            <a:ext cx="1905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23303E"/>
                </a:solidFill>
                <a:latin typeface="MiSans"/>
                <a:ea typeface="MiSans"/>
              </a:rPr>
              <a:t>GPT-5.6 Sol</a:t>
            </a:r>
            <a:endParaRPr lang="en-US" sz="1100" noProof="1"/>
          </a:p>
        </p:txBody>
      </p:sp>
      <p:sp>
        <p:nvSpPr>
          <p:cNvPr id="37" name="p5b"/>
          <p:cNvSpPr/>
          <p:nvPr/>
        </p:nvSpPr>
        <p:spPr>
          <a:xfrm>
            <a:off x="2667000" y="4902200"/>
            <a:ext cx="3238500" cy="190500"/>
          </a:xfrm>
          <a:prstGeom prst="rect">
            <a:avLst/>
          </a:prstGeom>
          <a:solidFill>
            <a:srgbClr val="0B244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p5v"/>
          <p:cNvSpPr txBox="1"/>
          <p:nvPr/>
        </p:nvSpPr>
        <p:spPr>
          <a:xfrm>
            <a:off x="6007100" y="4902200"/>
            <a:ext cx="889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noProof="1">
                <a:solidFill>
                  <a:srgbClr val="0B2440"/>
                </a:solidFill>
                <a:latin typeface="MiSans"/>
                <a:ea typeface="MiSans"/>
              </a:rPr>
              <a:t>$5</a:t>
            </a:r>
            <a:endParaRPr lang="en-US" sz="1100" noProof="1"/>
          </a:p>
        </p:txBody>
      </p:sp>
      <p:sp>
        <p:nvSpPr>
          <p:cNvPr id="39" name="p6l"/>
          <p:cNvSpPr txBox="1"/>
          <p:nvPr/>
        </p:nvSpPr>
        <p:spPr>
          <a:xfrm>
            <a:off x="711200" y="5308600"/>
            <a:ext cx="1905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23303E"/>
                </a:solidFill>
                <a:latin typeface="MiSans"/>
                <a:ea typeface="MiSans"/>
              </a:rPr>
              <a:t>Claude Fable 5</a:t>
            </a:r>
            <a:endParaRPr lang="en-US" sz="1100" noProof="1"/>
          </a:p>
        </p:txBody>
      </p:sp>
      <p:sp>
        <p:nvSpPr>
          <p:cNvPr id="40" name="p6b"/>
          <p:cNvSpPr/>
          <p:nvPr/>
        </p:nvSpPr>
        <p:spPr>
          <a:xfrm>
            <a:off x="2667000" y="5308600"/>
            <a:ext cx="5143500" cy="190500"/>
          </a:xfrm>
          <a:prstGeom prst="rect">
            <a:avLst/>
          </a:prstGeom>
          <a:solidFill>
            <a:srgbClr val="0B244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p6v"/>
          <p:cNvSpPr txBox="1"/>
          <p:nvPr/>
        </p:nvSpPr>
        <p:spPr>
          <a:xfrm>
            <a:off x="7912100" y="5308600"/>
            <a:ext cx="889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noProof="1">
                <a:solidFill>
                  <a:srgbClr val="0B2440"/>
                </a:solidFill>
                <a:latin typeface="MiSans"/>
                <a:ea typeface="MiSans"/>
              </a:rPr>
              <a:t>$50</a:t>
            </a:r>
            <a:endParaRPr lang="en-US" sz="1100" noProof="1"/>
          </a:p>
        </p:txBody>
      </p:sp>
      <p:sp>
        <p:nvSpPr>
          <p:cNvPr id="42" name="legend"/>
          <p:cNvSpPr txBox="1"/>
          <p:nvPr/>
        </p:nvSpPr>
        <p:spPr>
          <a:xfrm>
            <a:off x="711200" y="5689600"/>
            <a:ext cx="711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50" noProof="1">
                <a:solidFill>
                  <a:srgbClr val="F07D0A"/>
                </a:solidFill>
                <a:latin typeface="MiSans"/>
                <a:ea typeface="MiSans"/>
              </a:rPr>
              <a:t>■</a:t>
            </a:r>
            <a:r>
              <a:rPr lang="en-US" sz="1050" noProof="1">
                <a:solidFill>
                  <a:srgbClr val="6B7A8C"/>
                </a:solidFill>
                <a:latin typeface="MiSans"/>
                <a:ea typeface="MiSans"/>
              </a:rPr>
              <a:t> 开源　</a:t>
            </a:r>
            <a:r>
              <a:rPr lang="en-US" sz="1050" noProof="1">
                <a:solidFill>
                  <a:srgbClr val="0B2440"/>
                </a:solidFill>
                <a:latin typeface="MiSans"/>
                <a:ea typeface="MiSans"/>
              </a:rPr>
              <a:t>■</a:t>
            </a:r>
            <a:r>
              <a:rPr lang="en-US" sz="1050" noProof="1">
                <a:solidFill>
                  <a:srgbClr val="6B7A8C"/>
                </a:solidFill>
                <a:latin typeface="MiSans"/>
                <a:ea typeface="MiSans"/>
              </a:rPr>
              <a:t> 闭源　来源：各厂商公开 API 定价页（2026 年 7 月）</a:t>
            </a:r>
            <a:endParaRPr lang="en-US" sz="1050" noProof="1"/>
          </a:p>
        </p:txBody>
      </p:sp>
      <p:sp>
        <p:nvSpPr>
          <p:cNvPr id="43" name="gapbox"/>
          <p:cNvSpPr/>
          <p:nvPr/>
        </p:nvSpPr>
        <p:spPr>
          <a:xfrm>
            <a:off x="8382000" y="3175000"/>
            <a:ext cx="3098800" cy="2667000"/>
          </a:xfrm>
          <a:prstGeom prst="rect">
            <a:avLst/>
          </a:prstGeom>
          <a:solidFill>
            <a:srgbClr val="FDEBD7"/>
          </a:solidFill>
          <a:ln w="12700">
            <a:solidFill>
              <a:srgbClr val="F07D0A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gapt"/>
          <p:cNvSpPr txBox="1"/>
          <p:nvPr/>
        </p:nvSpPr>
        <p:spPr>
          <a:xfrm>
            <a:off x="8636000" y="3352800"/>
            <a:ext cx="2590800" cy="233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2600" b="1" noProof="1">
                <a:solidFill>
                  <a:srgbClr val="F07D0A"/>
                </a:solidFill>
                <a:latin typeface="MiSans"/>
                <a:ea typeface="MiSans"/>
              </a:rPr>
              <a:t>28×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1200" b="1" noProof="1">
                <a:solidFill>
                  <a:srgbClr val="0B2440"/>
                </a:solidFill>
                <a:latin typeface="MiSans"/>
                <a:ea typeface="MiSans"/>
              </a:rPr>
              <a:t>同档开源 vs 闭源价差</a:t>
            </a:r>
            <a:endParaRPr lang="en-US" sz="1600" noProof="1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100" noProof="1">
                <a:solidFill>
                  <a:srgbClr val="23303E"/>
                </a:solidFill>
                <a:latin typeface="MiSans"/>
                <a:ea typeface="MiSans"/>
              </a:rPr>
              <a:t>开源与闭源能力差距缩至 3–5 个月</a:t>
            </a:r>
            <a:endParaRPr lang="en-US" sz="160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100" noProof="1">
                <a:solidFill>
                  <a:srgbClr val="23303E"/>
                </a:solidFill>
                <a:latin typeface="MiSans"/>
                <a:ea typeface="MiSans"/>
              </a:rPr>
              <a:t>企业自建 token 工厂成为可行选择——成本压到接近“电费”</a:t>
            </a:r>
            <a:endParaRPr lang="en-US" sz="1600" noProof="1"/>
          </a:p>
        </p:txBody>
      </p:sp>
      <p:sp>
        <p:nvSpPr>
          <p:cNvPr id="45" name="fline"/>
          <p:cNvSpPr/>
          <p:nvPr/>
        </p:nvSpPr>
        <p:spPr>
          <a:xfrm>
            <a:off x="711200" y="6477000"/>
            <a:ext cx="107696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fl"/>
          <p:cNvSpPr txBox="1"/>
          <p:nvPr/>
        </p:nvSpPr>
        <p:spPr>
          <a:xfrm>
            <a:off x="711200" y="65532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B7A8C"/>
                </a:solidFill>
                <a:latin typeface="MiSans"/>
                <a:ea typeface="MiSans"/>
              </a:rPr>
              <a:t>Token Factory · AI 推理的成本革命</a:t>
            </a:r>
            <a:endParaRPr lang="en-US" sz="950" noProof="1"/>
          </a:p>
        </p:txBody>
      </p:sp>
      <p:sp>
        <p:nvSpPr>
          <p:cNvPr id="47" name="fr"/>
          <p:cNvSpPr txBox="1"/>
          <p:nvPr/>
        </p:nvSpPr>
        <p:spPr>
          <a:xfrm>
            <a:off x="10210800" y="65532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6B7A8C"/>
                </a:solidFill>
                <a:latin typeface="MiSans"/>
                <a:ea typeface="MiSans"/>
              </a:rPr>
              <a:t>28 / 40</a:t>
            </a:r>
            <a:endParaRPr lang="en-US" sz="950" noProof="1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"/>
          <p:cNvSpPr txBox="1"/>
          <p:nvPr/>
        </p:nvSpPr>
        <p:spPr>
          <a:xfrm>
            <a:off x="711200" y="3810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F07D0A"/>
                </a:solidFill>
                <a:latin typeface="MiSans"/>
                <a:ea typeface="MiSans"/>
              </a:rPr>
              <a:t>成本下降的后果 ①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350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600" b="1" noProof="1">
                <a:solidFill>
                  <a:srgbClr val="0B2440"/>
                </a:solidFill>
                <a:latin typeface="MiSans"/>
                <a:ea typeface="MiSans"/>
              </a:rPr>
              <a:t>token 便宜了，AI 编程才付得起</a:t>
            </a:r>
            <a:endParaRPr lang="en-US" sz="2600" noProof="1"/>
          </a:p>
        </p:txBody>
      </p:sp>
      <p:sp>
        <p:nvSpPr>
          <p:cNvPr id="4" name="rule"/>
          <p:cNvSpPr/>
          <p:nvPr/>
        </p:nvSpPr>
        <p:spPr>
          <a:xfrm>
            <a:off x="711200" y="1270000"/>
            <a:ext cx="107696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abar"/>
          <p:cNvSpPr/>
          <p:nvPr/>
        </p:nvSpPr>
        <p:spPr>
          <a:xfrm>
            <a:off x="711200" y="1244600"/>
            <a:ext cx="812800" cy="381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cost"/>
          <p:cNvSpPr txBox="1"/>
          <p:nvPr/>
        </p:nvSpPr>
        <p:spPr>
          <a:xfrm>
            <a:off x="711200" y="1600200"/>
            <a:ext cx="53340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350" b="1" noProof="1">
                <a:solidFill>
                  <a:srgbClr val="23303E"/>
                </a:solidFill>
                <a:latin typeface="MiSans"/>
                <a:ea typeface="MiSans"/>
              </a:rPr>
              <a:t>为什么 AI 编程是成本敏感的</a:t>
            </a:r>
            <a:endParaRPr lang="en-US" sz="1350" noProof="1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一次 Agentic 任务＝需求理解＋多文件修改＋测试＋迭代，可能消耗 </a:t>
            </a:r>
            <a:r>
              <a:rPr lang="en-US" sz="1350" b="1" noProof="1">
                <a:solidFill>
                  <a:srgbClr val="F07D0A"/>
                </a:solidFill>
                <a:latin typeface="MiSans"/>
                <a:ea typeface="MiSans"/>
              </a:rPr>
              <a:t>10 万–100 万 token</a:t>
            </a:r>
            <a:endParaRPr lang="en-US" sz="1350" noProof="1"/>
          </a:p>
        </p:txBody>
      </p:sp>
      <p:sp>
        <p:nvSpPr>
          <p:cNvPr id="7" name="c1box"/>
          <p:cNvSpPr/>
          <p:nvPr/>
        </p:nvSpPr>
        <p:spPr>
          <a:xfrm>
            <a:off x="711200" y="2997200"/>
            <a:ext cx="2540000" cy="1270000"/>
          </a:xfrm>
          <a:prstGeom prst="rect">
            <a:avLst/>
          </a:prstGeom>
          <a:solidFill>
            <a:srgbClr val="F3F6FA"/>
          </a:solidFill>
          <a:ln w="12700">
            <a:solidFill>
              <a:srgbClr val="D9E1E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c1t"/>
          <p:cNvSpPr txBox="1"/>
          <p:nvPr/>
        </p:nvSpPr>
        <p:spPr>
          <a:xfrm>
            <a:off x="914400" y="3149600"/>
            <a:ext cx="21336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6B7A8C"/>
                </a:solidFill>
                <a:latin typeface="MiSans"/>
                <a:ea typeface="MiSans"/>
              </a:rPr>
              <a:t>2023 · GPT-4（$60/M）</a:t>
            </a:r>
            <a:endParaRPr lang="en-US" sz="1600" noProof="1"/>
          </a:p>
          <a:p>
            <a:pPr>
              <a:lnSpc>
                <a:spcPct val="145000"/>
              </a:lnSpc>
            </a:pPr>
            <a:r>
              <a:rPr lang="en-US" sz="2400" b="1" noProof="1">
                <a:solidFill>
                  <a:srgbClr val="0B2440"/>
                </a:solidFill>
                <a:latin typeface="MiSans"/>
                <a:ea typeface="MiSans"/>
              </a:rPr>
              <a:t>$60/次</a:t>
            </a:r>
            <a:endParaRPr lang="en-US" sz="1600" noProof="1"/>
          </a:p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6B7A8C"/>
                </a:solidFill>
                <a:latin typeface="MiSans"/>
                <a:ea typeface="MiSans"/>
              </a:rPr>
              <a:t>太贵，只舍得补全几行代码</a:t>
            </a:r>
            <a:endParaRPr lang="en-US" sz="1600" noProof="1"/>
          </a:p>
        </p:txBody>
      </p:sp>
      <p:sp>
        <p:nvSpPr>
          <p:cNvPr id="9" name="carr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eyJpY29uTmFtZSI6ImZhczphcnJvdy1yaWdodCJ9</pptd:icon>
              </p:ext>
            </p:extLst>
          </p:nvPr>
        </p:nvSpPr>
        <p:spPr>
          <a:xfrm>
            <a:off x="3403600" y="3479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03" y="279"/>
                </a:moveTo>
                <a:cubicBezTo>
                  <a:pt x="515" y="266"/>
                  <a:pt x="515" y="246"/>
                  <a:pt x="503" y="233"/>
                </a:cubicBezTo>
                <a:lnTo>
                  <a:pt x="343" y="73"/>
                </a:lnTo>
                <a:cubicBezTo>
                  <a:pt x="330" y="61"/>
                  <a:pt x="310" y="61"/>
                  <a:pt x="297" y="73"/>
                </a:cubicBezTo>
                <a:cubicBezTo>
                  <a:pt x="285" y="86"/>
                  <a:pt x="285" y="106"/>
                  <a:pt x="297" y="119"/>
                </a:cubicBezTo>
                <a:lnTo>
                  <a:pt x="403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03" y="288"/>
                </a:lnTo>
                <a:lnTo>
                  <a:pt x="297" y="393"/>
                </a:lnTo>
                <a:cubicBezTo>
                  <a:pt x="285" y="406"/>
                  <a:pt x="285" y="426"/>
                  <a:pt x="297" y="439"/>
                </a:cubicBezTo>
                <a:cubicBezTo>
                  <a:pt x="310" y="451"/>
                  <a:pt x="330" y="451"/>
                  <a:pt x="343" y="439"/>
                </a:cubicBezTo>
                <a:lnTo>
                  <a:pt x="503" y="279"/>
                </a:lnTo>
                <a:close/>
              </a:path>
            </a:pathLst>
          </a:cu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c2box"/>
          <p:cNvSpPr/>
          <p:nvPr/>
        </p:nvSpPr>
        <p:spPr>
          <a:xfrm>
            <a:off x="3860800" y="2997200"/>
            <a:ext cx="2540000" cy="1270000"/>
          </a:xfrm>
          <a:prstGeom prst="rect">
            <a:avLst/>
          </a:prstGeom>
          <a:solidFill>
            <a:srgbClr val="FDEBD7"/>
          </a:solidFill>
          <a:ln w="12700">
            <a:solidFill>
              <a:srgbClr val="F07D0A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c2t"/>
          <p:cNvSpPr txBox="1"/>
          <p:nvPr/>
        </p:nvSpPr>
        <p:spPr>
          <a:xfrm>
            <a:off x="4064000" y="3149600"/>
            <a:ext cx="21336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6B7A8C"/>
                </a:solidFill>
                <a:latin typeface="MiSans"/>
                <a:ea typeface="MiSans"/>
              </a:rPr>
              <a:t>2026 · DeepSeek V4（$0.18/M）</a:t>
            </a:r>
            <a:endParaRPr lang="en-US" sz="1600" noProof="1"/>
          </a:p>
          <a:p>
            <a:pPr>
              <a:lnSpc>
                <a:spcPct val="145000"/>
              </a:lnSpc>
            </a:pPr>
            <a:r>
              <a:rPr lang="en-US" sz="2400" b="1" noProof="1">
                <a:solidFill>
                  <a:srgbClr val="F07D0A"/>
                </a:solidFill>
                <a:latin typeface="MiSans"/>
                <a:ea typeface="MiSans"/>
              </a:rPr>
              <a:t>$0.2/次</a:t>
            </a:r>
            <a:endParaRPr lang="en-US" sz="1600" noProof="1"/>
          </a:p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6B7A8C"/>
                </a:solidFill>
                <a:latin typeface="MiSans"/>
                <a:ea typeface="MiSans"/>
              </a:rPr>
              <a:t>随便跑</a:t>
            </a:r>
            <a:endParaRPr lang="en-US" sz="1600" noProof="1"/>
          </a:p>
        </p:txBody>
      </p:sp>
      <p:sp>
        <p:nvSpPr>
          <p:cNvPr id="12" name="tlh"/>
          <p:cNvSpPr txBox="1"/>
          <p:nvPr/>
        </p:nvSpPr>
        <p:spPr>
          <a:xfrm>
            <a:off x="711200" y="4673600"/>
            <a:ext cx="5334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noProof="1">
                <a:solidFill>
                  <a:srgbClr val="0B2440"/>
                </a:solidFill>
                <a:latin typeface="MiSans"/>
                <a:ea typeface="MiSans"/>
              </a:rPr>
              <a:t>Agentic 编程的三代演进</a:t>
            </a:r>
            <a:endParaRPr lang="en-US" sz="1300" noProof="1"/>
          </a:p>
        </p:txBody>
      </p:sp>
      <p:sp>
        <p:nvSpPr>
          <p:cNvPr id="13" name="tlline"/>
          <p:cNvSpPr/>
          <p:nvPr/>
        </p:nvSpPr>
        <p:spPr>
          <a:xfrm>
            <a:off x="838200" y="5613400"/>
            <a:ext cx="4826000" cy="254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l1"/>
          <p:cNvSpPr/>
          <p:nvPr/>
        </p:nvSpPr>
        <p:spPr>
          <a:xfrm>
            <a:off x="762000" y="5537200"/>
            <a:ext cx="165100" cy="165100"/>
          </a:xfrm>
          <a:prstGeom prst="ellipse">
            <a:avLst/>
          </a:prstGeom>
          <a:solidFill>
            <a:srgbClr val="33506E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l1t"/>
          <p:cNvSpPr txBox="1"/>
          <p:nvPr/>
        </p:nvSpPr>
        <p:spPr>
          <a:xfrm>
            <a:off x="508000" y="5105400"/>
            <a:ext cx="1397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050" b="1" noProof="1">
                <a:solidFill>
                  <a:srgbClr val="0B2440"/>
                </a:solidFill>
                <a:latin typeface="MiSans"/>
                <a:ea typeface="MiSans"/>
              </a:rPr>
              <a:t>2021–23 代码补全</a:t>
            </a:r>
            <a:endParaRPr lang="en-US" sz="1050" noProof="1"/>
          </a:p>
        </p:txBody>
      </p:sp>
      <p:sp>
        <p:nvSpPr>
          <p:cNvPr id="16" name="tl1d"/>
          <p:cNvSpPr txBox="1"/>
          <p:nvPr/>
        </p:nvSpPr>
        <p:spPr>
          <a:xfrm>
            <a:off x="508000" y="5791200"/>
            <a:ext cx="1397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000" noProof="1">
                <a:solidFill>
                  <a:srgbClr val="6B7A8C"/>
                </a:solidFill>
                <a:latin typeface="MiSans"/>
                <a:ea typeface="MiSans"/>
              </a:rPr>
              <a:t>Copilot AI 接一句</a:t>
            </a:r>
            <a:endParaRPr lang="en-US" sz="1000" noProof="1"/>
          </a:p>
        </p:txBody>
      </p:sp>
      <p:sp>
        <p:nvSpPr>
          <p:cNvPr id="17" name="tl2"/>
          <p:cNvSpPr/>
          <p:nvPr/>
        </p:nvSpPr>
        <p:spPr>
          <a:xfrm>
            <a:off x="2692400" y="5537200"/>
            <a:ext cx="165100" cy="165100"/>
          </a:xfrm>
          <a:prstGeom prst="ellipse">
            <a:avLst/>
          </a:prstGeom>
          <a:solidFill>
            <a:srgbClr val="33506E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l2t"/>
          <p:cNvSpPr txBox="1"/>
          <p:nvPr/>
        </p:nvSpPr>
        <p:spPr>
          <a:xfrm>
            <a:off x="2159000" y="5105400"/>
            <a:ext cx="1397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050" b="1" noProof="1">
                <a:solidFill>
                  <a:srgbClr val="0B2440"/>
                </a:solidFill>
                <a:latin typeface="MiSans"/>
                <a:ea typeface="MiSans"/>
              </a:rPr>
              <a:t>2024–25 对话式编程</a:t>
            </a:r>
            <a:endParaRPr lang="en-US" sz="1050" noProof="1"/>
          </a:p>
        </p:txBody>
      </p:sp>
      <p:sp>
        <p:nvSpPr>
          <p:cNvPr id="19" name="tl2d"/>
          <p:cNvSpPr txBox="1"/>
          <p:nvPr/>
        </p:nvSpPr>
        <p:spPr>
          <a:xfrm>
            <a:off x="2159000" y="5791200"/>
            <a:ext cx="1397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000" noProof="1">
                <a:solidFill>
                  <a:srgbClr val="6B7A8C"/>
                </a:solidFill>
                <a:latin typeface="MiSans"/>
                <a:ea typeface="MiSans"/>
              </a:rPr>
              <a:t>Cursor 多轮对话</a:t>
            </a:r>
            <a:endParaRPr lang="en-US" sz="1000" noProof="1"/>
          </a:p>
        </p:txBody>
      </p:sp>
      <p:sp>
        <p:nvSpPr>
          <p:cNvPr id="20" name="tl3"/>
          <p:cNvSpPr/>
          <p:nvPr/>
        </p:nvSpPr>
        <p:spPr>
          <a:xfrm>
            <a:off x="4597400" y="5499100"/>
            <a:ext cx="241300" cy="241300"/>
          </a:xfrm>
          <a:prstGeom prst="ellipse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l3t"/>
          <p:cNvSpPr txBox="1"/>
          <p:nvPr/>
        </p:nvSpPr>
        <p:spPr>
          <a:xfrm>
            <a:off x="3937000" y="5105400"/>
            <a:ext cx="1651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050" b="1" noProof="1">
                <a:solidFill>
                  <a:srgbClr val="F07D0A"/>
                </a:solidFill>
                <a:latin typeface="MiSans"/>
                <a:ea typeface="MiSans"/>
              </a:rPr>
              <a:t>2025–26 Agentic 编程</a:t>
            </a:r>
            <a:endParaRPr lang="en-US" sz="1050" noProof="1"/>
          </a:p>
        </p:txBody>
      </p:sp>
      <p:sp>
        <p:nvSpPr>
          <p:cNvPr id="22" name="tl3d"/>
          <p:cNvSpPr txBox="1"/>
          <p:nvPr/>
        </p:nvSpPr>
        <p:spPr>
          <a:xfrm>
            <a:off x="3937000" y="5791200"/>
            <a:ext cx="1651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000" noProof="1">
                <a:solidFill>
                  <a:srgbClr val="6B7A8C"/>
                </a:solidFill>
                <a:latin typeface="MiSans"/>
                <a:ea typeface="MiSans"/>
              </a:rPr>
              <a:t>需求→计划→实现→测试→提交，自主闭环</a:t>
            </a:r>
            <a:endParaRPr lang="en-US" sz="1000" noProof="1"/>
          </a:p>
        </p:txBody>
      </p:sp>
      <p:sp>
        <p:nvSpPr>
          <p:cNvPr id="23" name="rh"/>
          <p:cNvSpPr txBox="1"/>
          <p:nvPr/>
        </p:nvSpPr>
        <p:spPr>
          <a:xfrm>
            <a:off x="7112000" y="1600200"/>
            <a:ext cx="4368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noProof="1">
                <a:solidFill>
                  <a:srgbClr val="0B2440"/>
                </a:solidFill>
                <a:latin typeface="MiSans"/>
                <a:ea typeface="MiSans"/>
              </a:rPr>
              <a:t>工具生态（2026）</a:t>
            </a:r>
            <a:endParaRPr lang="en-US" sz="1300" noProof="1"/>
          </a:p>
        </p:txBody>
      </p:sp>
      <p:sp>
        <p:nvSpPr>
          <p:cNvPr id="24" name="tool1"/>
          <p:cNvSpPr txBox="1"/>
          <p:nvPr/>
        </p:nvSpPr>
        <p:spPr>
          <a:xfrm>
            <a:off x="7112000" y="2006600"/>
            <a:ext cx="43688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50" b="1" noProof="1">
                <a:solidFill>
                  <a:srgbClr val="23303E"/>
                </a:solidFill>
                <a:latin typeface="MiSans"/>
                <a:ea typeface="MiSans"/>
              </a:rPr>
              <a:t>Claude Code</a:t>
            </a:r>
            <a:r>
              <a:rPr lang="en-US" sz="1250" noProof="1">
                <a:solidFill>
                  <a:srgbClr val="23303E"/>
                </a:solidFill>
                <a:latin typeface="MiSans"/>
                <a:ea typeface="MiSans"/>
              </a:rPr>
              <a:t>　</a:t>
            </a:r>
            <a:r>
              <a:rPr lang="en-US" sz="1250" noProof="1">
                <a:solidFill>
                  <a:srgbClr val="6B7A8C"/>
                </a:solidFill>
                <a:latin typeface="MiSans"/>
                <a:ea typeface="MiSans"/>
              </a:rPr>
              <a:t>Agentic 编程代表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b="1" noProof="1">
                <a:solidFill>
                  <a:srgbClr val="23303E"/>
                </a:solidFill>
                <a:latin typeface="MiSans"/>
                <a:ea typeface="MiSans"/>
              </a:rPr>
              <a:t>Cursor ｜ GitHub Copilot</a:t>
            </a:r>
            <a:r>
              <a:rPr lang="en-US" sz="1250" noProof="1">
                <a:solidFill>
                  <a:srgbClr val="23303E"/>
                </a:solidFill>
                <a:latin typeface="MiSans"/>
                <a:ea typeface="MiSans"/>
              </a:rPr>
              <a:t>　</a:t>
            </a:r>
            <a:r>
              <a:rPr lang="en-US" sz="1250" noProof="1">
                <a:solidFill>
                  <a:srgbClr val="6B7A8C"/>
                </a:solidFill>
                <a:latin typeface="MiSans"/>
                <a:ea typeface="MiSans"/>
              </a:rPr>
              <a:t>对话式编程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b="1" noProof="1">
                <a:solidFill>
                  <a:srgbClr val="23303E"/>
                </a:solidFill>
                <a:latin typeface="MiSans"/>
                <a:ea typeface="MiSans"/>
              </a:rPr>
              <a:t>Windsurf ｜ Qoder</a:t>
            </a:r>
            <a:r>
              <a:rPr lang="en-US" sz="1250" noProof="1">
                <a:solidFill>
                  <a:srgbClr val="23303E"/>
                </a:solidFill>
                <a:latin typeface="MiSans"/>
                <a:ea typeface="MiSans"/>
              </a:rPr>
              <a:t>　</a:t>
            </a:r>
            <a:r>
              <a:rPr lang="en-US" sz="1250" noProof="1">
                <a:solidFill>
                  <a:srgbClr val="6B7A8C"/>
                </a:solidFill>
                <a:latin typeface="MiSans"/>
                <a:ea typeface="MiSans"/>
              </a:rPr>
              <a:t>新锐 IDE</a:t>
            </a:r>
            <a:endParaRPr lang="en-US" sz="1250" noProof="1"/>
          </a:p>
        </p:txBody>
      </p:sp>
      <p:sp>
        <p:nvSpPr>
          <p:cNvPr id="25" name="rnote"/>
          <p:cNvSpPr/>
          <p:nvPr/>
        </p:nvSpPr>
        <p:spPr>
          <a:xfrm>
            <a:off x="7112000" y="3175000"/>
            <a:ext cx="4368800" cy="1524000"/>
          </a:xfrm>
          <a:prstGeom prst="rect">
            <a:avLst/>
          </a:prstGeom>
          <a:solidFill>
            <a:srgbClr val="F3F6FA"/>
          </a:solidFill>
          <a:ln w="12700">
            <a:solidFill>
              <a:srgbClr val="D9E1E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rnotet"/>
          <p:cNvSpPr txBox="1"/>
          <p:nvPr/>
        </p:nvSpPr>
        <p:spPr>
          <a:xfrm>
            <a:off x="7366000" y="3352800"/>
            <a:ext cx="38608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250" b="1" noProof="1">
                <a:solidFill>
                  <a:srgbClr val="0B2440"/>
                </a:solidFill>
                <a:latin typeface="MiSans"/>
                <a:ea typeface="MiSans"/>
              </a:rPr>
              <a:t>没有 token 价格革命，就没有 Agentic 编程。</a:t>
            </a:r>
            <a:endParaRPr lang="en-US" sz="1250" noProof="1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250" noProof="1">
                <a:solidFill>
                  <a:srgbClr val="6B7A8C"/>
                </a:solidFill>
                <a:latin typeface="MiSans"/>
                <a:ea typeface="MiSans"/>
              </a:rPr>
              <a:t>这是“成本下降打开应用空间”的第一个例子。</a:t>
            </a:r>
            <a:endParaRPr lang="en-US" sz="1250" noProof="1"/>
          </a:p>
        </p:txBody>
      </p:sp>
      <p:sp>
        <p:nvSpPr>
          <p:cNvPr id="27" name="fline"/>
          <p:cNvSpPr/>
          <p:nvPr/>
        </p:nvSpPr>
        <p:spPr>
          <a:xfrm>
            <a:off x="711200" y="6477000"/>
            <a:ext cx="107696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fl"/>
          <p:cNvSpPr txBox="1"/>
          <p:nvPr/>
        </p:nvSpPr>
        <p:spPr>
          <a:xfrm>
            <a:off x="711200" y="65532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B7A8C"/>
                </a:solidFill>
                <a:latin typeface="MiSans"/>
                <a:ea typeface="MiSans"/>
              </a:rPr>
              <a:t>Token Factory · AI 推理的成本革命</a:t>
            </a:r>
            <a:endParaRPr lang="en-US" sz="950" noProof="1"/>
          </a:p>
        </p:txBody>
      </p:sp>
      <p:sp>
        <p:nvSpPr>
          <p:cNvPr id="29" name="fr"/>
          <p:cNvSpPr txBox="1"/>
          <p:nvPr/>
        </p:nvSpPr>
        <p:spPr>
          <a:xfrm>
            <a:off x="10210800" y="65532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6B7A8C"/>
                </a:solidFill>
                <a:latin typeface="MiSans"/>
                <a:ea typeface="MiSans"/>
              </a:rPr>
              <a:t>29 / 40</a:t>
            </a:r>
            <a:endParaRPr lang="en-US" sz="950" noProof="1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"/>
          <p:cNvSpPr txBox="1"/>
          <p:nvPr/>
        </p:nvSpPr>
        <p:spPr>
          <a:xfrm>
            <a:off x="711200" y="3810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F07D0A"/>
                </a:solidFill>
                <a:latin typeface="MiSans"/>
                <a:ea typeface="MiSans"/>
              </a:rPr>
              <a:t>成本下降的后果 ②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350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600" b="1" noProof="1">
                <a:solidFill>
                  <a:srgbClr val="0B2440"/>
                </a:solidFill>
                <a:latin typeface="MiSans"/>
                <a:ea typeface="MiSans"/>
              </a:rPr>
              <a:t>token 便宜了，1M 上下文才用得起</a:t>
            </a:r>
            <a:endParaRPr lang="en-US" sz="2600" noProof="1"/>
          </a:p>
        </p:txBody>
      </p:sp>
      <p:sp>
        <p:nvSpPr>
          <p:cNvPr id="4" name="rule"/>
          <p:cNvSpPr/>
          <p:nvPr/>
        </p:nvSpPr>
        <p:spPr>
          <a:xfrm>
            <a:off x="711200" y="1270000"/>
            <a:ext cx="107696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abar"/>
          <p:cNvSpPr/>
          <p:nvPr/>
        </p:nvSpPr>
        <p:spPr>
          <a:xfrm>
            <a:off x="711200" y="1244600"/>
            <a:ext cx="812800" cy="381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ch"/>
          <p:cNvSpPr txBox="1"/>
          <p:nvPr/>
        </p:nvSpPr>
        <p:spPr>
          <a:xfrm>
            <a:off x="1219200" y="1600200"/>
            <a:ext cx="457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6B7A8C"/>
                </a:solidFill>
                <a:latin typeface="MiSans"/>
                <a:ea typeface="MiSans"/>
              </a:rPr>
              <a:t>上下文长度演进（token，对数坐标）</a:t>
            </a:r>
            <a:endParaRPr lang="en-US" sz="1150" noProof="1"/>
          </a:p>
        </p:txBody>
      </p:sp>
      <p:sp>
        <p:nvSpPr>
          <p:cNvPr id="7" name="cg1"/>
          <p:cNvSpPr/>
          <p:nvPr/>
        </p:nvSpPr>
        <p:spPr>
          <a:xfrm>
            <a:off x="1219200" y="2159000"/>
            <a:ext cx="43180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cg2"/>
          <p:cNvSpPr/>
          <p:nvPr/>
        </p:nvSpPr>
        <p:spPr>
          <a:xfrm>
            <a:off x="1219200" y="3048000"/>
            <a:ext cx="43180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cg3"/>
          <p:cNvSpPr/>
          <p:nvPr/>
        </p:nvSpPr>
        <p:spPr>
          <a:xfrm>
            <a:off x="1219200" y="3937000"/>
            <a:ext cx="43180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cg4"/>
          <p:cNvSpPr/>
          <p:nvPr/>
        </p:nvSpPr>
        <p:spPr>
          <a:xfrm>
            <a:off x="1219200" y="4826000"/>
            <a:ext cx="43180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cgl1"/>
          <p:cNvSpPr txBox="1"/>
          <p:nvPr/>
        </p:nvSpPr>
        <p:spPr>
          <a:xfrm>
            <a:off x="508000" y="2057400"/>
            <a:ext cx="635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B7A8C"/>
                </a:solidFill>
                <a:latin typeface="MiSans"/>
                <a:ea typeface="MiSans"/>
              </a:rPr>
              <a:t>1M</a:t>
            </a:r>
            <a:endParaRPr lang="en-US" sz="1000" noProof="1"/>
          </a:p>
        </p:txBody>
      </p:sp>
      <p:sp>
        <p:nvSpPr>
          <p:cNvPr id="12" name="cgl2"/>
          <p:cNvSpPr txBox="1"/>
          <p:nvPr/>
        </p:nvSpPr>
        <p:spPr>
          <a:xfrm>
            <a:off x="508000" y="2946400"/>
            <a:ext cx="635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B7A8C"/>
                </a:solidFill>
                <a:latin typeface="MiSans"/>
                <a:ea typeface="MiSans"/>
              </a:rPr>
              <a:t>10K</a:t>
            </a:r>
            <a:endParaRPr lang="en-US" sz="1000" noProof="1"/>
          </a:p>
        </p:txBody>
      </p:sp>
      <p:sp>
        <p:nvSpPr>
          <p:cNvPr id="13" name="cgl3"/>
          <p:cNvSpPr txBox="1"/>
          <p:nvPr/>
        </p:nvSpPr>
        <p:spPr>
          <a:xfrm>
            <a:off x="508000" y="3835400"/>
            <a:ext cx="635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B7A8C"/>
                </a:solidFill>
                <a:latin typeface="MiSans"/>
                <a:ea typeface="MiSans"/>
              </a:rPr>
              <a:t>100</a:t>
            </a:r>
            <a:endParaRPr lang="en-US" sz="1000" noProof="1"/>
          </a:p>
        </p:txBody>
      </p:sp>
      <p:sp>
        <p:nvSpPr>
          <p:cNvPr id="14" name="cgl4"/>
          <p:cNvSpPr txBox="1"/>
          <p:nvPr/>
        </p:nvSpPr>
        <p:spPr>
          <a:xfrm>
            <a:off x="508000" y="4724400"/>
            <a:ext cx="635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B7A8C"/>
                </a:solidFill>
                <a:latin typeface="MiSans"/>
                <a:ea typeface="MiSans"/>
              </a:rPr>
              <a:t>1</a:t>
            </a:r>
            <a:endParaRPr lang="en-US" sz="1000" noProof="1"/>
          </a:p>
        </p:txBody>
      </p:sp>
      <p:sp>
        <p:nvSpPr>
          <p:cNvPr id="15" name="cline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eyJ2aWV3Qm94IjpbMjgwLDE4MF0sInBvaW50cyI6IjAsMTY1IDEzMCw1MCAyODAsMCIsImN1cnZlIjoic2hhcnAifQ</pptd:line>
              </p:ext>
            </p:extLst>
          </p:nvPr>
        </p:nvSpPr>
        <p:spPr>
          <a:xfrm>
            <a:off x="1778000" y="2362200"/>
            <a:ext cx="3556000" cy="2286000"/>
          </a:xfrm>
          <a:custGeom>
            <a:avLst/>
            <a:gdLst/>
            <a:ahLst/>
            <a:cxnLst/>
            <a:rect l="l" t="t" r="r" b="b"/>
            <a:pathLst>
              <a:path w="280" h="180">
                <a:moveTo>
                  <a:pt x="0" y="165"/>
                </a:moveTo>
                <a:lnTo>
                  <a:pt x="130" y="50"/>
                </a:lnTo>
                <a:lnTo>
                  <a:pt x="280" y="0"/>
                </a:lnTo>
              </a:path>
            </a:pathLst>
          </a:custGeom>
          <a:noFill/>
          <a:ln w="31750">
            <a:solidFill>
              <a:srgbClr val="F07D0A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cd1"/>
          <p:cNvSpPr/>
          <p:nvPr/>
        </p:nvSpPr>
        <p:spPr>
          <a:xfrm>
            <a:off x="1714500" y="4394200"/>
            <a:ext cx="127000" cy="127000"/>
          </a:xfrm>
          <a:prstGeom prst="ellipse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cd2"/>
          <p:cNvSpPr/>
          <p:nvPr/>
        </p:nvSpPr>
        <p:spPr>
          <a:xfrm>
            <a:off x="3365500" y="2933700"/>
            <a:ext cx="127000" cy="127000"/>
          </a:xfrm>
          <a:prstGeom prst="ellipse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cd3"/>
          <p:cNvSpPr/>
          <p:nvPr/>
        </p:nvSpPr>
        <p:spPr>
          <a:xfrm>
            <a:off x="5270500" y="2298700"/>
            <a:ext cx="127000" cy="127000"/>
          </a:xfrm>
          <a:prstGeom prst="ellipse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cl1"/>
          <p:cNvSpPr txBox="1"/>
          <p:nvPr/>
        </p:nvSpPr>
        <p:spPr>
          <a:xfrm>
            <a:off x="1143000" y="4597400"/>
            <a:ext cx="1397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000" noProof="1">
                <a:solidFill>
                  <a:srgbClr val="6B7A8C"/>
                </a:solidFill>
                <a:latin typeface="MiSans"/>
                <a:ea typeface="MiSans"/>
              </a:rPr>
              <a:t>GPT-1（2018）512</a:t>
            </a:r>
            <a:endParaRPr lang="en-US" sz="1000" noProof="1"/>
          </a:p>
        </p:txBody>
      </p:sp>
      <p:sp>
        <p:nvSpPr>
          <p:cNvPr id="20" name="cl2"/>
          <p:cNvSpPr txBox="1"/>
          <p:nvPr/>
        </p:nvSpPr>
        <p:spPr>
          <a:xfrm>
            <a:off x="2794000" y="3136900"/>
            <a:ext cx="1397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000" noProof="1">
                <a:solidFill>
                  <a:srgbClr val="6B7A8C"/>
                </a:solidFill>
                <a:latin typeface="MiSans"/>
                <a:ea typeface="MiSans"/>
              </a:rPr>
              <a:t>GPT-4（2023）128K</a:t>
            </a:r>
            <a:endParaRPr lang="en-US" sz="1000" noProof="1"/>
          </a:p>
        </p:txBody>
      </p:sp>
      <p:sp>
        <p:nvSpPr>
          <p:cNvPr id="21" name="cl3"/>
          <p:cNvSpPr txBox="1"/>
          <p:nvPr/>
        </p:nvSpPr>
        <p:spPr>
          <a:xfrm>
            <a:off x="4191000" y="1905000"/>
            <a:ext cx="1651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050" b="1" noProof="1">
                <a:solidFill>
                  <a:srgbClr val="0B2440"/>
                </a:solidFill>
                <a:latin typeface="MiSans"/>
                <a:ea typeface="MiSans"/>
              </a:rPr>
              <a:t>2026 旗舰标配 1M</a:t>
            </a:r>
            <a:endParaRPr lang="en-US" sz="1050" noProof="1"/>
          </a:p>
        </p:txBody>
      </p:sp>
      <p:sp>
        <p:nvSpPr>
          <p:cNvPr id="22" name="r1"/>
          <p:cNvSpPr txBox="1"/>
          <p:nvPr/>
        </p:nvSpPr>
        <p:spPr>
          <a:xfrm>
            <a:off x="6604000" y="1600200"/>
            <a:ext cx="48768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350" b="1" noProof="1">
                <a:solidFill>
                  <a:srgbClr val="23303E"/>
                </a:solidFill>
                <a:latin typeface="MiSans"/>
                <a:ea typeface="MiSans"/>
              </a:rPr>
              <a:t>1M token 意味着什么</a:t>
            </a:r>
            <a:endParaRPr lang="en-US" sz="1350" noProof="1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一次读完整本《三体》三部曲（约 90 万字）</a:t>
            </a:r>
            <a:endParaRPr lang="en-US" sz="1350" noProof="1"/>
          </a:p>
          <a:p>
            <a:pPr>
              <a:lnSpc>
                <a:spcPct val="155000"/>
              </a:lnSpc>
              <a:spcBef>
                <a:spcPts val="200"/>
              </a:spcBef>
            </a:pP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一次处理整个代码仓库</a:t>
            </a:r>
            <a:endParaRPr lang="en-US" sz="1350" noProof="1"/>
          </a:p>
        </p:txBody>
      </p:sp>
      <p:sp>
        <p:nvSpPr>
          <p:cNvPr id="23" name="c1box"/>
          <p:cNvSpPr/>
          <p:nvPr/>
        </p:nvSpPr>
        <p:spPr>
          <a:xfrm>
            <a:off x="6604000" y="2921000"/>
            <a:ext cx="2286000" cy="1168400"/>
          </a:xfrm>
          <a:prstGeom prst="rect">
            <a:avLst/>
          </a:prstGeom>
          <a:solidFill>
            <a:srgbClr val="F3F6FA"/>
          </a:solidFill>
          <a:ln w="12700">
            <a:solidFill>
              <a:srgbClr val="D9E1E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c1t"/>
          <p:cNvSpPr txBox="1"/>
          <p:nvPr/>
        </p:nvSpPr>
        <p:spPr>
          <a:xfrm>
            <a:off x="6807200" y="3048000"/>
            <a:ext cx="1879600" cy="939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6B7A8C"/>
                </a:solidFill>
                <a:latin typeface="MiSans"/>
                <a:ea typeface="MiSans"/>
              </a:rPr>
              <a:t>1M 输入 token</a:t>
            </a:r>
            <a:endParaRPr lang="en-US" sz="1600" noProof="1"/>
          </a:p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6B7A8C"/>
                </a:solidFill>
                <a:latin typeface="MiSans"/>
                <a:ea typeface="MiSans"/>
              </a:rPr>
              <a:t>2023 · GPT-4</a:t>
            </a:r>
            <a:endParaRPr lang="en-US" sz="1600" noProof="1"/>
          </a:p>
          <a:p>
            <a:pPr>
              <a:lnSpc>
                <a:spcPct val="145000"/>
              </a:lnSpc>
            </a:pPr>
            <a:r>
              <a:rPr lang="en-US" sz="2200" b="1" noProof="1">
                <a:solidFill>
                  <a:srgbClr val="0B2440"/>
                </a:solidFill>
                <a:latin typeface="MiSans"/>
                <a:ea typeface="MiSans"/>
              </a:rPr>
              <a:t>$60</a:t>
            </a:r>
            <a:endParaRPr lang="en-US" sz="1600" noProof="1"/>
          </a:p>
        </p:txBody>
      </p:sp>
      <p:sp>
        <p:nvSpPr>
          <p:cNvPr id="25" name="ccarr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eyJpY29uTmFtZSI6ImZhczphcnJvdy1yaWdodCJ9</pptd:icon>
              </p:ext>
            </p:extLst>
          </p:nvPr>
        </p:nvSpPr>
        <p:spPr>
          <a:xfrm>
            <a:off x="9042400" y="33528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03" y="279"/>
                </a:moveTo>
                <a:cubicBezTo>
                  <a:pt x="515" y="266"/>
                  <a:pt x="515" y="246"/>
                  <a:pt x="503" y="233"/>
                </a:cubicBezTo>
                <a:lnTo>
                  <a:pt x="343" y="73"/>
                </a:lnTo>
                <a:cubicBezTo>
                  <a:pt x="330" y="61"/>
                  <a:pt x="310" y="61"/>
                  <a:pt x="297" y="73"/>
                </a:cubicBezTo>
                <a:cubicBezTo>
                  <a:pt x="285" y="86"/>
                  <a:pt x="285" y="106"/>
                  <a:pt x="297" y="119"/>
                </a:cubicBezTo>
                <a:lnTo>
                  <a:pt x="403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03" y="288"/>
                </a:lnTo>
                <a:lnTo>
                  <a:pt x="297" y="393"/>
                </a:lnTo>
                <a:cubicBezTo>
                  <a:pt x="285" y="406"/>
                  <a:pt x="285" y="426"/>
                  <a:pt x="297" y="439"/>
                </a:cubicBezTo>
                <a:cubicBezTo>
                  <a:pt x="310" y="451"/>
                  <a:pt x="330" y="451"/>
                  <a:pt x="343" y="439"/>
                </a:cubicBezTo>
                <a:lnTo>
                  <a:pt x="503" y="279"/>
                </a:lnTo>
                <a:close/>
              </a:path>
            </a:pathLst>
          </a:cu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c2box"/>
          <p:cNvSpPr/>
          <p:nvPr/>
        </p:nvSpPr>
        <p:spPr>
          <a:xfrm>
            <a:off x="9474200" y="2921000"/>
            <a:ext cx="2006600" cy="1168400"/>
          </a:xfrm>
          <a:prstGeom prst="rect">
            <a:avLst/>
          </a:prstGeom>
          <a:solidFill>
            <a:srgbClr val="FDEBD7"/>
          </a:solidFill>
          <a:ln w="12700">
            <a:solidFill>
              <a:srgbClr val="F07D0A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c2t"/>
          <p:cNvSpPr txBox="1"/>
          <p:nvPr/>
        </p:nvSpPr>
        <p:spPr>
          <a:xfrm>
            <a:off x="9677400" y="3048000"/>
            <a:ext cx="1625600" cy="939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6B7A8C"/>
                </a:solidFill>
                <a:latin typeface="MiSans"/>
                <a:ea typeface="MiSans"/>
              </a:rPr>
              <a:t>1M 输入 token</a:t>
            </a:r>
            <a:endParaRPr lang="en-US" sz="1600" noProof="1"/>
          </a:p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6B7A8C"/>
                </a:solidFill>
                <a:latin typeface="MiSans"/>
                <a:ea typeface="MiSans"/>
              </a:rPr>
              <a:t>2026 · DeepSeek V4</a:t>
            </a:r>
            <a:endParaRPr lang="en-US" sz="1600" noProof="1"/>
          </a:p>
          <a:p>
            <a:pPr>
              <a:lnSpc>
                <a:spcPct val="145000"/>
              </a:lnSpc>
            </a:pPr>
            <a:r>
              <a:rPr lang="en-US" sz="2200" b="1" noProof="1">
                <a:solidFill>
                  <a:srgbClr val="F07D0A"/>
                </a:solidFill>
                <a:latin typeface="MiSans"/>
                <a:ea typeface="MiSans"/>
              </a:rPr>
              <a:t>$0.18</a:t>
            </a:r>
            <a:endParaRPr lang="en-US" sz="1600" noProof="1"/>
          </a:p>
        </p:txBody>
      </p:sp>
      <p:sp>
        <p:nvSpPr>
          <p:cNvPr id="28" name="r2"/>
          <p:cNvSpPr txBox="1"/>
          <p:nvPr/>
        </p:nvSpPr>
        <p:spPr>
          <a:xfrm>
            <a:off x="6604000" y="4394200"/>
            <a:ext cx="48768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长上下文从“用不起”变成</a:t>
            </a:r>
            <a:r>
              <a:rPr lang="en-US" sz="1350" b="1" noProof="1">
                <a:solidFill>
                  <a:srgbClr val="F07D0A"/>
                </a:solidFill>
                <a:latin typeface="MiSans"/>
                <a:ea typeface="MiSans"/>
              </a:rPr>
              <a:t>“随便用”</a:t>
            </a: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——应用形态随之改变。</a:t>
            </a:r>
            <a:endParaRPr lang="en-US" sz="135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350" b="1" noProof="1">
                <a:solidFill>
                  <a:srgbClr val="23303E"/>
                </a:solidFill>
                <a:latin typeface="MiSans"/>
                <a:ea typeface="MiSans"/>
              </a:rPr>
              <a:t>RAG 与长上下文的分工</a:t>
            </a: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：部分场景里，RAG（检索）被长上下文（全量注入）取代；分工变成精确检索 vs 全量理解。</a:t>
            </a:r>
            <a:endParaRPr lang="en-US" sz="1350" noProof="1"/>
          </a:p>
        </p:txBody>
      </p:sp>
      <p:sp>
        <p:nvSpPr>
          <p:cNvPr id="29" name="fline"/>
          <p:cNvSpPr/>
          <p:nvPr/>
        </p:nvSpPr>
        <p:spPr>
          <a:xfrm>
            <a:off x="711200" y="6477000"/>
            <a:ext cx="107696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fl"/>
          <p:cNvSpPr txBox="1"/>
          <p:nvPr/>
        </p:nvSpPr>
        <p:spPr>
          <a:xfrm>
            <a:off x="711200" y="65532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B7A8C"/>
                </a:solidFill>
                <a:latin typeface="MiSans"/>
                <a:ea typeface="MiSans"/>
              </a:rPr>
              <a:t>Token Factory · AI 推理的成本革命</a:t>
            </a:r>
            <a:endParaRPr lang="en-US" sz="950" noProof="1"/>
          </a:p>
        </p:txBody>
      </p:sp>
      <p:sp>
        <p:nvSpPr>
          <p:cNvPr id="31" name="fr"/>
          <p:cNvSpPr txBox="1"/>
          <p:nvPr/>
        </p:nvSpPr>
        <p:spPr>
          <a:xfrm>
            <a:off x="10210800" y="65532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6B7A8C"/>
                </a:solidFill>
                <a:latin typeface="MiSans"/>
                <a:ea typeface="MiSans"/>
              </a:rPr>
              <a:t>30 / 40</a:t>
            </a:r>
            <a:endParaRPr lang="en-US" sz="950" noProof="1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"/>
          <p:cNvSpPr txBox="1"/>
          <p:nvPr/>
        </p:nvSpPr>
        <p:spPr>
          <a:xfrm>
            <a:off x="711200" y="3810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F07D0A"/>
                </a:solidFill>
                <a:latin typeface="MiSans"/>
                <a:ea typeface="MiSans"/>
              </a:rPr>
              <a:t>成本下降的后果 ③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350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600" b="1" noProof="1">
                <a:solidFill>
                  <a:srgbClr val="0B2440"/>
                </a:solidFill>
                <a:latin typeface="MiSans"/>
                <a:ea typeface="MiSans"/>
              </a:rPr>
              <a:t>token 便宜了，Agent 才跑得起来</a:t>
            </a:r>
            <a:endParaRPr lang="en-US" sz="2600" noProof="1"/>
          </a:p>
        </p:txBody>
      </p:sp>
      <p:sp>
        <p:nvSpPr>
          <p:cNvPr id="4" name="rule"/>
          <p:cNvSpPr/>
          <p:nvPr/>
        </p:nvSpPr>
        <p:spPr>
          <a:xfrm>
            <a:off x="711200" y="1270000"/>
            <a:ext cx="107696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abar"/>
          <p:cNvSpPr/>
          <p:nvPr/>
        </p:nvSpPr>
        <p:spPr>
          <a:xfrm>
            <a:off x="711200" y="1244600"/>
            <a:ext cx="812800" cy="381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use"/>
          <p:cNvSpPr txBox="1"/>
          <p:nvPr/>
        </p:nvSpPr>
        <p:spPr>
          <a:xfrm>
            <a:off x="711200" y="1600200"/>
            <a:ext cx="5334000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350" b="1" noProof="1">
                <a:solidFill>
                  <a:srgbClr val="23303E"/>
                </a:solidFill>
                <a:latin typeface="MiSans"/>
                <a:ea typeface="MiSans"/>
              </a:rPr>
              <a:t>Agent 的 token 消耗是惊人的</a:t>
            </a:r>
            <a:endParaRPr lang="en-US" sz="1350" noProof="1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一个多步骤任务＝规划＋多轮工具调用＋反思＋修正</a:t>
            </a:r>
            <a:endParaRPr lang="en-US" sz="1350" noProof="1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单任务可消耗 </a:t>
            </a:r>
            <a:r>
              <a:rPr lang="en-US" sz="1350" b="1" noProof="1">
                <a:solidFill>
                  <a:srgbClr val="F07D0A"/>
                </a:solidFill>
                <a:latin typeface="MiSans"/>
                <a:ea typeface="MiSans"/>
              </a:rPr>
              <a:t>10 万+ token</a:t>
            </a:r>
            <a:endParaRPr lang="en-US" sz="135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2023 年：成本不可接受　→　2026 年：成本可忽略</a:t>
            </a:r>
            <a:endParaRPr lang="en-US" sz="1350" noProof="1"/>
          </a:p>
        </p:txBody>
      </p:sp>
      <p:sp>
        <p:nvSpPr>
          <p:cNvPr id="7" name="form"/>
          <p:cNvSpPr txBox="1"/>
          <p:nvPr/>
        </p:nvSpPr>
        <p:spPr>
          <a:xfrm>
            <a:off x="711200" y="3632200"/>
            <a:ext cx="5334000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350" b="1" noProof="1">
                <a:solidFill>
                  <a:srgbClr val="23303E"/>
                </a:solidFill>
                <a:latin typeface="MiSans"/>
                <a:ea typeface="MiSans"/>
              </a:rPr>
              <a:t>2026 的 Agent 形态</a:t>
            </a:r>
            <a:endParaRPr lang="en-US" sz="1350" noProof="1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长上下文 Agent：1M token 记忆</a:t>
            </a:r>
            <a:endParaRPr lang="en-US" sz="1350" noProof="1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模型原生工具调用：Kimi K3 可自主优化 GPU 算子</a:t>
            </a:r>
            <a:endParaRPr lang="en-US" sz="1350" noProof="1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多 Agent 协作：规划 / 检索 / 推理 / 验证</a:t>
            </a:r>
            <a:endParaRPr lang="en-US" sz="1350" noProof="1"/>
          </a:p>
        </p:txBody>
      </p:sp>
      <p:sp>
        <p:nvSpPr>
          <p:cNvPr id="8" name="rh"/>
          <p:cNvSpPr txBox="1"/>
          <p:nvPr/>
        </p:nvSpPr>
        <p:spPr>
          <a:xfrm>
            <a:off x="6858000" y="16002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 noProof="1">
                <a:solidFill>
                  <a:srgbClr val="0B2440"/>
                </a:solidFill>
                <a:latin typeface="MiSans"/>
                <a:ea typeface="MiSans"/>
              </a:rPr>
              <a:t>多 Agent 协作示意</a:t>
            </a:r>
            <a:endParaRPr lang="en-US" sz="1250" noProof="1"/>
          </a:p>
        </p:txBody>
      </p:sp>
      <p:sp>
        <p:nvSpPr>
          <p:cNvPr id="9" name="hub"/>
          <p:cNvSpPr/>
          <p:nvPr/>
        </p:nvSpPr>
        <p:spPr>
          <a:xfrm>
            <a:off x="8534400" y="2235200"/>
            <a:ext cx="1524000" cy="762000"/>
          </a:xfrm>
          <a:prstGeom prst="ellipse">
            <a:avLst/>
          </a:prstGeom>
          <a:solidFill>
            <a:srgbClr val="0B244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hubt"/>
          <p:cNvSpPr txBox="1"/>
          <p:nvPr/>
        </p:nvSpPr>
        <p:spPr>
          <a:xfrm>
            <a:off x="8534400" y="2235200"/>
            <a:ext cx="15240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FFFFFF"/>
                </a:solidFill>
                <a:latin typeface="MiSans"/>
                <a:ea typeface="MiSans"/>
              </a:rPr>
              <a:t>任务</a:t>
            </a:r>
            <a:endParaRPr lang="en-US" sz="1300" noProof="1"/>
          </a:p>
        </p:txBody>
      </p:sp>
      <p:sp>
        <p:nvSpPr>
          <p:cNvPr id="11" name="ag1"/>
          <p:cNvSpPr/>
          <p:nvPr/>
        </p:nvSpPr>
        <p:spPr>
          <a:xfrm>
            <a:off x="6858000" y="1905000"/>
            <a:ext cx="1270000" cy="508000"/>
          </a:xfrm>
          <a:prstGeom prst="rect">
            <a:avLst/>
          </a:prstGeom>
          <a:solidFill>
            <a:srgbClr val="F3F6FA"/>
          </a:solidFill>
          <a:ln w="12700">
            <a:solidFill>
              <a:srgbClr val="D9E1E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ag1t"/>
          <p:cNvSpPr txBox="1"/>
          <p:nvPr/>
        </p:nvSpPr>
        <p:spPr>
          <a:xfrm>
            <a:off x="6858000" y="1905000"/>
            <a:ext cx="1270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noProof="1">
                <a:solidFill>
                  <a:srgbClr val="0B2440"/>
                </a:solidFill>
                <a:latin typeface="MiSans"/>
                <a:ea typeface="MiSans"/>
              </a:rPr>
              <a:t>规划</a:t>
            </a:r>
            <a:endParaRPr lang="en-US" sz="1200" noProof="1"/>
          </a:p>
        </p:txBody>
      </p:sp>
      <p:sp>
        <p:nvSpPr>
          <p:cNvPr id="13" name="ag2"/>
          <p:cNvSpPr/>
          <p:nvPr/>
        </p:nvSpPr>
        <p:spPr>
          <a:xfrm>
            <a:off x="10464800" y="1905000"/>
            <a:ext cx="1270000" cy="508000"/>
          </a:xfrm>
          <a:prstGeom prst="rect">
            <a:avLst/>
          </a:prstGeom>
          <a:solidFill>
            <a:srgbClr val="F3F6FA"/>
          </a:solidFill>
          <a:ln w="12700">
            <a:solidFill>
              <a:srgbClr val="D9E1E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ag2t"/>
          <p:cNvSpPr txBox="1"/>
          <p:nvPr/>
        </p:nvSpPr>
        <p:spPr>
          <a:xfrm>
            <a:off x="10464800" y="1905000"/>
            <a:ext cx="1270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noProof="1">
                <a:solidFill>
                  <a:srgbClr val="0B2440"/>
                </a:solidFill>
                <a:latin typeface="MiSans"/>
                <a:ea typeface="MiSans"/>
              </a:rPr>
              <a:t>检索</a:t>
            </a:r>
            <a:endParaRPr lang="en-US" sz="1200" noProof="1"/>
          </a:p>
        </p:txBody>
      </p:sp>
      <p:sp>
        <p:nvSpPr>
          <p:cNvPr id="15" name="ag3"/>
          <p:cNvSpPr/>
          <p:nvPr/>
        </p:nvSpPr>
        <p:spPr>
          <a:xfrm>
            <a:off x="6858000" y="3175000"/>
            <a:ext cx="1270000" cy="508000"/>
          </a:xfrm>
          <a:prstGeom prst="rect">
            <a:avLst/>
          </a:prstGeom>
          <a:solidFill>
            <a:srgbClr val="F3F6FA"/>
          </a:solidFill>
          <a:ln w="12700">
            <a:solidFill>
              <a:srgbClr val="D9E1E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ag3t"/>
          <p:cNvSpPr txBox="1"/>
          <p:nvPr/>
        </p:nvSpPr>
        <p:spPr>
          <a:xfrm>
            <a:off x="6858000" y="3175000"/>
            <a:ext cx="1270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noProof="1">
                <a:solidFill>
                  <a:srgbClr val="0B2440"/>
                </a:solidFill>
                <a:latin typeface="MiSans"/>
                <a:ea typeface="MiSans"/>
              </a:rPr>
              <a:t>推理</a:t>
            </a:r>
            <a:endParaRPr lang="en-US" sz="1200" noProof="1"/>
          </a:p>
        </p:txBody>
      </p:sp>
      <p:sp>
        <p:nvSpPr>
          <p:cNvPr id="17" name="ag4"/>
          <p:cNvSpPr/>
          <p:nvPr/>
        </p:nvSpPr>
        <p:spPr>
          <a:xfrm>
            <a:off x="10464800" y="3175000"/>
            <a:ext cx="1270000" cy="508000"/>
          </a:xfrm>
          <a:prstGeom prst="rect">
            <a:avLst/>
          </a:prstGeom>
          <a:solidFill>
            <a:srgbClr val="F3F6FA"/>
          </a:solidFill>
          <a:ln w="12700">
            <a:solidFill>
              <a:srgbClr val="D9E1E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ag4t"/>
          <p:cNvSpPr txBox="1"/>
          <p:nvPr/>
        </p:nvSpPr>
        <p:spPr>
          <a:xfrm>
            <a:off x="10464800" y="3175000"/>
            <a:ext cx="1270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noProof="1">
                <a:solidFill>
                  <a:srgbClr val="0B2440"/>
                </a:solidFill>
                <a:latin typeface="MiSans"/>
                <a:ea typeface="MiSans"/>
              </a:rPr>
              <a:t>验证</a:t>
            </a:r>
            <a:endParaRPr lang="en-US" sz="1200" noProof="1"/>
          </a:p>
        </p:txBody>
      </p:sp>
      <p:sp>
        <p:nvSpPr>
          <p:cNvPr id="19" name="ln1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eyJ2aWV3Qm94IjpbNDAsMjRdLCJwb2ludHMiOiIwLDAgNDAsMjQifQ</pptd:line>
              </p:ext>
            </p:extLst>
          </p:nvPr>
        </p:nvSpPr>
        <p:spPr>
          <a:xfrm>
            <a:off x="8128000" y="2184400"/>
            <a:ext cx="508000" cy="304800"/>
          </a:xfrm>
          <a:custGeom>
            <a:avLst/>
            <a:gdLst/>
            <a:ahLst/>
            <a:cxnLst/>
            <a:rect l="l" t="t" r="r" b="b"/>
            <a:pathLst>
              <a:path w="40" h="24">
                <a:moveTo>
                  <a:pt x="0" y="0"/>
                </a:moveTo>
                <a:lnTo>
                  <a:pt x="40" y="24"/>
                </a:lnTo>
              </a:path>
            </a:pathLst>
          </a:custGeom>
          <a:noFill/>
          <a:ln w="19050" cap="rnd">
            <a:solidFill>
              <a:srgbClr val="6B7A8C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ln2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eyJ2aWV3Qm94IjpbNDAsMjRdLCJwb2ludHMiOiI0MCwwIDAsMjQifQ</pptd:line>
              </p:ext>
            </p:extLst>
          </p:nvPr>
        </p:nvSpPr>
        <p:spPr>
          <a:xfrm>
            <a:off x="10058400" y="2184400"/>
            <a:ext cx="508000" cy="304800"/>
          </a:xfrm>
          <a:custGeom>
            <a:avLst/>
            <a:gdLst/>
            <a:ahLst/>
            <a:cxnLst/>
            <a:rect l="l" t="t" r="r" b="b"/>
            <a:pathLst>
              <a:path w="40" h="24">
                <a:moveTo>
                  <a:pt x="40" y="0"/>
                </a:moveTo>
                <a:lnTo>
                  <a:pt x="0" y="24"/>
                </a:lnTo>
              </a:path>
            </a:pathLst>
          </a:custGeom>
          <a:noFill/>
          <a:ln w="19050" cap="rnd">
            <a:solidFill>
              <a:srgbClr val="6B7A8C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ln3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eyJ2aWV3Qm94IjpbNDAsMzRdLCJwb2ludHMiOiIwLDM0IDQwLDAifQ</pptd:line>
              </p:ext>
            </p:extLst>
          </p:nvPr>
        </p:nvSpPr>
        <p:spPr>
          <a:xfrm>
            <a:off x="8128000" y="2844800"/>
            <a:ext cx="508000" cy="431800"/>
          </a:xfrm>
          <a:custGeom>
            <a:avLst/>
            <a:gdLst/>
            <a:ahLst/>
            <a:cxnLst/>
            <a:rect l="l" t="t" r="r" b="b"/>
            <a:pathLst>
              <a:path w="40" h="34">
                <a:moveTo>
                  <a:pt x="0" y="34"/>
                </a:moveTo>
                <a:lnTo>
                  <a:pt x="40" y="0"/>
                </a:lnTo>
              </a:path>
            </a:pathLst>
          </a:custGeom>
          <a:noFill/>
          <a:ln w="19050" cap="rnd">
            <a:solidFill>
              <a:srgbClr val="6B7A8C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ln4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eyJ2aWV3Qm94IjpbNDAsMzRdLCJwb2ludHMiOiI0MCwzNCAwLDAifQ</pptd:line>
              </p:ext>
            </p:extLst>
          </p:nvPr>
        </p:nvSpPr>
        <p:spPr>
          <a:xfrm>
            <a:off x="10058400" y="2844800"/>
            <a:ext cx="508000" cy="431800"/>
          </a:xfrm>
          <a:custGeom>
            <a:avLst/>
            <a:gdLst/>
            <a:ahLst/>
            <a:cxnLst/>
            <a:rect l="l" t="t" r="r" b="b"/>
            <a:pathLst>
              <a:path w="40" h="34">
                <a:moveTo>
                  <a:pt x="40" y="34"/>
                </a:moveTo>
                <a:lnTo>
                  <a:pt x="0" y="0"/>
                </a:lnTo>
              </a:path>
            </a:pathLst>
          </a:custGeom>
          <a:noFill/>
          <a:ln w="19050" cap="rnd">
            <a:solidFill>
              <a:srgbClr val="6B7A8C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collab"/>
          <p:cNvSpPr txBox="1"/>
          <p:nvPr/>
        </p:nvSpPr>
        <p:spPr>
          <a:xfrm>
            <a:off x="6858000" y="3911600"/>
            <a:ext cx="4622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45000"/>
              </a:lnSpc>
            </a:pPr>
            <a:r>
              <a:rPr lang="en-US" sz="1100" noProof="1">
                <a:solidFill>
                  <a:srgbClr val="6B7A8C"/>
                </a:solidFill>
                <a:latin typeface="MiSans"/>
                <a:ea typeface="MiSans"/>
              </a:rPr>
              <a:t>每个角色一次调用都是几千到几万 token——便宜，才协作得起</a:t>
            </a:r>
            <a:endParaRPr lang="en-US" sz="1100" noProof="1"/>
          </a:p>
        </p:txBody>
      </p:sp>
      <p:sp>
        <p:nvSpPr>
          <p:cNvPr id="24" name="quote"/>
          <p:cNvSpPr/>
          <p:nvPr/>
        </p:nvSpPr>
        <p:spPr>
          <a:xfrm>
            <a:off x="711200" y="5511800"/>
            <a:ext cx="10769600" cy="660400"/>
          </a:xfrm>
          <a:prstGeom prst="rect">
            <a:avLst/>
          </a:prstGeom>
          <a:solidFill>
            <a:srgbClr val="0B244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quotet"/>
          <p:cNvSpPr txBox="1"/>
          <p:nvPr/>
        </p:nvSpPr>
        <p:spPr>
          <a:xfrm>
            <a:off x="711200" y="5511800"/>
            <a:ext cx="107696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50" b="1" noProof="1">
                <a:solidFill>
                  <a:srgbClr val="FFFFFF"/>
                </a:solidFill>
                <a:latin typeface="MiSans"/>
                <a:ea typeface="MiSans"/>
              </a:rPr>
              <a:t>关键认知</a:t>
            </a:r>
            <a:r>
              <a:rPr lang="en-US" sz="1450" noProof="1">
                <a:solidFill>
                  <a:srgbClr val="FFFFFF"/>
                </a:solidFill>
                <a:latin typeface="MiSans"/>
                <a:ea typeface="MiSans"/>
              </a:rPr>
              <a:t>：成本下降打开应用空间——AI 从“回答问题的工具”变成</a:t>
            </a:r>
            <a:r>
              <a:rPr lang="en-US" sz="1450" b="1" noProof="1">
                <a:solidFill>
                  <a:srgbClr val="F07D0A"/>
                </a:solidFill>
                <a:latin typeface="MiSans"/>
                <a:ea typeface="MiSans"/>
              </a:rPr>
              <a:t>“执行任务的员工”</a:t>
            </a:r>
            <a:endParaRPr lang="en-US" sz="1600" noProof="1"/>
          </a:p>
        </p:txBody>
      </p:sp>
      <p:sp>
        <p:nvSpPr>
          <p:cNvPr id="26" name="fline"/>
          <p:cNvSpPr/>
          <p:nvPr/>
        </p:nvSpPr>
        <p:spPr>
          <a:xfrm>
            <a:off x="711200" y="6477000"/>
            <a:ext cx="107696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fl"/>
          <p:cNvSpPr txBox="1"/>
          <p:nvPr/>
        </p:nvSpPr>
        <p:spPr>
          <a:xfrm>
            <a:off x="711200" y="65532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B7A8C"/>
                </a:solidFill>
                <a:latin typeface="MiSans"/>
                <a:ea typeface="MiSans"/>
              </a:rPr>
              <a:t>Token Factory · AI 推理的成本革命</a:t>
            </a:r>
            <a:endParaRPr lang="en-US" sz="950" noProof="1"/>
          </a:p>
        </p:txBody>
      </p:sp>
      <p:sp>
        <p:nvSpPr>
          <p:cNvPr id="28" name="fr"/>
          <p:cNvSpPr txBox="1"/>
          <p:nvPr/>
        </p:nvSpPr>
        <p:spPr>
          <a:xfrm>
            <a:off x="10210800" y="65532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6B7A8C"/>
                </a:solidFill>
                <a:latin typeface="MiSans"/>
                <a:ea typeface="MiSans"/>
              </a:rPr>
              <a:t>31 / 40</a:t>
            </a:r>
            <a:endParaRPr lang="en-US" sz="950" noProof="1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"/>
          <p:cNvSpPr txBox="1"/>
          <p:nvPr/>
        </p:nvSpPr>
        <p:spPr>
          <a:xfrm>
            <a:off x="711200" y="3810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F07D0A"/>
                </a:solidFill>
                <a:latin typeface="MiSans"/>
                <a:ea typeface="MiSans"/>
              </a:rPr>
              <a:t>第四层杠杆 · 基础设施与生态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350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600" b="1" noProof="1">
                <a:solidFill>
                  <a:srgbClr val="0B2440"/>
                </a:solidFill>
                <a:latin typeface="MiSans"/>
                <a:ea typeface="MiSans"/>
              </a:rPr>
              <a:t>开源模型＋开源引擎＋开源平台＝完整可自建栈</a:t>
            </a:r>
            <a:endParaRPr lang="en-US" sz="2600" noProof="1"/>
          </a:p>
        </p:txBody>
      </p:sp>
      <p:sp>
        <p:nvSpPr>
          <p:cNvPr id="4" name="rule"/>
          <p:cNvSpPr/>
          <p:nvPr/>
        </p:nvSpPr>
        <p:spPr>
          <a:xfrm>
            <a:off x="711200" y="1270000"/>
            <a:ext cx="107696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abar"/>
          <p:cNvSpPr/>
          <p:nvPr/>
        </p:nvSpPr>
        <p:spPr>
          <a:xfrm>
            <a:off x="711200" y="1244600"/>
            <a:ext cx="812800" cy="381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l1n"/>
          <p:cNvSpPr txBox="1"/>
          <p:nvPr/>
        </p:nvSpPr>
        <p:spPr>
          <a:xfrm>
            <a:off x="711200" y="1778000"/>
            <a:ext cx="1397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0B2440"/>
                </a:solidFill>
                <a:latin typeface="MiSans"/>
                <a:ea typeface="MiSans"/>
              </a:rPr>
              <a:t>模型层</a:t>
            </a:r>
            <a:endParaRPr lang="en-US" sz="1500" noProof="1"/>
          </a:p>
        </p:txBody>
      </p:sp>
      <p:sp>
        <p:nvSpPr>
          <p:cNvPr id="7" name="l1c"/>
          <p:cNvSpPr txBox="1"/>
          <p:nvPr/>
        </p:nvSpPr>
        <p:spPr>
          <a:xfrm>
            <a:off x="2286000" y="1778000"/>
            <a:ext cx="6350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DeepSeek-V4 ｜ Kimi K3 ｜ GLM-5.2</a:t>
            </a:r>
            <a:endParaRPr lang="en-US" sz="1350" noProof="1"/>
          </a:p>
        </p:txBody>
      </p:sp>
      <p:sp>
        <p:nvSpPr>
          <p:cNvPr id="8" name="l1line"/>
          <p:cNvSpPr/>
          <p:nvPr/>
        </p:nvSpPr>
        <p:spPr>
          <a:xfrm>
            <a:off x="711200" y="2286000"/>
            <a:ext cx="76200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l2n"/>
          <p:cNvSpPr txBox="1"/>
          <p:nvPr/>
        </p:nvSpPr>
        <p:spPr>
          <a:xfrm>
            <a:off x="711200" y="2514600"/>
            <a:ext cx="1397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0B2440"/>
                </a:solidFill>
                <a:latin typeface="MiSans"/>
                <a:ea typeface="MiSans"/>
              </a:rPr>
              <a:t>引擎层</a:t>
            </a:r>
            <a:endParaRPr lang="en-US" sz="1500" noProof="1"/>
          </a:p>
        </p:txBody>
      </p:sp>
      <p:sp>
        <p:nvSpPr>
          <p:cNvPr id="10" name="l2c"/>
          <p:cNvSpPr txBox="1"/>
          <p:nvPr/>
        </p:nvSpPr>
        <p:spPr>
          <a:xfrm>
            <a:off x="2286000" y="2514600"/>
            <a:ext cx="6350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vLLM ｜ SGLang</a:t>
            </a:r>
            <a:endParaRPr lang="en-US" sz="1350" noProof="1"/>
          </a:p>
        </p:txBody>
      </p:sp>
      <p:sp>
        <p:nvSpPr>
          <p:cNvPr id="11" name="l2line"/>
          <p:cNvSpPr/>
          <p:nvPr/>
        </p:nvSpPr>
        <p:spPr>
          <a:xfrm>
            <a:off x="711200" y="3022600"/>
            <a:ext cx="76200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l3n"/>
          <p:cNvSpPr txBox="1"/>
          <p:nvPr/>
        </p:nvSpPr>
        <p:spPr>
          <a:xfrm>
            <a:off x="711200" y="3251200"/>
            <a:ext cx="1397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0B2440"/>
                </a:solidFill>
                <a:latin typeface="MiSans"/>
                <a:ea typeface="MiSans"/>
              </a:rPr>
              <a:t>平台层</a:t>
            </a:r>
            <a:endParaRPr lang="en-US" sz="1500" noProof="1"/>
          </a:p>
        </p:txBody>
      </p:sp>
      <p:sp>
        <p:nvSpPr>
          <p:cNvPr id="13" name="l3c"/>
          <p:cNvSpPr txBox="1"/>
          <p:nvPr/>
        </p:nvSpPr>
        <p:spPr>
          <a:xfrm>
            <a:off x="2286000" y="3200400"/>
            <a:ext cx="6350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Kubernetes + GPU Operator</a:t>
            </a:r>
            <a:endParaRPr lang="en-US" sz="1350" noProof="1"/>
          </a:p>
          <a:p>
            <a:pPr>
              <a:lnSpc>
                <a:spcPct val="150000"/>
              </a:lnSpc>
            </a:pP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AIBrix（高密度 LoRA ｜ 智能扩缩容 ｜ 多层缓存）</a:t>
            </a:r>
            <a:endParaRPr lang="en-US" sz="1350" noProof="1"/>
          </a:p>
        </p:txBody>
      </p:sp>
      <p:sp>
        <p:nvSpPr>
          <p:cNvPr id="14" name="l3line"/>
          <p:cNvSpPr/>
          <p:nvPr/>
        </p:nvSpPr>
        <p:spPr>
          <a:xfrm>
            <a:off x="711200" y="3937000"/>
            <a:ext cx="76200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tackbox"/>
          <p:cNvSpPr/>
          <p:nvPr/>
        </p:nvSpPr>
        <p:spPr>
          <a:xfrm>
            <a:off x="8890000" y="1778000"/>
            <a:ext cx="2590800" cy="2159000"/>
          </a:xfrm>
          <a:prstGeom prst="rect">
            <a:avLst/>
          </a:prstGeom>
          <a:solidFill>
            <a:srgbClr val="F3F6FA"/>
          </a:solidFill>
          <a:ln w="12700">
            <a:solidFill>
              <a:srgbClr val="D9E1E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tackt"/>
          <p:cNvSpPr txBox="1"/>
          <p:nvPr/>
        </p:nvSpPr>
        <p:spPr>
          <a:xfrm>
            <a:off x="9144000" y="1955800"/>
            <a:ext cx="2082800" cy="182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250" b="1" noProof="1">
                <a:solidFill>
                  <a:srgbClr val="0B2440"/>
                </a:solidFill>
                <a:latin typeface="MiSans"/>
                <a:ea typeface="MiSans"/>
              </a:rPr>
              <a:t>AIBrix 是什么</a:t>
            </a:r>
            <a:endParaRPr lang="en-US" sz="1600" noProof="1"/>
          </a:p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6B7A8C"/>
                </a:solidFill>
                <a:latin typeface="MiSans"/>
                <a:ea typeface="MiSans"/>
              </a:rPr>
              <a:t>基于 vLLM 的云原生推理系统：单基础模型＋1000+ LoRA 适配器，显存省 90%；扩缩容、路由、缓存全自动。</a:t>
            </a:r>
            <a:endParaRPr lang="en-US" sz="1600" noProof="1"/>
          </a:p>
        </p:txBody>
      </p:sp>
      <p:sp>
        <p:nvSpPr>
          <p:cNvPr id="17" name="b1"/>
          <p:cNvSpPr txBox="1"/>
          <p:nvPr/>
        </p:nvSpPr>
        <p:spPr>
          <a:xfrm>
            <a:off x="711200" y="4318000"/>
            <a:ext cx="10769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350" b="1" noProof="1">
                <a:solidFill>
                  <a:srgbClr val="23303E"/>
                </a:solidFill>
                <a:latin typeface="MiSans"/>
                <a:ea typeface="MiSans"/>
              </a:rPr>
              <a:t>收益</a:t>
            </a: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：小团队也能建自己的 token 工厂；成本只有 API 的零头——基础设施的“民主化”。</a:t>
            </a:r>
            <a:endParaRPr lang="en-US" sz="1350" noProof="1"/>
          </a:p>
        </p:txBody>
      </p:sp>
      <p:sp>
        <p:nvSpPr>
          <p:cNvPr id="18" name="vs1"/>
          <p:cNvSpPr/>
          <p:nvPr/>
        </p:nvSpPr>
        <p:spPr>
          <a:xfrm>
            <a:off x="711200" y="5029200"/>
            <a:ext cx="5207000" cy="1016000"/>
          </a:xfrm>
          <a:prstGeom prst="rect">
            <a:avLst/>
          </a:prstGeom>
          <a:solidFill>
            <a:srgbClr val="F3F6FA"/>
          </a:solidFill>
          <a:ln w="12700">
            <a:solidFill>
              <a:srgbClr val="D9E1E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vs1t"/>
          <p:cNvSpPr txBox="1"/>
          <p:nvPr/>
        </p:nvSpPr>
        <p:spPr>
          <a:xfrm>
            <a:off x="965200" y="5029200"/>
            <a:ext cx="4699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45000"/>
              </a:lnSpc>
            </a:pPr>
            <a:r>
              <a:rPr lang="en-US" sz="1300" b="1" noProof="1">
                <a:solidFill>
                  <a:srgbClr val="0B2440"/>
                </a:solidFill>
                <a:latin typeface="MiSans"/>
                <a:ea typeface="MiSans"/>
              </a:rPr>
              <a:t>调 API</a:t>
            </a:r>
            <a:endParaRPr lang="en-US" sz="1600" noProof="1"/>
          </a:p>
          <a:p>
            <a:pPr algn="l">
              <a:lnSpc>
                <a:spcPct val="145000"/>
              </a:lnSpc>
            </a:pPr>
            <a:r>
              <a:rPr lang="en-US" sz="1150" noProof="1">
                <a:solidFill>
                  <a:srgbClr val="6B7A8C"/>
                </a:solidFill>
                <a:latin typeface="MiSans"/>
                <a:ea typeface="MiSans"/>
              </a:rPr>
              <a:t>省心，但为每一百万 token 付全价</a:t>
            </a:r>
            <a:endParaRPr lang="en-US" sz="1600" noProof="1"/>
          </a:p>
        </p:txBody>
      </p:sp>
      <p:sp>
        <p:nvSpPr>
          <p:cNvPr id="20" name="vs2"/>
          <p:cNvSpPr/>
          <p:nvPr/>
        </p:nvSpPr>
        <p:spPr>
          <a:xfrm>
            <a:off x="6273800" y="5029200"/>
            <a:ext cx="5207000" cy="1016000"/>
          </a:xfrm>
          <a:prstGeom prst="rect">
            <a:avLst/>
          </a:prstGeom>
          <a:solidFill>
            <a:srgbClr val="FDEBD7"/>
          </a:solidFill>
          <a:ln w="12700">
            <a:solidFill>
              <a:srgbClr val="F07D0A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vs2t"/>
          <p:cNvSpPr txBox="1"/>
          <p:nvPr/>
        </p:nvSpPr>
        <p:spPr>
          <a:xfrm>
            <a:off x="6527800" y="5029200"/>
            <a:ext cx="4699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45000"/>
              </a:lnSpc>
            </a:pPr>
            <a:r>
              <a:rPr lang="en-US" sz="1300" b="1" noProof="1">
                <a:solidFill>
                  <a:srgbClr val="0B2440"/>
                </a:solidFill>
                <a:latin typeface="MiSans"/>
                <a:ea typeface="MiSans"/>
              </a:rPr>
              <a:t>自建 token 工厂</a:t>
            </a:r>
            <a:r>
              <a:rPr lang="en-US" sz="1300" noProof="1">
                <a:solidFill>
                  <a:srgbClr val="0B2440"/>
                </a:solidFill>
                <a:latin typeface="MiSans"/>
                <a:ea typeface="MiSans"/>
              </a:rPr>
              <a:t> </a:t>
            </a:r>
            <a:r>
              <a:rPr lang="en-US" sz="1300" b="1" noProof="1">
                <a:solidFill>
                  <a:srgbClr val="F07D0A"/>
                </a:solidFill>
                <a:latin typeface="MiSans"/>
                <a:ea typeface="MiSans"/>
              </a:rPr>
              <a:t>28× 价差空间</a:t>
            </a:r>
            <a:endParaRPr lang="en-US" sz="1600" noProof="1"/>
          </a:p>
          <a:p>
            <a:pPr algn="l">
              <a:lnSpc>
                <a:spcPct val="145000"/>
              </a:lnSpc>
            </a:pPr>
            <a:r>
              <a:rPr lang="en-US" sz="1150" noProof="1">
                <a:solidFill>
                  <a:srgbClr val="6B7A8C"/>
                </a:solidFill>
                <a:latin typeface="MiSans"/>
                <a:ea typeface="MiSans"/>
              </a:rPr>
              <a:t>开源全栈免费可得，成本只有 API 的零头</a:t>
            </a:r>
            <a:endParaRPr lang="en-US" sz="1600" noProof="1"/>
          </a:p>
        </p:txBody>
      </p:sp>
      <p:sp>
        <p:nvSpPr>
          <p:cNvPr id="22" name="fline"/>
          <p:cNvSpPr/>
          <p:nvPr/>
        </p:nvSpPr>
        <p:spPr>
          <a:xfrm>
            <a:off x="711200" y="6477000"/>
            <a:ext cx="107696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fl"/>
          <p:cNvSpPr txBox="1"/>
          <p:nvPr/>
        </p:nvSpPr>
        <p:spPr>
          <a:xfrm>
            <a:off x="711200" y="65532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B7A8C"/>
                </a:solidFill>
                <a:latin typeface="MiSans"/>
                <a:ea typeface="MiSans"/>
              </a:rPr>
              <a:t>Token Factory · AI 推理的成本革命</a:t>
            </a:r>
            <a:endParaRPr lang="en-US" sz="950" noProof="1"/>
          </a:p>
        </p:txBody>
      </p:sp>
      <p:sp>
        <p:nvSpPr>
          <p:cNvPr id="24" name="fr"/>
          <p:cNvSpPr txBox="1"/>
          <p:nvPr/>
        </p:nvSpPr>
        <p:spPr>
          <a:xfrm>
            <a:off x="10210800" y="65532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6B7A8C"/>
                </a:solidFill>
                <a:latin typeface="MiSans"/>
                <a:ea typeface="MiSans"/>
              </a:rPr>
              <a:t>32 / 40</a:t>
            </a:r>
            <a:endParaRPr lang="en-US" sz="950" noProof="1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"/>
          <p:cNvSpPr txBox="1"/>
          <p:nvPr/>
        </p:nvSpPr>
        <p:spPr>
          <a:xfrm>
            <a:off x="711200" y="3810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F07D0A"/>
                </a:solidFill>
                <a:latin typeface="MiSans"/>
                <a:ea typeface="MiSans"/>
              </a:rPr>
              <a:t>第四层杠杆 · 基础设施与生态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350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600" b="1" noProof="1">
                <a:solidFill>
                  <a:srgbClr val="0B2440"/>
                </a:solidFill>
                <a:latin typeface="MiSans"/>
                <a:ea typeface="MiSans"/>
              </a:rPr>
              <a:t>token 工厂的仪表盘</a:t>
            </a:r>
            <a:endParaRPr lang="en-US" sz="2600" noProof="1"/>
          </a:p>
        </p:txBody>
      </p:sp>
      <p:sp>
        <p:nvSpPr>
          <p:cNvPr id="4" name="rule"/>
          <p:cNvSpPr/>
          <p:nvPr/>
        </p:nvSpPr>
        <p:spPr>
          <a:xfrm>
            <a:off x="711200" y="1270000"/>
            <a:ext cx="107696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abar"/>
          <p:cNvSpPr/>
          <p:nvPr/>
        </p:nvSpPr>
        <p:spPr>
          <a:xfrm>
            <a:off x="711200" y="1244600"/>
            <a:ext cx="812800" cy="381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lead"/>
          <p:cNvSpPr txBox="1"/>
          <p:nvPr/>
        </p:nvSpPr>
        <p:spPr>
          <a:xfrm>
            <a:off x="711200" y="1549400"/>
            <a:ext cx="107696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token 工厂的每个环节都在花钱：GPU、显存、网络。</a:t>
            </a:r>
            <a:r>
              <a:rPr lang="en-US" sz="1350" b="1" noProof="1">
                <a:solidFill>
                  <a:srgbClr val="23303E"/>
                </a:solidFill>
                <a:latin typeface="MiSans"/>
                <a:ea typeface="MiSans"/>
              </a:rPr>
              <a:t>没有监控 ＝ 盲目经营。</a:t>
            </a:r>
            <a:endParaRPr lang="en-US" sz="1350" noProof="1"/>
          </a:p>
        </p:txBody>
      </p:sp>
      <p:sp>
        <p:nvSpPr>
          <p:cNvPr id="7" name="c1i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eyJpY29uTmFtZSI6ImZhczpnYXVnZS1oaWdoIn0</pptd:icon>
              </p:ext>
            </p:extLst>
          </p:nvPr>
        </p:nvSpPr>
        <p:spPr>
          <a:xfrm>
            <a:off x="711200" y="2133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0" y="256"/>
                </a:move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ubicBezTo>
                  <a:pt x="115" y="512"/>
                  <a:pt x="0" y="397"/>
                  <a:pt x="0" y="256"/>
                </a:cubicBezTo>
                <a:close/>
                <a:moveTo>
                  <a:pt x="288" y="96"/>
                </a:moveTo>
                <a:cubicBezTo>
                  <a:pt x="288" y="78"/>
                  <a:pt x="274" y="64"/>
                  <a:pt x="256" y="64"/>
                </a:cubicBezTo>
                <a:cubicBezTo>
                  <a:pt x="238" y="64"/>
                  <a:pt x="224" y="78"/>
                  <a:pt x="224" y="96"/>
                </a:cubicBezTo>
                <a:cubicBezTo>
                  <a:pt x="224" y="114"/>
                  <a:pt x="238" y="128"/>
                  <a:pt x="256" y="128"/>
                </a:cubicBezTo>
                <a:cubicBezTo>
                  <a:pt x="274" y="128"/>
                  <a:pt x="288" y="114"/>
                  <a:pt x="288" y="96"/>
                </a:cubicBezTo>
                <a:close/>
                <a:moveTo>
                  <a:pt x="256" y="416"/>
                </a:moveTo>
                <a:cubicBezTo>
                  <a:pt x="291" y="416"/>
                  <a:pt x="320" y="387"/>
                  <a:pt x="320" y="352"/>
                </a:cubicBezTo>
                <a:cubicBezTo>
                  <a:pt x="320" y="336"/>
                  <a:pt x="314" y="321"/>
                  <a:pt x="304" y="310"/>
                </a:cubicBezTo>
                <a:lnTo>
                  <a:pt x="374" y="171"/>
                </a:lnTo>
                <a:cubicBezTo>
                  <a:pt x="379" y="159"/>
                  <a:pt x="375" y="144"/>
                  <a:pt x="363" y="139"/>
                </a:cubicBezTo>
                <a:cubicBezTo>
                  <a:pt x="351" y="133"/>
                  <a:pt x="337" y="137"/>
                  <a:pt x="331" y="149"/>
                </a:cubicBezTo>
                <a:lnTo>
                  <a:pt x="261" y="288"/>
                </a:lnTo>
                <a:cubicBezTo>
                  <a:pt x="259" y="288"/>
                  <a:pt x="258" y="288"/>
                  <a:pt x="256" y="288"/>
                </a:cubicBezTo>
                <a:cubicBezTo>
                  <a:pt x="221" y="288"/>
                  <a:pt x="192" y="317"/>
                  <a:pt x="192" y="352"/>
                </a:cubicBezTo>
                <a:cubicBezTo>
                  <a:pt x="192" y="387"/>
                  <a:pt x="221" y="416"/>
                  <a:pt x="256" y="416"/>
                </a:cubicBezTo>
                <a:close/>
                <a:moveTo>
                  <a:pt x="176" y="144"/>
                </a:moveTo>
                <a:cubicBezTo>
                  <a:pt x="176" y="126"/>
                  <a:pt x="162" y="112"/>
                  <a:pt x="144" y="112"/>
                </a:cubicBezTo>
                <a:cubicBezTo>
                  <a:pt x="126" y="112"/>
                  <a:pt x="112" y="126"/>
                  <a:pt x="112" y="144"/>
                </a:cubicBezTo>
                <a:cubicBezTo>
                  <a:pt x="112" y="162"/>
                  <a:pt x="126" y="176"/>
                  <a:pt x="144" y="176"/>
                </a:cubicBezTo>
                <a:cubicBezTo>
                  <a:pt x="162" y="176"/>
                  <a:pt x="176" y="162"/>
                  <a:pt x="176" y="144"/>
                </a:cubicBezTo>
                <a:close/>
                <a:moveTo>
                  <a:pt x="96" y="288"/>
                </a:moveTo>
                <a:cubicBezTo>
                  <a:pt x="114" y="288"/>
                  <a:pt x="128" y="274"/>
                  <a:pt x="128" y="256"/>
                </a:cubicBezTo>
                <a:cubicBezTo>
                  <a:pt x="128" y="238"/>
                  <a:pt x="114" y="224"/>
                  <a:pt x="96" y="224"/>
                </a:cubicBezTo>
                <a:cubicBezTo>
                  <a:pt x="78" y="224"/>
                  <a:pt x="64" y="238"/>
                  <a:pt x="64" y="256"/>
                </a:cubicBezTo>
                <a:cubicBezTo>
                  <a:pt x="64" y="274"/>
                  <a:pt x="78" y="288"/>
                  <a:pt x="96" y="288"/>
                </a:cubicBezTo>
                <a:close/>
                <a:moveTo>
                  <a:pt x="448" y="256"/>
                </a:moveTo>
                <a:cubicBezTo>
                  <a:pt x="448" y="238"/>
                  <a:pt x="434" y="224"/>
                  <a:pt x="416" y="224"/>
                </a:cubicBezTo>
                <a:cubicBezTo>
                  <a:pt x="398" y="224"/>
                  <a:pt x="384" y="238"/>
                  <a:pt x="384" y="256"/>
                </a:cubicBezTo>
                <a:cubicBezTo>
                  <a:pt x="384" y="274"/>
                  <a:pt x="398" y="288"/>
                  <a:pt x="416" y="288"/>
                </a:cubicBezTo>
                <a:cubicBezTo>
                  <a:pt x="434" y="288"/>
                  <a:pt x="448" y="274"/>
                  <a:pt x="448" y="256"/>
                </a:cubicBezTo>
                <a:close/>
              </a:path>
            </a:pathLst>
          </a:cu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c1h"/>
          <p:cNvSpPr txBox="1"/>
          <p:nvPr/>
        </p:nvSpPr>
        <p:spPr>
          <a:xfrm>
            <a:off x="1168400" y="213360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noProof="1">
                <a:solidFill>
                  <a:srgbClr val="0B2440"/>
                </a:solidFill>
                <a:latin typeface="MiSans"/>
                <a:ea typeface="MiSans"/>
              </a:rPr>
              <a:t>性能</a:t>
            </a:r>
            <a:endParaRPr lang="en-US" sz="1500" noProof="1"/>
          </a:p>
        </p:txBody>
      </p:sp>
      <p:sp>
        <p:nvSpPr>
          <p:cNvPr id="9" name="c1d"/>
          <p:cNvSpPr txBox="1"/>
          <p:nvPr/>
        </p:nvSpPr>
        <p:spPr>
          <a:xfrm>
            <a:off x="711200" y="2616200"/>
            <a:ext cx="31750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TTFT（首 token 延迟）</a:t>
            </a:r>
            <a:endParaRPr lang="en-US" sz="135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TPOT（每 token 时间）</a:t>
            </a:r>
            <a:endParaRPr lang="en-US" sz="135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吞吐量</a:t>
            </a:r>
            <a:endParaRPr lang="en-US" sz="1350" noProof="1"/>
          </a:p>
        </p:txBody>
      </p:sp>
      <p:sp>
        <p:nvSpPr>
          <p:cNvPr id="10" name="div1"/>
          <p:cNvSpPr/>
          <p:nvPr/>
        </p:nvSpPr>
        <p:spPr>
          <a:xfrm>
            <a:off x="4191000" y="2133600"/>
            <a:ext cx="12700" cy="22860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c2i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eyJpY29uTmFtZSI6ImZhczpjb2lucyJ9</pptd:icon>
              </p:ext>
            </p:extLst>
          </p:nvPr>
        </p:nvSpPr>
        <p:spPr>
          <a:xfrm>
            <a:off x="4572000" y="2133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28" y="96"/>
                </a:moveTo>
                <a:lnTo>
                  <a:pt x="128" y="80"/>
                </a:lnTo>
                <a:cubicBezTo>
                  <a:pt x="128" y="36"/>
                  <a:pt x="214" y="0"/>
                  <a:pt x="320" y="0"/>
                </a:cubicBezTo>
                <a:cubicBezTo>
                  <a:pt x="426" y="0"/>
                  <a:pt x="512" y="36"/>
                  <a:pt x="512" y="80"/>
                </a:cubicBezTo>
                <a:lnTo>
                  <a:pt x="512" y="96"/>
                </a:lnTo>
                <a:cubicBezTo>
                  <a:pt x="512" y="127"/>
                  <a:pt x="471" y="153"/>
                  <a:pt x="410" y="167"/>
                </a:cubicBezTo>
                <a:cubicBezTo>
                  <a:pt x="408" y="164"/>
                  <a:pt x="405" y="161"/>
                  <a:pt x="403" y="159"/>
                </a:cubicBezTo>
                <a:cubicBezTo>
                  <a:pt x="387" y="143"/>
                  <a:pt x="367" y="132"/>
                  <a:pt x="346" y="123"/>
                </a:cubicBezTo>
                <a:cubicBezTo>
                  <a:pt x="304" y="106"/>
                  <a:pt x="250" y="96"/>
                  <a:pt x="192" y="96"/>
                </a:cubicBezTo>
                <a:cubicBezTo>
                  <a:pt x="170" y="96"/>
                  <a:pt x="149" y="98"/>
                  <a:pt x="128" y="100"/>
                </a:cubicBezTo>
                <a:cubicBezTo>
                  <a:pt x="128" y="99"/>
                  <a:pt x="128" y="97"/>
                  <a:pt x="128" y="96"/>
                </a:cubicBezTo>
                <a:close/>
              </a:path>
              <a:path w="512" h="512">
                <a:moveTo>
                  <a:pt x="432" y="353"/>
                </a:moveTo>
                <a:lnTo>
                  <a:pt x="432" y="307"/>
                </a:lnTo>
                <a:cubicBezTo>
                  <a:pt x="447" y="303"/>
                  <a:pt x="461" y="298"/>
                  <a:pt x="474" y="293"/>
                </a:cubicBezTo>
                <a:cubicBezTo>
                  <a:pt x="487" y="287"/>
                  <a:pt x="500" y="281"/>
                  <a:pt x="512" y="273"/>
                </a:cubicBezTo>
                <a:lnTo>
                  <a:pt x="512" y="288"/>
                </a:lnTo>
                <a:cubicBezTo>
                  <a:pt x="512" y="315"/>
                  <a:pt x="481" y="339"/>
                  <a:pt x="432" y="353"/>
                </a:cubicBezTo>
                <a:close/>
              </a:path>
              <a:path w="512" h="512">
                <a:moveTo>
                  <a:pt x="432" y="257"/>
                </a:moveTo>
                <a:lnTo>
                  <a:pt x="432" y="224"/>
                </a:lnTo>
                <a:cubicBezTo>
                  <a:pt x="432" y="220"/>
                  <a:pt x="432" y="215"/>
                  <a:pt x="431" y="211"/>
                </a:cubicBezTo>
                <a:cubicBezTo>
                  <a:pt x="447" y="207"/>
                  <a:pt x="461" y="202"/>
                  <a:pt x="474" y="197"/>
                </a:cubicBezTo>
                <a:cubicBezTo>
                  <a:pt x="487" y="191"/>
                  <a:pt x="500" y="185"/>
                  <a:pt x="512" y="177"/>
                </a:cubicBezTo>
                <a:lnTo>
                  <a:pt x="512" y="192"/>
                </a:lnTo>
                <a:cubicBezTo>
                  <a:pt x="512" y="219"/>
                  <a:pt x="481" y="242"/>
                  <a:pt x="432" y="257"/>
                </a:cubicBezTo>
                <a:close/>
              </a:path>
              <a:path w="512" h="512">
                <a:moveTo>
                  <a:pt x="0" y="240"/>
                </a:moveTo>
                <a:lnTo>
                  <a:pt x="0" y="224"/>
                </a:lnTo>
                <a:cubicBezTo>
                  <a:pt x="0" y="180"/>
                  <a:pt x="86" y="144"/>
                  <a:pt x="192" y="144"/>
                </a:cubicBezTo>
                <a:cubicBezTo>
                  <a:pt x="298" y="144"/>
                  <a:pt x="384" y="180"/>
                  <a:pt x="384" y="224"/>
                </a:cubicBezTo>
                <a:lnTo>
                  <a:pt x="384" y="240"/>
                </a:lnTo>
                <a:cubicBezTo>
                  <a:pt x="384" y="284"/>
                  <a:pt x="298" y="320"/>
                  <a:pt x="192" y="320"/>
                </a:cubicBezTo>
                <a:cubicBezTo>
                  <a:pt x="86" y="320"/>
                  <a:pt x="0" y="284"/>
                  <a:pt x="0" y="240"/>
                </a:cubicBezTo>
                <a:close/>
              </a:path>
              <a:path w="512" h="512">
                <a:moveTo>
                  <a:pt x="384" y="336"/>
                </a:moveTo>
                <a:cubicBezTo>
                  <a:pt x="384" y="380"/>
                  <a:pt x="298" y="416"/>
                  <a:pt x="192" y="416"/>
                </a:cubicBezTo>
                <a:cubicBezTo>
                  <a:pt x="86" y="416"/>
                  <a:pt x="0" y="380"/>
                  <a:pt x="0" y="336"/>
                </a:cubicBezTo>
                <a:lnTo>
                  <a:pt x="0" y="321"/>
                </a:lnTo>
                <a:cubicBezTo>
                  <a:pt x="12" y="329"/>
                  <a:pt x="25" y="335"/>
                  <a:pt x="38" y="341"/>
                </a:cubicBezTo>
                <a:cubicBezTo>
                  <a:pt x="80" y="358"/>
                  <a:pt x="134" y="368"/>
                  <a:pt x="192" y="368"/>
                </a:cubicBezTo>
                <a:cubicBezTo>
                  <a:pt x="250" y="368"/>
                  <a:pt x="304" y="358"/>
                  <a:pt x="346" y="341"/>
                </a:cubicBezTo>
                <a:cubicBezTo>
                  <a:pt x="359" y="335"/>
                  <a:pt x="372" y="329"/>
                  <a:pt x="384" y="321"/>
                </a:cubicBezTo>
                <a:lnTo>
                  <a:pt x="384" y="336"/>
                </a:lnTo>
                <a:close/>
              </a:path>
              <a:path w="512" h="512">
                <a:moveTo>
                  <a:pt x="384" y="417"/>
                </a:moveTo>
                <a:lnTo>
                  <a:pt x="384" y="432"/>
                </a:lnTo>
                <a:cubicBezTo>
                  <a:pt x="384" y="476"/>
                  <a:pt x="298" y="512"/>
                  <a:pt x="192" y="512"/>
                </a:cubicBezTo>
                <a:cubicBezTo>
                  <a:pt x="86" y="512"/>
                  <a:pt x="0" y="476"/>
                  <a:pt x="0" y="432"/>
                </a:cubicBezTo>
                <a:lnTo>
                  <a:pt x="0" y="417"/>
                </a:lnTo>
                <a:cubicBezTo>
                  <a:pt x="12" y="425"/>
                  <a:pt x="25" y="431"/>
                  <a:pt x="38" y="437"/>
                </a:cubicBezTo>
                <a:cubicBezTo>
                  <a:pt x="80" y="454"/>
                  <a:pt x="134" y="464"/>
                  <a:pt x="192" y="464"/>
                </a:cubicBezTo>
                <a:cubicBezTo>
                  <a:pt x="250" y="464"/>
                  <a:pt x="304" y="454"/>
                  <a:pt x="346" y="437"/>
                </a:cubicBezTo>
                <a:cubicBezTo>
                  <a:pt x="359" y="431"/>
                  <a:pt x="372" y="425"/>
                  <a:pt x="384" y="417"/>
                </a:cubicBezTo>
                <a:close/>
              </a:path>
            </a:pathLst>
          </a:cu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c2h"/>
          <p:cNvSpPr txBox="1"/>
          <p:nvPr/>
        </p:nvSpPr>
        <p:spPr>
          <a:xfrm>
            <a:off x="5029200" y="213360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noProof="1">
                <a:solidFill>
                  <a:srgbClr val="0B2440"/>
                </a:solidFill>
                <a:latin typeface="MiSans"/>
                <a:ea typeface="MiSans"/>
              </a:rPr>
              <a:t>成本</a:t>
            </a:r>
            <a:endParaRPr lang="en-US" sz="1500" noProof="1"/>
          </a:p>
        </p:txBody>
      </p:sp>
      <p:sp>
        <p:nvSpPr>
          <p:cNvPr id="13" name="c2d"/>
          <p:cNvSpPr txBox="1"/>
          <p:nvPr/>
        </p:nvSpPr>
        <p:spPr>
          <a:xfrm>
            <a:off x="4572000" y="2616200"/>
            <a:ext cx="31750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350" b="1" noProof="1">
                <a:solidFill>
                  <a:srgbClr val="F07D0A"/>
                </a:solidFill>
                <a:latin typeface="MiSans"/>
                <a:ea typeface="MiSans"/>
              </a:rPr>
              <a:t>每 token 成本</a:t>
            </a:r>
            <a:endParaRPr lang="en-US" sz="135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GPU 利用率</a:t>
            </a:r>
            <a:endParaRPr lang="en-US" sz="135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KV Cache 命中率</a:t>
            </a:r>
            <a:r>
              <a:rPr lang="en-US" sz="1350" noProof="1">
                <a:solidFill>
                  <a:srgbClr val="6B7A8C"/>
                </a:solidFill>
                <a:latin typeface="MiSans"/>
                <a:ea typeface="MiSans"/>
              </a:rPr>
              <a:t>（长上下文时代的新指标）</a:t>
            </a:r>
            <a:endParaRPr lang="en-US" sz="1350" noProof="1"/>
          </a:p>
        </p:txBody>
      </p:sp>
      <p:sp>
        <p:nvSpPr>
          <p:cNvPr id="14" name="div2"/>
          <p:cNvSpPr/>
          <p:nvPr/>
        </p:nvSpPr>
        <p:spPr>
          <a:xfrm>
            <a:off x="8051800" y="2133600"/>
            <a:ext cx="12700" cy="22860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c3i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eyJpY29uTmFtZSI6ImZhczpjaXJjbGUtY2hlY2sifQ</pptd:icon>
              </p:ext>
            </p:extLst>
          </p:nvPr>
        </p:nvSpPr>
        <p:spPr>
          <a:xfrm>
            <a:off x="8432800" y="2133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397" y="512"/>
                  <a:pt x="512" y="397"/>
                  <a:pt x="512" y="256"/>
                </a:cubicBezTo>
                <a:cubicBezTo>
                  <a:pt x="512" y="115"/>
                  <a:pt x="397" y="0"/>
                  <a:pt x="256" y="0"/>
                </a:cubicBezTo>
                <a:cubicBezTo>
                  <a:pt x="115" y="0"/>
                  <a:pt x="0" y="115"/>
                  <a:pt x="0" y="256"/>
                </a:cubicBezTo>
                <a:cubicBezTo>
                  <a:pt x="0" y="397"/>
                  <a:pt x="115" y="512"/>
                  <a:pt x="256" y="512"/>
                </a:cubicBezTo>
                <a:close/>
                <a:moveTo>
                  <a:pt x="340" y="213"/>
                </a:moveTo>
                <a:lnTo>
                  <a:pt x="260" y="341"/>
                </a:lnTo>
                <a:cubicBezTo>
                  <a:pt x="256" y="347"/>
                  <a:pt x="249" y="352"/>
                  <a:pt x="241" y="352"/>
                </a:cubicBezTo>
                <a:cubicBezTo>
                  <a:pt x="233" y="352"/>
                  <a:pt x="226" y="349"/>
                  <a:pt x="221" y="342"/>
                </a:cubicBezTo>
                <a:lnTo>
                  <a:pt x="173" y="278"/>
                </a:lnTo>
                <a:cubicBezTo>
                  <a:pt x="165" y="268"/>
                  <a:pt x="167" y="253"/>
                  <a:pt x="178" y="245"/>
                </a:cubicBezTo>
                <a:cubicBezTo>
                  <a:pt x="188" y="237"/>
                  <a:pt x="203" y="239"/>
                  <a:pt x="211" y="250"/>
                </a:cubicBezTo>
                <a:lnTo>
                  <a:pt x="238" y="286"/>
                </a:lnTo>
                <a:lnTo>
                  <a:pt x="300" y="187"/>
                </a:lnTo>
                <a:cubicBezTo>
                  <a:pt x="307" y="176"/>
                  <a:pt x="322" y="173"/>
                  <a:pt x="333" y="180"/>
                </a:cubicBezTo>
                <a:cubicBezTo>
                  <a:pt x="344" y="187"/>
                  <a:pt x="348" y="202"/>
                  <a:pt x="340" y="213"/>
                </a:cubicBezTo>
                <a:close/>
              </a:path>
            </a:pathLst>
          </a:cu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c3h"/>
          <p:cNvSpPr txBox="1"/>
          <p:nvPr/>
        </p:nvSpPr>
        <p:spPr>
          <a:xfrm>
            <a:off x="8890000" y="213360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noProof="1">
                <a:solidFill>
                  <a:srgbClr val="0B2440"/>
                </a:solidFill>
                <a:latin typeface="MiSans"/>
                <a:ea typeface="MiSans"/>
              </a:rPr>
              <a:t>质量</a:t>
            </a:r>
            <a:endParaRPr lang="en-US" sz="1500" noProof="1"/>
          </a:p>
        </p:txBody>
      </p:sp>
      <p:sp>
        <p:nvSpPr>
          <p:cNvPr id="17" name="c3d"/>
          <p:cNvSpPr txBox="1"/>
          <p:nvPr/>
        </p:nvSpPr>
        <p:spPr>
          <a:xfrm>
            <a:off x="8432800" y="2616200"/>
            <a:ext cx="30480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幻觉率</a:t>
            </a:r>
            <a:endParaRPr lang="en-US" sz="135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评估分数</a:t>
            </a:r>
            <a:endParaRPr lang="en-US" sz="1350" noProof="1"/>
          </a:p>
        </p:txBody>
      </p:sp>
      <p:sp>
        <p:nvSpPr>
          <p:cNvPr id="18" name="opth"/>
          <p:cNvSpPr txBox="1"/>
          <p:nvPr/>
        </p:nvSpPr>
        <p:spPr>
          <a:xfrm>
            <a:off x="711200" y="47244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0B2440"/>
                </a:solidFill>
                <a:latin typeface="MiSans"/>
                <a:ea typeface="MiSans"/>
              </a:rPr>
              <a:t>成本优化手段</a:t>
            </a:r>
            <a:endParaRPr lang="en-US" sz="1400" noProof="1"/>
          </a:p>
        </p:txBody>
      </p:sp>
      <p:sp>
        <p:nvSpPr>
          <p:cNvPr id="19" name="opt"/>
          <p:cNvSpPr txBox="1"/>
          <p:nvPr/>
        </p:nvSpPr>
        <p:spPr>
          <a:xfrm>
            <a:off x="711200" y="5080000"/>
            <a:ext cx="107696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① GPU 共享：利用率 30% → 80%</a:t>
            </a:r>
            <a:endParaRPr lang="en-US" sz="1350" noProof="1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② Spot 实例与预留实例组合</a:t>
            </a:r>
            <a:endParaRPr lang="en-US" sz="1350" noProof="1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③ 模型路由：简单请求走便宜模型，复杂请求走旗舰模型</a:t>
            </a:r>
            <a:endParaRPr lang="en-US" sz="1350" noProof="1"/>
          </a:p>
        </p:txBody>
      </p:sp>
      <p:sp>
        <p:nvSpPr>
          <p:cNvPr id="20" name="fline"/>
          <p:cNvSpPr/>
          <p:nvPr/>
        </p:nvSpPr>
        <p:spPr>
          <a:xfrm>
            <a:off x="711200" y="6477000"/>
            <a:ext cx="107696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fl"/>
          <p:cNvSpPr txBox="1"/>
          <p:nvPr/>
        </p:nvSpPr>
        <p:spPr>
          <a:xfrm>
            <a:off x="711200" y="65532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B7A8C"/>
                </a:solidFill>
                <a:latin typeface="MiSans"/>
                <a:ea typeface="MiSans"/>
              </a:rPr>
              <a:t>Token Factory · AI 推理的成本革命</a:t>
            </a:r>
            <a:endParaRPr lang="en-US" sz="950" noProof="1"/>
          </a:p>
        </p:txBody>
      </p:sp>
      <p:sp>
        <p:nvSpPr>
          <p:cNvPr id="22" name="fr"/>
          <p:cNvSpPr txBox="1"/>
          <p:nvPr/>
        </p:nvSpPr>
        <p:spPr>
          <a:xfrm>
            <a:off x="10210800" y="65532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6B7A8C"/>
                </a:solidFill>
                <a:latin typeface="MiSans"/>
                <a:ea typeface="MiSans"/>
              </a:rPr>
              <a:t>33 / 40</a:t>
            </a:r>
            <a:endParaRPr lang="en-US" sz="950" noProof="1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"/>
          <p:cNvSpPr txBox="1"/>
          <p:nvPr/>
        </p:nvSpPr>
        <p:spPr>
          <a:xfrm>
            <a:off x="711200" y="3810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F07D0A"/>
                </a:solidFill>
                <a:latin typeface="MiSans"/>
                <a:ea typeface="MiSans"/>
              </a:rPr>
              <a:t>第四层杠杆 · 小结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350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600" b="1" noProof="1">
                <a:solidFill>
                  <a:srgbClr val="0B2440"/>
                </a:solidFill>
                <a:latin typeface="MiSans"/>
                <a:ea typeface="MiSans"/>
              </a:rPr>
              <a:t>生态的力量</a:t>
            </a:r>
            <a:endParaRPr lang="en-US" sz="2600" noProof="1"/>
          </a:p>
        </p:txBody>
      </p:sp>
      <p:sp>
        <p:nvSpPr>
          <p:cNvPr id="4" name="rule"/>
          <p:cNvSpPr/>
          <p:nvPr/>
        </p:nvSpPr>
        <p:spPr>
          <a:xfrm>
            <a:off x="711200" y="1270000"/>
            <a:ext cx="107696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abar"/>
          <p:cNvSpPr/>
          <p:nvPr/>
        </p:nvSpPr>
        <p:spPr>
          <a:xfrm>
            <a:off x="711200" y="1244600"/>
            <a:ext cx="812800" cy="381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r1n"/>
          <p:cNvSpPr txBox="1"/>
          <p:nvPr/>
        </p:nvSpPr>
        <p:spPr>
          <a:xfrm>
            <a:off x="711200" y="1727200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50" b="1" noProof="1">
                <a:solidFill>
                  <a:srgbClr val="0B2440"/>
                </a:solidFill>
                <a:latin typeface="MiSans"/>
                <a:ea typeface="MiSans"/>
              </a:rPr>
              <a:t>完整可自建栈</a:t>
            </a:r>
            <a:endParaRPr lang="en-US" sz="1550" noProof="1"/>
          </a:p>
        </p:txBody>
      </p:sp>
      <p:sp>
        <p:nvSpPr>
          <p:cNvPr id="7" name="r1d"/>
          <p:cNvSpPr txBox="1"/>
          <p:nvPr/>
        </p:nvSpPr>
        <p:spPr>
          <a:xfrm>
            <a:off x="711200" y="2082800"/>
            <a:ext cx="8128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3303E"/>
                </a:solidFill>
                <a:latin typeface="MiSans"/>
                <a:ea typeface="MiSans"/>
              </a:rPr>
              <a:t>开源模型（DeepSeek-V4 / Kimi K3 / GLM-5.2）＋ 开源引擎（vLLM / SGLang）＋ 开源平台（Kubernetes / AIBrix）</a:t>
            </a:r>
            <a:endParaRPr lang="en-US" sz="1250" noProof="1"/>
          </a:p>
        </p:txBody>
      </p:sp>
      <p:sp>
        <p:nvSpPr>
          <p:cNvPr id="8" name="r1line"/>
          <p:cNvSpPr/>
          <p:nvPr/>
        </p:nvSpPr>
        <p:spPr>
          <a:xfrm>
            <a:off x="711200" y="2743200"/>
            <a:ext cx="81280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r2n"/>
          <p:cNvSpPr txBox="1"/>
          <p:nvPr/>
        </p:nvSpPr>
        <p:spPr>
          <a:xfrm>
            <a:off x="711200" y="2946400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50" b="1" noProof="1">
                <a:solidFill>
                  <a:srgbClr val="0B2440"/>
                </a:solidFill>
                <a:latin typeface="MiSans"/>
                <a:ea typeface="MiSans"/>
              </a:rPr>
              <a:t>价格战压到接近“电费”</a:t>
            </a:r>
            <a:endParaRPr lang="en-US" sz="1550" noProof="1"/>
          </a:p>
        </p:txBody>
      </p:sp>
      <p:sp>
        <p:nvSpPr>
          <p:cNvPr id="10" name="r2d"/>
          <p:cNvSpPr txBox="1"/>
          <p:nvPr/>
        </p:nvSpPr>
        <p:spPr>
          <a:xfrm>
            <a:off x="711200" y="3302000"/>
            <a:ext cx="8128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3303E"/>
                </a:solidFill>
                <a:latin typeface="MiSans"/>
                <a:ea typeface="MiSans"/>
              </a:rPr>
              <a:t>开源 vs 闭源 28 倍价差；开源与闭源能力差距缩至 3–5 个月</a:t>
            </a:r>
            <a:endParaRPr lang="en-US" sz="1250" noProof="1"/>
          </a:p>
        </p:txBody>
      </p:sp>
      <p:sp>
        <p:nvSpPr>
          <p:cNvPr id="11" name="r2line"/>
          <p:cNvSpPr/>
          <p:nvPr/>
        </p:nvSpPr>
        <p:spPr>
          <a:xfrm>
            <a:off x="711200" y="3962400"/>
            <a:ext cx="81280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r3n"/>
          <p:cNvSpPr txBox="1"/>
          <p:nvPr/>
        </p:nvSpPr>
        <p:spPr>
          <a:xfrm>
            <a:off x="711200" y="4165600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50" b="1" noProof="1">
                <a:solidFill>
                  <a:srgbClr val="0B2440"/>
                </a:solidFill>
                <a:latin typeface="MiSans"/>
                <a:ea typeface="MiSans"/>
              </a:rPr>
              <a:t>成本下降打开应用空间</a:t>
            </a:r>
            <a:endParaRPr lang="en-US" sz="1550" noProof="1"/>
          </a:p>
        </p:txBody>
      </p:sp>
      <p:sp>
        <p:nvSpPr>
          <p:cNvPr id="13" name="r3d"/>
          <p:cNvSpPr txBox="1"/>
          <p:nvPr/>
        </p:nvSpPr>
        <p:spPr>
          <a:xfrm>
            <a:off x="711200" y="4521200"/>
            <a:ext cx="8128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3303E"/>
                </a:solidFill>
                <a:latin typeface="MiSans"/>
                <a:ea typeface="MiSans"/>
              </a:rPr>
              <a:t>AI 编程、长上下文、Agent——都是“便宜了才用得起”的产物</a:t>
            </a:r>
            <a:endParaRPr lang="en-US" sz="1250" noProof="1"/>
          </a:p>
        </p:txBody>
      </p:sp>
      <p:sp>
        <p:nvSpPr>
          <p:cNvPr id="14" name="bign"/>
          <p:cNvSpPr txBox="1"/>
          <p:nvPr/>
        </p:nvSpPr>
        <p:spPr>
          <a:xfrm>
            <a:off x="9144000" y="2159000"/>
            <a:ext cx="23368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000" b="1" noProof="1">
                <a:solidFill>
                  <a:srgbClr val="F07D0A"/>
                </a:solidFill>
                <a:latin typeface="MiSans"/>
                <a:ea typeface="MiSans"/>
              </a:rPr>
              <a:t>28×</a:t>
            </a:r>
            <a:endParaRPr lang="en-US" sz="4000" noProof="1"/>
          </a:p>
        </p:txBody>
      </p:sp>
      <p:sp>
        <p:nvSpPr>
          <p:cNvPr id="15" name="bigl"/>
          <p:cNvSpPr txBox="1"/>
          <p:nvPr/>
        </p:nvSpPr>
        <p:spPr>
          <a:xfrm>
            <a:off x="9144000" y="2870200"/>
            <a:ext cx="2336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200" noProof="1">
                <a:solidFill>
                  <a:srgbClr val="6B7A8C"/>
                </a:solidFill>
                <a:latin typeface="MiSans"/>
                <a:ea typeface="MiSans"/>
              </a:rPr>
              <a:t>开源价格战打出的同档价差</a:t>
            </a:r>
            <a:endParaRPr lang="en-US" sz="1200" noProof="1"/>
          </a:p>
        </p:txBody>
      </p:sp>
      <p:sp>
        <p:nvSpPr>
          <p:cNvPr id="16" name="trans"/>
          <p:cNvSpPr/>
          <p:nvPr/>
        </p:nvSpPr>
        <p:spPr>
          <a:xfrm>
            <a:off x="711200" y="5511800"/>
            <a:ext cx="10769600" cy="609600"/>
          </a:xfrm>
          <a:prstGeom prst="rect">
            <a:avLst/>
          </a:prstGeom>
          <a:solidFill>
            <a:srgbClr val="F3F6FA"/>
          </a:solidFill>
          <a:ln w="12700">
            <a:solidFill>
              <a:srgbClr val="D9E1E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ranst"/>
          <p:cNvSpPr txBox="1"/>
          <p:nvPr/>
        </p:nvSpPr>
        <p:spPr>
          <a:xfrm>
            <a:off x="965200" y="5511800"/>
            <a:ext cx="102616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50" noProof="1">
                <a:solidFill>
                  <a:srgbClr val="0B2440"/>
                </a:solidFill>
                <a:latin typeface="MiSans"/>
                <a:ea typeface="MiSans"/>
              </a:rPr>
              <a:t>四层杠杆全部走完，现在回头看那个 100 倍 </a:t>
            </a:r>
            <a:r>
              <a:rPr lang="en-US" sz="1350" b="1" noProof="1">
                <a:solidFill>
                  <a:srgbClr val="F07D0A"/>
                </a:solidFill>
                <a:latin typeface="MiSans"/>
                <a:ea typeface="MiSans"/>
              </a:rPr>
              <a:t>→ 总结</a:t>
            </a:r>
            <a:endParaRPr lang="en-US" sz="1350" noProof="1"/>
          </a:p>
        </p:txBody>
      </p:sp>
      <p:sp>
        <p:nvSpPr>
          <p:cNvPr id="18" name="fline"/>
          <p:cNvSpPr/>
          <p:nvPr/>
        </p:nvSpPr>
        <p:spPr>
          <a:xfrm>
            <a:off x="711200" y="6477000"/>
            <a:ext cx="107696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fl"/>
          <p:cNvSpPr txBox="1"/>
          <p:nvPr/>
        </p:nvSpPr>
        <p:spPr>
          <a:xfrm>
            <a:off x="711200" y="65532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B7A8C"/>
                </a:solidFill>
                <a:latin typeface="MiSans"/>
                <a:ea typeface="MiSans"/>
              </a:rPr>
              <a:t>Token Factory · AI 推理的成本革命</a:t>
            </a:r>
            <a:endParaRPr lang="en-US" sz="950" noProof="1"/>
          </a:p>
        </p:txBody>
      </p:sp>
      <p:sp>
        <p:nvSpPr>
          <p:cNvPr id="20" name="fr"/>
          <p:cNvSpPr txBox="1"/>
          <p:nvPr/>
        </p:nvSpPr>
        <p:spPr>
          <a:xfrm>
            <a:off x="10210800" y="65532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6B7A8C"/>
                </a:solidFill>
                <a:latin typeface="MiSans"/>
                <a:ea typeface="MiSans"/>
              </a:rPr>
              <a:t>34 / 40</a:t>
            </a:r>
            <a:endParaRPr lang="en-US" sz="950" noProof="1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"/>
          <p:cNvSpPr txBox="1"/>
          <p:nvPr/>
        </p:nvSpPr>
        <p:spPr>
          <a:xfrm>
            <a:off x="711200" y="3810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F07D0A"/>
                </a:solidFill>
                <a:latin typeface="MiSans"/>
                <a:ea typeface="MiSans"/>
              </a:rPr>
              <a:t>总结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350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600" b="1" noProof="1">
                <a:solidFill>
                  <a:srgbClr val="0B2440"/>
                </a:solidFill>
                <a:latin typeface="MiSans"/>
                <a:ea typeface="MiSans"/>
              </a:rPr>
              <a:t>100 倍成本下降是怎么来的</a:t>
            </a:r>
            <a:endParaRPr lang="en-US" sz="2600" noProof="1"/>
          </a:p>
        </p:txBody>
      </p:sp>
      <p:sp>
        <p:nvSpPr>
          <p:cNvPr id="4" name="rule"/>
          <p:cNvSpPr/>
          <p:nvPr/>
        </p:nvSpPr>
        <p:spPr>
          <a:xfrm>
            <a:off x="711200" y="1270000"/>
            <a:ext cx="107696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abar"/>
          <p:cNvSpPr/>
          <p:nvPr/>
        </p:nvSpPr>
        <p:spPr>
          <a:xfrm>
            <a:off x="711200" y="1244600"/>
            <a:ext cx="812800" cy="381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tart"/>
          <p:cNvSpPr/>
          <p:nvPr/>
        </p:nvSpPr>
        <p:spPr>
          <a:xfrm>
            <a:off x="711200" y="1778000"/>
            <a:ext cx="1905000" cy="889000"/>
          </a:xfrm>
          <a:prstGeom prst="rect">
            <a:avLst/>
          </a:prstGeom>
          <a:solidFill>
            <a:srgbClr val="0B244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tartt"/>
          <p:cNvSpPr txBox="1"/>
          <p:nvPr/>
        </p:nvSpPr>
        <p:spPr>
          <a:xfrm>
            <a:off x="711200" y="1778000"/>
            <a:ext cx="1905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100" noProof="1">
                <a:solidFill>
                  <a:srgbClr val="A9BCD2"/>
                </a:solidFill>
                <a:latin typeface="MiSans"/>
                <a:ea typeface="MiSans"/>
              </a:rPr>
              <a:t>2023 基准</a:t>
            </a:r>
            <a:endParaRPr lang="en-US" sz="1600" noProof="1"/>
          </a:p>
          <a:p>
            <a:pPr algn="ctr">
              <a:lnSpc>
                <a:spcPct val="140000"/>
              </a:lnSpc>
            </a:pPr>
            <a:r>
              <a:rPr lang="en-US" sz="1700" b="1" noProof="1">
                <a:solidFill>
                  <a:srgbClr val="FFFFFF"/>
                </a:solidFill>
                <a:latin typeface="MiSans"/>
                <a:ea typeface="MiSans"/>
              </a:rPr>
              <a:t>$60/M</a:t>
            </a:r>
            <a:endParaRPr lang="en-US" sz="1600" noProof="1"/>
          </a:p>
          <a:p>
            <a:pPr algn="ctr">
              <a:lnSpc>
                <a:spcPct val="140000"/>
              </a:lnSpc>
            </a:pPr>
            <a:r>
              <a:rPr lang="en-US" sz="1000" noProof="1">
                <a:solidFill>
                  <a:srgbClr val="A9BCD2"/>
                </a:solidFill>
                <a:latin typeface="MiSans"/>
                <a:ea typeface="MiSans"/>
              </a:rPr>
              <a:t>GPT-4 水平</a:t>
            </a:r>
            <a:endParaRPr lang="en-US" sz="1600" noProof="1"/>
          </a:p>
        </p:txBody>
      </p:sp>
      <p:sp>
        <p:nvSpPr>
          <p:cNvPr id="8" name="x1"/>
          <p:cNvSpPr/>
          <p:nvPr/>
        </p:nvSpPr>
        <p:spPr>
          <a:xfrm>
            <a:off x="2870200" y="1778000"/>
            <a:ext cx="1397000" cy="889000"/>
          </a:xfrm>
          <a:prstGeom prst="rect">
            <a:avLst/>
          </a:prstGeom>
          <a:solidFill>
            <a:srgbClr val="E7EDF4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x1t"/>
          <p:cNvSpPr txBox="1"/>
          <p:nvPr/>
        </p:nvSpPr>
        <p:spPr>
          <a:xfrm>
            <a:off x="2870200" y="1778000"/>
            <a:ext cx="1397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5000"/>
              </a:lnSpc>
            </a:pPr>
            <a:r>
              <a:rPr lang="en-US" sz="1600" b="1" noProof="1">
                <a:solidFill>
                  <a:srgbClr val="0B2440"/>
                </a:solidFill>
                <a:latin typeface="MiSans"/>
                <a:ea typeface="MiSans"/>
              </a:rPr>
              <a:t>×10</a:t>
            </a:r>
            <a:endParaRPr lang="en-US" sz="1600" noProof="1"/>
          </a:p>
          <a:p>
            <a:pPr algn="ctr">
              <a:lnSpc>
                <a:spcPct val="135000"/>
              </a:lnSpc>
            </a:pPr>
            <a:r>
              <a:rPr lang="en-US" sz="1050" noProof="1">
                <a:solidFill>
                  <a:srgbClr val="6B7A8C"/>
                </a:solidFill>
                <a:latin typeface="MiSans"/>
                <a:ea typeface="MiSans"/>
              </a:rPr>
              <a:t>模型架构</a:t>
            </a:r>
            <a:endParaRPr lang="en-US" sz="1600" noProof="1"/>
          </a:p>
        </p:txBody>
      </p:sp>
      <p:sp>
        <p:nvSpPr>
          <p:cNvPr id="10" name="x1c"/>
          <p:cNvSpPr txBox="1"/>
          <p:nvPr/>
        </p:nvSpPr>
        <p:spPr>
          <a:xfrm>
            <a:off x="2870200" y="2743200"/>
            <a:ext cx="1397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noProof="1">
                <a:solidFill>
                  <a:srgbClr val="6B7A8C"/>
                </a:solidFill>
                <a:latin typeface="MiSans"/>
                <a:ea typeface="MiSans"/>
              </a:rPr>
              <a:t>累计 ×10</a:t>
            </a:r>
            <a:endParaRPr lang="en-US" sz="1050" noProof="1"/>
          </a:p>
        </p:txBody>
      </p:sp>
      <p:sp>
        <p:nvSpPr>
          <p:cNvPr id="11" name="x2"/>
          <p:cNvSpPr/>
          <p:nvPr/>
        </p:nvSpPr>
        <p:spPr>
          <a:xfrm>
            <a:off x="4521200" y="1778000"/>
            <a:ext cx="1397000" cy="889000"/>
          </a:xfrm>
          <a:prstGeom prst="rect">
            <a:avLst/>
          </a:prstGeom>
          <a:solidFill>
            <a:srgbClr val="E7EDF4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x2t"/>
          <p:cNvSpPr txBox="1"/>
          <p:nvPr/>
        </p:nvSpPr>
        <p:spPr>
          <a:xfrm>
            <a:off x="4521200" y="1778000"/>
            <a:ext cx="1397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5000"/>
              </a:lnSpc>
            </a:pPr>
            <a:r>
              <a:rPr lang="en-US" sz="1600" b="1" noProof="1">
                <a:solidFill>
                  <a:srgbClr val="0B2440"/>
                </a:solidFill>
                <a:latin typeface="MiSans"/>
                <a:ea typeface="MiSans"/>
              </a:rPr>
              <a:t>×3.5</a:t>
            </a:r>
            <a:endParaRPr lang="en-US" sz="1600" noProof="1"/>
          </a:p>
          <a:p>
            <a:pPr algn="ctr">
              <a:lnSpc>
                <a:spcPct val="135000"/>
              </a:lnSpc>
            </a:pPr>
            <a:r>
              <a:rPr lang="en-US" sz="1050" noProof="1">
                <a:solidFill>
                  <a:srgbClr val="6B7A8C"/>
                </a:solidFill>
                <a:latin typeface="MiSans"/>
                <a:ea typeface="MiSans"/>
              </a:rPr>
              <a:t>硬件</a:t>
            </a:r>
            <a:endParaRPr lang="en-US" sz="1600" noProof="1"/>
          </a:p>
        </p:txBody>
      </p:sp>
      <p:sp>
        <p:nvSpPr>
          <p:cNvPr id="13" name="x2c"/>
          <p:cNvSpPr txBox="1"/>
          <p:nvPr/>
        </p:nvSpPr>
        <p:spPr>
          <a:xfrm>
            <a:off x="4521200" y="2743200"/>
            <a:ext cx="1397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noProof="1">
                <a:solidFill>
                  <a:srgbClr val="6B7A8C"/>
                </a:solidFill>
                <a:latin typeface="MiSans"/>
                <a:ea typeface="MiSans"/>
              </a:rPr>
              <a:t>累计 ×35</a:t>
            </a:r>
            <a:endParaRPr lang="en-US" sz="1050" noProof="1"/>
          </a:p>
        </p:txBody>
      </p:sp>
      <p:sp>
        <p:nvSpPr>
          <p:cNvPr id="14" name="x3"/>
          <p:cNvSpPr/>
          <p:nvPr/>
        </p:nvSpPr>
        <p:spPr>
          <a:xfrm>
            <a:off x="6172200" y="1778000"/>
            <a:ext cx="1397000" cy="889000"/>
          </a:xfrm>
          <a:prstGeom prst="rect">
            <a:avLst/>
          </a:prstGeom>
          <a:solidFill>
            <a:srgbClr val="E7EDF4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x3t"/>
          <p:cNvSpPr txBox="1"/>
          <p:nvPr/>
        </p:nvSpPr>
        <p:spPr>
          <a:xfrm>
            <a:off x="6172200" y="1778000"/>
            <a:ext cx="1397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5000"/>
              </a:lnSpc>
            </a:pPr>
            <a:r>
              <a:rPr lang="en-US" sz="1600" b="1" noProof="1">
                <a:solidFill>
                  <a:srgbClr val="0B2440"/>
                </a:solidFill>
                <a:latin typeface="MiSans"/>
                <a:ea typeface="MiSans"/>
              </a:rPr>
              <a:t>×3</a:t>
            </a:r>
            <a:endParaRPr lang="en-US" sz="1600" noProof="1"/>
          </a:p>
          <a:p>
            <a:pPr algn="ctr">
              <a:lnSpc>
                <a:spcPct val="135000"/>
              </a:lnSpc>
            </a:pPr>
            <a:r>
              <a:rPr lang="en-US" sz="1050" noProof="1">
                <a:solidFill>
                  <a:srgbClr val="6B7A8C"/>
                </a:solidFill>
                <a:latin typeface="MiSans"/>
                <a:ea typeface="MiSans"/>
              </a:rPr>
              <a:t>推理引擎</a:t>
            </a:r>
            <a:endParaRPr lang="en-US" sz="1600" noProof="1"/>
          </a:p>
        </p:txBody>
      </p:sp>
      <p:sp>
        <p:nvSpPr>
          <p:cNvPr id="16" name="x3c"/>
          <p:cNvSpPr txBox="1"/>
          <p:nvPr/>
        </p:nvSpPr>
        <p:spPr>
          <a:xfrm>
            <a:off x="6172200" y="2743200"/>
            <a:ext cx="1397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noProof="1">
                <a:solidFill>
                  <a:srgbClr val="6B7A8C"/>
                </a:solidFill>
                <a:latin typeface="MiSans"/>
                <a:ea typeface="MiSans"/>
              </a:rPr>
              <a:t>累计 ×105</a:t>
            </a:r>
            <a:endParaRPr lang="en-US" sz="1050" noProof="1"/>
          </a:p>
        </p:txBody>
      </p:sp>
      <p:sp>
        <p:nvSpPr>
          <p:cNvPr id="17" name="x4"/>
          <p:cNvSpPr/>
          <p:nvPr/>
        </p:nvSpPr>
        <p:spPr>
          <a:xfrm>
            <a:off x="7823200" y="1778000"/>
            <a:ext cx="1397000" cy="889000"/>
          </a:xfrm>
          <a:prstGeom prst="rect">
            <a:avLst/>
          </a:prstGeom>
          <a:solidFill>
            <a:srgbClr val="E7EDF4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x4t"/>
          <p:cNvSpPr txBox="1"/>
          <p:nvPr/>
        </p:nvSpPr>
        <p:spPr>
          <a:xfrm>
            <a:off x="7823200" y="1778000"/>
            <a:ext cx="1397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5000"/>
              </a:lnSpc>
            </a:pPr>
            <a:r>
              <a:rPr lang="en-US" sz="1600" b="1" noProof="1">
                <a:solidFill>
                  <a:srgbClr val="0B2440"/>
                </a:solidFill>
                <a:latin typeface="MiSans"/>
                <a:ea typeface="MiSans"/>
              </a:rPr>
              <a:t>×3</a:t>
            </a:r>
            <a:endParaRPr lang="en-US" sz="1600" noProof="1"/>
          </a:p>
          <a:p>
            <a:pPr algn="ctr">
              <a:lnSpc>
                <a:spcPct val="135000"/>
              </a:lnSpc>
            </a:pPr>
            <a:r>
              <a:rPr lang="en-US" sz="1050" noProof="1">
                <a:solidFill>
                  <a:srgbClr val="6B7A8C"/>
                </a:solidFill>
                <a:latin typeface="MiSans"/>
                <a:ea typeface="MiSans"/>
              </a:rPr>
              <a:t>生态价格战</a:t>
            </a:r>
            <a:endParaRPr lang="en-US" sz="1600" noProof="1"/>
          </a:p>
        </p:txBody>
      </p:sp>
      <p:sp>
        <p:nvSpPr>
          <p:cNvPr id="19" name="x4c"/>
          <p:cNvSpPr txBox="1"/>
          <p:nvPr/>
        </p:nvSpPr>
        <p:spPr>
          <a:xfrm>
            <a:off x="7823200" y="2743200"/>
            <a:ext cx="1397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noProof="1">
                <a:solidFill>
                  <a:srgbClr val="6B7A8C"/>
                </a:solidFill>
                <a:latin typeface="MiSans"/>
                <a:ea typeface="MiSans"/>
              </a:rPr>
              <a:t>累计 ×315</a:t>
            </a:r>
            <a:endParaRPr lang="en-US" sz="1050" noProof="1"/>
          </a:p>
        </p:txBody>
      </p:sp>
      <p:sp>
        <p:nvSpPr>
          <p:cNvPr id="20" name="endbox"/>
          <p:cNvSpPr/>
          <p:nvPr/>
        </p:nvSpPr>
        <p:spPr>
          <a:xfrm>
            <a:off x="9474200" y="1778000"/>
            <a:ext cx="2006600" cy="8890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endt"/>
          <p:cNvSpPr txBox="1"/>
          <p:nvPr/>
        </p:nvSpPr>
        <p:spPr>
          <a:xfrm>
            <a:off x="9474200" y="1778000"/>
            <a:ext cx="20066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100" noProof="1">
                <a:solidFill>
                  <a:srgbClr val="FFF3E4"/>
                </a:solidFill>
                <a:latin typeface="MiSans"/>
                <a:ea typeface="MiSans"/>
              </a:rPr>
              <a:t>2026 同能力折算</a:t>
            </a:r>
            <a:endParaRPr lang="en-US" sz="1600" noProof="1"/>
          </a:p>
          <a:p>
            <a:pPr algn="ctr">
              <a:lnSpc>
                <a:spcPct val="140000"/>
              </a:lnSpc>
            </a:pPr>
            <a:r>
              <a:rPr lang="en-US" sz="1700" b="1" noProof="1">
                <a:solidFill>
                  <a:srgbClr val="FFFFFF"/>
                </a:solidFill>
                <a:latin typeface="MiSans"/>
                <a:ea typeface="MiSans"/>
              </a:rPr>
              <a:t>≤ $0.6/M</a:t>
            </a:r>
            <a:endParaRPr lang="en-US" sz="1600" noProof="1"/>
          </a:p>
        </p:txBody>
      </p:sp>
      <p:sp>
        <p:nvSpPr>
          <p:cNvPr id="22" name="arr1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eyJpY29uTmFtZSI6ImZhczphbmdsZS1yaWdodCJ9</pptd:icon>
              </p:ext>
            </p:extLst>
          </p:nvPr>
        </p:nvSpPr>
        <p:spPr>
          <a:xfrm>
            <a:off x="2641600" y="2108200"/>
            <a:ext cx="177800" cy="22860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>
            <a:srgbClr val="6B7A8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arr2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eyJpY29uTmFtZSI6ImZhczphbmdsZS1yaWdodCJ9</pptd:icon>
              </p:ext>
            </p:extLst>
          </p:nvPr>
        </p:nvSpPr>
        <p:spPr>
          <a:xfrm>
            <a:off x="4292600" y="2108200"/>
            <a:ext cx="177800" cy="22860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>
            <a:srgbClr val="6B7A8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arr3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eyJpY29uTmFtZSI6ImZhczphbmdsZS1yaWdodCJ9</pptd:icon>
              </p:ext>
            </p:extLst>
          </p:nvPr>
        </p:nvSpPr>
        <p:spPr>
          <a:xfrm>
            <a:off x="5943600" y="2108200"/>
            <a:ext cx="177800" cy="22860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>
            <a:srgbClr val="6B7A8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arr4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eyJpY29uTmFtZSI6ImZhczphbmdsZS1yaWdodCJ9</pptd:icon>
              </p:ext>
            </p:extLst>
          </p:nvPr>
        </p:nvSpPr>
        <p:spPr>
          <a:xfrm>
            <a:off x="7594600" y="2108200"/>
            <a:ext cx="177800" cy="22860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>
            <a:srgbClr val="6B7A8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arr5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eyJpY29uTmFtZSI6ImZhczphbmdsZS1yaWdodCJ9</pptd:icon>
              </p:ext>
            </p:extLst>
          </p:nvPr>
        </p:nvSpPr>
        <p:spPr>
          <a:xfrm>
            <a:off x="9245600" y="2108200"/>
            <a:ext cx="177800" cy="22860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big"/>
          <p:cNvSpPr txBox="1"/>
          <p:nvPr/>
        </p:nvSpPr>
        <p:spPr>
          <a:xfrm>
            <a:off x="711200" y="3327400"/>
            <a:ext cx="10769600" cy="635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noProof="1">
                <a:solidFill>
                  <a:srgbClr val="0B2440"/>
                </a:solidFill>
                <a:latin typeface="MiSans"/>
                <a:ea typeface="MiSans"/>
              </a:rPr>
              <a:t>叠加是乘法，不是加法：约 10 × 3.5 × 3 × 3 ≈ </a:t>
            </a:r>
            <a:r>
              <a:rPr lang="en-US" sz="2600" b="1" noProof="1">
                <a:solidFill>
                  <a:srgbClr val="F07D0A"/>
                </a:solidFill>
                <a:latin typeface="MiSans"/>
                <a:ea typeface="MiSans"/>
              </a:rPr>
              <a:t>300×</a:t>
            </a:r>
            <a:endParaRPr lang="en-US" sz="1600" noProof="1"/>
          </a:p>
        </p:txBody>
      </p:sp>
      <p:sp>
        <p:nvSpPr>
          <p:cNvPr id="28" name="cave"/>
          <p:cNvSpPr txBox="1"/>
          <p:nvPr/>
        </p:nvSpPr>
        <p:spPr>
          <a:xfrm>
            <a:off x="1981200" y="4064000"/>
            <a:ext cx="82296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55000"/>
              </a:lnSpc>
            </a:pPr>
            <a:r>
              <a:rPr lang="en-US" sz="1250" noProof="1">
                <a:solidFill>
                  <a:srgbClr val="23303E"/>
                </a:solidFill>
                <a:latin typeface="MiSans"/>
                <a:ea typeface="MiSans"/>
              </a:rPr>
              <a:t>考虑各层之间的重叠，保守口径为 </a:t>
            </a:r>
            <a:r>
              <a:rPr lang="en-US" sz="1250" b="1" noProof="1">
                <a:solidFill>
                  <a:srgbClr val="F07D0A"/>
                </a:solidFill>
                <a:latin typeface="MiSans"/>
                <a:ea typeface="MiSans"/>
              </a:rPr>
              <a:t>“100 倍以上”</a:t>
            </a:r>
            <a:endParaRPr lang="en-US" sz="1250" noProof="1"/>
          </a:p>
          <a:p>
            <a:pPr algn="ctr">
              <a:lnSpc>
                <a:spcPct val="155000"/>
              </a:lnSpc>
            </a:pPr>
            <a:r>
              <a:rPr lang="en-US" sz="1250" noProof="1">
                <a:solidFill>
                  <a:srgbClr val="23303E"/>
                </a:solidFill>
                <a:latin typeface="MiSans"/>
                <a:ea typeface="MiSans"/>
              </a:rPr>
              <a:t>100 倍是“达到 GPT-4 水平”的折算价格差——按能力折算更保守，绝对价差更大</a:t>
            </a:r>
            <a:endParaRPr lang="en-US" sz="1250" noProof="1"/>
          </a:p>
        </p:txBody>
      </p:sp>
      <p:sp>
        <p:nvSpPr>
          <p:cNvPr id="29" name="q"/>
          <p:cNvSpPr/>
          <p:nvPr/>
        </p:nvSpPr>
        <p:spPr>
          <a:xfrm>
            <a:off x="3251200" y="5130800"/>
            <a:ext cx="5689600" cy="711200"/>
          </a:xfrm>
          <a:prstGeom prst="rect">
            <a:avLst/>
          </a:prstGeom>
          <a:solidFill>
            <a:srgbClr val="F3F6FA"/>
          </a:solidFill>
          <a:ln w="12700">
            <a:solidFill>
              <a:srgbClr val="D9E1E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qt"/>
          <p:cNvSpPr txBox="1"/>
          <p:nvPr/>
        </p:nvSpPr>
        <p:spPr>
          <a:xfrm>
            <a:off x="3505200" y="5130800"/>
            <a:ext cx="51816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45000"/>
              </a:lnSpc>
            </a:pPr>
            <a:r>
              <a:rPr lang="en-US" sz="1250" b="1" noProof="1">
                <a:solidFill>
                  <a:srgbClr val="F07D0A"/>
                </a:solidFill>
                <a:latin typeface="MiSans"/>
                <a:ea typeface="MiSans"/>
              </a:rPr>
              <a:t>回顾</a:t>
            </a:r>
            <a:r>
              <a:rPr lang="en-US" sz="1250" noProof="1">
                <a:solidFill>
                  <a:srgbClr val="0B2440"/>
                </a:solidFill>
                <a:latin typeface="MiSans"/>
                <a:ea typeface="MiSans"/>
              </a:rPr>
              <a:t>：四层杠杆的贡献各自是多少？</a:t>
            </a:r>
            <a:endParaRPr lang="en-US" sz="1250" noProof="1"/>
          </a:p>
          <a:p>
            <a:pPr algn="ctr">
              <a:lnSpc>
                <a:spcPct val="145000"/>
              </a:lnSpc>
            </a:pPr>
            <a:r>
              <a:rPr lang="en-US" sz="1100" noProof="1">
                <a:solidFill>
                  <a:srgbClr val="6B7A8C"/>
                </a:solidFill>
                <a:latin typeface="MiSans"/>
                <a:ea typeface="MiSans"/>
              </a:rPr>
              <a:t>架构 ×10 ｜ 硬件 ×3.5 ｜ 引擎 ×3 ｜ 生态 ×3</a:t>
            </a:r>
            <a:endParaRPr lang="en-US" sz="1250" noProof="1"/>
          </a:p>
        </p:txBody>
      </p:sp>
      <p:sp>
        <p:nvSpPr>
          <p:cNvPr id="31" name="fline"/>
          <p:cNvSpPr/>
          <p:nvPr/>
        </p:nvSpPr>
        <p:spPr>
          <a:xfrm>
            <a:off x="711200" y="6477000"/>
            <a:ext cx="107696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fl"/>
          <p:cNvSpPr txBox="1"/>
          <p:nvPr/>
        </p:nvSpPr>
        <p:spPr>
          <a:xfrm>
            <a:off x="711200" y="65532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B7A8C"/>
                </a:solidFill>
                <a:latin typeface="MiSans"/>
                <a:ea typeface="MiSans"/>
              </a:rPr>
              <a:t>Token Factory · AI 推理的成本革命</a:t>
            </a:r>
            <a:endParaRPr lang="en-US" sz="950" noProof="1"/>
          </a:p>
        </p:txBody>
      </p:sp>
      <p:sp>
        <p:nvSpPr>
          <p:cNvPr id="33" name="fr"/>
          <p:cNvSpPr txBox="1"/>
          <p:nvPr/>
        </p:nvSpPr>
        <p:spPr>
          <a:xfrm>
            <a:off x="10210800" y="65532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6B7A8C"/>
                </a:solidFill>
                <a:latin typeface="MiSans"/>
                <a:ea typeface="MiSans"/>
              </a:rPr>
              <a:t>35 / 40</a:t>
            </a:r>
            <a:endParaRPr lang="en-US" sz="950" noProof="1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"/>
          <p:cNvSpPr txBox="1"/>
          <p:nvPr/>
        </p:nvSpPr>
        <p:spPr>
          <a:xfrm>
            <a:off x="711200" y="3810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F07D0A"/>
                </a:solidFill>
                <a:latin typeface="MiSans"/>
                <a:ea typeface="MiSans"/>
              </a:rPr>
              <a:t>总结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350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600" b="1" noProof="1">
                <a:solidFill>
                  <a:srgbClr val="0B2440"/>
                </a:solidFill>
                <a:latin typeface="MiSans"/>
                <a:ea typeface="MiSans"/>
              </a:rPr>
              <a:t>三个关键认知</a:t>
            </a:r>
            <a:endParaRPr lang="en-US" sz="2600" noProof="1"/>
          </a:p>
        </p:txBody>
      </p:sp>
      <p:sp>
        <p:nvSpPr>
          <p:cNvPr id="4" name="rule"/>
          <p:cNvSpPr/>
          <p:nvPr/>
        </p:nvSpPr>
        <p:spPr>
          <a:xfrm>
            <a:off x="711200" y="1270000"/>
            <a:ext cx="107696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abar"/>
          <p:cNvSpPr/>
          <p:nvPr/>
        </p:nvSpPr>
        <p:spPr>
          <a:xfrm>
            <a:off x="711200" y="1244600"/>
            <a:ext cx="812800" cy="381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n1"/>
          <p:cNvSpPr txBox="1"/>
          <p:nvPr/>
        </p:nvSpPr>
        <p:spPr>
          <a:xfrm>
            <a:off x="711200" y="1727200"/>
            <a:ext cx="10160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400" b="1" noProof="1">
                <a:solidFill>
                  <a:srgbClr val="F07D0A"/>
                </a:solidFill>
                <a:latin typeface="MiSans"/>
                <a:ea typeface="MiSans"/>
              </a:rPr>
              <a:t>01</a:t>
            </a:r>
            <a:endParaRPr lang="en-US" sz="3400" noProof="1"/>
          </a:p>
        </p:txBody>
      </p:sp>
      <p:sp>
        <p:nvSpPr>
          <p:cNvPr id="7" name="t1"/>
          <p:cNvSpPr txBox="1"/>
          <p:nvPr/>
        </p:nvSpPr>
        <p:spPr>
          <a:xfrm>
            <a:off x="1905000" y="1701800"/>
            <a:ext cx="95758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700" b="1" noProof="1">
                <a:solidFill>
                  <a:srgbClr val="0B2440"/>
                </a:solidFill>
                <a:latin typeface="MiSans"/>
                <a:ea typeface="MiSans"/>
              </a:rPr>
              <a:t>AI 的成本革命是四层杠杆的叠加</a:t>
            </a:r>
            <a:endParaRPr lang="en-US" sz="1700" noProof="1"/>
          </a:p>
        </p:txBody>
      </p:sp>
      <p:sp>
        <p:nvSpPr>
          <p:cNvPr id="8" name="d1"/>
          <p:cNvSpPr txBox="1"/>
          <p:nvPr/>
        </p:nvSpPr>
        <p:spPr>
          <a:xfrm>
            <a:off x="1905000" y="2082800"/>
            <a:ext cx="95758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300" noProof="1">
                <a:solidFill>
                  <a:srgbClr val="23303E"/>
                </a:solidFill>
                <a:latin typeface="MiSans"/>
                <a:ea typeface="MiSans"/>
              </a:rPr>
              <a:t>不是某一个突破，而是架构、硬件、软件、生态的合力——是乘法，不是加法。</a:t>
            </a:r>
            <a:endParaRPr lang="en-US" sz="1300" noProof="1"/>
          </a:p>
        </p:txBody>
      </p:sp>
      <p:sp>
        <p:nvSpPr>
          <p:cNvPr id="9" name="l1"/>
          <p:cNvSpPr/>
          <p:nvPr/>
        </p:nvSpPr>
        <p:spPr>
          <a:xfrm>
            <a:off x="1905000" y="2819400"/>
            <a:ext cx="95758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n2"/>
          <p:cNvSpPr txBox="1"/>
          <p:nvPr/>
        </p:nvSpPr>
        <p:spPr>
          <a:xfrm>
            <a:off x="711200" y="3200400"/>
            <a:ext cx="10160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400" b="1" noProof="1">
                <a:solidFill>
                  <a:srgbClr val="F07D0A"/>
                </a:solidFill>
                <a:latin typeface="MiSans"/>
                <a:ea typeface="MiSans"/>
              </a:rPr>
              <a:t>02</a:t>
            </a:r>
            <a:endParaRPr lang="en-US" sz="3400" noProof="1"/>
          </a:p>
        </p:txBody>
      </p:sp>
      <p:sp>
        <p:nvSpPr>
          <p:cNvPr id="11" name="t2"/>
          <p:cNvSpPr txBox="1"/>
          <p:nvPr/>
        </p:nvSpPr>
        <p:spPr>
          <a:xfrm>
            <a:off x="1905000" y="3175000"/>
            <a:ext cx="95758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700" b="1" noProof="1">
                <a:solidFill>
                  <a:srgbClr val="0B2440"/>
                </a:solidFill>
                <a:latin typeface="MiSans"/>
                <a:ea typeface="MiSans"/>
              </a:rPr>
              <a:t>每 token 成本是 AI 经济的核心指标</a:t>
            </a:r>
            <a:endParaRPr lang="en-US" sz="1700" noProof="1"/>
          </a:p>
        </p:txBody>
      </p:sp>
      <p:sp>
        <p:nvSpPr>
          <p:cNvPr id="12" name="d2"/>
          <p:cNvSpPr txBox="1"/>
          <p:nvPr/>
        </p:nvSpPr>
        <p:spPr>
          <a:xfrm>
            <a:off x="1905000" y="3556000"/>
            <a:ext cx="95758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300" noProof="1">
                <a:solidFill>
                  <a:srgbClr val="23303E"/>
                </a:solidFill>
                <a:latin typeface="MiSans"/>
                <a:ea typeface="MiSans"/>
              </a:rPr>
              <a:t>它决定了什么应用形态跑得起来——AI 编程、1M 上下文、Agent，都是“便宜了才用得起”的产物。</a:t>
            </a:r>
            <a:endParaRPr lang="en-US" sz="1300" noProof="1"/>
          </a:p>
        </p:txBody>
      </p:sp>
      <p:sp>
        <p:nvSpPr>
          <p:cNvPr id="13" name="l2"/>
          <p:cNvSpPr/>
          <p:nvPr/>
        </p:nvSpPr>
        <p:spPr>
          <a:xfrm>
            <a:off x="1905000" y="4292600"/>
            <a:ext cx="95758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n3"/>
          <p:cNvSpPr txBox="1"/>
          <p:nvPr/>
        </p:nvSpPr>
        <p:spPr>
          <a:xfrm>
            <a:off x="711200" y="4673600"/>
            <a:ext cx="10160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400" b="1" noProof="1">
                <a:solidFill>
                  <a:srgbClr val="F07D0A"/>
                </a:solidFill>
                <a:latin typeface="MiSans"/>
                <a:ea typeface="MiSans"/>
              </a:rPr>
              <a:t>03</a:t>
            </a:r>
            <a:endParaRPr lang="en-US" sz="3400" noProof="1"/>
          </a:p>
        </p:txBody>
      </p:sp>
      <p:sp>
        <p:nvSpPr>
          <p:cNvPr id="15" name="t3"/>
          <p:cNvSpPr txBox="1"/>
          <p:nvPr/>
        </p:nvSpPr>
        <p:spPr>
          <a:xfrm>
            <a:off x="1905000" y="4648200"/>
            <a:ext cx="95758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700" b="1" noProof="1">
                <a:solidFill>
                  <a:srgbClr val="0B2440"/>
                </a:solidFill>
                <a:latin typeface="MiSans"/>
                <a:ea typeface="MiSans"/>
              </a:rPr>
              <a:t>成本下降还在继续</a:t>
            </a:r>
            <a:endParaRPr lang="en-US" sz="1700" noProof="1"/>
          </a:p>
        </p:txBody>
      </p:sp>
      <p:sp>
        <p:nvSpPr>
          <p:cNvPr id="16" name="d3"/>
          <p:cNvSpPr txBox="1"/>
          <p:nvPr/>
        </p:nvSpPr>
        <p:spPr>
          <a:xfrm>
            <a:off x="1905000" y="5029200"/>
            <a:ext cx="95758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300" noProof="1">
                <a:solidFill>
                  <a:srgbClr val="23303E"/>
                </a:solidFill>
                <a:latin typeface="MiSans"/>
                <a:ea typeface="MiSans"/>
              </a:rPr>
              <a:t>2026 → 2030，每 token 成本可能再降 10 倍——token 正在从“奢侈品”变成“水电”。</a:t>
            </a:r>
            <a:endParaRPr lang="en-US" sz="1300" noProof="1"/>
          </a:p>
        </p:txBody>
      </p:sp>
      <p:sp>
        <p:nvSpPr>
          <p:cNvPr id="17" name="fline"/>
          <p:cNvSpPr/>
          <p:nvPr/>
        </p:nvSpPr>
        <p:spPr>
          <a:xfrm>
            <a:off x="711200" y="6477000"/>
            <a:ext cx="107696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fl"/>
          <p:cNvSpPr txBox="1"/>
          <p:nvPr/>
        </p:nvSpPr>
        <p:spPr>
          <a:xfrm>
            <a:off x="711200" y="65532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B7A8C"/>
                </a:solidFill>
                <a:latin typeface="MiSans"/>
                <a:ea typeface="MiSans"/>
              </a:rPr>
              <a:t>Token Factory · AI 推理的成本革命</a:t>
            </a:r>
            <a:endParaRPr lang="en-US" sz="950" noProof="1"/>
          </a:p>
        </p:txBody>
      </p:sp>
      <p:sp>
        <p:nvSpPr>
          <p:cNvPr id="19" name="fr"/>
          <p:cNvSpPr txBox="1"/>
          <p:nvPr/>
        </p:nvSpPr>
        <p:spPr>
          <a:xfrm>
            <a:off x="10210800" y="65532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6B7A8C"/>
                </a:solidFill>
                <a:latin typeface="MiSans"/>
                <a:ea typeface="MiSans"/>
              </a:rPr>
              <a:t>36 / 40</a:t>
            </a:r>
            <a:endParaRPr lang="en-US" sz="950" noProof="1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"/>
          <p:cNvSpPr txBox="1"/>
          <p:nvPr/>
        </p:nvSpPr>
        <p:spPr>
          <a:xfrm>
            <a:off x="711200" y="3810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F07D0A"/>
                </a:solidFill>
                <a:latin typeface="MiSans"/>
                <a:ea typeface="MiSans"/>
              </a:rPr>
              <a:t>总结 · 延伸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350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600" b="1" noProof="1">
                <a:solidFill>
                  <a:srgbClr val="0B2440"/>
                </a:solidFill>
                <a:latin typeface="MiSans"/>
                <a:ea typeface="MiSans"/>
              </a:rPr>
              <a:t>想深入了解 token 工厂？</a:t>
            </a:r>
            <a:endParaRPr lang="en-US" sz="2600" noProof="1"/>
          </a:p>
        </p:txBody>
      </p:sp>
      <p:sp>
        <p:nvSpPr>
          <p:cNvPr id="4" name="rule"/>
          <p:cNvSpPr/>
          <p:nvPr/>
        </p:nvSpPr>
        <p:spPr>
          <a:xfrm>
            <a:off x="711200" y="1270000"/>
            <a:ext cx="107696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abar"/>
          <p:cNvSpPr/>
          <p:nvPr/>
        </p:nvSpPr>
        <p:spPr>
          <a:xfrm>
            <a:off x="711200" y="1244600"/>
            <a:ext cx="812800" cy="381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i1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eyJpY29uTmFtZSI6ImZhczpnZWFycyJ9</pptd:icon>
              </p:ext>
            </p:extLst>
          </p:nvPr>
        </p:nvSpPr>
        <p:spPr>
          <a:xfrm>
            <a:off x="711200" y="17526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416" y="211"/>
                </a:moveTo>
                <a:cubicBezTo>
                  <a:pt x="428" y="207"/>
                  <a:pt x="441" y="213"/>
                  <a:pt x="446" y="224"/>
                </a:cubicBezTo>
                <a:lnTo>
                  <a:pt x="465" y="262"/>
                </a:lnTo>
                <a:cubicBezTo>
                  <a:pt x="475" y="263"/>
                  <a:pt x="485" y="266"/>
                  <a:pt x="495" y="270"/>
                </a:cubicBezTo>
                <a:lnTo>
                  <a:pt x="530" y="247"/>
                </a:lnTo>
                <a:cubicBezTo>
                  <a:pt x="540" y="240"/>
                  <a:pt x="554" y="241"/>
                  <a:pt x="563" y="250"/>
                </a:cubicBezTo>
                <a:lnTo>
                  <a:pt x="582" y="269"/>
                </a:lnTo>
                <a:cubicBezTo>
                  <a:pt x="591" y="278"/>
                  <a:pt x="593" y="292"/>
                  <a:pt x="586" y="303"/>
                </a:cubicBezTo>
                <a:lnTo>
                  <a:pt x="562" y="337"/>
                </a:lnTo>
                <a:cubicBezTo>
                  <a:pt x="564" y="342"/>
                  <a:pt x="566" y="347"/>
                  <a:pt x="567" y="352"/>
                </a:cubicBezTo>
                <a:cubicBezTo>
                  <a:pt x="569" y="357"/>
                  <a:pt x="570" y="362"/>
                  <a:pt x="570" y="367"/>
                </a:cubicBezTo>
                <a:lnTo>
                  <a:pt x="608" y="386"/>
                </a:lnTo>
                <a:cubicBezTo>
                  <a:pt x="619" y="392"/>
                  <a:pt x="625" y="404"/>
                  <a:pt x="622" y="416"/>
                </a:cubicBezTo>
                <a:lnTo>
                  <a:pt x="615" y="443"/>
                </a:lnTo>
                <a:cubicBezTo>
                  <a:pt x="612" y="455"/>
                  <a:pt x="600" y="463"/>
                  <a:pt x="588" y="462"/>
                </a:cubicBezTo>
                <a:lnTo>
                  <a:pt x="546" y="459"/>
                </a:lnTo>
                <a:cubicBezTo>
                  <a:pt x="539" y="468"/>
                  <a:pt x="532" y="475"/>
                  <a:pt x="524" y="481"/>
                </a:cubicBezTo>
                <a:lnTo>
                  <a:pt x="527" y="523"/>
                </a:lnTo>
                <a:cubicBezTo>
                  <a:pt x="527" y="536"/>
                  <a:pt x="519" y="547"/>
                  <a:pt x="507" y="551"/>
                </a:cubicBezTo>
                <a:lnTo>
                  <a:pt x="481" y="558"/>
                </a:lnTo>
                <a:cubicBezTo>
                  <a:pt x="469" y="561"/>
                  <a:pt x="456" y="555"/>
                  <a:pt x="450" y="544"/>
                </a:cubicBezTo>
                <a:lnTo>
                  <a:pt x="432" y="506"/>
                </a:lnTo>
                <a:cubicBezTo>
                  <a:pt x="421" y="505"/>
                  <a:pt x="411" y="502"/>
                  <a:pt x="402" y="498"/>
                </a:cubicBezTo>
                <a:lnTo>
                  <a:pt x="367" y="521"/>
                </a:lnTo>
                <a:cubicBezTo>
                  <a:pt x="356" y="528"/>
                  <a:pt x="342" y="527"/>
                  <a:pt x="334" y="518"/>
                </a:cubicBezTo>
                <a:lnTo>
                  <a:pt x="314" y="499"/>
                </a:lnTo>
                <a:cubicBezTo>
                  <a:pt x="305" y="490"/>
                  <a:pt x="304" y="476"/>
                  <a:pt x="311" y="466"/>
                </a:cubicBezTo>
                <a:lnTo>
                  <a:pt x="334" y="431"/>
                </a:lnTo>
                <a:cubicBezTo>
                  <a:pt x="332" y="426"/>
                  <a:pt x="331" y="421"/>
                  <a:pt x="329" y="416"/>
                </a:cubicBezTo>
                <a:cubicBezTo>
                  <a:pt x="328" y="411"/>
                  <a:pt x="327" y="406"/>
                  <a:pt x="326" y="401"/>
                </a:cubicBezTo>
                <a:lnTo>
                  <a:pt x="289" y="382"/>
                </a:lnTo>
                <a:cubicBezTo>
                  <a:pt x="277" y="376"/>
                  <a:pt x="272" y="364"/>
                  <a:pt x="275" y="352"/>
                </a:cubicBezTo>
                <a:lnTo>
                  <a:pt x="282" y="325"/>
                </a:lnTo>
                <a:cubicBezTo>
                  <a:pt x="285" y="313"/>
                  <a:pt x="296" y="305"/>
                  <a:pt x="309" y="306"/>
                </a:cubicBezTo>
                <a:lnTo>
                  <a:pt x="351" y="309"/>
                </a:lnTo>
                <a:cubicBezTo>
                  <a:pt x="357" y="300"/>
                  <a:pt x="365" y="293"/>
                  <a:pt x="373" y="287"/>
                </a:cubicBezTo>
                <a:lnTo>
                  <a:pt x="370" y="245"/>
                </a:lnTo>
                <a:cubicBezTo>
                  <a:pt x="369" y="232"/>
                  <a:pt x="377" y="221"/>
                  <a:pt x="390" y="218"/>
                </a:cubicBezTo>
                <a:lnTo>
                  <a:pt x="416" y="211"/>
                </a:lnTo>
                <a:close/>
                <a:moveTo>
                  <a:pt x="448" y="340"/>
                </a:moveTo>
                <a:cubicBezTo>
                  <a:pt x="424" y="340"/>
                  <a:pt x="404" y="360"/>
                  <a:pt x="404" y="384"/>
                </a:cubicBezTo>
                <a:cubicBezTo>
                  <a:pt x="404" y="408"/>
                  <a:pt x="424" y="428"/>
                  <a:pt x="449" y="428"/>
                </a:cubicBezTo>
                <a:cubicBezTo>
                  <a:pt x="473" y="428"/>
                  <a:pt x="492" y="408"/>
                  <a:pt x="492" y="384"/>
                </a:cubicBezTo>
                <a:cubicBezTo>
                  <a:pt x="492" y="360"/>
                  <a:pt x="473" y="340"/>
                  <a:pt x="448" y="340"/>
                </a:cubicBezTo>
                <a:close/>
              </a:path>
              <a:path w="640" h="512">
                <a:moveTo>
                  <a:pt x="225" y="-45"/>
                </a:moveTo>
                <a:lnTo>
                  <a:pt x="251" y="-38"/>
                </a:lnTo>
                <a:cubicBezTo>
                  <a:pt x="263" y="-35"/>
                  <a:pt x="271" y="-24"/>
                  <a:pt x="271" y="-11"/>
                </a:cubicBezTo>
                <a:lnTo>
                  <a:pt x="268" y="30"/>
                </a:lnTo>
                <a:cubicBezTo>
                  <a:pt x="276" y="37"/>
                  <a:pt x="284" y="44"/>
                  <a:pt x="290" y="53"/>
                </a:cubicBezTo>
                <a:lnTo>
                  <a:pt x="332" y="50"/>
                </a:lnTo>
                <a:cubicBezTo>
                  <a:pt x="344" y="49"/>
                  <a:pt x="356" y="57"/>
                  <a:pt x="359" y="69"/>
                </a:cubicBezTo>
                <a:lnTo>
                  <a:pt x="366" y="96"/>
                </a:lnTo>
                <a:cubicBezTo>
                  <a:pt x="369" y="108"/>
                  <a:pt x="364" y="120"/>
                  <a:pt x="352" y="126"/>
                </a:cubicBezTo>
                <a:lnTo>
                  <a:pt x="315" y="145"/>
                </a:lnTo>
                <a:cubicBezTo>
                  <a:pt x="314" y="150"/>
                  <a:pt x="313" y="155"/>
                  <a:pt x="312" y="160"/>
                </a:cubicBezTo>
                <a:cubicBezTo>
                  <a:pt x="310" y="165"/>
                  <a:pt x="308" y="170"/>
                  <a:pt x="307" y="174"/>
                </a:cubicBezTo>
                <a:lnTo>
                  <a:pt x="330" y="209"/>
                </a:lnTo>
                <a:cubicBezTo>
                  <a:pt x="337" y="220"/>
                  <a:pt x="335" y="234"/>
                  <a:pt x="327" y="243"/>
                </a:cubicBezTo>
                <a:lnTo>
                  <a:pt x="307" y="262"/>
                </a:lnTo>
                <a:cubicBezTo>
                  <a:pt x="298" y="271"/>
                  <a:pt x="285" y="272"/>
                  <a:pt x="274" y="265"/>
                </a:cubicBezTo>
                <a:lnTo>
                  <a:pt x="239" y="242"/>
                </a:lnTo>
                <a:cubicBezTo>
                  <a:pt x="230" y="246"/>
                  <a:pt x="219" y="249"/>
                  <a:pt x="209" y="250"/>
                </a:cubicBezTo>
                <a:lnTo>
                  <a:pt x="191" y="288"/>
                </a:lnTo>
                <a:cubicBezTo>
                  <a:pt x="185" y="299"/>
                  <a:pt x="172" y="305"/>
                  <a:pt x="160" y="302"/>
                </a:cubicBezTo>
                <a:lnTo>
                  <a:pt x="134" y="295"/>
                </a:lnTo>
                <a:cubicBezTo>
                  <a:pt x="122" y="291"/>
                  <a:pt x="114" y="280"/>
                  <a:pt x="114" y="267"/>
                </a:cubicBezTo>
                <a:lnTo>
                  <a:pt x="117" y="225"/>
                </a:lnTo>
                <a:cubicBezTo>
                  <a:pt x="109" y="219"/>
                  <a:pt x="101" y="212"/>
                  <a:pt x="95" y="203"/>
                </a:cubicBezTo>
                <a:lnTo>
                  <a:pt x="53" y="206"/>
                </a:lnTo>
                <a:cubicBezTo>
                  <a:pt x="41" y="207"/>
                  <a:pt x="29" y="199"/>
                  <a:pt x="26" y="187"/>
                </a:cubicBezTo>
                <a:lnTo>
                  <a:pt x="19" y="160"/>
                </a:lnTo>
                <a:cubicBezTo>
                  <a:pt x="16" y="148"/>
                  <a:pt x="21" y="136"/>
                  <a:pt x="33" y="130"/>
                </a:cubicBezTo>
                <a:lnTo>
                  <a:pt x="70" y="111"/>
                </a:lnTo>
                <a:cubicBezTo>
                  <a:pt x="71" y="106"/>
                  <a:pt x="72" y="101"/>
                  <a:pt x="73" y="96"/>
                </a:cubicBezTo>
                <a:cubicBezTo>
                  <a:pt x="75" y="91"/>
                  <a:pt x="76" y="86"/>
                  <a:pt x="78" y="81"/>
                </a:cubicBezTo>
                <a:lnTo>
                  <a:pt x="55" y="47"/>
                </a:lnTo>
                <a:cubicBezTo>
                  <a:pt x="48" y="36"/>
                  <a:pt x="50" y="22"/>
                  <a:pt x="58" y="13"/>
                </a:cubicBezTo>
                <a:lnTo>
                  <a:pt x="78" y="-6"/>
                </a:lnTo>
                <a:cubicBezTo>
                  <a:pt x="87" y="-15"/>
                  <a:pt x="100" y="-16"/>
                  <a:pt x="111" y="-9"/>
                </a:cubicBezTo>
                <a:lnTo>
                  <a:pt x="146" y="14"/>
                </a:lnTo>
                <a:cubicBezTo>
                  <a:pt x="155" y="10"/>
                  <a:pt x="165" y="7"/>
                  <a:pt x="176" y="6"/>
                </a:cubicBezTo>
                <a:lnTo>
                  <a:pt x="194" y="-32"/>
                </a:lnTo>
                <a:cubicBezTo>
                  <a:pt x="200" y="-43"/>
                  <a:pt x="213" y="-49"/>
                  <a:pt x="225" y="-45"/>
                </a:cubicBezTo>
                <a:close/>
                <a:moveTo>
                  <a:pt x="192" y="84"/>
                </a:moveTo>
                <a:cubicBezTo>
                  <a:pt x="168" y="84"/>
                  <a:pt x="148" y="104"/>
                  <a:pt x="148" y="128"/>
                </a:cubicBezTo>
                <a:cubicBezTo>
                  <a:pt x="148" y="152"/>
                  <a:pt x="168" y="172"/>
                  <a:pt x="192" y="172"/>
                </a:cubicBezTo>
                <a:cubicBezTo>
                  <a:pt x="217" y="172"/>
                  <a:pt x="236" y="152"/>
                  <a:pt x="236" y="128"/>
                </a:cubicBezTo>
                <a:cubicBezTo>
                  <a:pt x="236" y="104"/>
                  <a:pt x="217" y="84"/>
                  <a:pt x="192" y="84"/>
                </a:cubicBezTo>
                <a:close/>
              </a:path>
            </a:pathLst>
          </a:cu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1"/>
          <p:cNvSpPr txBox="1"/>
          <p:nvPr/>
        </p:nvSpPr>
        <p:spPr>
          <a:xfrm>
            <a:off x="1193800" y="17272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50" b="1" noProof="1">
                <a:solidFill>
                  <a:srgbClr val="0B2440"/>
                </a:solidFill>
                <a:latin typeface="MiSans"/>
                <a:ea typeface="MiSans"/>
              </a:rPr>
              <a:t>推理引擎源码</a:t>
            </a:r>
            <a:endParaRPr lang="en-US" sz="1450" noProof="1"/>
          </a:p>
        </p:txBody>
      </p:sp>
      <p:sp>
        <p:nvSpPr>
          <p:cNvPr id="8" name="d1"/>
          <p:cNvSpPr txBox="1"/>
          <p:nvPr/>
        </p:nvSpPr>
        <p:spPr>
          <a:xfrm>
            <a:off x="4064000" y="1752600"/>
            <a:ext cx="74168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50" noProof="1">
                <a:solidFill>
                  <a:srgbClr val="23303E"/>
                </a:solidFill>
                <a:latin typeface="MiSans"/>
                <a:ea typeface="MiSans"/>
              </a:rPr>
              <a:t>vLLM ｜ SGLang（RadixAttention、DSpark）</a:t>
            </a:r>
            <a:endParaRPr lang="en-US" sz="1250" noProof="1"/>
          </a:p>
        </p:txBody>
      </p:sp>
      <p:sp>
        <p:nvSpPr>
          <p:cNvPr id="9" name="l1"/>
          <p:cNvSpPr/>
          <p:nvPr/>
        </p:nvSpPr>
        <p:spPr>
          <a:xfrm>
            <a:off x="711200" y="2235200"/>
            <a:ext cx="107696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i2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eyJpY29uTmFtZSI6ImZhczpicmFpbiJ9</pptd:icon>
              </p:ext>
            </p:extLst>
          </p:nvPr>
        </p:nvSpPr>
        <p:spPr>
          <a:xfrm>
            <a:off x="711200" y="24638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20" y="56"/>
                </a:moveTo>
                <a:cubicBezTo>
                  <a:pt x="120" y="25"/>
                  <a:pt x="145" y="0"/>
                  <a:pt x="176" y="0"/>
                </a:cubicBezTo>
                <a:lnTo>
                  <a:pt x="200" y="0"/>
                </a:lnTo>
                <a:cubicBezTo>
                  <a:pt x="218" y="0"/>
                  <a:pt x="232" y="14"/>
                  <a:pt x="232" y="32"/>
                </a:cubicBezTo>
                <a:lnTo>
                  <a:pt x="232" y="480"/>
                </a:lnTo>
                <a:cubicBezTo>
                  <a:pt x="232" y="498"/>
                  <a:pt x="218" y="512"/>
                  <a:pt x="200" y="512"/>
                </a:cubicBezTo>
                <a:lnTo>
                  <a:pt x="168" y="512"/>
                </a:lnTo>
                <a:cubicBezTo>
                  <a:pt x="138" y="512"/>
                  <a:pt x="113" y="492"/>
                  <a:pt x="106" y="464"/>
                </a:cubicBezTo>
                <a:cubicBezTo>
                  <a:pt x="105" y="464"/>
                  <a:pt x="105" y="464"/>
                  <a:pt x="104" y="464"/>
                </a:cubicBezTo>
                <a:cubicBezTo>
                  <a:pt x="60" y="464"/>
                  <a:pt x="24" y="428"/>
                  <a:pt x="24" y="384"/>
                </a:cubicBezTo>
                <a:cubicBezTo>
                  <a:pt x="24" y="366"/>
                  <a:pt x="30" y="349"/>
                  <a:pt x="40" y="336"/>
                </a:cubicBezTo>
                <a:cubicBezTo>
                  <a:pt x="21" y="321"/>
                  <a:pt x="8" y="298"/>
                  <a:pt x="8" y="272"/>
                </a:cubicBezTo>
                <a:cubicBezTo>
                  <a:pt x="8" y="241"/>
                  <a:pt x="26" y="214"/>
                  <a:pt x="51" y="201"/>
                </a:cubicBezTo>
                <a:cubicBezTo>
                  <a:pt x="44" y="189"/>
                  <a:pt x="40" y="175"/>
                  <a:pt x="40" y="160"/>
                </a:cubicBezTo>
                <a:cubicBezTo>
                  <a:pt x="40" y="116"/>
                  <a:pt x="76" y="80"/>
                  <a:pt x="120" y="80"/>
                </a:cubicBezTo>
                <a:lnTo>
                  <a:pt x="120" y="56"/>
                </a:lnTo>
                <a:close/>
                <a:moveTo>
                  <a:pt x="392" y="56"/>
                </a:moveTo>
                <a:lnTo>
                  <a:pt x="392" y="80"/>
                </a:lnTo>
                <a:cubicBezTo>
                  <a:pt x="436" y="80"/>
                  <a:pt x="472" y="116"/>
                  <a:pt x="472" y="160"/>
                </a:cubicBezTo>
                <a:cubicBezTo>
                  <a:pt x="472" y="175"/>
                  <a:pt x="468" y="189"/>
                  <a:pt x="461" y="201"/>
                </a:cubicBezTo>
                <a:cubicBezTo>
                  <a:pt x="487" y="214"/>
                  <a:pt x="504" y="241"/>
                  <a:pt x="504" y="272"/>
                </a:cubicBezTo>
                <a:cubicBezTo>
                  <a:pt x="504" y="298"/>
                  <a:pt x="491" y="321"/>
                  <a:pt x="472" y="336"/>
                </a:cubicBezTo>
                <a:cubicBezTo>
                  <a:pt x="482" y="349"/>
                  <a:pt x="488" y="366"/>
                  <a:pt x="488" y="384"/>
                </a:cubicBezTo>
                <a:cubicBezTo>
                  <a:pt x="488" y="428"/>
                  <a:pt x="452" y="464"/>
                  <a:pt x="408" y="464"/>
                </a:cubicBezTo>
                <a:cubicBezTo>
                  <a:pt x="407" y="464"/>
                  <a:pt x="407" y="464"/>
                  <a:pt x="406" y="464"/>
                </a:cubicBezTo>
                <a:cubicBezTo>
                  <a:pt x="399" y="492"/>
                  <a:pt x="374" y="512"/>
                  <a:pt x="344" y="512"/>
                </a:cubicBezTo>
                <a:lnTo>
                  <a:pt x="312" y="512"/>
                </a:lnTo>
                <a:cubicBezTo>
                  <a:pt x="294" y="512"/>
                  <a:pt x="280" y="498"/>
                  <a:pt x="280" y="480"/>
                </a:cubicBezTo>
                <a:lnTo>
                  <a:pt x="280" y="32"/>
                </a:lnTo>
                <a:cubicBezTo>
                  <a:pt x="280" y="14"/>
                  <a:pt x="294" y="0"/>
                  <a:pt x="312" y="0"/>
                </a:cubicBezTo>
                <a:lnTo>
                  <a:pt x="336" y="0"/>
                </a:lnTo>
                <a:cubicBezTo>
                  <a:pt x="367" y="0"/>
                  <a:pt x="392" y="25"/>
                  <a:pt x="392" y="56"/>
                </a:cubicBezTo>
                <a:close/>
              </a:path>
            </a:pathLst>
          </a:cu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2"/>
          <p:cNvSpPr txBox="1"/>
          <p:nvPr/>
        </p:nvSpPr>
        <p:spPr>
          <a:xfrm>
            <a:off x="1193800" y="24384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50" b="1" noProof="1">
                <a:solidFill>
                  <a:srgbClr val="0B2440"/>
                </a:solidFill>
                <a:latin typeface="MiSans"/>
                <a:ea typeface="MiSans"/>
              </a:rPr>
              <a:t>模型架构</a:t>
            </a:r>
            <a:endParaRPr lang="en-US" sz="1450" noProof="1"/>
          </a:p>
        </p:txBody>
      </p:sp>
      <p:sp>
        <p:nvSpPr>
          <p:cNvPr id="12" name="d2"/>
          <p:cNvSpPr txBox="1"/>
          <p:nvPr/>
        </p:nvSpPr>
        <p:spPr>
          <a:xfrm>
            <a:off x="4064000" y="2463800"/>
            <a:ext cx="74168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50" noProof="1">
                <a:solidFill>
                  <a:srgbClr val="23303E"/>
                </a:solidFill>
                <a:latin typeface="MiSans"/>
                <a:ea typeface="MiSans"/>
              </a:rPr>
              <a:t>DeepSeek V4（CSA / HCA）｜ Kimi K3（KDA）</a:t>
            </a:r>
            <a:endParaRPr lang="en-US" sz="1250" noProof="1"/>
          </a:p>
        </p:txBody>
      </p:sp>
      <p:sp>
        <p:nvSpPr>
          <p:cNvPr id="13" name="l2"/>
          <p:cNvSpPr/>
          <p:nvPr/>
        </p:nvSpPr>
        <p:spPr>
          <a:xfrm>
            <a:off x="711200" y="2946400"/>
            <a:ext cx="107696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i3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eyJpY29uTmFtZSI6ImZhczptaWNyb2NoaXAifQ</pptd:icon>
              </p:ext>
            </p:extLst>
          </p:nvPr>
        </p:nvSpPr>
        <p:spPr>
          <a:xfrm>
            <a:off x="711200" y="31750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76" y="24"/>
                </a:moveTo>
                <a:cubicBezTo>
                  <a:pt x="176" y="11"/>
                  <a:pt x="165" y="0"/>
                  <a:pt x="152" y="0"/>
                </a:cubicBezTo>
                <a:cubicBezTo>
                  <a:pt x="139" y="0"/>
                  <a:pt x="128" y="11"/>
                  <a:pt x="128" y="24"/>
                </a:cubicBezTo>
                <a:lnTo>
                  <a:pt x="128" y="64"/>
                </a:lnTo>
                <a:cubicBezTo>
                  <a:pt x="93" y="64"/>
                  <a:pt x="64" y="93"/>
                  <a:pt x="64" y="128"/>
                </a:cubicBezTo>
                <a:lnTo>
                  <a:pt x="24" y="128"/>
                </a:lnTo>
                <a:cubicBezTo>
                  <a:pt x="11" y="128"/>
                  <a:pt x="0" y="139"/>
                  <a:pt x="0" y="152"/>
                </a:cubicBezTo>
                <a:cubicBezTo>
                  <a:pt x="0" y="165"/>
                  <a:pt x="11" y="176"/>
                  <a:pt x="24" y="176"/>
                </a:cubicBezTo>
                <a:lnTo>
                  <a:pt x="64" y="176"/>
                </a:lnTo>
                <a:lnTo>
                  <a:pt x="64" y="232"/>
                </a:lnTo>
                <a:lnTo>
                  <a:pt x="24" y="232"/>
                </a:lnTo>
                <a:cubicBezTo>
                  <a:pt x="11" y="232"/>
                  <a:pt x="0" y="243"/>
                  <a:pt x="0" y="256"/>
                </a:cubicBezTo>
                <a:cubicBezTo>
                  <a:pt x="0" y="269"/>
                  <a:pt x="11" y="280"/>
                  <a:pt x="24" y="280"/>
                </a:cubicBezTo>
                <a:lnTo>
                  <a:pt x="64" y="280"/>
                </a:lnTo>
                <a:lnTo>
                  <a:pt x="64" y="336"/>
                </a:lnTo>
                <a:lnTo>
                  <a:pt x="24" y="336"/>
                </a:lnTo>
                <a:cubicBezTo>
                  <a:pt x="11" y="336"/>
                  <a:pt x="0" y="347"/>
                  <a:pt x="0" y="360"/>
                </a:cubicBezTo>
                <a:cubicBezTo>
                  <a:pt x="0" y="373"/>
                  <a:pt x="11" y="384"/>
                  <a:pt x="24" y="384"/>
                </a:cubicBezTo>
                <a:lnTo>
                  <a:pt x="64" y="384"/>
                </a:lnTo>
                <a:cubicBezTo>
                  <a:pt x="64" y="419"/>
                  <a:pt x="93" y="448"/>
                  <a:pt x="128" y="448"/>
                </a:cubicBezTo>
                <a:lnTo>
                  <a:pt x="128" y="488"/>
                </a:lnTo>
                <a:cubicBezTo>
                  <a:pt x="128" y="501"/>
                  <a:pt x="139" y="512"/>
                  <a:pt x="152" y="512"/>
                </a:cubicBezTo>
                <a:cubicBezTo>
                  <a:pt x="165" y="512"/>
                  <a:pt x="176" y="501"/>
                  <a:pt x="176" y="488"/>
                </a:cubicBezTo>
                <a:lnTo>
                  <a:pt x="176" y="448"/>
                </a:lnTo>
                <a:lnTo>
                  <a:pt x="232" y="448"/>
                </a:lnTo>
                <a:lnTo>
                  <a:pt x="232" y="488"/>
                </a:lnTo>
                <a:cubicBezTo>
                  <a:pt x="232" y="501"/>
                  <a:pt x="243" y="512"/>
                  <a:pt x="256" y="512"/>
                </a:cubicBezTo>
                <a:cubicBezTo>
                  <a:pt x="269" y="512"/>
                  <a:pt x="280" y="501"/>
                  <a:pt x="280" y="488"/>
                </a:cubicBezTo>
                <a:lnTo>
                  <a:pt x="280" y="448"/>
                </a:lnTo>
                <a:lnTo>
                  <a:pt x="336" y="448"/>
                </a:lnTo>
                <a:lnTo>
                  <a:pt x="336" y="488"/>
                </a:lnTo>
                <a:cubicBezTo>
                  <a:pt x="336" y="501"/>
                  <a:pt x="347" y="512"/>
                  <a:pt x="360" y="512"/>
                </a:cubicBezTo>
                <a:cubicBezTo>
                  <a:pt x="373" y="512"/>
                  <a:pt x="384" y="501"/>
                  <a:pt x="384" y="488"/>
                </a:cubicBezTo>
                <a:lnTo>
                  <a:pt x="384" y="448"/>
                </a:lnTo>
                <a:cubicBezTo>
                  <a:pt x="419" y="448"/>
                  <a:pt x="448" y="419"/>
                  <a:pt x="448" y="384"/>
                </a:cubicBezTo>
                <a:lnTo>
                  <a:pt x="488" y="384"/>
                </a:lnTo>
                <a:cubicBezTo>
                  <a:pt x="501" y="384"/>
                  <a:pt x="512" y="373"/>
                  <a:pt x="512" y="360"/>
                </a:cubicBezTo>
                <a:cubicBezTo>
                  <a:pt x="512" y="347"/>
                  <a:pt x="501" y="336"/>
                  <a:pt x="488" y="336"/>
                </a:cubicBezTo>
                <a:lnTo>
                  <a:pt x="448" y="336"/>
                </a:lnTo>
                <a:lnTo>
                  <a:pt x="448" y="280"/>
                </a:lnTo>
                <a:lnTo>
                  <a:pt x="488" y="280"/>
                </a:lnTo>
                <a:cubicBezTo>
                  <a:pt x="501" y="280"/>
                  <a:pt x="512" y="269"/>
                  <a:pt x="512" y="256"/>
                </a:cubicBezTo>
                <a:cubicBezTo>
                  <a:pt x="512" y="243"/>
                  <a:pt x="501" y="232"/>
                  <a:pt x="488" y="232"/>
                </a:cubicBezTo>
                <a:lnTo>
                  <a:pt x="448" y="232"/>
                </a:lnTo>
                <a:lnTo>
                  <a:pt x="448" y="176"/>
                </a:lnTo>
                <a:lnTo>
                  <a:pt x="488" y="176"/>
                </a:lnTo>
                <a:cubicBezTo>
                  <a:pt x="501" y="176"/>
                  <a:pt x="512" y="165"/>
                  <a:pt x="512" y="152"/>
                </a:cubicBezTo>
                <a:cubicBezTo>
                  <a:pt x="512" y="139"/>
                  <a:pt x="501" y="128"/>
                  <a:pt x="488" y="128"/>
                </a:cubicBezTo>
                <a:lnTo>
                  <a:pt x="448" y="128"/>
                </a:lnTo>
                <a:cubicBezTo>
                  <a:pt x="448" y="93"/>
                  <a:pt x="419" y="64"/>
                  <a:pt x="384" y="64"/>
                </a:cubicBezTo>
                <a:lnTo>
                  <a:pt x="384" y="24"/>
                </a:lnTo>
                <a:cubicBezTo>
                  <a:pt x="384" y="11"/>
                  <a:pt x="373" y="0"/>
                  <a:pt x="360" y="0"/>
                </a:cubicBezTo>
                <a:cubicBezTo>
                  <a:pt x="347" y="0"/>
                  <a:pt x="336" y="11"/>
                  <a:pt x="336" y="24"/>
                </a:cubicBezTo>
                <a:lnTo>
                  <a:pt x="336" y="64"/>
                </a:lnTo>
                <a:lnTo>
                  <a:pt x="280" y="64"/>
                </a:lnTo>
                <a:lnTo>
                  <a:pt x="280" y="24"/>
                </a:lnTo>
                <a:cubicBezTo>
                  <a:pt x="280" y="11"/>
                  <a:pt x="269" y="0"/>
                  <a:pt x="256" y="0"/>
                </a:cubicBezTo>
                <a:cubicBezTo>
                  <a:pt x="243" y="0"/>
                  <a:pt x="232" y="11"/>
                  <a:pt x="232" y="24"/>
                </a:cubicBezTo>
                <a:lnTo>
                  <a:pt x="232" y="64"/>
                </a:lnTo>
                <a:lnTo>
                  <a:pt x="176" y="64"/>
                </a:lnTo>
                <a:lnTo>
                  <a:pt x="176" y="24"/>
                </a:lnTo>
                <a:close/>
                <a:moveTo>
                  <a:pt x="160" y="128"/>
                </a:moveTo>
                <a:lnTo>
                  <a:pt x="352" y="128"/>
                </a:lnTo>
                <a:cubicBezTo>
                  <a:pt x="370" y="128"/>
                  <a:pt x="384" y="142"/>
                  <a:pt x="384" y="160"/>
                </a:cubicBezTo>
                <a:lnTo>
                  <a:pt x="384" y="352"/>
                </a:lnTo>
                <a:cubicBezTo>
                  <a:pt x="384" y="370"/>
                  <a:pt x="370" y="384"/>
                  <a:pt x="352" y="384"/>
                </a:cubicBezTo>
                <a:lnTo>
                  <a:pt x="160" y="384"/>
                </a:lnTo>
                <a:cubicBezTo>
                  <a:pt x="142" y="384"/>
                  <a:pt x="128" y="370"/>
                  <a:pt x="128" y="352"/>
                </a:cubicBezTo>
                <a:lnTo>
                  <a:pt x="128" y="160"/>
                </a:lnTo>
                <a:cubicBezTo>
                  <a:pt x="128" y="142"/>
                  <a:pt x="142" y="128"/>
                  <a:pt x="160" y="128"/>
                </a:cubicBezTo>
                <a:close/>
              </a:path>
              <a:path w="512" h="512">
                <a:moveTo>
                  <a:pt x="176" y="176"/>
                </a:moveTo>
                <a:lnTo>
                  <a:pt x="176" y="336"/>
                </a:lnTo>
                <a:lnTo>
                  <a:pt x="336" y="336"/>
                </a:lnTo>
                <a:lnTo>
                  <a:pt x="336" y="176"/>
                </a:lnTo>
                <a:lnTo>
                  <a:pt x="176" y="176"/>
                </a:lnTo>
                <a:close/>
              </a:path>
            </a:pathLst>
          </a:cu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3"/>
          <p:cNvSpPr txBox="1"/>
          <p:nvPr/>
        </p:nvSpPr>
        <p:spPr>
          <a:xfrm>
            <a:off x="1193800" y="31496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50" b="1" noProof="1">
                <a:solidFill>
                  <a:srgbClr val="0B2440"/>
                </a:solidFill>
                <a:latin typeface="MiSans"/>
                <a:ea typeface="MiSans"/>
              </a:rPr>
              <a:t>硬件</a:t>
            </a:r>
            <a:endParaRPr lang="en-US" sz="1450" noProof="1"/>
          </a:p>
        </p:txBody>
      </p:sp>
      <p:sp>
        <p:nvSpPr>
          <p:cNvPr id="16" name="d3"/>
          <p:cNvSpPr txBox="1"/>
          <p:nvPr/>
        </p:nvSpPr>
        <p:spPr>
          <a:xfrm>
            <a:off x="4064000" y="3175000"/>
            <a:ext cx="74168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50" noProof="1">
                <a:solidFill>
                  <a:srgbClr val="23303E"/>
                </a:solidFill>
                <a:latin typeface="MiSans"/>
                <a:ea typeface="MiSans"/>
              </a:rPr>
              <a:t>Blackwell 白皮书 ｜ CUDA 编程</a:t>
            </a:r>
            <a:endParaRPr lang="en-US" sz="1250" noProof="1"/>
          </a:p>
        </p:txBody>
      </p:sp>
      <p:sp>
        <p:nvSpPr>
          <p:cNvPr id="17" name="l3"/>
          <p:cNvSpPr/>
          <p:nvPr/>
        </p:nvSpPr>
        <p:spPr>
          <a:xfrm>
            <a:off x="711200" y="3657600"/>
            <a:ext cx="107696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i4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eyJpY29uTmFtZSI6ImZhczpzZXJ2ZXIifQ</pptd:icon>
              </p:ext>
            </p:extLst>
          </p:nvPr>
        </p:nvSpPr>
        <p:spPr>
          <a:xfrm>
            <a:off x="711200" y="38862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160"/>
                </a:lnTo>
                <a:cubicBezTo>
                  <a:pt x="0" y="195"/>
                  <a:pt x="29" y="224"/>
                  <a:pt x="64" y="224"/>
                </a:cubicBezTo>
                <a:lnTo>
                  <a:pt x="384" y="224"/>
                </a:lnTo>
                <a:cubicBezTo>
                  <a:pt x="419" y="224"/>
                  <a:pt x="448" y="195"/>
                  <a:pt x="448" y="160"/>
                </a:cubicBezTo>
                <a:lnTo>
                  <a:pt x="448" y="96"/>
                </a:lnTo>
                <a:cubicBezTo>
                  <a:pt x="448" y="61"/>
                  <a:pt x="419" y="32"/>
                  <a:pt x="384" y="32"/>
                </a:cubicBezTo>
                <a:lnTo>
                  <a:pt x="64" y="32"/>
                </a:lnTo>
                <a:close/>
                <a:moveTo>
                  <a:pt x="280" y="104"/>
                </a:moveTo>
                <a:cubicBezTo>
                  <a:pt x="293" y="104"/>
                  <a:pt x="304" y="115"/>
                  <a:pt x="304" y="128"/>
                </a:cubicBezTo>
                <a:cubicBezTo>
                  <a:pt x="304" y="141"/>
                  <a:pt x="293" y="152"/>
                  <a:pt x="280" y="152"/>
                </a:cubicBezTo>
                <a:cubicBezTo>
                  <a:pt x="267" y="152"/>
                  <a:pt x="256" y="141"/>
                  <a:pt x="256" y="128"/>
                </a:cubicBezTo>
                <a:cubicBezTo>
                  <a:pt x="256" y="115"/>
                  <a:pt x="267" y="104"/>
                  <a:pt x="280" y="104"/>
                </a:cubicBezTo>
                <a:close/>
                <a:moveTo>
                  <a:pt x="336" y="128"/>
                </a:moveTo>
                <a:cubicBezTo>
                  <a:pt x="336" y="115"/>
                  <a:pt x="347" y="104"/>
                  <a:pt x="360" y="104"/>
                </a:cubicBezTo>
                <a:cubicBezTo>
                  <a:pt x="373" y="104"/>
                  <a:pt x="384" y="115"/>
                  <a:pt x="384" y="128"/>
                </a:cubicBezTo>
                <a:cubicBezTo>
                  <a:pt x="384" y="141"/>
                  <a:pt x="373" y="152"/>
                  <a:pt x="360" y="152"/>
                </a:cubicBezTo>
                <a:cubicBezTo>
                  <a:pt x="347" y="152"/>
                  <a:pt x="336" y="141"/>
                  <a:pt x="336" y="128"/>
                </a:cubicBezTo>
                <a:close/>
              </a:path>
              <a:path w="448" h="512">
                <a:moveTo>
                  <a:pt x="64" y="288"/>
                </a:moveTo>
                <a:cubicBezTo>
                  <a:pt x="29" y="288"/>
                  <a:pt x="0" y="317"/>
                  <a:pt x="0" y="352"/>
                </a:cubicBezTo>
                <a:lnTo>
                  <a:pt x="0" y="416"/>
                </a:lnTo>
                <a:cubicBezTo>
                  <a:pt x="0" y="451"/>
                  <a:pt x="29" y="480"/>
                  <a:pt x="64" y="480"/>
                </a:cubicBezTo>
                <a:lnTo>
                  <a:pt x="384" y="480"/>
                </a:lnTo>
                <a:cubicBezTo>
                  <a:pt x="419" y="480"/>
                  <a:pt x="448" y="451"/>
                  <a:pt x="448" y="416"/>
                </a:cubicBezTo>
                <a:lnTo>
                  <a:pt x="448" y="352"/>
                </a:lnTo>
                <a:cubicBezTo>
                  <a:pt x="448" y="317"/>
                  <a:pt x="419" y="288"/>
                  <a:pt x="384" y="288"/>
                </a:cubicBezTo>
                <a:lnTo>
                  <a:pt x="64" y="288"/>
                </a:lnTo>
                <a:close/>
                <a:moveTo>
                  <a:pt x="280" y="360"/>
                </a:moveTo>
                <a:cubicBezTo>
                  <a:pt x="293" y="360"/>
                  <a:pt x="304" y="371"/>
                  <a:pt x="304" y="384"/>
                </a:cubicBezTo>
                <a:cubicBezTo>
                  <a:pt x="304" y="397"/>
                  <a:pt x="293" y="408"/>
                  <a:pt x="280" y="408"/>
                </a:cubicBezTo>
                <a:cubicBezTo>
                  <a:pt x="267" y="408"/>
                  <a:pt x="256" y="397"/>
                  <a:pt x="256" y="384"/>
                </a:cubicBezTo>
                <a:cubicBezTo>
                  <a:pt x="256" y="371"/>
                  <a:pt x="267" y="360"/>
                  <a:pt x="280" y="360"/>
                </a:cubicBezTo>
                <a:close/>
                <a:moveTo>
                  <a:pt x="336" y="384"/>
                </a:moveTo>
                <a:cubicBezTo>
                  <a:pt x="336" y="371"/>
                  <a:pt x="347" y="360"/>
                  <a:pt x="360" y="360"/>
                </a:cubicBezTo>
                <a:cubicBezTo>
                  <a:pt x="373" y="360"/>
                  <a:pt x="384" y="371"/>
                  <a:pt x="384" y="384"/>
                </a:cubicBezTo>
                <a:cubicBezTo>
                  <a:pt x="384" y="397"/>
                  <a:pt x="373" y="408"/>
                  <a:pt x="360" y="408"/>
                </a:cubicBezTo>
                <a:cubicBezTo>
                  <a:pt x="347" y="408"/>
                  <a:pt x="336" y="397"/>
                  <a:pt x="336" y="384"/>
                </a:cubicBezTo>
                <a:close/>
              </a:path>
            </a:pathLst>
          </a:cu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4"/>
          <p:cNvSpPr txBox="1"/>
          <p:nvPr/>
        </p:nvSpPr>
        <p:spPr>
          <a:xfrm>
            <a:off x="1193800" y="38608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50" b="1" noProof="1">
                <a:solidFill>
                  <a:srgbClr val="0B2440"/>
                </a:solidFill>
                <a:latin typeface="MiSans"/>
                <a:ea typeface="MiSans"/>
              </a:rPr>
              <a:t>基础设施</a:t>
            </a:r>
            <a:endParaRPr lang="en-US" sz="1450" noProof="1"/>
          </a:p>
        </p:txBody>
      </p:sp>
      <p:sp>
        <p:nvSpPr>
          <p:cNvPr id="20" name="d4"/>
          <p:cNvSpPr txBox="1"/>
          <p:nvPr/>
        </p:nvSpPr>
        <p:spPr>
          <a:xfrm>
            <a:off x="4064000" y="3886200"/>
            <a:ext cx="74168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50" noProof="1">
                <a:solidFill>
                  <a:srgbClr val="23303E"/>
                </a:solidFill>
                <a:latin typeface="MiSans"/>
                <a:ea typeface="MiSans"/>
              </a:rPr>
              <a:t>Kubernetes + GPU Operator ｜ AIBrix</a:t>
            </a:r>
            <a:endParaRPr lang="en-US" sz="1250" noProof="1"/>
          </a:p>
        </p:txBody>
      </p:sp>
      <p:sp>
        <p:nvSpPr>
          <p:cNvPr id="21" name="l4"/>
          <p:cNvSpPr/>
          <p:nvPr/>
        </p:nvSpPr>
        <p:spPr>
          <a:xfrm>
            <a:off x="711200" y="4368800"/>
            <a:ext cx="107696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i5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eyJpY29uTmFtZSI6ImZhYjpnaXRodWIifQ</pptd:icon>
              </p:ext>
            </p:extLst>
          </p:nvPr>
        </p:nvSpPr>
        <p:spPr>
          <a:xfrm>
            <a:off x="711200" y="45974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74" y="397"/>
                </a:moveTo>
                <a:cubicBezTo>
                  <a:pt x="174" y="399"/>
                  <a:pt x="172" y="401"/>
                  <a:pt x="169" y="401"/>
                </a:cubicBezTo>
                <a:cubicBezTo>
                  <a:pt x="165" y="401"/>
                  <a:pt x="163" y="400"/>
                  <a:pt x="163" y="397"/>
                </a:cubicBezTo>
                <a:cubicBezTo>
                  <a:pt x="163" y="395"/>
                  <a:pt x="165" y="394"/>
                  <a:pt x="168" y="394"/>
                </a:cubicBezTo>
                <a:cubicBezTo>
                  <a:pt x="171" y="393"/>
                  <a:pt x="174" y="395"/>
                  <a:pt x="174" y="397"/>
                </a:cubicBezTo>
                <a:close/>
              </a:path>
              <a:path w="512" h="512">
                <a:moveTo>
                  <a:pt x="143" y="393"/>
                </a:moveTo>
                <a:cubicBezTo>
                  <a:pt x="142" y="395"/>
                  <a:pt x="144" y="397"/>
                  <a:pt x="147" y="398"/>
                </a:cubicBezTo>
                <a:cubicBezTo>
                  <a:pt x="150" y="399"/>
                  <a:pt x="153" y="398"/>
                  <a:pt x="153" y="396"/>
                </a:cubicBezTo>
                <a:cubicBezTo>
                  <a:pt x="154" y="394"/>
                  <a:pt x="152" y="391"/>
                  <a:pt x="149" y="391"/>
                </a:cubicBezTo>
                <a:cubicBezTo>
                  <a:pt x="146" y="390"/>
                  <a:pt x="144" y="391"/>
                  <a:pt x="143" y="393"/>
                </a:cubicBezTo>
                <a:close/>
              </a:path>
              <a:path w="512" h="512">
                <a:moveTo>
                  <a:pt x="187" y="391"/>
                </a:moveTo>
                <a:cubicBezTo>
                  <a:pt x="184" y="392"/>
                  <a:pt x="182" y="394"/>
                  <a:pt x="182" y="396"/>
                </a:cubicBezTo>
                <a:cubicBezTo>
                  <a:pt x="183" y="398"/>
                  <a:pt x="185" y="399"/>
                  <a:pt x="188" y="399"/>
                </a:cubicBezTo>
                <a:cubicBezTo>
                  <a:pt x="191" y="398"/>
                  <a:pt x="193" y="396"/>
                  <a:pt x="193" y="394"/>
                </a:cubicBezTo>
                <a:cubicBezTo>
                  <a:pt x="193" y="392"/>
                  <a:pt x="190" y="391"/>
                  <a:pt x="187" y="391"/>
                </a:cubicBezTo>
                <a:close/>
              </a:path>
              <a:path w="512" h="512">
                <a:moveTo>
                  <a:pt x="253" y="8"/>
                </a:moveTo>
                <a:cubicBezTo>
                  <a:pt x="114" y="8"/>
                  <a:pt x="8" y="113"/>
                  <a:pt x="8" y="252"/>
                </a:cubicBezTo>
                <a:cubicBezTo>
                  <a:pt x="8" y="363"/>
                  <a:pt x="78" y="458"/>
                  <a:pt x="178" y="491"/>
                </a:cubicBezTo>
                <a:cubicBezTo>
                  <a:pt x="190" y="494"/>
                  <a:pt x="195" y="486"/>
                  <a:pt x="195" y="479"/>
                </a:cubicBezTo>
                <a:cubicBezTo>
                  <a:pt x="195" y="473"/>
                  <a:pt x="195" y="439"/>
                  <a:pt x="195" y="418"/>
                </a:cubicBezTo>
                <a:cubicBezTo>
                  <a:pt x="195" y="418"/>
                  <a:pt x="125" y="433"/>
                  <a:pt x="110" y="388"/>
                </a:cubicBezTo>
                <a:cubicBezTo>
                  <a:pt x="110" y="388"/>
                  <a:pt x="98" y="359"/>
                  <a:pt x="82" y="351"/>
                </a:cubicBezTo>
                <a:cubicBezTo>
                  <a:pt x="82" y="351"/>
                  <a:pt x="59" y="336"/>
                  <a:pt x="84" y="336"/>
                </a:cubicBezTo>
                <a:cubicBezTo>
                  <a:pt x="84" y="336"/>
                  <a:pt x="109" y="338"/>
                  <a:pt x="122" y="362"/>
                </a:cubicBezTo>
                <a:cubicBezTo>
                  <a:pt x="144" y="400"/>
                  <a:pt x="181" y="389"/>
                  <a:pt x="195" y="383"/>
                </a:cubicBezTo>
                <a:cubicBezTo>
                  <a:pt x="197" y="367"/>
                  <a:pt x="204" y="355"/>
                  <a:pt x="211" y="349"/>
                </a:cubicBezTo>
                <a:cubicBezTo>
                  <a:pt x="155" y="343"/>
                  <a:pt x="99" y="335"/>
                  <a:pt x="99" y="238"/>
                </a:cubicBezTo>
                <a:cubicBezTo>
                  <a:pt x="99" y="211"/>
                  <a:pt x="106" y="197"/>
                  <a:pt x="122" y="179"/>
                </a:cubicBezTo>
                <a:cubicBezTo>
                  <a:pt x="120" y="173"/>
                  <a:pt x="111" y="146"/>
                  <a:pt x="125" y="112"/>
                </a:cubicBezTo>
                <a:cubicBezTo>
                  <a:pt x="146" y="105"/>
                  <a:pt x="194" y="139"/>
                  <a:pt x="194" y="139"/>
                </a:cubicBezTo>
                <a:cubicBezTo>
                  <a:pt x="214" y="133"/>
                  <a:pt x="236" y="130"/>
                  <a:pt x="257" y="130"/>
                </a:cubicBezTo>
                <a:cubicBezTo>
                  <a:pt x="278" y="130"/>
                  <a:pt x="300" y="133"/>
                  <a:pt x="320" y="139"/>
                </a:cubicBezTo>
                <a:cubicBezTo>
                  <a:pt x="320" y="139"/>
                  <a:pt x="368" y="105"/>
                  <a:pt x="389" y="112"/>
                </a:cubicBezTo>
                <a:cubicBezTo>
                  <a:pt x="402" y="146"/>
                  <a:pt x="394" y="173"/>
                  <a:pt x="391" y="179"/>
                </a:cubicBezTo>
                <a:cubicBezTo>
                  <a:pt x="407" y="197"/>
                  <a:pt x="417" y="211"/>
                  <a:pt x="417" y="238"/>
                </a:cubicBezTo>
                <a:cubicBezTo>
                  <a:pt x="417" y="335"/>
                  <a:pt x="358" y="343"/>
                  <a:pt x="302" y="349"/>
                </a:cubicBezTo>
                <a:cubicBezTo>
                  <a:pt x="311" y="357"/>
                  <a:pt x="319" y="372"/>
                  <a:pt x="319" y="395"/>
                </a:cubicBezTo>
                <a:cubicBezTo>
                  <a:pt x="319" y="429"/>
                  <a:pt x="319" y="471"/>
                  <a:pt x="319" y="479"/>
                </a:cubicBezTo>
                <a:cubicBezTo>
                  <a:pt x="319" y="485"/>
                  <a:pt x="324" y="493"/>
                  <a:pt x="336" y="491"/>
                </a:cubicBezTo>
                <a:cubicBezTo>
                  <a:pt x="436" y="458"/>
                  <a:pt x="504" y="363"/>
                  <a:pt x="504" y="252"/>
                </a:cubicBezTo>
                <a:cubicBezTo>
                  <a:pt x="504" y="113"/>
                  <a:pt x="392" y="8"/>
                  <a:pt x="253" y="8"/>
                </a:cubicBezTo>
                <a:close/>
              </a:path>
              <a:path w="512" h="512">
                <a:moveTo>
                  <a:pt x="105" y="353"/>
                </a:moveTo>
                <a:cubicBezTo>
                  <a:pt x="104" y="354"/>
                  <a:pt x="104" y="356"/>
                  <a:pt x="106" y="358"/>
                </a:cubicBezTo>
                <a:cubicBezTo>
                  <a:pt x="108" y="360"/>
                  <a:pt x="110" y="360"/>
                  <a:pt x="111" y="359"/>
                </a:cubicBezTo>
                <a:cubicBezTo>
                  <a:pt x="112" y="358"/>
                  <a:pt x="112" y="356"/>
                  <a:pt x="110" y="354"/>
                </a:cubicBezTo>
                <a:cubicBezTo>
                  <a:pt x="109" y="352"/>
                  <a:pt x="107" y="352"/>
                  <a:pt x="105" y="353"/>
                </a:cubicBezTo>
                <a:close/>
              </a:path>
              <a:path w="512" h="512">
                <a:moveTo>
                  <a:pt x="94" y="345"/>
                </a:moveTo>
                <a:cubicBezTo>
                  <a:pt x="94" y="346"/>
                  <a:pt x="95" y="348"/>
                  <a:pt x="97" y="349"/>
                </a:cubicBezTo>
                <a:cubicBezTo>
                  <a:pt x="98" y="350"/>
                  <a:pt x="100" y="349"/>
                  <a:pt x="101" y="348"/>
                </a:cubicBezTo>
                <a:cubicBezTo>
                  <a:pt x="102" y="347"/>
                  <a:pt x="101" y="345"/>
                  <a:pt x="99" y="344"/>
                </a:cubicBezTo>
                <a:cubicBezTo>
                  <a:pt x="97" y="343"/>
                  <a:pt x="95" y="344"/>
                  <a:pt x="94" y="345"/>
                </a:cubicBezTo>
                <a:close/>
              </a:path>
              <a:path w="512" h="512">
                <a:moveTo>
                  <a:pt x="127" y="380"/>
                </a:moveTo>
                <a:cubicBezTo>
                  <a:pt x="125" y="382"/>
                  <a:pt x="126" y="385"/>
                  <a:pt x="128" y="387"/>
                </a:cubicBezTo>
                <a:cubicBezTo>
                  <a:pt x="130" y="389"/>
                  <a:pt x="133" y="389"/>
                  <a:pt x="135" y="388"/>
                </a:cubicBezTo>
                <a:cubicBezTo>
                  <a:pt x="136" y="386"/>
                  <a:pt x="135" y="383"/>
                  <a:pt x="133" y="381"/>
                </a:cubicBezTo>
                <a:cubicBezTo>
                  <a:pt x="131" y="379"/>
                  <a:pt x="128" y="379"/>
                  <a:pt x="127" y="380"/>
                </a:cubicBezTo>
                <a:close/>
              </a:path>
              <a:path w="512" h="512">
                <a:moveTo>
                  <a:pt x="115" y="366"/>
                </a:moveTo>
                <a:cubicBezTo>
                  <a:pt x="114" y="367"/>
                  <a:pt x="114" y="369"/>
                  <a:pt x="115" y="372"/>
                </a:cubicBezTo>
                <a:cubicBezTo>
                  <a:pt x="117" y="374"/>
                  <a:pt x="120" y="375"/>
                  <a:pt x="121" y="374"/>
                </a:cubicBezTo>
                <a:cubicBezTo>
                  <a:pt x="123" y="373"/>
                  <a:pt x="123" y="370"/>
                  <a:pt x="121" y="368"/>
                </a:cubicBezTo>
                <a:cubicBezTo>
                  <a:pt x="120" y="365"/>
                  <a:pt x="117" y="364"/>
                  <a:pt x="115" y="366"/>
                </a:cubicBezTo>
                <a:close/>
              </a:path>
            </a:pathLst>
          </a:cu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5"/>
          <p:cNvSpPr txBox="1"/>
          <p:nvPr/>
        </p:nvSpPr>
        <p:spPr>
          <a:xfrm>
            <a:off x="1193800" y="45720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50" b="1" noProof="1">
                <a:solidFill>
                  <a:srgbClr val="0B2440"/>
                </a:solidFill>
                <a:latin typeface="MiSans"/>
                <a:ea typeface="MiSans"/>
              </a:rPr>
              <a:t>参与开源</a:t>
            </a:r>
            <a:endParaRPr lang="en-US" sz="1450" noProof="1"/>
          </a:p>
        </p:txBody>
      </p:sp>
      <p:sp>
        <p:nvSpPr>
          <p:cNvPr id="24" name="d5"/>
          <p:cNvSpPr txBox="1"/>
          <p:nvPr/>
        </p:nvSpPr>
        <p:spPr>
          <a:xfrm>
            <a:off x="4064000" y="4597400"/>
            <a:ext cx="74168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50" noProof="1">
                <a:solidFill>
                  <a:srgbClr val="23303E"/>
                </a:solidFill>
                <a:latin typeface="MiSans"/>
                <a:ea typeface="MiSans"/>
              </a:rPr>
              <a:t>vLLM ｜ SGLang ｜ Ray ｜ Kubeflow</a:t>
            </a:r>
            <a:endParaRPr lang="en-US" sz="1250" noProof="1"/>
          </a:p>
        </p:txBody>
      </p:sp>
      <p:sp>
        <p:nvSpPr>
          <p:cNvPr id="25" name="note"/>
          <p:cNvSpPr/>
          <p:nvPr/>
        </p:nvSpPr>
        <p:spPr>
          <a:xfrm>
            <a:off x="711200" y="5384800"/>
            <a:ext cx="10769600" cy="711200"/>
          </a:xfrm>
          <a:prstGeom prst="rect">
            <a:avLst/>
          </a:prstGeom>
          <a:solidFill>
            <a:srgbClr val="F3F6FA"/>
          </a:solidFill>
          <a:ln w="12700">
            <a:solidFill>
              <a:srgbClr val="D9E1E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notet"/>
          <p:cNvSpPr txBox="1"/>
          <p:nvPr/>
        </p:nvSpPr>
        <p:spPr>
          <a:xfrm>
            <a:off x="965200" y="5384800"/>
            <a:ext cx="102616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250" noProof="1">
                <a:solidFill>
                  <a:srgbClr val="0B2440"/>
                </a:solidFill>
                <a:latin typeface="MiSans"/>
                <a:ea typeface="MiSans"/>
              </a:rPr>
              <a:t>建议路径：先跑通 vLLM 部署一个开源模型，再读它的调度与 KV Cache 代码——</a:t>
            </a:r>
            <a:r>
              <a:rPr lang="en-US" sz="1250" b="1" noProof="1">
                <a:solidFill>
                  <a:srgbClr val="0B2440"/>
                </a:solidFill>
                <a:latin typeface="MiSans"/>
                <a:ea typeface="MiSans"/>
              </a:rPr>
              <a:t>从“会用”到“会改”只差一个 PR。</a:t>
            </a:r>
            <a:endParaRPr lang="en-US" sz="1250" noProof="1"/>
          </a:p>
        </p:txBody>
      </p:sp>
      <p:sp>
        <p:nvSpPr>
          <p:cNvPr id="27" name="fline"/>
          <p:cNvSpPr/>
          <p:nvPr/>
        </p:nvSpPr>
        <p:spPr>
          <a:xfrm>
            <a:off x="711200" y="6477000"/>
            <a:ext cx="107696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fl"/>
          <p:cNvSpPr txBox="1"/>
          <p:nvPr/>
        </p:nvSpPr>
        <p:spPr>
          <a:xfrm>
            <a:off x="711200" y="65532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B7A8C"/>
                </a:solidFill>
                <a:latin typeface="MiSans"/>
                <a:ea typeface="MiSans"/>
              </a:rPr>
              <a:t>Token Factory · AI 推理的成本革命</a:t>
            </a:r>
            <a:endParaRPr lang="en-US" sz="950" noProof="1"/>
          </a:p>
        </p:txBody>
      </p:sp>
      <p:sp>
        <p:nvSpPr>
          <p:cNvPr id="29" name="fr"/>
          <p:cNvSpPr txBox="1"/>
          <p:nvPr/>
        </p:nvSpPr>
        <p:spPr>
          <a:xfrm>
            <a:off x="10210800" y="65532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6B7A8C"/>
                </a:solidFill>
                <a:latin typeface="MiSans"/>
                <a:ea typeface="MiSans"/>
              </a:rPr>
              <a:t>37 / 40</a:t>
            </a:r>
            <a:endParaRPr lang="en-US" sz="950" noProof="1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"/>
          <p:cNvSpPr txBox="1"/>
          <p:nvPr/>
        </p:nvSpPr>
        <p:spPr>
          <a:xfrm>
            <a:off x="711200" y="3810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F07D0A"/>
                </a:solidFill>
                <a:latin typeface="MiSans"/>
                <a:ea typeface="MiSans"/>
              </a:rPr>
              <a:t>总结 · 延伸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350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600" b="1" noProof="1">
                <a:solidFill>
                  <a:srgbClr val="0B2440"/>
                </a:solidFill>
                <a:latin typeface="MiSans"/>
                <a:ea typeface="MiSans"/>
              </a:rPr>
              <a:t>token 工厂需要什么人（2026）</a:t>
            </a:r>
            <a:endParaRPr lang="en-US" sz="2600" noProof="1"/>
          </a:p>
        </p:txBody>
      </p:sp>
      <p:sp>
        <p:nvSpPr>
          <p:cNvPr id="4" name="rule"/>
          <p:cNvSpPr/>
          <p:nvPr/>
        </p:nvSpPr>
        <p:spPr>
          <a:xfrm>
            <a:off x="711200" y="1270000"/>
            <a:ext cx="107696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abar"/>
          <p:cNvSpPr/>
          <p:nvPr/>
        </p:nvSpPr>
        <p:spPr>
          <a:xfrm>
            <a:off x="711200" y="1244600"/>
            <a:ext cx="812800" cy="381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r1tag"/>
          <p:cNvSpPr/>
          <p:nvPr/>
        </p:nvSpPr>
        <p:spPr>
          <a:xfrm>
            <a:off x="3683000" y="1778000"/>
            <a:ext cx="965200" cy="3048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r1tagt"/>
          <p:cNvSpPr txBox="1"/>
          <p:nvPr/>
        </p:nvSpPr>
        <p:spPr>
          <a:xfrm>
            <a:off x="3683000" y="1778000"/>
            <a:ext cx="9652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noProof="1">
                <a:solidFill>
                  <a:srgbClr val="FFFFFF"/>
                </a:solidFill>
                <a:latin typeface="MiSans"/>
                <a:ea typeface="MiSans"/>
              </a:rPr>
              <a:t>缺口最大</a:t>
            </a:r>
            <a:endParaRPr lang="en-US" sz="1100" noProof="1"/>
          </a:p>
        </p:txBody>
      </p:sp>
      <p:sp>
        <p:nvSpPr>
          <p:cNvPr id="8" name="r1t"/>
          <p:cNvSpPr txBox="1"/>
          <p:nvPr/>
        </p:nvSpPr>
        <p:spPr>
          <a:xfrm>
            <a:off x="711200" y="1778000"/>
            <a:ext cx="2921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50" b="1" noProof="1">
                <a:solidFill>
                  <a:srgbClr val="0B2440"/>
                </a:solidFill>
                <a:latin typeface="MiSans"/>
                <a:ea typeface="MiSans"/>
              </a:rPr>
              <a:t>推理系统工程师</a:t>
            </a:r>
            <a:endParaRPr lang="en-US" sz="1550" noProof="1"/>
          </a:p>
        </p:txBody>
      </p:sp>
      <p:sp>
        <p:nvSpPr>
          <p:cNvPr id="9" name="r1d"/>
          <p:cNvSpPr txBox="1"/>
          <p:nvPr/>
        </p:nvSpPr>
        <p:spPr>
          <a:xfrm>
            <a:off x="4953000" y="1778000"/>
            <a:ext cx="6527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50" noProof="1">
                <a:solidFill>
                  <a:srgbClr val="23303E"/>
                </a:solidFill>
                <a:latin typeface="MiSans"/>
                <a:ea typeface="MiSans"/>
              </a:rPr>
              <a:t>vLLM / SGLang 源码 · CUDA kernel · 推理优化</a:t>
            </a:r>
            <a:endParaRPr lang="en-US" sz="1250" noProof="1"/>
          </a:p>
        </p:txBody>
      </p:sp>
      <p:sp>
        <p:nvSpPr>
          <p:cNvPr id="10" name="r1line"/>
          <p:cNvSpPr/>
          <p:nvPr/>
        </p:nvSpPr>
        <p:spPr>
          <a:xfrm>
            <a:off x="711200" y="2336800"/>
            <a:ext cx="107696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r2t"/>
          <p:cNvSpPr txBox="1"/>
          <p:nvPr/>
        </p:nvSpPr>
        <p:spPr>
          <a:xfrm>
            <a:off x="711200" y="2667000"/>
            <a:ext cx="2921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50" b="1" noProof="1">
                <a:solidFill>
                  <a:srgbClr val="0B2440"/>
                </a:solidFill>
                <a:latin typeface="MiSans"/>
                <a:ea typeface="MiSans"/>
              </a:rPr>
              <a:t>AI 基础设施工程师</a:t>
            </a:r>
            <a:endParaRPr lang="en-US" sz="1550" noProof="1"/>
          </a:p>
        </p:txBody>
      </p:sp>
      <p:sp>
        <p:nvSpPr>
          <p:cNvPr id="12" name="r2d"/>
          <p:cNvSpPr txBox="1"/>
          <p:nvPr/>
        </p:nvSpPr>
        <p:spPr>
          <a:xfrm>
            <a:off x="4953000" y="2667000"/>
            <a:ext cx="6527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50" noProof="1">
                <a:solidFill>
                  <a:srgbClr val="23303E"/>
                </a:solidFill>
                <a:latin typeface="MiSans"/>
                <a:ea typeface="MiSans"/>
              </a:rPr>
              <a:t>GPU 集群 · Kubernetes · 性能调优</a:t>
            </a:r>
            <a:endParaRPr lang="en-US" sz="1250" noProof="1"/>
          </a:p>
        </p:txBody>
      </p:sp>
      <p:sp>
        <p:nvSpPr>
          <p:cNvPr id="13" name="r2line"/>
          <p:cNvSpPr/>
          <p:nvPr/>
        </p:nvSpPr>
        <p:spPr>
          <a:xfrm>
            <a:off x="711200" y="3225800"/>
            <a:ext cx="107696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r3t"/>
          <p:cNvSpPr txBox="1"/>
          <p:nvPr/>
        </p:nvSpPr>
        <p:spPr>
          <a:xfrm>
            <a:off x="711200" y="3556000"/>
            <a:ext cx="2921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50" b="1" noProof="1">
                <a:solidFill>
                  <a:srgbClr val="0B2440"/>
                </a:solidFill>
                <a:latin typeface="MiSans"/>
                <a:ea typeface="MiSans"/>
              </a:rPr>
              <a:t>AI 平台工程师</a:t>
            </a:r>
            <a:endParaRPr lang="en-US" sz="1550" noProof="1"/>
          </a:p>
        </p:txBody>
      </p:sp>
      <p:sp>
        <p:nvSpPr>
          <p:cNvPr id="15" name="r3d"/>
          <p:cNvSpPr txBox="1"/>
          <p:nvPr/>
        </p:nvSpPr>
        <p:spPr>
          <a:xfrm>
            <a:off x="4953000" y="3556000"/>
            <a:ext cx="6527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50" noProof="1">
                <a:solidFill>
                  <a:srgbClr val="23303E"/>
                </a:solidFill>
                <a:latin typeface="MiSans"/>
                <a:ea typeface="MiSans"/>
              </a:rPr>
              <a:t>模型部署 · 监控 · 成本优化</a:t>
            </a:r>
            <a:endParaRPr lang="en-US" sz="1250" noProof="1"/>
          </a:p>
        </p:txBody>
      </p:sp>
      <p:sp>
        <p:nvSpPr>
          <p:cNvPr id="16" name="r3line"/>
          <p:cNvSpPr/>
          <p:nvPr/>
        </p:nvSpPr>
        <p:spPr>
          <a:xfrm>
            <a:off x="711200" y="4114800"/>
            <a:ext cx="107696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r4t"/>
          <p:cNvSpPr txBox="1"/>
          <p:nvPr/>
        </p:nvSpPr>
        <p:spPr>
          <a:xfrm>
            <a:off x="711200" y="4445000"/>
            <a:ext cx="2921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50" b="1" noProof="1">
                <a:solidFill>
                  <a:srgbClr val="0B2440"/>
                </a:solidFill>
                <a:latin typeface="MiSans"/>
                <a:ea typeface="MiSans"/>
              </a:rPr>
              <a:t>AI 系统架构师</a:t>
            </a:r>
            <a:endParaRPr lang="en-US" sz="1550" noProof="1"/>
          </a:p>
        </p:txBody>
      </p:sp>
      <p:sp>
        <p:nvSpPr>
          <p:cNvPr id="18" name="r4d"/>
          <p:cNvSpPr txBox="1"/>
          <p:nvPr/>
        </p:nvSpPr>
        <p:spPr>
          <a:xfrm>
            <a:off x="4953000" y="4445000"/>
            <a:ext cx="6527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50" noProof="1">
                <a:solidFill>
                  <a:srgbClr val="23303E"/>
                </a:solidFill>
                <a:latin typeface="MiSans"/>
                <a:ea typeface="MiSans"/>
              </a:rPr>
              <a:t>大规模系统设计 · 技术选型</a:t>
            </a:r>
            <a:endParaRPr lang="en-US" sz="1250" noProof="1"/>
          </a:p>
        </p:txBody>
      </p:sp>
      <p:sp>
        <p:nvSpPr>
          <p:cNvPr id="19" name="r4line"/>
          <p:cNvSpPr/>
          <p:nvPr/>
        </p:nvSpPr>
        <p:spPr>
          <a:xfrm>
            <a:off x="711200" y="5003800"/>
            <a:ext cx="107696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note"/>
          <p:cNvSpPr txBox="1"/>
          <p:nvPr/>
        </p:nvSpPr>
        <p:spPr>
          <a:xfrm>
            <a:off x="711200" y="5384800"/>
            <a:ext cx="107696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共同底色：理解“每 token 成本”这条主线——四层杠杆里的任何一层深入下去，都是 2026 年最稀缺的能力。</a:t>
            </a:r>
            <a:endParaRPr lang="en-US" sz="1350" noProof="1"/>
          </a:p>
        </p:txBody>
      </p:sp>
      <p:sp>
        <p:nvSpPr>
          <p:cNvPr id="21" name="fline"/>
          <p:cNvSpPr/>
          <p:nvPr/>
        </p:nvSpPr>
        <p:spPr>
          <a:xfrm>
            <a:off x="711200" y="6477000"/>
            <a:ext cx="107696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fl"/>
          <p:cNvSpPr txBox="1"/>
          <p:nvPr/>
        </p:nvSpPr>
        <p:spPr>
          <a:xfrm>
            <a:off x="711200" y="65532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B7A8C"/>
                </a:solidFill>
                <a:latin typeface="MiSans"/>
                <a:ea typeface="MiSans"/>
              </a:rPr>
              <a:t>Token Factory · AI 推理的成本革命</a:t>
            </a:r>
            <a:endParaRPr lang="en-US" sz="950" noProof="1"/>
          </a:p>
        </p:txBody>
      </p:sp>
      <p:sp>
        <p:nvSpPr>
          <p:cNvPr id="23" name="fr"/>
          <p:cNvSpPr txBox="1"/>
          <p:nvPr/>
        </p:nvSpPr>
        <p:spPr>
          <a:xfrm>
            <a:off x="10210800" y="65532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6B7A8C"/>
                </a:solidFill>
                <a:latin typeface="MiSans"/>
                <a:ea typeface="MiSans"/>
              </a:rPr>
              <a:t>38 / 40</a:t>
            </a:r>
            <a:endParaRPr lang="en-US" sz="950" noProof="1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"/>
          <p:cNvSpPr txBox="1"/>
          <p:nvPr/>
        </p:nvSpPr>
        <p:spPr>
          <a:xfrm>
            <a:off x="711200" y="3810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F07D0A"/>
                </a:solidFill>
                <a:latin typeface="MiSans"/>
                <a:ea typeface="MiSans"/>
              </a:rPr>
              <a:t>总结 · 展望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350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600" b="1" noProof="1">
                <a:solidFill>
                  <a:srgbClr val="0B2440"/>
                </a:solidFill>
                <a:latin typeface="MiSans"/>
                <a:ea typeface="MiSans"/>
              </a:rPr>
              <a:t>2026–2030：token 会便宜到什么程度</a:t>
            </a:r>
            <a:endParaRPr lang="en-US" sz="2600" noProof="1"/>
          </a:p>
        </p:txBody>
      </p:sp>
      <p:sp>
        <p:nvSpPr>
          <p:cNvPr id="4" name="rule"/>
          <p:cNvSpPr/>
          <p:nvPr/>
        </p:nvSpPr>
        <p:spPr>
          <a:xfrm>
            <a:off x="711200" y="1270000"/>
            <a:ext cx="107696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abar"/>
          <p:cNvSpPr/>
          <p:nvPr/>
        </p:nvSpPr>
        <p:spPr>
          <a:xfrm>
            <a:off x="711200" y="1244600"/>
            <a:ext cx="812800" cy="381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h"/>
          <p:cNvSpPr txBox="1"/>
          <p:nvPr/>
        </p:nvSpPr>
        <p:spPr>
          <a:xfrm>
            <a:off x="711200" y="1600200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0B2440"/>
                </a:solidFill>
                <a:latin typeface="MiSans"/>
                <a:ea typeface="MiSans"/>
              </a:rPr>
              <a:t>趋势</a:t>
            </a:r>
            <a:endParaRPr lang="en-US" sz="1500" noProof="1"/>
          </a:p>
        </p:txBody>
      </p:sp>
      <p:sp>
        <p:nvSpPr>
          <p:cNvPr id="7" name="t1"/>
          <p:cNvSpPr txBox="1"/>
          <p:nvPr/>
        </p:nvSpPr>
        <p:spPr>
          <a:xfrm>
            <a:off x="711200" y="2032000"/>
            <a:ext cx="5080000" cy="215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350" b="1" noProof="1">
                <a:solidFill>
                  <a:srgbClr val="23303E"/>
                </a:solidFill>
                <a:latin typeface="MiSans"/>
                <a:ea typeface="MiSans"/>
              </a:rPr>
              <a:t>架构</a:t>
            </a: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：线性注意力、稀疏 MoE 继续进化</a:t>
            </a:r>
            <a:endParaRPr lang="en-US" sz="135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350" b="1" noProof="1">
                <a:solidFill>
                  <a:srgbClr val="23303E"/>
                </a:solidFill>
                <a:latin typeface="MiSans"/>
                <a:ea typeface="MiSans"/>
              </a:rPr>
              <a:t>硬件</a:t>
            </a: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：Rubin、HBM4、国产芯片（昇腾、寒武纪）</a:t>
            </a:r>
            <a:endParaRPr lang="en-US" sz="135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350" b="1" noProof="1">
                <a:solidFill>
                  <a:srgbClr val="23303E"/>
                </a:solidFill>
                <a:latin typeface="MiSans"/>
                <a:ea typeface="MiSans"/>
              </a:rPr>
              <a:t>推理形态</a:t>
            </a: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：Agentic 负载成为主流，长任务推理</a:t>
            </a:r>
            <a:endParaRPr lang="en-US" sz="1350" noProof="1"/>
          </a:p>
        </p:txBody>
      </p:sp>
      <p:sp>
        <p:nvSpPr>
          <p:cNvPr id="8" name="divider"/>
          <p:cNvSpPr/>
          <p:nvPr/>
        </p:nvSpPr>
        <p:spPr>
          <a:xfrm>
            <a:off x="6172200" y="1727200"/>
            <a:ext cx="12700" cy="27940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ph"/>
          <p:cNvSpPr txBox="1"/>
          <p:nvPr/>
        </p:nvSpPr>
        <p:spPr>
          <a:xfrm>
            <a:off x="6604000" y="1600200"/>
            <a:ext cx="4876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0B2440"/>
                </a:solidFill>
                <a:latin typeface="MiSans"/>
                <a:ea typeface="MiSans"/>
              </a:rPr>
              <a:t>预测</a:t>
            </a:r>
            <a:endParaRPr lang="en-US" sz="1500" noProof="1"/>
          </a:p>
        </p:txBody>
      </p:sp>
      <p:sp>
        <p:nvSpPr>
          <p:cNvPr id="10" name="p1n"/>
          <p:cNvSpPr txBox="1"/>
          <p:nvPr/>
        </p:nvSpPr>
        <p:spPr>
          <a:xfrm>
            <a:off x="6604000" y="2032000"/>
            <a:ext cx="1524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800" b="1" noProof="1">
                <a:solidFill>
                  <a:srgbClr val="F07D0A"/>
                </a:solidFill>
                <a:latin typeface="MiSans"/>
                <a:ea typeface="MiSans"/>
              </a:rPr>
              <a:t>再降 10×</a:t>
            </a:r>
            <a:endParaRPr lang="en-US" sz="2800" noProof="1"/>
          </a:p>
        </p:txBody>
      </p:sp>
      <p:sp>
        <p:nvSpPr>
          <p:cNvPr id="11" name="p1l"/>
          <p:cNvSpPr txBox="1"/>
          <p:nvPr/>
        </p:nvSpPr>
        <p:spPr>
          <a:xfrm>
            <a:off x="8229600" y="2108200"/>
            <a:ext cx="32512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23303E"/>
                </a:solidFill>
                <a:latin typeface="MiSans"/>
                <a:ea typeface="MiSans"/>
              </a:rPr>
              <a:t>每 token 成本（2026 → 2030）</a:t>
            </a:r>
            <a:endParaRPr lang="en-US" sz="1200" noProof="1"/>
          </a:p>
        </p:txBody>
      </p:sp>
      <p:sp>
        <p:nvSpPr>
          <p:cNvPr id="12" name="p2"/>
          <p:cNvSpPr txBox="1"/>
          <p:nvPr/>
        </p:nvSpPr>
        <p:spPr>
          <a:xfrm>
            <a:off x="6604000" y="2743200"/>
            <a:ext cx="48768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推理成本低到“按 token 计费”消失，改为订阅 / 打包</a:t>
            </a:r>
            <a:endParaRPr lang="en-US" sz="135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350" noProof="1">
                <a:solidFill>
                  <a:srgbClr val="23303E"/>
                </a:solidFill>
                <a:latin typeface="MiSans"/>
                <a:ea typeface="MiSans"/>
              </a:rPr>
              <a:t>AI 从“使用成本”变成“基础设施”——像电力、网络一样</a:t>
            </a:r>
            <a:endParaRPr lang="en-US" sz="1350" noProof="1"/>
          </a:p>
        </p:txBody>
      </p:sp>
      <p:sp>
        <p:nvSpPr>
          <p:cNvPr id="13" name="final"/>
          <p:cNvSpPr/>
          <p:nvPr/>
        </p:nvSpPr>
        <p:spPr>
          <a:xfrm>
            <a:off x="711200" y="4953000"/>
            <a:ext cx="10769600" cy="1168400"/>
          </a:xfrm>
          <a:prstGeom prst="rect">
            <a:avLst/>
          </a:prstGeom>
          <a:solidFill>
            <a:srgbClr val="0B244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finalbar"/>
          <p:cNvSpPr/>
          <p:nvPr/>
        </p:nvSpPr>
        <p:spPr>
          <a:xfrm>
            <a:off x="711200" y="4953000"/>
            <a:ext cx="76200" cy="11684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finalt"/>
          <p:cNvSpPr txBox="1"/>
          <p:nvPr/>
        </p:nvSpPr>
        <p:spPr>
          <a:xfrm>
            <a:off x="1143000" y="4953000"/>
            <a:ext cx="9906000" cy="1168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55000"/>
              </a:lnSpc>
            </a:pPr>
            <a:r>
              <a:rPr lang="en-US" sz="1500" b="1" noProof="1">
                <a:solidFill>
                  <a:srgbClr val="FFFFFF"/>
                </a:solidFill>
                <a:latin typeface="MiSans"/>
                <a:ea typeface="MiSans"/>
              </a:rPr>
              <a:t>终极命题</a:t>
            </a:r>
            <a:r>
              <a:rPr lang="en-US" sz="1500" noProof="1">
                <a:solidFill>
                  <a:srgbClr val="FFFFFF"/>
                </a:solidFill>
                <a:latin typeface="MiSans"/>
                <a:ea typeface="MiSans"/>
              </a:rPr>
              <a:t>：当 token 几乎免费，AI 应用的下一个瓶颈是什么？</a:t>
            </a:r>
            <a:endParaRPr lang="en-US" sz="1600" noProof="1"/>
          </a:p>
          <a:p>
            <a:pPr algn="l">
              <a:lnSpc>
                <a:spcPct val="155000"/>
              </a:lnSpc>
            </a:pPr>
            <a:r>
              <a:rPr lang="en-US" sz="1300" noProof="1">
                <a:solidFill>
                  <a:srgbClr val="A9BCD2"/>
                </a:solidFill>
                <a:latin typeface="MiSans"/>
                <a:ea typeface="MiSans"/>
              </a:rPr>
              <a:t>数据？电力？还是人类的想象力？</a:t>
            </a:r>
            <a:endParaRPr lang="en-US" sz="1600" noProof="1"/>
          </a:p>
        </p:txBody>
      </p:sp>
      <p:sp>
        <p:nvSpPr>
          <p:cNvPr id="16" name="fline"/>
          <p:cNvSpPr/>
          <p:nvPr/>
        </p:nvSpPr>
        <p:spPr>
          <a:xfrm>
            <a:off x="711200" y="6477000"/>
            <a:ext cx="10769600" cy="12700"/>
          </a:xfrm>
          <a:prstGeom prst="rect">
            <a:avLst/>
          </a:prstGeom>
          <a:solidFill>
            <a:srgbClr val="D9E1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fl"/>
          <p:cNvSpPr txBox="1"/>
          <p:nvPr/>
        </p:nvSpPr>
        <p:spPr>
          <a:xfrm>
            <a:off x="711200" y="65532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B7A8C"/>
                </a:solidFill>
                <a:latin typeface="MiSans"/>
                <a:ea typeface="MiSans"/>
              </a:rPr>
              <a:t>Token Factory · AI 推理的成本革命</a:t>
            </a:r>
            <a:endParaRPr lang="en-US" sz="950" noProof="1"/>
          </a:p>
        </p:txBody>
      </p:sp>
      <p:sp>
        <p:nvSpPr>
          <p:cNvPr id="18" name="fr"/>
          <p:cNvSpPr txBox="1"/>
          <p:nvPr/>
        </p:nvSpPr>
        <p:spPr>
          <a:xfrm>
            <a:off x="10210800" y="65532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6B7A8C"/>
                </a:solidFill>
                <a:latin typeface="MiSans"/>
                <a:ea typeface="MiSans"/>
              </a:rPr>
              <a:t>39 / 40</a:t>
            </a:r>
            <a:endParaRPr lang="en-US" sz="950" noProof="1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B2440"/>
            </a:gs>
            <a:gs pos="100000">
              <a:srgbClr val="071527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anks"/>
          <p:cNvSpPr txBox="1"/>
          <p:nvPr/>
        </p:nvSpPr>
        <p:spPr>
          <a:xfrm>
            <a:off x="711200" y="1905000"/>
            <a:ext cx="10769600" cy="889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5200" b="1" noProof="1">
                <a:solidFill>
                  <a:srgbClr val="FFFFFF"/>
                </a:solidFill>
                <a:latin typeface="MiSans"/>
                <a:ea typeface="MiSans"/>
              </a:rPr>
              <a:t>谢 谢</a:t>
            </a:r>
            <a:endParaRPr lang="en-US" sz="5200" noProof="1"/>
          </a:p>
        </p:txBody>
      </p:sp>
      <p:sp>
        <p:nvSpPr>
          <p:cNvPr id="3" name="sub"/>
          <p:cNvSpPr txBox="1"/>
          <p:nvPr/>
        </p:nvSpPr>
        <p:spPr>
          <a:xfrm>
            <a:off x="711200" y="2997200"/>
            <a:ext cx="107696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700" noProof="1">
                <a:solidFill>
                  <a:srgbClr val="A9BCD2"/>
                </a:solidFill>
                <a:latin typeface="MiSans"/>
                <a:ea typeface="MiSans"/>
              </a:rPr>
              <a:t>Token Factory——AI 推理的成本革命</a:t>
            </a:r>
            <a:endParaRPr lang="en-US" sz="1700" noProof="1"/>
          </a:p>
        </p:txBody>
      </p:sp>
      <p:sp>
        <p:nvSpPr>
          <p:cNvPr id="4" name="orule"/>
          <p:cNvSpPr/>
          <p:nvPr/>
        </p:nvSpPr>
        <p:spPr>
          <a:xfrm>
            <a:off x="5689600" y="3657600"/>
            <a:ext cx="812800" cy="508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recap"/>
          <p:cNvSpPr txBox="1"/>
          <p:nvPr/>
        </p:nvSpPr>
        <p:spPr>
          <a:xfrm>
            <a:off x="711200" y="3962400"/>
            <a:ext cx="107696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50" noProof="1">
                <a:solidFill>
                  <a:srgbClr val="FFFFFF"/>
                </a:solidFill>
                <a:latin typeface="MiSans"/>
                <a:ea typeface="MiSans"/>
              </a:rPr>
              <a:t>四层杠杆 · 一个目标：让 token 更便宜——而这只是开始</a:t>
            </a:r>
            <a:endParaRPr lang="en-US" sz="1450" noProof="1"/>
          </a:p>
        </p:txBody>
      </p:sp>
      <p:sp>
        <p:nvSpPr>
          <p:cNvPr id="6" name="qa"/>
          <p:cNvSpPr txBox="1"/>
          <p:nvPr/>
        </p:nvSpPr>
        <p:spPr>
          <a:xfrm>
            <a:off x="711200" y="4775200"/>
            <a:ext cx="107696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noProof="1">
                <a:solidFill>
                  <a:srgbClr val="F07D0A"/>
                </a:solidFill>
                <a:latin typeface="MiSans"/>
                <a:ea typeface="MiSans"/>
              </a:rPr>
              <a:t>Q&amp;A · 5 分钟</a:t>
            </a:r>
            <a:endParaRPr lang="en-US" sz="1600" noProof="1"/>
          </a:p>
        </p:txBody>
      </p:sp>
      <p:sp>
        <p:nvSpPr>
          <p:cNvPr id="7" name="meta"/>
          <p:cNvSpPr txBox="1"/>
          <p:nvPr/>
        </p:nvSpPr>
        <p:spPr>
          <a:xfrm>
            <a:off x="711200" y="5867400"/>
            <a:ext cx="10769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noProof="1">
                <a:solidFill>
                  <a:srgbClr val="8FA3BC"/>
                </a:solidFill>
                <a:latin typeface="MiSans"/>
                <a:ea typeface="MiSans"/>
              </a:rPr>
              <a:t>Grissom ｜ 2026 年 8 月</a:t>
            </a:r>
            <a:endParaRPr lang="en-US" sz="1250" noProof="1"/>
          </a:p>
        </p:txBody>
      </p:sp>
      <p:sp>
        <p:nvSpPr>
          <p:cNvPr id="8" name="tok1"/>
          <p:cNvSpPr/>
          <p:nvPr/>
        </p:nvSpPr>
        <p:spPr>
          <a:xfrm>
            <a:off x="1524000" y="5461000"/>
            <a:ext cx="165100" cy="165100"/>
          </a:xfrm>
          <a:prstGeom prst="rect">
            <a:avLst/>
          </a:prstGeom>
          <a:solidFill>
            <a:srgbClr val="2A558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ok2"/>
          <p:cNvSpPr/>
          <p:nvPr/>
        </p:nvSpPr>
        <p:spPr>
          <a:xfrm>
            <a:off x="2032000" y="5638800"/>
            <a:ext cx="165100" cy="1651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ok3"/>
          <p:cNvSpPr/>
          <p:nvPr/>
        </p:nvSpPr>
        <p:spPr>
          <a:xfrm>
            <a:off x="10160000" y="5638800"/>
            <a:ext cx="165100" cy="165100"/>
          </a:xfrm>
          <a:prstGeom prst="rect">
            <a:avLst/>
          </a:prstGeom>
          <a:solidFill>
            <a:srgbClr val="2A558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ok4"/>
          <p:cNvSpPr/>
          <p:nvPr/>
        </p:nvSpPr>
        <p:spPr>
          <a:xfrm>
            <a:off x="10668000" y="5461000"/>
            <a:ext cx="165100" cy="165100"/>
          </a:xfrm>
          <a:prstGeom prst="rect">
            <a:avLst/>
          </a:prstGeom>
          <a:solidFill>
            <a:srgbClr val="F07D0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3769</Words>
  <Application>Microsoft Macintosh PowerPoint</Application>
  <PresentationFormat>宽屏</PresentationFormat>
  <Paragraphs>826</Paragraphs>
  <Slides>40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43" baseType="lpstr">
      <vt:lpstr>Times New Roman</vt:lpstr>
      <vt:lpstr>MiSans</vt:lpstr>
      <vt:lpstr>PPTD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Token Factory：AI 推理的成本革命</dc:title>
  <dc:subject>Token Factory：AI 推理的成本革命</dc:subject>
  <dc:creator>Kimi</dc:creator>
  <cp:lastModifiedBy>王 天青</cp:lastModifiedBy>
  <cp:revision>1</cp:revision>
  <dcterms:modified xsi:type="dcterms:W3CDTF">2026-08-02T14:20:09Z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{"Label":"Token Factory：AI 推理的成本革命","ContentProducer":"001191110108MACG2KBH8F10000","ProduceID":"19fbdbbb-5302-8294-8000-000096e6419c","ReservedCode1":"","ContentPropagator":"001191110108MACG2KBH8F20000","PropagateID":"19fbdb3b-4582-8053-8000-09290592b076","ReservedCode2":""}</vt:lpwstr>
  </property>
</Properties>
</file>