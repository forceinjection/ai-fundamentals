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embeddedFontLst>
    <p:embeddedFont>
      <p:font typeface="KaiTi" panose="02010609060101010101" pitchFamily="49" charset="-122"/>
      <p:regular r:id="rId18"/>
    </p:embeddedFont>
    <p:embeddedFont>
      <p:font typeface="Liter" panose="02000503030000020004" pitchFamily="2" charset="0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48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7c385c64fbc50b4c51f737129da8ccc89b1a9b4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5556" r="555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778000"/>
            <a:ext cx="2768600" cy="558800"/>
          </a:xfrm>
          <a:custGeom>
            <a:avLst/>
            <a:gdLst/>
            <a:ahLst/>
            <a:cxnLst/>
            <a:rect l="l" t="t" r="r" b="b"/>
            <a:pathLst>
              <a:path w="2768600" h="558800">
                <a:moveTo>
                  <a:pt x="0" y="0"/>
                </a:moveTo>
                <a:lnTo>
                  <a:pt x="2768600" y="0"/>
                </a:lnTo>
                <a:lnTo>
                  <a:pt x="27686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7780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2447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90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6416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银行反电诈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智能系统设计方案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324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6896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基于 </a:t>
            </a:r>
            <a:r>
              <a:rPr lang="en-US" sz="30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Synergized LLMs + KGs 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协同技术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75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85800" y="6934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270000" y="67818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实时保护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70000" y="70358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毫秒级响应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92400" y="675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2870200" y="6934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454400" y="67818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智能研判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54400" y="70358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可解释分析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76800" y="675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5054600" y="6934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638800" y="67818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38800" y="7035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关系挖掘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77850"/>
            <a:ext cx="1265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981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540000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540000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12800" y="31664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85738" y="3293467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25600" y="3052167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项目背景与挑战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25600" y="3560167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当前银行反欺诈系统面临的严峻挑战、核心目标与系统边界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80400" y="2540000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80400" y="2540000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559800" y="31664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709720" y="3293467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72600" y="3052167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72600" y="3560167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双向增强技术路线与分层解耦的系统架构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4656634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33400" y="4656634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12800" y="52831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1628" y="5410101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5600" y="5168801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核心数据模型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25600" y="5676801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知识图谱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设计与分层分域数据模型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80400" y="4656634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80400" y="4656634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559800" y="52831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08727" y="5410101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72600" y="5168801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功能模块设计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72600" y="5676801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智能子图检索、多维特征研判与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增强分析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6773267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33400" y="6773267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12800" y="73998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63414" y="7526834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25600" y="7285534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Demo 方案实现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625600" y="7793534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MVP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设计与技术架构,验证三大欺诈场景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80400" y="6773267"/>
            <a:ext cx="7467600" cy="1866900"/>
          </a:xfrm>
          <a:custGeom>
            <a:avLst/>
            <a:gdLst/>
            <a:ahLst/>
            <a:cxnLst/>
            <a:rect l="l" t="t" r="r" b="b"/>
            <a:pathLst>
              <a:path w="7467600" h="1866900">
                <a:moveTo>
                  <a:pt x="0" y="0"/>
                </a:moveTo>
                <a:lnTo>
                  <a:pt x="7467600" y="0"/>
                </a:lnTo>
                <a:lnTo>
                  <a:pt x="7467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80400" y="6773267"/>
            <a:ext cx="50800" cy="1866900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59800" y="73998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07537" y="7526834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72600" y="7285534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工程化路线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72600" y="7793534"/>
            <a:ext cx="62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到生产级系统的三阶段演进路径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xueshu.com/7cf050cf588aae5ce9e5781c5931c02abd76d63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9087" b="2908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384425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0" y="0"/>
                </a:moveTo>
                <a:lnTo>
                  <a:pt x="1003300" y="0"/>
                </a:lnTo>
                <a:lnTo>
                  <a:pt x="1003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2982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项目背景与挑战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65913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当前银行反欺诈系统面临的严峻挑战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与核心目标设定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77850"/>
            <a:ext cx="16195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项目背景与核心目标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930400"/>
            <a:ext cx="10071100" cy="1524000"/>
          </a:xfrm>
          <a:custGeom>
            <a:avLst/>
            <a:gdLst/>
            <a:ahLst/>
            <a:cxnLst/>
            <a:rect l="l" t="t" r="r" b="b"/>
            <a:pathLst>
              <a:path w="10071100" h="1524000">
                <a:moveTo>
                  <a:pt x="0" y="0"/>
                </a:moveTo>
                <a:lnTo>
                  <a:pt x="10071100" y="0"/>
                </a:lnTo>
                <a:lnTo>
                  <a:pt x="10071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19304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2000" y="2133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4875" y="227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22400" y="2133600"/>
            <a:ext cx="910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严峻挑战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2400" y="2590800"/>
            <a:ext cx="9080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电信网络诈骗呈现</a:t>
            </a:r>
            <a:r>
              <a:rPr lang="en-US" sz="1600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"短时间、高频次、多层级"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的复杂资金流转特征。传统规则引擎难以有效覆盖不断变化的黑灰产策略,单一知识图谱在数据稀疏和跨源关联不足情况下容易出现漏判。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657600"/>
            <a:ext cx="10071100" cy="4064000"/>
          </a:xfrm>
          <a:custGeom>
            <a:avLst/>
            <a:gdLst/>
            <a:ahLst/>
            <a:cxnLst/>
            <a:rect l="l" t="t" r="r" b="b"/>
            <a:pathLst>
              <a:path w="10071100" h="4064000">
                <a:moveTo>
                  <a:pt x="0" y="0"/>
                </a:moveTo>
                <a:lnTo>
                  <a:pt x="10071100" y="0"/>
                </a:lnTo>
                <a:lnTo>
                  <a:pt x="10071100" y="4064000"/>
                </a:lnTo>
                <a:lnTo>
                  <a:pt x="0" y="406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3657600"/>
            <a:ext cx="50800" cy="4064000"/>
          </a:xfrm>
          <a:custGeom>
            <a:avLst/>
            <a:gdLst/>
            <a:ahLst/>
            <a:cxnLst/>
            <a:rect l="l" t="t" r="r" b="b"/>
            <a:pathLst>
              <a:path w="50800" h="4064000">
                <a:moveTo>
                  <a:pt x="0" y="0"/>
                </a:moveTo>
                <a:lnTo>
                  <a:pt x="50800" y="0"/>
                </a:lnTo>
                <a:lnTo>
                  <a:pt x="50800" y="4064000"/>
                </a:lnTo>
                <a:lnTo>
                  <a:pt x="0" y="40640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62000" y="421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04875" y="435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422400" y="4216400"/>
            <a:ext cx="910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47800" y="477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778000" y="4724400"/>
            <a:ext cx="668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实时拦截能力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51308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</a:t>
            </a:r>
            <a:r>
              <a:rPr lang="en-US" sz="1600" dirty="0">
                <a:solidFill>
                  <a:srgbClr val="D9A477"/>
                </a:solidFill>
                <a:highlight>
                  <a:srgbClr val="D9A477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"黄金5分钟" 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为SLA,在涉诈资金进一步转移前完成风险识别与交易干预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47800" y="563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78000" y="5588000"/>
            <a:ext cx="775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场景覆盖范围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5994400"/>
            <a:ext cx="774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全面覆盖资金归集/清洗、团伙环境共用等核心风险模式,支持文本诱导类风险信号检测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47800" y="650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778000" y="6451600"/>
            <a:ext cx="626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可解释归因机制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78000" y="6858000"/>
            <a:ext cx="624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输出结构化证据要点与建议处置分级,满足审计、复核与回写图谱需要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28834" y="1930400"/>
            <a:ext cx="4914900" cy="3505200"/>
          </a:xfrm>
          <a:custGeom>
            <a:avLst/>
            <a:gdLst/>
            <a:ahLst/>
            <a:cxnLst/>
            <a:rect l="l" t="t" r="r" b="b"/>
            <a:pathLst>
              <a:path w="4914900" h="3505200">
                <a:moveTo>
                  <a:pt x="0" y="0"/>
                </a:moveTo>
                <a:lnTo>
                  <a:pt x="4914900" y="0"/>
                </a:lnTo>
                <a:lnTo>
                  <a:pt x="4914900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828834" y="19304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7C8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1057434" y="2133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C8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1200309" y="227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717834" y="2133600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系统边界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17834" y="2590800"/>
            <a:ext cx="39243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明确系统设计的边界与非目标,确保合规性与安全性: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94034" y="34544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061230" y="3410864"/>
            <a:ext cx="3556000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LLM输出不直接驱动冻结等强处置操作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787684" y="39624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061230" y="3918864"/>
            <a:ext cx="3581400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Demo阈值参数仅为演示目的,需回溯标定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794034" y="44704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061230" y="4426864"/>
            <a:ext cx="3200400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不引入敏感字段,满足最小必要原则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794034" y="49784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061230" y="4934864"/>
            <a:ext cx="3149600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所有流程满足法律法规与客户授权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09784" y="5645150"/>
            <a:ext cx="4927600" cy="2070100"/>
          </a:xfrm>
          <a:custGeom>
            <a:avLst/>
            <a:gdLst/>
            <a:ahLst/>
            <a:cxnLst/>
            <a:rect l="l" t="t" r="r" b="b"/>
            <a:pathLst>
              <a:path w="4927600" h="2070100">
                <a:moveTo>
                  <a:pt x="0" y="0"/>
                </a:moveTo>
                <a:lnTo>
                  <a:pt x="4927600" y="0"/>
                </a:lnTo>
                <a:lnTo>
                  <a:pt x="49276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828834" y="5854700"/>
            <a:ext cx="488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5min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62184" y="67183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黄金响应时间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68534" y="7175500"/>
            <a:ext cx="4610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在涉诈资金进一步转移前完成风险识别与交易干预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3400" y="7874000"/>
            <a:ext cx="15214600" cy="914400"/>
          </a:xfrm>
          <a:custGeom>
            <a:avLst/>
            <a:gdLst/>
            <a:ahLst/>
            <a:cxnLst/>
            <a:rect l="l" t="t" r="r" b="b"/>
            <a:pathLst>
              <a:path w="15214600" h="914400">
                <a:moveTo>
                  <a:pt x="0" y="0"/>
                </a:moveTo>
                <a:lnTo>
                  <a:pt x="15214600" y="0"/>
                </a:lnTo>
                <a:lnTo>
                  <a:pt x="15214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33400" y="78740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36600" y="80835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66800" y="8026400"/>
            <a:ext cx="1463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法规背景: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《反电信网络诈骗法》确立"即时查询、紧急止付、快速冻结"制度。银发〔2016〕86号文规定紧急止付期限为48小时。本文将"5分钟"作为工程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SLA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示例,推动端到端链路优化。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384425"/>
            <a:ext cx="1054100" cy="723900"/>
          </a:xfrm>
          <a:custGeom>
            <a:avLst/>
            <a:gdLst/>
            <a:ahLst/>
            <a:cxnLst/>
            <a:rect l="l" t="t" r="r" b="b"/>
            <a:pathLst>
              <a:path w="1054100" h="723900">
                <a:moveTo>
                  <a:pt x="0" y="0"/>
                </a:moveTo>
                <a:lnTo>
                  <a:pt x="1054100" y="0"/>
                </a:lnTo>
                <a:lnTo>
                  <a:pt x="1054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8499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56769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双向增强技术路线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分层解耦的系统架构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629" y="502504"/>
            <a:ext cx="50250" cy="402003"/>
          </a:xfrm>
          <a:custGeom>
            <a:avLst/>
            <a:gdLst/>
            <a:ahLst/>
            <a:cxnLst/>
            <a:rect l="l" t="t" r="r" b="b"/>
            <a:pathLst>
              <a:path w="50250" h="402003">
                <a:moveTo>
                  <a:pt x="0" y="0"/>
                </a:moveTo>
                <a:lnTo>
                  <a:pt x="50250" y="0"/>
                </a:lnTo>
                <a:lnTo>
                  <a:pt x="50250" y="402003"/>
                </a:lnTo>
                <a:lnTo>
                  <a:pt x="0" y="402003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3505" y="571598"/>
            <a:ext cx="169673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kern="0" spc="79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504" y="1005008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双向增强技术路线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7629" y="1580409"/>
            <a:ext cx="6080297" cy="3768779"/>
          </a:xfrm>
          <a:custGeom>
            <a:avLst/>
            <a:gdLst/>
            <a:ahLst/>
            <a:cxnLst/>
            <a:rect l="l" t="t" r="r" b="b"/>
            <a:pathLst>
              <a:path w="6080297" h="3768779">
                <a:moveTo>
                  <a:pt x="0" y="0"/>
                </a:moveTo>
                <a:lnTo>
                  <a:pt x="6080297" y="0"/>
                </a:lnTo>
                <a:lnTo>
                  <a:pt x="6080297" y="3768779"/>
                </a:lnTo>
                <a:lnTo>
                  <a:pt x="0" y="3768779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7629" y="1580409"/>
            <a:ext cx="50250" cy="3768779"/>
          </a:xfrm>
          <a:custGeom>
            <a:avLst/>
            <a:gdLst/>
            <a:ahLst/>
            <a:cxnLst/>
            <a:rect l="l" t="t" r="r" b="b"/>
            <a:pathLst>
              <a:path w="50250" h="3768779">
                <a:moveTo>
                  <a:pt x="0" y="0"/>
                </a:moveTo>
                <a:lnTo>
                  <a:pt x="50250" y="0"/>
                </a:lnTo>
                <a:lnTo>
                  <a:pt x="50250" y="3768779"/>
                </a:lnTo>
                <a:lnTo>
                  <a:pt x="0" y="3768779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3255" y="1680910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301502" y="0"/>
                </a:moveTo>
                <a:lnTo>
                  <a:pt x="301502" y="0"/>
                </a:lnTo>
                <a:cubicBezTo>
                  <a:pt x="467906" y="0"/>
                  <a:pt x="603005" y="135099"/>
                  <a:pt x="603005" y="301502"/>
                </a:cubicBezTo>
                <a:lnTo>
                  <a:pt x="603005" y="301502"/>
                </a:lnTo>
                <a:cubicBezTo>
                  <a:pt x="603005" y="467906"/>
                  <a:pt x="467906" y="603005"/>
                  <a:pt x="301502" y="603005"/>
                </a:cubicBezTo>
                <a:lnTo>
                  <a:pt x="301502" y="603005"/>
                </a:lnTo>
                <a:cubicBezTo>
                  <a:pt x="135099" y="603005"/>
                  <a:pt x="0" y="467906"/>
                  <a:pt x="0" y="301502"/>
                </a:cubicBezTo>
                <a:lnTo>
                  <a:pt x="0" y="301502"/>
                </a:lnTo>
                <a:cubicBezTo>
                  <a:pt x="0" y="135099"/>
                  <a:pt x="135099" y="0"/>
                  <a:pt x="301502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9131" y="1856786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246639" y="136716"/>
                </a:moveTo>
                <a:cubicBezTo>
                  <a:pt x="252773" y="130582"/>
                  <a:pt x="252773" y="120621"/>
                  <a:pt x="246639" y="114486"/>
                </a:cubicBezTo>
                <a:lnTo>
                  <a:pt x="168123" y="35970"/>
                </a:lnTo>
                <a:cubicBezTo>
                  <a:pt x="161989" y="29836"/>
                  <a:pt x="152027" y="29836"/>
                  <a:pt x="145893" y="35970"/>
                </a:cubicBezTo>
                <a:cubicBezTo>
                  <a:pt x="139759" y="42104"/>
                  <a:pt x="139759" y="52066"/>
                  <a:pt x="145893" y="58200"/>
                </a:cubicBezTo>
                <a:lnTo>
                  <a:pt x="197616" y="109923"/>
                </a:lnTo>
                <a:lnTo>
                  <a:pt x="15703" y="109923"/>
                </a:lnTo>
                <a:cubicBezTo>
                  <a:pt x="7017" y="109923"/>
                  <a:pt x="0" y="116940"/>
                  <a:pt x="0" y="125626"/>
                </a:cubicBezTo>
                <a:cubicBezTo>
                  <a:pt x="0" y="134312"/>
                  <a:pt x="7017" y="141329"/>
                  <a:pt x="15703" y="141329"/>
                </a:cubicBezTo>
                <a:lnTo>
                  <a:pt x="197616" y="141329"/>
                </a:lnTo>
                <a:lnTo>
                  <a:pt x="145893" y="193052"/>
                </a:lnTo>
                <a:cubicBezTo>
                  <a:pt x="139759" y="199186"/>
                  <a:pt x="139759" y="209148"/>
                  <a:pt x="145893" y="215282"/>
                </a:cubicBezTo>
                <a:cubicBezTo>
                  <a:pt x="152027" y="221416"/>
                  <a:pt x="161989" y="221416"/>
                  <a:pt x="168123" y="215282"/>
                </a:cubicBezTo>
                <a:lnTo>
                  <a:pt x="246639" y="136765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07011" y="1781410"/>
            <a:ext cx="2839147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b="1" dirty="0">
                <a:solidFill>
                  <a:srgbClr val="E0E2E5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LLM-augmented KG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3255" y="2384415"/>
            <a:ext cx="5967233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构建侧协同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255" y="2836669"/>
            <a:ext cx="5954671" cy="90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充分发挥</a:t>
            </a:r>
            <a:r>
              <a:rPr lang="en-US" sz="158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在非结构化数据处理的卓越能力,对聊天记录、设备指纹日志、</a:t>
            </a:r>
            <a:r>
              <a:rPr lang="en-US" sz="158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App</a:t>
            </a: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安装列表等异构数据进行深度分析,精准抽取实体与关系。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943" y="3942177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05008" y="3891927"/>
            <a:ext cx="170851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多源数据有效融合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0943" y="4293930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5008" y="4243679"/>
            <a:ext cx="190951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挖掘数据间隐性关联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943" y="4645682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05008" y="4595432"/>
            <a:ext cx="170851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捕捉潜在风险信号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0943" y="4997435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05008" y="4947185"/>
            <a:ext cx="2713521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缓解数据稀疏与跨源对齐难题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629" y="5449689"/>
            <a:ext cx="6080297" cy="3467277"/>
          </a:xfrm>
          <a:custGeom>
            <a:avLst/>
            <a:gdLst/>
            <a:ahLst/>
            <a:cxnLst/>
            <a:rect l="l" t="t" r="r" b="b"/>
            <a:pathLst>
              <a:path w="6080297" h="3467277">
                <a:moveTo>
                  <a:pt x="0" y="0"/>
                </a:moveTo>
                <a:lnTo>
                  <a:pt x="6080297" y="0"/>
                </a:lnTo>
                <a:lnTo>
                  <a:pt x="6080297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27629" y="5449689"/>
            <a:ext cx="50250" cy="3467277"/>
          </a:xfrm>
          <a:custGeom>
            <a:avLst/>
            <a:gdLst/>
            <a:ahLst/>
            <a:cxnLst/>
            <a:rect l="l" t="t" r="r" b="b"/>
            <a:pathLst>
              <a:path w="50250" h="3467277">
                <a:moveTo>
                  <a:pt x="0" y="0"/>
                </a:moveTo>
                <a:lnTo>
                  <a:pt x="50250" y="0"/>
                </a:lnTo>
                <a:lnTo>
                  <a:pt x="50250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3255" y="5550189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301502" y="0"/>
                </a:moveTo>
                <a:lnTo>
                  <a:pt x="301502" y="0"/>
                </a:lnTo>
                <a:cubicBezTo>
                  <a:pt x="467906" y="0"/>
                  <a:pt x="603005" y="135099"/>
                  <a:pt x="603005" y="301502"/>
                </a:cubicBezTo>
                <a:lnTo>
                  <a:pt x="603005" y="301502"/>
                </a:lnTo>
                <a:cubicBezTo>
                  <a:pt x="603005" y="467906"/>
                  <a:pt x="467906" y="603005"/>
                  <a:pt x="301502" y="603005"/>
                </a:cubicBezTo>
                <a:lnTo>
                  <a:pt x="301502" y="603005"/>
                </a:lnTo>
                <a:cubicBezTo>
                  <a:pt x="135099" y="603005"/>
                  <a:pt x="0" y="467906"/>
                  <a:pt x="0" y="301502"/>
                </a:cubicBezTo>
                <a:lnTo>
                  <a:pt x="0" y="301502"/>
                </a:lnTo>
                <a:cubicBezTo>
                  <a:pt x="0" y="135099"/>
                  <a:pt x="135099" y="0"/>
                  <a:pt x="301502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9131" y="5726066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4613" y="114536"/>
                </a:moveTo>
                <a:cubicBezTo>
                  <a:pt x="-1521" y="120670"/>
                  <a:pt x="-1521" y="130631"/>
                  <a:pt x="4613" y="136765"/>
                </a:cubicBezTo>
                <a:lnTo>
                  <a:pt x="83129" y="215282"/>
                </a:lnTo>
                <a:cubicBezTo>
                  <a:pt x="89263" y="221416"/>
                  <a:pt x="99225" y="221416"/>
                  <a:pt x="105359" y="215282"/>
                </a:cubicBezTo>
                <a:cubicBezTo>
                  <a:pt x="111493" y="209148"/>
                  <a:pt x="111493" y="199186"/>
                  <a:pt x="105359" y="193052"/>
                </a:cubicBezTo>
                <a:lnTo>
                  <a:pt x="53636" y="141329"/>
                </a:lnTo>
                <a:lnTo>
                  <a:pt x="235549" y="141329"/>
                </a:lnTo>
                <a:cubicBezTo>
                  <a:pt x="244235" y="141329"/>
                  <a:pt x="251252" y="134312"/>
                  <a:pt x="251252" y="125626"/>
                </a:cubicBezTo>
                <a:cubicBezTo>
                  <a:pt x="251252" y="116940"/>
                  <a:pt x="244235" y="109923"/>
                  <a:pt x="235549" y="109923"/>
                </a:cubicBezTo>
                <a:lnTo>
                  <a:pt x="53636" y="109923"/>
                </a:lnTo>
                <a:lnTo>
                  <a:pt x="105359" y="58200"/>
                </a:lnTo>
                <a:cubicBezTo>
                  <a:pt x="111493" y="52066"/>
                  <a:pt x="111493" y="42104"/>
                  <a:pt x="105359" y="35970"/>
                </a:cubicBezTo>
                <a:cubicBezTo>
                  <a:pt x="99225" y="29836"/>
                  <a:pt x="89263" y="29836"/>
                  <a:pt x="83129" y="35970"/>
                </a:cubicBezTo>
                <a:lnTo>
                  <a:pt x="4613" y="11448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407011" y="5650690"/>
            <a:ext cx="2839147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b="1" dirty="0">
                <a:solidFill>
                  <a:srgbClr val="E0E2E5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KG-augmented LLM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255" y="6253695"/>
            <a:ext cx="5967233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推理侧协同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255" y="6705948"/>
            <a:ext cx="5954671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依托知识图谱存储的复杂资金流转网络和多维关联关系,为LLM提供经过验证的、结构化的事实上下文(</a:t>
            </a:r>
            <a:r>
              <a:rPr lang="en-US" sz="158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 Context</a:t>
            </a: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0943" y="7509955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05008" y="7459704"/>
            <a:ext cx="2512519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弥补模型专业领域知识短板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0943" y="7861707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05008" y="7811457"/>
            <a:ext cx="331652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严格限制推理范围在图谱证据框架内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943" y="8213460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5008" y="8163210"/>
            <a:ext cx="311552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确保输出研判结论可解释、可审计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0943" y="8565213"/>
            <a:ext cx="175876" cy="201002"/>
          </a:xfrm>
          <a:custGeom>
            <a:avLst/>
            <a:gdLst/>
            <a:ahLst/>
            <a:cxnLst/>
            <a:rect l="l" t="t" r="r" b="b"/>
            <a:pathLst>
              <a:path w="175876" h="201002">
                <a:moveTo>
                  <a:pt x="170694" y="27520"/>
                </a:moveTo>
                <a:cubicBezTo>
                  <a:pt x="176308" y="31603"/>
                  <a:pt x="177564" y="39454"/>
                  <a:pt x="173482" y="45068"/>
                </a:cubicBezTo>
                <a:lnTo>
                  <a:pt x="72981" y="183257"/>
                </a:lnTo>
                <a:cubicBezTo>
                  <a:pt x="70822" y="186240"/>
                  <a:pt x="67485" y="188086"/>
                  <a:pt x="63794" y="188400"/>
                </a:cubicBezTo>
                <a:cubicBezTo>
                  <a:pt x="60104" y="188714"/>
                  <a:pt x="56532" y="187340"/>
                  <a:pt x="53941" y="184749"/>
                </a:cubicBezTo>
                <a:lnTo>
                  <a:pt x="3690" y="134498"/>
                </a:lnTo>
                <a:cubicBezTo>
                  <a:pt x="-1217" y="129591"/>
                  <a:pt x="-1217" y="121622"/>
                  <a:pt x="3690" y="116714"/>
                </a:cubicBezTo>
                <a:cubicBezTo>
                  <a:pt x="8598" y="111807"/>
                  <a:pt x="16567" y="111807"/>
                  <a:pt x="21474" y="116714"/>
                </a:cubicBezTo>
                <a:lnTo>
                  <a:pt x="61321" y="156561"/>
                </a:lnTo>
                <a:lnTo>
                  <a:pt x="153185" y="30268"/>
                </a:lnTo>
                <a:cubicBezTo>
                  <a:pt x="157268" y="24654"/>
                  <a:pt x="165120" y="23398"/>
                  <a:pt x="170734" y="2748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05008" y="8514962"/>
            <a:ext cx="211051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有效抑制模型幻觉产生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1032" y="1586690"/>
            <a:ext cx="8994819" cy="6645614"/>
          </a:xfrm>
          <a:custGeom>
            <a:avLst/>
            <a:gdLst/>
            <a:ahLst/>
            <a:cxnLst/>
            <a:rect l="l" t="t" r="r" b="b"/>
            <a:pathLst>
              <a:path w="8994819" h="6645614">
                <a:moveTo>
                  <a:pt x="0" y="0"/>
                </a:moveTo>
                <a:lnTo>
                  <a:pt x="8994819" y="0"/>
                </a:lnTo>
                <a:lnTo>
                  <a:pt x="8994819" y="6645614"/>
                </a:lnTo>
                <a:lnTo>
                  <a:pt x="0" y="6645614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855252" y="1743723"/>
            <a:ext cx="8806380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7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系统架构核心原则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43190" y="2246227"/>
            <a:ext cx="8655629" cy="1055258"/>
          </a:xfrm>
          <a:custGeom>
            <a:avLst/>
            <a:gdLst/>
            <a:ahLst/>
            <a:cxnLst/>
            <a:rect l="l" t="t" r="r" b="b"/>
            <a:pathLst>
              <a:path w="8655629" h="1055258">
                <a:moveTo>
                  <a:pt x="0" y="0"/>
                </a:moveTo>
                <a:lnTo>
                  <a:pt x="8655629" y="0"/>
                </a:lnTo>
                <a:lnTo>
                  <a:pt x="8655629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43190" y="2246227"/>
            <a:ext cx="50250" cy="1055258"/>
          </a:xfrm>
          <a:custGeom>
            <a:avLst/>
            <a:gdLst/>
            <a:ahLst/>
            <a:cxnLst/>
            <a:rect l="l" t="t" r="r" b="b"/>
            <a:pathLst>
              <a:path w="50250" h="1055258">
                <a:moveTo>
                  <a:pt x="0" y="0"/>
                </a:moveTo>
                <a:lnTo>
                  <a:pt x="50250" y="0"/>
                </a:lnTo>
                <a:lnTo>
                  <a:pt x="50250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50473" y="2447228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114094" y="2552"/>
                </a:moveTo>
                <a:cubicBezTo>
                  <a:pt x="121406" y="-834"/>
                  <a:pt x="129846" y="-834"/>
                  <a:pt x="137158" y="2552"/>
                </a:cubicBezTo>
                <a:lnTo>
                  <a:pt x="244431" y="52115"/>
                </a:lnTo>
                <a:cubicBezTo>
                  <a:pt x="248602" y="54029"/>
                  <a:pt x="251252" y="58200"/>
                  <a:pt x="251252" y="62813"/>
                </a:cubicBezTo>
                <a:cubicBezTo>
                  <a:pt x="251252" y="67426"/>
                  <a:pt x="248602" y="71597"/>
                  <a:pt x="244431" y="73511"/>
                </a:cubicBezTo>
                <a:lnTo>
                  <a:pt x="137158" y="123074"/>
                </a:lnTo>
                <a:cubicBezTo>
                  <a:pt x="129846" y="126460"/>
                  <a:pt x="121406" y="126460"/>
                  <a:pt x="114094" y="123074"/>
                </a:cubicBezTo>
                <a:lnTo>
                  <a:pt x="6821" y="73511"/>
                </a:lnTo>
                <a:cubicBezTo>
                  <a:pt x="2650" y="71548"/>
                  <a:pt x="0" y="67377"/>
                  <a:pt x="0" y="62813"/>
                </a:cubicBezTo>
                <a:cubicBezTo>
                  <a:pt x="0" y="58249"/>
                  <a:pt x="2650" y="54029"/>
                  <a:pt x="6821" y="52115"/>
                </a:cubicBezTo>
                <a:lnTo>
                  <a:pt x="114094" y="2552"/>
                </a:lnTo>
                <a:close/>
                <a:moveTo>
                  <a:pt x="23604" y="107175"/>
                </a:moveTo>
                <a:lnTo>
                  <a:pt x="104230" y="144421"/>
                </a:lnTo>
                <a:cubicBezTo>
                  <a:pt x="117823" y="150702"/>
                  <a:pt x="133478" y="150702"/>
                  <a:pt x="147071" y="144421"/>
                </a:cubicBezTo>
                <a:lnTo>
                  <a:pt x="227697" y="107175"/>
                </a:lnTo>
                <a:lnTo>
                  <a:pt x="244431" y="114928"/>
                </a:lnTo>
                <a:cubicBezTo>
                  <a:pt x="248602" y="116842"/>
                  <a:pt x="251252" y="121013"/>
                  <a:pt x="251252" y="125626"/>
                </a:cubicBezTo>
                <a:cubicBezTo>
                  <a:pt x="251252" y="130239"/>
                  <a:pt x="248602" y="134410"/>
                  <a:pt x="244431" y="136324"/>
                </a:cubicBezTo>
                <a:lnTo>
                  <a:pt x="137158" y="185887"/>
                </a:lnTo>
                <a:cubicBezTo>
                  <a:pt x="129846" y="189273"/>
                  <a:pt x="121406" y="189273"/>
                  <a:pt x="114094" y="185887"/>
                </a:cubicBezTo>
                <a:lnTo>
                  <a:pt x="6821" y="136324"/>
                </a:lnTo>
                <a:cubicBezTo>
                  <a:pt x="2650" y="134361"/>
                  <a:pt x="0" y="130190"/>
                  <a:pt x="0" y="125626"/>
                </a:cubicBezTo>
                <a:cubicBezTo>
                  <a:pt x="0" y="121062"/>
                  <a:pt x="2650" y="116842"/>
                  <a:pt x="6821" y="114928"/>
                </a:cubicBezTo>
                <a:lnTo>
                  <a:pt x="23555" y="107175"/>
                </a:lnTo>
                <a:close/>
                <a:moveTo>
                  <a:pt x="6821" y="177741"/>
                </a:moveTo>
                <a:lnTo>
                  <a:pt x="23555" y="169988"/>
                </a:lnTo>
                <a:lnTo>
                  <a:pt x="104181" y="207234"/>
                </a:lnTo>
                <a:cubicBezTo>
                  <a:pt x="117774" y="213515"/>
                  <a:pt x="133429" y="213515"/>
                  <a:pt x="147022" y="207234"/>
                </a:cubicBezTo>
                <a:lnTo>
                  <a:pt x="227648" y="169988"/>
                </a:lnTo>
                <a:lnTo>
                  <a:pt x="244382" y="177741"/>
                </a:lnTo>
                <a:cubicBezTo>
                  <a:pt x="248553" y="179655"/>
                  <a:pt x="251203" y="183826"/>
                  <a:pt x="251203" y="188439"/>
                </a:cubicBezTo>
                <a:cubicBezTo>
                  <a:pt x="251203" y="193052"/>
                  <a:pt x="248553" y="197223"/>
                  <a:pt x="244382" y="199137"/>
                </a:cubicBezTo>
                <a:lnTo>
                  <a:pt x="137109" y="248700"/>
                </a:lnTo>
                <a:cubicBezTo>
                  <a:pt x="129797" y="252086"/>
                  <a:pt x="121357" y="252086"/>
                  <a:pt x="114045" y="248700"/>
                </a:cubicBezTo>
                <a:lnTo>
                  <a:pt x="6821" y="199137"/>
                </a:lnTo>
                <a:cubicBezTo>
                  <a:pt x="2650" y="197174"/>
                  <a:pt x="0" y="193003"/>
                  <a:pt x="0" y="188439"/>
                </a:cubicBezTo>
                <a:cubicBezTo>
                  <a:pt x="0" y="183875"/>
                  <a:pt x="2650" y="179655"/>
                  <a:pt x="6821" y="177741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583883" y="2396978"/>
            <a:ext cx="1017570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分层解耦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19066" y="2849231"/>
            <a:ext cx="842950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模型推理层专注高并发、低延迟风险计算;业务处置层负责风控策略、审批工作流、账户控制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43190" y="3401985"/>
            <a:ext cx="8655629" cy="1055258"/>
          </a:xfrm>
          <a:custGeom>
            <a:avLst/>
            <a:gdLst/>
            <a:ahLst/>
            <a:cxnLst/>
            <a:rect l="l" t="t" r="r" b="b"/>
            <a:pathLst>
              <a:path w="8655629" h="1055258">
                <a:moveTo>
                  <a:pt x="0" y="0"/>
                </a:moveTo>
                <a:lnTo>
                  <a:pt x="8655629" y="0"/>
                </a:lnTo>
                <a:lnTo>
                  <a:pt x="8655629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943190" y="3401985"/>
            <a:ext cx="50250" cy="1055258"/>
          </a:xfrm>
          <a:custGeom>
            <a:avLst/>
            <a:gdLst/>
            <a:ahLst/>
            <a:cxnLst/>
            <a:rect l="l" t="t" r="r" b="b"/>
            <a:pathLst>
              <a:path w="50250" h="1055258">
                <a:moveTo>
                  <a:pt x="0" y="0"/>
                </a:moveTo>
                <a:lnTo>
                  <a:pt x="50250" y="0"/>
                </a:lnTo>
                <a:lnTo>
                  <a:pt x="50250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166176" y="3602987"/>
            <a:ext cx="219845" cy="251252"/>
          </a:xfrm>
          <a:custGeom>
            <a:avLst/>
            <a:gdLst/>
            <a:ahLst/>
            <a:cxnLst/>
            <a:rect l="l" t="t" r="r" b="b"/>
            <a:pathLst>
              <a:path w="219845" h="251252">
                <a:moveTo>
                  <a:pt x="166258" y="-4858"/>
                </a:moveTo>
                <a:cubicBezTo>
                  <a:pt x="172098" y="-638"/>
                  <a:pt x="174257" y="7017"/>
                  <a:pt x="171607" y="13691"/>
                </a:cubicBezTo>
                <a:lnTo>
                  <a:pt x="133134" y="109923"/>
                </a:lnTo>
                <a:lnTo>
                  <a:pt x="204142" y="109923"/>
                </a:lnTo>
                <a:cubicBezTo>
                  <a:pt x="210767" y="109923"/>
                  <a:pt x="216656" y="114045"/>
                  <a:pt x="218913" y="120277"/>
                </a:cubicBezTo>
                <a:cubicBezTo>
                  <a:pt x="221170" y="126509"/>
                  <a:pt x="219257" y="133478"/>
                  <a:pt x="214202" y="137698"/>
                </a:cubicBezTo>
                <a:lnTo>
                  <a:pt x="72873" y="255472"/>
                </a:lnTo>
                <a:cubicBezTo>
                  <a:pt x="67328" y="260085"/>
                  <a:pt x="59427" y="260330"/>
                  <a:pt x="53587" y="256110"/>
                </a:cubicBezTo>
                <a:cubicBezTo>
                  <a:pt x="47748" y="251890"/>
                  <a:pt x="45588" y="244235"/>
                  <a:pt x="48238" y="237561"/>
                </a:cubicBezTo>
                <a:lnTo>
                  <a:pt x="86711" y="141329"/>
                </a:lnTo>
                <a:lnTo>
                  <a:pt x="15703" y="141329"/>
                </a:lnTo>
                <a:cubicBezTo>
                  <a:pt x="9078" y="141329"/>
                  <a:pt x="3190" y="137207"/>
                  <a:pt x="932" y="130975"/>
                </a:cubicBezTo>
                <a:cubicBezTo>
                  <a:pt x="-1325" y="124743"/>
                  <a:pt x="589" y="117774"/>
                  <a:pt x="5643" y="113554"/>
                </a:cubicBezTo>
                <a:lnTo>
                  <a:pt x="146973" y="-4220"/>
                </a:lnTo>
                <a:cubicBezTo>
                  <a:pt x="152518" y="-8833"/>
                  <a:pt x="160418" y="-9078"/>
                  <a:pt x="166258" y="-4858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583883" y="3552737"/>
            <a:ext cx="1017570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实时高效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19066" y="4004990"/>
            <a:ext cx="842950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满足秒级响应时效性要求,实现严谨且安全的业务闭环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43190" y="4557744"/>
            <a:ext cx="8655629" cy="1055258"/>
          </a:xfrm>
          <a:custGeom>
            <a:avLst/>
            <a:gdLst/>
            <a:ahLst/>
            <a:cxnLst/>
            <a:rect l="l" t="t" r="r" b="b"/>
            <a:pathLst>
              <a:path w="8655629" h="1055258">
                <a:moveTo>
                  <a:pt x="0" y="0"/>
                </a:moveTo>
                <a:lnTo>
                  <a:pt x="8655629" y="0"/>
                </a:lnTo>
                <a:lnTo>
                  <a:pt x="8655629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943190" y="4557744"/>
            <a:ext cx="50250" cy="1055258"/>
          </a:xfrm>
          <a:custGeom>
            <a:avLst/>
            <a:gdLst/>
            <a:ahLst/>
            <a:cxnLst/>
            <a:rect l="l" t="t" r="r" b="b"/>
            <a:pathLst>
              <a:path w="50250" h="1055258">
                <a:moveTo>
                  <a:pt x="0" y="0"/>
                </a:moveTo>
                <a:lnTo>
                  <a:pt x="50250" y="0"/>
                </a:lnTo>
                <a:lnTo>
                  <a:pt x="50250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150473" y="4758746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125626" y="0"/>
                </a:moveTo>
                <a:cubicBezTo>
                  <a:pt x="127883" y="0"/>
                  <a:pt x="130141" y="491"/>
                  <a:pt x="132202" y="1423"/>
                </a:cubicBezTo>
                <a:lnTo>
                  <a:pt x="224655" y="40632"/>
                </a:lnTo>
                <a:cubicBezTo>
                  <a:pt x="235451" y="45196"/>
                  <a:pt x="243498" y="55845"/>
                  <a:pt x="243449" y="68702"/>
                </a:cubicBezTo>
                <a:cubicBezTo>
                  <a:pt x="243204" y="117382"/>
                  <a:pt x="223182" y="206449"/>
                  <a:pt x="138630" y="246934"/>
                </a:cubicBezTo>
                <a:cubicBezTo>
                  <a:pt x="130435" y="250859"/>
                  <a:pt x="120915" y="250859"/>
                  <a:pt x="112720" y="246934"/>
                </a:cubicBezTo>
                <a:cubicBezTo>
                  <a:pt x="28119" y="206449"/>
                  <a:pt x="8146" y="117382"/>
                  <a:pt x="7901" y="68702"/>
                </a:cubicBezTo>
                <a:cubicBezTo>
                  <a:pt x="7852" y="55845"/>
                  <a:pt x="15900" y="45196"/>
                  <a:pt x="26696" y="40632"/>
                </a:cubicBezTo>
                <a:lnTo>
                  <a:pt x="119099" y="1423"/>
                </a:lnTo>
                <a:cubicBezTo>
                  <a:pt x="121160" y="491"/>
                  <a:pt x="123369" y="0"/>
                  <a:pt x="125626" y="0"/>
                </a:cubicBezTo>
                <a:close/>
                <a:moveTo>
                  <a:pt x="125626" y="32781"/>
                </a:moveTo>
                <a:lnTo>
                  <a:pt x="125626" y="218324"/>
                </a:lnTo>
                <a:cubicBezTo>
                  <a:pt x="193346" y="185544"/>
                  <a:pt x="211552" y="112916"/>
                  <a:pt x="211994" y="69438"/>
                </a:cubicBezTo>
                <a:lnTo>
                  <a:pt x="125626" y="32830"/>
                </a:lnTo>
                <a:lnTo>
                  <a:pt x="125626" y="3283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583883" y="4708495"/>
            <a:ext cx="1017570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安全可控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19066" y="5160749"/>
            <a:ext cx="842950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LLM作为解释与复核辅助工具,强处置操作由确定性证据链驱动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43190" y="5713503"/>
            <a:ext cx="8655629" cy="1055258"/>
          </a:xfrm>
          <a:custGeom>
            <a:avLst/>
            <a:gdLst/>
            <a:ahLst/>
            <a:cxnLst/>
            <a:rect l="l" t="t" r="r" b="b"/>
            <a:pathLst>
              <a:path w="8655629" h="1055258">
                <a:moveTo>
                  <a:pt x="0" y="0"/>
                </a:moveTo>
                <a:lnTo>
                  <a:pt x="8655629" y="0"/>
                </a:lnTo>
                <a:lnTo>
                  <a:pt x="8655629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943190" y="5713503"/>
            <a:ext cx="50250" cy="1055258"/>
          </a:xfrm>
          <a:custGeom>
            <a:avLst/>
            <a:gdLst/>
            <a:ahLst/>
            <a:cxnLst/>
            <a:rect l="l" t="t" r="r" b="b"/>
            <a:pathLst>
              <a:path w="50250" h="1055258">
                <a:moveTo>
                  <a:pt x="0" y="0"/>
                </a:moveTo>
                <a:lnTo>
                  <a:pt x="50250" y="0"/>
                </a:lnTo>
                <a:lnTo>
                  <a:pt x="50250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134770" y="5914505"/>
            <a:ext cx="282658" cy="251252"/>
          </a:xfrm>
          <a:custGeom>
            <a:avLst/>
            <a:gdLst/>
            <a:ahLst/>
            <a:cxnLst/>
            <a:rect l="l" t="t" r="r" b="b"/>
            <a:pathLst>
              <a:path w="282658" h="251252">
                <a:moveTo>
                  <a:pt x="141329" y="15703"/>
                </a:moveTo>
                <a:cubicBezTo>
                  <a:pt x="101679" y="15703"/>
                  <a:pt x="69929" y="33762"/>
                  <a:pt x="46815" y="55256"/>
                </a:cubicBezTo>
                <a:cubicBezTo>
                  <a:pt x="23849" y="76602"/>
                  <a:pt x="8490" y="102071"/>
                  <a:pt x="1178" y="119590"/>
                </a:cubicBezTo>
                <a:cubicBezTo>
                  <a:pt x="-442" y="123467"/>
                  <a:pt x="-442" y="127785"/>
                  <a:pt x="1178" y="131662"/>
                </a:cubicBezTo>
                <a:cubicBezTo>
                  <a:pt x="8490" y="149181"/>
                  <a:pt x="23849" y="174699"/>
                  <a:pt x="46815" y="195996"/>
                </a:cubicBezTo>
                <a:cubicBezTo>
                  <a:pt x="69929" y="217441"/>
                  <a:pt x="101679" y="235549"/>
                  <a:pt x="141329" y="235549"/>
                </a:cubicBezTo>
                <a:cubicBezTo>
                  <a:pt x="180980" y="235549"/>
                  <a:pt x="212730" y="217490"/>
                  <a:pt x="235843" y="195996"/>
                </a:cubicBezTo>
                <a:cubicBezTo>
                  <a:pt x="258809" y="174650"/>
                  <a:pt x="274169" y="149181"/>
                  <a:pt x="281481" y="131662"/>
                </a:cubicBezTo>
                <a:cubicBezTo>
                  <a:pt x="283100" y="127785"/>
                  <a:pt x="283100" y="123467"/>
                  <a:pt x="281481" y="119590"/>
                </a:cubicBezTo>
                <a:cubicBezTo>
                  <a:pt x="274169" y="102071"/>
                  <a:pt x="258809" y="76553"/>
                  <a:pt x="235843" y="55256"/>
                </a:cubicBezTo>
                <a:cubicBezTo>
                  <a:pt x="212730" y="33811"/>
                  <a:pt x="180980" y="15703"/>
                  <a:pt x="141329" y="15703"/>
                </a:cubicBezTo>
                <a:close/>
                <a:moveTo>
                  <a:pt x="70665" y="125626"/>
                </a:moveTo>
                <a:cubicBezTo>
                  <a:pt x="70665" y="86625"/>
                  <a:pt x="102328" y="54961"/>
                  <a:pt x="141329" y="54961"/>
                </a:cubicBezTo>
                <a:cubicBezTo>
                  <a:pt x="180330" y="54961"/>
                  <a:pt x="211994" y="86625"/>
                  <a:pt x="211994" y="125626"/>
                </a:cubicBezTo>
                <a:cubicBezTo>
                  <a:pt x="211994" y="164627"/>
                  <a:pt x="180330" y="196291"/>
                  <a:pt x="141329" y="196291"/>
                </a:cubicBezTo>
                <a:cubicBezTo>
                  <a:pt x="102328" y="196291"/>
                  <a:pt x="70665" y="164627"/>
                  <a:pt x="70665" y="125626"/>
                </a:cubicBezTo>
                <a:close/>
                <a:moveTo>
                  <a:pt x="141329" y="94219"/>
                </a:moveTo>
                <a:cubicBezTo>
                  <a:pt x="141329" y="111542"/>
                  <a:pt x="127245" y="125626"/>
                  <a:pt x="109923" y="125626"/>
                </a:cubicBezTo>
                <a:cubicBezTo>
                  <a:pt x="104279" y="125626"/>
                  <a:pt x="98980" y="124154"/>
                  <a:pt x="94367" y="121504"/>
                </a:cubicBezTo>
                <a:cubicBezTo>
                  <a:pt x="93876" y="126853"/>
                  <a:pt x="94318" y="132349"/>
                  <a:pt x="95790" y="137796"/>
                </a:cubicBezTo>
                <a:cubicBezTo>
                  <a:pt x="102513" y="162921"/>
                  <a:pt x="128374" y="177839"/>
                  <a:pt x="153499" y="171116"/>
                </a:cubicBezTo>
                <a:cubicBezTo>
                  <a:pt x="178624" y="164393"/>
                  <a:pt x="193543" y="138532"/>
                  <a:pt x="186820" y="113407"/>
                </a:cubicBezTo>
                <a:cubicBezTo>
                  <a:pt x="180833" y="90981"/>
                  <a:pt x="159584" y="76701"/>
                  <a:pt x="137207" y="78663"/>
                </a:cubicBezTo>
                <a:cubicBezTo>
                  <a:pt x="139808" y="83227"/>
                  <a:pt x="141329" y="88527"/>
                  <a:pt x="141329" y="94219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7583883" y="5864254"/>
            <a:ext cx="1017570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119066" y="6316508"/>
            <a:ext cx="842950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输出结构化证据要点,确保风险判断透明度和可追溯性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61032" y="8345367"/>
            <a:ext cx="8994819" cy="565317"/>
          </a:xfrm>
          <a:custGeom>
            <a:avLst/>
            <a:gdLst/>
            <a:ahLst/>
            <a:cxnLst/>
            <a:rect l="l" t="t" r="r" b="b"/>
            <a:pathLst>
              <a:path w="8994819" h="565317">
                <a:moveTo>
                  <a:pt x="0" y="0"/>
                </a:moveTo>
                <a:lnTo>
                  <a:pt x="8994819" y="0"/>
                </a:lnTo>
                <a:lnTo>
                  <a:pt x="8994819" y="565317"/>
                </a:lnTo>
                <a:lnTo>
                  <a:pt x="0" y="565317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327331" y="8521244"/>
            <a:ext cx="169595" cy="226127"/>
          </a:xfrm>
          <a:custGeom>
            <a:avLst/>
            <a:gdLst/>
            <a:ahLst/>
            <a:cxnLst/>
            <a:rect l="l" t="t" r="r" b="b"/>
            <a:pathLst>
              <a:path w="169595" h="226127">
                <a:moveTo>
                  <a:pt x="129360" y="169595"/>
                </a:moveTo>
                <a:cubicBezTo>
                  <a:pt x="132584" y="159746"/>
                  <a:pt x="139033" y="150825"/>
                  <a:pt x="146320" y="143140"/>
                </a:cubicBezTo>
                <a:cubicBezTo>
                  <a:pt x="160762" y="127947"/>
                  <a:pt x="169595" y="107410"/>
                  <a:pt x="169595" y="84798"/>
                </a:cubicBezTo>
                <a:cubicBezTo>
                  <a:pt x="169595" y="37982"/>
                  <a:pt x="131613" y="0"/>
                  <a:pt x="84798" y="0"/>
                </a:cubicBezTo>
                <a:cubicBezTo>
                  <a:pt x="37982" y="0"/>
                  <a:pt x="0" y="37982"/>
                  <a:pt x="0" y="84798"/>
                </a:cubicBezTo>
                <a:cubicBezTo>
                  <a:pt x="0" y="107410"/>
                  <a:pt x="8833" y="127947"/>
                  <a:pt x="23275" y="143140"/>
                </a:cubicBezTo>
                <a:cubicBezTo>
                  <a:pt x="30562" y="150825"/>
                  <a:pt x="37055" y="159746"/>
                  <a:pt x="40235" y="169595"/>
                </a:cubicBezTo>
                <a:lnTo>
                  <a:pt x="129316" y="169595"/>
                </a:lnTo>
                <a:close/>
                <a:moveTo>
                  <a:pt x="127196" y="190794"/>
                </a:moveTo>
                <a:lnTo>
                  <a:pt x="42399" y="190794"/>
                </a:lnTo>
                <a:lnTo>
                  <a:pt x="42399" y="197861"/>
                </a:lnTo>
                <a:cubicBezTo>
                  <a:pt x="42399" y="217382"/>
                  <a:pt x="58210" y="233193"/>
                  <a:pt x="77731" y="233193"/>
                </a:cubicBezTo>
                <a:lnTo>
                  <a:pt x="91864" y="233193"/>
                </a:lnTo>
                <a:cubicBezTo>
                  <a:pt x="111385" y="233193"/>
                  <a:pt x="127196" y="217382"/>
                  <a:pt x="127196" y="197861"/>
                </a:cubicBezTo>
                <a:lnTo>
                  <a:pt x="127196" y="190794"/>
                </a:lnTo>
                <a:close/>
                <a:moveTo>
                  <a:pt x="81264" y="49465"/>
                </a:moveTo>
                <a:cubicBezTo>
                  <a:pt x="63686" y="49465"/>
                  <a:pt x="49465" y="63686"/>
                  <a:pt x="49465" y="81264"/>
                </a:cubicBezTo>
                <a:cubicBezTo>
                  <a:pt x="49465" y="87138"/>
                  <a:pt x="44740" y="91864"/>
                  <a:pt x="38866" y="91864"/>
                </a:cubicBezTo>
                <a:cubicBezTo>
                  <a:pt x="32992" y="91864"/>
                  <a:pt x="28266" y="87138"/>
                  <a:pt x="28266" y="81264"/>
                </a:cubicBezTo>
                <a:cubicBezTo>
                  <a:pt x="28266" y="51983"/>
                  <a:pt x="51983" y="28266"/>
                  <a:pt x="81264" y="28266"/>
                </a:cubicBezTo>
                <a:cubicBezTo>
                  <a:pt x="87138" y="28266"/>
                  <a:pt x="91864" y="32992"/>
                  <a:pt x="91864" y="38866"/>
                </a:cubicBezTo>
                <a:cubicBezTo>
                  <a:pt x="91864" y="44740"/>
                  <a:pt x="87138" y="49465"/>
                  <a:pt x="81264" y="49465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199636" y="8452149"/>
            <a:ext cx="8505965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81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通过LLM与KG的双向增强,构建"高精度、可解释、可追溯"的智能反欺诈系统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384425"/>
            <a:ext cx="1054100" cy="723900"/>
          </a:xfrm>
          <a:custGeom>
            <a:avLst/>
            <a:gdLst/>
            <a:ahLst/>
            <a:cxnLst/>
            <a:rect l="l" t="t" r="r" b="b"/>
            <a:pathLst>
              <a:path w="1054100" h="723900">
                <a:moveTo>
                  <a:pt x="0" y="0"/>
                </a:moveTo>
                <a:lnTo>
                  <a:pt x="1054100" y="0"/>
                </a:lnTo>
                <a:lnTo>
                  <a:pt x="1054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8767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核心数据模型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56769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知识图谱 </a:t>
            </a:r>
            <a:r>
              <a:rPr lang="en-US" sz="30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设计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分层分域的数据模型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845" y="379149"/>
            <a:ext cx="47394" cy="379149"/>
          </a:xfrm>
          <a:custGeom>
            <a:avLst/>
            <a:gdLst/>
            <a:ahLst/>
            <a:cxnLst/>
            <a:rect l="l" t="t" r="r" b="b"/>
            <a:pathLst>
              <a:path w="47394" h="379149">
                <a:moveTo>
                  <a:pt x="0" y="0"/>
                </a:moveTo>
                <a:lnTo>
                  <a:pt x="47394" y="0"/>
                </a:lnTo>
                <a:lnTo>
                  <a:pt x="47394" y="379149"/>
                </a:lnTo>
                <a:lnTo>
                  <a:pt x="0" y="379149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8723" y="444315"/>
            <a:ext cx="141995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kern="0" spc="75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149" y="853085"/>
            <a:ext cx="15710974" cy="4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59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知识图谱 Schema 设计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845" y="1567819"/>
            <a:ext cx="3708548" cy="1990531"/>
          </a:xfrm>
          <a:custGeom>
            <a:avLst/>
            <a:gdLst/>
            <a:ahLst/>
            <a:cxnLst/>
            <a:rect l="l" t="t" r="r" b="b"/>
            <a:pathLst>
              <a:path w="3708548" h="1990531">
                <a:moveTo>
                  <a:pt x="0" y="0"/>
                </a:moveTo>
                <a:lnTo>
                  <a:pt x="3708548" y="0"/>
                </a:lnTo>
                <a:lnTo>
                  <a:pt x="3708548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02845" y="1567819"/>
            <a:ext cx="47394" cy="1990531"/>
          </a:xfrm>
          <a:custGeom>
            <a:avLst/>
            <a:gdLst/>
            <a:ahLst/>
            <a:cxnLst/>
            <a:rect l="l" t="t" r="r" b="b"/>
            <a:pathLst>
              <a:path w="47394" h="1990531">
                <a:moveTo>
                  <a:pt x="0" y="0"/>
                </a:moveTo>
                <a:lnTo>
                  <a:pt x="47394" y="0"/>
                </a:lnTo>
                <a:lnTo>
                  <a:pt x="47394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16117" y="175739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2741" y="1887725"/>
            <a:ext cx="186612" cy="213271"/>
          </a:xfrm>
          <a:custGeom>
            <a:avLst/>
            <a:gdLst/>
            <a:ahLst/>
            <a:cxnLst/>
            <a:rect l="l" t="t" r="r" b="b"/>
            <a:pathLst>
              <a:path w="186612" h="213271">
                <a:moveTo>
                  <a:pt x="93306" y="103303"/>
                </a:moveTo>
                <a:cubicBezTo>
                  <a:pt x="120894" y="103303"/>
                  <a:pt x="143292" y="80905"/>
                  <a:pt x="143292" y="53318"/>
                </a:cubicBezTo>
                <a:cubicBezTo>
                  <a:pt x="143292" y="25730"/>
                  <a:pt x="120894" y="3332"/>
                  <a:pt x="93306" y="3332"/>
                </a:cubicBezTo>
                <a:cubicBezTo>
                  <a:pt x="65718" y="3332"/>
                  <a:pt x="43321" y="25730"/>
                  <a:pt x="43321" y="53318"/>
                </a:cubicBezTo>
                <a:cubicBezTo>
                  <a:pt x="43321" y="80905"/>
                  <a:pt x="65718" y="103303"/>
                  <a:pt x="93306" y="103303"/>
                </a:cubicBezTo>
                <a:close/>
                <a:moveTo>
                  <a:pt x="80935" y="126630"/>
                </a:moveTo>
                <a:cubicBezTo>
                  <a:pt x="39905" y="126630"/>
                  <a:pt x="6665" y="159870"/>
                  <a:pt x="6665" y="200900"/>
                </a:cubicBezTo>
                <a:cubicBezTo>
                  <a:pt x="6665" y="207731"/>
                  <a:pt x="12205" y="213271"/>
                  <a:pt x="19036" y="213271"/>
                </a:cubicBezTo>
                <a:lnTo>
                  <a:pt x="167576" y="213271"/>
                </a:lnTo>
                <a:cubicBezTo>
                  <a:pt x="174407" y="213271"/>
                  <a:pt x="179948" y="207731"/>
                  <a:pt x="179948" y="200900"/>
                </a:cubicBezTo>
                <a:cubicBezTo>
                  <a:pt x="179948" y="159870"/>
                  <a:pt x="146707" y="126630"/>
                  <a:pt x="105678" y="126630"/>
                </a:cubicBezTo>
                <a:lnTo>
                  <a:pt x="80935" y="126630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32233" y="1828483"/>
            <a:ext cx="82938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主体层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6117" y="2373510"/>
            <a:ext cx="3400490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描述参与交易的人员或组织实体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6117" y="2794128"/>
            <a:ext cx="128536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Subject Layer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25961" y="1567819"/>
            <a:ext cx="3708548" cy="1990531"/>
          </a:xfrm>
          <a:custGeom>
            <a:avLst/>
            <a:gdLst/>
            <a:ahLst/>
            <a:cxnLst/>
            <a:rect l="l" t="t" r="r" b="b"/>
            <a:pathLst>
              <a:path w="3708548" h="1990531">
                <a:moveTo>
                  <a:pt x="0" y="0"/>
                </a:moveTo>
                <a:lnTo>
                  <a:pt x="3708548" y="0"/>
                </a:lnTo>
                <a:lnTo>
                  <a:pt x="3708548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25961" y="1567819"/>
            <a:ext cx="47394" cy="1990531"/>
          </a:xfrm>
          <a:custGeom>
            <a:avLst/>
            <a:gdLst/>
            <a:ahLst/>
            <a:cxnLst/>
            <a:rect l="l" t="t" r="r" b="b"/>
            <a:pathLst>
              <a:path w="47394" h="1990531">
                <a:moveTo>
                  <a:pt x="0" y="0"/>
                </a:moveTo>
                <a:lnTo>
                  <a:pt x="47394" y="0"/>
                </a:lnTo>
                <a:lnTo>
                  <a:pt x="47394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39232" y="175739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72526" y="1887725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6659" y="13329"/>
                </a:moveTo>
                <a:cubicBezTo>
                  <a:pt x="11955" y="13329"/>
                  <a:pt x="0" y="25284"/>
                  <a:pt x="0" y="39988"/>
                </a:cubicBezTo>
                <a:lnTo>
                  <a:pt x="0" y="159953"/>
                </a:lnTo>
                <a:cubicBezTo>
                  <a:pt x="0" y="174657"/>
                  <a:pt x="11955" y="186612"/>
                  <a:pt x="26659" y="186612"/>
                </a:cubicBezTo>
                <a:lnTo>
                  <a:pt x="186612" y="186612"/>
                </a:lnTo>
                <a:cubicBezTo>
                  <a:pt x="201316" y="186612"/>
                  <a:pt x="213271" y="174657"/>
                  <a:pt x="213271" y="159953"/>
                </a:cubicBezTo>
                <a:lnTo>
                  <a:pt x="213271" y="79977"/>
                </a:lnTo>
                <a:cubicBezTo>
                  <a:pt x="213271" y="65273"/>
                  <a:pt x="201316" y="53318"/>
                  <a:pt x="186612" y="53318"/>
                </a:cubicBezTo>
                <a:lnTo>
                  <a:pt x="29991" y="53318"/>
                </a:lnTo>
                <a:cubicBezTo>
                  <a:pt x="24451" y="53318"/>
                  <a:pt x="19994" y="48861"/>
                  <a:pt x="19994" y="43321"/>
                </a:cubicBezTo>
                <a:cubicBezTo>
                  <a:pt x="19994" y="37781"/>
                  <a:pt x="24451" y="33324"/>
                  <a:pt x="29991" y="33324"/>
                </a:cubicBezTo>
                <a:lnTo>
                  <a:pt x="189945" y="33324"/>
                </a:lnTo>
                <a:cubicBezTo>
                  <a:pt x="195485" y="33324"/>
                  <a:pt x="199942" y="28867"/>
                  <a:pt x="199942" y="23327"/>
                </a:cubicBezTo>
                <a:cubicBezTo>
                  <a:pt x="199942" y="17786"/>
                  <a:pt x="195485" y="13329"/>
                  <a:pt x="189945" y="13329"/>
                </a:cubicBezTo>
                <a:lnTo>
                  <a:pt x="26659" y="13329"/>
                </a:lnTo>
                <a:close/>
                <a:moveTo>
                  <a:pt x="173283" y="106636"/>
                </a:moveTo>
                <a:cubicBezTo>
                  <a:pt x="180640" y="106636"/>
                  <a:pt x="186612" y="112608"/>
                  <a:pt x="186612" y="119965"/>
                </a:cubicBezTo>
                <a:cubicBezTo>
                  <a:pt x="186612" y="127322"/>
                  <a:pt x="180640" y="133294"/>
                  <a:pt x="173283" y="133294"/>
                </a:cubicBezTo>
                <a:cubicBezTo>
                  <a:pt x="165926" y="133294"/>
                  <a:pt x="159953" y="127322"/>
                  <a:pt x="159953" y="119965"/>
                </a:cubicBezTo>
                <a:cubicBezTo>
                  <a:pt x="159953" y="112608"/>
                  <a:pt x="165926" y="106636"/>
                  <a:pt x="173283" y="10663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155348" y="1828483"/>
            <a:ext cx="82938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资产层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9232" y="2373510"/>
            <a:ext cx="3400490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描述资金存放与流转的载体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39232" y="2794128"/>
            <a:ext cx="110504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Asset Layer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49076" y="1567819"/>
            <a:ext cx="3708548" cy="1990531"/>
          </a:xfrm>
          <a:custGeom>
            <a:avLst/>
            <a:gdLst/>
            <a:ahLst/>
            <a:cxnLst/>
            <a:rect l="l" t="t" r="r" b="b"/>
            <a:pathLst>
              <a:path w="3708548" h="1990531">
                <a:moveTo>
                  <a:pt x="0" y="0"/>
                </a:moveTo>
                <a:lnTo>
                  <a:pt x="3708548" y="0"/>
                </a:lnTo>
                <a:lnTo>
                  <a:pt x="3708548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49076" y="1567819"/>
            <a:ext cx="47394" cy="1990531"/>
          </a:xfrm>
          <a:custGeom>
            <a:avLst/>
            <a:gdLst/>
            <a:ahLst/>
            <a:cxnLst/>
            <a:rect l="l" t="t" r="r" b="b"/>
            <a:pathLst>
              <a:path w="47394" h="1990531">
                <a:moveTo>
                  <a:pt x="0" y="0"/>
                </a:moveTo>
                <a:lnTo>
                  <a:pt x="47394" y="0"/>
                </a:lnTo>
                <a:lnTo>
                  <a:pt x="47394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62347" y="175739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68983" y="1887725"/>
            <a:ext cx="266589" cy="213271"/>
          </a:xfrm>
          <a:custGeom>
            <a:avLst/>
            <a:gdLst/>
            <a:ahLst/>
            <a:cxnLst/>
            <a:rect l="l" t="t" r="r" b="b"/>
            <a:pathLst>
              <a:path w="266589" h="213271">
                <a:moveTo>
                  <a:pt x="53318" y="13329"/>
                </a:moveTo>
                <a:cubicBezTo>
                  <a:pt x="38614" y="13329"/>
                  <a:pt x="26659" y="25284"/>
                  <a:pt x="26659" y="39988"/>
                </a:cubicBezTo>
                <a:lnTo>
                  <a:pt x="26659" y="139959"/>
                </a:lnTo>
                <a:lnTo>
                  <a:pt x="53318" y="139959"/>
                </a:lnTo>
                <a:lnTo>
                  <a:pt x="53318" y="39988"/>
                </a:lnTo>
                <a:lnTo>
                  <a:pt x="213271" y="39988"/>
                </a:lnTo>
                <a:lnTo>
                  <a:pt x="213271" y="139959"/>
                </a:lnTo>
                <a:lnTo>
                  <a:pt x="239930" y="139959"/>
                </a:lnTo>
                <a:lnTo>
                  <a:pt x="239930" y="39988"/>
                </a:lnTo>
                <a:cubicBezTo>
                  <a:pt x="239930" y="25284"/>
                  <a:pt x="227975" y="13329"/>
                  <a:pt x="213271" y="13329"/>
                </a:cubicBezTo>
                <a:lnTo>
                  <a:pt x="53318" y="13329"/>
                </a:lnTo>
                <a:close/>
                <a:moveTo>
                  <a:pt x="7998" y="159953"/>
                </a:moveTo>
                <a:cubicBezTo>
                  <a:pt x="3582" y="159953"/>
                  <a:pt x="0" y="163536"/>
                  <a:pt x="0" y="167951"/>
                </a:cubicBezTo>
                <a:cubicBezTo>
                  <a:pt x="0" y="185613"/>
                  <a:pt x="14329" y="199942"/>
                  <a:pt x="31991" y="199942"/>
                </a:cubicBezTo>
                <a:lnTo>
                  <a:pt x="234598" y="199942"/>
                </a:lnTo>
                <a:cubicBezTo>
                  <a:pt x="252260" y="199942"/>
                  <a:pt x="266589" y="185613"/>
                  <a:pt x="266589" y="167951"/>
                </a:cubicBezTo>
                <a:cubicBezTo>
                  <a:pt x="266589" y="163536"/>
                  <a:pt x="263007" y="159953"/>
                  <a:pt x="258591" y="159953"/>
                </a:cubicBezTo>
                <a:lnTo>
                  <a:pt x="7998" y="159953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078464" y="1828483"/>
            <a:ext cx="82938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环境层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62347" y="2373510"/>
            <a:ext cx="3400490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描述交易发生的物理或网络环境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62347" y="2794128"/>
            <a:ext cx="173014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Environment Layer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172191" y="1567819"/>
            <a:ext cx="3708548" cy="1990531"/>
          </a:xfrm>
          <a:custGeom>
            <a:avLst/>
            <a:gdLst/>
            <a:ahLst/>
            <a:cxnLst/>
            <a:rect l="l" t="t" r="r" b="b"/>
            <a:pathLst>
              <a:path w="3708548" h="1990531">
                <a:moveTo>
                  <a:pt x="0" y="0"/>
                </a:moveTo>
                <a:lnTo>
                  <a:pt x="3708548" y="0"/>
                </a:lnTo>
                <a:lnTo>
                  <a:pt x="3708548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2172191" y="1567819"/>
            <a:ext cx="47394" cy="1990531"/>
          </a:xfrm>
          <a:custGeom>
            <a:avLst/>
            <a:gdLst/>
            <a:ahLst/>
            <a:cxnLst/>
            <a:rect l="l" t="t" r="r" b="b"/>
            <a:pathLst>
              <a:path w="47394" h="1990531">
                <a:moveTo>
                  <a:pt x="0" y="0"/>
                </a:moveTo>
                <a:lnTo>
                  <a:pt x="47394" y="0"/>
                </a:lnTo>
                <a:lnTo>
                  <a:pt x="47394" y="1990531"/>
                </a:lnTo>
                <a:lnTo>
                  <a:pt x="0" y="1990531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2385462" y="175739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2518757" y="1887725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09356" y="62732"/>
                </a:moveTo>
                <a:lnTo>
                  <a:pt x="169367" y="102720"/>
                </a:lnTo>
                <a:cubicBezTo>
                  <a:pt x="165535" y="106552"/>
                  <a:pt x="159828" y="107677"/>
                  <a:pt x="154830" y="105594"/>
                </a:cubicBezTo>
                <a:cubicBezTo>
                  <a:pt x="149831" y="103511"/>
                  <a:pt x="146624" y="98680"/>
                  <a:pt x="146624" y="93306"/>
                </a:cubicBezTo>
                <a:lnTo>
                  <a:pt x="146624" y="66647"/>
                </a:lnTo>
                <a:lnTo>
                  <a:pt x="13329" y="66647"/>
                </a:lnTo>
                <a:cubicBezTo>
                  <a:pt x="5957" y="66647"/>
                  <a:pt x="0" y="60691"/>
                  <a:pt x="0" y="53318"/>
                </a:cubicBezTo>
                <a:cubicBezTo>
                  <a:pt x="0" y="45945"/>
                  <a:pt x="5957" y="39988"/>
                  <a:pt x="13329" y="39988"/>
                </a:cubicBezTo>
                <a:lnTo>
                  <a:pt x="146624" y="39988"/>
                </a:lnTo>
                <a:lnTo>
                  <a:pt x="146624" y="13329"/>
                </a:lnTo>
                <a:cubicBezTo>
                  <a:pt x="146624" y="7956"/>
                  <a:pt x="149873" y="3082"/>
                  <a:pt x="154872" y="1000"/>
                </a:cubicBezTo>
                <a:cubicBezTo>
                  <a:pt x="159870" y="-1083"/>
                  <a:pt x="165577" y="83"/>
                  <a:pt x="169409" y="3874"/>
                </a:cubicBezTo>
                <a:lnTo>
                  <a:pt x="209397" y="43862"/>
                </a:lnTo>
                <a:cubicBezTo>
                  <a:pt x="214604" y="49069"/>
                  <a:pt x="214604" y="57525"/>
                  <a:pt x="209397" y="62732"/>
                </a:cubicBezTo>
                <a:close/>
                <a:moveTo>
                  <a:pt x="43862" y="209356"/>
                </a:moveTo>
                <a:lnTo>
                  <a:pt x="3874" y="169367"/>
                </a:lnTo>
                <a:cubicBezTo>
                  <a:pt x="-1333" y="164160"/>
                  <a:pt x="-1333" y="155705"/>
                  <a:pt x="3874" y="150498"/>
                </a:cubicBezTo>
                <a:lnTo>
                  <a:pt x="43862" y="110509"/>
                </a:lnTo>
                <a:cubicBezTo>
                  <a:pt x="47694" y="106677"/>
                  <a:pt x="53401" y="105553"/>
                  <a:pt x="58400" y="107635"/>
                </a:cubicBezTo>
                <a:cubicBezTo>
                  <a:pt x="63398" y="109718"/>
                  <a:pt x="66647" y="114592"/>
                  <a:pt x="66647" y="119965"/>
                </a:cubicBezTo>
                <a:lnTo>
                  <a:pt x="66647" y="146624"/>
                </a:lnTo>
                <a:lnTo>
                  <a:pt x="199942" y="146624"/>
                </a:lnTo>
                <a:cubicBezTo>
                  <a:pt x="207315" y="146624"/>
                  <a:pt x="213271" y="152581"/>
                  <a:pt x="213271" y="159953"/>
                </a:cubicBezTo>
                <a:cubicBezTo>
                  <a:pt x="213271" y="167326"/>
                  <a:pt x="207315" y="173283"/>
                  <a:pt x="199942" y="173283"/>
                </a:cubicBezTo>
                <a:lnTo>
                  <a:pt x="66647" y="173283"/>
                </a:lnTo>
                <a:lnTo>
                  <a:pt x="66647" y="199942"/>
                </a:lnTo>
                <a:cubicBezTo>
                  <a:pt x="66647" y="205315"/>
                  <a:pt x="63398" y="210189"/>
                  <a:pt x="58400" y="212271"/>
                </a:cubicBezTo>
                <a:cubicBezTo>
                  <a:pt x="53401" y="214354"/>
                  <a:pt x="47694" y="213188"/>
                  <a:pt x="43862" y="20939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3001579" y="1828483"/>
            <a:ext cx="82938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行为层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85461" y="2373510"/>
            <a:ext cx="3704662" cy="30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描述主体操作资产在环境中产生的动态行为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385462" y="2794128"/>
            <a:ext cx="118567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Action Layer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073" y="3644073"/>
            <a:ext cx="7618519" cy="4703813"/>
          </a:xfrm>
          <a:custGeom>
            <a:avLst/>
            <a:gdLst/>
            <a:ahLst/>
            <a:cxnLst/>
            <a:rect l="l" t="t" r="r" b="b"/>
            <a:pathLst>
              <a:path w="7618519" h="4703813">
                <a:moveTo>
                  <a:pt x="0" y="0"/>
                </a:moveTo>
                <a:lnTo>
                  <a:pt x="7618519" y="0"/>
                </a:lnTo>
                <a:lnTo>
                  <a:pt x="7618519" y="4703813"/>
                </a:lnTo>
                <a:lnTo>
                  <a:pt x="0" y="470381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57586" y="3934359"/>
            <a:ext cx="236968" cy="236968"/>
          </a:xfrm>
          <a:custGeom>
            <a:avLst/>
            <a:gdLst/>
            <a:ahLst/>
            <a:cxnLst/>
            <a:rect l="l" t="t" r="r" b="b"/>
            <a:pathLst>
              <a:path w="236968" h="236968">
                <a:moveTo>
                  <a:pt x="103812" y="-1157"/>
                </a:moveTo>
                <a:cubicBezTo>
                  <a:pt x="112976" y="-6433"/>
                  <a:pt x="124269" y="-6433"/>
                  <a:pt x="133433" y="-1157"/>
                </a:cubicBezTo>
                <a:lnTo>
                  <a:pt x="214845" y="45820"/>
                </a:lnTo>
                <a:cubicBezTo>
                  <a:pt x="224009" y="51096"/>
                  <a:pt x="229655" y="60908"/>
                  <a:pt x="229655" y="71461"/>
                </a:cubicBezTo>
                <a:lnTo>
                  <a:pt x="229655" y="165415"/>
                </a:lnTo>
                <a:cubicBezTo>
                  <a:pt x="229655" y="176013"/>
                  <a:pt x="224009" y="185779"/>
                  <a:pt x="214845" y="191055"/>
                </a:cubicBezTo>
                <a:lnTo>
                  <a:pt x="133433" y="238125"/>
                </a:lnTo>
                <a:cubicBezTo>
                  <a:pt x="124269" y="243401"/>
                  <a:pt x="112976" y="243401"/>
                  <a:pt x="103812" y="238125"/>
                </a:cubicBezTo>
                <a:lnTo>
                  <a:pt x="22447" y="191148"/>
                </a:lnTo>
                <a:cubicBezTo>
                  <a:pt x="13283" y="185872"/>
                  <a:pt x="7637" y="176060"/>
                  <a:pt x="7637" y="165507"/>
                </a:cubicBezTo>
                <a:lnTo>
                  <a:pt x="7637" y="71553"/>
                </a:lnTo>
                <a:cubicBezTo>
                  <a:pt x="7637" y="60954"/>
                  <a:pt x="13283" y="51189"/>
                  <a:pt x="22447" y="45913"/>
                </a:cubicBezTo>
                <a:lnTo>
                  <a:pt x="103812" y="-1157"/>
                </a:lnTo>
                <a:close/>
                <a:moveTo>
                  <a:pt x="199988" y="165461"/>
                </a:moveTo>
                <a:lnTo>
                  <a:pt x="199988" y="88585"/>
                </a:lnTo>
                <a:lnTo>
                  <a:pt x="133433" y="127000"/>
                </a:lnTo>
                <a:lnTo>
                  <a:pt x="133433" y="203876"/>
                </a:lnTo>
                <a:lnTo>
                  <a:pt x="199988" y="165461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24175" y="3886966"/>
            <a:ext cx="695500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核心实体定义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662" y="4408295"/>
            <a:ext cx="7109038" cy="1042659"/>
          </a:xfrm>
          <a:custGeom>
            <a:avLst/>
            <a:gdLst/>
            <a:ahLst/>
            <a:cxnLst/>
            <a:rect l="l" t="t" r="r" b="b"/>
            <a:pathLst>
              <a:path w="7109038" h="1042659">
                <a:moveTo>
                  <a:pt x="0" y="0"/>
                </a:moveTo>
                <a:lnTo>
                  <a:pt x="7109038" y="0"/>
                </a:lnTo>
                <a:lnTo>
                  <a:pt x="7109038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51662" y="4408295"/>
            <a:ext cx="47394" cy="1042659"/>
          </a:xfrm>
          <a:custGeom>
            <a:avLst/>
            <a:gdLst/>
            <a:ahLst/>
            <a:cxnLst/>
            <a:rect l="l" t="t" r="r" b="b"/>
            <a:pathLst>
              <a:path w="47394" h="1042659">
                <a:moveTo>
                  <a:pt x="0" y="0"/>
                </a:moveTo>
                <a:lnTo>
                  <a:pt x="47394" y="0"/>
                </a:lnTo>
                <a:lnTo>
                  <a:pt x="47394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17539" y="4550476"/>
            <a:ext cx="379149" cy="379149"/>
          </a:xfrm>
          <a:custGeom>
            <a:avLst/>
            <a:gdLst/>
            <a:ahLst/>
            <a:cxnLst/>
            <a:rect l="l" t="t" r="r" b="b"/>
            <a:pathLst>
              <a:path w="379149" h="379149">
                <a:moveTo>
                  <a:pt x="47394" y="0"/>
                </a:moveTo>
                <a:lnTo>
                  <a:pt x="331755" y="0"/>
                </a:lnTo>
                <a:cubicBezTo>
                  <a:pt x="357930" y="0"/>
                  <a:pt x="379149" y="21219"/>
                  <a:pt x="379149" y="47394"/>
                </a:cubicBezTo>
                <a:lnTo>
                  <a:pt x="379149" y="331755"/>
                </a:lnTo>
                <a:cubicBezTo>
                  <a:pt x="379149" y="357930"/>
                  <a:pt x="357930" y="379149"/>
                  <a:pt x="331755" y="379149"/>
                </a:cubicBezTo>
                <a:lnTo>
                  <a:pt x="47394" y="379149"/>
                </a:lnTo>
                <a:cubicBezTo>
                  <a:pt x="21219" y="379149"/>
                  <a:pt x="0" y="357930"/>
                  <a:pt x="0" y="331755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57036" y="4621566"/>
            <a:ext cx="177726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91475" y="4574173"/>
            <a:ext cx="1066356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Customer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289356" y="4621566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主体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7539" y="5024412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客户主体,关联所有资产与行为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1662" y="5593135"/>
            <a:ext cx="7109038" cy="1042659"/>
          </a:xfrm>
          <a:custGeom>
            <a:avLst/>
            <a:gdLst/>
            <a:ahLst/>
            <a:cxnLst/>
            <a:rect l="l" t="t" r="r" b="b"/>
            <a:pathLst>
              <a:path w="7109038" h="1042659">
                <a:moveTo>
                  <a:pt x="0" y="0"/>
                </a:moveTo>
                <a:lnTo>
                  <a:pt x="7109038" y="0"/>
                </a:lnTo>
                <a:lnTo>
                  <a:pt x="7109038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51662" y="5593135"/>
            <a:ext cx="47394" cy="1042659"/>
          </a:xfrm>
          <a:custGeom>
            <a:avLst/>
            <a:gdLst/>
            <a:ahLst/>
            <a:cxnLst/>
            <a:rect l="l" t="t" r="r" b="b"/>
            <a:pathLst>
              <a:path w="47394" h="1042659">
                <a:moveTo>
                  <a:pt x="0" y="0"/>
                </a:moveTo>
                <a:lnTo>
                  <a:pt x="47394" y="0"/>
                </a:lnTo>
                <a:lnTo>
                  <a:pt x="47394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17539" y="5735315"/>
            <a:ext cx="379149" cy="379149"/>
          </a:xfrm>
          <a:custGeom>
            <a:avLst/>
            <a:gdLst/>
            <a:ahLst/>
            <a:cxnLst/>
            <a:rect l="l" t="t" r="r" b="b"/>
            <a:pathLst>
              <a:path w="379149" h="379149">
                <a:moveTo>
                  <a:pt x="47394" y="0"/>
                </a:moveTo>
                <a:lnTo>
                  <a:pt x="331755" y="0"/>
                </a:lnTo>
                <a:cubicBezTo>
                  <a:pt x="357930" y="0"/>
                  <a:pt x="379149" y="21219"/>
                  <a:pt x="379149" y="47394"/>
                </a:cubicBezTo>
                <a:lnTo>
                  <a:pt x="379149" y="331755"/>
                </a:lnTo>
                <a:cubicBezTo>
                  <a:pt x="379149" y="357930"/>
                  <a:pt x="357930" y="379149"/>
                  <a:pt x="331755" y="379149"/>
                </a:cubicBezTo>
                <a:lnTo>
                  <a:pt x="47394" y="379149"/>
                </a:lnTo>
                <a:cubicBezTo>
                  <a:pt x="21219" y="379149"/>
                  <a:pt x="0" y="357930"/>
                  <a:pt x="0" y="331755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52500" y="5806406"/>
            <a:ext cx="18957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91475" y="5759012"/>
            <a:ext cx="912327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Account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289356" y="5806406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7539" y="6209251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资金账户,交易的核心节点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1662" y="6777974"/>
            <a:ext cx="7109038" cy="1042659"/>
          </a:xfrm>
          <a:custGeom>
            <a:avLst/>
            <a:gdLst/>
            <a:ahLst/>
            <a:cxnLst/>
            <a:rect l="l" t="t" r="r" b="b"/>
            <a:pathLst>
              <a:path w="7109038" h="1042659">
                <a:moveTo>
                  <a:pt x="0" y="0"/>
                </a:moveTo>
                <a:lnTo>
                  <a:pt x="7109038" y="0"/>
                </a:lnTo>
                <a:lnTo>
                  <a:pt x="7109038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51662" y="6777974"/>
            <a:ext cx="47394" cy="1042659"/>
          </a:xfrm>
          <a:custGeom>
            <a:avLst/>
            <a:gdLst/>
            <a:ahLst/>
            <a:cxnLst/>
            <a:rect l="l" t="t" r="r" b="b"/>
            <a:pathLst>
              <a:path w="47394" h="1042659">
                <a:moveTo>
                  <a:pt x="0" y="0"/>
                </a:moveTo>
                <a:lnTo>
                  <a:pt x="47394" y="0"/>
                </a:lnTo>
                <a:lnTo>
                  <a:pt x="47394" y="1042659"/>
                </a:lnTo>
                <a:lnTo>
                  <a:pt x="0" y="1042659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17539" y="6920155"/>
            <a:ext cx="379149" cy="379149"/>
          </a:xfrm>
          <a:custGeom>
            <a:avLst/>
            <a:gdLst/>
            <a:ahLst/>
            <a:cxnLst/>
            <a:rect l="l" t="t" r="r" b="b"/>
            <a:pathLst>
              <a:path w="379149" h="379149">
                <a:moveTo>
                  <a:pt x="47394" y="0"/>
                </a:moveTo>
                <a:lnTo>
                  <a:pt x="331755" y="0"/>
                </a:lnTo>
                <a:cubicBezTo>
                  <a:pt x="357930" y="0"/>
                  <a:pt x="379149" y="21219"/>
                  <a:pt x="379149" y="47394"/>
                </a:cubicBezTo>
                <a:lnTo>
                  <a:pt x="379149" y="331755"/>
                </a:lnTo>
                <a:cubicBezTo>
                  <a:pt x="379149" y="357930"/>
                  <a:pt x="357930" y="379149"/>
                  <a:pt x="331755" y="379149"/>
                </a:cubicBezTo>
                <a:lnTo>
                  <a:pt x="47394" y="379149"/>
                </a:lnTo>
                <a:cubicBezTo>
                  <a:pt x="21219" y="379149"/>
                  <a:pt x="0" y="357930"/>
                  <a:pt x="0" y="331755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57961" y="6991245"/>
            <a:ext cx="177726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91475" y="6943852"/>
            <a:ext cx="104265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Device/IP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289356" y="6991245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环境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7539" y="7394091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设备指纹与IP地址,识别环境共用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5000" y="3644073"/>
            <a:ext cx="7618519" cy="4703813"/>
          </a:xfrm>
          <a:custGeom>
            <a:avLst/>
            <a:gdLst/>
            <a:ahLst/>
            <a:cxnLst/>
            <a:rect l="l" t="t" r="r" b="b"/>
            <a:pathLst>
              <a:path w="7618519" h="4703813">
                <a:moveTo>
                  <a:pt x="0" y="0"/>
                </a:moveTo>
                <a:lnTo>
                  <a:pt x="7618519" y="0"/>
                </a:lnTo>
                <a:lnTo>
                  <a:pt x="7618519" y="4703813"/>
                </a:lnTo>
                <a:lnTo>
                  <a:pt x="0" y="470381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527513" y="3934359"/>
            <a:ext cx="236968" cy="236968"/>
          </a:xfrm>
          <a:custGeom>
            <a:avLst/>
            <a:gdLst/>
            <a:ahLst/>
            <a:cxnLst/>
            <a:rect l="l" t="t" r="r" b="b"/>
            <a:pathLst>
              <a:path w="236968" h="236968">
                <a:moveTo>
                  <a:pt x="0" y="37026"/>
                </a:moveTo>
                <a:cubicBezTo>
                  <a:pt x="0" y="24761"/>
                  <a:pt x="9951" y="14810"/>
                  <a:pt x="22216" y="14810"/>
                </a:cubicBezTo>
                <a:lnTo>
                  <a:pt x="66647" y="14810"/>
                </a:lnTo>
                <a:cubicBezTo>
                  <a:pt x="78912" y="14810"/>
                  <a:pt x="88863" y="24761"/>
                  <a:pt x="88863" y="37026"/>
                </a:cubicBezTo>
                <a:lnTo>
                  <a:pt x="88863" y="44431"/>
                </a:lnTo>
                <a:lnTo>
                  <a:pt x="148105" y="44431"/>
                </a:lnTo>
                <a:lnTo>
                  <a:pt x="148105" y="37026"/>
                </a:lnTo>
                <a:cubicBezTo>
                  <a:pt x="148105" y="24761"/>
                  <a:pt x="158056" y="14810"/>
                  <a:pt x="170321" y="14810"/>
                </a:cubicBezTo>
                <a:lnTo>
                  <a:pt x="214752" y="14810"/>
                </a:lnTo>
                <a:cubicBezTo>
                  <a:pt x="227017" y="14810"/>
                  <a:pt x="236968" y="24761"/>
                  <a:pt x="236968" y="37026"/>
                </a:cubicBezTo>
                <a:lnTo>
                  <a:pt x="236968" y="81458"/>
                </a:lnTo>
                <a:cubicBezTo>
                  <a:pt x="236968" y="93723"/>
                  <a:pt x="227017" y="103673"/>
                  <a:pt x="214752" y="103673"/>
                </a:cubicBezTo>
                <a:lnTo>
                  <a:pt x="170321" y="103673"/>
                </a:lnTo>
                <a:cubicBezTo>
                  <a:pt x="158056" y="103673"/>
                  <a:pt x="148105" y="93723"/>
                  <a:pt x="148105" y="81458"/>
                </a:cubicBezTo>
                <a:lnTo>
                  <a:pt x="148105" y="74052"/>
                </a:lnTo>
                <a:lnTo>
                  <a:pt x="88863" y="74052"/>
                </a:lnTo>
                <a:lnTo>
                  <a:pt x="88863" y="81458"/>
                </a:lnTo>
                <a:cubicBezTo>
                  <a:pt x="88863" y="84836"/>
                  <a:pt x="88076" y="88076"/>
                  <a:pt x="86734" y="90946"/>
                </a:cubicBezTo>
                <a:lnTo>
                  <a:pt x="118484" y="133294"/>
                </a:lnTo>
                <a:lnTo>
                  <a:pt x="155510" y="133294"/>
                </a:lnTo>
                <a:cubicBezTo>
                  <a:pt x="167775" y="133294"/>
                  <a:pt x="177726" y="143245"/>
                  <a:pt x="177726" y="155510"/>
                </a:cubicBezTo>
                <a:lnTo>
                  <a:pt x="177726" y="199942"/>
                </a:lnTo>
                <a:cubicBezTo>
                  <a:pt x="177726" y="212207"/>
                  <a:pt x="167775" y="222157"/>
                  <a:pt x="155510" y="222157"/>
                </a:cubicBezTo>
                <a:lnTo>
                  <a:pt x="111079" y="222157"/>
                </a:lnTo>
                <a:cubicBezTo>
                  <a:pt x="98814" y="222157"/>
                  <a:pt x="88863" y="212207"/>
                  <a:pt x="88863" y="199942"/>
                </a:cubicBezTo>
                <a:lnTo>
                  <a:pt x="88863" y="155510"/>
                </a:lnTo>
                <a:cubicBezTo>
                  <a:pt x="88863" y="152132"/>
                  <a:pt x="89650" y="148892"/>
                  <a:pt x="90992" y="146022"/>
                </a:cubicBezTo>
                <a:lnTo>
                  <a:pt x="59242" y="103673"/>
                </a:lnTo>
                <a:lnTo>
                  <a:pt x="22216" y="103673"/>
                </a:lnTo>
                <a:cubicBezTo>
                  <a:pt x="9951" y="103673"/>
                  <a:pt x="0" y="93723"/>
                  <a:pt x="0" y="81458"/>
                </a:cubicBezTo>
                <a:lnTo>
                  <a:pt x="0" y="37026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794102" y="3886966"/>
            <a:ext cx="695500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核心关系定义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21589" y="4408295"/>
            <a:ext cx="7109038" cy="995265"/>
          </a:xfrm>
          <a:custGeom>
            <a:avLst/>
            <a:gdLst/>
            <a:ahLst/>
            <a:cxnLst/>
            <a:rect l="l" t="t" r="r" b="b"/>
            <a:pathLst>
              <a:path w="7109038" h="995265">
                <a:moveTo>
                  <a:pt x="0" y="0"/>
                </a:moveTo>
                <a:lnTo>
                  <a:pt x="7109038" y="0"/>
                </a:lnTo>
                <a:lnTo>
                  <a:pt x="7109038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521589" y="4408295"/>
            <a:ext cx="47394" cy="995265"/>
          </a:xfrm>
          <a:custGeom>
            <a:avLst/>
            <a:gdLst/>
            <a:ahLst/>
            <a:cxnLst/>
            <a:rect l="l" t="t" r="r" b="b"/>
            <a:pathLst>
              <a:path w="47394" h="995265">
                <a:moveTo>
                  <a:pt x="0" y="0"/>
                </a:moveTo>
                <a:lnTo>
                  <a:pt x="47394" y="0"/>
                </a:lnTo>
                <a:lnTo>
                  <a:pt x="47394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687466" y="4550476"/>
            <a:ext cx="758297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OWNS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5159283" y="4597869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归属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87466" y="4977018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Customer → Account </a:t>
            </a: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| 确认资金所有权结构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21589" y="5545741"/>
            <a:ext cx="7109038" cy="995265"/>
          </a:xfrm>
          <a:custGeom>
            <a:avLst/>
            <a:gdLst/>
            <a:ahLst/>
            <a:cxnLst/>
            <a:rect l="l" t="t" r="r" b="b"/>
            <a:pathLst>
              <a:path w="7109038" h="995265">
                <a:moveTo>
                  <a:pt x="0" y="0"/>
                </a:moveTo>
                <a:lnTo>
                  <a:pt x="7109038" y="0"/>
                </a:lnTo>
                <a:lnTo>
                  <a:pt x="7109038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521589" y="5545741"/>
            <a:ext cx="47394" cy="995265"/>
          </a:xfrm>
          <a:custGeom>
            <a:avLst/>
            <a:gdLst/>
            <a:ahLst/>
            <a:cxnLst/>
            <a:rect l="l" t="t" r="r" b="b"/>
            <a:pathLst>
              <a:path w="47394" h="995265">
                <a:moveTo>
                  <a:pt x="0" y="0"/>
                </a:moveTo>
                <a:lnTo>
                  <a:pt x="47394" y="0"/>
                </a:lnTo>
                <a:lnTo>
                  <a:pt x="47394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87466" y="5687922"/>
            <a:ext cx="1516595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USED_DEVICE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5159283" y="5735315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87466" y="6114464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Customer → Device </a:t>
            </a: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| 识别设备共用、团伙操作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521589" y="6683187"/>
            <a:ext cx="7109038" cy="995265"/>
          </a:xfrm>
          <a:custGeom>
            <a:avLst/>
            <a:gdLst/>
            <a:ahLst/>
            <a:cxnLst/>
            <a:rect l="l" t="t" r="r" b="b"/>
            <a:pathLst>
              <a:path w="7109038" h="995265">
                <a:moveTo>
                  <a:pt x="0" y="0"/>
                </a:moveTo>
                <a:lnTo>
                  <a:pt x="7109038" y="0"/>
                </a:lnTo>
                <a:lnTo>
                  <a:pt x="7109038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8521589" y="6683187"/>
            <a:ext cx="47394" cy="995265"/>
          </a:xfrm>
          <a:custGeom>
            <a:avLst/>
            <a:gdLst/>
            <a:ahLst/>
            <a:cxnLst/>
            <a:rect l="l" t="t" r="r" b="b"/>
            <a:pathLst>
              <a:path w="47394" h="995265">
                <a:moveTo>
                  <a:pt x="0" y="0"/>
                </a:moveTo>
                <a:lnTo>
                  <a:pt x="47394" y="0"/>
                </a:lnTo>
                <a:lnTo>
                  <a:pt x="47394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687466" y="6825368"/>
            <a:ext cx="1172991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5159283" y="6872761"/>
            <a:ext cx="414694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流转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687466" y="7251910"/>
            <a:ext cx="689576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Account → Account </a:t>
            </a:r>
            <a:r>
              <a:rPr lang="en-US" sz="149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| 构建资金链路,识别归集清洗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85073" y="8456090"/>
            <a:ext cx="15485854" cy="580571"/>
          </a:xfrm>
          <a:custGeom>
            <a:avLst/>
            <a:gdLst/>
            <a:ahLst/>
            <a:cxnLst/>
            <a:rect l="l" t="t" r="r" b="b"/>
            <a:pathLst>
              <a:path w="15485854" h="580571">
                <a:moveTo>
                  <a:pt x="0" y="0"/>
                </a:moveTo>
                <a:lnTo>
                  <a:pt x="15485854" y="0"/>
                </a:lnTo>
                <a:lnTo>
                  <a:pt x="15485854" y="580571"/>
                </a:lnTo>
                <a:lnTo>
                  <a:pt x="0" y="580571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1660257" y="8657513"/>
            <a:ext cx="142181" cy="189574"/>
          </a:xfrm>
          <a:custGeom>
            <a:avLst/>
            <a:gdLst/>
            <a:ahLst/>
            <a:cxnLst/>
            <a:rect l="l" t="t" r="r" b="b"/>
            <a:pathLst>
              <a:path w="142181" h="189574">
                <a:moveTo>
                  <a:pt x="108450" y="142181"/>
                </a:moveTo>
                <a:cubicBezTo>
                  <a:pt x="111153" y="133924"/>
                  <a:pt x="116559" y="126445"/>
                  <a:pt x="122668" y="120002"/>
                </a:cubicBezTo>
                <a:cubicBezTo>
                  <a:pt x="134776" y="107265"/>
                  <a:pt x="142181" y="90048"/>
                  <a:pt x="142181" y="71090"/>
                </a:cubicBezTo>
                <a:cubicBezTo>
                  <a:pt x="142181" y="31843"/>
                  <a:pt x="110338" y="0"/>
                  <a:pt x="71090" y="0"/>
                </a:cubicBezTo>
                <a:cubicBezTo>
                  <a:pt x="31843" y="0"/>
                  <a:pt x="0" y="31843"/>
                  <a:pt x="0" y="71090"/>
                </a:cubicBezTo>
                <a:cubicBezTo>
                  <a:pt x="0" y="90048"/>
                  <a:pt x="7405" y="107265"/>
                  <a:pt x="19513" y="120002"/>
                </a:cubicBezTo>
                <a:cubicBezTo>
                  <a:pt x="25622" y="126445"/>
                  <a:pt x="31065" y="133924"/>
                  <a:pt x="33731" y="142181"/>
                </a:cubicBezTo>
                <a:lnTo>
                  <a:pt x="108413" y="142181"/>
                </a:lnTo>
                <a:close/>
                <a:moveTo>
                  <a:pt x="106636" y="159953"/>
                </a:moveTo>
                <a:lnTo>
                  <a:pt x="35545" y="159953"/>
                </a:lnTo>
                <a:lnTo>
                  <a:pt x="35545" y="165878"/>
                </a:lnTo>
                <a:cubicBezTo>
                  <a:pt x="35545" y="182243"/>
                  <a:pt x="48801" y="195499"/>
                  <a:pt x="65166" y="195499"/>
                </a:cubicBezTo>
                <a:lnTo>
                  <a:pt x="77015" y="195499"/>
                </a:lnTo>
                <a:cubicBezTo>
                  <a:pt x="93380" y="195499"/>
                  <a:pt x="106636" y="182243"/>
                  <a:pt x="106636" y="165878"/>
                </a:cubicBezTo>
                <a:lnTo>
                  <a:pt x="106636" y="159953"/>
                </a:lnTo>
                <a:close/>
                <a:moveTo>
                  <a:pt x="68128" y="41469"/>
                </a:moveTo>
                <a:cubicBezTo>
                  <a:pt x="53392" y="41469"/>
                  <a:pt x="41469" y="53392"/>
                  <a:pt x="41469" y="68128"/>
                </a:cubicBezTo>
                <a:cubicBezTo>
                  <a:pt x="41469" y="73053"/>
                  <a:pt x="37508" y="77015"/>
                  <a:pt x="32583" y="77015"/>
                </a:cubicBezTo>
                <a:cubicBezTo>
                  <a:pt x="27659" y="77015"/>
                  <a:pt x="23697" y="73053"/>
                  <a:pt x="23697" y="68128"/>
                </a:cubicBezTo>
                <a:cubicBezTo>
                  <a:pt x="23697" y="43580"/>
                  <a:pt x="43580" y="23697"/>
                  <a:pt x="68128" y="23697"/>
                </a:cubicBezTo>
                <a:cubicBezTo>
                  <a:pt x="73053" y="23697"/>
                  <a:pt x="77015" y="27659"/>
                  <a:pt x="77015" y="32583"/>
                </a:cubicBezTo>
                <a:cubicBezTo>
                  <a:pt x="77015" y="37508"/>
                  <a:pt x="73053" y="41469"/>
                  <a:pt x="68128" y="41469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811183" y="8604195"/>
            <a:ext cx="1495903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设计优势: 该</a:t>
            </a:r>
            <a:r>
              <a:rPr lang="en-US" sz="1493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49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设计支持从微观视角的单笔交易溯源,平滑过渡到宏观视角的资金网络分析,有效捕捉资金归集、长链清洗、设备团伙等复杂欺诈模式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384425"/>
            <a:ext cx="1054100" cy="723900"/>
          </a:xfrm>
          <a:custGeom>
            <a:avLst/>
            <a:gdLst/>
            <a:ahLst/>
            <a:cxnLst/>
            <a:rect l="l" t="t" r="r" b="b"/>
            <a:pathLst>
              <a:path w="1054100" h="723900">
                <a:moveTo>
                  <a:pt x="0" y="0"/>
                </a:moveTo>
                <a:lnTo>
                  <a:pt x="1054100" y="0"/>
                </a:lnTo>
                <a:lnTo>
                  <a:pt x="1054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873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功能模块设计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56769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三大核心功能模块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合规与风控原则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833" y="338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8000" y="396875"/>
            <a:ext cx="216652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FUNCTIONAL MODULES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667" y="762000"/>
            <a:ext cx="1576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核心功能模块设计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667" y="1312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59833" y="1524000"/>
            <a:ext cx="5058833" cy="5884333"/>
          </a:xfrm>
          <a:custGeom>
            <a:avLst/>
            <a:gdLst/>
            <a:ahLst/>
            <a:cxnLst/>
            <a:rect l="l" t="t" r="r" b="b"/>
            <a:pathLst>
              <a:path w="5058833" h="7376583">
                <a:moveTo>
                  <a:pt x="0" y="0"/>
                </a:moveTo>
                <a:lnTo>
                  <a:pt x="5058833" y="0"/>
                </a:lnTo>
                <a:lnTo>
                  <a:pt x="50588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59833" y="1524000"/>
            <a:ext cx="42333" cy="5886000"/>
          </a:xfrm>
          <a:custGeom>
            <a:avLst/>
            <a:gdLst/>
            <a:ahLst/>
            <a:cxnLst/>
            <a:rect l="l" t="t" r="r" b="b"/>
            <a:pathLst>
              <a:path w="42333" h="7376583">
                <a:moveTo>
                  <a:pt x="0" y="0"/>
                </a:moveTo>
                <a:lnTo>
                  <a:pt x="42333" y="0"/>
                </a:lnTo>
                <a:lnTo>
                  <a:pt x="423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50333" y="1735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69396" y="18520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00667" y="1693333"/>
            <a:ext cx="137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智能子图检索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0667" y="1989667"/>
            <a:ext cx="1344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9A477"/>
                </a:solidFill>
                <a:ea typeface="KaiTi" panose="02010609060101010101" pitchFamily="49" charset="-122"/>
                <a:cs typeface="MiSans" pitchFamily="34" charset="-120"/>
              </a:rPr>
              <a:t>Context Retrieval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333" y="2328333"/>
            <a:ext cx="4783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从全量图谱数据中精准提取与风险事件最相关的局部网络视图,为风险判决提供关键数据支撑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333" y="3005667"/>
            <a:ext cx="4699000" cy="846667"/>
          </a:xfrm>
          <a:custGeom>
            <a:avLst/>
            <a:gdLst/>
            <a:ahLst/>
            <a:cxnLst/>
            <a:rect l="l" t="t" r="r" b="b"/>
            <a:pathLst>
              <a:path w="4699000" h="846667">
                <a:moveTo>
                  <a:pt x="0" y="0"/>
                </a:moveTo>
                <a:lnTo>
                  <a:pt x="4699000" y="0"/>
                </a:lnTo>
                <a:lnTo>
                  <a:pt x="4699000" y="846667"/>
                </a:lnTo>
                <a:lnTo>
                  <a:pt x="0" y="846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98500" y="31750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26458"/>
                </a:moveTo>
                <a:cubicBezTo>
                  <a:pt x="0" y="17694"/>
                  <a:pt x="7111" y="10583"/>
                  <a:pt x="15875" y="10583"/>
                </a:cubicBezTo>
                <a:lnTo>
                  <a:pt x="47625" y="10583"/>
                </a:lnTo>
                <a:cubicBezTo>
                  <a:pt x="56389" y="10583"/>
                  <a:pt x="63500" y="17694"/>
                  <a:pt x="63500" y="26458"/>
                </a:cubicBezTo>
                <a:lnTo>
                  <a:pt x="63500" y="31750"/>
                </a:lnTo>
                <a:lnTo>
                  <a:pt x="105833" y="31750"/>
                </a:lnTo>
                <a:lnTo>
                  <a:pt x="105833" y="26458"/>
                </a:lnTo>
                <a:cubicBezTo>
                  <a:pt x="105833" y="17694"/>
                  <a:pt x="112944" y="10583"/>
                  <a:pt x="121708" y="10583"/>
                </a:cubicBezTo>
                <a:lnTo>
                  <a:pt x="153458" y="10583"/>
                </a:lnTo>
                <a:cubicBezTo>
                  <a:pt x="162223" y="10583"/>
                  <a:pt x="169333" y="17694"/>
                  <a:pt x="169333" y="26458"/>
                </a:cubicBezTo>
                <a:lnTo>
                  <a:pt x="169333" y="58208"/>
                </a:lnTo>
                <a:cubicBezTo>
                  <a:pt x="169333" y="66973"/>
                  <a:pt x="162223" y="74083"/>
                  <a:pt x="153458" y="74083"/>
                </a:cubicBezTo>
                <a:lnTo>
                  <a:pt x="121708" y="74083"/>
                </a:lnTo>
                <a:cubicBezTo>
                  <a:pt x="112944" y="74083"/>
                  <a:pt x="105833" y="66973"/>
                  <a:pt x="105833" y="58208"/>
                </a:cubicBezTo>
                <a:lnTo>
                  <a:pt x="105833" y="52917"/>
                </a:lnTo>
                <a:lnTo>
                  <a:pt x="63500" y="52917"/>
                </a:lnTo>
                <a:lnTo>
                  <a:pt x="63500" y="58208"/>
                </a:lnTo>
                <a:cubicBezTo>
                  <a:pt x="63500" y="60623"/>
                  <a:pt x="62938" y="62938"/>
                  <a:pt x="61979" y="64988"/>
                </a:cubicBezTo>
                <a:lnTo>
                  <a:pt x="84667" y="95250"/>
                </a:lnTo>
                <a:lnTo>
                  <a:pt x="111125" y="95250"/>
                </a:lnTo>
                <a:cubicBezTo>
                  <a:pt x="119889" y="95250"/>
                  <a:pt x="127000" y="102361"/>
                  <a:pt x="127000" y="111125"/>
                </a:cubicBezTo>
                <a:lnTo>
                  <a:pt x="127000" y="142875"/>
                </a:lnTo>
                <a:cubicBezTo>
                  <a:pt x="127000" y="151639"/>
                  <a:pt x="119889" y="158750"/>
                  <a:pt x="111125" y="158750"/>
                </a:cubicBezTo>
                <a:lnTo>
                  <a:pt x="79375" y="158750"/>
                </a:lnTo>
                <a:cubicBezTo>
                  <a:pt x="70611" y="158750"/>
                  <a:pt x="63500" y="151639"/>
                  <a:pt x="63500" y="142875"/>
                </a:cubicBezTo>
                <a:lnTo>
                  <a:pt x="63500" y="111125"/>
                </a:lnTo>
                <a:cubicBezTo>
                  <a:pt x="63500" y="108711"/>
                  <a:pt x="64062" y="106396"/>
                  <a:pt x="65021" y="104345"/>
                </a:cubicBezTo>
                <a:lnTo>
                  <a:pt x="42333" y="74083"/>
                </a:lnTo>
                <a:lnTo>
                  <a:pt x="15875" y="74083"/>
                </a:lnTo>
                <a:cubicBezTo>
                  <a:pt x="7111" y="74083"/>
                  <a:pt x="0" y="66973"/>
                  <a:pt x="0" y="58208"/>
                </a:cubicBezTo>
                <a:lnTo>
                  <a:pt x="0" y="26458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73667" y="313266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多跳邻居聚合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333" y="3471333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以涉嫌账户为中心,支持向外扩展2-3跳,获取完整关联网络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333" y="3979333"/>
            <a:ext cx="4699000" cy="846667"/>
          </a:xfrm>
          <a:custGeom>
            <a:avLst/>
            <a:gdLst/>
            <a:ahLst/>
            <a:cxnLst/>
            <a:rect l="l" t="t" r="r" b="b"/>
            <a:pathLst>
              <a:path w="4699000" h="846667">
                <a:moveTo>
                  <a:pt x="0" y="0"/>
                </a:moveTo>
                <a:lnTo>
                  <a:pt x="4699000" y="0"/>
                </a:lnTo>
                <a:lnTo>
                  <a:pt x="4699000" y="846667"/>
                </a:lnTo>
                <a:lnTo>
                  <a:pt x="0" y="846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98500" y="41486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ubicBezTo>
                  <a:pt x="0" y="37938"/>
                  <a:pt x="37938" y="0"/>
                  <a:pt x="84667" y="0"/>
                </a:cubicBezTo>
                <a:close/>
                <a:moveTo>
                  <a:pt x="76729" y="39688"/>
                </a:moveTo>
                <a:lnTo>
                  <a:pt x="76729" y="84667"/>
                </a:lnTo>
                <a:cubicBezTo>
                  <a:pt x="76729" y="87313"/>
                  <a:pt x="78052" y="89793"/>
                  <a:pt x="80268" y="91281"/>
                </a:cubicBezTo>
                <a:lnTo>
                  <a:pt x="112018" y="112448"/>
                </a:lnTo>
                <a:cubicBezTo>
                  <a:pt x="115656" y="114895"/>
                  <a:pt x="120584" y="113903"/>
                  <a:pt x="123031" y="110232"/>
                </a:cubicBezTo>
                <a:cubicBezTo>
                  <a:pt x="125479" y="106561"/>
                  <a:pt x="124486" y="101666"/>
                  <a:pt x="120815" y="99219"/>
                </a:cubicBezTo>
                <a:lnTo>
                  <a:pt x="92604" y="80433"/>
                </a:lnTo>
                <a:lnTo>
                  <a:pt x="92604" y="39688"/>
                </a:lnTo>
                <a:cubicBezTo>
                  <a:pt x="92604" y="35289"/>
                  <a:pt x="89065" y="31750"/>
                  <a:pt x="84667" y="31750"/>
                </a:cubicBezTo>
                <a:cubicBezTo>
                  <a:pt x="80268" y="31750"/>
                  <a:pt x="76729" y="35289"/>
                  <a:pt x="76729" y="39688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73667" y="4106333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时空范围过滤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7333" y="4445000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结合时间窗口(如近24小时)动态筛选,排除过期历史数据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0333" y="4953000"/>
            <a:ext cx="4699000" cy="846667"/>
          </a:xfrm>
          <a:custGeom>
            <a:avLst/>
            <a:gdLst/>
            <a:ahLst/>
            <a:cxnLst/>
            <a:rect l="l" t="t" r="r" b="b"/>
            <a:pathLst>
              <a:path w="4699000" h="846667">
                <a:moveTo>
                  <a:pt x="0" y="0"/>
                </a:moveTo>
                <a:lnTo>
                  <a:pt x="4699000" y="0"/>
                </a:lnTo>
                <a:lnTo>
                  <a:pt x="4699000" y="846667"/>
                </a:lnTo>
                <a:lnTo>
                  <a:pt x="0" y="846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7917" y="512233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38741" y="31750"/>
                </a:moveTo>
                <a:cubicBezTo>
                  <a:pt x="133251" y="31750"/>
                  <a:pt x="127926" y="33238"/>
                  <a:pt x="123263" y="35950"/>
                </a:cubicBezTo>
                <a:cubicBezTo>
                  <a:pt x="118037" y="30659"/>
                  <a:pt x="111952" y="26227"/>
                  <a:pt x="105238" y="22886"/>
                </a:cubicBezTo>
                <a:cubicBezTo>
                  <a:pt x="114565" y="14949"/>
                  <a:pt x="126438" y="10583"/>
                  <a:pt x="138741" y="10583"/>
                </a:cubicBezTo>
                <a:cubicBezTo>
                  <a:pt x="167316" y="10583"/>
                  <a:pt x="190500" y="33734"/>
                  <a:pt x="190500" y="62342"/>
                </a:cubicBezTo>
                <a:cubicBezTo>
                  <a:pt x="190500" y="76068"/>
                  <a:pt x="185043" y="89231"/>
                  <a:pt x="175353" y="98921"/>
                </a:cubicBezTo>
                <a:lnTo>
                  <a:pt x="151838" y="122436"/>
                </a:lnTo>
                <a:cubicBezTo>
                  <a:pt x="142147" y="132126"/>
                  <a:pt x="128984" y="137583"/>
                  <a:pt x="115259" y="137583"/>
                </a:cubicBezTo>
                <a:cubicBezTo>
                  <a:pt x="86684" y="137583"/>
                  <a:pt x="63500" y="114432"/>
                  <a:pt x="63500" y="85824"/>
                </a:cubicBezTo>
                <a:cubicBezTo>
                  <a:pt x="63500" y="85328"/>
                  <a:pt x="63500" y="84832"/>
                  <a:pt x="63533" y="84336"/>
                </a:cubicBezTo>
                <a:cubicBezTo>
                  <a:pt x="63698" y="78482"/>
                  <a:pt x="68560" y="73885"/>
                  <a:pt x="74414" y="74050"/>
                </a:cubicBezTo>
                <a:cubicBezTo>
                  <a:pt x="80268" y="74216"/>
                  <a:pt x="84865" y="79077"/>
                  <a:pt x="84700" y="84931"/>
                </a:cubicBezTo>
                <a:cubicBezTo>
                  <a:pt x="84700" y="85229"/>
                  <a:pt x="84700" y="85527"/>
                  <a:pt x="84700" y="85791"/>
                </a:cubicBezTo>
                <a:cubicBezTo>
                  <a:pt x="84700" y="102691"/>
                  <a:pt x="98392" y="116384"/>
                  <a:pt x="115292" y="116384"/>
                </a:cubicBezTo>
                <a:cubicBezTo>
                  <a:pt x="123395" y="116384"/>
                  <a:pt x="131167" y="113176"/>
                  <a:pt x="136922" y="107421"/>
                </a:cubicBezTo>
                <a:lnTo>
                  <a:pt x="160437" y="83906"/>
                </a:lnTo>
                <a:cubicBezTo>
                  <a:pt x="166158" y="78184"/>
                  <a:pt x="169399" y="70379"/>
                  <a:pt x="169399" y="62276"/>
                </a:cubicBezTo>
                <a:cubicBezTo>
                  <a:pt x="169399" y="45376"/>
                  <a:pt x="155707" y="31684"/>
                  <a:pt x="138807" y="31684"/>
                </a:cubicBezTo>
                <a:close/>
                <a:moveTo>
                  <a:pt x="91017" y="57315"/>
                </a:moveTo>
                <a:cubicBezTo>
                  <a:pt x="90388" y="57051"/>
                  <a:pt x="89760" y="56687"/>
                  <a:pt x="89198" y="56290"/>
                </a:cubicBezTo>
                <a:cubicBezTo>
                  <a:pt x="85030" y="54140"/>
                  <a:pt x="80268" y="52917"/>
                  <a:pt x="75274" y="52917"/>
                </a:cubicBezTo>
                <a:cubicBezTo>
                  <a:pt x="67171" y="52917"/>
                  <a:pt x="59399" y="56125"/>
                  <a:pt x="53644" y="61879"/>
                </a:cubicBezTo>
                <a:lnTo>
                  <a:pt x="30129" y="85394"/>
                </a:lnTo>
                <a:cubicBezTo>
                  <a:pt x="24408" y="91116"/>
                  <a:pt x="21167" y="98921"/>
                  <a:pt x="21167" y="107024"/>
                </a:cubicBezTo>
                <a:cubicBezTo>
                  <a:pt x="21167" y="123924"/>
                  <a:pt x="34859" y="137616"/>
                  <a:pt x="51759" y="137616"/>
                </a:cubicBezTo>
                <a:cubicBezTo>
                  <a:pt x="57216" y="137616"/>
                  <a:pt x="62541" y="136161"/>
                  <a:pt x="67204" y="133449"/>
                </a:cubicBezTo>
                <a:cubicBezTo>
                  <a:pt x="72430" y="138741"/>
                  <a:pt x="78515" y="143173"/>
                  <a:pt x="85262" y="146513"/>
                </a:cubicBezTo>
                <a:cubicBezTo>
                  <a:pt x="75935" y="154417"/>
                  <a:pt x="64095" y="158816"/>
                  <a:pt x="51759" y="158816"/>
                </a:cubicBezTo>
                <a:cubicBezTo>
                  <a:pt x="23184" y="158816"/>
                  <a:pt x="0" y="135665"/>
                  <a:pt x="0" y="107057"/>
                </a:cubicBezTo>
                <a:cubicBezTo>
                  <a:pt x="0" y="93332"/>
                  <a:pt x="5457" y="80169"/>
                  <a:pt x="15147" y="70478"/>
                </a:cubicBezTo>
                <a:lnTo>
                  <a:pt x="38662" y="46964"/>
                </a:lnTo>
                <a:cubicBezTo>
                  <a:pt x="48353" y="37273"/>
                  <a:pt x="61516" y="31816"/>
                  <a:pt x="75241" y="31816"/>
                </a:cubicBezTo>
                <a:cubicBezTo>
                  <a:pt x="103882" y="31816"/>
                  <a:pt x="127000" y="55166"/>
                  <a:pt x="127000" y="83708"/>
                </a:cubicBezTo>
                <a:cubicBezTo>
                  <a:pt x="127000" y="84138"/>
                  <a:pt x="127000" y="84567"/>
                  <a:pt x="127000" y="84997"/>
                </a:cubicBezTo>
                <a:cubicBezTo>
                  <a:pt x="126868" y="90851"/>
                  <a:pt x="122006" y="95448"/>
                  <a:pt x="116152" y="95316"/>
                </a:cubicBezTo>
                <a:cubicBezTo>
                  <a:pt x="110298" y="95184"/>
                  <a:pt x="105701" y="90322"/>
                  <a:pt x="105833" y="84468"/>
                </a:cubicBezTo>
                <a:cubicBezTo>
                  <a:pt x="105833" y="84204"/>
                  <a:pt x="105833" y="83972"/>
                  <a:pt x="105833" y="83708"/>
                </a:cubicBezTo>
                <a:cubicBezTo>
                  <a:pt x="105833" y="72562"/>
                  <a:pt x="99880" y="62772"/>
                  <a:pt x="91017" y="57382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3667" y="5080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路径补全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7333" y="5418667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自动补全检索节点间的内部关联边,确保子图拓扑完整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9167" y="1524000"/>
            <a:ext cx="5058833" cy="5884333"/>
          </a:xfrm>
          <a:custGeom>
            <a:avLst/>
            <a:gdLst/>
            <a:ahLst/>
            <a:cxnLst/>
            <a:rect l="l" t="t" r="r" b="b"/>
            <a:pathLst>
              <a:path w="5058833" h="7376583">
                <a:moveTo>
                  <a:pt x="0" y="0"/>
                </a:moveTo>
                <a:lnTo>
                  <a:pt x="5058833" y="0"/>
                </a:lnTo>
                <a:lnTo>
                  <a:pt x="50588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609167" y="1524000"/>
            <a:ext cx="42333" cy="5886000"/>
          </a:xfrm>
          <a:custGeom>
            <a:avLst/>
            <a:gdLst/>
            <a:ahLst/>
            <a:cxnLst/>
            <a:rect l="l" t="t" r="r" b="b"/>
            <a:pathLst>
              <a:path w="42333" h="7376583">
                <a:moveTo>
                  <a:pt x="0" y="0"/>
                </a:moveTo>
                <a:lnTo>
                  <a:pt x="42333" y="0"/>
                </a:lnTo>
                <a:lnTo>
                  <a:pt x="423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799667" y="1735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18729" y="18520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50000" y="1693333"/>
            <a:ext cx="137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多维特征研判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0000" y="1989667"/>
            <a:ext cx="1344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Risk Profiling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99667" y="2328333"/>
            <a:ext cx="4783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基于图谱结构和交易属性,计算确定性风险特征指标,作为量化评分基础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9667" y="3005667"/>
            <a:ext cx="4699000" cy="1439333"/>
          </a:xfrm>
          <a:custGeom>
            <a:avLst/>
            <a:gdLst/>
            <a:ahLst/>
            <a:cxnLst/>
            <a:rect l="l" t="t" r="r" b="b"/>
            <a:pathLst>
              <a:path w="4699000" h="1439333">
                <a:moveTo>
                  <a:pt x="0" y="0"/>
                </a:moveTo>
                <a:lnTo>
                  <a:pt x="4699000" y="0"/>
                </a:lnTo>
                <a:lnTo>
                  <a:pt x="4699000" y="1439333"/>
                </a:lnTo>
                <a:lnTo>
                  <a:pt x="0" y="1439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947833" y="31750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138774"/>
                </a:moveTo>
                <a:lnTo>
                  <a:pt x="0" y="36215"/>
                </a:lnTo>
                <a:cubicBezTo>
                  <a:pt x="0" y="28542"/>
                  <a:pt x="7971" y="23449"/>
                  <a:pt x="15313" y="25632"/>
                </a:cubicBezTo>
                <a:cubicBezTo>
                  <a:pt x="44318" y="34297"/>
                  <a:pt x="64823" y="27451"/>
                  <a:pt x="85460" y="20571"/>
                </a:cubicBezTo>
                <a:cubicBezTo>
                  <a:pt x="106792" y="13461"/>
                  <a:pt x="128257" y="6317"/>
                  <a:pt x="159312" y="16239"/>
                </a:cubicBezTo>
                <a:cubicBezTo>
                  <a:pt x="165431" y="18190"/>
                  <a:pt x="169333" y="24110"/>
                  <a:pt x="169333" y="30559"/>
                </a:cubicBezTo>
                <a:lnTo>
                  <a:pt x="169333" y="133118"/>
                </a:lnTo>
                <a:cubicBezTo>
                  <a:pt x="169333" y="140791"/>
                  <a:pt x="161363" y="145885"/>
                  <a:pt x="154054" y="143702"/>
                </a:cubicBezTo>
                <a:cubicBezTo>
                  <a:pt x="125049" y="135037"/>
                  <a:pt x="104510" y="141883"/>
                  <a:pt x="83906" y="148762"/>
                </a:cubicBezTo>
                <a:cubicBezTo>
                  <a:pt x="62574" y="155873"/>
                  <a:pt x="41110" y="163016"/>
                  <a:pt x="10054" y="153095"/>
                </a:cubicBezTo>
                <a:cubicBezTo>
                  <a:pt x="3936" y="151143"/>
                  <a:pt x="33" y="145223"/>
                  <a:pt x="33" y="138774"/>
                </a:cubicBezTo>
                <a:close/>
                <a:moveTo>
                  <a:pt x="111125" y="84667"/>
                </a:moveTo>
                <a:cubicBezTo>
                  <a:pt x="111125" y="67138"/>
                  <a:pt x="99285" y="52917"/>
                  <a:pt x="84667" y="52917"/>
                </a:cubicBezTo>
                <a:cubicBezTo>
                  <a:pt x="70048" y="52917"/>
                  <a:pt x="58208" y="67138"/>
                  <a:pt x="58208" y="84667"/>
                </a:cubicBezTo>
                <a:cubicBezTo>
                  <a:pt x="58208" y="102195"/>
                  <a:pt x="70048" y="116417"/>
                  <a:pt x="84667" y="116417"/>
                </a:cubicBezTo>
                <a:cubicBezTo>
                  <a:pt x="99285" y="116417"/>
                  <a:pt x="111125" y="102195"/>
                  <a:pt x="111125" y="84667"/>
                </a:cubicBezTo>
                <a:close/>
                <a:moveTo>
                  <a:pt x="39688" y="136790"/>
                </a:moveTo>
                <a:cubicBezTo>
                  <a:pt x="41143" y="136790"/>
                  <a:pt x="42300" y="135533"/>
                  <a:pt x="42069" y="134111"/>
                </a:cubicBezTo>
                <a:cubicBezTo>
                  <a:pt x="40547" y="124916"/>
                  <a:pt x="33139" y="117740"/>
                  <a:pt x="23813" y="116582"/>
                </a:cubicBezTo>
                <a:cubicBezTo>
                  <a:pt x="22357" y="116417"/>
                  <a:pt x="21167" y="117607"/>
                  <a:pt x="21167" y="119063"/>
                </a:cubicBezTo>
                <a:lnTo>
                  <a:pt x="21167" y="132259"/>
                </a:lnTo>
                <a:cubicBezTo>
                  <a:pt x="21167" y="133449"/>
                  <a:pt x="21960" y="134508"/>
                  <a:pt x="23151" y="134805"/>
                </a:cubicBezTo>
                <a:cubicBezTo>
                  <a:pt x="29071" y="136194"/>
                  <a:pt x="34495" y="136823"/>
                  <a:pt x="39688" y="136823"/>
                </a:cubicBezTo>
                <a:close/>
                <a:moveTo>
                  <a:pt x="145025" y="119889"/>
                </a:moveTo>
                <a:cubicBezTo>
                  <a:pt x="146678" y="120154"/>
                  <a:pt x="148167" y="118897"/>
                  <a:pt x="148167" y="117243"/>
                </a:cubicBezTo>
                <a:lnTo>
                  <a:pt x="148167" y="103154"/>
                </a:lnTo>
                <a:cubicBezTo>
                  <a:pt x="148167" y="101699"/>
                  <a:pt x="146976" y="100476"/>
                  <a:pt x="145521" y="100674"/>
                </a:cubicBezTo>
                <a:cubicBezTo>
                  <a:pt x="137186" y="101699"/>
                  <a:pt x="130340" y="107586"/>
                  <a:pt x="127926" y="115424"/>
                </a:cubicBezTo>
                <a:cubicBezTo>
                  <a:pt x="127463" y="116979"/>
                  <a:pt x="128687" y="118434"/>
                  <a:pt x="130307" y="118467"/>
                </a:cubicBezTo>
                <a:cubicBezTo>
                  <a:pt x="135004" y="118599"/>
                  <a:pt x="139898" y="119029"/>
                  <a:pt x="144992" y="119889"/>
                </a:cubicBezTo>
                <a:close/>
                <a:moveTo>
                  <a:pt x="148167" y="50271"/>
                </a:moveTo>
                <a:lnTo>
                  <a:pt x="148167" y="37075"/>
                </a:lnTo>
                <a:cubicBezTo>
                  <a:pt x="148167" y="35884"/>
                  <a:pt x="147340" y="34826"/>
                  <a:pt x="146182" y="34528"/>
                </a:cubicBezTo>
                <a:cubicBezTo>
                  <a:pt x="140262" y="33139"/>
                  <a:pt x="134838" y="32511"/>
                  <a:pt x="129646" y="32511"/>
                </a:cubicBezTo>
                <a:cubicBezTo>
                  <a:pt x="128191" y="32511"/>
                  <a:pt x="127033" y="33767"/>
                  <a:pt x="127265" y="35190"/>
                </a:cubicBezTo>
                <a:cubicBezTo>
                  <a:pt x="128786" y="44384"/>
                  <a:pt x="136194" y="51561"/>
                  <a:pt x="145521" y="52718"/>
                </a:cubicBezTo>
                <a:cubicBezTo>
                  <a:pt x="146976" y="52884"/>
                  <a:pt x="148167" y="51693"/>
                  <a:pt x="148167" y="50238"/>
                </a:cubicBezTo>
                <a:close/>
                <a:moveTo>
                  <a:pt x="41407" y="53876"/>
                </a:moveTo>
                <a:cubicBezTo>
                  <a:pt x="41870" y="52321"/>
                  <a:pt x="40647" y="50866"/>
                  <a:pt x="39026" y="50833"/>
                </a:cubicBezTo>
                <a:cubicBezTo>
                  <a:pt x="34330" y="50701"/>
                  <a:pt x="29435" y="50271"/>
                  <a:pt x="24342" y="49411"/>
                </a:cubicBezTo>
                <a:cubicBezTo>
                  <a:pt x="22688" y="49146"/>
                  <a:pt x="21200" y="50403"/>
                  <a:pt x="21200" y="52057"/>
                </a:cubicBezTo>
                <a:lnTo>
                  <a:pt x="21167" y="66146"/>
                </a:lnTo>
                <a:cubicBezTo>
                  <a:pt x="21167" y="67601"/>
                  <a:pt x="22357" y="68825"/>
                  <a:pt x="23813" y="68626"/>
                </a:cubicBezTo>
                <a:cubicBezTo>
                  <a:pt x="32147" y="67601"/>
                  <a:pt x="38993" y="61714"/>
                  <a:pt x="41407" y="53876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23000" y="313266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资金流向特征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6667" y="3471333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入度/出度分析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26667" y="3767667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资金归集度计算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26667" y="4064000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快进快出检测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99667" y="4572000"/>
            <a:ext cx="4699000" cy="1439333"/>
          </a:xfrm>
          <a:custGeom>
            <a:avLst/>
            <a:gdLst/>
            <a:ahLst/>
            <a:cxnLst/>
            <a:rect l="l" t="t" r="r" b="b"/>
            <a:pathLst>
              <a:path w="4699000" h="1439333">
                <a:moveTo>
                  <a:pt x="0" y="0"/>
                </a:moveTo>
                <a:lnTo>
                  <a:pt x="4699000" y="0"/>
                </a:lnTo>
                <a:lnTo>
                  <a:pt x="4699000" y="1439333"/>
                </a:lnTo>
                <a:lnTo>
                  <a:pt x="0" y="1439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926667" y="4741333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05833" y="5292"/>
                </a:moveTo>
                <a:cubicBezTo>
                  <a:pt x="124817" y="5292"/>
                  <a:pt x="140229" y="20704"/>
                  <a:pt x="140229" y="39688"/>
                </a:cubicBezTo>
                <a:cubicBezTo>
                  <a:pt x="140229" y="58671"/>
                  <a:pt x="124817" y="74083"/>
                  <a:pt x="105833" y="74083"/>
                </a:cubicBezTo>
                <a:cubicBezTo>
                  <a:pt x="86850" y="74083"/>
                  <a:pt x="71438" y="58671"/>
                  <a:pt x="71438" y="39688"/>
                </a:cubicBezTo>
                <a:cubicBezTo>
                  <a:pt x="71438" y="20704"/>
                  <a:pt x="86850" y="5292"/>
                  <a:pt x="105833" y="5292"/>
                </a:cubicBezTo>
                <a:close/>
                <a:moveTo>
                  <a:pt x="31750" y="29104"/>
                </a:moveTo>
                <a:cubicBezTo>
                  <a:pt x="44892" y="29104"/>
                  <a:pt x="55563" y="39774"/>
                  <a:pt x="55563" y="52917"/>
                </a:cubicBezTo>
                <a:cubicBezTo>
                  <a:pt x="55563" y="66059"/>
                  <a:pt x="44892" y="76729"/>
                  <a:pt x="31750" y="76729"/>
                </a:cubicBezTo>
                <a:cubicBezTo>
                  <a:pt x="18608" y="76729"/>
                  <a:pt x="7938" y="66059"/>
                  <a:pt x="7938" y="52917"/>
                </a:cubicBezTo>
                <a:cubicBezTo>
                  <a:pt x="7938" y="39774"/>
                  <a:pt x="18608" y="29104"/>
                  <a:pt x="31750" y="29104"/>
                </a:cubicBezTo>
                <a:close/>
                <a:moveTo>
                  <a:pt x="0" y="137583"/>
                </a:moveTo>
                <a:cubicBezTo>
                  <a:pt x="0" y="114201"/>
                  <a:pt x="18951" y="95250"/>
                  <a:pt x="42333" y="95250"/>
                </a:cubicBezTo>
                <a:cubicBezTo>
                  <a:pt x="46567" y="95250"/>
                  <a:pt x="50668" y="95878"/>
                  <a:pt x="54537" y="97036"/>
                </a:cubicBezTo>
                <a:cubicBezTo>
                  <a:pt x="43656" y="109207"/>
                  <a:pt x="37042" y="125280"/>
                  <a:pt x="37042" y="142875"/>
                </a:cubicBezTo>
                <a:lnTo>
                  <a:pt x="37042" y="148167"/>
                </a:lnTo>
                <a:cubicBezTo>
                  <a:pt x="37042" y="151937"/>
                  <a:pt x="37835" y="155509"/>
                  <a:pt x="39258" y="158750"/>
                </a:cubicBezTo>
                <a:lnTo>
                  <a:pt x="10583" y="158750"/>
                </a:lnTo>
                <a:cubicBezTo>
                  <a:pt x="4729" y="158750"/>
                  <a:pt x="0" y="154021"/>
                  <a:pt x="0" y="148167"/>
                </a:cubicBezTo>
                <a:lnTo>
                  <a:pt x="0" y="137583"/>
                </a:lnTo>
                <a:close/>
                <a:moveTo>
                  <a:pt x="172409" y="158750"/>
                </a:moveTo>
                <a:cubicBezTo>
                  <a:pt x="173831" y="155509"/>
                  <a:pt x="174625" y="151937"/>
                  <a:pt x="174625" y="148167"/>
                </a:cubicBezTo>
                <a:lnTo>
                  <a:pt x="174625" y="142875"/>
                </a:lnTo>
                <a:cubicBezTo>
                  <a:pt x="174625" y="125280"/>
                  <a:pt x="168010" y="109207"/>
                  <a:pt x="157129" y="97036"/>
                </a:cubicBezTo>
                <a:cubicBezTo>
                  <a:pt x="160999" y="95878"/>
                  <a:pt x="165100" y="95250"/>
                  <a:pt x="169333" y="95250"/>
                </a:cubicBezTo>
                <a:cubicBezTo>
                  <a:pt x="192716" y="95250"/>
                  <a:pt x="211667" y="114201"/>
                  <a:pt x="211667" y="137583"/>
                </a:cubicBezTo>
                <a:lnTo>
                  <a:pt x="211667" y="148167"/>
                </a:lnTo>
                <a:cubicBezTo>
                  <a:pt x="211667" y="154021"/>
                  <a:pt x="206937" y="158750"/>
                  <a:pt x="201083" y="158750"/>
                </a:cubicBezTo>
                <a:lnTo>
                  <a:pt x="172409" y="158750"/>
                </a:lnTo>
                <a:close/>
                <a:moveTo>
                  <a:pt x="156104" y="52917"/>
                </a:moveTo>
                <a:cubicBezTo>
                  <a:pt x="156104" y="39774"/>
                  <a:pt x="166774" y="29104"/>
                  <a:pt x="179917" y="29104"/>
                </a:cubicBezTo>
                <a:cubicBezTo>
                  <a:pt x="193059" y="29104"/>
                  <a:pt x="203729" y="39774"/>
                  <a:pt x="203729" y="52917"/>
                </a:cubicBezTo>
                <a:cubicBezTo>
                  <a:pt x="203729" y="66059"/>
                  <a:pt x="193059" y="76729"/>
                  <a:pt x="179917" y="76729"/>
                </a:cubicBezTo>
                <a:cubicBezTo>
                  <a:pt x="166774" y="76729"/>
                  <a:pt x="156104" y="66059"/>
                  <a:pt x="156104" y="52917"/>
                </a:cubicBezTo>
                <a:close/>
                <a:moveTo>
                  <a:pt x="52917" y="142875"/>
                </a:moveTo>
                <a:cubicBezTo>
                  <a:pt x="52917" y="113639"/>
                  <a:pt x="76597" y="89958"/>
                  <a:pt x="105833" y="89958"/>
                </a:cubicBezTo>
                <a:cubicBezTo>
                  <a:pt x="135070" y="89958"/>
                  <a:pt x="158750" y="113639"/>
                  <a:pt x="158750" y="142875"/>
                </a:cubicBezTo>
                <a:lnTo>
                  <a:pt x="158750" y="148167"/>
                </a:lnTo>
                <a:cubicBezTo>
                  <a:pt x="158750" y="154021"/>
                  <a:pt x="154021" y="158750"/>
                  <a:pt x="148167" y="158750"/>
                </a:cubicBezTo>
                <a:lnTo>
                  <a:pt x="63500" y="158750"/>
                </a:lnTo>
                <a:cubicBezTo>
                  <a:pt x="57646" y="158750"/>
                  <a:pt x="52917" y="154021"/>
                  <a:pt x="52917" y="148167"/>
                </a:cubicBezTo>
                <a:lnTo>
                  <a:pt x="52917" y="142875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223000" y="4699000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团伙关联特征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26667" y="5037667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设备/IP关联度统计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26667" y="5334000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社群发现算法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26667" y="5630333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设备农场识别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99667" y="6138333"/>
            <a:ext cx="4699000" cy="1143000"/>
          </a:xfrm>
          <a:custGeom>
            <a:avLst/>
            <a:gdLst/>
            <a:ahLst/>
            <a:cxnLst/>
            <a:rect l="l" t="t" r="r" b="b"/>
            <a:pathLst>
              <a:path w="4699000" h="1143000">
                <a:moveTo>
                  <a:pt x="0" y="0"/>
                </a:moveTo>
                <a:lnTo>
                  <a:pt x="4699000" y="0"/>
                </a:lnTo>
                <a:lnTo>
                  <a:pt x="4699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947833" y="63076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9333" y="79375"/>
                </a:moveTo>
                <a:cubicBezTo>
                  <a:pt x="169333" y="123197"/>
                  <a:pt x="131432" y="158750"/>
                  <a:pt x="84667" y="158750"/>
                </a:cubicBezTo>
                <a:cubicBezTo>
                  <a:pt x="72397" y="158750"/>
                  <a:pt x="60755" y="156303"/>
                  <a:pt x="50238" y="151904"/>
                </a:cubicBezTo>
                <a:lnTo>
                  <a:pt x="11079" y="168705"/>
                </a:lnTo>
                <a:cubicBezTo>
                  <a:pt x="7971" y="170028"/>
                  <a:pt x="4399" y="169267"/>
                  <a:pt x="2117" y="166787"/>
                </a:cubicBezTo>
                <a:cubicBezTo>
                  <a:pt x="-165" y="164306"/>
                  <a:pt x="-661" y="160668"/>
                  <a:pt x="926" y="157692"/>
                </a:cubicBezTo>
                <a:lnTo>
                  <a:pt x="17066" y="127198"/>
                </a:lnTo>
                <a:cubicBezTo>
                  <a:pt x="6350" y="113870"/>
                  <a:pt x="0" y="97334"/>
                  <a:pt x="0" y="79375"/>
                </a:cubicBezTo>
                <a:cubicBezTo>
                  <a:pt x="0" y="35553"/>
                  <a:pt x="37902" y="0"/>
                  <a:pt x="84667" y="0"/>
                </a:cubicBezTo>
                <a:cubicBezTo>
                  <a:pt x="131432" y="0"/>
                  <a:pt x="169333" y="35553"/>
                  <a:pt x="169333" y="79375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223000" y="626533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语义特征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26667" y="6604000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敏感词检测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26667" y="6900333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备注风险识别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58500" y="1524000"/>
            <a:ext cx="5058833" cy="5884333"/>
          </a:xfrm>
          <a:custGeom>
            <a:avLst/>
            <a:gdLst/>
            <a:ahLst/>
            <a:cxnLst/>
            <a:rect l="l" t="t" r="r" b="b"/>
            <a:pathLst>
              <a:path w="5058833" h="7376583">
                <a:moveTo>
                  <a:pt x="0" y="0"/>
                </a:moveTo>
                <a:lnTo>
                  <a:pt x="5058833" y="0"/>
                </a:lnTo>
                <a:lnTo>
                  <a:pt x="50588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0858500" y="1524000"/>
            <a:ext cx="42333" cy="5886000"/>
          </a:xfrm>
          <a:custGeom>
            <a:avLst/>
            <a:gdLst/>
            <a:ahLst/>
            <a:cxnLst/>
            <a:rect l="l" t="t" r="r" b="b"/>
            <a:pathLst>
              <a:path w="42333" h="7376583">
                <a:moveTo>
                  <a:pt x="0" y="0"/>
                </a:moveTo>
                <a:lnTo>
                  <a:pt x="42333" y="0"/>
                </a:lnTo>
                <a:lnTo>
                  <a:pt x="42333" y="7376583"/>
                </a:lnTo>
                <a:lnTo>
                  <a:pt x="0" y="7376583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049000" y="1735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1168063" y="18520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599333" y="1693333"/>
            <a:ext cx="1492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LLM增强分析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99333" y="1989667"/>
            <a:ext cx="1460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Semantic Reasoning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049000" y="2328333"/>
            <a:ext cx="4783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作为系统"大脑",对子图结构和特征指标综合研判,输出具备逻辑解释力的分析报告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49000" y="3005667"/>
            <a:ext cx="4699000" cy="846667"/>
          </a:xfrm>
          <a:custGeom>
            <a:avLst/>
            <a:gdLst/>
            <a:ahLst/>
            <a:cxnLst/>
            <a:rect l="l" t="t" r="r" b="b"/>
            <a:pathLst>
              <a:path w="4699000" h="846667">
                <a:moveTo>
                  <a:pt x="0" y="0"/>
                </a:moveTo>
                <a:lnTo>
                  <a:pt x="4699000" y="0"/>
                </a:lnTo>
                <a:lnTo>
                  <a:pt x="4699000" y="846667"/>
                </a:lnTo>
                <a:lnTo>
                  <a:pt x="0" y="846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1197167" y="31750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63500" y="21167"/>
                </a:moveTo>
                <a:cubicBezTo>
                  <a:pt x="63500" y="15313"/>
                  <a:pt x="68229" y="10583"/>
                  <a:pt x="74083" y="10583"/>
                </a:cubicBezTo>
                <a:lnTo>
                  <a:pt x="95250" y="10583"/>
                </a:lnTo>
                <a:cubicBezTo>
                  <a:pt x="101104" y="10583"/>
                  <a:pt x="105833" y="15313"/>
                  <a:pt x="105833" y="21167"/>
                </a:cubicBezTo>
                <a:lnTo>
                  <a:pt x="105833" y="42333"/>
                </a:lnTo>
                <a:cubicBezTo>
                  <a:pt x="105833" y="48187"/>
                  <a:pt x="101104" y="52917"/>
                  <a:pt x="95250" y="52917"/>
                </a:cubicBezTo>
                <a:lnTo>
                  <a:pt x="92604" y="52917"/>
                </a:lnTo>
                <a:lnTo>
                  <a:pt x="92604" y="74083"/>
                </a:lnTo>
                <a:lnTo>
                  <a:pt x="132292" y="74083"/>
                </a:lnTo>
                <a:cubicBezTo>
                  <a:pt x="145455" y="74083"/>
                  <a:pt x="156104" y="84733"/>
                  <a:pt x="156104" y="97896"/>
                </a:cubicBezTo>
                <a:lnTo>
                  <a:pt x="156104" y="116417"/>
                </a:lnTo>
                <a:lnTo>
                  <a:pt x="158750" y="116417"/>
                </a:lnTo>
                <a:cubicBezTo>
                  <a:pt x="164604" y="116417"/>
                  <a:pt x="169333" y="121146"/>
                  <a:pt x="169333" y="127000"/>
                </a:cubicBezTo>
                <a:lnTo>
                  <a:pt x="169333" y="148167"/>
                </a:lnTo>
                <a:cubicBezTo>
                  <a:pt x="169333" y="154021"/>
                  <a:pt x="164604" y="158750"/>
                  <a:pt x="158750" y="158750"/>
                </a:cubicBezTo>
                <a:lnTo>
                  <a:pt x="137583" y="158750"/>
                </a:lnTo>
                <a:cubicBezTo>
                  <a:pt x="131729" y="158750"/>
                  <a:pt x="127000" y="154021"/>
                  <a:pt x="127000" y="148167"/>
                </a:cubicBezTo>
                <a:lnTo>
                  <a:pt x="127000" y="127000"/>
                </a:lnTo>
                <a:cubicBezTo>
                  <a:pt x="127000" y="121146"/>
                  <a:pt x="131729" y="116417"/>
                  <a:pt x="137583" y="116417"/>
                </a:cubicBezTo>
                <a:lnTo>
                  <a:pt x="140229" y="116417"/>
                </a:lnTo>
                <a:lnTo>
                  <a:pt x="140229" y="97896"/>
                </a:lnTo>
                <a:cubicBezTo>
                  <a:pt x="140229" y="93497"/>
                  <a:pt x="136690" y="89958"/>
                  <a:pt x="132292" y="89958"/>
                </a:cubicBezTo>
                <a:lnTo>
                  <a:pt x="92604" y="89958"/>
                </a:lnTo>
                <a:lnTo>
                  <a:pt x="92604" y="116417"/>
                </a:lnTo>
                <a:lnTo>
                  <a:pt x="95250" y="116417"/>
                </a:lnTo>
                <a:cubicBezTo>
                  <a:pt x="101104" y="116417"/>
                  <a:pt x="105833" y="121146"/>
                  <a:pt x="105833" y="127000"/>
                </a:cubicBezTo>
                <a:lnTo>
                  <a:pt x="105833" y="148167"/>
                </a:lnTo>
                <a:cubicBezTo>
                  <a:pt x="105833" y="154021"/>
                  <a:pt x="101104" y="158750"/>
                  <a:pt x="95250" y="158750"/>
                </a:cubicBezTo>
                <a:lnTo>
                  <a:pt x="74083" y="158750"/>
                </a:lnTo>
                <a:cubicBezTo>
                  <a:pt x="68229" y="158750"/>
                  <a:pt x="63500" y="154021"/>
                  <a:pt x="63500" y="148167"/>
                </a:cubicBezTo>
                <a:lnTo>
                  <a:pt x="63500" y="127000"/>
                </a:lnTo>
                <a:cubicBezTo>
                  <a:pt x="63500" y="121146"/>
                  <a:pt x="68229" y="116417"/>
                  <a:pt x="74083" y="116417"/>
                </a:cubicBezTo>
                <a:lnTo>
                  <a:pt x="76729" y="116417"/>
                </a:lnTo>
                <a:lnTo>
                  <a:pt x="76729" y="89958"/>
                </a:lnTo>
                <a:lnTo>
                  <a:pt x="37042" y="89958"/>
                </a:lnTo>
                <a:cubicBezTo>
                  <a:pt x="32643" y="89958"/>
                  <a:pt x="29104" y="93497"/>
                  <a:pt x="29104" y="97896"/>
                </a:cubicBezTo>
                <a:lnTo>
                  <a:pt x="29104" y="116417"/>
                </a:lnTo>
                <a:lnTo>
                  <a:pt x="31750" y="116417"/>
                </a:lnTo>
                <a:cubicBezTo>
                  <a:pt x="37604" y="116417"/>
                  <a:pt x="42333" y="121146"/>
                  <a:pt x="42333" y="127000"/>
                </a:cubicBezTo>
                <a:lnTo>
                  <a:pt x="42333" y="148167"/>
                </a:lnTo>
                <a:cubicBezTo>
                  <a:pt x="42333" y="154021"/>
                  <a:pt x="37604" y="158750"/>
                  <a:pt x="31750" y="158750"/>
                </a:cubicBezTo>
                <a:lnTo>
                  <a:pt x="10583" y="158750"/>
                </a:lnTo>
                <a:cubicBezTo>
                  <a:pt x="4729" y="158750"/>
                  <a:pt x="0" y="154021"/>
                  <a:pt x="0" y="148167"/>
                </a:cubicBezTo>
                <a:lnTo>
                  <a:pt x="0" y="127000"/>
                </a:lnTo>
                <a:cubicBezTo>
                  <a:pt x="0" y="121146"/>
                  <a:pt x="4729" y="116417"/>
                  <a:pt x="10583" y="116417"/>
                </a:cubicBezTo>
                <a:lnTo>
                  <a:pt x="13229" y="116417"/>
                </a:lnTo>
                <a:lnTo>
                  <a:pt x="13229" y="97896"/>
                </a:lnTo>
                <a:cubicBezTo>
                  <a:pt x="13229" y="84733"/>
                  <a:pt x="23879" y="74083"/>
                  <a:pt x="37042" y="74083"/>
                </a:cubicBezTo>
                <a:lnTo>
                  <a:pt x="76729" y="74083"/>
                </a:lnTo>
                <a:lnTo>
                  <a:pt x="76729" y="52917"/>
                </a:lnTo>
                <a:lnTo>
                  <a:pt x="74083" y="52917"/>
                </a:lnTo>
                <a:cubicBezTo>
                  <a:pt x="68229" y="52917"/>
                  <a:pt x="63500" y="48187"/>
                  <a:pt x="63500" y="42333"/>
                </a:cubicBezTo>
                <a:lnTo>
                  <a:pt x="63500" y="21167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472333" y="3132667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结构化推理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76000" y="3471333"/>
            <a:ext cx="452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接收特征值和子图描述,结合反欺诈专家知识库进行推理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49000" y="3979333"/>
            <a:ext cx="4699000" cy="1100667"/>
          </a:xfrm>
          <a:custGeom>
            <a:avLst/>
            <a:gdLst/>
            <a:ahLst/>
            <a:cxnLst/>
            <a:rect l="l" t="t" r="r" b="b"/>
            <a:pathLst>
              <a:path w="4699000" h="1100667">
                <a:moveTo>
                  <a:pt x="0" y="0"/>
                </a:moveTo>
                <a:lnTo>
                  <a:pt x="4699000" y="0"/>
                </a:lnTo>
                <a:lnTo>
                  <a:pt x="4699000" y="1100667"/>
                </a:lnTo>
                <a:lnTo>
                  <a:pt x="0" y="1100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1218333" y="4148667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0" y="21167"/>
                </a:moveTo>
                <a:cubicBezTo>
                  <a:pt x="0" y="9492"/>
                  <a:pt x="9492" y="0"/>
                  <a:pt x="21167" y="0"/>
                </a:cubicBezTo>
                <a:lnTo>
                  <a:pt x="70611" y="0"/>
                </a:lnTo>
                <a:cubicBezTo>
                  <a:pt x="76233" y="0"/>
                  <a:pt x="81624" y="2216"/>
                  <a:pt x="85593" y="6185"/>
                </a:cubicBezTo>
                <a:lnTo>
                  <a:pt x="120815" y="41440"/>
                </a:lnTo>
                <a:cubicBezTo>
                  <a:pt x="124784" y="45409"/>
                  <a:pt x="127000" y="50800"/>
                  <a:pt x="127000" y="56422"/>
                </a:cubicBezTo>
                <a:lnTo>
                  <a:pt x="127000" y="148167"/>
                </a:lnTo>
                <a:cubicBezTo>
                  <a:pt x="127000" y="159841"/>
                  <a:pt x="117508" y="169333"/>
                  <a:pt x="105833" y="169333"/>
                </a:cubicBezTo>
                <a:lnTo>
                  <a:pt x="21167" y="169333"/>
                </a:lnTo>
                <a:cubicBezTo>
                  <a:pt x="9492" y="169333"/>
                  <a:pt x="0" y="159841"/>
                  <a:pt x="0" y="148167"/>
                </a:cubicBezTo>
                <a:lnTo>
                  <a:pt x="0" y="21167"/>
                </a:lnTo>
                <a:close/>
                <a:moveTo>
                  <a:pt x="68792" y="19348"/>
                </a:moveTo>
                <a:lnTo>
                  <a:pt x="68792" y="50271"/>
                </a:lnTo>
                <a:cubicBezTo>
                  <a:pt x="68792" y="54670"/>
                  <a:pt x="72330" y="58208"/>
                  <a:pt x="76729" y="58208"/>
                </a:cubicBezTo>
                <a:lnTo>
                  <a:pt x="107652" y="58208"/>
                </a:lnTo>
                <a:lnTo>
                  <a:pt x="68792" y="19348"/>
                </a:lnTo>
                <a:close/>
                <a:moveTo>
                  <a:pt x="39688" y="84667"/>
                </a:moveTo>
                <a:cubicBezTo>
                  <a:pt x="35289" y="84667"/>
                  <a:pt x="31750" y="88205"/>
                  <a:pt x="31750" y="92604"/>
                </a:cubicBezTo>
                <a:cubicBezTo>
                  <a:pt x="31750" y="97003"/>
                  <a:pt x="35289" y="100542"/>
                  <a:pt x="39688" y="100542"/>
                </a:cubicBezTo>
                <a:lnTo>
                  <a:pt x="87313" y="100542"/>
                </a:lnTo>
                <a:cubicBezTo>
                  <a:pt x="91711" y="100542"/>
                  <a:pt x="95250" y="97003"/>
                  <a:pt x="95250" y="92604"/>
                </a:cubicBezTo>
                <a:cubicBezTo>
                  <a:pt x="95250" y="88205"/>
                  <a:pt x="91711" y="84667"/>
                  <a:pt x="87313" y="84667"/>
                </a:cubicBezTo>
                <a:lnTo>
                  <a:pt x="39688" y="84667"/>
                </a:lnTo>
                <a:close/>
                <a:moveTo>
                  <a:pt x="39688" y="116417"/>
                </a:moveTo>
                <a:cubicBezTo>
                  <a:pt x="35289" y="116417"/>
                  <a:pt x="31750" y="119955"/>
                  <a:pt x="31750" y="124354"/>
                </a:cubicBezTo>
                <a:cubicBezTo>
                  <a:pt x="31750" y="128753"/>
                  <a:pt x="35289" y="132292"/>
                  <a:pt x="39688" y="132292"/>
                </a:cubicBezTo>
                <a:lnTo>
                  <a:pt x="87313" y="132292"/>
                </a:lnTo>
                <a:cubicBezTo>
                  <a:pt x="91711" y="132292"/>
                  <a:pt x="95250" y="128753"/>
                  <a:pt x="95250" y="124354"/>
                </a:cubicBezTo>
                <a:cubicBezTo>
                  <a:pt x="95250" y="119955"/>
                  <a:pt x="91711" y="116417"/>
                  <a:pt x="87313" y="116417"/>
                </a:cubicBezTo>
                <a:lnTo>
                  <a:pt x="39688" y="116417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472333" y="4106333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可解释输出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76000" y="4445000"/>
            <a:ext cx="4529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以JSON格式输出风险类型、疑点摘要、证据链条、处置建议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049000" y="5207000"/>
            <a:ext cx="4699000" cy="1100667"/>
          </a:xfrm>
          <a:custGeom>
            <a:avLst/>
            <a:gdLst/>
            <a:ahLst/>
            <a:cxnLst/>
            <a:rect l="l" t="t" r="r" b="b"/>
            <a:pathLst>
              <a:path w="4699000" h="1100667">
                <a:moveTo>
                  <a:pt x="0" y="0"/>
                </a:moveTo>
                <a:lnTo>
                  <a:pt x="4699000" y="0"/>
                </a:lnTo>
                <a:lnTo>
                  <a:pt x="4699000" y="1100667"/>
                </a:lnTo>
                <a:lnTo>
                  <a:pt x="0" y="1100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1197167" y="5376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21444" y="136426"/>
                </a:moveTo>
                <a:lnTo>
                  <a:pt x="32908" y="47890"/>
                </a:lnTo>
                <a:cubicBezTo>
                  <a:pt x="25499" y="58274"/>
                  <a:pt x="21167" y="70974"/>
                  <a:pt x="21167" y="84667"/>
                </a:cubicBezTo>
                <a:cubicBezTo>
                  <a:pt x="21167" y="119724"/>
                  <a:pt x="49609" y="148167"/>
                  <a:pt x="84667" y="148167"/>
                </a:cubicBezTo>
                <a:cubicBezTo>
                  <a:pt x="98392" y="148167"/>
                  <a:pt x="111092" y="143834"/>
                  <a:pt x="121444" y="136426"/>
                </a:cubicBezTo>
                <a:close/>
                <a:moveTo>
                  <a:pt x="136426" y="121444"/>
                </a:moveTo>
                <a:cubicBezTo>
                  <a:pt x="143834" y="111059"/>
                  <a:pt x="148167" y="98359"/>
                  <a:pt x="148167" y="84667"/>
                </a:cubicBezTo>
                <a:cubicBezTo>
                  <a:pt x="148167" y="49609"/>
                  <a:pt x="119724" y="21167"/>
                  <a:pt x="84667" y="21167"/>
                </a:cubicBezTo>
                <a:cubicBezTo>
                  <a:pt x="70941" y="21167"/>
                  <a:pt x="58241" y="25499"/>
                  <a:pt x="47890" y="32908"/>
                </a:cubicBezTo>
                <a:lnTo>
                  <a:pt x="136426" y="121444"/>
                </a:lnTo>
                <a:close/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472333" y="5334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幻觉抑制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176000" y="5672667"/>
            <a:ext cx="4529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限制模型仅依据提供证据说话,证据不足时明确输出"无法判断"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59833" y="7597559"/>
            <a:ext cx="15557500" cy="1312333"/>
          </a:xfrm>
          <a:custGeom>
            <a:avLst/>
            <a:gdLst/>
            <a:ahLst/>
            <a:cxnLst/>
            <a:rect l="l" t="t" r="r" b="b"/>
            <a:pathLst>
              <a:path w="15557500" h="1312333">
                <a:moveTo>
                  <a:pt x="0" y="0"/>
                </a:moveTo>
                <a:lnTo>
                  <a:pt x="15557500" y="0"/>
                </a:lnTo>
                <a:lnTo>
                  <a:pt x="15557500" y="1312333"/>
                </a:lnTo>
                <a:lnTo>
                  <a:pt x="0" y="1312333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359833" y="7597559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0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0" y="1312333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76792" y="78198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793750" y="7766892"/>
            <a:ext cx="15049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合规与风控原则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50333" y="81902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645583" y="830664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436" y="2977"/>
                </a:moveTo>
                <a:cubicBezTo>
                  <a:pt x="120078" y="2977"/>
                  <a:pt x="140084" y="22983"/>
                  <a:pt x="140084" y="47625"/>
                </a:cubicBezTo>
                <a:cubicBezTo>
                  <a:pt x="140084" y="72267"/>
                  <a:pt x="120078" y="92273"/>
                  <a:pt x="95436" y="92273"/>
                </a:cubicBezTo>
                <a:cubicBezTo>
                  <a:pt x="70794" y="92273"/>
                  <a:pt x="50788" y="72267"/>
                  <a:pt x="50788" y="47625"/>
                </a:cubicBezTo>
                <a:cubicBezTo>
                  <a:pt x="50788" y="22983"/>
                  <a:pt x="70794" y="2977"/>
                  <a:pt x="95436" y="2977"/>
                </a:cubicBezTo>
                <a:close/>
                <a:moveTo>
                  <a:pt x="84348" y="113109"/>
                </a:moveTo>
                <a:lnTo>
                  <a:pt x="106449" y="113109"/>
                </a:lnTo>
                <a:lnTo>
                  <a:pt x="107007" y="113109"/>
                </a:lnTo>
                <a:cubicBezTo>
                  <a:pt x="102208" y="123081"/>
                  <a:pt x="104105" y="134764"/>
                  <a:pt x="111286" y="142689"/>
                </a:cubicBezTo>
                <a:cubicBezTo>
                  <a:pt x="103770" y="150986"/>
                  <a:pt x="102059" y="163450"/>
                  <a:pt x="107789" y="173720"/>
                </a:cubicBezTo>
                <a:lnTo>
                  <a:pt x="116160" y="188751"/>
                </a:lnTo>
                <a:cubicBezTo>
                  <a:pt x="116495" y="189347"/>
                  <a:pt x="116867" y="189942"/>
                  <a:pt x="1172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ubicBezTo>
                  <a:pt x="18008" y="142801"/>
                  <a:pt x="47699" y="113109"/>
                  <a:pt x="84348" y="113109"/>
                </a:cubicBezTo>
                <a:close/>
                <a:moveTo>
                  <a:pt x="160958" y="92125"/>
                </a:moveTo>
                <a:cubicBezTo>
                  <a:pt x="160958" y="87176"/>
                  <a:pt x="164939" y="83195"/>
                  <a:pt x="169887" y="83195"/>
                </a:cubicBezTo>
                <a:lnTo>
                  <a:pt x="187747" y="83195"/>
                </a:lnTo>
                <a:cubicBezTo>
                  <a:pt x="192695" y="83195"/>
                  <a:pt x="196676" y="87176"/>
                  <a:pt x="196676" y="92125"/>
                </a:cubicBezTo>
                <a:lnTo>
                  <a:pt x="196676" y="94394"/>
                </a:lnTo>
                <a:cubicBezTo>
                  <a:pt x="196676" y="101426"/>
                  <a:pt x="205643" y="106598"/>
                  <a:pt x="211745" y="103101"/>
                </a:cubicBezTo>
                <a:lnTo>
                  <a:pt x="213606" y="102022"/>
                </a:lnTo>
                <a:cubicBezTo>
                  <a:pt x="217922" y="99529"/>
                  <a:pt x="223465" y="101054"/>
                  <a:pt x="225884" y="105408"/>
                </a:cubicBezTo>
                <a:lnTo>
                  <a:pt x="234218" y="120365"/>
                </a:lnTo>
                <a:cubicBezTo>
                  <a:pt x="236525" y="124532"/>
                  <a:pt x="235186" y="129741"/>
                  <a:pt x="231167" y="132271"/>
                </a:cubicBezTo>
                <a:lnTo>
                  <a:pt x="229419" y="133350"/>
                </a:lnTo>
                <a:cubicBezTo>
                  <a:pt x="223391" y="137108"/>
                  <a:pt x="223391" y="148196"/>
                  <a:pt x="229419" y="151991"/>
                </a:cubicBezTo>
                <a:lnTo>
                  <a:pt x="231130" y="153070"/>
                </a:lnTo>
                <a:cubicBezTo>
                  <a:pt x="235148" y="155600"/>
                  <a:pt x="236525" y="160809"/>
                  <a:pt x="234218" y="164976"/>
                </a:cubicBezTo>
                <a:lnTo>
                  <a:pt x="225847" y="180008"/>
                </a:lnTo>
                <a:cubicBezTo>
                  <a:pt x="223428" y="184361"/>
                  <a:pt x="217884" y="185924"/>
                  <a:pt x="213568" y="183393"/>
                </a:cubicBezTo>
                <a:lnTo>
                  <a:pt x="211745" y="182314"/>
                </a:lnTo>
                <a:cubicBezTo>
                  <a:pt x="205643" y="178780"/>
                  <a:pt x="196676" y="183989"/>
                  <a:pt x="196676" y="191021"/>
                </a:cubicBezTo>
                <a:lnTo>
                  <a:pt x="196676" y="193291"/>
                </a:lnTo>
                <a:cubicBezTo>
                  <a:pt x="196676" y="198239"/>
                  <a:pt x="192695" y="202220"/>
                  <a:pt x="187747" y="202220"/>
                </a:cubicBezTo>
                <a:lnTo>
                  <a:pt x="169887" y="202220"/>
                </a:lnTo>
                <a:cubicBezTo>
                  <a:pt x="164939" y="202220"/>
                  <a:pt x="160958" y="198239"/>
                  <a:pt x="160958" y="193291"/>
                </a:cubicBezTo>
                <a:lnTo>
                  <a:pt x="160958" y="191095"/>
                </a:lnTo>
                <a:cubicBezTo>
                  <a:pt x="160958" y="184026"/>
                  <a:pt x="151954" y="178817"/>
                  <a:pt x="145814" y="182352"/>
                </a:cubicBezTo>
                <a:lnTo>
                  <a:pt x="144028" y="183393"/>
                </a:lnTo>
                <a:cubicBezTo>
                  <a:pt x="139712" y="185886"/>
                  <a:pt x="134206" y="184361"/>
                  <a:pt x="131750" y="180008"/>
                </a:cubicBezTo>
                <a:lnTo>
                  <a:pt x="123341" y="164976"/>
                </a:lnTo>
                <a:cubicBezTo>
                  <a:pt x="121034" y="160809"/>
                  <a:pt x="122374" y="155563"/>
                  <a:pt x="126429" y="153033"/>
                </a:cubicBezTo>
                <a:lnTo>
                  <a:pt x="128067" y="152028"/>
                </a:lnTo>
                <a:cubicBezTo>
                  <a:pt x="134131" y="148270"/>
                  <a:pt x="134131" y="137108"/>
                  <a:pt x="128067" y="133350"/>
                </a:cubicBezTo>
                <a:lnTo>
                  <a:pt x="126392" y="132308"/>
                </a:lnTo>
                <a:cubicBezTo>
                  <a:pt x="122337" y="129778"/>
                  <a:pt x="120997" y="124532"/>
                  <a:pt x="123304" y="120365"/>
                </a:cubicBezTo>
                <a:lnTo>
                  <a:pt x="131676" y="105370"/>
                </a:lnTo>
                <a:cubicBezTo>
                  <a:pt x="134094" y="101017"/>
                  <a:pt x="139638" y="99492"/>
                  <a:pt x="143917" y="101984"/>
                </a:cubicBezTo>
                <a:lnTo>
                  <a:pt x="145703" y="103026"/>
                </a:lnTo>
                <a:cubicBezTo>
                  <a:pt x="151842" y="106561"/>
                  <a:pt x="160846" y="101352"/>
                  <a:pt x="160846" y="94283"/>
                </a:cubicBezTo>
                <a:lnTo>
                  <a:pt x="160846" y="92087"/>
                </a:lnTo>
                <a:close/>
                <a:moveTo>
                  <a:pt x="198127" y="142801"/>
                </a:moveTo>
                <a:cubicBezTo>
                  <a:pt x="198127" y="132122"/>
                  <a:pt x="189458" y="123453"/>
                  <a:pt x="178780" y="123453"/>
                </a:cubicBezTo>
                <a:cubicBezTo>
                  <a:pt x="168102" y="123453"/>
                  <a:pt x="159432" y="132122"/>
                  <a:pt x="159432" y="142801"/>
                </a:cubicBezTo>
                <a:cubicBezTo>
                  <a:pt x="159432" y="153479"/>
                  <a:pt x="168102" y="162148"/>
                  <a:pt x="178780" y="162148"/>
                </a:cubicBezTo>
                <a:cubicBezTo>
                  <a:pt x="189458" y="162148"/>
                  <a:pt x="198127" y="153479"/>
                  <a:pt x="198127" y="14280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100667" y="8190226"/>
            <a:ext cx="436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人机协同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00667" y="8486559"/>
            <a:ext cx="436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输出作为辅助决策参考,高风险操作保留人工复核流程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672667" y="81902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5779823" y="830664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105445" y="113109"/>
                  <a:pt x="115863" y="115825"/>
                  <a:pt x="125016" y="120588"/>
                </a:cubicBezTo>
                <a:lnTo>
                  <a:pt x="125016" y="122188"/>
                </a:lnTo>
                <a:cubicBezTo>
                  <a:pt x="117723" y="128736"/>
                  <a:pt x="113109" y="138224"/>
                  <a:pt x="113109" y="148791"/>
                </a:cubicBezTo>
                <a:lnTo>
                  <a:pt x="113109" y="184510"/>
                </a:lnTo>
                <a:cubicBezTo>
                  <a:pt x="113109" y="186556"/>
                  <a:pt x="113295" y="188565"/>
                  <a:pt x="113593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84547" y="113147"/>
                </a:moveTo>
                <a:cubicBezTo>
                  <a:pt x="184547" y="106561"/>
                  <a:pt x="179226" y="101240"/>
                  <a:pt x="172641" y="101240"/>
                </a:cubicBezTo>
                <a:cubicBezTo>
                  <a:pt x="166055" y="101240"/>
                  <a:pt x="160734" y="106561"/>
                  <a:pt x="160734" y="113147"/>
                </a:cubicBezTo>
                <a:lnTo>
                  <a:pt x="160734" y="130969"/>
                </a:lnTo>
                <a:lnTo>
                  <a:pt x="184547" y="130969"/>
                </a:lnTo>
                <a:lnTo>
                  <a:pt x="184547" y="113147"/>
                </a:lnTo>
                <a:close/>
                <a:moveTo>
                  <a:pt x="130969" y="148828"/>
                </a:moveTo>
                <a:cubicBezTo>
                  <a:pt x="130969" y="141052"/>
                  <a:pt x="135954" y="134429"/>
                  <a:pt x="142875" y="131973"/>
                </a:cubicBezTo>
                <a:lnTo>
                  <a:pt x="142875" y="113147"/>
                </a:lnTo>
                <a:cubicBezTo>
                  <a:pt x="142875" y="96701"/>
                  <a:pt x="156195" y="83381"/>
                  <a:pt x="172641" y="83381"/>
                </a:cubicBezTo>
                <a:cubicBezTo>
                  <a:pt x="189086" y="83381"/>
                  <a:pt x="202406" y="96701"/>
                  <a:pt x="202406" y="113147"/>
                </a:cubicBezTo>
                <a:lnTo>
                  <a:pt x="202406" y="131973"/>
                </a:lnTo>
                <a:cubicBezTo>
                  <a:pt x="209327" y="134429"/>
                  <a:pt x="214313" y="141052"/>
                  <a:pt x="214313" y="148828"/>
                </a:cubicBezTo>
                <a:lnTo>
                  <a:pt x="214313" y="184547"/>
                </a:lnTo>
                <a:cubicBezTo>
                  <a:pt x="214313" y="194407"/>
                  <a:pt x="206313" y="202406"/>
                  <a:pt x="196453" y="202406"/>
                </a:cubicBezTo>
                <a:lnTo>
                  <a:pt x="148828" y="202406"/>
                </a:lnTo>
                <a:cubicBezTo>
                  <a:pt x="138968" y="202406"/>
                  <a:pt x="130969" y="194407"/>
                  <a:pt x="130969" y="184547"/>
                </a:cubicBezTo>
                <a:lnTo>
                  <a:pt x="130969" y="148828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6223000" y="8190226"/>
            <a:ext cx="3704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数据隐私保护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223000" y="8486558"/>
            <a:ext cx="3937001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</a:t>
            </a:r>
            <a:r>
              <a:rPr lang="en-US" sz="1333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PII</a:t>
            </a: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信息脱敏或哈希处理,避免传输明文隐私数据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795000" y="81902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10902156" y="830664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11345333" y="8190226"/>
            <a:ext cx="3852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可解释性与审计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345333" y="8486559"/>
            <a:ext cx="3852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保留完整证据链快照,满足监管审计和事后追溯需求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384425"/>
            <a:ext cx="1054100" cy="723900"/>
          </a:xfrm>
          <a:custGeom>
            <a:avLst/>
            <a:gdLst/>
            <a:ahLst/>
            <a:cxnLst/>
            <a:rect l="l" t="t" r="r" b="b"/>
            <a:pathLst>
              <a:path w="1054100" h="723900">
                <a:moveTo>
                  <a:pt x="0" y="0"/>
                </a:moveTo>
                <a:lnTo>
                  <a:pt x="1054100" y="0"/>
                </a:lnTo>
                <a:lnTo>
                  <a:pt x="1054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8340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670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</a:t>
            </a: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方案实现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64389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MVP 设计验证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技术架构与实现细节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7766" y="393191"/>
            <a:ext cx="49149" cy="393191"/>
          </a:xfrm>
          <a:custGeom>
            <a:avLst/>
            <a:gdLst/>
            <a:ahLst/>
            <a:cxnLst/>
            <a:rect l="l" t="t" r="r" b="b"/>
            <a:pathLst>
              <a:path w="49149" h="393191">
                <a:moveTo>
                  <a:pt x="0" y="0"/>
                </a:moveTo>
                <a:lnTo>
                  <a:pt x="49149" y="0"/>
                </a:lnTo>
                <a:lnTo>
                  <a:pt x="49149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89787" y="460771"/>
            <a:ext cx="263407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kern="0" spc="77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 IMPLEMENTATION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3191" y="884680"/>
            <a:ext cx="15690788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</a:t>
            </a:r>
            <a:r>
              <a:rPr lang="en-US" sz="3483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技术架构与实现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7766" y="1612197"/>
            <a:ext cx="5000901" cy="2752339"/>
          </a:xfrm>
          <a:custGeom>
            <a:avLst/>
            <a:gdLst/>
            <a:ahLst/>
            <a:cxnLst/>
            <a:rect l="l" t="t" r="r" b="b"/>
            <a:pathLst>
              <a:path w="5000901" h="2752339">
                <a:moveTo>
                  <a:pt x="0" y="0"/>
                </a:moveTo>
                <a:lnTo>
                  <a:pt x="5000901" y="0"/>
                </a:lnTo>
                <a:lnTo>
                  <a:pt x="5000901" y="2752339"/>
                </a:lnTo>
                <a:lnTo>
                  <a:pt x="0" y="2752339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17766" y="1612197"/>
            <a:ext cx="49149" cy="2752339"/>
          </a:xfrm>
          <a:custGeom>
            <a:avLst/>
            <a:gdLst/>
            <a:ahLst/>
            <a:cxnLst/>
            <a:rect l="l" t="t" r="r" b="b"/>
            <a:pathLst>
              <a:path w="49149" h="2752339">
                <a:moveTo>
                  <a:pt x="0" y="0"/>
                </a:moveTo>
                <a:lnTo>
                  <a:pt x="49149" y="0"/>
                </a:lnTo>
                <a:lnTo>
                  <a:pt x="49149" y="2752339"/>
                </a:lnTo>
                <a:lnTo>
                  <a:pt x="0" y="2752339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69654" y="1857941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15026" y="122872"/>
                </a:moveTo>
                <a:cubicBezTo>
                  <a:pt x="215026" y="72011"/>
                  <a:pt x="173734" y="30718"/>
                  <a:pt x="122872" y="30718"/>
                </a:cubicBezTo>
                <a:cubicBezTo>
                  <a:pt x="72011" y="30718"/>
                  <a:pt x="30718" y="72011"/>
                  <a:pt x="30718" y="122872"/>
                </a:cubicBezTo>
                <a:cubicBezTo>
                  <a:pt x="30718" y="173734"/>
                  <a:pt x="72011" y="215026"/>
                  <a:pt x="122872" y="215026"/>
                </a:cubicBezTo>
                <a:cubicBezTo>
                  <a:pt x="173734" y="215026"/>
                  <a:pt x="215026" y="173734"/>
                  <a:pt x="215026" y="122872"/>
                </a:cubicBezTo>
                <a:close/>
                <a:moveTo>
                  <a:pt x="0" y="122872"/>
                </a:moveTo>
                <a:cubicBezTo>
                  <a:pt x="0" y="55057"/>
                  <a:pt x="55057" y="0"/>
                  <a:pt x="122872" y="0"/>
                </a:cubicBezTo>
                <a:cubicBezTo>
                  <a:pt x="190687" y="0"/>
                  <a:pt x="245745" y="55057"/>
                  <a:pt x="245745" y="122872"/>
                </a:cubicBezTo>
                <a:cubicBezTo>
                  <a:pt x="245745" y="190687"/>
                  <a:pt x="190687" y="245745"/>
                  <a:pt x="122872" y="245745"/>
                </a:cubicBezTo>
                <a:cubicBezTo>
                  <a:pt x="55057" y="245745"/>
                  <a:pt x="0" y="190687"/>
                  <a:pt x="0" y="122872"/>
                </a:cubicBezTo>
                <a:close/>
                <a:moveTo>
                  <a:pt x="122872" y="161270"/>
                </a:moveTo>
                <a:cubicBezTo>
                  <a:pt x="144064" y="161270"/>
                  <a:pt x="161270" y="144064"/>
                  <a:pt x="161270" y="122872"/>
                </a:cubicBezTo>
                <a:cubicBezTo>
                  <a:pt x="161270" y="101680"/>
                  <a:pt x="144064" y="84475"/>
                  <a:pt x="122872" y="84475"/>
                </a:cubicBezTo>
                <a:cubicBezTo>
                  <a:pt x="101680" y="84475"/>
                  <a:pt x="84475" y="101680"/>
                  <a:pt x="84475" y="122872"/>
                </a:cubicBezTo>
                <a:cubicBezTo>
                  <a:pt x="84475" y="144064"/>
                  <a:pt x="101680" y="161270"/>
                  <a:pt x="122872" y="161270"/>
                </a:cubicBezTo>
                <a:close/>
                <a:moveTo>
                  <a:pt x="122872" y="53757"/>
                </a:moveTo>
                <a:cubicBezTo>
                  <a:pt x="161018" y="53757"/>
                  <a:pt x="191988" y="84726"/>
                  <a:pt x="191988" y="122872"/>
                </a:cubicBezTo>
                <a:cubicBezTo>
                  <a:pt x="191988" y="161018"/>
                  <a:pt x="161018" y="191988"/>
                  <a:pt x="122872" y="191988"/>
                </a:cubicBezTo>
                <a:cubicBezTo>
                  <a:pt x="84726" y="191988"/>
                  <a:pt x="53757" y="161018"/>
                  <a:pt x="53757" y="122872"/>
                </a:cubicBezTo>
                <a:cubicBezTo>
                  <a:pt x="53757" y="84726"/>
                  <a:pt x="84726" y="53757"/>
                  <a:pt x="122872" y="53757"/>
                </a:cubicBezTo>
                <a:close/>
                <a:moveTo>
                  <a:pt x="107513" y="122872"/>
                </a:moveTo>
                <a:cubicBezTo>
                  <a:pt x="107513" y="114395"/>
                  <a:pt x="114395" y="107513"/>
                  <a:pt x="122872" y="107513"/>
                </a:cubicBezTo>
                <a:cubicBezTo>
                  <a:pt x="131349" y="107513"/>
                  <a:pt x="138231" y="114395"/>
                  <a:pt x="138231" y="122872"/>
                </a:cubicBezTo>
                <a:cubicBezTo>
                  <a:pt x="138231" y="131349"/>
                  <a:pt x="131349" y="138231"/>
                  <a:pt x="122872" y="138231"/>
                </a:cubicBezTo>
                <a:cubicBezTo>
                  <a:pt x="114395" y="138231"/>
                  <a:pt x="107513" y="131349"/>
                  <a:pt x="107513" y="122872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46116" y="1808792"/>
            <a:ext cx="439882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Demo 设计目标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936" y="2300281"/>
            <a:ext cx="4681433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打造"麻雀虽小,五脏俱全"的最小可行性产品(</a:t>
            </a:r>
            <a:r>
              <a:rPr lang="en-US" sz="1548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MVP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),验证"</a:t>
            </a:r>
            <a:r>
              <a:rPr lang="en-US" sz="1548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 + LLM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"双向协同范式在反欺诈领域的潜力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3510" y="3135813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98298" y="196596"/>
                </a:moveTo>
                <a:cubicBezTo>
                  <a:pt x="152550" y="196596"/>
                  <a:pt x="196596" y="152550"/>
                  <a:pt x="196596" y="98298"/>
                </a:cubicBezTo>
                <a:cubicBezTo>
                  <a:pt x="196596" y="44046"/>
                  <a:pt x="152550" y="0"/>
                  <a:pt x="98298" y="0"/>
                </a:cubicBezTo>
                <a:cubicBezTo>
                  <a:pt x="44046" y="0"/>
                  <a:pt x="0" y="44046"/>
                  <a:pt x="0" y="98298"/>
                </a:cubicBezTo>
                <a:cubicBezTo>
                  <a:pt x="0" y="152550"/>
                  <a:pt x="44046" y="196596"/>
                  <a:pt x="98298" y="196596"/>
                </a:cubicBezTo>
                <a:close/>
                <a:moveTo>
                  <a:pt x="130705" y="81672"/>
                </a:moveTo>
                <a:lnTo>
                  <a:pt x="99987" y="130821"/>
                </a:lnTo>
                <a:cubicBezTo>
                  <a:pt x="98375" y="133393"/>
                  <a:pt x="95610" y="135006"/>
                  <a:pt x="92577" y="135159"/>
                </a:cubicBezTo>
                <a:cubicBezTo>
                  <a:pt x="89543" y="135313"/>
                  <a:pt x="86625" y="133931"/>
                  <a:pt x="84820" y="131473"/>
                </a:cubicBezTo>
                <a:lnTo>
                  <a:pt x="66389" y="106899"/>
                </a:lnTo>
                <a:cubicBezTo>
                  <a:pt x="63318" y="102829"/>
                  <a:pt x="64162" y="97069"/>
                  <a:pt x="68233" y="93997"/>
                </a:cubicBezTo>
                <a:cubicBezTo>
                  <a:pt x="72303" y="90925"/>
                  <a:pt x="78062" y="91770"/>
                  <a:pt x="81134" y="95840"/>
                </a:cubicBezTo>
                <a:lnTo>
                  <a:pt x="91501" y="109663"/>
                </a:lnTo>
                <a:lnTo>
                  <a:pt x="115078" y="71919"/>
                </a:lnTo>
                <a:cubicBezTo>
                  <a:pt x="117765" y="67618"/>
                  <a:pt x="123448" y="66274"/>
                  <a:pt x="127787" y="69000"/>
                </a:cubicBezTo>
                <a:cubicBezTo>
                  <a:pt x="132126" y="71727"/>
                  <a:pt x="133432" y="77371"/>
                  <a:pt x="130705" y="8171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82978" y="3086664"/>
            <a:ext cx="186765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高仿真资金流转环境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3510" y="3529004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98298" y="196596"/>
                </a:moveTo>
                <a:cubicBezTo>
                  <a:pt x="152550" y="196596"/>
                  <a:pt x="196596" y="152550"/>
                  <a:pt x="196596" y="98298"/>
                </a:cubicBezTo>
                <a:cubicBezTo>
                  <a:pt x="196596" y="44046"/>
                  <a:pt x="152550" y="0"/>
                  <a:pt x="98298" y="0"/>
                </a:cubicBezTo>
                <a:cubicBezTo>
                  <a:pt x="44046" y="0"/>
                  <a:pt x="0" y="44046"/>
                  <a:pt x="0" y="98298"/>
                </a:cubicBezTo>
                <a:cubicBezTo>
                  <a:pt x="0" y="152550"/>
                  <a:pt x="44046" y="196596"/>
                  <a:pt x="98298" y="196596"/>
                </a:cubicBezTo>
                <a:close/>
                <a:moveTo>
                  <a:pt x="130705" y="81672"/>
                </a:moveTo>
                <a:lnTo>
                  <a:pt x="99987" y="130821"/>
                </a:lnTo>
                <a:cubicBezTo>
                  <a:pt x="98375" y="133393"/>
                  <a:pt x="95610" y="135006"/>
                  <a:pt x="92577" y="135159"/>
                </a:cubicBezTo>
                <a:cubicBezTo>
                  <a:pt x="89543" y="135313"/>
                  <a:pt x="86625" y="133931"/>
                  <a:pt x="84820" y="131473"/>
                </a:cubicBezTo>
                <a:lnTo>
                  <a:pt x="66389" y="106899"/>
                </a:lnTo>
                <a:cubicBezTo>
                  <a:pt x="63318" y="102829"/>
                  <a:pt x="64162" y="97069"/>
                  <a:pt x="68233" y="93997"/>
                </a:cubicBezTo>
                <a:cubicBezTo>
                  <a:pt x="72303" y="90925"/>
                  <a:pt x="78062" y="91770"/>
                  <a:pt x="81134" y="95840"/>
                </a:cubicBezTo>
                <a:lnTo>
                  <a:pt x="91501" y="109663"/>
                </a:lnTo>
                <a:lnTo>
                  <a:pt x="115078" y="71919"/>
                </a:lnTo>
                <a:cubicBezTo>
                  <a:pt x="117765" y="67618"/>
                  <a:pt x="123448" y="66274"/>
                  <a:pt x="127787" y="69000"/>
                </a:cubicBezTo>
                <a:cubicBezTo>
                  <a:pt x="132126" y="71727"/>
                  <a:pt x="133432" y="77371"/>
                  <a:pt x="130705" y="8171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82978" y="3479855"/>
            <a:ext cx="167106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三类核心欺诈场景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3510" y="3922195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98298" y="196596"/>
                </a:moveTo>
                <a:cubicBezTo>
                  <a:pt x="152550" y="196596"/>
                  <a:pt x="196596" y="152550"/>
                  <a:pt x="196596" y="98298"/>
                </a:cubicBezTo>
                <a:cubicBezTo>
                  <a:pt x="196596" y="44046"/>
                  <a:pt x="152550" y="0"/>
                  <a:pt x="98298" y="0"/>
                </a:cubicBezTo>
                <a:cubicBezTo>
                  <a:pt x="44046" y="0"/>
                  <a:pt x="0" y="44046"/>
                  <a:pt x="0" y="98298"/>
                </a:cubicBezTo>
                <a:cubicBezTo>
                  <a:pt x="0" y="152550"/>
                  <a:pt x="44046" y="196596"/>
                  <a:pt x="98298" y="196596"/>
                </a:cubicBezTo>
                <a:close/>
                <a:moveTo>
                  <a:pt x="130705" y="81672"/>
                </a:moveTo>
                <a:lnTo>
                  <a:pt x="99987" y="130821"/>
                </a:lnTo>
                <a:cubicBezTo>
                  <a:pt x="98375" y="133393"/>
                  <a:pt x="95610" y="135006"/>
                  <a:pt x="92577" y="135159"/>
                </a:cubicBezTo>
                <a:cubicBezTo>
                  <a:pt x="89543" y="135313"/>
                  <a:pt x="86625" y="133931"/>
                  <a:pt x="84820" y="131473"/>
                </a:cubicBezTo>
                <a:lnTo>
                  <a:pt x="66389" y="106899"/>
                </a:lnTo>
                <a:cubicBezTo>
                  <a:pt x="63318" y="102829"/>
                  <a:pt x="64162" y="97069"/>
                  <a:pt x="68233" y="93997"/>
                </a:cubicBezTo>
                <a:cubicBezTo>
                  <a:pt x="72303" y="90925"/>
                  <a:pt x="78062" y="91770"/>
                  <a:pt x="81134" y="95840"/>
                </a:cubicBezTo>
                <a:lnTo>
                  <a:pt x="91501" y="109663"/>
                </a:lnTo>
                <a:lnTo>
                  <a:pt x="115078" y="71919"/>
                </a:lnTo>
                <a:cubicBezTo>
                  <a:pt x="117765" y="67618"/>
                  <a:pt x="123448" y="66274"/>
                  <a:pt x="127787" y="69000"/>
                </a:cubicBezTo>
                <a:cubicBezTo>
                  <a:pt x="132126" y="71727"/>
                  <a:pt x="133432" y="77371"/>
                  <a:pt x="130705" y="8171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2978" y="3873046"/>
            <a:ext cx="167106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完整技术闭环验证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7766" y="4561131"/>
            <a:ext cx="5000901" cy="4423401"/>
          </a:xfrm>
          <a:custGeom>
            <a:avLst/>
            <a:gdLst/>
            <a:ahLst/>
            <a:cxnLst/>
            <a:rect l="l" t="t" r="r" b="b"/>
            <a:pathLst>
              <a:path w="5000901" h="4423401">
                <a:moveTo>
                  <a:pt x="0" y="0"/>
                </a:moveTo>
                <a:lnTo>
                  <a:pt x="5000901" y="0"/>
                </a:lnTo>
                <a:lnTo>
                  <a:pt x="5000901" y="4423401"/>
                </a:lnTo>
                <a:lnTo>
                  <a:pt x="0" y="442340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17766" y="4561131"/>
            <a:ext cx="49149" cy="4423401"/>
          </a:xfrm>
          <a:custGeom>
            <a:avLst/>
            <a:gdLst/>
            <a:ahLst/>
            <a:cxnLst/>
            <a:rect l="l" t="t" r="r" b="b"/>
            <a:pathLst>
              <a:path w="49149" h="4423401">
                <a:moveTo>
                  <a:pt x="0" y="0"/>
                </a:moveTo>
                <a:lnTo>
                  <a:pt x="49149" y="0"/>
                </a:lnTo>
                <a:lnTo>
                  <a:pt x="49149" y="4423401"/>
                </a:lnTo>
                <a:lnTo>
                  <a:pt x="0" y="4423401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54295" y="4806875"/>
            <a:ext cx="276463" cy="245745"/>
          </a:xfrm>
          <a:custGeom>
            <a:avLst/>
            <a:gdLst/>
            <a:ahLst/>
            <a:cxnLst/>
            <a:rect l="l" t="t" r="r" b="b"/>
            <a:pathLst>
              <a:path w="276463" h="245745">
                <a:moveTo>
                  <a:pt x="107561" y="46605"/>
                </a:moveTo>
                <a:lnTo>
                  <a:pt x="107561" y="70412"/>
                </a:lnTo>
                <a:lnTo>
                  <a:pt x="107801" y="70652"/>
                </a:lnTo>
                <a:cubicBezTo>
                  <a:pt x="110921" y="31102"/>
                  <a:pt x="143991" y="0"/>
                  <a:pt x="184356" y="0"/>
                </a:cubicBezTo>
                <a:cubicBezTo>
                  <a:pt x="194004" y="0"/>
                  <a:pt x="203267" y="1776"/>
                  <a:pt x="211763" y="5040"/>
                </a:cubicBezTo>
                <a:cubicBezTo>
                  <a:pt x="216562" y="6864"/>
                  <a:pt x="217426" y="12959"/>
                  <a:pt x="213827" y="16607"/>
                </a:cubicBezTo>
                <a:lnTo>
                  <a:pt x="171253" y="59180"/>
                </a:lnTo>
                <a:cubicBezTo>
                  <a:pt x="169813" y="60620"/>
                  <a:pt x="168997" y="62588"/>
                  <a:pt x="168997" y="64604"/>
                </a:cubicBezTo>
                <a:lnTo>
                  <a:pt x="168997" y="84475"/>
                </a:lnTo>
                <a:cubicBezTo>
                  <a:pt x="168997" y="88698"/>
                  <a:pt x="172453" y="92154"/>
                  <a:pt x="176677" y="92154"/>
                </a:cubicBezTo>
                <a:lnTo>
                  <a:pt x="196548" y="92154"/>
                </a:lnTo>
                <a:cubicBezTo>
                  <a:pt x="198563" y="92154"/>
                  <a:pt x="200531" y="91338"/>
                  <a:pt x="201971" y="89898"/>
                </a:cubicBezTo>
                <a:lnTo>
                  <a:pt x="244545" y="47325"/>
                </a:lnTo>
                <a:cubicBezTo>
                  <a:pt x="248192" y="43677"/>
                  <a:pt x="254288" y="44589"/>
                  <a:pt x="256112" y="49389"/>
                </a:cubicBezTo>
                <a:cubicBezTo>
                  <a:pt x="259376" y="57884"/>
                  <a:pt x="261152" y="67148"/>
                  <a:pt x="261152" y="76795"/>
                </a:cubicBezTo>
                <a:cubicBezTo>
                  <a:pt x="261152" y="105881"/>
                  <a:pt x="244977" y="131224"/>
                  <a:pt x="221074" y="144231"/>
                </a:cubicBezTo>
                <a:lnTo>
                  <a:pt x="260192" y="183348"/>
                </a:lnTo>
                <a:cubicBezTo>
                  <a:pt x="269167" y="192324"/>
                  <a:pt x="269167" y="206915"/>
                  <a:pt x="260192" y="215938"/>
                </a:cubicBezTo>
                <a:lnTo>
                  <a:pt x="231345" y="244785"/>
                </a:lnTo>
                <a:cubicBezTo>
                  <a:pt x="222370" y="253760"/>
                  <a:pt x="207779" y="253760"/>
                  <a:pt x="198755" y="244785"/>
                </a:cubicBezTo>
                <a:lnTo>
                  <a:pt x="138279" y="184308"/>
                </a:lnTo>
                <a:cubicBezTo>
                  <a:pt x="125128" y="171157"/>
                  <a:pt x="122152" y="151718"/>
                  <a:pt x="129400" y="135687"/>
                </a:cubicBezTo>
                <a:lnTo>
                  <a:pt x="85867" y="92154"/>
                </a:lnTo>
                <a:lnTo>
                  <a:pt x="62060" y="92154"/>
                </a:lnTo>
                <a:cubicBezTo>
                  <a:pt x="56924" y="92154"/>
                  <a:pt x="52125" y="89610"/>
                  <a:pt x="49293" y="85339"/>
                </a:cubicBezTo>
                <a:lnTo>
                  <a:pt x="11231" y="28270"/>
                </a:lnTo>
                <a:cubicBezTo>
                  <a:pt x="9215" y="25246"/>
                  <a:pt x="9599" y="21167"/>
                  <a:pt x="12191" y="18575"/>
                </a:cubicBezTo>
                <a:lnTo>
                  <a:pt x="33982" y="-3216"/>
                </a:lnTo>
                <a:cubicBezTo>
                  <a:pt x="36574" y="-5808"/>
                  <a:pt x="40605" y="-6192"/>
                  <a:pt x="43677" y="-4176"/>
                </a:cubicBezTo>
                <a:lnTo>
                  <a:pt x="100746" y="33838"/>
                </a:lnTo>
                <a:cubicBezTo>
                  <a:pt x="105017" y="36670"/>
                  <a:pt x="107561" y="41469"/>
                  <a:pt x="107561" y="46605"/>
                </a:cubicBezTo>
                <a:close/>
                <a:moveTo>
                  <a:pt x="103481" y="142359"/>
                </a:moveTo>
                <a:cubicBezTo>
                  <a:pt x="100458" y="160118"/>
                  <a:pt x="104633" y="178885"/>
                  <a:pt x="116153" y="193908"/>
                </a:cubicBezTo>
                <a:lnTo>
                  <a:pt x="70556" y="239457"/>
                </a:lnTo>
                <a:cubicBezTo>
                  <a:pt x="57068" y="252944"/>
                  <a:pt x="35182" y="252944"/>
                  <a:pt x="21695" y="239457"/>
                </a:cubicBezTo>
                <a:cubicBezTo>
                  <a:pt x="8207" y="225970"/>
                  <a:pt x="8207" y="204083"/>
                  <a:pt x="21695" y="190596"/>
                </a:cubicBezTo>
                <a:lnTo>
                  <a:pt x="86683" y="125608"/>
                </a:lnTo>
                <a:lnTo>
                  <a:pt x="103481" y="142407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46116" y="4757726"/>
            <a:ext cx="439882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技术栈选型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079" y="5255359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49521" y="5359800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Python 3.10+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521" y="5654694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核心语言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09602" y="5255359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114044" y="5359800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FastAPI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14044" y="5654694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Web框架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079" y="6164614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49521" y="6269055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Neo4j 5.22.0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521" y="6563949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图数据库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09602" y="6164614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114044" y="6269055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Moonshot AI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114044" y="6563949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LLM服务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079" y="7073869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49521" y="7178310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Pandas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9521" y="7473203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009602" y="7073869"/>
            <a:ext cx="2199413" cy="749521"/>
          </a:xfrm>
          <a:custGeom>
            <a:avLst/>
            <a:gdLst/>
            <a:ahLst/>
            <a:cxnLst/>
            <a:rect l="l" t="t" r="r" b="b"/>
            <a:pathLst>
              <a:path w="2199413" h="749521">
                <a:moveTo>
                  <a:pt x="0" y="0"/>
                </a:moveTo>
                <a:lnTo>
                  <a:pt x="2199413" y="0"/>
                </a:lnTo>
                <a:lnTo>
                  <a:pt x="2199413" y="749521"/>
                </a:lnTo>
                <a:lnTo>
                  <a:pt x="0" y="7495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114044" y="7178310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Docker compose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14044" y="7473203"/>
            <a:ext cx="207654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容器化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19966" y="1618340"/>
            <a:ext cx="10235259" cy="4779731"/>
          </a:xfrm>
          <a:custGeom>
            <a:avLst/>
            <a:gdLst/>
            <a:ahLst/>
            <a:cxnLst/>
            <a:rect l="l" t="t" r="r" b="b"/>
            <a:pathLst>
              <a:path w="10235259" h="4779731">
                <a:moveTo>
                  <a:pt x="0" y="0"/>
                </a:moveTo>
                <a:lnTo>
                  <a:pt x="10235259" y="0"/>
                </a:lnTo>
                <a:lnTo>
                  <a:pt x="10235259" y="4779731"/>
                </a:lnTo>
                <a:lnTo>
                  <a:pt x="0" y="477973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 w="127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853423" y="187022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92154" y="30718"/>
                </a:moveTo>
                <a:cubicBezTo>
                  <a:pt x="92154" y="22223"/>
                  <a:pt x="99018" y="15359"/>
                  <a:pt x="107513" y="15359"/>
                </a:cubicBezTo>
                <a:lnTo>
                  <a:pt x="138231" y="15359"/>
                </a:lnTo>
                <a:cubicBezTo>
                  <a:pt x="146727" y="15359"/>
                  <a:pt x="153590" y="22223"/>
                  <a:pt x="153590" y="30718"/>
                </a:cubicBezTo>
                <a:lnTo>
                  <a:pt x="153590" y="61436"/>
                </a:lnTo>
                <a:cubicBezTo>
                  <a:pt x="153590" y="69932"/>
                  <a:pt x="146727" y="76795"/>
                  <a:pt x="138231" y="76795"/>
                </a:cubicBezTo>
                <a:lnTo>
                  <a:pt x="134392" y="76795"/>
                </a:lnTo>
                <a:lnTo>
                  <a:pt x="134392" y="107513"/>
                </a:lnTo>
                <a:lnTo>
                  <a:pt x="191988" y="107513"/>
                </a:lnTo>
                <a:cubicBezTo>
                  <a:pt x="211091" y="107513"/>
                  <a:pt x="226546" y="122968"/>
                  <a:pt x="226546" y="142071"/>
                </a:cubicBezTo>
                <a:lnTo>
                  <a:pt x="226546" y="168949"/>
                </a:lnTo>
                <a:lnTo>
                  <a:pt x="230385" y="168949"/>
                </a:lnTo>
                <a:cubicBezTo>
                  <a:pt x="238881" y="168949"/>
                  <a:pt x="245745" y="175813"/>
                  <a:pt x="245745" y="184308"/>
                </a:cubicBezTo>
                <a:lnTo>
                  <a:pt x="245745" y="215026"/>
                </a:lnTo>
                <a:cubicBezTo>
                  <a:pt x="245745" y="223522"/>
                  <a:pt x="238881" y="230385"/>
                  <a:pt x="230385" y="230385"/>
                </a:cubicBezTo>
                <a:lnTo>
                  <a:pt x="199667" y="230385"/>
                </a:lnTo>
                <a:cubicBezTo>
                  <a:pt x="191172" y="230385"/>
                  <a:pt x="184308" y="223522"/>
                  <a:pt x="184308" y="215026"/>
                </a:cubicBezTo>
                <a:lnTo>
                  <a:pt x="184308" y="184308"/>
                </a:lnTo>
                <a:cubicBezTo>
                  <a:pt x="184308" y="175813"/>
                  <a:pt x="191172" y="168949"/>
                  <a:pt x="199667" y="168949"/>
                </a:cubicBezTo>
                <a:lnTo>
                  <a:pt x="203507" y="168949"/>
                </a:lnTo>
                <a:lnTo>
                  <a:pt x="203507" y="142071"/>
                </a:lnTo>
                <a:cubicBezTo>
                  <a:pt x="203507" y="135687"/>
                  <a:pt x="198372" y="130552"/>
                  <a:pt x="191988" y="130552"/>
                </a:cubicBezTo>
                <a:lnTo>
                  <a:pt x="134392" y="130552"/>
                </a:lnTo>
                <a:lnTo>
                  <a:pt x="134392" y="168949"/>
                </a:lnTo>
                <a:lnTo>
                  <a:pt x="138231" y="168949"/>
                </a:lnTo>
                <a:cubicBezTo>
                  <a:pt x="146727" y="168949"/>
                  <a:pt x="153590" y="175813"/>
                  <a:pt x="153590" y="184308"/>
                </a:cubicBezTo>
                <a:lnTo>
                  <a:pt x="153590" y="215026"/>
                </a:lnTo>
                <a:cubicBezTo>
                  <a:pt x="153590" y="223522"/>
                  <a:pt x="146727" y="230385"/>
                  <a:pt x="138231" y="230385"/>
                </a:cubicBezTo>
                <a:lnTo>
                  <a:pt x="107513" y="230385"/>
                </a:lnTo>
                <a:cubicBezTo>
                  <a:pt x="99018" y="230385"/>
                  <a:pt x="92154" y="223522"/>
                  <a:pt x="92154" y="215026"/>
                </a:cubicBezTo>
                <a:lnTo>
                  <a:pt x="92154" y="184308"/>
                </a:lnTo>
                <a:cubicBezTo>
                  <a:pt x="92154" y="175813"/>
                  <a:pt x="99018" y="168949"/>
                  <a:pt x="107513" y="168949"/>
                </a:cubicBezTo>
                <a:lnTo>
                  <a:pt x="111353" y="168949"/>
                </a:lnTo>
                <a:lnTo>
                  <a:pt x="111353" y="130552"/>
                </a:lnTo>
                <a:lnTo>
                  <a:pt x="53757" y="130552"/>
                </a:lnTo>
                <a:cubicBezTo>
                  <a:pt x="47373" y="130552"/>
                  <a:pt x="42237" y="135687"/>
                  <a:pt x="42237" y="142071"/>
                </a:cubicBezTo>
                <a:lnTo>
                  <a:pt x="42237" y="168949"/>
                </a:lnTo>
                <a:lnTo>
                  <a:pt x="46077" y="168949"/>
                </a:lnTo>
                <a:cubicBezTo>
                  <a:pt x="54573" y="168949"/>
                  <a:pt x="61436" y="175813"/>
                  <a:pt x="61436" y="184308"/>
                </a:cubicBezTo>
                <a:lnTo>
                  <a:pt x="61436" y="215026"/>
                </a:lnTo>
                <a:cubicBezTo>
                  <a:pt x="61436" y="223522"/>
                  <a:pt x="54573" y="230385"/>
                  <a:pt x="46077" y="230385"/>
                </a:cubicBezTo>
                <a:lnTo>
                  <a:pt x="15359" y="230385"/>
                </a:lnTo>
                <a:cubicBezTo>
                  <a:pt x="6864" y="230385"/>
                  <a:pt x="0" y="223522"/>
                  <a:pt x="0" y="215026"/>
                </a:cubicBezTo>
                <a:lnTo>
                  <a:pt x="0" y="184308"/>
                </a:lnTo>
                <a:cubicBezTo>
                  <a:pt x="0" y="175813"/>
                  <a:pt x="6864" y="168949"/>
                  <a:pt x="15359" y="168949"/>
                </a:cubicBezTo>
                <a:lnTo>
                  <a:pt x="19199" y="168949"/>
                </a:lnTo>
                <a:lnTo>
                  <a:pt x="19199" y="142071"/>
                </a:lnTo>
                <a:cubicBezTo>
                  <a:pt x="19199" y="122968"/>
                  <a:pt x="34654" y="107513"/>
                  <a:pt x="53757" y="107513"/>
                </a:cubicBezTo>
                <a:lnTo>
                  <a:pt x="111353" y="107513"/>
                </a:lnTo>
                <a:lnTo>
                  <a:pt x="111353" y="76795"/>
                </a:lnTo>
                <a:lnTo>
                  <a:pt x="107513" y="76795"/>
                </a:lnTo>
                <a:cubicBezTo>
                  <a:pt x="99018" y="76795"/>
                  <a:pt x="92154" y="69932"/>
                  <a:pt x="92154" y="61436"/>
                </a:cubicBezTo>
                <a:lnTo>
                  <a:pt x="92154" y="30718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29886" y="1821079"/>
            <a:ext cx="9645472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核心场景实现逻辑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47280" y="2312568"/>
            <a:ext cx="4816593" cy="1867658"/>
          </a:xfrm>
          <a:custGeom>
            <a:avLst/>
            <a:gdLst/>
            <a:ahLst/>
            <a:cxnLst/>
            <a:rect l="l" t="t" r="r" b="b"/>
            <a:pathLst>
              <a:path w="4816593" h="1867658">
                <a:moveTo>
                  <a:pt x="0" y="0"/>
                </a:moveTo>
                <a:lnTo>
                  <a:pt x="4816593" y="0"/>
                </a:lnTo>
                <a:lnTo>
                  <a:pt x="4816593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847280" y="2312568"/>
            <a:ext cx="49149" cy="1867658"/>
          </a:xfrm>
          <a:custGeom>
            <a:avLst/>
            <a:gdLst/>
            <a:ahLst/>
            <a:cxnLst/>
            <a:rect l="l" t="t" r="r" b="b"/>
            <a:pathLst>
              <a:path w="49149" h="1867658">
                <a:moveTo>
                  <a:pt x="0" y="0"/>
                </a:moveTo>
                <a:lnTo>
                  <a:pt x="49149" y="0"/>
                </a:lnTo>
                <a:lnTo>
                  <a:pt x="49149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019301" y="2460015"/>
            <a:ext cx="459542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资金归集检测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19301" y="2853206"/>
            <a:ext cx="4595423" cy="117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计算目标账户在特定时间窗口内的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入度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来源离散度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。如果账户在短时间内接收大量不同源账户资金,且呈现"快进快出"特征,立即标记为高风险"资金归集"账户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34550" y="2312568"/>
            <a:ext cx="4816593" cy="1867658"/>
          </a:xfrm>
          <a:custGeom>
            <a:avLst/>
            <a:gdLst/>
            <a:ahLst/>
            <a:cxnLst/>
            <a:rect l="l" t="t" r="r" b="b"/>
            <a:pathLst>
              <a:path w="4816593" h="1867658">
                <a:moveTo>
                  <a:pt x="0" y="0"/>
                </a:moveTo>
                <a:lnTo>
                  <a:pt x="4816593" y="0"/>
                </a:lnTo>
                <a:lnTo>
                  <a:pt x="4816593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834550" y="2312568"/>
            <a:ext cx="49149" cy="1867658"/>
          </a:xfrm>
          <a:custGeom>
            <a:avLst/>
            <a:gdLst/>
            <a:ahLst/>
            <a:cxnLst/>
            <a:rect l="l" t="t" r="r" b="b"/>
            <a:pathLst>
              <a:path w="49149" h="1867658">
                <a:moveTo>
                  <a:pt x="0" y="0"/>
                </a:moveTo>
                <a:lnTo>
                  <a:pt x="49149" y="0"/>
                </a:lnTo>
                <a:lnTo>
                  <a:pt x="49149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006571" y="2460015"/>
            <a:ext cx="459542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长链清洗追踪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06571" y="2853206"/>
            <a:ext cx="4595423" cy="88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在数据生成阶段显式构造深度超过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5跳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的复杂资金转移链路。通过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路径深度分析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识别此类长链清洗行为,作为高权重风险特征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47280" y="4327673"/>
            <a:ext cx="4816593" cy="1867658"/>
          </a:xfrm>
          <a:custGeom>
            <a:avLst/>
            <a:gdLst/>
            <a:ahLst/>
            <a:cxnLst/>
            <a:rect l="l" t="t" r="r" b="b"/>
            <a:pathLst>
              <a:path w="4816593" h="1867658">
                <a:moveTo>
                  <a:pt x="0" y="0"/>
                </a:moveTo>
                <a:lnTo>
                  <a:pt x="4816593" y="0"/>
                </a:lnTo>
                <a:lnTo>
                  <a:pt x="4816593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847280" y="4327673"/>
            <a:ext cx="49149" cy="1867658"/>
          </a:xfrm>
          <a:custGeom>
            <a:avLst/>
            <a:gdLst/>
            <a:ahLst/>
            <a:cxnLst/>
            <a:rect l="l" t="t" r="r" b="b"/>
            <a:pathLst>
              <a:path w="49149" h="1867658">
                <a:moveTo>
                  <a:pt x="0" y="0"/>
                </a:moveTo>
                <a:lnTo>
                  <a:pt x="49149" y="0"/>
                </a:lnTo>
                <a:lnTo>
                  <a:pt x="49149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019301" y="4475120"/>
            <a:ext cx="459542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设备团伙识别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019301" y="4868311"/>
            <a:ext cx="4595423" cy="117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通过分析账户与设备的关联关系,计算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设备社区规模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(即使用同一设备的独立客户数量)。超过阈值(如5人)即视为设备共用异常,提示可能存在模拟器攻击或GOIP设备养号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834550" y="4327673"/>
            <a:ext cx="4816593" cy="1867658"/>
          </a:xfrm>
          <a:custGeom>
            <a:avLst/>
            <a:gdLst/>
            <a:ahLst/>
            <a:cxnLst/>
            <a:rect l="l" t="t" r="r" b="b"/>
            <a:pathLst>
              <a:path w="4816593" h="1867658">
                <a:moveTo>
                  <a:pt x="0" y="0"/>
                </a:moveTo>
                <a:lnTo>
                  <a:pt x="4816593" y="0"/>
                </a:lnTo>
                <a:lnTo>
                  <a:pt x="4816593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0834550" y="4327673"/>
            <a:ext cx="49149" cy="1867658"/>
          </a:xfrm>
          <a:custGeom>
            <a:avLst/>
            <a:gdLst/>
            <a:ahLst/>
            <a:cxnLst/>
            <a:rect l="l" t="t" r="r" b="b"/>
            <a:pathLst>
              <a:path w="49149" h="1867658">
                <a:moveTo>
                  <a:pt x="0" y="0"/>
                </a:moveTo>
                <a:lnTo>
                  <a:pt x="49149" y="0"/>
                </a:lnTo>
                <a:lnTo>
                  <a:pt x="49149" y="1867658"/>
                </a:lnTo>
                <a:lnTo>
                  <a:pt x="0" y="1867658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006571" y="4475120"/>
            <a:ext cx="459542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文本诱导风险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06571" y="4868311"/>
            <a:ext cx="4595423" cy="88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预留文本分析接口,可接入客服工单、投诉记录,利用LLM进行</a:t>
            </a:r>
            <a:r>
              <a:rPr lang="en-US" sz="1548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话术风险抽取</a:t>
            </a: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,识别"杀猪盘"、"刷单"等典型诈骗话术,形成完整证据链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19966" y="6606954"/>
            <a:ext cx="10235259" cy="2371435"/>
          </a:xfrm>
          <a:custGeom>
            <a:avLst/>
            <a:gdLst/>
            <a:ahLst/>
            <a:cxnLst/>
            <a:rect l="l" t="t" r="r" b="b"/>
            <a:pathLst>
              <a:path w="10235259" h="2371435">
                <a:moveTo>
                  <a:pt x="0" y="0"/>
                </a:moveTo>
                <a:lnTo>
                  <a:pt x="10235259" y="0"/>
                </a:lnTo>
                <a:lnTo>
                  <a:pt x="10235259" y="2371435"/>
                </a:lnTo>
                <a:lnTo>
                  <a:pt x="0" y="2371435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838064" y="6858842"/>
            <a:ext cx="276463" cy="245745"/>
          </a:xfrm>
          <a:custGeom>
            <a:avLst/>
            <a:gdLst/>
            <a:ahLst/>
            <a:cxnLst/>
            <a:rect l="l" t="t" r="r" b="b"/>
            <a:pathLst>
              <a:path w="276463" h="245745">
                <a:moveTo>
                  <a:pt x="173173" y="576"/>
                </a:moveTo>
                <a:cubicBezTo>
                  <a:pt x="165014" y="-1776"/>
                  <a:pt x="156518" y="2976"/>
                  <a:pt x="154166" y="11135"/>
                </a:cubicBezTo>
                <a:lnTo>
                  <a:pt x="92730" y="226162"/>
                </a:lnTo>
                <a:cubicBezTo>
                  <a:pt x="90378" y="234321"/>
                  <a:pt x="95130" y="242817"/>
                  <a:pt x="103289" y="245169"/>
                </a:cubicBezTo>
                <a:cubicBezTo>
                  <a:pt x="111449" y="247520"/>
                  <a:pt x="119944" y="242769"/>
                  <a:pt x="122296" y="234609"/>
                </a:cubicBezTo>
                <a:lnTo>
                  <a:pt x="183732" y="19583"/>
                </a:lnTo>
                <a:cubicBezTo>
                  <a:pt x="186084" y="11423"/>
                  <a:pt x="181333" y="2928"/>
                  <a:pt x="173173" y="576"/>
                </a:cubicBezTo>
                <a:close/>
                <a:moveTo>
                  <a:pt x="204179" y="65900"/>
                </a:moveTo>
                <a:cubicBezTo>
                  <a:pt x="198180" y="71899"/>
                  <a:pt x="198180" y="81643"/>
                  <a:pt x="204179" y="87642"/>
                </a:cubicBezTo>
                <a:lnTo>
                  <a:pt x="239409" y="122872"/>
                </a:lnTo>
                <a:lnTo>
                  <a:pt x="204179" y="158102"/>
                </a:lnTo>
                <a:cubicBezTo>
                  <a:pt x="198180" y="164102"/>
                  <a:pt x="198180" y="173845"/>
                  <a:pt x="204179" y="179845"/>
                </a:cubicBezTo>
                <a:cubicBezTo>
                  <a:pt x="210179" y="185844"/>
                  <a:pt x="219922" y="185844"/>
                  <a:pt x="225922" y="179845"/>
                </a:cubicBezTo>
                <a:lnTo>
                  <a:pt x="271999" y="133768"/>
                </a:lnTo>
                <a:cubicBezTo>
                  <a:pt x="277998" y="127768"/>
                  <a:pt x="277998" y="118025"/>
                  <a:pt x="271999" y="112025"/>
                </a:cubicBezTo>
                <a:lnTo>
                  <a:pt x="225922" y="65948"/>
                </a:lnTo>
                <a:cubicBezTo>
                  <a:pt x="219922" y="59948"/>
                  <a:pt x="210179" y="59948"/>
                  <a:pt x="204179" y="65948"/>
                </a:cubicBezTo>
                <a:close/>
                <a:moveTo>
                  <a:pt x="72331" y="65900"/>
                </a:moveTo>
                <a:cubicBezTo>
                  <a:pt x="66332" y="59900"/>
                  <a:pt x="56588" y="59900"/>
                  <a:pt x="50589" y="65900"/>
                </a:cubicBezTo>
                <a:lnTo>
                  <a:pt x="4512" y="111977"/>
                </a:lnTo>
                <a:cubicBezTo>
                  <a:pt x="-1488" y="117977"/>
                  <a:pt x="-1488" y="127720"/>
                  <a:pt x="4512" y="133720"/>
                </a:cubicBezTo>
                <a:lnTo>
                  <a:pt x="50589" y="179797"/>
                </a:lnTo>
                <a:cubicBezTo>
                  <a:pt x="56588" y="185796"/>
                  <a:pt x="66332" y="185796"/>
                  <a:pt x="72331" y="179797"/>
                </a:cubicBezTo>
                <a:cubicBezTo>
                  <a:pt x="78331" y="173797"/>
                  <a:pt x="78331" y="164054"/>
                  <a:pt x="72331" y="158054"/>
                </a:cubicBezTo>
                <a:lnTo>
                  <a:pt x="37102" y="122872"/>
                </a:lnTo>
                <a:lnTo>
                  <a:pt x="72283" y="87642"/>
                </a:lnTo>
                <a:cubicBezTo>
                  <a:pt x="78283" y="81643"/>
                  <a:pt x="78283" y="71899"/>
                  <a:pt x="72283" y="6590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276084" y="6809693"/>
            <a:ext cx="949927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API </a:t>
            </a:r>
            <a:r>
              <a:rPr lang="en-US" sz="1935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接口设计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822705" y="7301182"/>
            <a:ext cx="454627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276085" y="7301182"/>
            <a:ext cx="73723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/health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214618" y="7301182"/>
            <a:ext cx="8531462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健康检查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822705" y="7694373"/>
            <a:ext cx="454627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276085" y="7694373"/>
            <a:ext cx="16342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/graph/subgraph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904526" y="7694373"/>
            <a:ext cx="783925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子图检索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822705" y="8087565"/>
            <a:ext cx="57750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POST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394445" y="8087565"/>
            <a:ext cx="1388457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/agent/verdict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984200" y="8087565"/>
            <a:ext cx="775842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规则判决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822705" y="8480756"/>
            <a:ext cx="57750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POST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394444" y="8480756"/>
            <a:ext cx="190659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/agent/verdict_llm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173720" y="8480756"/>
            <a:ext cx="724211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LLM增强判决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2384425"/>
            <a:ext cx="1054100" cy="723900"/>
          </a:xfrm>
          <a:custGeom>
            <a:avLst/>
            <a:gdLst/>
            <a:ahLst/>
            <a:cxnLst/>
            <a:rect l="l" t="t" r="r" b="b"/>
            <a:pathLst>
              <a:path w="1054100" h="723900">
                <a:moveTo>
                  <a:pt x="0" y="0"/>
                </a:moveTo>
                <a:lnTo>
                  <a:pt x="1054100" y="0"/>
                </a:lnTo>
                <a:lnTo>
                  <a:pt x="1054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20000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2530475"/>
            <a:ext cx="59015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521075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工程化路线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70475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527675"/>
            <a:ext cx="47625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 </a:t>
            </a:r>
            <a:r>
              <a:rPr lang="en-US" sz="30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到生产级系统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三阶段演进路径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" y="4064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9600" y="476250"/>
            <a:ext cx="2688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D9A47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ENGINEERING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400" y="914400"/>
            <a:ext cx="1567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三阶段工程化路线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64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31800" y="1828800"/>
            <a:ext cx="4991100" cy="5207000"/>
          </a:xfrm>
          <a:custGeom>
            <a:avLst/>
            <a:gdLst/>
            <a:ahLst/>
            <a:cxnLst/>
            <a:rect l="l" t="t" r="r" b="b"/>
            <a:pathLst>
              <a:path w="4991100" h="5207000">
                <a:moveTo>
                  <a:pt x="0" y="0"/>
                </a:moveTo>
                <a:lnTo>
                  <a:pt x="4991100" y="0"/>
                </a:lnTo>
                <a:lnTo>
                  <a:pt x="49911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31800" y="18288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604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33338" y="2159000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22400" y="20320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夯实图谱底座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2400" y="23876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Foundation Phase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0400" y="27940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将实验性数据流程转化为生产级图谱基础设施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400" y="3251200"/>
            <a:ext cx="4559300" cy="863600"/>
          </a:xfrm>
          <a:custGeom>
            <a:avLst/>
            <a:gdLst/>
            <a:ahLst/>
            <a:cxnLst/>
            <a:rect l="l" t="t" r="r" b="b"/>
            <a:pathLst>
              <a:path w="4559300" h="863600">
                <a:moveTo>
                  <a:pt x="0" y="0"/>
                </a:moveTo>
                <a:lnTo>
                  <a:pt x="4559300" y="0"/>
                </a:lnTo>
                <a:lnTo>
                  <a:pt x="45593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87400" y="3416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33337"/>
                </a:moveTo>
                <a:cubicBezTo>
                  <a:pt x="0" y="27191"/>
                  <a:pt x="4966" y="22225"/>
                  <a:pt x="11112" y="22225"/>
                </a:cubicBezTo>
                <a:lnTo>
                  <a:pt x="144463" y="22225"/>
                </a:lnTo>
                <a:cubicBezTo>
                  <a:pt x="150609" y="22225"/>
                  <a:pt x="155575" y="27191"/>
                  <a:pt x="155575" y="33337"/>
                </a:cubicBezTo>
                <a:cubicBezTo>
                  <a:pt x="155575" y="39484"/>
                  <a:pt x="150609" y="44450"/>
                  <a:pt x="144463" y="44450"/>
                </a:cubicBezTo>
                <a:lnTo>
                  <a:pt x="11112" y="44450"/>
                </a:lnTo>
                <a:cubicBezTo>
                  <a:pt x="4966" y="44450"/>
                  <a:pt x="0" y="39484"/>
                  <a:pt x="0" y="33337"/>
                </a:cubicBezTo>
                <a:close/>
                <a:moveTo>
                  <a:pt x="22225" y="88900"/>
                </a:moveTo>
                <a:cubicBezTo>
                  <a:pt x="22225" y="82753"/>
                  <a:pt x="27191" y="77788"/>
                  <a:pt x="33337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33337" y="100013"/>
                </a:lnTo>
                <a:cubicBezTo>
                  <a:pt x="27191" y="100013"/>
                  <a:pt x="22225" y="95047"/>
                  <a:pt x="22225" y="88900"/>
                </a:cubicBezTo>
                <a:close/>
                <a:moveTo>
                  <a:pt x="155575" y="144463"/>
                </a:moveTo>
                <a:cubicBezTo>
                  <a:pt x="155575" y="150609"/>
                  <a:pt x="150609" y="155575"/>
                  <a:pt x="144463" y="155575"/>
                </a:cubicBezTo>
                <a:lnTo>
                  <a:pt x="11112" y="155575"/>
                </a:lnTo>
                <a:cubicBezTo>
                  <a:pt x="4966" y="155575"/>
                  <a:pt x="0" y="150609"/>
                  <a:pt x="0" y="144463"/>
                </a:cubicBezTo>
                <a:cubicBezTo>
                  <a:pt x="0" y="138316"/>
                  <a:pt x="4966" y="133350"/>
                  <a:pt x="11112" y="133350"/>
                </a:cubicBezTo>
                <a:lnTo>
                  <a:pt x="144463" y="133350"/>
                </a:lnTo>
                <a:cubicBezTo>
                  <a:pt x="150609" y="133350"/>
                  <a:pt x="155575" y="138316"/>
                  <a:pt x="155575" y="144463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90600" y="3352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实时流式接入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7084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Flink/Kafka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实现实时流式接入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400" y="4216400"/>
            <a:ext cx="4559300" cy="1168400"/>
          </a:xfrm>
          <a:custGeom>
            <a:avLst/>
            <a:gdLst/>
            <a:ahLst/>
            <a:cxnLst/>
            <a:rect l="l" t="t" r="r" b="b"/>
            <a:pathLst>
              <a:path w="4559300" h="1168400">
                <a:moveTo>
                  <a:pt x="0" y="0"/>
                </a:moveTo>
                <a:lnTo>
                  <a:pt x="4559300" y="0"/>
                </a:lnTo>
                <a:lnTo>
                  <a:pt x="45593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87400" y="4381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90600" y="43180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数据质量与隐私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673600"/>
            <a:ext cx="445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建立数据质量门禁、隐私保护机制、字段脱敏处理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400" y="5486400"/>
            <a:ext cx="4559300" cy="863600"/>
          </a:xfrm>
          <a:custGeom>
            <a:avLst/>
            <a:gdLst/>
            <a:ahLst/>
            <a:cxnLst/>
            <a:rect l="l" t="t" r="r" b="b"/>
            <a:pathLst>
              <a:path w="4559300" h="863600">
                <a:moveTo>
                  <a:pt x="0" y="0"/>
                </a:moveTo>
                <a:lnTo>
                  <a:pt x="4559300" y="0"/>
                </a:lnTo>
                <a:lnTo>
                  <a:pt x="45593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87400" y="5651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100013" y="33337"/>
                </a:moveTo>
                <a:cubicBezTo>
                  <a:pt x="100013" y="27204"/>
                  <a:pt x="95033" y="22225"/>
                  <a:pt x="88900" y="22225"/>
                </a:cubicBezTo>
                <a:cubicBezTo>
                  <a:pt x="82767" y="22225"/>
                  <a:pt x="77788" y="27204"/>
                  <a:pt x="77788" y="33337"/>
                </a:cubicBezTo>
                <a:cubicBezTo>
                  <a:pt x="77788" y="39471"/>
                  <a:pt x="82767" y="44450"/>
                  <a:pt x="88900" y="44450"/>
                </a:cubicBezTo>
                <a:cubicBezTo>
                  <a:pt x="95033" y="44450"/>
                  <a:pt x="100013" y="39471"/>
                  <a:pt x="100013" y="33337"/>
                </a:cubicBezTo>
                <a:close/>
                <a:moveTo>
                  <a:pt x="88900" y="144463"/>
                </a:moveTo>
                <a:cubicBezTo>
                  <a:pt x="101158" y="144463"/>
                  <a:pt x="111125" y="134496"/>
                  <a:pt x="111125" y="122238"/>
                </a:cubicBezTo>
                <a:cubicBezTo>
                  <a:pt x="111125" y="116612"/>
                  <a:pt x="109041" y="111438"/>
                  <a:pt x="105569" y="107548"/>
                </a:cubicBezTo>
                <a:lnTo>
                  <a:pt x="129704" y="59313"/>
                </a:lnTo>
                <a:cubicBezTo>
                  <a:pt x="131753" y="55181"/>
                  <a:pt x="130086" y="50180"/>
                  <a:pt x="125988" y="48131"/>
                </a:cubicBezTo>
                <a:cubicBezTo>
                  <a:pt x="121890" y="46082"/>
                  <a:pt x="116855" y="47749"/>
                  <a:pt x="114806" y="51847"/>
                </a:cubicBezTo>
                <a:lnTo>
                  <a:pt x="90671" y="100082"/>
                </a:lnTo>
                <a:cubicBezTo>
                  <a:pt x="90081" y="100047"/>
                  <a:pt x="89490" y="100013"/>
                  <a:pt x="88900" y="100013"/>
                </a:cubicBezTo>
                <a:cubicBezTo>
                  <a:pt x="76642" y="100013"/>
                  <a:pt x="66675" y="109979"/>
                  <a:pt x="66675" y="122238"/>
                </a:cubicBezTo>
                <a:cubicBezTo>
                  <a:pt x="66675" y="134496"/>
                  <a:pt x="76642" y="144463"/>
                  <a:pt x="88900" y="144463"/>
                </a:cubicBezTo>
                <a:close/>
                <a:moveTo>
                  <a:pt x="61119" y="50006"/>
                </a:moveTo>
                <a:cubicBezTo>
                  <a:pt x="61119" y="43873"/>
                  <a:pt x="56139" y="38894"/>
                  <a:pt x="50006" y="38894"/>
                </a:cubicBezTo>
                <a:cubicBezTo>
                  <a:pt x="43873" y="38894"/>
                  <a:pt x="38894" y="43873"/>
                  <a:pt x="38894" y="50006"/>
                </a:cubicBezTo>
                <a:cubicBezTo>
                  <a:pt x="38894" y="56139"/>
                  <a:pt x="43873" y="61119"/>
                  <a:pt x="50006" y="61119"/>
                </a:cubicBezTo>
                <a:cubicBezTo>
                  <a:pt x="56139" y="61119"/>
                  <a:pt x="61119" y="56139"/>
                  <a:pt x="61119" y="50006"/>
                </a:cubicBezTo>
                <a:close/>
                <a:moveTo>
                  <a:pt x="33337" y="100013"/>
                </a:moveTo>
                <a:cubicBezTo>
                  <a:pt x="39471" y="100013"/>
                  <a:pt x="44450" y="95033"/>
                  <a:pt x="44450" y="88900"/>
                </a:cubicBezTo>
                <a:cubicBezTo>
                  <a:pt x="44450" y="82767"/>
                  <a:pt x="39471" y="77788"/>
                  <a:pt x="33337" y="77788"/>
                </a:cubicBezTo>
                <a:cubicBezTo>
                  <a:pt x="27204" y="77788"/>
                  <a:pt x="22225" y="82767"/>
                  <a:pt x="22225" y="88900"/>
                </a:cubicBezTo>
                <a:cubicBezTo>
                  <a:pt x="22225" y="95033"/>
                  <a:pt x="27204" y="100013"/>
                  <a:pt x="33337" y="100013"/>
                </a:cubicBezTo>
                <a:close/>
                <a:moveTo>
                  <a:pt x="155575" y="88900"/>
                </a:moveTo>
                <a:cubicBezTo>
                  <a:pt x="155575" y="82767"/>
                  <a:pt x="150596" y="77788"/>
                  <a:pt x="144463" y="77788"/>
                </a:cubicBezTo>
                <a:cubicBezTo>
                  <a:pt x="138329" y="77788"/>
                  <a:pt x="133350" y="82767"/>
                  <a:pt x="133350" y="88900"/>
                </a:cubicBezTo>
                <a:cubicBezTo>
                  <a:pt x="133350" y="95033"/>
                  <a:pt x="138329" y="100013"/>
                  <a:pt x="144463" y="100013"/>
                </a:cubicBezTo>
                <a:cubicBezTo>
                  <a:pt x="150596" y="100013"/>
                  <a:pt x="155575" y="95033"/>
                  <a:pt x="155575" y="8890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90600" y="55880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9436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高性能索引、图分区、读写分离、毫秒级检索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47234" y="1828800"/>
            <a:ext cx="4991100" cy="5207000"/>
          </a:xfrm>
          <a:custGeom>
            <a:avLst/>
            <a:gdLst/>
            <a:ahLst/>
            <a:cxnLst/>
            <a:rect l="l" t="t" r="r" b="b"/>
            <a:pathLst>
              <a:path w="4991100" h="5207000">
                <a:moveTo>
                  <a:pt x="0" y="0"/>
                </a:moveTo>
                <a:lnTo>
                  <a:pt x="4991100" y="0"/>
                </a:lnTo>
                <a:lnTo>
                  <a:pt x="49911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647234" y="18288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75834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25753" y="21590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37834" y="2032000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深化特征挖掘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37834" y="23876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Enhancement Phase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75834" y="27940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风险特征深度挖掘与策略体系精细化治理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75834" y="3251200"/>
            <a:ext cx="4559300" cy="1168400"/>
          </a:xfrm>
          <a:custGeom>
            <a:avLst/>
            <a:gdLst/>
            <a:ahLst/>
            <a:cxnLst/>
            <a:rect l="l" t="t" r="r" b="b"/>
            <a:pathLst>
              <a:path w="4559300" h="1168400">
                <a:moveTo>
                  <a:pt x="0" y="0"/>
                </a:moveTo>
                <a:lnTo>
                  <a:pt x="4559300" y="0"/>
                </a:lnTo>
                <a:lnTo>
                  <a:pt x="45593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002834" y="3416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27781"/>
                </a:moveTo>
                <a:cubicBezTo>
                  <a:pt x="0" y="18579"/>
                  <a:pt x="7466" y="11112"/>
                  <a:pt x="16669" y="11112"/>
                </a:cubicBezTo>
                <a:lnTo>
                  <a:pt x="50006" y="11112"/>
                </a:lnTo>
                <a:cubicBezTo>
                  <a:pt x="59209" y="11112"/>
                  <a:pt x="66675" y="18579"/>
                  <a:pt x="66675" y="27781"/>
                </a:cubicBezTo>
                <a:lnTo>
                  <a:pt x="66675" y="33337"/>
                </a:lnTo>
                <a:lnTo>
                  <a:pt x="111125" y="33337"/>
                </a:lnTo>
                <a:lnTo>
                  <a:pt x="111125" y="27781"/>
                </a:lnTo>
                <a:cubicBezTo>
                  <a:pt x="111125" y="18579"/>
                  <a:pt x="118591" y="11112"/>
                  <a:pt x="127794" y="11112"/>
                </a:cubicBezTo>
                <a:lnTo>
                  <a:pt x="161131" y="11112"/>
                </a:lnTo>
                <a:cubicBezTo>
                  <a:pt x="170334" y="11112"/>
                  <a:pt x="177800" y="18579"/>
                  <a:pt x="177800" y="27781"/>
                </a:cubicBezTo>
                <a:lnTo>
                  <a:pt x="177800" y="61119"/>
                </a:lnTo>
                <a:cubicBezTo>
                  <a:pt x="177800" y="70321"/>
                  <a:pt x="170334" y="77788"/>
                  <a:pt x="161131" y="77788"/>
                </a:cubicBezTo>
                <a:lnTo>
                  <a:pt x="127794" y="77788"/>
                </a:lnTo>
                <a:cubicBezTo>
                  <a:pt x="118591" y="77788"/>
                  <a:pt x="111125" y="70321"/>
                  <a:pt x="111125" y="61119"/>
                </a:cubicBezTo>
                <a:lnTo>
                  <a:pt x="111125" y="55563"/>
                </a:lnTo>
                <a:lnTo>
                  <a:pt x="66675" y="55563"/>
                </a:lnTo>
                <a:lnTo>
                  <a:pt x="66675" y="61119"/>
                </a:lnTo>
                <a:cubicBezTo>
                  <a:pt x="66675" y="63654"/>
                  <a:pt x="66085" y="66085"/>
                  <a:pt x="65078" y="68238"/>
                </a:cubicBezTo>
                <a:lnTo>
                  <a:pt x="88900" y="100013"/>
                </a:lnTo>
                <a:lnTo>
                  <a:pt x="116681" y="100013"/>
                </a:lnTo>
                <a:cubicBezTo>
                  <a:pt x="125884" y="100013"/>
                  <a:pt x="133350" y="107479"/>
                  <a:pt x="133350" y="116681"/>
                </a:cubicBezTo>
                <a:lnTo>
                  <a:pt x="133350" y="150019"/>
                </a:lnTo>
                <a:cubicBezTo>
                  <a:pt x="133350" y="159221"/>
                  <a:pt x="125884" y="166688"/>
                  <a:pt x="116681" y="166688"/>
                </a:cubicBezTo>
                <a:lnTo>
                  <a:pt x="83344" y="166688"/>
                </a:lnTo>
                <a:cubicBezTo>
                  <a:pt x="74141" y="166688"/>
                  <a:pt x="66675" y="159221"/>
                  <a:pt x="66675" y="150019"/>
                </a:cubicBezTo>
                <a:lnTo>
                  <a:pt x="66675" y="116681"/>
                </a:lnTo>
                <a:cubicBezTo>
                  <a:pt x="66675" y="114146"/>
                  <a:pt x="67265" y="111715"/>
                  <a:pt x="68272" y="109562"/>
                </a:cubicBezTo>
                <a:lnTo>
                  <a:pt x="44450" y="77788"/>
                </a:lnTo>
                <a:lnTo>
                  <a:pt x="16669" y="77788"/>
                </a:lnTo>
                <a:cubicBezTo>
                  <a:pt x="7466" y="77788"/>
                  <a:pt x="0" y="70321"/>
                  <a:pt x="0" y="61119"/>
                </a:cubicBezTo>
                <a:lnTo>
                  <a:pt x="0" y="27781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06034" y="3352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复杂图算法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77434" y="3708400"/>
            <a:ext cx="445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引入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PageRank、Louvain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等算法捕捉深层团伙特征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75834" y="4521200"/>
            <a:ext cx="4559300" cy="863600"/>
          </a:xfrm>
          <a:custGeom>
            <a:avLst/>
            <a:gdLst/>
            <a:ahLst/>
            <a:cxnLst/>
            <a:rect l="l" t="t" r="r" b="b"/>
            <a:pathLst>
              <a:path w="4559300" h="863600">
                <a:moveTo>
                  <a:pt x="0" y="0"/>
                </a:moveTo>
                <a:lnTo>
                  <a:pt x="4559300" y="0"/>
                </a:lnTo>
                <a:lnTo>
                  <a:pt x="45593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002834" y="4686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1672" y="19447"/>
                </a:moveTo>
                <a:cubicBezTo>
                  <a:pt x="41672" y="8716"/>
                  <a:pt x="50388" y="0"/>
                  <a:pt x="61119" y="0"/>
                </a:cubicBezTo>
                <a:lnTo>
                  <a:pt x="69453" y="0"/>
                </a:lnTo>
                <a:cubicBezTo>
                  <a:pt x="75600" y="0"/>
                  <a:pt x="80566" y="4966"/>
                  <a:pt x="80566" y="11112"/>
                </a:cubicBezTo>
                <a:lnTo>
                  <a:pt x="80566" y="166688"/>
                </a:lnTo>
                <a:cubicBezTo>
                  <a:pt x="80566" y="172834"/>
                  <a:pt x="75600" y="177800"/>
                  <a:pt x="69453" y="177800"/>
                </a:cubicBezTo>
                <a:lnTo>
                  <a:pt x="58341" y="177800"/>
                </a:lnTo>
                <a:cubicBezTo>
                  <a:pt x="47992" y="177800"/>
                  <a:pt x="39276" y="170716"/>
                  <a:pt x="36810" y="161131"/>
                </a:cubicBezTo>
                <a:cubicBezTo>
                  <a:pt x="36567" y="161131"/>
                  <a:pt x="36359" y="161131"/>
                  <a:pt x="36116" y="161131"/>
                </a:cubicBezTo>
                <a:cubicBezTo>
                  <a:pt x="20766" y="161131"/>
                  <a:pt x="8334" y="148699"/>
                  <a:pt x="8334" y="133350"/>
                </a:cubicBezTo>
                <a:cubicBezTo>
                  <a:pt x="8334" y="127099"/>
                  <a:pt x="10418" y="121335"/>
                  <a:pt x="13891" y="116681"/>
                </a:cubicBezTo>
                <a:cubicBezTo>
                  <a:pt x="7154" y="111611"/>
                  <a:pt x="2778" y="103555"/>
                  <a:pt x="2778" y="94456"/>
                </a:cubicBezTo>
                <a:cubicBezTo>
                  <a:pt x="2778" y="83726"/>
                  <a:pt x="8890" y="74384"/>
                  <a:pt x="17780" y="69766"/>
                </a:cubicBezTo>
                <a:cubicBezTo>
                  <a:pt x="15314" y="65598"/>
                  <a:pt x="13891" y="60737"/>
                  <a:pt x="13891" y="55563"/>
                </a:cubicBezTo>
                <a:cubicBezTo>
                  <a:pt x="13891" y="40213"/>
                  <a:pt x="26323" y="27781"/>
                  <a:pt x="41672" y="27781"/>
                </a:cubicBezTo>
                <a:lnTo>
                  <a:pt x="41672" y="19447"/>
                </a:lnTo>
                <a:close/>
                <a:moveTo>
                  <a:pt x="136128" y="19447"/>
                </a:moveTo>
                <a:lnTo>
                  <a:pt x="136128" y="27781"/>
                </a:lnTo>
                <a:cubicBezTo>
                  <a:pt x="151477" y="27781"/>
                  <a:pt x="163909" y="40213"/>
                  <a:pt x="163909" y="55563"/>
                </a:cubicBezTo>
                <a:cubicBezTo>
                  <a:pt x="163909" y="60771"/>
                  <a:pt x="162486" y="65633"/>
                  <a:pt x="160020" y="69766"/>
                </a:cubicBezTo>
                <a:cubicBezTo>
                  <a:pt x="168945" y="74384"/>
                  <a:pt x="175022" y="83691"/>
                  <a:pt x="175022" y="94456"/>
                </a:cubicBezTo>
                <a:cubicBezTo>
                  <a:pt x="175022" y="103555"/>
                  <a:pt x="170646" y="111611"/>
                  <a:pt x="163909" y="116681"/>
                </a:cubicBezTo>
                <a:cubicBezTo>
                  <a:pt x="167382" y="121335"/>
                  <a:pt x="169466" y="127099"/>
                  <a:pt x="169466" y="133350"/>
                </a:cubicBezTo>
                <a:cubicBezTo>
                  <a:pt x="169466" y="148699"/>
                  <a:pt x="157034" y="161131"/>
                  <a:pt x="141684" y="161131"/>
                </a:cubicBezTo>
                <a:cubicBezTo>
                  <a:pt x="141441" y="161131"/>
                  <a:pt x="141233" y="161131"/>
                  <a:pt x="140990" y="161131"/>
                </a:cubicBezTo>
                <a:cubicBezTo>
                  <a:pt x="138524" y="170716"/>
                  <a:pt x="129808" y="177800"/>
                  <a:pt x="119459" y="177800"/>
                </a:cubicBezTo>
                <a:lnTo>
                  <a:pt x="108347" y="177800"/>
                </a:lnTo>
                <a:cubicBezTo>
                  <a:pt x="102200" y="177800"/>
                  <a:pt x="97234" y="172834"/>
                  <a:pt x="97234" y="166688"/>
                </a:cubicBezTo>
                <a:lnTo>
                  <a:pt x="97234" y="11112"/>
                </a:lnTo>
                <a:cubicBezTo>
                  <a:pt x="97234" y="4966"/>
                  <a:pt x="102200" y="0"/>
                  <a:pt x="108347" y="0"/>
                </a:cubicBezTo>
                <a:lnTo>
                  <a:pt x="116681" y="0"/>
                </a:lnTo>
                <a:cubicBezTo>
                  <a:pt x="127412" y="0"/>
                  <a:pt x="136128" y="8716"/>
                  <a:pt x="136128" y="19447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206034" y="4622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动态模型参数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7434" y="49784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静态阈值升级为基于历史样本训练的动态参数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75834" y="5486400"/>
            <a:ext cx="4559300" cy="1168400"/>
          </a:xfrm>
          <a:custGeom>
            <a:avLst/>
            <a:gdLst/>
            <a:ahLst/>
            <a:cxnLst/>
            <a:rect l="l" t="t" r="r" b="b"/>
            <a:pathLst>
              <a:path w="4559300" h="1168400">
                <a:moveTo>
                  <a:pt x="0" y="0"/>
                </a:moveTo>
                <a:lnTo>
                  <a:pt x="4559300" y="0"/>
                </a:lnTo>
                <a:lnTo>
                  <a:pt x="45593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980609" y="56515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206034" y="55880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策略全生命周期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77434" y="5943600"/>
            <a:ext cx="445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离线回放、灰度发布、版本回滚,确保调整安全可控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62667" y="1828800"/>
            <a:ext cx="4991100" cy="5207000"/>
          </a:xfrm>
          <a:custGeom>
            <a:avLst/>
            <a:gdLst/>
            <a:ahLst/>
            <a:cxnLst/>
            <a:rect l="l" t="t" r="r" b="b"/>
            <a:pathLst>
              <a:path w="4991100" h="5207000">
                <a:moveTo>
                  <a:pt x="0" y="0"/>
                </a:moveTo>
                <a:lnTo>
                  <a:pt x="4991100" y="0"/>
                </a:lnTo>
                <a:lnTo>
                  <a:pt x="49911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862667" y="18288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0" y="52070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091267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240095" y="21590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853267" y="2032000"/>
            <a:ext cx="194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GraphRAG</a:t>
            </a: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落地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853267" y="2387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9A47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GraphRAG Phase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091267" y="27940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与知识图谱深度融合,构建智能研判专家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91267" y="3251200"/>
            <a:ext cx="4559300" cy="1168400"/>
          </a:xfrm>
          <a:custGeom>
            <a:avLst/>
            <a:gdLst/>
            <a:ahLst/>
            <a:cxnLst/>
            <a:rect l="l" t="t" r="r" b="b"/>
            <a:pathLst>
              <a:path w="4559300" h="1168400">
                <a:moveTo>
                  <a:pt x="0" y="0"/>
                </a:moveTo>
                <a:lnTo>
                  <a:pt x="4559300" y="0"/>
                </a:lnTo>
                <a:lnTo>
                  <a:pt x="45593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1218267" y="3416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2623" y="2431"/>
                </a:moveTo>
                <a:cubicBezTo>
                  <a:pt x="155888" y="-833"/>
                  <a:pt x="161166" y="-833"/>
                  <a:pt x="164396" y="2431"/>
                </a:cubicBezTo>
                <a:lnTo>
                  <a:pt x="175508" y="13543"/>
                </a:lnTo>
                <a:cubicBezTo>
                  <a:pt x="178772" y="16808"/>
                  <a:pt x="178772" y="22086"/>
                  <a:pt x="175508" y="25316"/>
                </a:cubicBezTo>
                <a:lnTo>
                  <a:pt x="145296" y="55528"/>
                </a:lnTo>
                <a:lnTo>
                  <a:pt x="158839" y="69071"/>
                </a:lnTo>
                <a:cubicBezTo>
                  <a:pt x="161235" y="71467"/>
                  <a:pt x="161930" y="75044"/>
                  <a:pt x="160645" y="78169"/>
                </a:cubicBezTo>
                <a:cubicBezTo>
                  <a:pt x="159360" y="81295"/>
                  <a:pt x="156339" y="83344"/>
                  <a:pt x="152971" y="83344"/>
                </a:cubicBezTo>
                <a:lnTo>
                  <a:pt x="102964" y="83344"/>
                </a:lnTo>
                <a:cubicBezTo>
                  <a:pt x="98346" y="83344"/>
                  <a:pt x="94630" y="79628"/>
                  <a:pt x="94630" y="75009"/>
                </a:cubicBezTo>
                <a:lnTo>
                  <a:pt x="94630" y="25003"/>
                </a:lnTo>
                <a:cubicBezTo>
                  <a:pt x="94630" y="21635"/>
                  <a:pt x="96644" y="18579"/>
                  <a:pt x="99769" y="17294"/>
                </a:cubicBezTo>
                <a:cubicBezTo>
                  <a:pt x="102895" y="16009"/>
                  <a:pt x="106472" y="16703"/>
                  <a:pt x="108868" y="19100"/>
                </a:cubicBezTo>
                <a:lnTo>
                  <a:pt x="122411" y="32643"/>
                </a:lnTo>
                <a:lnTo>
                  <a:pt x="152623" y="2431"/>
                </a:lnTo>
                <a:close/>
                <a:moveTo>
                  <a:pt x="25177" y="94456"/>
                </a:moveTo>
                <a:lnTo>
                  <a:pt x="75183" y="94456"/>
                </a:lnTo>
                <a:cubicBezTo>
                  <a:pt x="79802" y="94456"/>
                  <a:pt x="83517" y="98172"/>
                  <a:pt x="83517" y="102791"/>
                </a:cubicBezTo>
                <a:lnTo>
                  <a:pt x="83517" y="152797"/>
                </a:lnTo>
                <a:cubicBezTo>
                  <a:pt x="83517" y="156165"/>
                  <a:pt x="81503" y="159221"/>
                  <a:pt x="78378" y="160506"/>
                </a:cubicBezTo>
                <a:cubicBezTo>
                  <a:pt x="75252" y="161791"/>
                  <a:pt x="71676" y="161097"/>
                  <a:pt x="69279" y="158700"/>
                </a:cubicBezTo>
                <a:lnTo>
                  <a:pt x="55736" y="145157"/>
                </a:lnTo>
                <a:lnTo>
                  <a:pt x="25524" y="175369"/>
                </a:lnTo>
                <a:cubicBezTo>
                  <a:pt x="22260" y="178633"/>
                  <a:pt x="16981" y="178633"/>
                  <a:pt x="13752" y="175369"/>
                </a:cubicBezTo>
                <a:lnTo>
                  <a:pt x="2639" y="164257"/>
                </a:lnTo>
                <a:cubicBezTo>
                  <a:pt x="-625" y="160992"/>
                  <a:pt x="-625" y="155714"/>
                  <a:pt x="2639" y="152484"/>
                </a:cubicBezTo>
                <a:lnTo>
                  <a:pt x="32851" y="122272"/>
                </a:lnTo>
                <a:lnTo>
                  <a:pt x="19308" y="108729"/>
                </a:lnTo>
                <a:cubicBezTo>
                  <a:pt x="16912" y="106333"/>
                  <a:pt x="16217" y="102756"/>
                  <a:pt x="17502" y="99631"/>
                </a:cubicBezTo>
                <a:cubicBezTo>
                  <a:pt x="18787" y="96505"/>
                  <a:pt x="21808" y="94456"/>
                  <a:pt x="25177" y="94456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421467" y="3352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高效图压缩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92867" y="3708400"/>
            <a:ext cx="445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将大规模子图压缩为LLM可理解的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 Context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1091267" y="4521200"/>
            <a:ext cx="4559300" cy="863600"/>
          </a:xfrm>
          <a:custGeom>
            <a:avLst/>
            <a:gdLst/>
            <a:ahLst/>
            <a:cxnLst/>
            <a:rect l="l" t="t" r="r" b="b"/>
            <a:pathLst>
              <a:path w="4559300" h="863600">
                <a:moveTo>
                  <a:pt x="0" y="0"/>
                </a:moveTo>
                <a:lnTo>
                  <a:pt x="4559300" y="0"/>
                </a:lnTo>
                <a:lnTo>
                  <a:pt x="45593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1207155" y="4686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22225" y="44450"/>
                </a:moveTo>
                <a:cubicBezTo>
                  <a:pt x="22225" y="22984"/>
                  <a:pt x="39653" y="5556"/>
                  <a:pt x="61119" y="5556"/>
                </a:cubicBezTo>
                <a:cubicBezTo>
                  <a:pt x="82585" y="5556"/>
                  <a:pt x="100013" y="22984"/>
                  <a:pt x="100013" y="44450"/>
                </a:cubicBezTo>
                <a:cubicBezTo>
                  <a:pt x="100013" y="65916"/>
                  <a:pt x="82585" y="83344"/>
                  <a:pt x="61119" y="83344"/>
                </a:cubicBezTo>
                <a:cubicBezTo>
                  <a:pt x="39653" y="83344"/>
                  <a:pt x="22225" y="65916"/>
                  <a:pt x="22225" y="44450"/>
                </a:cubicBezTo>
                <a:close/>
                <a:moveTo>
                  <a:pt x="0" y="161131"/>
                </a:moveTo>
                <a:cubicBezTo>
                  <a:pt x="0" y="127377"/>
                  <a:pt x="27365" y="100013"/>
                  <a:pt x="61119" y="100013"/>
                </a:cubicBezTo>
                <a:cubicBezTo>
                  <a:pt x="94873" y="100013"/>
                  <a:pt x="122238" y="127377"/>
                  <a:pt x="122238" y="161131"/>
                </a:cubicBezTo>
                <a:lnTo>
                  <a:pt x="122238" y="163215"/>
                </a:lnTo>
                <a:cubicBezTo>
                  <a:pt x="122238" y="171271"/>
                  <a:pt x="115709" y="177800"/>
                  <a:pt x="107652" y="177800"/>
                </a:cubicBezTo>
                <a:lnTo>
                  <a:pt x="14585" y="177800"/>
                </a:lnTo>
                <a:cubicBezTo>
                  <a:pt x="6529" y="177800"/>
                  <a:pt x="0" y="171271"/>
                  <a:pt x="0" y="163215"/>
                </a:cubicBezTo>
                <a:lnTo>
                  <a:pt x="0" y="161131"/>
                </a:lnTo>
                <a:close/>
                <a:moveTo>
                  <a:pt x="150019" y="22225"/>
                </a:moveTo>
                <a:cubicBezTo>
                  <a:pt x="168418" y="22225"/>
                  <a:pt x="183356" y="37163"/>
                  <a:pt x="183356" y="55563"/>
                </a:cubicBezTo>
                <a:cubicBezTo>
                  <a:pt x="183356" y="73962"/>
                  <a:pt x="168418" y="88900"/>
                  <a:pt x="150019" y="88900"/>
                </a:cubicBezTo>
                <a:cubicBezTo>
                  <a:pt x="131619" y="88900"/>
                  <a:pt x="116681" y="73962"/>
                  <a:pt x="116681" y="55563"/>
                </a:cubicBezTo>
                <a:cubicBezTo>
                  <a:pt x="116681" y="37163"/>
                  <a:pt x="131619" y="22225"/>
                  <a:pt x="150019" y="22225"/>
                </a:cubicBezTo>
                <a:close/>
                <a:moveTo>
                  <a:pt x="150019" y="105569"/>
                </a:moveTo>
                <a:cubicBezTo>
                  <a:pt x="177626" y="105569"/>
                  <a:pt x="200025" y="127967"/>
                  <a:pt x="200025" y="155575"/>
                </a:cubicBezTo>
                <a:lnTo>
                  <a:pt x="200025" y="163354"/>
                </a:lnTo>
                <a:cubicBezTo>
                  <a:pt x="200025" y="171341"/>
                  <a:pt x="193566" y="177800"/>
                  <a:pt x="185579" y="177800"/>
                </a:cubicBezTo>
                <a:lnTo>
                  <a:pt x="135295" y="177800"/>
                </a:lnTo>
                <a:cubicBezTo>
                  <a:pt x="137587" y="173459"/>
                  <a:pt x="138906" y="168493"/>
                  <a:pt x="138906" y="163215"/>
                </a:cubicBezTo>
                <a:lnTo>
                  <a:pt x="138906" y="161131"/>
                </a:lnTo>
                <a:cubicBezTo>
                  <a:pt x="138906" y="143247"/>
                  <a:pt x="132864" y="126787"/>
                  <a:pt x="122758" y="113660"/>
                </a:cubicBezTo>
                <a:cubicBezTo>
                  <a:pt x="130607" y="108555"/>
                  <a:pt x="139983" y="105569"/>
                  <a:pt x="150019" y="105569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421467" y="4622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人机协同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92867" y="49784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生成研判报告,高风险操作依赖确定性证据链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91267" y="5486400"/>
            <a:ext cx="4559300" cy="863600"/>
          </a:xfrm>
          <a:custGeom>
            <a:avLst/>
            <a:gdLst/>
            <a:ahLst/>
            <a:cxnLst/>
            <a:rect l="l" t="t" r="r" b="b"/>
            <a:pathLst>
              <a:path w="4559300" h="863600">
                <a:moveTo>
                  <a:pt x="0" y="0"/>
                </a:moveTo>
                <a:lnTo>
                  <a:pt x="4559300" y="0"/>
                </a:lnTo>
                <a:lnTo>
                  <a:pt x="45593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1196042" y="56515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33350" y="11112"/>
                </a:moveTo>
                <a:lnTo>
                  <a:pt x="177800" y="11112"/>
                </a:lnTo>
                <a:cubicBezTo>
                  <a:pt x="183947" y="11112"/>
                  <a:pt x="188913" y="16078"/>
                  <a:pt x="188913" y="22225"/>
                </a:cubicBezTo>
                <a:cubicBezTo>
                  <a:pt x="188913" y="28372"/>
                  <a:pt x="183947" y="33337"/>
                  <a:pt x="177800" y="33337"/>
                </a:cubicBezTo>
                <a:lnTo>
                  <a:pt x="138351" y="33337"/>
                </a:lnTo>
                <a:cubicBezTo>
                  <a:pt x="136545" y="42297"/>
                  <a:pt x="130398" y="49694"/>
                  <a:pt x="122238" y="53236"/>
                </a:cubicBezTo>
                <a:lnTo>
                  <a:pt x="122238" y="155575"/>
                </a:lnTo>
                <a:lnTo>
                  <a:pt x="177800" y="155575"/>
                </a:lnTo>
                <a:cubicBezTo>
                  <a:pt x="183947" y="155575"/>
                  <a:pt x="188913" y="160541"/>
                  <a:pt x="188913" y="166688"/>
                </a:cubicBezTo>
                <a:cubicBezTo>
                  <a:pt x="188913" y="172834"/>
                  <a:pt x="183947" y="177800"/>
                  <a:pt x="177800" y="177800"/>
                </a:cubicBezTo>
                <a:lnTo>
                  <a:pt x="44450" y="177800"/>
                </a:lnTo>
                <a:cubicBezTo>
                  <a:pt x="38303" y="177800"/>
                  <a:pt x="33337" y="172834"/>
                  <a:pt x="33337" y="166688"/>
                </a:cubicBezTo>
                <a:cubicBezTo>
                  <a:pt x="33337" y="160541"/>
                  <a:pt x="38303" y="155575"/>
                  <a:pt x="44450" y="155575"/>
                </a:cubicBezTo>
                <a:lnTo>
                  <a:pt x="100013" y="155575"/>
                </a:lnTo>
                <a:lnTo>
                  <a:pt x="100013" y="53236"/>
                </a:lnTo>
                <a:cubicBezTo>
                  <a:pt x="91852" y="49659"/>
                  <a:pt x="85705" y="42262"/>
                  <a:pt x="83899" y="33338"/>
                </a:cubicBezTo>
                <a:lnTo>
                  <a:pt x="44450" y="33337"/>
                </a:lnTo>
                <a:cubicBezTo>
                  <a:pt x="38303" y="33337"/>
                  <a:pt x="33337" y="28372"/>
                  <a:pt x="33337" y="22225"/>
                </a:cubicBezTo>
                <a:cubicBezTo>
                  <a:pt x="33337" y="16078"/>
                  <a:pt x="38303" y="11112"/>
                  <a:pt x="44450" y="11112"/>
                </a:cubicBezTo>
                <a:lnTo>
                  <a:pt x="88900" y="11112"/>
                </a:lnTo>
                <a:cubicBezTo>
                  <a:pt x="93970" y="4376"/>
                  <a:pt x="102027" y="0"/>
                  <a:pt x="111125" y="0"/>
                </a:cubicBezTo>
                <a:cubicBezTo>
                  <a:pt x="120223" y="0"/>
                  <a:pt x="128280" y="4376"/>
                  <a:pt x="133350" y="11112"/>
                </a:cubicBezTo>
                <a:close/>
                <a:moveTo>
                  <a:pt x="152658" y="111125"/>
                </a:moveTo>
                <a:lnTo>
                  <a:pt x="202942" y="111125"/>
                </a:lnTo>
                <a:lnTo>
                  <a:pt x="177800" y="67995"/>
                </a:lnTo>
                <a:lnTo>
                  <a:pt x="152658" y="111125"/>
                </a:lnTo>
                <a:close/>
                <a:moveTo>
                  <a:pt x="177800" y="144463"/>
                </a:moveTo>
                <a:cubicBezTo>
                  <a:pt x="155957" y="144463"/>
                  <a:pt x="137795" y="132655"/>
                  <a:pt x="134045" y="117063"/>
                </a:cubicBezTo>
                <a:cubicBezTo>
                  <a:pt x="133142" y="113243"/>
                  <a:pt x="134392" y="109319"/>
                  <a:pt x="136371" y="105916"/>
                </a:cubicBezTo>
                <a:lnTo>
                  <a:pt x="169431" y="49242"/>
                </a:lnTo>
                <a:cubicBezTo>
                  <a:pt x="171167" y="46256"/>
                  <a:pt x="174362" y="44450"/>
                  <a:pt x="177800" y="44450"/>
                </a:cubicBezTo>
                <a:cubicBezTo>
                  <a:pt x="181238" y="44450"/>
                  <a:pt x="184433" y="46291"/>
                  <a:pt x="186169" y="49242"/>
                </a:cubicBezTo>
                <a:lnTo>
                  <a:pt x="219229" y="105916"/>
                </a:lnTo>
                <a:cubicBezTo>
                  <a:pt x="221208" y="109319"/>
                  <a:pt x="222458" y="113243"/>
                  <a:pt x="221555" y="117063"/>
                </a:cubicBezTo>
                <a:cubicBezTo>
                  <a:pt x="217805" y="132621"/>
                  <a:pt x="199643" y="144463"/>
                  <a:pt x="177800" y="144463"/>
                </a:cubicBezTo>
                <a:close/>
                <a:moveTo>
                  <a:pt x="44033" y="67995"/>
                </a:moveTo>
                <a:lnTo>
                  <a:pt x="18891" y="111125"/>
                </a:lnTo>
                <a:lnTo>
                  <a:pt x="69210" y="111125"/>
                </a:lnTo>
                <a:lnTo>
                  <a:pt x="44033" y="67995"/>
                </a:lnTo>
                <a:close/>
                <a:moveTo>
                  <a:pt x="313" y="117063"/>
                </a:moveTo>
                <a:cubicBezTo>
                  <a:pt x="-590" y="113243"/>
                  <a:pt x="660" y="109319"/>
                  <a:pt x="2639" y="105916"/>
                </a:cubicBezTo>
                <a:lnTo>
                  <a:pt x="35699" y="49242"/>
                </a:lnTo>
                <a:cubicBezTo>
                  <a:pt x="37435" y="46256"/>
                  <a:pt x="40630" y="44450"/>
                  <a:pt x="44068" y="44450"/>
                </a:cubicBezTo>
                <a:cubicBezTo>
                  <a:pt x="47506" y="44450"/>
                  <a:pt x="50701" y="46291"/>
                  <a:pt x="52437" y="49242"/>
                </a:cubicBezTo>
                <a:lnTo>
                  <a:pt x="85497" y="105916"/>
                </a:lnTo>
                <a:cubicBezTo>
                  <a:pt x="87476" y="109319"/>
                  <a:pt x="88726" y="113243"/>
                  <a:pt x="87823" y="117063"/>
                </a:cubicBezTo>
                <a:cubicBezTo>
                  <a:pt x="84073" y="132621"/>
                  <a:pt x="65911" y="144463"/>
                  <a:pt x="44068" y="144463"/>
                </a:cubicBezTo>
                <a:cubicBezTo>
                  <a:pt x="22225" y="144463"/>
                  <a:pt x="4063" y="132655"/>
                  <a:pt x="313" y="117063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421467" y="55880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伦理与安全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192867" y="59436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明确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边界,确保业务处置绝对合规与安全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12750" y="7245350"/>
            <a:ext cx="15430500" cy="1485900"/>
          </a:xfrm>
          <a:custGeom>
            <a:avLst/>
            <a:gdLst/>
            <a:ahLst/>
            <a:cxnLst/>
            <a:rect l="l" t="t" r="r" b="b"/>
            <a:pathLst>
              <a:path w="15430500" h="1485900">
                <a:moveTo>
                  <a:pt x="0" y="0"/>
                </a:moveTo>
                <a:lnTo>
                  <a:pt x="15430500" y="0"/>
                </a:lnTo>
                <a:lnTo>
                  <a:pt x="154305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>
              <a:alpha val="10196"/>
            </a:srgbClr>
          </a:solidFill>
          <a:ln w="127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622300" y="7454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31850" y="7632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435100" y="7454900"/>
            <a:ext cx="1432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工程化愿景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35100" y="7912100"/>
            <a:ext cx="14300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构建具备</a:t>
            </a: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"全域感知、实时研判、自我进化"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核心能力的智能风控中枢。通过</a:t>
            </a:r>
            <a:r>
              <a:rPr lang="en-US" sz="16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"分层解耦、迭代演进"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的工程化路线,稳步推进技术落地,实现从</a:t>
            </a:r>
            <a:r>
              <a:rPr lang="en-US" sz="16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</a:t>
            </a: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原型到生产级高可用反欺诈系统的跨越。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21550" y="533400"/>
            <a:ext cx="1612900" cy="1422400"/>
          </a:xfrm>
          <a:custGeom>
            <a:avLst/>
            <a:gdLst/>
            <a:ahLst/>
            <a:cxnLst/>
            <a:rect l="l" t="t" r="r" b="b"/>
            <a:pathLst>
              <a:path w="1612900" h="1422400">
                <a:moveTo>
                  <a:pt x="711200" y="0"/>
                </a:moveTo>
                <a:lnTo>
                  <a:pt x="901700" y="0"/>
                </a:lnTo>
                <a:cubicBezTo>
                  <a:pt x="1294222" y="0"/>
                  <a:pt x="1612900" y="318678"/>
                  <a:pt x="1612900" y="711200"/>
                </a:cubicBezTo>
                <a:lnTo>
                  <a:pt x="1612900" y="711200"/>
                </a:lnTo>
                <a:cubicBezTo>
                  <a:pt x="1612900" y="1103722"/>
                  <a:pt x="1294222" y="1422400"/>
                  <a:pt x="9017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D9A477">
              <a:alpha val="20000"/>
            </a:srgbClr>
          </a:solidFill>
          <a:ln w="50800">
            <a:solidFill>
              <a:srgbClr val="D9A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747000" y="863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508500" y="23876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构建智能风控的未来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37465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343150" y="4203700"/>
            <a:ext cx="115697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 </a:t>
            </a:r>
            <a:r>
              <a:rPr lang="en-US" sz="30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与 </a:t>
            </a:r>
            <a:r>
              <a:rPr lang="en-US" sz="3000" dirty="0">
                <a:solidFill>
                  <a:srgbClr val="7C8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KG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的深度协同，构建</a:t>
            </a:r>
            <a:r>
              <a:rPr lang="en-US" sz="30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高精度、可解释、可追溯</a:t>
            </a:r>
            <a:r>
              <a:rPr lang="en-US" sz="30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的智能反欺诈系统，守护每一笔交易的安全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81300" y="6064250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 w="254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048000" y="648335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43250" y="724535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实时拦截率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49600" y="770255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毫秒级响应，守护资金安全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89700" y="6064250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 w="254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756400" y="648335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1650" y="724535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0" y="770255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结构化证据链，全程可追溯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98100" y="6064250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 w="25400">
            <a:solidFill>
              <a:srgbClr val="4A6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0464800" y="648335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D9A4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7×24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60050" y="724535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全天候守护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66400" y="770255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C8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智能风控，永不下线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733</Words>
  <Application>Microsoft Macintosh PowerPoint</Application>
  <PresentationFormat>自定义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Arial</vt:lpstr>
      <vt:lpstr>KaiTi</vt:lpstr>
      <vt:lpstr>Calibri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银行反电诈智能系统设计方案</dc:title>
  <dc:subject>银行反电诈智能系统设计方案</dc:subject>
  <dc:creator>Kimi</dc:creator>
  <cp:lastModifiedBy>王 天青</cp:lastModifiedBy>
  <cp:revision>10</cp:revision>
  <dcterms:created xsi:type="dcterms:W3CDTF">2025-12-24T02:18:11Z</dcterms:created>
  <dcterms:modified xsi:type="dcterms:W3CDTF">2025-12-24T02:42:28Z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反电诈智能系统设计方案","ContentProducer":"001191110108MACG2KBH8F10000","ProduceID":"19b4e218-abb2-8e81-8000-00009f9996bd","ReservedCode1":"","ContentPropagator":"001191110108MACG2KBH8F20000","PropagateID":"19b4e218-abb2-8e81-8000-00009f9996bd","ReservedCode2":""}</vt:lpwstr>
  </property>
</Properties>
</file>