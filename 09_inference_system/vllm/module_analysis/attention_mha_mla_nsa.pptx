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embeddedFontLst>
    <p:embeddedFont>
      <p:font typeface="Microsoft YaHei" panose="020B0503020204020204" pitchFamily="34" charset="-122"/>
      <p:regular r:id="rId19"/>
      <p:bold r:id="rId20"/>
    </p:embeddedFont>
    <p:embeddedFont>
      <p:font typeface="Microsoft YaHei" panose="020B0503020204020204" pitchFamily="34" charset="-122"/>
      <p:regular r:id="rId19"/>
      <p:bold r:id="rId20"/>
    </p:embeddedFont>
    <p:embeddedFont>
      <p:font typeface="MiSans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3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1070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5e82a0230cb6d59c0a877376741e65c8e2e7c534.jpg"/>
          <p:cNvPicPr>
            <a:picLocks noChangeAspect="1"/>
          </p:cNvPicPr>
          <p:nvPr/>
        </p:nvPicPr>
        <p:blipFill>
          <a:blip r:embed="rId3">
            <a:alphaModFix amt="40000"/>
          </a:blip>
          <a:srcRect t="9821" b="982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80000"/>
                </a:srgbClr>
              </a:gs>
              <a:gs pos="50000">
                <a:srgbClr val="4A6D8C">
                  <a:alpha val="30000"/>
                </a:srgbClr>
              </a:gs>
              <a:gs pos="100000">
                <a:srgbClr val="1A1D21">
                  <a:alpha val="9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385763" y="1481138"/>
            <a:ext cx="2333625" cy="428625"/>
          </a:xfrm>
          <a:custGeom>
            <a:avLst/>
            <a:gdLst/>
            <a:ahLst/>
            <a:cxnLst/>
            <a:rect l="l" t="t" r="r" b="b"/>
            <a:pathLst>
              <a:path w="2333625" h="428625">
                <a:moveTo>
                  <a:pt x="76201" y="0"/>
                </a:moveTo>
                <a:lnTo>
                  <a:pt x="2257424" y="0"/>
                </a:lnTo>
                <a:cubicBezTo>
                  <a:pt x="2299509" y="0"/>
                  <a:pt x="2333625" y="34116"/>
                  <a:pt x="2333625" y="76201"/>
                </a:cubicBezTo>
                <a:lnTo>
                  <a:pt x="2333625" y="352424"/>
                </a:lnTo>
                <a:cubicBezTo>
                  <a:pt x="2333625" y="394509"/>
                  <a:pt x="2299509" y="428625"/>
                  <a:pt x="2257424" y="428625"/>
                </a:cubicBezTo>
                <a:lnTo>
                  <a:pt x="76201" y="428625"/>
                </a:lnTo>
                <a:cubicBezTo>
                  <a:pt x="34116" y="428625"/>
                  <a:pt x="0" y="394509"/>
                  <a:pt x="0" y="3524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 w="12700">
            <a:solidFill>
              <a:srgbClr val="D4A26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542925" y="1581150"/>
            <a:ext cx="21056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kern="0" spc="68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TECHNICAL DEEP DIVE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371725"/>
            <a:ext cx="5686425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dirty="0">
                <a:solidFill>
                  <a:srgbClr val="E0E2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mama ShuHeiTi" pitchFamily="34" charset="-120"/>
              </a:rPr>
              <a:t>vLLM 注意力机制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dirty="0">
                <a:solidFill>
                  <a:srgbClr val="E0E2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mama ShuHeiTi" pitchFamily="34" charset="-120"/>
              </a:rPr>
              <a:t>演进与支持全景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4314825"/>
            <a:ext cx="47339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 MHA 到 MLA 与 NSA 的架构解析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09575" y="51339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78581" y="10716"/>
                </a:moveTo>
                <a:cubicBezTo>
                  <a:pt x="78581" y="4777"/>
                  <a:pt x="73804" y="0"/>
                  <a:pt x="67866" y="0"/>
                </a:cubicBezTo>
                <a:cubicBezTo>
                  <a:pt x="61927" y="0"/>
                  <a:pt x="57150" y="4777"/>
                  <a:pt x="57150" y="10716"/>
                </a:cubicBezTo>
                <a:lnTo>
                  <a:pt x="57150" y="28575"/>
                </a:lnTo>
                <a:cubicBezTo>
                  <a:pt x="41389" y="28575"/>
                  <a:pt x="28575" y="41389"/>
                  <a:pt x="28575" y="57150"/>
                </a:cubicBezTo>
                <a:lnTo>
                  <a:pt x="10716" y="57150"/>
                </a:lnTo>
                <a:cubicBezTo>
                  <a:pt x="4777" y="57150"/>
                  <a:pt x="0" y="61927"/>
                  <a:pt x="0" y="67866"/>
                </a:cubicBezTo>
                <a:cubicBezTo>
                  <a:pt x="0" y="73804"/>
                  <a:pt x="4777" y="78581"/>
                  <a:pt x="10716" y="78581"/>
                </a:cubicBezTo>
                <a:lnTo>
                  <a:pt x="28575" y="78581"/>
                </a:lnTo>
                <a:lnTo>
                  <a:pt x="28575" y="103584"/>
                </a:lnTo>
                <a:lnTo>
                  <a:pt x="10716" y="103584"/>
                </a:lnTo>
                <a:cubicBezTo>
                  <a:pt x="4777" y="103584"/>
                  <a:pt x="0" y="108362"/>
                  <a:pt x="0" y="114300"/>
                </a:cubicBezTo>
                <a:cubicBezTo>
                  <a:pt x="0" y="120238"/>
                  <a:pt x="4777" y="125016"/>
                  <a:pt x="10716" y="125016"/>
                </a:cubicBezTo>
                <a:lnTo>
                  <a:pt x="28575" y="125016"/>
                </a:lnTo>
                <a:lnTo>
                  <a:pt x="28575" y="150019"/>
                </a:lnTo>
                <a:lnTo>
                  <a:pt x="10716" y="150019"/>
                </a:lnTo>
                <a:cubicBezTo>
                  <a:pt x="4777" y="150019"/>
                  <a:pt x="0" y="154796"/>
                  <a:pt x="0" y="160734"/>
                </a:cubicBezTo>
                <a:cubicBezTo>
                  <a:pt x="0" y="166673"/>
                  <a:pt x="4777" y="171450"/>
                  <a:pt x="10716" y="171450"/>
                </a:cubicBezTo>
                <a:lnTo>
                  <a:pt x="28575" y="171450"/>
                </a:lnTo>
                <a:cubicBezTo>
                  <a:pt x="28575" y="187211"/>
                  <a:pt x="41389" y="200025"/>
                  <a:pt x="57150" y="200025"/>
                </a:cubicBezTo>
                <a:lnTo>
                  <a:pt x="57150" y="217884"/>
                </a:lnTo>
                <a:cubicBezTo>
                  <a:pt x="57150" y="223823"/>
                  <a:pt x="61927" y="228600"/>
                  <a:pt x="67866" y="228600"/>
                </a:cubicBezTo>
                <a:cubicBezTo>
                  <a:pt x="73804" y="228600"/>
                  <a:pt x="78581" y="223823"/>
                  <a:pt x="78581" y="217884"/>
                </a:cubicBezTo>
                <a:lnTo>
                  <a:pt x="78581" y="200025"/>
                </a:lnTo>
                <a:lnTo>
                  <a:pt x="103584" y="200025"/>
                </a:lnTo>
                <a:lnTo>
                  <a:pt x="103584" y="217884"/>
                </a:lnTo>
                <a:cubicBezTo>
                  <a:pt x="103584" y="223823"/>
                  <a:pt x="108362" y="228600"/>
                  <a:pt x="114300" y="228600"/>
                </a:cubicBezTo>
                <a:cubicBezTo>
                  <a:pt x="120238" y="228600"/>
                  <a:pt x="125016" y="223823"/>
                  <a:pt x="125016" y="217884"/>
                </a:cubicBezTo>
                <a:lnTo>
                  <a:pt x="125016" y="200025"/>
                </a:lnTo>
                <a:lnTo>
                  <a:pt x="150019" y="200025"/>
                </a:lnTo>
                <a:lnTo>
                  <a:pt x="150019" y="217884"/>
                </a:lnTo>
                <a:cubicBezTo>
                  <a:pt x="150019" y="223823"/>
                  <a:pt x="154796" y="228600"/>
                  <a:pt x="160734" y="228600"/>
                </a:cubicBezTo>
                <a:cubicBezTo>
                  <a:pt x="166673" y="228600"/>
                  <a:pt x="171450" y="223823"/>
                  <a:pt x="171450" y="217884"/>
                </a:cubicBezTo>
                <a:lnTo>
                  <a:pt x="171450" y="200025"/>
                </a:lnTo>
                <a:cubicBezTo>
                  <a:pt x="187211" y="200025"/>
                  <a:pt x="200025" y="187211"/>
                  <a:pt x="200025" y="171450"/>
                </a:cubicBezTo>
                <a:lnTo>
                  <a:pt x="217884" y="171450"/>
                </a:lnTo>
                <a:cubicBezTo>
                  <a:pt x="223823" y="171450"/>
                  <a:pt x="228600" y="166673"/>
                  <a:pt x="228600" y="160734"/>
                </a:cubicBezTo>
                <a:cubicBezTo>
                  <a:pt x="228600" y="154796"/>
                  <a:pt x="223823" y="150019"/>
                  <a:pt x="217884" y="150019"/>
                </a:cubicBezTo>
                <a:lnTo>
                  <a:pt x="200025" y="150019"/>
                </a:lnTo>
                <a:lnTo>
                  <a:pt x="200025" y="125016"/>
                </a:lnTo>
                <a:lnTo>
                  <a:pt x="217884" y="125016"/>
                </a:lnTo>
                <a:cubicBezTo>
                  <a:pt x="223823" y="125016"/>
                  <a:pt x="228600" y="120238"/>
                  <a:pt x="228600" y="114300"/>
                </a:cubicBezTo>
                <a:cubicBezTo>
                  <a:pt x="228600" y="108362"/>
                  <a:pt x="223823" y="103584"/>
                  <a:pt x="217884" y="103584"/>
                </a:cubicBezTo>
                <a:lnTo>
                  <a:pt x="200025" y="103584"/>
                </a:lnTo>
                <a:lnTo>
                  <a:pt x="200025" y="78581"/>
                </a:lnTo>
                <a:lnTo>
                  <a:pt x="217884" y="78581"/>
                </a:lnTo>
                <a:cubicBezTo>
                  <a:pt x="223823" y="78581"/>
                  <a:pt x="228600" y="73804"/>
                  <a:pt x="228600" y="67866"/>
                </a:cubicBezTo>
                <a:cubicBezTo>
                  <a:pt x="228600" y="61927"/>
                  <a:pt x="223823" y="57150"/>
                  <a:pt x="217884" y="57150"/>
                </a:cubicBezTo>
                <a:lnTo>
                  <a:pt x="200025" y="57150"/>
                </a:lnTo>
                <a:cubicBezTo>
                  <a:pt x="200025" y="41389"/>
                  <a:pt x="187211" y="28575"/>
                  <a:pt x="171450" y="28575"/>
                </a:cubicBezTo>
                <a:lnTo>
                  <a:pt x="171450" y="10716"/>
                </a:lnTo>
                <a:cubicBezTo>
                  <a:pt x="171450" y="4777"/>
                  <a:pt x="166673" y="0"/>
                  <a:pt x="160734" y="0"/>
                </a:cubicBezTo>
                <a:cubicBezTo>
                  <a:pt x="154796" y="0"/>
                  <a:pt x="150019" y="4777"/>
                  <a:pt x="150019" y="10716"/>
                </a:cubicBezTo>
                <a:lnTo>
                  <a:pt x="150019" y="28575"/>
                </a:lnTo>
                <a:lnTo>
                  <a:pt x="125016" y="28575"/>
                </a:lnTo>
                <a:lnTo>
                  <a:pt x="125016" y="10716"/>
                </a:lnTo>
                <a:cubicBezTo>
                  <a:pt x="125016" y="4777"/>
                  <a:pt x="120238" y="0"/>
                  <a:pt x="114300" y="0"/>
                </a:cubicBezTo>
                <a:cubicBezTo>
                  <a:pt x="108362" y="0"/>
                  <a:pt x="103584" y="4777"/>
                  <a:pt x="103584" y="10716"/>
                </a:cubicBezTo>
                <a:lnTo>
                  <a:pt x="103584" y="28575"/>
                </a:lnTo>
                <a:lnTo>
                  <a:pt x="78581" y="28575"/>
                </a:lnTo>
                <a:lnTo>
                  <a:pt x="78581" y="10716"/>
                </a:lnTo>
                <a:close/>
                <a:moveTo>
                  <a:pt x="71438" y="57150"/>
                </a:moveTo>
                <a:lnTo>
                  <a:pt x="157163" y="57150"/>
                </a:lnTo>
                <a:cubicBezTo>
                  <a:pt x="165065" y="57150"/>
                  <a:pt x="171450" y="63535"/>
                  <a:pt x="171450" y="71438"/>
                </a:cubicBezTo>
                <a:lnTo>
                  <a:pt x="171450" y="157163"/>
                </a:lnTo>
                <a:cubicBezTo>
                  <a:pt x="171450" y="165065"/>
                  <a:pt x="165065" y="171450"/>
                  <a:pt x="157163" y="171450"/>
                </a:cubicBezTo>
                <a:lnTo>
                  <a:pt x="71438" y="171450"/>
                </a:lnTo>
                <a:cubicBezTo>
                  <a:pt x="63535" y="171450"/>
                  <a:pt x="57150" y="165065"/>
                  <a:pt x="57150" y="157163"/>
                </a:cubicBezTo>
                <a:lnTo>
                  <a:pt x="57150" y="71438"/>
                </a:lnTo>
                <a:cubicBezTo>
                  <a:pt x="57150" y="63535"/>
                  <a:pt x="63535" y="57150"/>
                  <a:pt x="71438" y="57150"/>
                </a:cubicBezTo>
                <a:close/>
                <a:moveTo>
                  <a:pt x="78581" y="78581"/>
                </a:moveTo>
                <a:lnTo>
                  <a:pt x="78581" y="150019"/>
                </a:lnTo>
                <a:lnTo>
                  <a:pt x="150019" y="150019"/>
                </a:lnTo>
                <a:lnTo>
                  <a:pt x="150019" y="78581"/>
                </a:lnTo>
                <a:lnTo>
                  <a:pt x="78581" y="78581"/>
                </a:ln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781050" y="5114925"/>
            <a:ext cx="1457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推理框架底层机制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471738" y="5133975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61092" y="536"/>
                </a:moveTo>
                <a:cubicBezTo>
                  <a:pt x="153501" y="-1652"/>
                  <a:pt x="145599" y="2768"/>
                  <a:pt x="143411" y="10358"/>
                </a:cubicBezTo>
                <a:lnTo>
                  <a:pt x="86261" y="210383"/>
                </a:lnTo>
                <a:cubicBezTo>
                  <a:pt x="84073" y="217974"/>
                  <a:pt x="88493" y="225876"/>
                  <a:pt x="96083" y="228064"/>
                </a:cubicBezTo>
                <a:cubicBezTo>
                  <a:pt x="103674" y="230252"/>
                  <a:pt x="111576" y="225832"/>
                  <a:pt x="113764" y="218242"/>
                </a:cubicBezTo>
                <a:lnTo>
                  <a:pt x="170914" y="18217"/>
                </a:lnTo>
                <a:cubicBezTo>
                  <a:pt x="173102" y="10626"/>
                  <a:pt x="168682" y="2724"/>
                  <a:pt x="161092" y="536"/>
                </a:cubicBezTo>
                <a:close/>
                <a:moveTo>
                  <a:pt x="189934" y="61302"/>
                </a:moveTo>
                <a:cubicBezTo>
                  <a:pt x="184353" y="66883"/>
                  <a:pt x="184353" y="75947"/>
                  <a:pt x="189934" y="81528"/>
                </a:cubicBezTo>
                <a:lnTo>
                  <a:pt x="222706" y="114300"/>
                </a:lnTo>
                <a:lnTo>
                  <a:pt x="189934" y="147072"/>
                </a:lnTo>
                <a:cubicBezTo>
                  <a:pt x="184353" y="152653"/>
                  <a:pt x="184353" y="161717"/>
                  <a:pt x="189934" y="167298"/>
                </a:cubicBezTo>
                <a:cubicBezTo>
                  <a:pt x="195516" y="172879"/>
                  <a:pt x="204579" y="172879"/>
                  <a:pt x="210160" y="167298"/>
                </a:cubicBezTo>
                <a:lnTo>
                  <a:pt x="253023" y="124435"/>
                </a:lnTo>
                <a:cubicBezTo>
                  <a:pt x="258604" y="118854"/>
                  <a:pt x="258604" y="109791"/>
                  <a:pt x="253023" y="104209"/>
                </a:cubicBezTo>
                <a:lnTo>
                  <a:pt x="210160" y="61347"/>
                </a:lnTo>
                <a:cubicBezTo>
                  <a:pt x="204579" y="55766"/>
                  <a:pt x="195516" y="55766"/>
                  <a:pt x="189934" y="61347"/>
                </a:cubicBezTo>
                <a:close/>
                <a:moveTo>
                  <a:pt x="67285" y="61302"/>
                </a:moveTo>
                <a:cubicBezTo>
                  <a:pt x="61704" y="55721"/>
                  <a:pt x="52641" y="55721"/>
                  <a:pt x="47059" y="61302"/>
                </a:cubicBezTo>
                <a:lnTo>
                  <a:pt x="4197" y="104165"/>
                </a:lnTo>
                <a:cubicBezTo>
                  <a:pt x="-1384" y="109746"/>
                  <a:pt x="-1384" y="118809"/>
                  <a:pt x="4197" y="124391"/>
                </a:cubicBezTo>
                <a:lnTo>
                  <a:pt x="47059" y="167253"/>
                </a:lnTo>
                <a:cubicBezTo>
                  <a:pt x="52641" y="172834"/>
                  <a:pt x="61704" y="172834"/>
                  <a:pt x="67285" y="167253"/>
                </a:cubicBezTo>
                <a:cubicBezTo>
                  <a:pt x="72866" y="161672"/>
                  <a:pt x="72866" y="152608"/>
                  <a:pt x="67285" y="147027"/>
                </a:cubicBezTo>
                <a:lnTo>
                  <a:pt x="34513" y="114300"/>
                </a:lnTo>
                <a:lnTo>
                  <a:pt x="67241" y="81528"/>
                </a:lnTo>
                <a:cubicBezTo>
                  <a:pt x="72822" y="75947"/>
                  <a:pt x="72822" y="66883"/>
                  <a:pt x="67241" y="61302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2857500" y="5114925"/>
            <a:ext cx="1457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工程实现深度剖析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562475" y="51339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3808" y="2322"/>
                </a:moveTo>
                <a:cubicBezTo>
                  <a:pt x="110460" y="-759"/>
                  <a:pt x="118140" y="-759"/>
                  <a:pt x="124792" y="2322"/>
                </a:cubicBezTo>
                <a:lnTo>
                  <a:pt x="222394" y="47417"/>
                </a:lnTo>
                <a:cubicBezTo>
                  <a:pt x="226189" y="49158"/>
                  <a:pt x="228600" y="52953"/>
                  <a:pt x="228600" y="57150"/>
                </a:cubicBezTo>
                <a:cubicBezTo>
                  <a:pt x="228600" y="61347"/>
                  <a:pt x="226189" y="65142"/>
                  <a:pt x="222394" y="66883"/>
                </a:cubicBezTo>
                <a:lnTo>
                  <a:pt x="124792" y="111978"/>
                </a:lnTo>
                <a:cubicBezTo>
                  <a:pt x="118140" y="115059"/>
                  <a:pt x="110460" y="115059"/>
                  <a:pt x="103808" y="111978"/>
                </a:cubicBezTo>
                <a:lnTo>
                  <a:pt x="6206" y="66883"/>
                </a:lnTo>
                <a:cubicBezTo>
                  <a:pt x="2411" y="65097"/>
                  <a:pt x="0" y="61302"/>
                  <a:pt x="0" y="57150"/>
                </a:cubicBezTo>
                <a:cubicBezTo>
                  <a:pt x="0" y="52998"/>
                  <a:pt x="2411" y="49158"/>
                  <a:pt x="6206" y="47417"/>
                </a:cubicBezTo>
                <a:lnTo>
                  <a:pt x="103808" y="2322"/>
                </a:lnTo>
                <a:close/>
                <a:moveTo>
                  <a:pt x="21476" y="97512"/>
                </a:moveTo>
                <a:lnTo>
                  <a:pt x="94833" y="131400"/>
                </a:lnTo>
                <a:cubicBezTo>
                  <a:pt x="107201" y="137115"/>
                  <a:pt x="121444" y="137115"/>
                  <a:pt x="133811" y="131400"/>
                </a:cubicBezTo>
                <a:lnTo>
                  <a:pt x="207169" y="97512"/>
                </a:lnTo>
                <a:lnTo>
                  <a:pt x="222394" y="104567"/>
                </a:lnTo>
                <a:cubicBezTo>
                  <a:pt x="226189" y="106308"/>
                  <a:pt x="228600" y="110103"/>
                  <a:pt x="228600" y="114300"/>
                </a:cubicBezTo>
                <a:cubicBezTo>
                  <a:pt x="228600" y="118497"/>
                  <a:pt x="226189" y="122292"/>
                  <a:pt x="222394" y="124033"/>
                </a:cubicBezTo>
                <a:lnTo>
                  <a:pt x="124792" y="169128"/>
                </a:lnTo>
                <a:cubicBezTo>
                  <a:pt x="118140" y="172209"/>
                  <a:pt x="110460" y="172209"/>
                  <a:pt x="103808" y="169128"/>
                </a:cubicBezTo>
                <a:lnTo>
                  <a:pt x="6206" y="124033"/>
                </a:lnTo>
                <a:cubicBezTo>
                  <a:pt x="2411" y="122247"/>
                  <a:pt x="0" y="118452"/>
                  <a:pt x="0" y="114300"/>
                </a:cubicBezTo>
                <a:cubicBezTo>
                  <a:pt x="0" y="110148"/>
                  <a:pt x="2411" y="106308"/>
                  <a:pt x="6206" y="104567"/>
                </a:cubicBezTo>
                <a:lnTo>
                  <a:pt x="21431" y="97512"/>
                </a:lnTo>
                <a:close/>
                <a:moveTo>
                  <a:pt x="6206" y="161717"/>
                </a:moveTo>
                <a:lnTo>
                  <a:pt x="21431" y="154662"/>
                </a:lnTo>
                <a:lnTo>
                  <a:pt x="94789" y="188550"/>
                </a:lnTo>
                <a:cubicBezTo>
                  <a:pt x="107156" y="194265"/>
                  <a:pt x="121399" y="194265"/>
                  <a:pt x="133767" y="188550"/>
                </a:cubicBezTo>
                <a:lnTo>
                  <a:pt x="207124" y="154662"/>
                </a:lnTo>
                <a:lnTo>
                  <a:pt x="222349" y="161717"/>
                </a:lnTo>
                <a:cubicBezTo>
                  <a:pt x="226144" y="163458"/>
                  <a:pt x="228555" y="167253"/>
                  <a:pt x="228555" y="171450"/>
                </a:cubicBezTo>
                <a:cubicBezTo>
                  <a:pt x="228555" y="175647"/>
                  <a:pt x="226144" y="179442"/>
                  <a:pt x="222349" y="181183"/>
                </a:cubicBezTo>
                <a:lnTo>
                  <a:pt x="124748" y="226278"/>
                </a:lnTo>
                <a:cubicBezTo>
                  <a:pt x="118095" y="229359"/>
                  <a:pt x="110416" y="229359"/>
                  <a:pt x="103763" y="226278"/>
                </a:cubicBezTo>
                <a:lnTo>
                  <a:pt x="6206" y="181183"/>
                </a:lnTo>
                <a:cubicBezTo>
                  <a:pt x="2411" y="179397"/>
                  <a:pt x="0" y="175602"/>
                  <a:pt x="0" y="171450"/>
                </a:cubicBezTo>
                <a:cubicBezTo>
                  <a:pt x="0" y="167298"/>
                  <a:pt x="2411" y="163458"/>
                  <a:pt x="6206" y="161717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4933950" y="5114925"/>
            <a:ext cx="1457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跨平台兼容性分析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dirty="0">
                <a:solidFill>
                  <a:srgbClr val="E0E2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mama ShuHeiTi" pitchFamily="34" charset="-120"/>
              </a:rPr>
              <a:t>目录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9144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385763" y="1262063"/>
            <a:ext cx="5591175" cy="1628775"/>
          </a:xfrm>
          <a:custGeom>
            <a:avLst/>
            <a:gdLst/>
            <a:ahLst/>
            <a:cxnLst/>
            <a:rect l="l" t="t" r="r" b="b"/>
            <a:pathLst>
              <a:path w="5591175" h="1628775">
                <a:moveTo>
                  <a:pt x="114307" y="0"/>
                </a:moveTo>
                <a:lnTo>
                  <a:pt x="5476868" y="0"/>
                </a:lnTo>
                <a:cubicBezTo>
                  <a:pt x="5539998" y="0"/>
                  <a:pt x="5591175" y="51177"/>
                  <a:pt x="5591175" y="114307"/>
                </a:cubicBezTo>
                <a:lnTo>
                  <a:pt x="5591175" y="1514468"/>
                </a:lnTo>
                <a:cubicBezTo>
                  <a:pt x="5591175" y="1577598"/>
                  <a:pt x="5539998" y="1628775"/>
                  <a:pt x="5476868" y="1628775"/>
                </a:cubicBezTo>
                <a:lnTo>
                  <a:pt x="114307" y="1628775"/>
                </a:lnTo>
                <a:cubicBezTo>
                  <a:pt x="51177" y="1628775"/>
                  <a:pt x="0" y="1577598"/>
                  <a:pt x="0" y="151446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619125" y="16668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12812" y="1743075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D4A2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mama ShuHeiT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28725" y="1743075"/>
            <a:ext cx="217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E0E2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mama ShuHeiTi" pitchFamily="34" charset="-120"/>
              </a:rPr>
              <a:t>分析范围与结论摘要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19125" y="2238375"/>
            <a:ext cx="5200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明确分析边界，提炼核心结论，为架构选型与部署评估提供依据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5763" y="3052763"/>
            <a:ext cx="5591175" cy="1628775"/>
          </a:xfrm>
          <a:custGeom>
            <a:avLst/>
            <a:gdLst/>
            <a:ahLst/>
            <a:cxnLst/>
            <a:rect l="l" t="t" r="r" b="b"/>
            <a:pathLst>
              <a:path w="5591175" h="1628775">
                <a:moveTo>
                  <a:pt x="114307" y="0"/>
                </a:moveTo>
                <a:lnTo>
                  <a:pt x="5476868" y="0"/>
                </a:lnTo>
                <a:cubicBezTo>
                  <a:pt x="5539998" y="0"/>
                  <a:pt x="5591175" y="51177"/>
                  <a:pt x="5591175" y="114307"/>
                </a:cubicBezTo>
                <a:lnTo>
                  <a:pt x="5591175" y="1514468"/>
                </a:lnTo>
                <a:cubicBezTo>
                  <a:pt x="5591175" y="1577598"/>
                  <a:pt x="5539998" y="1628775"/>
                  <a:pt x="5476868" y="1628775"/>
                </a:cubicBezTo>
                <a:lnTo>
                  <a:pt x="114307" y="1628775"/>
                </a:lnTo>
                <a:cubicBezTo>
                  <a:pt x="51177" y="1628775"/>
                  <a:pt x="0" y="1577598"/>
                  <a:pt x="0" y="151446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619125" y="3457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712812" y="3533775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D4A2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mama ShuHeiT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28725" y="3533775"/>
            <a:ext cx="1257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E0E2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mama ShuHeiTi" pitchFamily="34" charset="-120"/>
              </a:rPr>
              <a:t>标准注意力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19125" y="4029075"/>
            <a:ext cx="5200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MHA/MQA/GQA 核心原理与 vLLM 统一抽象实现机制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5763" y="4843463"/>
            <a:ext cx="5591175" cy="1628775"/>
          </a:xfrm>
          <a:custGeom>
            <a:avLst/>
            <a:gdLst/>
            <a:ahLst/>
            <a:cxnLst/>
            <a:rect l="l" t="t" r="r" b="b"/>
            <a:pathLst>
              <a:path w="5591175" h="1628775">
                <a:moveTo>
                  <a:pt x="114307" y="0"/>
                </a:moveTo>
                <a:lnTo>
                  <a:pt x="5476868" y="0"/>
                </a:lnTo>
                <a:cubicBezTo>
                  <a:pt x="5539998" y="0"/>
                  <a:pt x="5591175" y="51177"/>
                  <a:pt x="5591175" y="114307"/>
                </a:cubicBezTo>
                <a:lnTo>
                  <a:pt x="5591175" y="1514468"/>
                </a:lnTo>
                <a:cubicBezTo>
                  <a:pt x="5591175" y="1577598"/>
                  <a:pt x="5539998" y="1628775"/>
                  <a:pt x="5476868" y="1628775"/>
                </a:cubicBezTo>
                <a:lnTo>
                  <a:pt x="114307" y="1628775"/>
                </a:lnTo>
                <a:cubicBezTo>
                  <a:pt x="51177" y="1628775"/>
                  <a:pt x="0" y="1577598"/>
                  <a:pt x="0" y="151446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619125" y="52482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712812" y="5324475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D4A2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mama ShuHeiT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28725" y="5324475"/>
            <a:ext cx="23526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E0E2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mama ShuHeiTi" pitchFamily="34" charset="-120"/>
              </a:rPr>
              <a:t>MLA: 多头潜在注意力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9125" y="5819775"/>
            <a:ext cx="5200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低秩压缩原理、判定逻辑与专用后端支持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15063" y="1262063"/>
            <a:ext cx="5591175" cy="1628775"/>
          </a:xfrm>
          <a:custGeom>
            <a:avLst/>
            <a:gdLst/>
            <a:ahLst/>
            <a:cxnLst/>
            <a:rect l="l" t="t" r="r" b="b"/>
            <a:pathLst>
              <a:path w="5591175" h="1628775">
                <a:moveTo>
                  <a:pt x="114307" y="0"/>
                </a:moveTo>
                <a:lnTo>
                  <a:pt x="5476868" y="0"/>
                </a:lnTo>
                <a:cubicBezTo>
                  <a:pt x="5539998" y="0"/>
                  <a:pt x="5591175" y="51177"/>
                  <a:pt x="5591175" y="114307"/>
                </a:cubicBezTo>
                <a:lnTo>
                  <a:pt x="5591175" y="1514468"/>
                </a:lnTo>
                <a:cubicBezTo>
                  <a:pt x="5591175" y="1577598"/>
                  <a:pt x="5539998" y="1628775"/>
                  <a:pt x="5476868" y="1628775"/>
                </a:cubicBezTo>
                <a:lnTo>
                  <a:pt x="114307" y="1628775"/>
                </a:lnTo>
                <a:cubicBezTo>
                  <a:pt x="51177" y="1628775"/>
                  <a:pt x="0" y="1577598"/>
                  <a:pt x="0" y="151446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6448425" y="16668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6542112" y="1743075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D4A2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mama ShuHeiT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58025" y="1743075"/>
            <a:ext cx="2324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E0E2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mama ShuHeiTi" pitchFamily="34" charset="-120"/>
              </a:rPr>
              <a:t>NSA: 原生稀疏注意力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48425" y="2238375"/>
            <a:ext cx="5200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块级稀疏性与 Indexer 机制的工程实现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15063" y="3052763"/>
            <a:ext cx="5591175" cy="1628775"/>
          </a:xfrm>
          <a:custGeom>
            <a:avLst/>
            <a:gdLst/>
            <a:ahLst/>
            <a:cxnLst/>
            <a:rect l="l" t="t" r="r" b="b"/>
            <a:pathLst>
              <a:path w="5591175" h="1628775">
                <a:moveTo>
                  <a:pt x="114307" y="0"/>
                </a:moveTo>
                <a:lnTo>
                  <a:pt x="5476868" y="0"/>
                </a:lnTo>
                <a:cubicBezTo>
                  <a:pt x="5539998" y="0"/>
                  <a:pt x="5591175" y="51177"/>
                  <a:pt x="5591175" y="114307"/>
                </a:cubicBezTo>
                <a:lnTo>
                  <a:pt x="5591175" y="1514468"/>
                </a:lnTo>
                <a:cubicBezTo>
                  <a:pt x="5591175" y="1577598"/>
                  <a:pt x="5539998" y="1628775"/>
                  <a:pt x="5476868" y="1628775"/>
                </a:cubicBezTo>
                <a:lnTo>
                  <a:pt x="114307" y="1628775"/>
                </a:lnTo>
                <a:cubicBezTo>
                  <a:pt x="51177" y="1628775"/>
                  <a:pt x="0" y="1577598"/>
                  <a:pt x="0" y="151446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6448425" y="3457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6542112" y="3533775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D4A2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mama ShuHeiTi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58025" y="3533775"/>
            <a:ext cx="25622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E0E2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mama ShuHeiTi" pitchFamily="34" charset="-120"/>
              </a:rPr>
              <a:t>MHA、MLA、NSA 对比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48425" y="4029075"/>
            <a:ext cx="5200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架构特征、复杂度与 vLLM 后端映射关系系统对比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15063" y="4843463"/>
            <a:ext cx="5591175" cy="1628775"/>
          </a:xfrm>
          <a:custGeom>
            <a:avLst/>
            <a:gdLst/>
            <a:ahLst/>
            <a:cxnLst/>
            <a:rect l="l" t="t" r="r" b="b"/>
            <a:pathLst>
              <a:path w="5591175" h="1628775">
                <a:moveTo>
                  <a:pt x="114307" y="0"/>
                </a:moveTo>
                <a:lnTo>
                  <a:pt x="5476868" y="0"/>
                </a:lnTo>
                <a:cubicBezTo>
                  <a:pt x="5539998" y="0"/>
                  <a:pt x="5591175" y="51177"/>
                  <a:pt x="5591175" y="114307"/>
                </a:cubicBezTo>
                <a:lnTo>
                  <a:pt x="5591175" y="1514468"/>
                </a:lnTo>
                <a:cubicBezTo>
                  <a:pt x="5591175" y="1577598"/>
                  <a:pt x="5539998" y="1628775"/>
                  <a:pt x="5476868" y="1628775"/>
                </a:cubicBezTo>
                <a:lnTo>
                  <a:pt x="114307" y="1628775"/>
                </a:lnTo>
                <a:cubicBezTo>
                  <a:pt x="51177" y="1628775"/>
                  <a:pt x="0" y="1577598"/>
                  <a:pt x="0" y="151446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6448425" y="52482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6542112" y="5324475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D4A2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mama ShuHeiTi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058025" y="5324475"/>
            <a:ext cx="21240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E0E2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mama ShuHeiTi" pitchFamily="34" charset="-120"/>
              </a:rPr>
              <a:t>vLLM 支持情况总结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48425" y="5819775"/>
            <a:ext cx="5200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平台支持矩阵、自动选择机制与 Offloading 兼容性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adsttc.com/88491e0bd33f575ba07a7673a934fcd2b53ece50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8821" b="882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385763" y="1757363"/>
            <a:ext cx="1400175" cy="428625"/>
          </a:xfrm>
          <a:custGeom>
            <a:avLst/>
            <a:gdLst/>
            <a:ahLst/>
            <a:cxnLst/>
            <a:rect l="l" t="t" r="r" b="b"/>
            <a:pathLst>
              <a:path w="1400175" h="428625">
                <a:moveTo>
                  <a:pt x="76201" y="0"/>
                </a:moveTo>
                <a:lnTo>
                  <a:pt x="1323974" y="0"/>
                </a:lnTo>
                <a:cubicBezTo>
                  <a:pt x="1366059" y="0"/>
                  <a:pt x="1400175" y="34116"/>
                  <a:pt x="1400175" y="76201"/>
                </a:cubicBezTo>
                <a:lnTo>
                  <a:pt x="1400175" y="352424"/>
                </a:lnTo>
                <a:cubicBezTo>
                  <a:pt x="1400175" y="394509"/>
                  <a:pt x="1366059" y="428625"/>
                  <a:pt x="1323974" y="428625"/>
                </a:cubicBezTo>
                <a:lnTo>
                  <a:pt x="76201" y="428625"/>
                </a:lnTo>
                <a:cubicBezTo>
                  <a:pt x="34116" y="428625"/>
                  <a:pt x="0" y="394509"/>
                  <a:pt x="0" y="3524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 w="12700">
            <a:solidFill>
              <a:srgbClr val="D4A26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542925" y="1857375"/>
            <a:ext cx="1168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kern="0" spc="68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CHAPTER 01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419350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dirty="0">
                <a:solidFill>
                  <a:srgbClr val="E0E2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mama ShuHeiTi" pitchFamily="34" charset="-120"/>
              </a:rPr>
              <a:t>分析范围与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dirty="0">
                <a:solidFill>
                  <a:srgbClr val="E0E2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mama ShuHeiTi" pitchFamily="34" charset="-120"/>
              </a:rPr>
              <a:t>结论摘要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E0E2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mama ShuHeiTi" pitchFamily="34" charset="-120"/>
              </a:rPr>
              <a:t>分析范围与关键结论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8382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385763" y="1109663"/>
            <a:ext cx="4429125" cy="4114800"/>
          </a:xfrm>
          <a:custGeom>
            <a:avLst/>
            <a:gdLst/>
            <a:ahLst/>
            <a:cxnLst/>
            <a:rect l="l" t="t" r="r" b="b"/>
            <a:pathLst>
              <a:path w="4429125" h="4114800">
                <a:moveTo>
                  <a:pt x="114309" y="0"/>
                </a:moveTo>
                <a:lnTo>
                  <a:pt x="4314816" y="0"/>
                </a:lnTo>
                <a:cubicBezTo>
                  <a:pt x="4377947" y="0"/>
                  <a:pt x="4429125" y="51178"/>
                  <a:pt x="4429125" y="114309"/>
                </a:cubicBezTo>
                <a:lnTo>
                  <a:pt x="4429125" y="4000491"/>
                </a:lnTo>
                <a:cubicBezTo>
                  <a:pt x="4429125" y="4063622"/>
                  <a:pt x="4377947" y="4114800"/>
                  <a:pt x="4314816" y="4114800"/>
                </a:cubicBezTo>
                <a:lnTo>
                  <a:pt x="114309" y="4114800"/>
                </a:lnTo>
                <a:cubicBezTo>
                  <a:pt x="51178" y="4114800"/>
                  <a:pt x="0" y="4063622"/>
                  <a:pt x="0" y="4000491"/>
                </a:cubicBezTo>
                <a:lnTo>
                  <a:pt x="0" y="114309"/>
                </a:lnTo>
                <a:cubicBezTo>
                  <a:pt x="0" y="51220"/>
                  <a:pt x="51220" y="0"/>
                  <a:pt x="114309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92931" y="134302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07156" y="-5953"/>
                </a:moveTo>
                <a:cubicBezTo>
                  <a:pt x="113742" y="-5953"/>
                  <a:pt x="119063" y="-633"/>
                  <a:pt x="119063" y="5953"/>
                </a:cubicBezTo>
                <a:lnTo>
                  <a:pt x="119063" y="12762"/>
                </a:lnTo>
                <a:cubicBezTo>
                  <a:pt x="155563" y="17971"/>
                  <a:pt x="184435" y="46844"/>
                  <a:pt x="189644" y="83344"/>
                </a:cubicBezTo>
                <a:lnTo>
                  <a:pt x="196453" y="83344"/>
                </a:lnTo>
                <a:cubicBezTo>
                  <a:pt x="203039" y="83344"/>
                  <a:pt x="208359" y="88664"/>
                  <a:pt x="208359" y="95250"/>
                </a:cubicBezTo>
                <a:cubicBezTo>
                  <a:pt x="208359" y="101836"/>
                  <a:pt x="203039" y="107156"/>
                  <a:pt x="196453" y="107156"/>
                </a:cubicBezTo>
                <a:lnTo>
                  <a:pt x="189644" y="107156"/>
                </a:lnTo>
                <a:cubicBezTo>
                  <a:pt x="184435" y="143656"/>
                  <a:pt x="155563" y="172529"/>
                  <a:pt x="119063" y="177738"/>
                </a:cubicBezTo>
                <a:lnTo>
                  <a:pt x="119063" y="184547"/>
                </a:lnTo>
                <a:cubicBezTo>
                  <a:pt x="119063" y="191133"/>
                  <a:pt x="113742" y="196453"/>
                  <a:pt x="107156" y="196453"/>
                </a:cubicBezTo>
                <a:cubicBezTo>
                  <a:pt x="100571" y="196453"/>
                  <a:pt x="95250" y="191133"/>
                  <a:pt x="95250" y="184547"/>
                </a:cubicBezTo>
                <a:lnTo>
                  <a:pt x="95250" y="177738"/>
                </a:lnTo>
                <a:cubicBezTo>
                  <a:pt x="58750" y="172529"/>
                  <a:pt x="29877" y="143656"/>
                  <a:pt x="24668" y="107156"/>
                </a:cubicBezTo>
                <a:lnTo>
                  <a:pt x="17859" y="107156"/>
                </a:lnTo>
                <a:cubicBezTo>
                  <a:pt x="11274" y="107156"/>
                  <a:pt x="5953" y="101836"/>
                  <a:pt x="5953" y="95250"/>
                </a:cubicBezTo>
                <a:cubicBezTo>
                  <a:pt x="5953" y="88664"/>
                  <a:pt x="11274" y="83344"/>
                  <a:pt x="17859" y="83344"/>
                </a:cubicBezTo>
                <a:lnTo>
                  <a:pt x="24668" y="83344"/>
                </a:lnTo>
                <a:cubicBezTo>
                  <a:pt x="29877" y="46844"/>
                  <a:pt x="58750" y="17971"/>
                  <a:pt x="95250" y="12762"/>
                </a:cubicBezTo>
                <a:lnTo>
                  <a:pt x="95250" y="5953"/>
                </a:lnTo>
                <a:cubicBezTo>
                  <a:pt x="95250" y="-633"/>
                  <a:pt x="100571" y="-5953"/>
                  <a:pt x="107156" y="-5953"/>
                </a:cubicBezTo>
                <a:close/>
                <a:moveTo>
                  <a:pt x="48816" y="107156"/>
                </a:moveTo>
                <a:cubicBezTo>
                  <a:pt x="53541" y="130485"/>
                  <a:pt x="71921" y="148865"/>
                  <a:pt x="95250" y="153591"/>
                </a:cubicBezTo>
                <a:lnTo>
                  <a:pt x="95250" y="148828"/>
                </a:lnTo>
                <a:cubicBezTo>
                  <a:pt x="95250" y="142242"/>
                  <a:pt x="100571" y="136922"/>
                  <a:pt x="107156" y="136922"/>
                </a:cubicBezTo>
                <a:cubicBezTo>
                  <a:pt x="113742" y="136922"/>
                  <a:pt x="119063" y="142242"/>
                  <a:pt x="119063" y="148828"/>
                </a:cubicBezTo>
                <a:lnTo>
                  <a:pt x="119063" y="153591"/>
                </a:lnTo>
                <a:cubicBezTo>
                  <a:pt x="142391" y="148865"/>
                  <a:pt x="160772" y="130485"/>
                  <a:pt x="165497" y="107156"/>
                </a:cubicBezTo>
                <a:lnTo>
                  <a:pt x="160734" y="107156"/>
                </a:lnTo>
                <a:cubicBezTo>
                  <a:pt x="154149" y="107156"/>
                  <a:pt x="148828" y="101836"/>
                  <a:pt x="148828" y="95250"/>
                </a:cubicBezTo>
                <a:cubicBezTo>
                  <a:pt x="148828" y="88664"/>
                  <a:pt x="154149" y="83344"/>
                  <a:pt x="160734" y="83344"/>
                </a:cubicBezTo>
                <a:lnTo>
                  <a:pt x="165497" y="83344"/>
                </a:lnTo>
                <a:cubicBezTo>
                  <a:pt x="160772" y="60015"/>
                  <a:pt x="142391" y="41635"/>
                  <a:pt x="119063" y="36909"/>
                </a:cubicBezTo>
                <a:lnTo>
                  <a:pt x="119063" y="41672"/>
                </a:lnTo>
                <a:cubicBezTo>
                  <a:pt x="119063" y="48258"/>
                  <a:pt x="113742" y="53578"/>
                  <a:pt x="107156" y="53578"/>
                </a:cubicBezTo>
                <a:cubicBezTo>
                  <a:pt x="100571" y="53578"/>
                  <a:pt x="95250" y="48258"/>
                  <a:pt x="95250" y="41672"/>
                </a:cubicBezTo>
                <a:lnTo>
                  <a:pt x="95250" y="36909"/>
                </a:lnTo>
                <a:cubicBezTo>
                  <a:pt x="71921" y="41635"/>
                  <a:pt x="53541" y="60015"/>
                  <a:pt x="48816" y="83344"/>
                </a:cubicBezTo>
                <a:lnTo>
                  <a:pt x="53578" y="83344"/>
                </a:lnTo>
                <a:cubicBezTo>
                  <a:pt x="60164" y="83344"/>
                  <a:pt x="65484" y="88664"/>
                  <a:pt x="65484" y="95250"/>
                </a:cubicBezTo>
                <a:cubicBezTo>
                  <a:pt x="65484" y="101836"/>
                  <a:pt x="60164" y="107156"/>
                  <a:pt x="53578" y="107156"/>
                </a:cubicBezTo>
                <a:lnTo>
                  <a:pt x="48816" y="107156"/>
                </a:lnTo>
                <a:close/>
                <a:moveTo>
                  <a:pt x="107156" y="77391"/>
                </a:moveTo>
                <a:cubicBezTo>
                  <a:pt x="117013" y="77391"/>
                  <a:pt x="125016" y="85393"/>
                  <a:pt x="125016" y="95250"/>
                </a:cubicBezTo>
                <a:cubicBezTo>
                  <a:pt x="125016" y="105107"/>
                  <a:pt x="117013" y="113109"/>
                  <a:pt x="107156" y="113109"/>
                </a:cubicBezTo>
                <a:cubicBezTo>
                  <a:pt x="97299" y="113109"/>
                  <a:pt x="89297" y="105107"/>
                  <a:pt x="89297" y="95250"/>
                </a:cubicBezTo>
                <a:cubicBezTo>
                  <a:pt x="89297" y="85393"/>
                  <a:pt x="97299" y="77391"/>
                  <a:pt x="107156" y="77391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933450" y="1304925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E0E2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mama ShuHeiTi" pitchFamily="34" charset="-120"/>
              </a:rPr>
              <a:t>分析范围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81025" y="1724025"/>
            <a:ext cx="4105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代码范围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81025" y="1952625"/>
            <a:ext cx="41052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D4A26A"/>
                </a:solidFill>
                <a:highlight>
                  <a:srgbClr val="2C3238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vllm/ </a:t>
            </a:r>
            <a:r>
              <a:rPr lang="en-US" sz="105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与 </a:t>
            </a:r>
            <a:r>
              <a:rPr lang="en-US" sz="1050" dirty="0">
                <a:solidFill>
                  <a:srgbClr val="D4A26A"/>
                </a:solidFill>
                <a:highlight>
                  <a:srgbClr val="2C3238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docs/ </a:t>
            </a:r>
            <a:r>
              <a:rPr lang="en-US" sz="105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目录下的注意力实现、后端注册、平台选择与模型配置判定逻辑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81025" y="2505075"/>
            <a:ext cx="4105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机制范围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81025" y="2733675"/>
            <a:ext cx="41052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标准注意力（MHA/MQA/GQA）、DeepSeek 风格 MLA、DeepSeek-V3.2 / GLM-5 稀疏 MLA（NSA 语义）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81025" y="3281363"/>
            <a:ext cx="4105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版本口径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81025" y="3509963"/>
            <a:ext cx="41052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以当前仓库文件内容为准，不使用外部二手资料作为主证据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5763" y="5381625"/>
            <a:ext cx="4429125" cy="1095375"/>
          </a:xfrm>
          <a:custGeom>
            <a:avLst/>
            <a:gdLst/>
            <a:ahLst/>
            <a:cxnLst/>
            <a:rect l="l" t="t" r="r" b="b"/>
            <a:pathLst>
              <a:path w="4429125" h="1095375">
                <a:moveTo>
                  <a:pt x="114302" y="0"/>
                </a:moveTo>
                <a:lnTo>
                  <a:pt x="4314823" y="0"/>
                </a:lnTo>
                <a:cubicBezTo>
                  <a:pt x="4377950" y="0"/>
                  <a:pt x="4429125" y="51175"/>
                  <a:pt x="4429125" y="114302"/>
                </a:cubicBezTo>
                <a:lnTo>
                  <a:pt x="4429125" y="981073"/>
                </a:lnTo>
                <a:cubicBezTo>
                  <a:pt x="4429125" y="1044200"/>
                  <a:pt x="4377950" y="1095375"/>
                  <a:pt x="4314823" y="1095375"/>
                </a:cubicBezTo>
                <a:lnTo>
                  <a:pt x="114302" y="1095375"/>
                </a:lnTo>
                <a:cubicBezTo>
                  <a:pt x="51175" y="1095375"/>
                  <a:pt x="0" y="1044200"/>
                  <a:pt x="0" y="981073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D4A26A">
              <a:alpha val="10196"/>
            </a:srgbClr>
          </a:solidFill>
          <a:ln w="12700">
            <a:solidFill>
              <a:srgbClr val="D4A26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588169" y="5586413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98081" y="128588"/>
                </a:moveTo>
                <a:cubicBezTo>
                  <a:pt x="100526" y="121120"/>
                  <a:pt x="105415" y="114356"/>
                  <a:pt x="110940" y="108529"/>
                </a:cubicBezTo>
                <a:cubicBezTo>
                  <a:pt x="121890" y="97010"/>
                  <a:pt x="128587" y="81439"/>
                  <a:pt x="128587" y="64294"/>
                </a:cubicBezTo>
                <a:cubicBezTo>
                  <a:pt x="128587" y="28798"/>
                  <a:pt x="99789" y="0"/>
                  <a:pt x="64294" y="0"/>
                </a:cubicBezTo>
                <a:cubicBezTo>
                  <a:pt x="28798" y="0"/>
                  <a:pt x="0" y="28798"/>
                  <a:pt x="0" y="64294"/>
                </a:cubicBezTo>
                <a:cubicBezTo>
                  <a:pt x="0" y="81439"/>
                  <a:pt x="6697" y="97010"/>
                  <a:pt x="17647" y="108529"/>
                </a:cubicBezTo>
                <a:cubicBezTo>
                  <a:pt x="23173" y="114356"/>
                  <a:pt x="28095" y="121120"/>
                  <a:pt x="30506" y="128588"/>
                </a:cubicBezTo>
                <a:lnTo>
                  <a:pt x="98048" y="128588"/>
                </a:lnTo>
                <a:close/>
                <a:moveTo>
                  <a:pt x="96441" y="144661"/>
                </a:moveTo>
                <a:lnTo>
                  <a:pt x="32147" y="144661"/>
                </a:lnTo>
                <a:lnTo>
                  <a:pt x="32147" y="150019"/>
                </a:lnTo>
                <a:cubicBezTo>
                  <a:pt x="32147" y="164820"/>
                  <a:pt x="44135" y="176808"/>
                  <a:pt x="58936" y="176808"/>
                </a:cubicBezTo>
                <a:lnTo>
                  <a:pt x="69652" y="176808"/>
                </a:lnTo>
                <a:cubicBezTo>
                  <a:pt x="84453" y="176808"/>
                  <a:pt x="96441" y="164820"/>
                  <a:pt x="96441" y="150019"/>
                </a:cubicBezTo>
                <a:lnTo>
                  <a:pt x="96441" y="144661"/>
                </a:lnTo>
                <a:close/>
                <a:moveTo>
                  <a:pt x="61615" y="37505"/>
                </a:moveTo>
                <a:cubicBezTo>
                  <a:pt x="48287" y="37505"/>
                  <a:pt x="37505" y="48287"/>
                  <a:pt x="37505" y="61615"/>
                </a:cubicBezTo>
                <a:cubicBezTo>
                  <a:pt x="37505" y="66069"/>
                  <a:pt x="33922" y="69652"/>
                  <a:pt x="29468" y="69652"/>
                </a:cubicBezTo>
                <a:cubicBezTo>
                  <a:pt x="25014" y="69652"/>
                  <a:pt x="21431" y="66069"/>
                  <a:pt x="21431" y="61615"/>
                </a:cubicBezTo>
                <a:cubicBezTo>
                  <a:pt x="21431" y="39413"/>
                  <a:pt x="39413" y="21431"/>
                  <a:pt x="61615" y="21431"/>
                </a:cubicBezTo>
                <a:cubicBezTo>
                  <a:pt x="66069" y="21431"/>
                  <a:pt x="69652" y="25014"/>
                  <a:pt x="69652" y="29468"/>
                </a:cubicBezTo>
                <a:cubicBezTo>
                  <a:pt x="69652" y="33922"/>
                  <a:pt x="66069" y="37505"/>
                  <a:pt x="61615" y="37505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871538" y="5538788"/>
            <a:ext cx="771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0E2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mama ShuHeiTi" pitchFamily="34" charset="-120"/>
              </a:rPr>
              <a:t>核心洞察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2925" y="5881688"/>
            <a:ext cx="41814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vLLM 通过高度抽象的算子层与灵活的后端注册机制，实现了对多种注意力机制的差异化支持，展现了强大的架构扩展能力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49143" y="1109663"/>
            <a:ext cx="6753225" cy="5362575"/>
          </a:xfrm>
          <a:custGeom>
            <a:avLst/>
            <a:gdLst/>
            <a:ahLst/>
            <a:cxnLst/>
            <a:rect l="l" t="t" r="r" b="b"/>
            <a:pathLst>
              <a:path w="6753225" h="5362575">
                <a:moveTo>
                  <a:pt x="114276" y="0"/>
                </a:moveTo>
                <a:lnTo>
                  <a:pt x="6638949" y="0"/>
                </a:lnTo>
                <a:cubicBezTo>
                  <a:pt x="6702062" y="0"/>
                  <a:pt x="6753225" y="51163"/>
                  <a:pt x="6753225" y="114276"/>
                </a:cubicBezTo>
                <a:lnTo>
                  <a:pt x="6753225" y="5248299"/>
                </a:lnTo>
                <a:cubicBezTo>
                  <a:pt x="6753225" y="5311412"/>
                  <a:pt x="6702062" y="5362575"/>
                  <a:pt x="6638949" y="5362575"/>
                </a:cubicBezTo>
                <a:lnTo>
                  <a:pt x="114276" y="5362575"/>
                </a:lnTo>
                <a:cubicBezTo>
                  <a:pt x="51163" y="5362575"/>
                  <a:pt x="0" y="5311412"/>
                  <a:pt x="0" y="5248299"/>
                </a:cubicBezTo>
                <a:lnTo>
                  <a:pt x="0" y="114276"/>
                </a:lnTo>
                <a:cubicBezTo>
                  <a:pt x="0" y="51163"/>
                  <a:pt x="51163" y="0"/>
                  <a:pt x="114276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5268218" y="13430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5596830" y="1304925"/>
            <a:ext cx="123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E0E2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mama ShuHeiTi" pitchFamily="34" charset="-120"/>
              </a:rPr>
              <a:t>三大关键结论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263455" y="1724025"/>
            <a:ext cx="6343650" cy="1009650"/>
          </a:xfrm>
          <a:custGeom>
            <a:avLst/>
            <a:gdLst/>
            <a:ahLst/>
            <a:cxnLst/>
            <a:rect l="l" t="t" r="r" b="b"/>
            <a:pathLst>
              <a:path w="6343650" h="1009650">
                <a:moveTo>
                  <a:pt x="38100" y="0"/>
                </a:moveTo>
                <a:lnTo>
                  <a:pt x="6267452" y="0"/>
                </a:lnTo>
                <a:cubicBezTo>
                  <a:pt x="6309535" y="0"/>
                  <a:pt x="6343650" y="34115"/>
                  <a:pt x="6343650" y="76198"/>
                </a:cubicBezTo>
                <a:lnTo>
                  <a:pt x="6343650" y="933452"/>
                </a:lnTo>
                <a:cubicBezTo>
                  <a:pt x="6343650" y="975535"/>
                  <a:pt x="6309535" y="1009650"/>
                  <a:pt x="6267452" y="1009650"/>
                </a:cubicBezTo>
                <a:lnTo>
                  <a:pt x="38100" y="1009650"/>
                </a:lnTo>
                <a:cubicBezTo>
                  <a:pt x="17058" y="1009650"/>
                  <a:pt x="0" y="992592"/>
                  <a:pt x="0" y="971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5263455" y="1724025"/>
            <a:ext cx="38100" cy="1009650"/>
          </a:xfrm>
          <a:custGeom>
            <a:avLst/>
            <a:gdLst/>
            <a:ahLst/>
            <a:cxnLst/>
            <a:rect l="l" t="t" r="r" b="b"/>
            <a:pathLst>
              <a:path w="38100" h="1009650">
                <a:moveTo>
                  <a:pt x="38100" y="0"/>
                </a:moveTo>
                <a:lnTo>
                  <a:pt x="38100" y="0"/>
                </a:lnTo>
                <a:lnTo>
                  <a:pt x="38100" y="1009650"/>
                </a:lnTo>
                <a:lnTo>
                  <a:pt x="38100" y="1009650"/>
                </a:lnTo>
                <a:cubicBezTo>
                  <a:pt x="17072" y="1009650"/>
                  <a:pt x="0" y="992578"/>
                  <a:pt x="0" y="971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5434905" y="19145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5536704" y="1933575"/>
            <a:ext cx="19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D4A2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mama ShuHeiTi" pitchFamily="34" charset="-120"/>
              </a:rPr>
              <a:t>1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854005" y="1876425"/>
            <a:ext cx="5676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机制支持全面性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854005" y="2143125"/>
            <a:ext cx="56673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vLLM 对标准注意力提供完整主线支持，具备自动后端选择能力；对 MLA 提供专用实现与独立后端族；通过 Sparse MLA 后端承载 NSA 稀疏语义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263455" y="2843213"/>
            <a:ext cx="6343650" cy="1009650"/>
          </a:xfrm>
          <a:custGeom>
            <a:avLst/>
            <a:gdLst/>
            <a:ahLst/>
            <a:cxnLst/>
            <a:rect l="l" t="t" r="r" b="b"/>
            <a:pathLst>
              <a:path w="6343650" h="1009650">
                <a:moveTo>
                  <a:pt x="38100" y="0"/>
                </a:moveTo>
                <a:lnTo>
                  <a:pt x="6267452" y="0"/>
                </a:lnTo>
                <a:cubicBezTo>
                  <a:pt x="6309535" y="0"/>
                  <a:pt x="6343650" y="34115"/>
                  <a:pt x="6343650" y="76198"/>
                </a:cubicBezTo>
                <a:lnTo>
                  <a:pt x="6343650" y="933452"/>
                </a:lnTo>
                <a:cubicBezTo>
                  <a:pt x="6343650" y="975535"/>
                  <a:pt x="6309535" y="1009650"/>
                  <a:pt x="6267452" y="1009650"/>
                </a:cubicBezTo>
                <a:lnTo>
                  <a:pt x="38100" y="1009650"/>
                </a:lnTo>
                <a:cubicBezTo>
                  <a:pt x="17058" y="1009650"/>
                  <a:pt x="0" y="992592"/>
                  <a:pt x="0" y="971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5263455" y="2843213"/>
            <a:ext cx="38100" cy="1009650"/>
          </a:xfrm>
          <a:custGeom>
            <a:avLst/>
            <a:gdLst/>
            <a:ahLst/>
            <a:cxnLst/>
            <a:rect l="l" t="t" r="r" b="b"/>
            <a:pathLst>
              <a:path w="38100" h="1009650">
                <a:moveTo>
                  <a:pt x="38100" y="0"/>
                </a:moveTo>
                <a:lnTo>
                  <a:pt x="38100" y="0"/>
                </a:lnTo>
                <a:lnTo>
                  <a:pt x="38100" y="1009650"/>
                </a:lnTo>
                <a:lnTo>
                  <a:pt x="38100" y="1009650"/>
                </a:lnTo>
                <a:cubicBezTo>
                  <a:pt x="17072" y="1009650"/>
                  <a:pt x="0" y="992578"/>
                  <a:pt x="0" y="971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D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5434905" y="303371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5536704" y="3052763"/>
            <a:ext cx="19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4A6D8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mama ShuHeiTi" pitchFamily="34" charset="-120"/>
              </a:rPr>
              <a:t>2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854005" y="2995613"/>
            <a:ext cx="5676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平台支持差异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854005" y="3262313"/>
            <a:ext cx="56673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CUDA 平台对所有注意力机制支持最佳；ROCm 支持标准注意力与部分 MLA 变体；CPU 平台目前仅限于标准注意力计算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263455" y="3962400"/>
            <a:ext cx="6343650" cy="1009650"/>
          </a:xfrm>
          <a:custGeom>
            <a:avLst/>
            <a:gdLst/>
            <a:ahLst/>
            <a:cxnLst/>
            <a:rect l="l" t="t" r="r" b="b"/>
            <a:pathLst>
              <a:path w="6343650" h="1009650">
                <a:moveTo>
                  <a:pt x="38100" y="0"/>
                </a:moveTo>
                <a:lnTo>
                  <a:pt x="6267452" y="0"/>
                </a:lnTo>
                <a:cubicBezTo>
                  <a:pt x="6309535" y="0"/>
                  <a:pt x="6343650" y="34115"/>
                  <a:pt x="6343650" y="76198"/>
                </a:cubicBezTo>
                <a:lnTo>
                  <a:pt x="6343650" y="933452"/>
                </a:lnTo>
                <a:cubicBezTo>
                  <a:pt x="6343650" y="975535"/>
                  <a:pt x="6309535" y="1009650"/>
                  <a:pt x="6267452" y="1009650"/>
                </a:cubicBezTo>
                <a:lnTo>
                  <a:pt x="38100" y="1009650"/>
                </a:lnTo>
                <a:cubicBezTo>
                  <a:pt x="17058" y="1009650"/>
                  <a:pt x="0" y="992592"/>
                  <a:pt x="0" y="971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5263455" y="3962400"/>
            <a:ext cx="38100" cy="1009650"/>
          </a:xfrm>
          <a:custGeom>
            <a:avLst/>
            <a:gdLst/>
            <a:ahLst/>
            <a:cxnLst/>
            <a:rect l="l" t="t" r="r" b="b"/>
            <a:pathLst>
              <a:path w="38100" h="1009650">
                <a:moveTo>
                  <a:pt x="38100" y="0"/>
                </a:moveTo>
                <a:lnTo>
                  <a:pt x="38100" y="0"/>
                </a:lnTo>
                <a:lnTo>
                  <a:pt x="38100" y="1009650"/>
                </a:lnTo>
                <a:lnTo>
                  <a:pt x="38100" y="1009650"/>
                </a:lnTo>
                <a:cubicBezTo>
                  <a:pt x="17072" y="1009650"/>
                  <a:pt x="0" y="992578"/>
                  <a:pt x="0" y="971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B7A8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5434905" y="41529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B7A8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5536704" y="4171950"/>
            <a:ext cx="19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6B7A8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mama ShuHeiTi" pitchFamily="34" charset="-120"/>
              </a:rPr>
              <a:t>3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854005" y="4114800"/>
            <a:ext cx="5676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KV Cache Offloading 兼容性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854005" y="4381500"/>
            <a:ext cx="56673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标准注意力与 MLA 主 KV 完美兼容 Offloading；NSA 的 Indexer Cache 暂不支持；混合架构模型因 HMA 冲突无法开启 Offloading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hutterstock.com/965c6405ead3aaea9bc0e139be0b4a1a6c2f3842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3694" b="3694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385763" y="1757363"/>
            <a:ext cx="1428750" cy="428625"/>
          </a:xfrm>
          <a:custGeom>
            <a:avLst/>
            <a:gdLst/>
            <a:ahLst/>
            <a:cxnLst/>
            <a:rect l="l" t="t" r="r" b="b"/>
            <a:pathLst>
              <a:path w="1428750" h="428625">
                <a:moveTo>
                  <a:pt x="76201" y="0"/>
                </a:moveTo>
                <a:lnTo>
                  <a:pt x="1352549" y="0"/>
                </a:lnTo>
                <a:cubicBezTo>
                  <a:pt x="1394634" y="0"/>
                  <a:pt x="1428750" y="34116"/>
                  <a:pt x="1428750" y="76201"/>
                </a:cubicBezTo>
                <a:lnTo>
                  <a:pt x="1428750" y="352424"/>
                </a:lnTo>
                <a:cubicBezTo>
                  <a:pt x="1428750" y="394509"/>
                  <a:pt x="1394634" y="428625"/>
                  <a:pt x="1352549" y="428625"/>
                </a:cubicBezTo>
                <a:lnTo>
                  <a:pt x="76201" y="428625"/>
                </a:lnTo>
                <a:cubicBezTo>
                  <a:pt x="34116" y="428625"/>
                  <a:pt x="0" y="394509"/>
                  <a:pt x="0" y="3524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 w="12700">
            <a:solidFill>
              <a:srgbClr val="D4A26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542925" y="1857375"/>
            <a:ext cx="11974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kern="0" spc="68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CHAPTER 02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419350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dirty="0">
                <a:solidFill>
                  <a:srgbClr val="E0E2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mama ShuHeiTi" pitchFamily="34" charset="-120"/>
              </a:rPr>
              <a:t>标准注意力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dirty="0">
                <a:solidFill>
                  <a:srgbClr val="E0E2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mama ShuHeiTi" pitchFamily="34" charset="-120"/>
              </a:rPr>
              <a:t>(MHA/MQA/GQA)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4362450"/>
            <a:ext cx="6515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LLM基础结构的统一抽象实现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通过高度抽象的算子层整合三种机制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0977" y="360977"/>
            <a:ext cx="11632486" cy="360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58" dirty="0">
                <a:solidFill>
                  <a:srgbClr val="E0E2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mama ShuHeiTi" pitchFamily="34" charset="-120"/>
              </a:rPr>
              <a:t>标准注意力原理与vLLM实现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60977" y="794150"/>
            <a:ext cx="866345" cy="36098"/>
          </a:xfrm>
          <a:custGeom>
            <a:avLst/>
            <a:gdLst/>
            <a:ahLst/>
            <a:cxnLst/>
            <a:rect l="l" t="t" r="r" b="b"/>
            <a:pathLst>
              <a:path w="866345" h="36098">
                <a:moveTo>
                  <a:pt x="0" y="0"/>
                </a:moveTo>
                <a:lnTo>
                  <a:pt x="866345" y="0"/>
                </a:lnTo>
                <a:lnTo>
                  <a:pt x="866345" y="36098"/>
                </a:lnTo>
                <a:lnTo>
                  <a:pt x="0" y="36098"/>
                </a:lnTo>
                <a:lnTo>
                  <a:pt x="0" y="0"/>
                </a:ln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365489" y="979150"/>
            <a:ext cx="5622218" cy="4403920"/>
          </a:xfrm>
          <a:custGeom>
            <a:avLst/>
            <a:gdLst/>
            <a:ahLst/>
            <a:cxnLst/>
            <a:rect l="l" t="t" r="r" b="b"/>
            <a:pathLst>
              <a:path w="5622218" h="4403920">
                <a:moveTo>
                  <a:pt x="108292" y="0"/>
                </a:moveTo>
                <a:lnTo>
                  <a:pt x="5513925" y="0"/>
                </a:lnTo>
                <a:cubicBezTo>
                  <a:pt x="5573733" y="0"/>
                  <a:pt x="5622218" y="48484"/>
                  <a:pt x="5622218" y="108292"/>
                </a:cubicBezTo>
                <a:lnTo>
                  <a:pt x="5622218" y="4295628"/>
                </a:lnTo>
                <a:cubicBezTo>
                  <a:pt x="5622218" y="4355436"/>
                  <a:pt x="5573733" y="4403920"/>
                  <a:pt x="5513925" y="4403920"/>
                </a:cubicBezTo>
                <a:lnTo>
                  <a:pt x="108292" y="4403920"/>
                </a:lnTo>
                <a:cubicBezTo>
                  <a:pt x="48484" y="4403920"/>
                  <a:pt x="0" y="4355436"/>
                  <a:pt x="0" y="4295628"/>
                </a:cubicBezTo>
                <a:lnTo>
                  <a:pt x="0" y="108292"/>
                </a:lnTo>
                <a:cubicBezTo>
                  <a:pt x="0" y="48524"/>
                  <a:pt x="48524" y="0"/>
                  <a:pt x="108292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73051" y="1200249"/>
            <a:ext cx="180489" cy="180489"/>
          </a:xfrm>
          <a:custGeom>
            <a:avLst/>
            <a:gdLst/>
            <a:ahLst/>
            <a:cxnLst/>
            <a:rect l="l" t="t" r="r" b="b"/>
            <a:pathLst>
              <a:path w="180489" h="180489">
                <a:moveTo>
                  <a:pt x="42302" y="19741"/>
                </a:moveTo>
                <a:cubicBezTo>
                  <a:pt x="42302" y="8848"/>
                  <a:pt x="51150" y="0"/>
                  <a:pt x="62043" y="0"/>
                </a:cubicBezTo>
                <a:lnTo>
                  <a:pt x="70503" y="0"/>
                </a:lnTo>
                <a:cubicBezTo>
                  <a:pt x="76743" y="0"/>
                  <a:pt x="81784" y="5041"/>
                  <a:pt x="81784" y="11281"/>
                </a:cubicBezTo>
                <a:lnTo>
                  <a:pt x="81784" y="169208"/>
                </a:lnTo>
                <a:cubicBezTo>
                  <a:pt x="81784" y="175448"/>
                  <a:pt x="76743" y="180489"/>
                  <a:pt x="70503" y="180489"/>
                </a:cubicBezTo>
                <a:lnTo>
                  <a:pt x="59223" y="180489"/>
                </a:lnTo>
                <a:cubicBezTo>
                  <a:pt x="48718" y="180489"/>
                  <a:pt x="39870" y="173297"/>
                  <a:pt x="37367" y="163568"/>
                </a:cubicBezTo>
                <a:cubicBezTo>
                  <a:pt x="37120" y="163568"/>
                  <a:pt x="36908" y="163568"/>
                  <a:pt x="36662" y="163568"/>
                </a:cubicBezTo>
                <a:cubicBezTo>
                  <a:pt x="21080" y="163568"/>
                  <a:pt x="8460" y="150948"/>
                  <a:pt x="8460" y="135366"/>
                </a:cubicBezTo>
                <a:cubicBezTo>
                  <a:pt x="8460" y="129021"/>
                  <a:pt x="10575" y="123169"/>
                  <a:pt x="14101" y="118446"/>
                </a:cubicBezTo>
                <a:cubicBezTo>
                  <a:pt x="7262" y="113299"/>
                  <a:pt x="2820" y="105120"/>
                  <a:pt x="2820" y="95885"/>
                </a:cubicBezTo>
                <a:cubicBezTo>
                  <a:pt x="2820" y="84992"/>
                  <a:pt x="9024" y="75509"/>
                  <a:pt x="18049" y="70821"/>
                </a:cubicBezTo>
                <a:cubicBezTo>
                  <a:pt x="15546" y="66590"/>
                  <a:pt x="14101" y="61655"/>
                  <a:pt x="14101" y="56403"/>
                </a:cubicBezTo>
                <a:cubicBezTo>
                  <a:pt x="14101" y="40821"/>
                  <a:pt x="26721" y="28201"/>
                  <a:pt x="42302" y="28201"/>
                </a:cubicBezTo>
                <a:lnTo>
                  <a:pt x="42302" y="19741"/>
                </a:lnTo>
                <a:close/>
                <a:moveTo>
                  <a:pt x="138187" y="19741"/>
                </a:moveTo>
                <a:lnTo>
                  <a:pt x="138187" y="28201"/>
                </a:lnTo>
                <a:cubicBezTo>
                  <a:pt x="153768" y="28201"/>
                  <a:pt x="166388" y="40821"/>
                  <a:pt x="166388" y="56403"/>
                </a:cubicBezTo>
                <a:cubicBezTo>
                  <a:pt x="166388" y="61690"/>
                  <a:pt x="164943" y="66626"/>
                  <a:pt x="162440" y="70821"/>
                </a:cubicBezTo>
                <a:cubicBezTo>
                  <a:pt x="171499" y="75509"/>
                  <a:pt x="177668" y="84957"/>
                  <a:pt x="177668" y="95885"/>
                </a:cubicBezTo>
                <a:cubicBezTo>
                  <a:pt x="177668" y="105120"/>
                  <a:pt x="173227" y="113299"/>
                  <a:pt x="166388" y="118446"/>
                </a:cubicBezTo>
                <a:cubicBezTo>
                  <a:pt x="169913" y="123169"/>
                  <a:pt x="172028" y="129021"/>
                  <a:pt x="172028" y="135366"/>
                </a:cubicBezTo>
                <a:cubicBezTo>
                  <a:pt x="172028" y="150948"/>
                  <a:pt x="159408" y="163568"/>
                  <a:pt x="143827" y="163568"/>
                </a:cubicBezTo>
                <a:cubicBezTo>
                  <a:pt x="143580" y="163568"/>
                  <a:pt x="143369" y="163568"/>
                  <a:pt x="143122" y="163568"/>
                </a:cubicBezTo>
                <a:cubicBezTo>
                  <a:pt x="140619" y="173297"/>
                  <a:pt x="131771" y="180489"/>
                  <a:pt x="121266" y="180489"/>
                </a:cubicBezTo>
                <a:lnTo>
                  <a:pt x="109985" y="180489"/>
                </a:lnTo>
                <a:cubicBezTo>
                  <a:pt x="103746" y="180489"/>
                  <a:pt x="98705" y="175448"/>
                  <a:pt x="98705" y="169208"/>
                </a:cubicBezTo>
                <a:lnTo>
                  <a:pt x="98705" y="11281"/>
                </a:lnTo>
                <a:cubicBezTo>
                  <a:pt x="98705" y="5041"/>
                  <a:pt x="103746" y="0"/>
                  <a:pt x="109985" y="0"/>
                </a:cubicBezTo>
                <a:lnTo>
                  <a:pt x="118446" y="0"/>
                </a:lnTo>
                <a:cubicBezTo>
                  <a:pt x="129338" y="0"/>
                  <a:pt x="138187" y="8848"/>
                  <a:pt x="138187" y="19741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84394" y="1164151"/>
            <a:ext cx="1606348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1" dirty="0">
                <a:solidFill>
                  <a:srgbClr val="E0E2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mama ShuHeiTi" pitchFamily="34" charset="-120"/>
              </a:rPr>
              <a:t>核心原理与KV存储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50490" y="1561226"/>
            <a:ext cx="5315387" cy="4151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95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MHA 为每个 token 显式缓存独立的 K 与 V 向量。在全量上下文参与计算的场景下，其单层 KV 存储的理论显存开销可由以下公式近似表示：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50490" y="2116228"/>
            <a:ext cx="5252216" cy="794150"/>
          </a:xfrm>
          <a:custGeom>
            <a:avLst/>
            <a:gdLst/>
            <a:ahLst/>
            <a:cxnLst/>
            <a:rect l="l" t="t" r="r" b="b"/>
            <a:pathLst>
              <a:path w="5252216" h="794150">
                <a:moveTo>
                  <a:pt x="72196" y="0"/>
                </a:moveTo>
                <a:lnTo>
                  <a:pt x="5180020" y="0"/>
                </a:lnTo>
                <a:cubicBezTo>
                  <a:pt x="5219893" y="0"/>
                  <a:pt x="5252216" y="32323"/>
                  <a:pt x="5252216" y="72196"/>
                </a:cubicBezTo>
                <a:lnTo>
                  <a:pt x="5252216" y="721953"/>
                </a:lnTo>
                <a:cubicBezTo>
                  <a:pt x="5252216" y="761826"/>
                  <a:pt x="5219893" y="794150"/>
                  <a:pt x="5180020" y="794150"/>
                </a:cubicBezTo>
                <a:lnTo>
                  <a:pt x="72196" y="794150"/>
                </a:lnTo>
                <a:cubicBezTo>
                  <a:pt x="32323" y="794150"/>
                  <a:pt x="0" y="761826"/>
                  <a:pt x="0" y="721953"/>
                </a:cubicBezTo>
                <a:lnTo>
                  <a:pt x="0" y="72196"/>
                </a:lnTo>
                <a:cubicBezTo>
                  <a:pt x="0" y="32350"/>
                  <a:pt x="32350" y="0"/>
                  <a:pt x="72196" y="0"/>
                </a:cubicBezTo>
                <a:close/>
              </a:path>
            </a:pathLst>
          </a:custGeom>
          <a:solidFill>
            <a:srgbClr val="2C323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63295" y="2260619"/>
            <a:ext cx="5026605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5" b="1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KV Cache 显存开销公式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4271" y="2513303"/>
            <a:ext cx="5044654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79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Memory</a:t>
            </a:r>
            <a:r>
              <a:rPr lang="en-US" sz="959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KV</a:t>
            </a:r>
            <a:r>
              <a:rPr lang="en-US" sz="1279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≈ 2 × N</a:t>
            </a:r>
            <a:r>
              <a:rPr lang="en-US" sz="959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kv_heads</a:t>
            </a:r>
            <a:r>
              <a:rPr lang="en-US" sz="1279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× D</a:t>
            </a:r>
            <a:r>
              <a:rPr lang="en-US" sz="959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head</a:t>
            </a:r>
            <a:r>
              <a:rPr lang="en-US" sz="1279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× sizeof(dtype)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50490" y="3108915"/>
            <a:ext cx="72195" cy="72195"/>
          </a:xfrm>
          <a:custGeom>
            <a:avLst/>
            <a:gdLst/>
            <a:ahLst/>
            <a:cxnLst/>
            <a:rect l="l" t="t" r="r" b="b"/>
            <a:pathLst>
              <a:path w="72195" h="72195">
                <a:moveTo>
                  <a:pt x="36098" y="0"/>
                </a:moveTo>
                <a:lnTo>
                  <a:pt x="36098" y="0"/>
                </a:lnTo>
                <a:cubicBezTo>
                  <a:pt x="56034" y="0"/>
                  <a:pt x="72195" y="16161"/>
                  <a:pt x="72195" y="36098"/>
                </a:cubicBezTo>
                <a:lnTo>
                  <a:pt x="72195" y="36098"/>
                </a:lnTo>
                <a:cubicBezTo>
                  <a:pt x="72195" y="56034"/>
                  <a:pt x="56034" y="72195"/>
                  <a:pt x="36098" y="72195"/>
                </a:cubicBezTo>
                <a:lnTo>
                  <a:pt x="36098" y="72195"/>
                </a:lnTo>
                <a:cubicBezTo>
                  <a:pt x="16161" y="72195"/>
                  <a:pt x="0" y="56034"/>
                  <a:pt x="0" y="36098"/>
                </a:cubicBezTo>
                <a:lnTo>
                  <a:pt x="0" y="36098"/>
                </a:lnTo>
                <a:cubicBezTo>
                  <a:pt x="0" y="16161"/>
                  <a:pt x="16161" y="0"/>
                  <a:pt x="36098" y="0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694881" y="3054768"/>
            <a:ext cx="2644157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b="1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MHA:</a:t>
            </a:r>
            <a:r>
              <a:rPr lang="en-US" sz="995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num_kv_heads = num_attention_heads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50490" y="3361599"/>
            <a:ext cx="72195" cy="72195"/>
          </a:xfrm>
          <a:custGeom>
            <a:avLst/>
            <a:gdLst/>
            <a:ahLst/>
            <a:cxnLst/>
            <a:rect l="l" t="t" r="r" b="b"/>
            <a:pathLst>
              <a:path w="72195" h="72195">
                <a:moveTo>
                  <a:pt x="36098" y="0"/>
                </a:moveTo>
                <a:lnTo>
                  <a:pt x="36098" y="0"/>
                </a:lnTo>
                <a:cubicBezTo>
                  <a:pt x="56034" y="0"/>
                  <a:pt x="72195" y="16161"/>
                  <a:pt x="72195" y="36098"/>
                </a:cubicBezTo>
                <a:lnTo>
                  <a:pt x="72195" y="36098"/>
                </a:lnTo>
                <a:cubicBezTo>
                  <a:pt x="72195" y="56034"/>
                  <a:pt x="56034" y="72195"/>
                  <a:pt x="36098" y="72195"/>
                </a:cubicBezTo>
                <a:lnTo>
                  <a:pt x="36098" y="72195"/>
                </a:lnTo>
                <a:cubicBezTo>
                  <a:pt x="16161" y="72195"/>
                  <a:pt x="0" y="56034"/>
                  <a:pt x="0" y="36098"/>
                </a:cubicBezTo>
                <a:lnTo>
                  <a:pt x="0" y="36098"/>
                </a:lnTo>
                <a:cubicBezTo>
                  <a:pt x="0" y="16161"/>
                  <a:pt x="16161" y="0"/>
                  <a:pt x="36098" y="0"/>
                </a:cubicBezTo>
                <a:close/>
              </a:path>
            </a:pathLst>
          </a:custGeom>
          <a:solidFill>
            <a:srgbClr val="4A6D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94881" y="3307452"/>
            <a:ext cx="1461957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b="1" dirty="0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MQA:</a:t>
            </a:r>
            <a:r>
              <a:rPr lang="en-US" sz="995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num_kv_heads = 1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50490" y="3614283"/>
            <a:ext cx="72195" cy="72195"/>
          </a:xfrm>
          <a:custGeom>
            <a:avLst/>
            <a:gdLst/>
            <a:ahLst/>
            <a:cxnLst/>
            <a:rect l="l" t="t" r="r" b="b"/>
            <a:pathLst>
              <a:path w="72195" h="72195">
                <a:moveTo>
                  <a:pt x="36098" y="0"/>
                </a:moveTo>
                <a:lnTo>
                  <a:pt x="36098" y="0"/>
                </a:lnTo>
                <a:cubicBezTo>
                  <a:pt x="56034" y="0"/>
                  <a:pt x="72195" y="16161"/>
                  <a:pt x="72195" y="36098"/>
                </a:cubicBezTo>
                <a:lnTo>
                  <a:pt x="72195" y="36098"/>
                </a:lnTo>
                <a:cubicBezTo>
                  <a:pt x="72195" y="56034"/>
                  <a:pt x="56034" y="72195"/>
                  <a:pt x="36098" y="72195"/>
                </a:cubicBezTo>
                <a:lnTo>
                  <a:pt x="36098" y="72195"/>
                </a:lnTo>
                <a:cubicBezTo>
                  <a:pt x="16161" y="72195"/>
                  <a:pt x="0" y="56034"/>
                  <a:pt x="0" y="36098"/>
                </a:cubicBezTo>
                <a:lnTo>
                  <a:pt x="0" y="36098"/>
                </a:lnTo>
                <a:cubicBezTo>
                  <a:pt x="0" y="16161"/>
                  <a:pt x="16161" y="0"/>
                  <a:pt x="36098" y="0"/>
                </a:cubicBezTo>
                <a:close/>
              </a:path>
            </a:pathLst>
          </a:custGeom>
          <a:solidFill>
            <a:srgbClr val="6B7A8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94881" y="3560136"/>
            <a:ext cx="2833670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b="1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GQA:</a:t>
            </a:r>
            <a:r>
              <a:rPr lang="en-US" sz="995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1 &lt; num_kv_heads &lt; num_attention_heads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65489" y="5468913"/>
            <a:ext cx="5622218" cy="1326591"/>
          </a:xfrm>
          <a:custGeom>
            <a:avLst/>
            <a:gdLst/>
            <a:ahLst/>
            <a:cxnLst/>
            <a:rect l="l" t="t" r="r" b="b"/>
            <a:pathLst>
              <a:path w="5622218" h="1326591">
                <a:moveTo>
                  <a:pt x="108290" y="0"/>
                </a:moveTo>
                <a:lnTo>
                  <a:pt x="5513928" y="0"/>
                </a:lnTo>
                <a:cubicBezTo>
                  <a:pt x="5573735" y="0"/>
                  <a:pt x="5622218" y="48483"/>
                  <a:pt x="5622218" y="108290"/>
                </a:cubicBezTo>
                <a:lnTo>
                  <a:pt x="5622218" y="1218301"/>
                </a:lnTo>
                <a:cubicBezTo>
                  <a:pt x="5622218" y="1278108"/>
                  <a:pt x="5573735" y="1326591"/>
                  <a:pt x="5513928" y="1326591"/>
                </a:cubicBezTo>
                <a:lnTo>
                  <a:pt x="108290" y="1326591"/>
                </a:lnTo>
                <a:cubicBezTo>
                  <a:pt x="48483" y="1326591"/>
                  <a:pt x="0" y="1278108"/>
                  <a:pt x="0" y="1218301"/>
                </a:cubicBezTo>
                <a:lnTo>
                  <a:pt x="0" y="108290"/>
                </a:lnTo>
                <a:cubicBezTo>
                  <a:pt x="0" y="48483"/>
                  <a:pt x="48483" y="0"/>
                  <a:pt x="108290" y="0"/>
                </a:cubicBezTo>
                <a:close/>
              </a:path>
            </a:pathLst>
          </a:custGeom>
          <a:solidFill>
            <a:srgbClr val="D4A26A">
              <a:alpha val="10196"/>
            </a:srgbClr>
          </a:solidFill>
          <a:ln w="12700">
            <a:solidFill>
              <a:srgbClr val="D4A26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536953" y="5662939"/>
            <a:ext cx="162440" cy="162440"/>
          </a:xfrm>
          <a:custGeom>
            <a:avLst/>
            <a:gdLst/>
            <a:ahLst/>
            <a:cxnLst/>
            <a:rect l="l" t="t" r="r" b="b"/>
            <a:pathLst>
              <a:path w="162440" h="162440">
                <a:moveTo>
                  <a:pt x="106601" y="111677"/>
                </a:moveTo>
                <a:cubicBezTo>
                  <a:pt x="137439" y="111677"/>
                  <a:pt x="162440" y="86677"/>
                  <a:pt x="162440" y="55839"/>
                </a:cubicBezTo>
                <a:cubicBezTo>
                  <a:pt x="162440" y="25000"/>
                  <a:pt x="137439" y="0"/>
                  <a:pt x="106601" y="0"/>
                </a:cubicBezTo>
                <a:cubicBezTo>
                  <a:pt x="75763" y="0"/>
                  <a:pt x="50762" y="25000"/>
                  <a:pt x="50762" y="55839"/>
                </a:cubicBezTo>
                <a:cubicBezTo>
                  <a:pt x="50762" y="61771"/>
                  <a:pt x="51682" y="67514"/>
                  <a:pt x="53396" y="72876"/>
                </a:cubicBezTo>
                <a:lnTo>
                  <a:pt x="2221" y="124051"/>
                </a:lnTo>
                <a:cubicBezTo>
                  <a:pt x="793" y="125478"/>
                  <a:pt x="0" y="127414"/>
                  <a:pt x="0" y="129444"/>
                </a:cubicBezTo>
                <a:lnTo>
                  <a:pt x="0" y="154825"/>
                </a:lnTo>
                <a:cubicBezTo>
                  <a:pt x="0" y="159045"/>
                  <a:pt x="3395" y="162440"/>
                  <a:pt x="7614" y="162440"/>
                </a:cubicBezTo>
                <a:lnTo>
                  <a:pt x="32996" y="162440"/>
                </a:lnTo>
                <a:cubicBezTo>
                  <a:pt x="37215" y="162440"/>
                  <a:pt x="40610" y="159045"/>
                  <a:pt x="40610" y="154825"/>
                </a:cubicBezTo>
                <a:lnTo>
                  <a:pt x="40610" y="142135"/>
                </a:lnTo>
                <a:lnTo>
                  <a:pt x="53301" y="142135"/>
                </a:lnTo>
                <a:cubicBezTo>
                  <a:pt x="57520" y="142135"/>
                  <a:pt x="60915" y="138740"/>
                  <a:pt x="60915" y="134520"/>
                </a:cubicBezTo>
                <a:lnTo>
                  <a:pt x="60915" y="121830"/>
                </a:lnTo>
                <a:lnTo>
                  <a:pt x="73605" y="121830"/>
                </a:lnTo>
                <a:cubicBezTo>
                  <a:pt x="75636" y="121830"/>
                  <a:pt x="77571" y="121037"/>
                  <a:pt x="78999" y="119609"/>
                </a:cubicBezTo>
                <a:lnTo>
                  <a:pt x="89564" y="109044"/>
                </a:lnTo>
                <a:cubicBezTo>
                  <a:pt x="94926" y="110757"/>
                  <a:pt x="100668" y="111677"/>
                  <a:pt x="106601" y="111677"/>
                </a:cubicBezTo>
                <a:close/>
                <a:moveTo>
                  <a:pt x="119292" y="30457"/>
                </a:moveTo>
                <a:cubicBezTo>
                  <a:pt x="126296" y="30457"/>
                  <a:pt x="131982" y="36144"/>
                  <a:pt x="131982" y="43148"/>
                </a:cubicBezTo>
                <a:cubicBezTo>
                  <a:pt x="131982" y="50152"/>
                  <a:pt x="126296" y="55839"/>
                  <a:pt x="119292" y="55839"/>
                </a:cubicBezTo>
                <a:cubicBezTo>
                  <a:pt x="112288" y="55839"/>
                  <a:pt x="106601" y="50152"/>
                  <a:pt x="106601" y="43148"/>
                </a:cubicBezTo>
                <a:cubicBezTo>
                  <a:pt x="106601" y="36144"/>
                  <a:pt x="112288" y="30457"/>
                  <a:pt x="119292" y="30457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825735" y="5617816"/>
            <a:ext cx="730979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9" dirty="0">
                <a:solidFill>
                  <a:srgbClr val="E0E2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mama ShuHeiTi" pitchFamily="34" charset="-120"/>
              </a:rPr>
              <a:t>实现要点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234" y="5978793"/>
            <a:ext cx="67683" cy="108293"/>
          </a:xfrm>
          <a:custGeom>
            <a:avLst/>
            <a:gdLst/>
            <a:ahLst/>
            <a:cxnLst/>
            <a:rect l="l" t="t" r="r" b="b"/>
            <a:pathLst>
              <a:path w="67683" h="108293">
                <a:moveTo>
                  <a:pt x="65801" y="49366"/>
                </a:moveTo>
                <a:cubicBezTo>
                  <a:pt x="68445" y="52010"/>
                  <a:pt x="68445" y="56304"/>
                  <a:pt x="65801" y="58948"/>
                </a:cubicBezTo>
                <a:lnTo>
                  <a:pt x="25191" y="99558"/>
                </a:lnTo>
                <a:cubicBezTo>
                  <a:pt x="22547" y="102202"/>
                  <a:pt x="18253" y="102202"/>
                  <a:pt x="15609" y="99558"/>
                </a:cubicBezTo>
                <a:cubicBezTo>
                  <a:pt x="12966" y="96914"/>
                  <a:pt x="12966" y="92620"/>
                  <a:pt x="15609" y="89976"/>
                </a:cubicBezTo>
                <a:lnTo>
                  <a:pt x="51439" y="54147"/>
                </a:lnTo>
                <a:lnTo>
                  <a:pt x="15631" y="18317"/>
                </a:lnTo>
                <a:cubicBezTo>
                  <a:pt x="12987" y="15673"/>
                  <a:pt x="12987" y="11379"/>
                  <a:pt x="15631" y="8735"/>
                </a:cubicBezTo>
                <a:cubicBezTo>
                  <a:pt x="18274" y="6091"/>
                  <a:pt x="22568" y="6091"/>
                  <a:pt x="25212" y="8735"/>
                </a:cubicBezTo>
                <a:lnTo>
                  <a:pt x="65822" y="49345"/>
                </a:ln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721954" y="5942696"/>
            <a:ext cx="2472693" cy="189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D4A26A"/>
                </a:solidFill>
                <a:highlight>
                  <a:srgbClr val="2C3238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Attention </a:t>
            </a:r>
            <a:r>
              <a:rPr lang="en-US" sz="995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类统一承载 MHA/MQA/GQA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8234" y="6235990"/>
            <a:ext cx="67683" cy="108293"/>
          </a:xfrm>
          <a:custGeom>
            <a:avLst/>
            <a:gdLst/>
            <a:ahLst/>
            <a:cxnLst/>
            <a:rect l="l" t="t" r="r" b="b"/>
            <a:pathLst>
              <a:path w="67683" h="108293">
                <a:moveTo>
                  <a:pt x="65801" y="49366"/>
                </a:moveTo>
                <a:cubicBezTo>
                  <a:pt x="68445" y="52010"/>
                  <a:pt x="68445" y="56304"/>
                  <a:pt x="65801" y="58948"/>
                </a:cubicBezTo>
                <a:lnTo>
                  <a:pt x="25191" y="99558"/>
                </a:lnTo>
                <a:cubicBezTo>
                  <a:pt x="22547" y="102202"/>
                  <a:pt x="18253" y="102202"/>
                  <a:pt x="15609" y="99558"/>
                </a:cubicBezTo>
                <a:cubicBezTo>
                  <a:pt x="12966" y="96914"/>
                  <a:pt x="12966" y="92620"/>
                  <a:pt x="15609" y="89976"/>
                </a:cubicBezTo>
                <a:lnTo>
                  <a:pt x="51439" y="54147"/>
                </a:lnTo>
                <a:lnTo>
                  <a:pt x="15631" y="18317"/>
                </a:lnTo>
                <a:cubicBezTo>
                  <a:pt x="12987" y="15673"/>
                  <a:pt x="12987" y="11379"/>
                  <a:pt x="15631" y="8735"/>
                </a:cubicBezTo>
                <a:cubicBezTo>
                  <a:pt x="18274" y="6091"/>
                  <a:pt x="22568" y="6091"/>
                  <a:pt x="25212" y="8735"/>
                </a:cubicBezTo>
                <a:lnTo>
                  <a:pt x="65822" y="49345"/>
                </a:ln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721954" y="6199892"/>
            <a:ext cx="3339038" cy="189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 </a:t>
            </a:r>
            <a:r>
              <a:rPr lang="en-US" sz="995" dirty="0">
                <a:solidFill>
                  <a:srgbClr val="D4A26A"/>
                </a:solidFill>
                <a:highlight>
                  <a:srgbClr val="2C3238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num_heads </a:t>
            </a:r>
            <a:r>
              <a:rPr lang="en-US" sz="995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与 </a:t>
            </a:r>
            <a:r>
              <a:rPr lang="en-US" sz="995" dirty="0">
                <a:solidFill>
                  <a:srgbClr val="D4A26A"/>
                </a:solidFill>
                <a:highlight>
                  <a:srgbClr val="2C3238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num_kv_heads </a:t>
            </a:r>
            <a:r>
              <a:rPr lang="en-US" sz="995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关系区分三种模式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8234" y="6493186"/>
            <a:ext cx="67683" cy="108293"/>
          </a:xfrm>
          <a:custGeom>
            <a:avLst/>
            <a:gdLst/>
            <a:ahLst/>
            <a:cxnLst/>
            <a:rect l="l" t="t" r="r" b="b"/>
            <a:pathLst>
              <a:path w="67683" h="108293">
                <a:moveTo>
                  <a:pt x="65801" y="49366"/>
                </a:moveTo>
                <a:cubicBezTo>
                  <a:pt x="68445" y="52010"/>
                  <a:pt x="68445" y="56304"/>
                  <a:pt x="65801" y="58948"/>
                </a:cubicBezTo>
                <a:lnTo>
                  <a:pt x="25191" y="99558"/>
                </a:lnTo>
                <a:cubicBezTo>
                  <a:pt x="22547" y="102202"/>
                  <a:pt x="18253" y="102202"/>
                  <a:pt x="15609" y="99558"/>
                </a:cubicBezTo>
                <a:cubicBezTo>
                  <a:pt x="12966" y="96914"/>
                  <a:pt x="12966" y="92620"/>
                  <a:pt x="15609" y="89976"/>
                </a:cubicBezTo>
                <a:lnTo>
                  <a:pt x="51439" y="54147"/>
                </a:lnTo>
                <a:lnTo>
                  <a:pt x="15631" y="18317"/>
                </a:lnTo>
                <a:cubicBezTo>
                  <a:pt x="12987" y="15673"/>
                  <a:pt x="12987" y="11379"/>
                  <a:pt x="15631" y="8735"/>
                </a:cubicBezTo>
                <a:cubicBezTo>
                  <a:pt x="18274" y="6091"/>
                  <a:pt x="22568" y="6091"/>
                  <a:pt x="25212" y="8735"/>
                </a:cubicBezTo>
                <a:lnTo>
                  <a:pt x="65822" y="49345"/>
                </a:ln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721954" y="6457088"/>
            <a:ext cx="1922203" cy="189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标准路径固定 </a:t>
            </a:r>
            <a:r>
              <a:rPr lang="en-US" sz="995" dirty="0">
                <a:solidFill>
                  <a:srgbClr val="D4A26A"/>
                </a:solidFill>
                <a:highlight>
                  <a:srgbClr val="2C3238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use_mla=False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09299" y="979150"/>
            <a:ext cx="5622218" cy="4485140"/>
          </a:xfrm>
          <a:custGeom>
            <a:avLst/>
            <a:gdLst/>
            <a:ahLst/>
            <a:cxnLst/>
            <a:rect l="l" t="t" r="r" b="b"/>
            <a:pathLst>
              <a:path w="5622218" h="4485140">
                <a:moveTo>
                  <a:pt x="108271" y="0"/>
                </a:moveTo>
                <a:lnTo>
                  <a:pt x="5513946" y="0"/>
                </a:lnTo>
                <a:cubicBezTo>
                  <a:pt x="5573743" y="0"/>
                  <a:pt x="5622218" y="48475"/>
                  <a:pt x="5622218" y="108271"/>
                </a:cubicBezTo>
                <a:lnTo>
                  <a:pt x="5622218" y="4376869"/>
                </a:lnTo>
                <a:cubicBezTo>
                  <a:pt x="5622218" y="4436665"/>
                  <a:pt x="5573743" y="4485140"/>
                  <a:pt x="5513946" y="4485140"/>
                </a:cubicBezTo>
                <a:lnTo>
                  <a:pt x="108271" y="4485140"/>
                </a:lnTo>
                <a:cubicBezTo>
                  <a:pt x="48475" y="4485140"/>
                  <a:pt x="0" y="4436665"/>
                  <a:pt x="0" y="4376869"/>
                </a:cubicBezTo>
                <a:lnTo>
                  <a:pt x="0" y="108271"/>
                </a:lnTo>
                <a:cubicBezTo>
                  <a:pt x="0" y="48515"/>
                  <a:pt x="48515" y="0"/>
                  <a:pt x="108271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6405580" y="1200249"/>
            <a:ext cx="203050" cy="180489"/>
          </a:xfrm>
          <a:custGeom>
            <a:avLst/>
            <a:gdLst/>
            <a:ahLst/>
            <a:cxnLst/>
            <a:rect l="l" t="t" r="r" b="b"/>
            <a:pathLst>
              <a:path w="203050" h="180489">
                <a:moveTo>
                  <a:pt x="127188" y="423"/>
                </a:moveTo>
                <a:cubicBezTo>
                  <a:pt x="121195" y="-1304"/>
                  <a:pt x="114956" y="2186"/>
                  <a:pt x="113228" y="8178"/>
                </a:cubicBezTo>
                <a:lnTo>
                  <a:pt x="68106" y="166106"/>
                </a:lnTo>
                <a:cubicBezTo>
                  <a:pt x="66379" y="172099"/>
                  <a:pt x="69869" y="178338"/>
                  <a:pt x="75862" y="180066"/>
                </a:cubicBezTo>
                <a:cubicBezTo>
                  <a:pt x="81854" y="181793"/>
                  <a:pt x="88094" y="178303"/>
                  <a:pt x="89821" y="172310"/>
                </a:cubicBezTo>
                <a:lnTo>
                  <a:pt x="134943" y="14383"/>
                </a:lnTo>
                <a:cubicBezTo>
                  <a:pt x="136671" y="8390"/>
                  <a:pt x="133181" y="2150"/>
                  <a:pt x="127188" y="423"/>
                </a:cubicBezTo>
                <a:close/>
                <a:moveTo>
                  <a:pt x="149961" y="48401"/>
                </a:moveTo>
                <a:cubicBezTo>
                  <a:pt x="145554" y="52807"/>
                  <a:pt x="145554" y="59963"/>
                  <a:pt x="149961" y="64370"/>
                </a:cubicBezTo>
                <a:lnTo>
                  <a:pt x="175835" y="90244"/>
                </a:lnTo>
                <a:lnTo>
                  <a:pt x="149961" y="116119"/>
                </a:lnTo>
                <a:cubicBezTo>
                  <a:pt x="145554" y="120525"/>
                  <a:pt x="145554" y="127682"/>
                  <a:pt x="149961" y="132088"/>
                </a:cubicBezTo>
                <a:cubicBezTo>
                  <a:pt x="154367" y="136494"/>
                  <a:pt x="161523" y="136494"/>
                  <a:pt x="165930" y="132088"/>
                </a:cubicBezTo>
                <a:lnTo>
                  <a:pt x="199771" y="98246"/>
                </a:lnTo>
                <a:cubicBezTo>
                  <a:pt x="204178" y="93840"/>
                  <a:pt x="204178" y="86684"/>
                  <a:pt x="199771" y="82277"/>
                </a:cubicBezTo>
                <a:lnTo>
                  <a:pt x="165930" y="48436"/>
                </a:lnTo>
                <a:cubicBezTo>
                  <a:pt x="161523" y="44029"/>
                  <a:pt x="154367" y="44029"/>
                  <a:pt x="149961" y="48436"/>
                </a:cubicBezTo>
                <a:close/>
                <a:moveTo>
                  <a:pt x="53124" y="48401"/>
                </a:moveTo>
                <a:cubicBezTo>
                  <a:pt x="48718" y="43994"/>
                  <a:pt x="41562" y="43994"/>
                  <a:pt x="37155" y="48401"/>
                </a:cubicBezTo>
                <a:lnTo>
                  <a:pt x="3314" y="82242"/>
                </a:lnTo>
                <a:cubicBezTo>
                  <a:pt x="-1093" y="86649"/>
                  <a:pt x="-1093" y="93805"/>
                  <a:pt x="3314" y="98211"/>
                </a:cubicBezTo>
                <a:lnTo>
                  <a:pt x="37155" y="132053"/>
                </a:lnTo>
                <a:cubicBezTo>
                  <a:pt x="41562" y="136459"/>
                  <a:pt x="48718" y="136459"/>
                  <a:pt x="53124" y="132053"/>
                </a:cubicBezTo>
                <a:cubicBezTo>
                  <a:pt x="57531" y="127646"/>
                  <a:pt x="57531" y="120490"/>
                  <a:pt x="53124" y="116084"/>
                </a:cubicBezTo>
                <a:lnTo>
                  <a:pt x="27250" y="90244"/>
                </a:lnTo>
                <a:lnTo>
                  <a:pt x="53089" y="64370"/>
                </a:lnTo>
                <a:cubicBezTo>
                  <a:pt x="57495" y="59963"/>
                  <a:pt x="57495" y="52807"/>
                  <a:pt x="53089" y="48401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6728203" y="1164151"/>
            <a:ext cx="1173175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1" dirty="0">
                <a:solidFill>
                  <a:srgbClr val="E0E2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mama ShuHeiTi" pitchFamily="34" charset="-120"/>
              </a:rPr>
              <a:t>关键代码实现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94300" y="1561226"/>
            <a:ext cx="5252216" cy="1877081"/>
          </a:xfrm>
          <a:custGeom>
            <a:avLst/>
            <a:gdLst/>
            <a:ahLst/>
            <a:cxnLst/>
            <a:rect l="l" t="t" r="r" b="b"/>
            <a:pathLst>
              <a:path w="5252216" h="1877081">
                <a:moveTo>
                  <a:pt x="72193" y="0"/>
                </a:moveTo>
                <a:lnTo>
                  <a:pt x="5180024" y="0"/>
                </a:lnTo>
                <a:cubicBezTo>
                  <a:pt x="5219894" y="0"/>
                  <a:pt x="5252216" y="32322"/>
                  <a:pt x="5252216" y="72193"/>
                </a:cubicBezTo>
                <a:lnTo>
                  <a:pt x="5252216" y="1804888"/>
                </a:lnTo>
                <a:cubicBezTo>
                  <a:pt x="5252216" y="1844759"/>
                  <a:pt x="5219894" y="1877081"/>
                  <a:pt x="5180024" y="1877081"/>
                </a:cubicBezTo>
                <a:lnTo>
                  <a:pt x="72193" y="1877081"/>
                </a:lnTo>
                <a:cubicBezTo>
                  <a:pt x="32322" y="1877081"/>
                  <a:pt x="0" y="1844759"/>
                  <a:pt x="0" y="1804888"/>
                </a:cubicBezTo>
                <a:lnTo>
                  <a:pt x="0" y="72193"/>
                </a:lnTo>
                <a:cubicBezTo>
                  <a:pt x="0" y="32348"/>
                  <a:pt x="32348" y="0"/>
                  <a:pt x="72193" y="0"/>
                </a:cubicBezTo>
                <a:close/>
              </a:path>
            </a:pathLst>
          </a:custGeom>
          <a:solidFill>
            <a:srgbClr val="2C323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6502593" y="1669519"/>
            <a:ext cx="5089776" cy="144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3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vllm/model_executor/layers/attention/attention.py::Attention.__init__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502593" y="1895130"/>
            <a:ext cx="2748290" cy="1425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3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 attn_backend is None: self.attn_backend = get_attn_backend( head_size, dtype, kv_cache_dtype, use_mla=False, # 标准 MHA/MQA/GQA has_sink=self.has_sink, use_mm_prefix=self.use_mm_prefix, attn_type=attn_type, )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94300" y="3546600"/>
            <a:ext cx="5252216" cy="1732690"/>
          </a:xfrm>
          <a:custGeom>
            <a:avLst/>
            <a:gdLst/>
            <a:ahLst/>
            <a:cxnLst/>
            <a:rect l="l" t="t" r="r" b="b"/>
            <a:pathLst>
              <a:path w="5252216" h="1732690">
                <a:moveTo>
                  <a:pt x="72201" y="0"/>
                </a:moveTo>
                <a:lnTo>
                  <a:pt x="5180015" y="0"/>
                </a:lnTo>
                <a:cubicBezTo>
                  <a:pt x="5219891" y="0"/>
                  <a:pt x="5252216" y="32326"/>
                  <a:pt x="5252216" y="72201"/>
                </a:cubicBezTo>
                <a:lnTo>
                  <a:pt x="5252216" y="1660489"/>
                </a:lnTo>
                <a:cubicBezTo>
                  <a:pt x="5252216" y="1700364"/>
                  <a:pt x="5219891" y="1732690"/>
                  <a:pt x="5180015" y="1732690"/>
                </a:cubicBezTo>
                <a:lnTo>
                  <a:pt x="72201" y="1732690"/>
                </a:lnTo>
                <a:cubicBezTo>
                  <a:pt x="32326" y="1732690"/>
                  <a:pt x="0" y="1700364"/>
                  <a:pt x="0" y="1660489"/>
                </a:cubicBezTo>
                <a:lnTo>
                  <a:pt x="0" y="72201"/>
                </a:lnTo>
                <a:cubicBezTo>
                  <a:pt x="0" y="32352"/>
                  <a:pt x="32352" y="0"/>
                  <a:pt x="72201" y="0"/>
                </a:cubicBezTo>
                <a:close/>
              </a:path>
            </a:pathLst>
          </a:custGeom>
          <a:solidFill>
            <a:srgbClr val="2C323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6502593" y="3654893"/>
            <a:ext cx="5089776" cy="144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3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vllm/model_executor/layers/attention/attention.py::get_kv_cache_spec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502593" y="3880503"/>
            <a:ext cx="2596920" cy="1281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3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 self.sliding_window is not None: return SlidingWindowSpec( block_size=block_size, num_kv_heads=self.num_kv_heads, head_size=self.head_size, ... ) else: return FullAttentionSpec(...)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09299" y="5554645"/>
            <a:ext cx="5622218" cy="1236346"/>
          </a:xfrm>
          <a:custGeom>
            <a:avLst/>
            <a:gdLst/>
            <a:ahLst/>
            <a:cxnLst/>
            <a:rect l="l" t="t" r="r" b="b"/>
            <a:pathLst>
              <a:path w="5622218" h="1236346">
                <a:moveTo>
                  <a:pt x="108292" y="0"/>
                </a:moveTo>
                <a:lnTo>
                  <a:pt x="5513926" y="0"/>
                </a:lnTo>
                <a:cubicBezTo>
                  <a:pt x="5573694" y="0"/>
                  <a:pt x="5622218" y="48524"/>
                  <a:pt x="5622218" y="108292"/>
                </a:cubicBezTo>
                <a:lnTo>
                  <a:pt x="5622218" y="1128055"/>
                </a:lnTo>
                <a:cubicBezTo>
                  <a:pt x="5622218" y="1187823"/>
                  <a:pt x="5573694" y="1236346"/>
                  <a:pt x="5513926" y="1236346"/>
                </a:cubicBezTo>
                <a:lnTo>
                  <a:pt x="108292" y="1236346"/>
                </a:lnTo>
                <a:cubicBezTo>
                  <a:pt x="48524" y="1236346"/>
                  <a:pt x="0" y="1187823"/>
                  <a:pt x="0" y="1128055"/>
                </a:cubicBezTo>
                <a:lnTo>
                  <a:pt x="0" y="108292"/>
                </a:lnTo>
                <a:cubicBezTo>
                  <a:pt x="0" y="48524"/>
                  <a:pt x="48524" y="0"/>
                  <a:pt x="108292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6380763" y="5748671"/>
            <a:ext cx="162440" cy="162440"/>
          </a:xfrm>
          <a:custGeom>
            <a:avLst/>
            <a:gdLst/>
            <a:ahLst/>
            <a:cxnLst/>
            <a:rect l="l" t="t" r="r" b="b"/>
            <a:pathLst>
              <a:path w="162440" h="162440">
                <a:moveTo>
                  <a:pt x="73764" y="1650"/>
                </a:moveTo>
                <a:cubicBezTo>
                  <a:pt x="78491" y="-539"/>
                  <a:pt x="83948" y="-539"/>
                  <a:pt x="88676" y="1650"/>
                </a:cubicBezTo>
                <a:lnTo>
                  <a:pt x="158030" y="33694"/>
                </a:lnTo>
                <a:cubicBezTo>
                  <a:pt x="160726" y="34931"/>
                  <a:pt x="162440" y="37628"/>
                  <a:pt x="162440" y="40610"/>
                </a:cubicBezTo>
                <a:cubicBezTo>
                  <a:pt x="162440" y="43592"/>
                  <a:pt x="160726" y="46289"/>
                  <a:pt x="158030" y="47526"/>
                </a:cubicBezTo>
                <a:lnTo>
                  <a:pt x="88676" y="79570"/>
                </a:lnTo>
                <a:cubicBezTo>
                  <a:pt x="83948" y="81759"/>
                  <a:pt x="78491" y="81759"/>
                  <a:pt x="73764" y="79570"/>
                </a:cubicBezTo>
                <a:lnTo>
                  <a:pt x="4410" y="47526"/>
                </a:lnTo>
                <a:cubicBezTo>
                  <a:pt x="1713" y="46257"/>
                  <a:pt x="0" y="43560"/>
                  <a:pt x="0" y="40610"/>
                </a:cubicBezTo>
                <a:cubicBezTo>
                  <a:pt x="0" y="37659"/>
                  <a:pt x="1713" y="34931"/>
                  <a:pt x="4410" y="33694"/>
                </a:cubicBezTo>
                <a:lnTo>
                  <a:pt x="73764" y="1650"/>
                </a:lnTo>
                <a:close/>
                <a:moveTo>
                  <a:pt x="15260" y="69291"/>
                </a:moveTo>
                <a:lnTo>
                  <a:pt x="67387" y="93371"/>
                </a:lnTo>
                <a:cubicBezTo>
                  <a:pt x="76175" y="97432"/>
                  <a:pt x="86296" y="97432"/>
                  <a:pt x="95084" y="93371"/>
                </a:cubicBezTo>
                <a:lnTo>
                  <a:pt x="147211" y="69291"/>
                </a:lnTo>
                <a:lnTo>
                  <a:pt x="158030" y="74303"/>
                </a:lnTo>
                <a:cubicBezTo>
                  <a:pt x="160726" y="75541"/>
                  <a:pt x="162440" y="78238"/>
                  <a:pt x="162440" y="81220"/>
                </a:cubicBezTo>
                <a:cubicBezTo>
                  <a:pt x="162440" y="84202"/>
                  <a:pt x="160726" y="86899"/>
                  <a:pt x="158030" y="88136"/>
                </a:cubicBezTo>
                <a:lnTo>
                  <a:pt x="88676" y="120180"/>
                </a:lnTo>
                <a:cubicBezTo>
                  <a:pt x="83948" y="122369"/>
                  <a:pt x="78491" y="122369"/>
                  <a:pt x="73764" y="120180"/>
                </a:cubicBezTo>
                <a:lnTo>
                  <a:pt x="4410" y="88136"/>
                </a:lnTo>
                <a:cubicBezTo>
                  <a:pt x="1713" y="86867"/>
                  <a:pt x="0" y="84170"/>
                  <a:pt x="0" y="81220"/>
                </a:cubicBezTo>
                <a:cubicBezTo>
                  <a:pt x="0" y="78269"/>
                  <a:pt x="1713" y="75541"/>
                  <a:pt x="4410" y="74303"/>
                </a:cubicBezTo>
                <a:lnTo>
                  <a:pt x="15229" y="69291"/>
                </a:lnTo>
                <a:close/>
                <a:moveTo>
                  <a:pt x="4410" y="114913"/>
                </a:moveTo>
                <a:lnTo>
                  <a:pt x="15229" y="109901"/>
                </a:lnTo>
                <a:lnTo>
                  <a:pt x="67355" y="133981"/>
                </a:lnTo>
                <a:cubicBezTo>
                  <a:pt x="76144" y="138042"/>
                  <a:pt x="86264" y="138042"/>
                  <a:pt x="95053" y="133981"/>
                </a:cubicBezTo>
                <a:lnTo>
                  <a:pt x="147179" y="109901"/>
                </a:lnTo>
                <a:lnTo>
                  <a:pt x="157998" y="114913"/>
                </a:lnTo>
                <a:cubicBezTo>
                  <a:pt x="160695" y="116151"/>
                  <a:pt x="162408" y="118847"/>
                  <a:pt x="162408" y="121830"/>
                </a:cubicBezTo>
                <a:cubicBezTo>
                  <a:pt x="162408" y="124812"/>
                  <a:pt x="160695" y="127509"/>
                  <a:pt x="157998" y="128746"/>
                </a:cubicBezTo>
                <a:lnTo>
                  <a:pt x="88644" y="160790"/>
                </a:lnTo>
                <a:cubicBezTo>
                  <a:pt x="83917" y="162979"/>
                  <a:pt x="78460" y="162979"/>
                  <a:pt x="73732" y="160790"/>
                </a:cubicBezTo>
                <a:lnTo>
                  <a:pt x="4410" y="128746"/>
                </a:lnTo>
                <a:cubicBezTo>
                  <a:pt x="1713" y="127477"/>
                  <a:pt x="0" y="124780"/>
                  <a:pt x="0" y="121830"/>
                </a:cubicBezTo>
                <a:cubicBezTo>
                  <a:pt x="0" y="118879"/>
                  <a:pt x="1713" y="116151"/>
                  <a:pt x="4410" y="114913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6669545" y="5703548"/>
            <a:ext cx="1209273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9" dirty="0">
                <a:solidFill>
                  <a:srgbClr val="E0E2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mama ShuHeiTi" pitchFamily="34" charset="-120"/>
              </a:rPr>
              <a:t>KV Cache 规格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58202" y="6064525"/>
            <a:ext cx="2608059" cy="577563"/>
          </a:xfrm>
          <a:custGeom>
            <a:avLst/>
            <a:gdLst/>
            <a:ahLst/>
            <a:cxnLst/>
            <a:rect l="l" t="t" r="r" b="b"/>
            <a:pathLst>
              <a:path w="2608059" h="577563">
                <a:moveTo>
                  <a:pt x="72195" y="0"/>
                </a:moveTo>
                <a:lnTo>
                  <a:pt x="2535864" y="0"/>
                </a:lnTo>
                <a:cubicBezTo>
                  <a:pt x="2575736" y="0"/>
                  <a:pt x="2608059" y="32323"/>
                  <a:pt x="2608059" y="72195"/>
                </a:cubicBezTo>
                <a:lnTo>
                  <a:pt x="2608059" y="505368"/>
                </a:lnTo>
                <a:cubicBezTo>
                  <a:pt x="2608059" y="545240"/>
                  <a:pt x="2575736" y="577563"/>
                  <a:pt x="2535864" y="577563"/>
                </a:cubicBezTo>
                <a:lnTo>
                  <a:pt x="72195" y="577563"/>
                </a:lnTo>
                <a:cubicBezTo>
                  <a:pt x="32323" y="577563"/>
                  <a:pt x="0" y="545240"/>
                  <a:pt x="0" y="505368"/>
                </a:cubicBezTo>
                <a:lnTo>
                  <a:pt x="0" y="72195"/>
                </a:lnTo>
                <a:cubicBezTo>
                  <a:pt x="0" y="32323"/>
                  <a:pt x="32323" y="0"/>
                  <a:pt x="72195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6434910" y="6172819"/>
            <a:ext cx="2454644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5" b="1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SlidingWindowSpec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439422" y="6389405"/>
            <a:ext cx="2445620" cy="144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3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启用滑窗时返回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9072510" y="6064525"/>
            <a:ext cx="2608059" cy="577563"/>
          </a:xfrm>
          <a:custGeom>
            <a:avLst/>
            <a:gdLst/>
            <a:ahLst/>
            <a:cxnLst/>
            <a:rect l="l" t="t" r="r" b="b"/>
            <a:pathLst>
              <a:path w="2608059" h="577563">
                <a:moveTo>
                  <a:pt x="72195" y="0"/>
                </a:moveTo>
                <a:lnTo>
                  <a:pt x="2535864" y="0"/>
                </a:lnTo>
                <a:cubicBezTo>
                  <a:pt x="2575736" y="0"/>
                  <a:pt x="2608059" y="32323"/>
                  <a:pt x="2608059" y="72195"/>
                </a:cubicBezTo>
                <a:lnTo>
                  <a:pt x="2608059" y="505368"/>
                </a:lnTo>
                <a:cubicBezTo>
                  <a:pt x="2608059" y="545240"/>
                  <a:pt x="2575736" y="577563"/>
                  <a:pt x="2535864" y="577563"/>
                </a:cubicBezTo>
                <a:lnTo>
                  <a:pt x="72195" y="577563"/>
                </a:lnTo>
                <a:cubicBezTo>
                  <a:pt x="32323" y="577563"/>
                  <a:pt x="0" y="545240"/>
                  <a:pt x="0" y="505368"/>
                </a:cubicBezTo>
                <a:lnTo>
                  <a:pt x="0" y="72195"/>
                </a:lnTo>
                <a:cubicBezTo>
                  <a:pt x="0" y="32323"/>
                  <a:pt x="32323" y="0"/>
                  <a:pt x="72195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9149217" y="6172819"/>
            <a:ext cx="2454644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5" b="1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FullAttentionSpec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153729" y="6389405"/>
            <a:ext cx="2445620" cy="144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3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全量注意力默认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1e1b5bf130f0a24b0dd35bfeef7904977a3ab4bd.jpg"/>
          <p:cNvPicPr>
            <a:picLocks noChangeAspect="1"/>
          </p:cNvPicPr>
          <p:nvPr/>
        </p:nvPicPr>
        <p:blipFill>
          <a:blip r:embed="rId3">
            <a:alphaModFix amt="30000"/>
          </a:blip>
          <a:srcRect l="1444" r="1444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385763" y="1757363"/>
            <a:ext cx="1428750" cy="428625"/>
          </a:xfrm>
          <a:custGeom>
            <a:avLst/>
            <a:gdLst/>
            <a:ahLst/>
            <a:cxnLst/>
            <a:rect l="l" t="t" r="r" b="b"/>
            <a:pathLst>
              <a:path w="1428750" h="428625">
                <a:moveTo>
                  <a:pt x="76201" y="0"/>
                </a:moveTo>
                <a:lnTo>
                  <a:pt x="1352549" y="0"/>
                </a:lnTo>
                <a:cubicBezTo>
                  <a:pt x="1394634" y="0"/>
                  <a:pt x="1428750" y="34116"/>
                  <a:pt x="1428750" y="76201"/>
                </a:cubicBezTo>
                <a:lnTo>
                  <a:pt x="1428750" y="352424"/>
                </a:lnTo>
                <a:cubicBezTo>
                  <a:pt x="1428750" y="394509"/>
                  <a:pt x="1394634" y="428625"/>
                  <a:pt x="1352549" y="428625"/>
                </a:cubicBezTo>
                <a:lnTo>
                  <a:pt x="76201" y="428625"/>
                </a:lnTo>
                <a:cubicBezTo>
                  <a:pt x="34116" y="428625"/>
                  <a:pt x="0" y="394509"/>
                  <a:pt x="0" y="3524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 w="12700">
            <a:solidFill>
              <a:srgbClr val="D4A26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542925" y="1857375"/>
            <a:ext cx="1201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kern="0" spc="68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CHAPTER 03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419350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dirty="0">
                <a:solidFill>
                  <a:srgbClr val="E0E2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mama ShuHeiTi" pitchFamily="34" charset="-120"/>
              </a:rPr>
              <a:t>MLA: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dirty="0">
                <a:solidFill>
                  <a:srgbClr val="E0E2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mama ShuHeiTi" pitchFamily="34" charset="-120"/>
              </a:rPr>
              <a:t>多头潜在注意力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4362450"/>
            <a:ext cx="6515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低秩压缩与专用架构支持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通过潜变量替代显式KV存储，显著降低显存占用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1707" y="371707"/>
            <a:ext cx="11615854" cy="3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34" dirty="0">
                <a:solidFill>
                  <a:srgbClr val="E0E2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mama ShuHeiTi" pitchFamily="34" charset="-120"/>
              </a:rPr>
              <a:t>MLA原理与压缩收益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71707" y="817756"/>
            <a:ext cx="892098" cy="37171"/>
          </a:xfrm>
          <a:custGeom>
            <a:avLst/>
            <a:gdLst/>
            <a:ahLst/>
            <a:cxnLst/>
            <a:rect l="l" t="t" r="r" b="b"/>
            <a:pathLst>
              <a:path w="892098" h="37171">
                <a:moveTo>
                  <a:pt x="0" y="0"/>
                </a:moveTo>
                <a:lnTo>
                  <a:pt x="892098" y="0"/>
                </a:lnTo>
                <a:lnTo>
                  <a:pt x="892098" y="37171"/>
                </a:lnTo>
                <a:lnTo>
                  <a:pt x="0" y="37171"/>
                </a:lnTo>
                <a:lnTo>
                  <a:pt x="0" y="0"/>
                </a:ln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376354" y="1008256"/>
            <a:ext cx="5603488" cy="4339683"/>
          </a:xfrm>
          <a:custGeom>
            <a:avLst/>
            <a:gdLst/>
            <a:ahLst/>
            <a:cxnLst/>
            <a:rect l="l" t="t" r="r" b="b"/>
            <a:pathLst>
              <a:path w="5603488" h="4339683">
                <a:moveTo>
                  <a:pt x="111530" y="0"/>
                </a:moveTo>
                <a:lnTo>
                  <a:pt x="5491958" y="0"/>
                </a:lnTo>
                <a:cubicBezTo>
                  <a:pt x="5553554" y="0"/>
                  <a:pt x="5603488" y="49934"/>
                  <a:pt x="5603488" y="111530"/>
                </a:cubicBezTo>
                <a:lnTo>
                  <a:pt x="5603488" y="4228153"/>
                </a:lnTo>
                <a:cubicBezTo>
                  <a:pt x="5603488" y="4289749"/>
                  <a:pt x="5553554" y="4339683"/>
                  <a:pt x="5491958" y="4339683"/>
                </a:cubicBezTo>
                <a:lnTo>
                  <a:pt x="111530" y="4339683"/>
                </a:lnTo>
                <a:cubicBezTo>
                  <a:pt x="49934" y="4339683"/>
                  <a:pt x="0" y="4289749"/>
                  <a:pt x="0" y="4228153"/>
                </a:cubicBezTo>
                <a:lnTo>
                  <a:pt x="0" y="111530"/>
                </a:lnTo>
                <a:cubicBezTo>
                  <a:pt x="0" y="49975"/>
                  <a:pt x="49975" y="0"/>
                  <a:pt x="111530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90085" y="1235927"/>
            <a:ext cx="185854" cy="185854"/>
          </a:xfrm>
          <a:custGeom>
            <a:avLst/>
            <a:gdLst/>
            <a:ahLst/>
            <a:cxnLst/>
            <a:rect l="l" t="t" r="r" b="b"/>
            <a:pathLst>
              <a:path w="185854" h="185854">
                <a:moveTo>
                  <a:pt x="159536" y="2541"/>
                </a:moveTo>
                <a:cubicBezTo>
                  <a:pt x="162949" y="-871"/>
                  <a:pt x="168466" y="-871"/>
                  <a:pt x="171842" y="2541"/>
                </a:cubicBezTo>
                <a:lnTo>
                  <a:pt x="183458" y="14157"/>
                </a:lnTo>
                <a:cubicBezTo>
                  <a:pt x="186870" y="17569"/>
                  <a:pt x="186870" y="23087"/>
                  <a:pt x="183458" y="26462"/>
                </a:cubicBezTo>
                <a:lnTo>
                  <a:pt x="151877" y="58043"/>
                </a:lnTo>
                <a:lnTo>
                  <a:pt x="166034" y="72200"/>
                </a:lnTo>
                <a:cubicBezTo>
                  <a:pt x="168539" y="74704"/>
                  <a:pt x="169265" y="78443"/>
                  <a:pt x="167922" y="81710"/>
                </a:cubicBezTo>
                <a:cubicBezTo>
                  <a:pt x="166579" y="84977"/>
                  <a:pt x="163421" y="87119"/>
                  <a:pt x="159899" y="87119"/>
                </a:cubicBezTo>
                <a:lnTo>
                  <a:pt x="107628" y="87119"/>
                </a:lnTo>
                <a:cubicBezTo>
                  <a:pt x="102800" y="87119"/>
                  <a:pt x="98916" y="83235"/>
                  <a:pt x="98916" y="78407"/>
                </a:cubicBezTo>
                <a:lnTo>
                  <a:pt x="98916" y="26136"/>
                </a:lnTo>
                <a:cubicBezTo>
                  <a:pt x="98916" y="22615"/>
                  <a:pt x="101022" y="19420"/>
                  <a:pt x="104289" y="18077"/>
                </a:cubicBezTo>
                <a:cubicBezTo>
                  <a:pt x="107556" y="16734"/>
                  <a:pt x="111294" y="17460"/>
                  <a:pt x="113799" y="19965"/>
                </a:cubicBezTo>
                <a:lnTo>
                  <a:pt x="127956" y="34122"/>
                </a:lnTo>
                <a:lnTo>
                  <a:pt x="159536" y="2541"/>
                </a:lnTo>
                <a:close/>
                <a:moveTo>
                  <a:pt x="26317" y="98735"/>
                </a:moveTo>
                <a:lnTo>
                  <a:pt x="78589" y="98735"/>
                </a:lnTo>
                <a:cubicBezTo>
                  <a:pt x="83416" y="98735"/>
                  <a:pt x="87300" y="102619"/>
                  <a:pt x="87300" y="107447"/>
                </a:cubicBezTo>
                <a:lnTo>
                  <a:pt x="87300" y="159718"/>
                </a:lnTo>
                <a:cubicBezTo>
                  <a:pt x="87300" y="163239"/>
                  <a:pt x="85195" y="166433"/>
                  <a:pt x="81928" y="167776"/>
                </a:cubicBezTo>
                <a:cubicBezTo>
                  <a:pt x="78661" y="169120"/>
                  <a:pt x="74922" y="168394"/>
                  <a:pt x="72418" y="165889"/>
                </a:cubicBezTo>
                <a:lnTo>
                  <a:pt x="58261" y="151732"/>
                </a:lnTo>
                <a:lnTo>
                  <a:pt x="26680" y="183313"/>
                </a:lnTo>
                <a:cubicBezTo>
                  <a:pt x="23268" y="186725"/>
                  <a:pt x="17750" y="186725"/>
                  <a:pt x="14375" y="183313"/>
                </a:cubicBezTo>
                <a:lnTo>
                  <a:pt x="2759" y="171697"/>
                </a:lnTo>
                <a:cubicBezTo>
                  <a:pt x="-653" y="168285"/>
                  <a:pt x="-653" y="162767"/>
                  <a:pt x="2759" y="159391"/>
                </a:cubicBezTo>
                <a:lnTo>
                  <a:pt x="34339" y="127811"/>
                </a:lnTo>
                <a:lnTo>
                  <a:pt x="20183" y="113654"/>
                </a:lnTo>
                <a:cubicBezTo>
                  <a:pt x="17678" y="111149"/>
                  <a:pt x="16952" y="107410"/>
                  <a:pt x="18295" y="104143"/>
                </a:cubicBezTo>
                <a:cubicBezTo>
                  <a:pt x="19638" y="100876"/>
                  <a:pt x="22796" y="98735"/>
                  <a:pt x="26317" y="98735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910683" y="1198756"/>
            <a:ext cx="1208049" cy="26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3" dirty="0">
                <a:solidFill>
                  <a:srgbClr val="E0E2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mama ShuHeiTi" pitchFamily="34" charset="-120"/>
              </a:rPr>
              <a:t>低秩压缩原理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6854" y="1607634"/>
            <a:ext cx="5287537" cy="427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4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与传统 MHA 显式存储键值对不同，MLA 通过缓存低秩的潜变量（Latent Vector）与解耦的旋转位置编码（RoPE）分量来重建注意力，从而显著降低显存开销。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66854" y="2179134"/>
            <a:ext cx="5222488" cy="780585"/>
          </a:xfrm>
          <a:custGeom>
            <a:avLst/>
            <a:gdLst/>
            <a:ahLst/>
            <a:cxnLst/>
            <a:rect l="l" t="t" r="r" b="b"/>
            <a:pathLst>
              <a:path w="5222488" h="780585">
                <a:moveTo>
                  <a:pt x="74343" y="0"/>
                </a:moveTo>
                <a:lnTo>
                  <a:pt x="5148145" y="0"/>
                </a:lnTo>
                <a:cubicBezTo>
                  <a:pt x="5189203" y="0"/>
                  <a:pt x="5222488" y="33284"/>
                  <a:pt x="5222488" y="74343"/>
                </a:cubicBezTo>
                <a:lnTo>
                  <a:pt x="5222488" y="706242"/>
                </a:lnTo>
                <a:cubicBezTo>
                  <a:pt x="5222488" y="747301"/>
                  <a:pt x="5189203" y="780585"/>
                  <a:pt x="5148145" y="780585"/>
                </a:cubicBezTo>
                <a:lnTo>
                  <a:pt x="74343" y="780585"/>
                </a:lnTo>
                <a:cubicBezTo>
                  <a:pt x="33284" y="780585"/>
                  <a:pt x="0" y="747301"/>
                  <a:pt x="0" y="706242"/>
                </a:cubicBezTo>
                <a:lnTo>
                  <a:pt x="0" y="74343"/>
                </a:lnTo>
                <a:cubicBezTo>
                  <a:pt x="0" y="33312"/>
                  <a:pt x="33312" y="0"/>
                  <a:pt x="74343" y="0"/>
                </a:cubicBezTo>
                <a:close/>
              </a:path>
            </a:pathLst>
          </a:custGeom>
          <a:solidFill>
            <a:srgbClr val="2C323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83012" y="2327817"/>
            <a:ext cx="4990171" cy="185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4" b="1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MLA KV Cache 显存公式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78366" y="2588012"/>
            <a:ext cx="4999463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Memory</a:t>
            </a:r>
            <a:r>
              <a:rPr lang="en-US" sz="878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KV</a:t>
            </a:r>
            <a:r>
              <a:rPr lang="en-US" sz="117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≈ (R</a:t>
            </a:r>
            <a:r>
              <a:rPr lang="en-US" sz="878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kv_lora</a:t>
            </a:r>
            <a:r>
              <a:rPr lang="en-US" sz="117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+ D</a:t>
            </a:r>
            <a:r>
              <a:rPr lang="en-US" sz="878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qk_rope</a:t>
            </a:r>
            <a:r>
              <a:rPr lang="en-US" sz="117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 × sizeof(dtype)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854" y="3164159"/>
            <a:ext cx="74341" cy="74341"/>
          </a:xfrm>
          <a:custGeom>
            <a:avLst/>
            <a:gdLst/>
            <a:ahLst/>
            <a:cxnLst/>
            <a:rect l="l" t="t" r="r" b="b"/>
            <a:pathLst>
              <a:path w="74341" h="74341">
                <a:moveTo>
                  <a:pt x="37171" y="0"/>
                </a:moveTo>
                <a:lnTo>
                  <a:pt x="37171" y="0"/>
                </a:lnTo>
                <a:cubicBezTo>
                  <a:pt x="57700" y="0"/>
                  <a:pt x="74341" y="16642"/>
                  <a:pt x="74341" y="37171"/>
                </a:cubicBezTo>
                <a:lnTo>
                  <a:pt x="74341" y="37171"/>
                </a:lnTo>
                <a:cubicBezTo>
                  <a:pt x="74341" y="57700"/>
                  <a:pt x="57700" y="74341"/>
                  <a:pt x="37171" y="74341"/>
                </a:cubicBezTo>
                <a:lnTo>
                  <a:pt x="37171" y="74341"/>
                </a:lnTo>
                <a:cubicBezTo>
                  <a:pt x="16642" y="74341"/>
                  <a:pt x="0" y="57700"/>
                  <a:pt x="0" y="37171"/>
                </a:cubicBezTo>
                <a:lnTo>
                  <a:pt x="0" y="37171"/>
                </a:lnTo>
                <a:cubicBezTo>
                  <a:pt x="0" y="16642"/>
                  <a:pt x="16642" y="0"/>
                  <a:pt x="37171" y="0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715537" y="3108402"/>
            <a:ext cx="1440366" cy="185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4" b="1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Rkv_lora:</a:t>
            </a:r>
            <a:r>
              <a:rPr lang="en-US" sz="1024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低秩潜变量维度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6854" y="3424354"/>
            <a:ext cx="74341" cy="74341"/>
          </a:xfrm>
          <a:custGeom>
            <a:avLst/>
            <a:gdLst/>
            <a:ahLst/>
            <a:cxnLst/>
            <a:rect l="l" t="t" r="r" b="b"/>
            <a:pathLst>
              <a:path w="74341" h="74341">
                <a:moveTo>
                  <a:pt x="37171" y="0"/>
                </a:moveTo>
                <a:lnTo>
                  <a:pt x="37171" y="0"/>
                </a:lnTo>
                <a:cubicBezTo>
                  <a:pt x="57700" y="0"/>
                  <a:pt x="74341" y="16642"/>
                  <a:pt x="74341" y="37171"/>
                </a:cubicBezTo>
                <a:lnTo>
                  <a:pt x="74341" y="37171"/>
                </a:lnTo>
                <a:cubicBezTo>
                  <a:pt x="74341" y="57700"/>
                  <a:pt x="57700" y="74341"/>
                  <a:pt x="37171" y="74341"/>
                </a:cubicBezTo>
                <a:lnTo>
                  <a:pt x="37171" y="74341"/>
                </a:lnTo>
                <a:cubicBezTo>
                  <a:pt x="16642" y="74341"/>
                  <a:pt x="0" y="57700"/>
                  <a:pt x="0" y="37171"/>
                </a:cubicBezTo>
                <a:lnTo>
                  <a:pt x="0" y="37171"/>
                </a:lnTo>
                <a:cubicBezTo>
                  <a:pt x="0" y="16642"/>
                  <a:pt x="16642" y="0"/>
                  <a:pt x="37171" y="0"/>
                </a:cubicBezTo>
                <a:close/>
              </a:path>
            </a:pathLst>
          </a:custGeom>
          <a:solidFill>
            <a:srgbClr val="4A6D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715537" y="3368598"/>
            <a:ext cx="1681976" cy="185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4" b="1" dirty="0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Dqk_rope:</a:t>
            </a:r>
            <a:r>
              <a:rPr lang="en-US" sz="1024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解耦RoPE分量维度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76354" y="5463875"/>
            <a:ext cx="5603488" cy="1347439"/>
          </a:xfrm>
          <a:custGeom>
            <a:avLst/>
            <a:gdLst/>
            <a:ahLst/>
            <a:cxnLst/>
            <a:rect l="l" t="t" r="r" b="b"/>
            <a:pathLst>
              <a:path w="5603488" h="1347439">
                <a:moveTo>
                  <a:pt x="111514" y="0"/>
                </a:moveTo>
                <a:lnTo>
                  <a:pt x="5491974" y="0"/>
                </a:lnTo>
                <a:cubicBezTo>
                  <a:pt x="5553561" y="0"/>
                  <a:pt x="5603488" y="49927"/>
                  <a:pt x="5603488" y="111514"/>
                </a:cubicBezTo>
                <a:lnTo>
                  <a:pt x="5603488" y="1235925"/>
                </a:lnTo>
                <a:cubicBezTo>
                  <a:pt x="5603488" y="1297512"/>
                  <a:pt x="5553561" y="1347439"/>
                  <a:pt x="5491974" y="1347439"/>
                </a:cubicBezTo>
                <a:lnTo>
                  <a:pt x="111514" y="1347439"/>
                </a:lnTo>
                <a:cubicBezTo>
                  <a:pt x="49927" y="1347439"/>
                  <a:pt x="0" y="1297512"/>
                  <a:pt x="0" y="1235925"/>
                </a:cubicBezTo>
                <a:lnTo>
                  <a:pt x="0" y="111514"/>
                </a:lnTo>
                <a:cubicBezTo>
                  <a:pt x="0" y="49968"/>
                  <a:pt x="49968" y="0"/>
                  <a:pt x="111514" y="0"/>
                </a:cubicBezTo>
                <a:close/>
              </a:path>
            </a:pathLst>
          </a:custGeom>
          <a:solidFill>
            <a:srgbClr val="D4A26A">
              <a:alpha val="10196"/>
            </a:srgbClr>
          </a:solidFill>
          <a:ln w="12700">
            <a:solidFill>
              <a:srgbClr val="D4A26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573823" y="5663667"/>
            <a:ext cx="125451" cy="167268"/>
          </a:xfrm>
          <a:custGeom>
            <a:avLst/>
            <a:gdLst/>
            <a:ahLst/>
            <a:cxnLst/>
            <a:rect l="l" t="t" r="r" b="b"/>
            <a:pathLst>
              <a:path w="125451" h="167268">
                <a:moveTo>
                  <a:pt x="20909" y="0"/>
                </a:moveTo>
                <a:cubicBezTo>
                  <a:pt x="9376" y="0"/>
                  <a:pt x="0" y="9376"/>
                  <a:pt x="0" y="20909"/>
                </a:cubicBezTo>
                <a:lnTo>
                  <a:pt x="0" y="146360"/>
                </a:lnTo>
                <a:cubicBezTo>
                  <a:pt x="0" y="157892"/>
                  <a:pt x="9376" y="167268"/>
                  <a:pt x="20909" y="167268"/>
                </a:cubicBezTo>
                <a:lnTo>
                  <a:pt x="104543" y="167268"/>
                </a:lnTo>
                <a:cubicBezTo>
                  <a:pt x="116075" y="167268"/>
                  <a:pt x="125451" y="157892"/>
                  <a:pt x="125451" y="146360"/>
                </a:cubicBezTo>
                <a:lnTo>
                  <a:pt x="125451" y="20909"/>
                </a:lnTo>
                <a:cubicBezTo>
                  <a:pt x="125451" y="9376"/>
                  <a:pt x="116075" y="0"/>
                  <a:pt x="104543" y="0"/>
                </a:cubicBezTo>
                <a:lnTo>
                  <a:pt x="20909" y="0"/>
                </a:lnTo>
                <a:close/>
                <a:moveTo>
                  <a:pt x="31363" y="20909"/>
                </a:moveTo>
                <a:lnTo>
                  <a:pt x="94088" y="20909"/>
                </a:lnTo>
                <a:cubicBezTo>
                  <a:pt x="99871" y="20909"/>
                  <a:pt x="104543" y="25580"/>
                  <a:pt x="104543" y="31363"/>
                </a:cubicBezTo>
                <a:lnTo>
                  <a:pt x="104543" y="41817"/>
                </a:lnTo>
                <a:cubicBezTo>
                  <a:pt x="104543" y="47600"/>
                  <a:pt x="99871" y="52271"/>
                  <a:pt x="94088" y="52271"/>
                </a:cubicBezTo>
                <a:lnTo>
                  <a:pt x="31363" y="52271"/>
                </a:lnTo>
                <a:cubicBezTo>
                  <a:pt x="25580" y="52271"/>
                  <a:pt x="20909" y="47600"/>
                  <a:pt x="20909" y="41817"/>
                </a:cubicBezTo>
                <a:lnTo>
                  <a:pt x="20909" y="31363"/>
                </a:lnTo>
                <a:cubicBezTo>
                  <a:pt x="20909" y="25580"/>
                  <a:pt x="25580" y="20909"/>
                  <a:pt x="31363" y="20909"/>
                </a:cubicBezTo>
                <a:close/>
                <a:moveTo>
                  <a:pt x="36590" y="75793"/>
                </a:moveTo>
                <a:cubicBezTo>
                  <a:pt x="36590" y="80121"/>
                  <a:pt x="33077" y="83634"/>
                  <a:pt x="28749" y="83634"/>
                </a:cubicBezTo>
                <a:cubicBezTo>
                  <a:pt x="24422" y="83634"/>
                  <a:pt x="20909" y="80121"/>
                  <a:pt x="20909" y="75793"/>
                </a:cubicBezTo>
                <a:cubicBezTo>
                  <a:pt x="20909" y="71466"/>
                  <a:pt x="24422" y="67953"/>
                  <a:pt x="28749" y="67953"/>
                </a:cubicBezTo>
                <a:cubicBezTo>
                  <a:pt x="33077" y="67953"/>
                  <a:pt x="36590" y="71466"/>
                  <a:pt x="36590" y="75793"/>
                </a:cubicBezTo>
                <a:close/>
                <a:moveTo>
                  <a:pt x="62726" y="83634"/>
                </a:moveTo>
                <a:cubicBezTo>
                  <a:pt x="58398" y="83634"/>
                  <a:pt x="54885" y="80121"/>
                  <a:pt x="54885" y="75793"/>
                </a:cubicBezTo>
                <a:cubicBezTo>
                  <a:pt x="54885" y="71466"/>
                  <a:pt x="58398" y="67953"/>
                  <a:pt x="62726" y="67953"/>
                </a:cubicBezTo>
                <a:cubicBezTo>
                  <a:pt x="67053" y="67953"/>
                  <a:pt x="70566" y="71466"/>
                  <a:pt x="70566" y="75793"/>
                </a:cubicBezTo>
                <a:cubicBezTo>
                  <a:pt x="70566" y="80121"/>
                  <a:pt x="67053" y="83634"/>
                  <a:pt x="62726" y="83634"/>
                </a:cubicBezTo>
                <a:close/>
                <a:moveTo>
                  <a:pt x="104543" y="75793"/>
                </a:moveTo>
                <a:cubicBezTo>
                  <a:pt x="104543" y="80121"/>
                  <a:pt x="101029" y="83634"/>
                  <a:pt x="96702" y="83634"/>
                </a:cubicBezTo>
                <a:cubicBezTo>
                  <a:pt x="92375" y="83634"/>
                  <a:pt x="88861" y="80121"/>
                  <a:pt x="88861" y="75793"/>
                </a:cubicBezTo>
                <a:cubicBezTo>
                  <a:pt x="88861" y="71466"/>
                  <a:pt x="92375" y="67953"/>
                  <a:pt x="96702" y="67953"/>
                </a:cubicBezTo>
                <a:cubicBezTo>
                  <a:pt x="101029" y="67953"/>
                  <a:pt x="104543" y="71466"/>
                  <a:pt x="104543" y="75793"/>
                </a:cubicBezTo>
                <a:close/>
                <a:moveTo>
                  <a:pt x="28749" y="114997"/>
                </a:moveTo>
                <a:cubicBezTo>
                  <a:pt x="24422" y="114997"/>
                  <a:pt x="20909" y="111484"/>
                  <a:pt x="20909" y="107156"/>
                </a:cubicBezTo>
                <a:cubicBezTo>
                  <a:pt x="20909" y="102829"/>
                  <a:pt x="24422" y="99316"/>
                  <a:pt x="28749" y="99316"/>
                </a:cubicBezTo>
                <a:cubicBezTo>
                  <a:pt x="33077" y="99316"/>
                  <a:pt x="36590" y="102829"/>
                  <a:pt x="36590" y="107156"/>
                </a:cubicBezTo>
                <a:cubicBezTo>
                  <a:pt x="36590" y="111484"/>
                  <a:pt x="33077" y="114997"/>
                  <a:pt x="28749" y="114997"/>
                </a:cubicBezTo>
                <a:close/>
                <a:moveTo>
                  <a:pt x="70566" y="107156"/>
                </a:moveTo>
                <a:cubicBezTo>
                  <a:pt x="70566" y="111484"/>
                  <a:pt x="67053" y="114997"/>
                  <a:pt x="62726" y="114997"/>
                </a:cubicBezTo>
                <a:cubicBezTo>
                  <a:pt x="58398" y="114997"/>
                  <a:pt x="54885" y="111484"/>
                  <a:pt x="54885" y="107156"/>
                </a:cubicBezTo>
                <a:cubicBezTo>
                  <a:pt x="54885" y="102829"/>
                  <a:pt x="58398" y="99316"/>
                  <a:pt x="62726" y="99316"/>
                </a:cubicBezTo>
                <a:cubicBezTo>
                  <a:pt x="67053" y="99316"/>
                  <a:pt x="70566" y="102829"/>
                  <a:pt x="70566" y="107156"/>
                </a:cubicBezTo>
                <a:close/>
                <a:moveTo>
                  <a:pt x="96702" y="114997"/>
                </a:moveTo>
                <a:cubicBezTo>
                  <a:pt x="92375" y="114997"/>
                  <a:pt x="88861" y="111484"/>
                  <a:pt x="88861" y="107156"/>
                </a:cubicBezTo>
                <a:cubicBezTo>
                  <a:pt x="88861" y="102829"/>
                  <a:pt x="92375" y="99316"/>
                  <a:pt x="96702" y="99316"/>
                </a:cubicBezTo>
                <a:cubicBezTo>
                  <a:pt x="101029" y="99316"/>
                  <a:pt x="104543" y="102829"/>
                  <a:pt x="104543" y="107156"/>
                </a:cubicBezTo>
                <a:cubicBezTo>
                  <a:pt x="104543" y="111484"/>
                  <a:pt x="101029" y="114997"/>
                  <a:pt x="96702" y="114997"/>
                </a:cubicBezTo>
                <a:close/>
                <a:moveTo>
                  <a:pt x="20909" y="138519"/>
                </a:moveTo>
                <a:cubicBezTo>
                  <a:pt x="20909" y="134174"/>
                  <a:pt x="24404" y="130678"/>
                  <a:pt x="28749" y="130678"/>
                </a:cubicBezTo>
                <a:lnTo>
                  <a:pt x="65339" y="130678"/>
                </a:lnTo>
                <a:cubicBezTo>
                  <a:pt x="69684" y="130678"/>
                  <a:pt x="73180" y="134174"/>
                  <a:pt x="73180" y="138519"/>
                </a:cubicBezTo>
                <a:cubicBezTo>
                  <a:pt x="73180" y="142864"/>
                  <a:pt x="69684" y="146360"/>
                  <a:pt x="65339" y="146360"/>
                </a:cubicBezTo>
                <a:lnTo>
                  <a:pt x="28749" y="146360"/>
                </a:lnTo>
                <a:cubicBezTo>
                  <a:pt x="24404" y="146360"/>
                  <a:pt x="20909" y="142864"/>
                  <a:pt x="20909" y="138519"/>
                </a:cubicBezTo>
                <a:close/>
                <a:moveTo>
                  <a:pt x="96702" y="130678"/>
                </a:moveTo>
                <a:cubicBezTo>
                  <a:pt x="101047" y="130678"/>
                  <a:pt x="104543" y="134174"/>
                  <a:pt x="104543" y="138519"/>
                </a:cubicBezTo>
                <a:cubicBezTo>
                  <a:pt x="104543" y="142864"/>
                  <a:pt x="101047" y="146360"/>
                  <a:pt x="96702" y="146360"/>
                </a:cubicBezTo>
                <a:cubicBezTo>
                  <a:pt x="92357" y="146360"/>
                  <a:pt x="88861" y="142864"/>
                  <a:pt x="88861" y="138519"/>
                </a:cubicBezTo>
                <a:cubicBezTo>
                  <a:pt x="88861" y="134174"/>
                  <a:pt x="92357" y="130678"/>
                  <a:pt x="96702" y="130678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850280" y="5617204"/>
            <a:ext cx="1087244" cy="26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7" dirty="0">
                <a:solidFill>
                  <a:srgbClr val="E0E2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mama ShuHeiTi" pitchFamily="34" charset="-120"/>
              </a:rPr>
              <a:t>压缩效果估算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56399" y="5988911"/>
            <a:ext cx="113835" cy="130098"/>
          </a:xfrm>
          <a:custGeom>
            <a:avLst/>
            <a:gdLst/>
            <a:ahLst/>
            <a:cxnLst/>
            <a:rect l="l" t="t" r="r" b="b"/>
            <a:pathLst>
              <a:path w="113835" h="130098">
                <a:moveTo>
                  <a:pt x="113835" y="52293"/>
                </a:moveTo>
                <a:cubicBezTo>
                  <a:pt x="110075" y="54783"/>
                  <a:pt x="105755" y="56791"/>
                  <a:pt x="101258" y="58391"/>
                </a:cubicBezTo>
                <a:cubicBezTo>
                  <a:pt x="89315" y="62660"/>
                  <a:pt x="73637" y="65049"/>
                  <a:pt x="56918" y="65049"/>
                </a:cubicBezTo>
                <a:cubicBezTo>
                  <a:pt x="40198" y="65049"/>
                  <a:pt x="24495" y="62635"/>
                  <a:pt x="12578" y="58391"/>
                </a:cubicBezTo>
                <a:cubicBezTo>
                  <a:pt x="8106" y="56791"/>
                  <a:pt x="3761" y="54783"/>
                  <a:pt x="0" y="52293"/>
                </a:cubicBezTo>
                <a:lnTo>
                  <a:pt x="0" y="73180"/>
                </a:lnTo>
                <a:cubicBezTo>
                  <a:pt x="0" y="84411"/>
                  <a:pt x="25486" y="93508"/>
                  <a:pt x="56918" y="93508"/>
                </a:cubicBezTo>
                <a:cubicBezTo>
                  <a:pt x="88349" y="93508"/>
                  <a:pt x="113835" y="84411"/>
                  <a:pt x="113835" y="73180"/>
                </a:cubicBezTo>
                <a:lnTo>
                  <a:pt x="113835" y="52293"/>
                </a:lnTo>
                <a:close/>
                <a:moveTo>
                  <a:pt x="113835" y="32524"/>
                </a:moveTo>
                <a:lnTo>
                  <a:pt x="113835" y="20328"/>
                </a:lnTo>
                <a:cubicBezTo>
                  <a:pt x="113835" y="9097"/>
                  <a:pt x="88349" y="0"/>
                  <a:pt x="56918" y="0"/>
                </a:cubicBezTo>
                <a:cubicBezTo>
                  <a:pt x="25486" y="0"/>
                  <a:pt x="0" y="9097"/>
                  <a:pt x="0" y="20328"/>
                </a:cubicBezTo>
                <a:lnTo>
                  <a:pt x="0" y="32524"/>
                </a:lnTo>
                <a:cubicBezTo>
                  <a:pt x="0" y="43755"/>
                  <a:pt x="25486" y="52852"/>
                  <a:pt x="56918" y="52852"/>
                </a:cubicBezTo>
                <a:cubicBezTo>
                  <a:pt x="88349" y="52852"/>
                  <a:pt x="113835" y="43755"/>
                  <a:pt x="113835" y="32524"/>
                </a:cubicBezTo>
                <a:close/>
                <a:moveTo>
                  <a:pt x="101258" y="99047"/>
                </a:moveTo>
                <a:cubicBezTo>
                  <a:pt x="89340" y="103290"/>
                  <a:pt x="73663" y="105704"/>
                  <a:pt x="56918" y="105704"/>
                </a:cubicBezTo>
                <a:cubicBezTo>
                  <a:pt x="40173" y="105704"/>
                  <a:pt x="24495" y="103290"/>
                  <a:pt x="12578" y="99047"/>
                </a:cubicBezTo>
                <a:cubicBezTo>
                  <a:pt x="8106" y="97446"/>
                  <a:pt x="3761" y="95439"/>
                  <a:pt x="0" y="92949"/>
                </a:cubicBezTo>
                <a:lnTo>
                  <a:pt x="0" y="109770"/>
                </a:lnTo>
                <a:cubicBezTo>
                  <a:pt x="0" y="121001"/>
                  <a:pt x="25486" y="130098"/>
                  <a:pt x="56918" y="130098"/>
                </a:cubicBezTo>
                <a:cubicBezTo>
                  <a:pt x="88349" y="130098"/>
                  <a:pt x="113835" y="121001"/>
                  <a:pt x="113835" y="109770"/>
                </a:cubicBezTo>
                <a:lnTo>
                  <a:pt x="113835" y="92949"/>
                </a:lnTo>
                <a:cubicBezTo>
                  <a:pt x="110075" y="95439"/>
                  <a:pt x="105755" y="97446"/>
                  <a:pt x="101258" y="99047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766646" y="5951740"/>
            <a:ext cx="4330390" cy="185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4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以 DeepSeek-V3 为例: kv_lora_rank = 512, qk_rope_head_dim = 64, bf16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268" y="6249106"/>
            <a:ext cx="130098" cy="130098"/>
          </a:xfrm>
          <a:custGeom>
            <a:avLst/>
            <a:gdLst/>
            <a:ahLst/>
            <a:cxnLst/>
            <a:rect l="l" t="t" r="r" b="b"/>
            <a:pathLst>
              <a:path w="130098" h="130098">
                <a:moveTo>
                  <a:pt x="16262" y="16262"/>
                </a:moveTo>
                <a:cubicBezTo>
                  <a:pt x="16262" y="11765"/>
                  <a:pt x="12629" y="8131"/>
                  <a:pt x="8131" y="8131"/>
                </a:cubicBezTo>
                <a:cubicBezTo>
                  <a:pt x="3634" y="8131"/>
                  <a:pt x="0" y="11765"/>
                  <a:pt x="0" y="16262"/>
                </a:cubicBezTo>
                <a:lnTo>
                  <a:pt x="0" y="101639"/>
                </a:lnTo>
                <a:cubicBezTo>
                  <a:pt x="0" y="112870"/>
                  <a:pt x="9097" y="121966"/>
                  <a:pt x="20328" y="121966"/>
                </a:cubicBezTo>
                <a:lnTo>
                  <a:pt x="121966" y="121966"/>
                </a:lnTo>
                <a:cubicBezTo>
                  <a:pt x="126464" y="121966"/>
                  <a:pt x="130098" y="118333"/>
                  <a:pt x="130098" y="113835"/>
                </a:cubicBezTo>
                <a:cubicBezTo>
                  <a:pt x="130098" y="109338"/>
                  <a:pt x="126464" y="105704"/>
                  <a:pt x="121966" y="105704"/>
                </a:cubicBezTo>
                <a:lnTo>
                  <a:pt x="20328" y="105704"/>
                </a:lnTo>
                <a:cubicBezTo>
                  <a:pt x="18092" y="105704"/>
                  <a:pt x="16262" y="103875"/>
                  <a:pt x="16262" y="101639"/>
                </a:cubicBezTo>
                <a:lnTo>
                  <a:pt x="16262" y="16262"/>
                </a:lnTo>
                <a:close/>
                <a:moveTo>
                  <a:pt x="119578" y="38267"/>
                </a:moveTo>
                <a:cubicBezTo>
                  <a:pt x="122754" y="35091"/>
                  <a:pt x="122754" y="29933"/>
                  <a:pt x="119578" y="26756"/>
                </a:cubicBezTo>
                <a:cubicBezTo>
                  <a:pt x="116402" y="23580"/>
                  <a:pt x="111244" y="23580"/>
                  <a:pt x="108067" y="26756"/>
                </a:cubicBezTo>
                <a:lnTo>
                  <a:pt x="81311" y="53538"/>
                </a:lnTo>
                <a:lnTo>
                  <a:pt x="66726" y="38978"/>
                </a:lnTo>
                <a:cubicBezTo>
                  <a:pt x="63550" y="35802"/>
                  <a:pt x="58391" y="35802"/>
                  <a:pt x="55215" y="38978"/>
                </a:cubicBezTo>
                <a:lnTo>
                  <a:pt x="30822" y="63372"/>
                </a:lnTo>
                <a:cubicBezTo>
                  <a:pt x="27646" y="66548"/>
                  <a:pt x="27646" y="71706"/>
                  <a:pt x="30822" y="74882"/>
                </a:cubicBezTo>
                <a:cubicBezTo>
                  <a:pt x="33998" y="78059"/>
                  <a:pt x="39156" y="78059"/>
                  <a:pt x="42333" y="74882"/>
                </a:cubicBezTo>
                <a:lnTo>
                  <a:pt x="60983" y="56232"/>
                </a:lnTo>
                <a:lnTo>
                  <a:pt x="75568" y="70817"/>
                </a:lnTo>
                <a:cubicBezTo>
                  <a:pt x="78745" y="73993"/>
                  <a:pt x="83903" y="73993"/>
                  <a:pt x="87079" y="70817"/>
                </a:cubicBezTo>
                <a:lnTo>
                  <a:pt x="119603" y="38292"/>
                </a:ln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766646" y="6211936"/>
            <a:ext cx="1802780" cy="185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4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估算显存: </a:t>
            </a:r>
            <a:r>
              <a:rPr lang="en-US" sz="1024" b="1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1,152 字节/token/层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64530" y="6509301"/>
            <a:ext cx="97573" cy="130098"/>
          </a:xfrm>
          <a:custGeom>
            <a:avLst/>
            <a:gdLst/>
            <a:ahLst/>
            <a:cxnLst/>
            <a:rect l="l" t="t" r="r" b="b"/>
            <a:pathLst>
              <a:path w="97573" h="130098">
                <a:moveTo>
                  <a:pt x="43044" y="127709"/>
                </a:moveTo>
                <a:cubicBezTo>
                  <a:pt x="46220" y="130885"/>
                  <a:pt x="51378" y="130885"/>
                  <a:pt x="54555" y="127709"/>
                </a:cubicBezTo>
                <a:lnTo>
                  <a:pt x="95210" y="87054"/>
                </a:lnTo>
                <a:cubicBezTo>
                  <a:pt x="98386" y="83877"/>
                  <a:pt x="98386" y="78719"/>
                  <a:pt x="95210" y="75543"/>
                </a:cubicBezTo>
                <a:cubicBezTo>
                  <a:pt x="92034" y="72367"/>
                  <a:pt x="86876" y="72367"/>
                  <a:pt x="83699" y="75543"/>
                </a:cubicBezTo>
                <a:lnTo>
                  <a:pt x="56918" y="102325"/>
                </a:lnTo>
                <a:lnTo>
                  <a:pt x="56918" y="8131"/>
                </a:lnTo>
                <a:cubicBezTo>
                  <a:pt x="56918" y="3634"/>
                  <a:pt x="53284" y="0"/>
                  <a:pt x="48787" y="0"/>
                </a:cubicBezTo>
                <a:cubicBezTo>
                  <a:pt x="44289" y="0"/>
                  <a:pt x="40655" y="3634"/>
                  <a:pt x="40655" y="8131"/>
                </a:cubicBezTo>
                <a:lnTo>
                  <a:pt x="40655" y="102325"/>
                </a:lnTo>
                <a:lnTo>
                  <a:pt x="13874" y="75543"/>
                </a:lnTo>
                <a:cubicBezTo>
                  <a:pt x="10697" y="72367"/>
                  <a:pt x="5539" y="72367"/>
                  <a:pt x="2363" y="75543"/>
                </a:cubicBezTo>
                <a:cubicBezTo>
                  <a:pt x="-813" y="78719"/>
                  <a:pt x="-813" y="83877"/>
                  <a:pt x="2363" y="87054"/>
                </a:cubicBezTo>
                <a:lnTo>
                  <a:pt x="43019" y="127709"/>
                </a:ln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766646" y="6472131"/>
            <a:ext cx="2211659" cy="185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4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显著小于同等头维设置下的标准 MHA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12159" y="1008256"/>
            <a:ext cx="5603488" cy="4599878"/>
          </a:xfrm>
          <a:custGeom>
            <a:avLst/>
            <a:gdLst/>
            <a:ahLst/>
            <a:cxnLst/>
            <a:rect l="l" t="t" r="r" b="b"/>
            <a:pathLst>
              <a:path w="5603488" h="4599878">
                <a:moveTo>
                  <a:pt x="111501" y="0"/>
                </a:moveTo>
                <a:lnTo>
                  <a:pt x="5491987" y="0"/>
                </a:lnTo>
                <a:cubicBezTo>
                  <a:pt x="5553567" y="0"/>
                  <a:pt x="5603488" y="49921"/>
                  <a:pt x="5603488" y="111501"/>
                </a:cubicBezTo>
                <a:lnTo>
                  <a:pt x="5603488" y="4488377"/>
                </a:lnTo>
                <a:cubicBezTo>
                  <a:pt x="5603488" y="4549957"/>
                  <a:pt x="5553567" y="4599878"/>
                  <a:pt x="5491987" y="4599878"/>
                </a:cubicBezTo>
                <a:lnTo>
                  <a:pt x="111501" y="4599878"/>
                </a:lnTo>
                <a:cubicBezTo>
                  <a:pt x="49921" y="4599878"/>
                  <a:pt x="0" y="4549957"/>
                  <a:pt x="0" y="4488377"/>
                </a:cubicBezTo>
                <a:lnTo>
                  <a:pt x="0" y="111501"/>
                </a:lnTo>
                <a:cubicBezTo>
                  <a:pt x="0" y="49962"/>
                  <a:pt x="49962" y="0"/>
                  <a:pt x="111501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6425890" y="1235927"/>
            <a:ext cx="185854" cy="185854"/>
          </a:xfrm>
          <a:custGeom>
            <a:avLst/>
            <a:gdLst/>
            <a:ahLst/>
            <a:cxnLst/>
            <a:rect l="l" t="t" r="r" b="b"/>
            <a:pathLst>
              <a:path w="185854" h="185854">
                <a:moveTo>
                  <a:pt x="182442" y="54667"/>
                </a:moveTo>
                <a:lnTo>
                  <a:pt x="147594" y="89515"/>
                </a:lnTo>
                <a:cubicBezTo>
                  <a:pt x="144254" y="92854"/>
                  <a:pt x="139281" y="93834"/>
                  <a:pt x="134925" y="92019"/>
                </a:cubicBezTo>
                <a:cubicBezTo>
                  <a:pt x="130569" y="90204"/>
                  <a:pt x="127774" y="85994"/>
                  <a:pt x="127774" y="81311"/>
                </a:cubicBezTo>
                <a:lnTo>
                  <a:pt x="127774" y="58079"/>
                </a:lnTo>
                <a:lnTo>
                  <a:pt x="11616" y="58079"/>
                </a:lnTo>
                <a:cubicBezTo>
                  <a:pt x="5191" y="58079"/>
                  <a:pt x="0" y="52888"/>
                  <a:pt x="0" y="46463"/>
                </a:cubicBezTo>
                <a:cubicBezTo>
                  <a:pt x="0" y="40038"/>
                  <a:pt x="5191" y="34848"/>
                  <a:pt x="11616" y="34848"/>
                </a:cubicBezTo>
                <a:lnTo>
                  <a:pt x="127774" y="34848"/>
                </a:lnTo>
                <a:lnTo>
                  <a:pt x="127774" y="11616"/>
                </a:lnTo>
                <a:cubicBezTo>
                  <a:pt x="127774" y="6933"/>
                  <a:pt x="130606" y="2686"/>
                  <a:pt x="134962" y="871"/>
                </a:cubicBezTo>
                <a:cubicBezTo>
                  <a:pt x="139318" y="-944"/>
                  <a:pt x="144291" y="73"/>
                  <a:pt x="147630" y="3376"/>
                </a:cubicBezTo>
                <a:lnTo>
                  <a:pt x="182478" y="38223"/>
                </a:lnTo>
                <a:cubicBezTo>
                  <a:pt x="187015" y="42761"/>
                  <a:pt x="187015" y="50130"/>
                  <a:pt x="182478" y="54667"/>
                </a:cubicBezTo>
                <a:close/>
                <a:moveTo>
                  <a:pt x="38223" y="182442"/>
                </a:moveTo>
                <a:lnTo>
                  <a:pt x="3376" y="147594"/>
                </a:lnTo>
                <a:cubicBezTo>
                  <a:pt x="-1162" y="143056"/>
                  <a:pt x="-1162" y="135688"/>
                  <a:pt x="3376" y="131150"/>
                </a:cubicBezTo>
                <a:lnTo>
                  <a:pt x="38223" y="96303"/>
                </a:lnTo>
                <a:cubicBezTo>
                  <a:pt x="41563" y="92963"/>
                  <a:pt x="46536" y="91983"/>
                  <a:pt x="50892" y="93798"/>
                </a:cubicBezTo>
                <a:cubicBezTo>
                  <a:pt x="55248" y="95613"/>
                  <a:pt x="58079" y="99860"/>
                  <a:pt x="58079" y="104543"/>
                </a:cubicBezTo>
                <a:lnTo>
                  <a:pt x="58079" y="127774"/>
                </a:lnTo>
                <a:lnTo>
                  <a:pt x="174238" y="127774"/>
                </a:lnTo>
                <a:cubicBezTo>
                  <a:pt x="180663" y="127774"/>
                  <a:pt x="185854" y="132965"/>
                  <a:pt x="185854" y="139390"/>
                </a:cubicBezTo>
                <a:cubicBezTo>
                  <a:pt x="185854" y="145815"/>
                  <a:pt x="180663" y="151006"/>
                  <a:pt x="174238" y="151006"/>
                </a:cubicBezTo>
                <a:lnTo>
                  <a:pt x="58079" y="151006"/>
                </a:lnTo>
                <a:lnTo>
                  <a:pt x="58079" y="174238"/>
                </a:lnTo>
                <a:cubicBezTo>
                  <a:pt x="58079" y="178920"/>
                  <a:pt x="55248" y="183167"/>
                  <a:pt x="50892" y="184982"/>
                </a:cubicBezTo>
                <a:cubicBezTo>
                  <a:pt x="46536" y="186797"/>
                  <a:pt x="41563" y="185781"/>
                  <a:pt x="38223" y="182478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6746488" y="1198756"/>
            <a:ext cx="1635512" cy="26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3" dirty="0">
                <a:solidFill>
                  <a:srgbClr val="E0E2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mama ShuHeiTi" pitchFamily="34" charset="-120"/>
              </a:rPr>
              <a:t>MHA vs MLA 对比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02659" y="1607634"/>
            <a:ext cx="5222488" cy="1226634"/>
          </a:xfrm>
          <a:custGeom>
            <a:avLst/>
            <a:gdLst/>
            <a:ahLst/>
            <a:cxnLst/>
            <a:rect l="l" t="t" r="r" b="b"/>
            <a:pathLst>
              <a:path w="5222488" h="1226634">
                <a:moveTo>
                  <a:pt x="74346" y="0"/>
                </a:moveTo>
                <a:lnTo>
                  <a:pt x="5148142" y="0"/>
                </a:lnTo>
                <a:cubicBezTo>
                  <a:pt x="5189202" y="0"/>
                  <a:pt x="5222488" y="33286"/>
                  <a:pt x="5222488" y="74346"/>
                </a:cubicBezTo>
                <a:lnTo>
                  <a:pt x="5222488" y="1152288"/>
                </a:lnTo>
                <a:cubicBezTo>
                  <a:pt x="5222488" y="1193348"/>
                  <a:pt x="5189202" y="1226634"/>
                  <a:pt x="5148142" y="1226634"/>
                </a:cubicBezTo>
                <a:lnTo>
                  <a:pt x="74346" y="1226634"/>
                </a:lnTo>
                <a:cubicBezTo>
                  <a:pt x="33286" y="1226634"/>
                  <a:pt x="0" y="1193348"/>
                  <a:pt x="0" y="1152288"/>
                </a:cubicBezTo>
                <a:lnTo>
                  <a:pt x="0" y="74346"/>
                </a:lnTo>
                <a:cubicBezTo>
                  <a:pt x="0" y="33286"/>
                  <a:pt x="33286" y="0"/>
                  <a:pt x="74346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6551341" y="1812073"/>
            <a:ext cx="111512" cy="111512"/>
          </a:xfrm>
          <a:custGeom>
            <a:avLst/>
            <a:gdLst/>
            <a:ahLst/>
            <a:cxnLst/>
            <a:rect l="l" t="t" r="r" b="b"/>
            <a:pathLst>
              <a:path w="111512" h="111512">
                <a:moveTo>
                  <a:pt x="55756" y="0"/>
                </a:moveTo>
                <a:lnTo>
                  <a:pt x="55756" y="0"/>
                </a:lnTo>
                <a:cubicBezTo>
                  <a:pt x="86549" y="0"/>
                  <a:pt x="111512" y="24963"/>
                  <a:pt x="111512" y="55756"/>
                </a:cubicBezTo>
                <a:lnTo>
                  <a:pt x="111512" y="55756"/>
                </a:lnTo>
                <a:cubicBezTo>
                  <a:pt x="111512" y="86549"/>
                  <a:pt x="86549" y="111512"/>
                  <a:pt x="55756" y="111512"/>
                </a:cubicBezTo>
                <a:lnTo>
                  <a:pt x="55756" y="111512"/>
                </a:lnTo>
                <a:cubicBezTo>
                  <a:pt x="24963" y="111512"/>
                  <a:pt x="0" y="86549"/>
                  <a:pt x="0" y="55756"/>
                </a:cubicBezTo>
                <a:lnTo>
                  <a:pt x="0" y="55756"/>
                </a:lnTo>
                <a:cubicBezTo>
                  <a:pt x="0" y="24963"/>
                  <a:pt x="24963" y="0"/>
                  <a:pt x="55756" y="0"/>
                </a:cubicBezTo>
                <a:close/>
              </a:path>
            </a:pathLst>
          </a:custGeom>
          <a:solidFill>
            <a:srgbClr val="6B7A8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6737195" y="1756317"/>
            <a:ext cx="1050073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MHA 存储方式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737195" y="2053683"/>
            <a:ext cx="4804317" cy="185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4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显式存储 K 向量: N</a:t>
            </a:r>
            <a:r>
              <a:rPr lang="en-US" sz="768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kv</a:t>
            </a:r>
            <a:r>
              <a:rPr lang="en-US" sz="1024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× D</a:t>
            </a:r>
            <a:r>
              <a:rPr lang="en-US" sz="768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head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737195" y="2276707"/>
            <a:ext cx="4804317" cy="185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4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显式存储 V 向量: N</a:t>
            </a:r>
            <a:r>
              <a:rPr lang="en-US" sz="768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kv</a:t>
            </a:r>
            <a:r>
              <a:rPr lang="en-US" sz="1024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× D</a:t>
            </a:r>
            <a:r>
              <a:rPr lang="en-US" sz="768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head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737195" y="2499732"/>
            <a:ext cx="4804317" cy="185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4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总存储: 2 × N</a:t>
            </a:r>
            <a:r>
              <a:rPr lang="en-US" sz="768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kv</a:t>
            </a:r>
            <a:r>
              <a:rPr lang="en-US" sz="1024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× D</a:t>
            </a:r>
            <a:r>
              <a:rPr lang="en-US" sz="768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head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930268" y="2982951"/>
            <a:ext cx="167268" cy="223024"/>
          </a:xfrm>
          <a:custGeom>
            <a:avLst/>
            <a:gdLst/>
            <a:ahLst/>
            <a:cxnLst/>
            <a:rect l="l" t="t" r="r" b="b"/>
            <a:pathLst>
              <a:path w="167268" h="223024">
                <a:moveTo>
                  <a:pt x="73790" y="218930"/>
                </a:moveTo>
                <a:cubicBezTo>
                  <a:pt x="79235" y="224375"/>
                  <a:pt x="88077" y="224375"/>
                  <a:pt x="93522" y="218930"/>
                </a:cubicBezTo>
                <a:lnTo>
                  <a:pt x="163217" y="149235"/>
                </a:lnTo>
                <a:cubicBezTo>
                  <a:pt x="168662" y="143790"/>
                  <a:pt x="168662" y="134947"/>
                  <a:pt x="163217" y="129502"/>
                </a:cubicBezTo>
                <a:cubicBezTo>
                  <a:pt x="157772" y="124057"/>
                  <a:pt x="148930" y="124057"/>
                  <a:pt x="143485" y="129502"/>
                </a:cubicBezTo>
                <a:lnTo>
                  <a:pt x="97573" y="175414"/>
                </a:lnTo>
                <a:lnTo>
                  <a:pt x="97573" y="13939"/>
                </a:lnTo>
                <a:cubicBezTo>
                  <a:pt x="97573" y="6229"/>
                  <a:pt x="91344" y="0"/>
                  <a:pt x="83634" y="0"/>
                </a:cubicBezTo>
                <a:cubicBezTo>
                  <a:pt x="75924" y="0"/>
                  <a:pt x="69695" y="6229"/>
                  <a:pt x="69695" y="13939"/>
                </a:cubicBezTo>
                <a:lnTo>
                  <a:pt x="69695" y="175414"/>
                </a:lnTo>
                <a:lnTo>
                  <a:pt x="23783" y="129502"/>
                </a:lnTo>
                <a:cubicBezTo>
                  <a:pt x="18339" y="124057"/>
                  <a:pt x="9496" y="124057"/>
                  <a:pt x="4051" y="129502"/>
                </a:cubicBezTo>
                <a:cubicBezTo>
                  <a:pt x="-1394" y="134947"/>
                  <a:pt x="-1394" y="143790"/>
                  <a:pt x="4051" y="149235"/>
                </a:cubicBezTo>
                <a:lnTo>
                  <a:pt x="73746" y="218930"/>
                </a:ln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6402659" y="3354659"/>
            <a:ext cx="5222488" cy="1226634"/>
          </a:xfrm>
          <a:custGeom>
            <a:avLst/>
            <a:gdLst/>
            <a:ahLst/>
            <a:cxnLst/>
            <a:rect l="l" t="t" r="r" b="b"/>
            <a:pathLst>
              <a:path w="5222488" h="1226634">
                <a:moveTo>
                  <a:pt x="74346" y="0"/>
                </a:moveTo>
                <a:lnTo>
                  <a:pt x="5148142" y="0"/>
                </a:lnTo>
                <a:cubicBezTo>
                  <a:pt x="5189202" y="0"/>
                  <a:pt x="5222488" y="33286"/>
                  <a:pt x="5222488" y="74346"/>
                </a:cubicBezTo>
                <a:lnTo>
                  <a:pt x="5222488" y="1152288"/>
                </a:lnTo>
                <a:cubicBezTo>
                  <a:pt x="5222488" y="1193348"/>
                  <a:pt x="5189202" y="1226634"/>
                  <a:pt x="5148142" y="1226634"/>
                </a:cubicBezTo>
                <a:lnTo>
                  <a:pt x="74346" y="1226634"/>
                </a:lnTo>
                <a:cubicBezTo>
                  <a:pt x="33286" y="1226634"/>
                  <a:pt x="0" y="1193348"/>
                  <a:pt x="0" y="1152288"/>
                </a:cubicBezTo>
                <a:lnTo>
                  <a:pt x="0" y="74346"/>
                </a:lnTo>
                <a:cubicBezTo>
                  <a:pt x="0" y="33286"/>
                  <a:pt x="33286" y="0"/>
                  <a:pt x="74346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6551341" y="3559098"/>
            <a:ext cx="111512" cy="111512"/>
          </a:xfrm>
          <a:custGeom>
            <a:avLst/>
            <a:gdLst/>
            <a:ahLst/>
            <a:cxnLst/>
            <a:rect l="l" t="t" r="r" b="b"/>
            <a:pathLst>
              <a:path w="111512" h="111512">
                <a:moveTo>
                  <a:pt x="55756" y="0"/>
                </a:moveTo>
                <a:lnTo>
                  <a:pt x="55756" y="0"/>
                </a:lnTo>
                <a:cubicBezTo>
                  <a:pt x="86549" y="0"/>
                  <a:pt x="111512" y="24963"/>
                  <a:pt x="111512" y="55756"/>
                </a:cubicBezTo>
                <a:lnTo>
                  <a:pt x="111512" y="55756"/>
                </a:lnTo>
                <a:cubicBezTo>
                  <a:pt x="111512" y="86549"/>
                  <a:pt x="86549" y="111512"/>
                  <a:pt x="55756" y="111512"/>
                </a:cubicBezTo>
                <a:lnTo>
                  <a:pt x="55756" y="111512"/>
                </a:lnTo>
                <a:cubicBezTo>
                  <a:pt x="24963" y="111512"/>
                  <a:pt x="0" y="86549"/>
                  <a:pt x="0" y="55756"/>
                </a:cubicBezTo>
                <a:lnTo>
                  <a:pt x="0" y="55756"/>
                </a:lnTo>
                <a:cubicBezTo>
                  <a:pt x="0" y="24963"/>
                  <a:pt x="24963" y="0"/>
                  <a:pt x="55756" y="0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6737195" y="3503341"/>
            <a:ext cx="1022195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MLA 存储方式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737195" y="3800707"/>
            <a:ext cx="4804317" cy="185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4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低秩潜变量: R</a:t>
            </a:r>
            <a:r>
              <a:rPr lang="en-US" sz="768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kv_lora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737195" y="4023732"/>
            <a:ext cx="4804317" cy="185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4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解耦RoPE: D</a:t>
            </a:r>
            <a:r>
              <a:rPr lang="en-US" sz="768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qk_rope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737195" y="4246756"/>
            <a:ext cx="4804317" cy="185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4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总存储: R</a:t>
            </a:r>
            <a:r>
              <a:rPr lang="en-US" sz="768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kv_lora</a:t>
            </a:r>
            <a:r>
              <a:rPr lang="en-US" sz="1024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+ D</a:t>
            </a:r>
            <a:r>
              <a:rPr lang="en-US" sz="768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qk_rope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407305" y="4734622"/>
            <a:ext cx="5213195" cy="678366"/>
          </a:xfrm>
          <a:custGeom>
            <a:avLst/>
            <a:gdLst/>
            <a:ahLst/>
            <a:cxnLst/>
            <a:rect l="l" t="t" r="r" b="b"/>
            <a:pathLst>
              <a:path w="5213195" h="678366">
                <a:moveTo>
                  <a:pt x="74342" y="0"/>
                </a:moveTo>
                <a:lnTo>
                  <a:pt x="5138853" y="0"/>
                </a:lnTo>
                <a:cubicBezTo>
                  <a:pt x="5179911" y="0"/>
                  <a:pt x="5213195" y="33284"/>
                  <a:pt x="5213195" y="74342"/>
                </a:cubicBezTo>
                <a:lnTo>
                  <a:pt x="5213195" y="604024"/>
                </a:lnTo>
                <a:cubicBezTo>
                  <a:pt x="5213195" y="645082"/>
                  <a:pt x="5179911" y="678366"/>
                  <a:pt x="5138853" y="678366"/>
                </a:cubicBezTo>
                <a:lnTo>
                  <a:pt x="74342" y="678366"/>
                </a:lnTo>
                <a:cubicBezTo>
                  <a:pt x="33284" y="678366"/>
                  <a:pt x="0" y="645082"/>
                  <a:pt x="0" y="604024"/>
                </a:cubicBezTo>
                <a:lnTo>
                  <a:pt x="0" y="74342"/>
                </a:lnTo>
                <a:cubicBezTo>
                  <a:pt x="0" y="33312"/>
                  <a:pt x="33312" y="0"/>
                  <a:pt x="74342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 w="12700">
            <a:solidFill>
              <a:srgbClr val="D4A26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6490939" y="4850780"/>
            <a:ext cx="5045927" cy="185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4" b="1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压缩比示例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481646" y="5036634"/>
            <a:ext cx="5064512" cy="26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17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~70-80% 显存节省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212159" y="5724070"/>
            <a:ext cx="5603488" cy="1087244"/>
          </a:xfrm>
          <a:custGeom>
            <a:avLst/>
            <a:gdLst/>
            <a:ahLst/>
            <a:cxnLst/>
            <a:rect l="l" t="t" r="r" b="b"/>
            <a:pathLst>
              <a:path w="5603488" h="1087244">
                <a:moveTo>
                  <a:pt x="111508" y="0"/>
                </a:moveTo>
                <a:lnTo>
                  <a:pt x="5491980" y="0"/>
                </a:lnTo>
                <a:cubicBezTo>
                  <a:pt x="5553564" y="0"/>
                  <a:pt x="5603488" y="49924"/>
                  <a:pt x="5603488" y="111508"/>
                </a:cubicBezTo>
                <a:lnTo>
                  <a:pt x="5603488" y="975736"/>
                </a:lnTo>
                <a:cubicBezTo>
                  <a:pt x="5603488" y="1037320"/>
                  <a:pt x="5553564" y="1087244"/>
                  <a:pt x="5491980" y="1087244"/>
                </a:cubicBezTo>
                <a:lnTo>
                  <a:pt x="111508" y="1087244"/>
                </a:lnTo>
                <a:cubicBezTo>
                  <a:pt x="49924" y="1087244"/>
                  <a:pt x="0" y="1037320"/>
                  <a:pt x="0" y="975736"/>
                </a:cubicBezTo>
                <a:lnTo>
                  <a:pt x="0" y="111508"/>
                </a:lnTo>
                <a:cubicBezTo>
                  <a:pt x="0" y="49965"/>
                  <a:pt x="49965" y="0"/>
                  <a:pt x="111508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6409628" y="5923862"/>
            <a:ext cx="125451" cy="167268"/>
          </a:xfrm>
          <a:custGeom>
            <a:avLst/>
            <a:gdLst/>
            <a:ahLst/>
            <a:cxnLst/>
            <a:rect l="l" t="t" r="r" b="b"/>
            <a:pathLst>
              <a:path w="125451" h="167268">
                <a:moveTo>
                  <a:pt x="95689" y="125451"/>
                </a:moveTo>
                <a:cubicBezTo>
                  <a:pt x="98074" y="118166"/>
                  <a:pt x="102844" y="111567"/>
                  <a:pt x="108234" y="105882"/>
                </a:cubicBezTo>
                <a:cubicBezTo>
                  <a:pt x="118917" y="94644"/>
                  <a:pt x="125451" y="79452"/>
                  <a:pt x="125451" y="62726"/>
                </a:cubicBezTo>
                <a:cubicBezTo>
                  <a:pt x="125451" y="28096"/>
                  <a:pt x="97355" y="0"/>
                  <a:pt x="62726" y="0"/>
                </a:cubicBezTo>
                <a:cubicBezTo>
                  <a:pt x="28096" y="0"/>
                  <a:pt x="0" y="28096"/>
                  <a:pt x="0" y="62726"/>
                </a:cubicBezTo>
                <a:cubicBezTo>
                  <a:pt x="0" y="79452"/>
                  <a:pt x="6534" y="94644"/>
                  <a:pt x="17217" y="105882"/>
                </a:cubicBezTo>
                <a:cubicBezTo>
                  <a:pt x="22607" y="111567"/>
                  <a:pt x="27410" y="118166"/>
                  <a:pt x="29762" y="125451"/>
                </a:cubicBezTo>
                <a:lnTo>
                  <a:pt x="95657" y="125451"/>
                </a:lnTo>
                <a:close/>
                <a:moveTo>
                  <a:pt x="94088" y="141133"/>
                </a:moveTo>
                <a:lnTo>
                  <a:pt x="31363" y="141133"/>
                </a:lnTo>
                <a:lnTo>
                  <a:pt x="31363" y="146360"/>
                </a:lnTo>
                <a:cubicBezTo>
                  <a:pt x="31363" y="160800"/>
                  <a:pt x="43059" y="172495"/>
                  <a:pt x="57498" y="172495"/>
                </a:cubicBezTo>
                <a:lnTo>
                  <a:pt x="67953" y="172495"/>
                </a:lnTo>
                <a:cubicBezTo>
                  <a:pt x="82393" y="172495"/>
                  <a:pt x="94088" y="160800"/>
                  <a:pt x="94088" y="146360"/>
                </a:cubicBezTo>
                <a:lnTo>
                  <a:pt x="94088" y="141133"/>
                </a:lnTo>
                <a:close/>
                <a:moveTo>
                  <a:pt x="60112" y="36590"/>
                </a:moveTo>
                <a:cubicBezTo>
                  <a:pt x="47110" y="36590"/>
                  <a:pt x="36590" y="47110"/>
                  <a:pt x="36590" y="60112"/>
                </a:cubicBezTo>
                <a:cubicBezTo>
                  <a:pt x="36590" y="64457"/>
                  <a:pt x="33094" y="67953"/>
                  <a:pt x="28749" y="67953"/>
                </a:cubicBezTo>
                <a:cubicBezTo>
                  <a:pt x="24404" y="67953"/>
                  <a:pt x="20909" y="64457"/>
                  <a:pt x="20909" y="60112"/>
                </a:cubicBezTo>
                <a:cubicBezTo>
                  <a:pt x="20909" y="38452"/>
                  <a:pt x="38452" y="20909"/>
                  <a:pt x="60112" y="20909"/>
                </a:cubicBezTo>
                <a:cubicBezTo>
                  <a:pt x="64457" y="20909"/>
                  <a:pt x="67953" y="24404"/>
                  <a:pt x="67953" y="28749"/>
                </a:cubicBezTo>
                <a:cubicBezTo>
                  <a:pt x="67953" y="33094"/>
                  <a:pt x="64457" y="36590"/>
                  <a:pt x="60112" y="36590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6686085" y="5877399"/>
            <a:ext cx="752707" cy="26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7" dirty="0">
                <a:solidFill>
                  <a:srgbClr val="E0E2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mama ShuHeiTi" pitchFamily="34" charset="-120"/>
              </a:rPr>
              <a:t>核心优势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92204" y="6239814"/>
            <a:ext cx="113835" cy="130098"/>
          </a:xfrm>
          <a:custGeom>
            <a:avLst/>
            <a:gdLst/>
            <a:ahLst/>
            <a:cxnLst/>
            <a:rect l="l" t="t" r="r" b="b"/>
            <a:pathLst>
              <a:path w="113835" h="130098">
                <a:moveTo>
                  <a:pt x="110481" y="17812"/>
                </a:moveTo>
                <a:cubicBezTo>
                  <a:pt x="114115" y="20455"/>
                  <a:pt x="114928" y="25537"/>
                  <a:pt x="112285" y="29170"/>
                </a:cubicBezTo>
                <a:lnTo>
                  <a:pt x="47237" y="118612"/>
                </a:lnTo>
                <a:cubicBezTo>
                  <a:pt x="45839" y="120544"/>
                  <a:pt x="43679" y="121738"/>
                  <a:pt x="41291" y="121941"/>
                </a:cubicBezTo>
                <a:cubicBezTo>
                  <a:pt x="38902" y="122144"/>
                  <a:pt x="36590" y="121255"/>
                  <a:pt x="34913" y="119578"/>
                </a:cubicBezTo>
                <a:lnTo>
                  <a:pt x="2389" y="87054"/>
                </a:lnTo>
                <a:cubicBezTo>
                  <a:pt x="-788" y="83877"/>
                  <a:pt x="-788" y="78719"/>
                  <a:pt x="2389" y="75543"/>
                </a:cubicBezTo>
                <a:cubicBezTo>
                  <a:pt x="5565" y="72367"/>
                  <a:pt x="10723" y="72367"/>
                  <a:pt x="13899" y="75543"/>
                </a:cubicBezTo>
                <a:lnTo>
                  <a:pt x="39690" y="101334"/>
                </a:lnTo>
                <a:lnTo>
                  <a:pt x="99149" y="19591"/>
                </a:lnTo>
                <a:cubicBezTo>
                  <a:pt x="101791" y="15957"/>
                  <a:pt x="106873" y="15144"/>
                  <a:pt x="110507" y="17787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6602451" y="6211936"/>
            <a:ext cx="1105829" cy="185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4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显存占用大幅降低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9077790" y="6239814"/>
            <a:ext cx="113835" cy="130098"/>
          </a:xfrm>
          <a:custGeom>
            <a:avLst/>
            <a:gdLst/>
            <a:ahLst/>
            <a:cxnLst/>
            <a:rect l="l" t="t" r="r" b="b"/>
            <a:pathLst>
              <a:path w="113835" h="130098">
                <a:moveTo>
                  <a:pt x="110481" y="17812"/>
                </a:moveTo>
                <a:cubicBezTo>
                  <a:pt x="114115" y="20455"/>
                  <a:pt x="114928" y="25537"/>
                  <a:pt x="112285" y="29170"/>
                </a:cubicBezTo>
                <a:lnTo>
                  <a:pt x="47237" y="118612"/>
                </a:lnTo>
                <a:cubicBezTo>
                  <a:pt x="45839" y="120544"/>
                  <a:pt x="43679" y="121738"/>
                  <a:pt x="41291" y="121941"/>
                </a:cubicBezTo>
                <a:cubicBezTo>
                  <a:pt x="38902" y="122144"/>
                  <a:pt x="36590" y="121255"/>
                  <a:pt x="34913" y="119578"/>
                </a:cubicBezTo>
                <a:lnTo>
                  <a:pt x="2389" y="87054"/>
                </a:lnTo>
                <a:cubicBezTo>
                  <a:pt x="-788" y="83877"/>
                  <a:pt x="-788" y="78719"/>
                  <a:pt x="2389" y="75543"/>
                </a:cubicBezTo>
                <a:cubicBezTo>
                  <a:pt x="5565" y="72367"/>
                  <a:pt x="10723" y="72367"/>
                  <a:pt x="13899" y="75543"/>
                </a:cubicBezTo>
                <a:lnTo>
                  <a:pt x="39690" y="101334"/>
                </a:lnTo>
                <a:lnTo>
                  <a:pt x="99149" y="19591"/>
                </a:lnTo>
                <a:cubicBezTo>
                  <a:pt x="101791" y="15957"/>
                  <a:pt x="106873" y="15144"/>
                  <a:pt x="110507" y="17787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9288037" y="6211936"/>
            <a:ext cx="975732" cy="185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4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支持更长上下文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92204" y="6500009"/>
            <a:ext cx="113835" cy="130098"/>
          </a:xfrm>
          <a:custGeom>
            <a:avLst/>
            <a:gdLst/>
            <a:ahLst/>
            <a:cxnLst/>
            <a:rect l="l" t="t" r="r" b="b"/>
            <a:pathLst>
              <a:path w="113835" h="130098">
                <a:moveTo>
                  <a:pt x="110481" y="17812"/>
                </a:moveTo>
                <a:cubicBezTo>
                  <a:pt x="114115" y="20455"/>
                  <a:pt x="114928" y="25537"/>
                  <a:pt x="112285" y="29170"/>
                </a:cubicBezTo>
                <a:lnTo>
                  <a:pt x="47237" y="118612"/>
                </a:lnTo>
                <a:cubicBezTo>
                  <a:pt x="45839" y="120544"/>
                  <a:pt x="43679" y="121738"/>
                  <a:pt x="41291" y="121941"/>
                </a:cubicBezTo>
                <a:cubicBezTo>
                  <a:pt x="38902" y="122144"/>
                  <a:pt x="36590" y="121255"/>
                  <a:pt x="34913" y="119578"/>
                </a:cubicBezTo>
                <a:lnTo>
                  <a:pt x="2389" y="87054"/>
                </a:lnTo>
                <a:cubicBezTo>
                  <a:pt x="-788" y="83877"/>
                  <a:pt x="-788" y="78719"/>
                  <a:pt x="2389" y="75543"/>
                </a:cubicBezTo>
                <a:cubicBezTo>
                  <a:pt x="5565" y="72367"/>
                  <a:pt x="10723" y="72367"/>
                  <a:pt x="13899" y="75543"/>
                </a:cubicBezTo>
                <a:lnTo>
                  <a:pt x="39690" y="101334"/>
                </a:lnTo>
                <a:lnTo>
                  <a:pt x="99149" y="19591"/>
                </a:lnTo>
                <a:cubicBezTo>
                  <a:pt x="101791" y="15957"/>
                  <a:pt x="106873" y="15144"/>
                  <a:pt x="110507" y="17787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6602451" y="6472131"/>
            <a:ext cx="975732" cy="185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4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推理吞吐量提升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9077790" y="6500009"/>
            <a:ext cx="113835" cy="130098"/>
          </a:xfrm>
          <a:custGeom>
            <a:avLst/>
            <a:gdLst/>
            <a:ahLst/>
            <a:cxnLst/>
            <a:rect l="l" t="t" r="r" b="b"/>
            <a:pathLst>
              <a:path w="113835" h="130098">
                <a:moveTo>
                  <a:pt x="110481" y="17812"/>
                </a:moveTo>
                <a:cubicBezTo>
                  <a:pt x="114115" y="20455"/>
                  <a:pt x="114928" y="25537"/>
                  <a:pt x="112285" y="29170"/>
                </a:cubicBezTo>
                <a:lnTo>
                  <a:pt x="47237" y="118612"/>
                </a:lnTo>
                <a:cubicBezTo>
                  <a:pt x="45839" y="120544"/>
                  <a:pt x="43679" y="121738"/>
                  <a:pt x="41291" y="121941"/>
                </a:cubicBezTo>
                <a:cubicBezTo>
                  <a:pt x="38902" y="122144"/>
                  <a:pt x="36590" y="121255"/>
                  <a:pt x="34913" y="119578"/>
                </a:cubicBezTo>
                <a:lnTo>
                  <a:pt x="2389" y="87054"/>
                </a:lnTo>
                <a:cubicBezTo>
                  <a:pt x="-788" y="83877"/>
                  <a:pt x="-788" y="78719"/>
                  <a:pt x="2389" y="75543"/>
                </a:cubicBezTo>
                <a:cubicBezTo>
                  <a:pt x="5565" y="72367"/>
                  <a:pt x="10723" y="72367"/>
                  <a:pt x="13899" y="75543"/>
                </a:cubicBezTo>
                <a:lnTo>
                  <a:pt x="39690" y="101334"/>
                </a:lnTo>
                <a:lnTo>
                  <a:pt x="99149" y="19591"/>
                </a:lnTo>
                <a:cubicBezTo>
                  <a:pt x="101791" y="15957"/>
                  <a:pt x="106873" y="15144"/>
                  <a:pt x="110507" y="17787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9288037" y="6472131"/>
            <a:ext cx="975732" cy="185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4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保持注意力质量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3904" y="353904"/>
            <a:ext cx="11643448" cy="353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08" dirty="0">
                <a:solidFill>
                  <a:srgbClr val="E0E2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mama ShuHeiTi" pitchFamily="34" charset="-120"/>
              </a:rPr>
              <a:t>vLLM的MLA判定与执行机制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53904" y="778589"/>
            <a:ext cx="849370" cy="35390"/>
          </a:xfrm>
          <a:custGeom>
            <a:avLst/>
            <a:gdLst/>
            <a:ahLst/>
            <a:cxnLst/>
            <a:rect l="l" t="t" r="r" b="b"/>
            <a:pathLst>
              <a:path w="849370" h="35390">
                <a:moveTo>
                  <a:pt x="0" y="0"/>
                </a:moveTo>
                <a:lnTo>
                  <a:pt x="849370" y="0"/>
                </a:lnTo>
                <a:lnTo>
                  <a:pt x="849370" y="35390"/>
                </a:lnTo>
                <a:lnTo>
                  <a:pt x="0" y="35390"/>
                </a:lnTo>
                <a:lnTo>
                  <a:pt x="0" y="0"/>
                </a:ln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358328" y="959966"/>
            <a:ext cx="5627077" cy="4388412"/>
          </a:xfrm>
          <a:custGeom>
            <a:avLst/>
            <a:gdLst/>
            <a:ahLst/>
            <a:cxnLst/>
            <a:rect l="l" t="t" r="r" b="b"/>
            <a:pathLst>
              <a:path w="5627077" h="5892505">
                <a:moveTo>
                  <a:pt x="106183" y="0"/>
                </a:moveTo>
                <a:lnTo>
                  <a:pt x="5520894" y="0"/>
                </a:lnTo>
                <a:cubicBezTo>
                  <a:pt x="5579537" y="0"/>
                  <a:pt x="5627077" y="47540"/>
                  <a:pt x="5627077" y="106183"/>
                </a:cubicBezTo>
                <a:lnTo>
                  <a:pt x="5627077" y="5786322"/>
                </a:lnTo>
                <a:cubicBezTo>
                  <a:pt x="5627077" y="5844965"/>
                  <a:pt x="5579537" y="5892505"/>
                  <a:pt x="5520894" y="5892505"/>
                </a:cubicBezTo>
                <a:lnTo>
                  <a:pt x="106183" y="5892505"/>
                </a:lnTo>
                <a:cubicBezTo>
                  <a:pt x="47540" y="5892505"/>
                  <a:pt x="0" y="5844965"/>
                  <a:pt x="0" y="5786322"/>
                </a:cubicBezTo>
                <a:lnTo>
                  <a:pt x="0" y="106183"/>
                </a:lnTo>
                <a:cubicBezTo>
                  <a:pt x="0" y="47579"/>
                  <a:pt x="47579" y="0"/>
                  <a:pt x="106183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61823" y="1176731"/>
            <a:ext cx="176952" cy="176952"/>
          </a:xfrm>
          <a:custGeom>
            <a:avLst/>
            <a:gdLst/>
            <a:ahLst/>
            <a:cxnLst/>
            <a:rect l="l" t="t" r="r" b="b"/>
            <a:pathLst>
              <a:path w="176952" h="176952">
                <a:moveTo>
                  <a:pt x="143774" y="71887"/>
                </a:moveTo>
                <a:cubicBezTo>
                  <a:pt x="143774" y="87750"/>
                  <a:pt x="138624" y="102404"/>
                  <a:pt x="129949" y="114293"/>
                </a:cubicBezTo>
                <a:lnTo>
                  <a:pt x="173703" y="158082"/>
                </a:lnTo>
                <a:cubicBezTo>
                  <a:pt x="178023" y="162402"/>
                  <a:pt x="178023" y="169418"/>
                  <a:pt x="173703" y="173738"/>
                </a:cubicBezTo>
                <a:cubicBezTo>
                  <a:pt x="169383" y="178058"/>
                  <a:pt x="162367" y="178058"/>
                  <a:pt x="158047" y="173738"/>
                </a:cubicBezTo>
                <a:lnTo>
                  <a:pt x="114293" y="129949"/>
                </a:lnTo>
                <a:cubicBezTo>
                  <a:pt x="102404" y="138624"/>
                  <a:pt x="87750" y="143774"/>
                  <a:pt x="71887" y="143774"/>
                </a:cubicBezTo>
                <a:cubicBezTo>
                  <a:pt x="32176" y="143774"/>
                  <a:pt x="0" y="111597"/>
                  <a:pt x="0" y="71887"/>
                </a:cubicBezTo>
                <a:cubicBezTo>
                  <a:pt x="0" y="32176"/>
                  <a:pt x="32176" y="0"/>
                  <a:pt x="71887" y="0"/>
                </a:cubicBezTo>
                <a:cubicBezTo>
                  <a:pt x="111597" y="0"/>
                  <a:pt x="143774" y="32176"/>
                  <a:pt x="143774" y="71887"/>
                </a:cubicBezTo>
                <a:close/>
                <a:moveTo>
                  <a:pt x="71887" y="121655"/>
                </a:moveTo>
                <a:cubicBezTo>
                  <a:pt x="99354" y="121655"/>
                  <a:pt x="121655" y="99354"/>
                  <a:pt x="121655" y="71887"/>
                </a:cubicBezTo>
                <a:cubicBezTo>
                  <a:pt x="121655" y="44419"/>
                  <a:pt x="99354" y="22119"/>
                  <a:pt x="71887" y="22119"/>
                </a:cubicBezTo>
                <a:cubicBezTo>
                  <a:pt x="44419" y="22119"/>
                  <a:pt x="22119" y="44419"/>
                  <a:pt x="22119" y="71887"/>
                </a:cubicBezTo>
                <a:cubicBezTo>
                  <a:pt x="22119" y="99354"/>
                  <a:pt x="44419" y="121655"/>
                  <a:pt x="71887" y="121655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67065" y="1141341"/>
            <a:ext cx="1530636" cy="247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3" dirty="0">
                <a:solidFill>
                  <a:srgbClr val="E0E2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mama ShuHeiTi" pitchFamily="34" charset="-120"/>
              </a:rPr>
              <a:t>MLA架构判定逻辑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39704" y="1530636"/>
            <a:ext cx="5326258" cy="415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75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vLLM 的 </a:t>
            </a:r>
            <a:r>
              <a:rPr lang="en-US" sz="975" dirty="0">
                <a:solidFill>
                  <a:srgbClr val="D4A26A"/>
                </a:solidFill>
                <a:highlight>
                  <a:srgbClr val="2C3238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ModelArchConfigConvertor </a:t>
            </a:r>
            <a:r>
              <a:rPr lang="en-US" sz="975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在模型加载阶段提取 </a:t>
            </a:r>
            <a:r>
              <a:rPr lang="en-US" sz="975" dirty="0">
                <a:solidFill>
                  <a:srgbClr val="D4A26A"/>
                </a:solidFill>
                <a:highlight>
                  <a:srgbClr val="2C3238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model_type </a:t>
            </a:r>
            <a:r>
              <a:rPr lang="en-US" sz="975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与 </a:t>
            </a:r>
            <a:r>
              <a:rPr lang="en-US" sz="975" dirty="0">
                <a:solidFill>
                  <a:srgbClr val="D4A26A"/>
                </a:solidFill>
                <a:highlight>
                  <a:srgbClr val="2C3238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kv_lora_rank </a:t>
            </a:r>
            <a:r>
              <a:rPr lang="en-US" sz="975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属性，结合 </a:t>
            </a:r>
            <a:r>
              <a:rPr lang="en-US" sz="975" dirty="0">
                <a:solidFill>
                  <a:srgbClr val="D4A26A"/>
                </a:solidFill>
                <a:highlight>
                  <a:srgbClr val="2C3238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use_mla </a:t>
            </a:r>
            <a:r>
              <a:rPr lang="en-US" sz="975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配置显式决定是否激活 MLA 实现。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39704" y="2083611"/>
            <a:ext cx="5264325" cy="1557179"/>
          </a:xfrm>
          <a:custGeom>
            <a:avLst/>
            <a:gdLst/>
            <a:ahLst/>
            <a:cxnLst/>
            <a:rect l="l" t="t" r="r" b="b"/>
            <a:pathLst>
              <a:path w="5264325" h="1557179">
                <a:moveTo>
                  <a:pt x="70774" y="0"/>
                </a:moveTo>
                <a:lnTo>
                  <a:pt x="5193551" y="0"/>
                </a:lnTo>
                <a:cubicBezTo>
                  <a:pt x="5232639" y="0"/>
                  <a:pt x="5264325" y="31686"/>
                  <a:pt x="5264325" y="70774"/>
                </a:cubicBezTo>
                <a:lnTo>
                  <a:pt x="5264325" y="1486405"/>
                </a:lnTo>
                <a:cubicBezTo>
                  <a:pt x="5264325" y="1525492"/>
                  <a:pt x="5232639" y="1557179"/>
                  <a:pt x="5193551" y="1557179"/>
                </a:cubicBezTo>
                <a:lnTo>
                  <a:pt x="70774" y="1557179"/>
                </a:lnTo>
                <a:cubicBezTo>
                  <a:pt x="31686" y="1557179"/>
                  <a:pt x="0" y="1525492"/>
                  <a:pt x="0" y="1486405"/>
                </a:cubicBezTo>
                <a:lnTo>
                  <a:pt x="0" y="70774"/>
                </a:lnTo>
                <a:cubicBezTo>
                  <a:pt x="0" y="31713"/>
                  <a:pt x="31713" y="0"/>
                  <a:pt x="70774" y="0"/>
                </a:cubicBezTo>
                <a:close/>
              </a:path>
            </a:pathLst>
          </a:custGeom>
          <a:solidFill>
            <a:srgbClr val="2C323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45875" y="2189782"/>
            <a:ext cx="5105068" cy="141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6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vllm/transformers_utils/model_arch_config_convertor.py::is_deepseek_mla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5875" y="2410972"/>
            <a:ext cx="3824446" cy="1114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6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 is_deepseek_mla(self) -&gt; bool: if not hasattr(self.hf_text_config, "model_type"): return False elif self.hf_text_config.model_type in ( "AXK1", "deepseek_v2", "deepseek_v3", "deepseek_v32", "deepseek_mtp", ... ): return self.hf_text_config.kv_lora_rank is not None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9704" y="3746961"/>
            <a:ext cx="5264325" cy="1415617"/>
          </a:xfrm>
          <a:custGeom>
            <a:avLst/>
            <a:gdLst/>
            <a:ahLst/>
            <a:cxnLst/>
            <a:rect l="l" t="t" r="r" b="b"/>
            <a:pathLst>
              <a:path w="5264325" h="1415617">
                <a:moveTo>
                  <a:pt x="70781" y="0"/>
                </a:moveTo>
                <a:lnTo>
                  <a:pt x="5193544" y="0"/>
                </a:lnTo>
                <a:cubicBezTo>
                  <a:pt x="5232635" y="0"/>
                  <a:pt x="5264325" y="31690"/>
                  <a:pt x="5264325" y="70781"/>
                </a:cubicBezTo>
                <a:lnTo>
                  <a:pt x="5264325" y="1344836"/>
                </a:lnTo>
                <a:cubicBezTo>
                  <a:pt x="5264325" y="1383927"/>
                  <a:pt x="5232635" y="1415617"/>
                  <a:pt x="5193544" y="1415617"/>
                </a:cubicBezTo>
                <a:lnTo>
                  <a:pt x="70781" y="1415617"/>
                </a:lnTo>
                <a:cubicBezTo>
                  <a:pt x="31690" y="1415617"/>
                  <a:pt x="0" y="1383927"/>
                  <a:pt x="0" y="1344836"/>
                </a:cubicBezTo>
                <a:lnTo>
                  <a:pt x="0" y="70781"/>
                </a:lnTo>
                <a:cubicBezTo>
                  <a:pt x="0" y="31716"/>
                  <a:pt x="31716" y="0"/>
                  <a:pt x="70781" y="0"/>
                </a:cubicBezTo>
                <a:close/>
              </a:path>
            </a:pathLst>
          </a:custGeom>
          <a:solidFill>
            <a:srgbClr val="2C323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645875" y="3853132"/>
            <a:ext cx="5105068" cy="141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6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vllm/model_executor/models/deepseek_v2.py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5875" y="4074322"/>
            <a:ext cx="3888315" cy="973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6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use_mha = config.model_type == "deepseek" or all( dim == 0 for dim in (qk_nope_head_dim, qk_rope_head_dim) ) if use_mha: attn_cls = DeepseekAttention elif model_config.use_mla: attn_cls = DeepseekV2MLAAttention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05558" y="959965"/>
            <a:ext cx="5627077" cy="4388412"/>
          </a:xfrm>
          <a:custGeom>
            <a:avLst/>
            <a:gdLst/>
            <a:ahLst/>
            <a:cxnLst/>
            <a:rect l="l" t="t" r="r" b="b"/>
            <a:pathLst>
              <a:path w="5627077" h="4388412">
                <a:moveTo>
                  <a:pt x="106156" y="0"/>
                </a:moveTo>
                <a:lnTo>
                  <a:pt x="5520921" y="0"/>
                </a:lnTo>
                <a:cubicBezTo>
                  <a:pt x="5579549" y="0"/>
                  <a:pt x="5627077" y="47528"/>
                  <a:pt x="5627077" y="106156"/>
                </a:cubicBezTo>
                <a:lnTo>
                  <a:pt x="5627077" y="4282257"/>
                </a:lnTo>
                <a:cubicBezTo>
                  <a:pt x="5627077" y="4340885"/>
                  <a:pt x="5579549" y="4388412"/>
                  <a:pt x="5520921" y="4388412"/>
                </a:cubicBezTo>
                <a:lnTo>
                  <a:pt x="106156" y="4388412"/>
                </a:lnTo>
                <a:cubicBezTo>
                  <a:pt x="47528" y="4388412"/>
                  <a:pt x="0" y="4340885"/>
                  <a:pt x="0" y="4282257"/>
                </a:cubicBezTo>
                <a:lnTo>
                  <a:pt x="0" y="106156"/>
                </a:lnTo>
                <a:cubicBezTo>
                  <a:pt x="0" y="47567"/>
                  <a:pt x="47567" y="0"/>
                  <a:pt x="106156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6386934" y="1176731"/>
            <a:ext cx="221190" cy="176952"/>
          </a:xfrm>
          <a:custGeom>
            <a:avLst/>
            <a:gdLst/>
            <a:ahLst/>
            <a:cxnLst/>
            <a:rect l="l" t="t" r="r" b="b"/>
            <a:pathLst>
              <a:path w="221190" h="176952">
                <a:moveTo>
                  <a:pt x="143739" y="72751"/>
                </a:moveTo>
                <a:cubicBezTo>
                  <a:pt x="147955" y="71610"/>
                  <a:pt x="152379" y="73615"/>
                  <a:pt x="154280" y="77520"/>
                </a:cubicBezTo>
                <a:lnTo>
                  <a:pt x="160708" y="90515"/>
                </a:lnTo>
                <a:cubicBezTo>
                  <a:pt x="164268" y="90999"/>
                  <a:pt x="167759" y="91967"/>
                  <a:pt x="171042" y="93315"/>
                </a:cubicBezTo>
                <a:lnTo>
                  <a:pt x="183139" y="85262"/>
                </a:lnTo>
                <a:cubicBezTo>
                  <a:pt x="186767" y="82843"/>
                  <a:pt x="191571" y="83326"/>
                  <a:pt x="194647" y="86402"/>
                </a:cubicBezTo>
                <a:lnTo>
                  <a:pt x="201283" y="93038"/>
                </a:lnTo>
                <a:cubicBezTo>
                  <a:pt x="204359" y="96114"/>
                  <a:pt x="204843" y="100953"/>
                  <a:pt x="202424" y="104547"/>
                </a:cubicBezTo>
                <a:lnTo>
                  <a:pt x="194371" y="116609"/>
                </a:lnTo>
                <a:cubicBezTo>
                  <a:pt x="195027" y="118233"/>
                  <a:pt x="195615" y="119927"/>
                  <a:pt x="196099" y="121689"/>
                </a:cubicBezTo>
                <a:cubicBezTo>
                  <a:pt x="196583" y="123452"/>
                  <a:pt x="196894" y="125180"/>
                  <a:pt x="197136" y="126942"/>
                </a:cubicBezTo>
                <a:lnTo>
                  <a:pt x="210165" y="133371"/>
                </a:lnTo>
                <a:cubicBezTo>
                  <a:pt x="214071" y="135306"/>
                  <a:pt x="216075" y="139730"/>
                  <a:pt x="214935" y="143912"/>
                </a:cubicBezTo>
                <a:lnTo>
                  <a:pt x="212515" y="152967"/>
                </a:lnTo>
                <a:cubicBezTo>
                  <a:pt x="211375" y="157149"/>
                  <a:pt x="207469" y="159983"/>
                  <a:pt x="203115" y="159706"/>
                </a:cubicBezTo>
                <a:lnTo>
                  <a:pt x="188599" y="158773"/>
                </a:lnTo>
                <a:cubicBezTo>
                  <a:pt x="186422" y="161572"/>
                  <a:pt x="183899" y="164165"/>
                  <a:pt x="181030" y="166376"/>
                </a:cubicBezTo>
                <a:lnTo>
                  <a:pt x="181963" y="180857"/>
                </a:lnTo>
                <a:cubicBezTo>
                  <a:pt x="182240" y="185212"/>
                  <a:pt x="179406" y="189152"/>
                  <a:pt x="175224" y="190258"/>
                </a:cubicBezTo>
                <a:lnTo>
                  <a:pt x="166169" y="192677"/>
                </a:lnTo>
                <a:cubicBezTo>
                  <a:pt x="161953" y="193818"/>
                  <a:pt x="157563" y="191813"/>
                  <a:pt x="155628" y="187908"/>
                </a:cubicBezTo>
                <a:lnTo>
                  <a:pt x="149200" y="174913"/>
                </a:lnTo>
                <a:cubicBezTo>
                  <a:pt x="145640" y="174429"/>
                  <a:pt x="142149" y="173461"/>
                  <a:pt x="138866" y="172114"/>
                </a:cubicBezTo>
                <a:lnTo>
                  <a:pt x="126770" y="180166"/>
                </a:lnTo>
                <a:cubicBezTo>
                  <a:pt x="123141" y="182586"/>
                  <a:pt x="118337" y="182102"/>
                  <a:pt x="115261" y="179026"/>
                </a:cubicBezTo>
                <a:lnTo>
                  <a:pt x="108625" y="172390"/>
                </a:lnTo>
                <a:cubicBezTo>
                  <a:pt x="105549" y="169314"/>
                  <a:pt x="105065" y="164510"/>
                  <a:pt x="107485" y="160881"/>
                </a:cubicBezTo>
                <a:lnTo>
                  <a:pt x="115537" y="148785"/>
                </a:lnTo>
                <a:cubicBezTo>
                  <a:pt x="114881" y="147161"/>
                  <a:pt x="114293" y="145467"/>
                  <a:pt x="113809" y="143704"/>
                </a:cubicBezTo>
                <a:cubicBezTo>
                  <a:pt x="113325" y="141942"/>
                  <a:pt x="113014" y="140179"/>
                  <a:pt x="112772" y="138451"/>
                </a:cubicBezTo>
                <a:lnTo>
                  <a:pt x="99743" y="132023"/>
                </a:lnTo>
                <a:cubicBezTo>
                  <a:pt x="95838" y="130087"/>
                  <a:pt x="93868" y="125664"/>
                  <a:pt x="94974" y="121482"/>
                </a:cubicBezTo>
                <a:lnTo>
                  <a:pt x="97393" y="112427"/>
                </a:lnTo>
                <a:cubicBezTo>
                  <a:pt x="98533" y="108245"/>
                  <a:pt x="102439" y="105411"/>
                  <a:pt x="106793" y="105687"/>
                </a:cubicBezTo>
                <a:lnTo>
                  <a:pt x="121274" y="106621"/>
                </a:lnTo>
                <a:cubicBezTo>
                  <a:pt x="123452" y="103821"/>
                  <a:pt x="125975" y="101229"/>
                  <a:pt x="128843" y="99017"/>
                </a:cubicBezTo>
                <a:lnTo>
                  <a:pt x="127910" y="84571"/>
                </a:lnTo>
                <a:cubicBezTo>
                  <a:pt x="127634" y="80216"/>
                  <a:pt x="130468" y="76276"/>
                  <a:pt x="134649" y="75170"/>
                </a:cubicBezTo>
                <a:lnTo>
                  <a:pt x="143704" y="72751"/>
                </a:lnTo>
                <a:close/>
                <a:moveTo>
                  <a:pt x="154971" y="117507"/>
                </a:moveTo>
                <a:cubicBezTo>
                  <a:pt x="146578" y="117517"/>
                  <a:pt x="139772" y="124338"/>
                  <a:pt x="139782" y="132731"/>
                </a:cubicBezTo>
                <a:cubicBezTo>
                  <a:pt x="139791" y="141124"/>
                  <a:pt x="146613" y="147930"/>
                  <a:pt x="155006" y="147921"/>
                </a:cubicBezTo>
                <a:cubicBezTo>
                  <a:pt x="163399" y="147911"/>
                  <a:pt x="170205" y="141090"/>
                  <a:pt x="170195" y="132697"/>
                </a:cubicBezTo>
                <a:cubicBezTo>
                  <a:pt x="170186" y="124304"/>
                  <a:pt x="163364" y="117498"/>
                  <a:pt x="154971" y="117507"/>
                </a:cubicBezTo>
                <a:close/>
                <a:moveTo>
                  <a:pt x="77728" y="-15725"/>
                </a:moveTo>
                <a:lnTo>
                  <a:pt x="86783" y="-13306"/>
                </a:lnTo>
                <a:cubicBezTo>
                  <a:pt x="90964" y="-12165"/>
                  <a:pt x="93798" y="-8226"/>
                  <a:pt x="93522" y="-3905"/>
                </a:cubicBezTo>
                <a:lnTo>
                  <a:pt x="92589" y="10541"/>
                </a:lnTo>
                <a:cubicBezTo>
                  <a:pt x="95457" y="12753"/>
                  <a:pt x="97980" y="15311"/>
                  <a:pt x="100158" y="18145"/>
                </a:cubicBezTo>
                <a:lnTo>
                  <a:pt x="114673" y="17211"/>
                </a:lnTo>
                <a:cubicBezTo>
                  <a:pt x="118993" y="16935"/>
                  <a:pt x="122933" y="19769"/>
                  <a:pt x="124074" y="23951"/>
                </a:cubicBezTo>
                <a:lnTo>
                  <a:pt x="126493" y="33006"/>
                </a:lnTo>
                <a:cubicBezTo>
                  <a:pt x="127599" y="37188"/>
                  <a:pt x="125629" y="41611"/>
                  <a:pt x="121724" y="43547"/>
                </a:cubicBezTo>
                <a:lnTo>
                  <a:pt x="108694" y="49975"/>
                </a:lnTo>
                <a:cubicBezTo>
                  <a:pt x="108452" y="51738"/>
                  <a:pt x="108107" y="53500"/>
                  <a:pt x="107657" y="55228"/>
                </a:cubicBezTo>
                <a:cubicBezTo>
                  <a:pt x="107208" y="56956"/>
                  <a:pt x="106586" y="58685"/>
                  <a:pt x="105929" y="60309"/>
                </a:cubicBezTo>
                <a:lnTo>
                  <a:pt x="113982" y="72405"/>
                </a:lnTo>
                <a:cubicBezTo>
                  <a:pt x="116401" y="76034"/>
                  <a:pt x="115917" y="80838"/>
                  <a:pt x="112842" y="83914"/>
                </a:cubicBezTo>
                <a:lnTo>
                  <a:pt x="106206" y="90550"/>
                </a:lnTo>
                <a:cubicBezTo>
                  <a:pt x="103130" y="93626"/>
                  <a:pt x="98326" y="94109"/>
                  <a:pt x="94697" y="91690"/>
                </a:cubicBezTo>
                <a:lnTo>
                  <a:pt x="82601" y="83638"/>
                </a:lnTo>
                <a:cubicBezTo>
                  <a:pt x="79317" y="84985"/>
                  <a:pt x="75827" y="85953"/>
                  <a:pt x="72267" y="86437"/>
                </a:cubicBezTo>
                <a:lnTo>
                  <a:pt x="65839" y="99432"/>
                </a:lnTo>
                <a:cubicBezTo>
                  <a:pt x="63903" y="103337"/>
                  <a:pt x="59479" y="105307"/>
                  <a:pt x="55298" y="104201"/>
                </a:cubicBezTo>
                <a:lnTo>
                  <a:pt x="46243" y="101782"/>
                </a:lnTo>
                <a:cubicBezTo>
                  <a:pt x="42026" y="100642"/>
                  <a:pt x="39227" y="96702"/>
                  <a:pt x="39503" y="92381"/>
                </a:cubicBezTo>
                <a:lnTo>
                  <a:pt x="40436" y="77900"/>
                </a:lnTo>
                <a:cubicBezTo>
                  <a:pt x="37568" y="75688"/>
                  <a:pt x="35045" y="73131"/>
                  <a:pt x="32867" y="70297"/>
                </a:cubicBezTo>
                <a:lnTo>
                  <a:pt x="18352" y="71230"/>
                </a:lnTo>
                <a:cubicBezTo>
                  <a:pt x="14032" y="71507"/>
                  <a:pt x="10092" y="68673"/>
                  <a:pt x="8951" y="64491"/>
                </a:cubicBezTo>
                <a:lnTo>
                  <a:pt x="6532" y="55436"/>
                </a:lnTo>
                <a:cubicBezTo>
                  <a:pt x="5426" y="51254"/>
                  <a:pt x="7396" y="46830"/>
                  <a:pt x="11301" y="44895"/>
                </a:cubicBezTo>
                <a:lnTo>
                  <a:pt x="24331" y="38466"/>
                </a:lnTo>
                <a:cubicBezTo>
                  <a:pt x="24573" y="36704"/>
                  <a:pt x="24918" y="34976"/>
                  <a:pt x="25368" y="33213"/>
                </a:cubicBezTo>
                <a:cubicBezTo>
                  <a:pt x="25852" y="31450"/>
                  <a:pt x="26405" y="29757"/>
                  <a:pt x="27096" y="28133"/>
                </a:cubicBezTo>
                <a:lnTo>
                  <a:pt x="19043" y="16071"/>
                </a:lnTo>
                <a:cubicBezTo>
                  <a:pt x="16624" y="12442"/>
                  <a:pt x="17108" y="7638"/>
                  <a:pt x="20184" y="4562"/>
                </a:cubicBezTo>
                <a:lnTo>
                  <a:pt x="26819" y="-2074"/>
                </a:lnTo>
                <a:cubicBezTo>
                  <a:pt x="29895" y="-5150"/>
                  <a:pt x="34699" y="-5633"/>
                  <a:pt x="38328" y="-3214"/>
                </a:cubicBezTo>
                <a:lnTo>
                  <a:pt x="50424" y="4839"/>
                </a:lnTo>
                <a:cubicBezTo>
                  <a:pt x="53708" y="3491"/>
                  <a:pt x="57198" y="2523"/>
                  <a:pt x="60758" y="2039"/>
                </a:cubicBezTo>
                <a:lnTo>
                  <a:pt x="67187" y="-10956"/>
                </a:lnTo>
                <a:cubicBezTo>
                  <a:pt x="69122" y="-14861"/>
                  <a:pt x="73511" y="-16831"/>
                  <a:pt x="77728" y="-15725"/>
                </a:cubicBezTo>
                <a:close/>
                <a:moveTo>
                  <a:pt x="66495" y="29031"/>
                </a:moveTo>
                <a:cubicBezTo>
                  <a:pt x="58102" y="29031"/>
                  <a:pt x="51288" y="35845"/>
                  <a:pt x="51288" y="44238"/>
                </a:cubicBezTo>
                <a:cubicBezTo>
                  <a:pt x="51288" y="52631"/>
                  <a:pt x="58102" y="59445"/>
                  <a:pt x="66495" y="59445"/>
                </a:cubicBezTo>
                <a:cubicBezTo>
                  <a:pt x="74888" y="59445"/>
                  <a:pt x="81702" y="52631"/>
                  <a:pt x="81702" y="44238"/>
                </a:cubicBezTo>
                <a:cubicBezTo>
                  <a:pt x="81702" y="35845"/>
                  <a:pt x="74888" y="29031"/>
                  <a:pt x="66495" y="29031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714296" y="1141341"/>
            <a:ext cx="1707588" cy="247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3" dirty="0">
                <a:solidFill>
                  <a:srgbClr val="E0E2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mama ShuHeiTi" pitchFamily="34" charset="-120"/>
              </a:rPr>
              <a:t>MLA执行与后端注册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86934" y="1530636"/>
            <a:ext cx="5326258" cy="415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75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执行阶段，</a:t>
            </a:r>
            <a:r>
              <a:rPr lang="en-US" sz="975" dirty="0">
                <a:solidFill>
                  <a:srgbClr val="D4A26A"/>
                </a:solidFill>
                <a:highlight>
                  <a:srgbClr val="2C3238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MLAAttention </a:t>
            </a:r>
            <a:r>
              <a:rPr lang="en-US" sz="975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向后端注册表注入 </a:t>
            </a:r>
            <a:r>
              <a:rPr lang="en-US" sz="975" dirty="0">
                <a:solidFill>
                  <a:srgbClr val="D4A26A"/>
                </a:solidFill>
                <a:highlight>
                  <a:srgbClr val="2C3238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use_mla=True </a:t>
            </a:r>
            <a:r>
              <a:rPr lang="en-US" sz="975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标志以匹配专属加速算子，并强制返回 </a:t>
            </a:r>
            <a:r>
              <a:rPr lang="en-US" sz="975" dirty="0">
                <a:solidFill>
                  <a:srgbClr val="D4A26A"/>
                </a:solidFill>
                <a:highlight>
                  <a:srgbClr val="2C3238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num_kv_heads=1 </a:t>
            </a:r>
            <a:r>
              <a:rPr lang="en-US" sz="975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 </a:t>
            </a:r>
            <a:r>
              <a:rPr lang="en-US" sz="975" dirty="0">
                <a:solidFill>
                  <a:srgbClr val="D4A26A"/>
                </a:solidFill>
                <a:highlight>
                  <a:srgbClr val="2C3238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MLAAttentionSpec </a:t>
            </a:r>
            <a:r>
              <a:rPr lang="en-US" sz="975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386934" y="2083611"/>
            <a:ext cx="5264325" cy="1557179"/>
          </a:xfrm>
          <a:custGeom>
            <a:avLst/>
            <a:gdLst/>
            <a:ahLst/>
            <a:cxnLst/>
            <a:rect l="l" t="t" r="r" b="b"/>
            <a:pathLst>
              <a:path w="5264325" h="1557179">
                <a:moveTo>
                  <a:pt x="70774" y="0"/>
                </a:moveTo>
                <a:lnTo>
                  <a:pt x="5193551" y="0"/>
                </a:lnTo>
                <a:cubicBezTo>
                  <a:pt x="5232639" y="0"/>
                  <a:pt x="5264325" y="31686"/>
                  <a:pt x="5264325" y="70774"/>
                </a:cubicBezTo>
                <a:lnTo>
                  <a:pt x="5264325" y="1486405"/>
                </a:lnTo>
                <a:cubicBezTo>
                  <a:pt x="5264325" y="1525492"/>
                  <a:pt x="5232639" y="1557179"/>
                  <a:pt x="5193551" y="1557179"/>
                </a:cubicBezTo>
                <a:lnTo>
                  <a:pt x="70774" y="1557179"/>
                </a:lnTo>
                <a:cubicBezTo>
                  <a:pt x="31686" y="1557179"/>
                  <a:pt x="0" y="1525492"/>
                  <a:pt x="0" y="1486405"/>
                </a:cubicBezTo>
                <a:lnTo>
                  <a:pt x="0" y="70774"/>
                </a:lnTo>
                <a:cubicBezTo>
                  <a:pt x="0" y="31713"/>
                  <a:pt x="31713" y="0"/>
                  <a:pt x="70774" y="0"/>
                </a:cubicBezTo>
                <a:close/>
              </a:path>
            </a:pathLst>
          </a:custGeom>
          <a:solidFill>
            <a:srgbClr val="2C323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493105" y="2189782"/>
            <a:ext cx="5105068" cy="141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6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vllm/model_executor/layers/attention/mla_attention.py::MLAAttention.__init__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93105" y="2410972"/>
            <a:ext cx="2418161" cy="1114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6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self.attn_backend = get_attn_backend( self.head_size, dtype, kv_cache_dtype, use_mla=True, # 强制MLA后端 use_sparse=use_sparse, num_heads=self.num_heads, 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386934" y="3746961"/>
            <a:ext cx="5264325" cy="1415617"/>
          </a:xfrm>
          <a:custGeom>
            <a:avLst/>
            <a:gdLst/>
            <a:ahLst/>
            <a:cxnLst/>
            <a:rect l="l" t="t" r="r" b="b"/>
            <a:pathLst>
              <a:path w="5264325" h="1415617">
                <a:moveTo>
                  <a:pt x="70781" y="0"/>
                </a:moveTo>
                <a:lnTo>
                  <a:pt x="5193544" y="0"/>
                </a:lnTo>
                <a:cubicBezTo>
                  <a:pt x="5232635" y="0"/>
                  <a:pt x="5264325" y="31690"/>
                  <a:pt x="5264325" y="70781"/>
                </a:cubicBezTo>
                <a:lnTo>
                  <a:pt x="5264325" y="1344836"/>
                </a:lnTo>
                <a:cubicBezTo>
                  <a:pt x="5264325" y="1383927"/>
                  <a:pt x="5232635" y="1415617"/>
                  <a:pt x="5193544" y="1415617"/>
                </a:cubicBezTo>
                <a:lnTo>
                  <a:pt x="70781" y="1415617"/>
                </a:lnTo>
                <a:cubicBezTo>
                  <a:pt x="31690" y="1415617"/>
                  <a:pt x="0" y="1383927"/>
                  <a:pt x="0" y="1344836"/>
                </a:cubicBezTo>
                <a:lnTo>
                  <a:pt x="0" y="70781"/>
                </a:lnTo>
                <a:cubicBezTo>
                  <a:pt x="0" y="31716"/>
                  <a:pt x="31716" y="0"/>
                  <a:pt x="70781" y="0"/>
                </a:cubicBezTo>
                <a:close/>
              </a:path>
            </a:pathLst>
          </a:custGeom>
          <a:solidFill>
            <a:srgbClr val="2C323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493105" y="3853132"/>
            <a:ext cx="5105068" cy="141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6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vllm/model_executor/layers/attention/mla_attention.py::get_kv_cache_spec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93105" y="4074322"/>
            <a:ext cx="3313083" cy="973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6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return MLAAttentionSpec( block_size=vllm_config.cache_config.block_size, num_kv_heads=1, # 单潜变量 head_size=self.head_size, dtype=kv_cache_dtype, ... 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05558" y="5431303"/>
            <a:ext cx="5627077" cy="1353684"/>
          </a:xfrm>
          <a:custGeom>
            <a:avLst/>
            <a:gdLst/>
            <a:ahLst/>
            <a:cxnLst/>
            <a:rect l="l" t="t" r="r" b="b"/>
            <a:pathLst>
              <a:path w="5627077" h="1353684">
                <a:moveTo>
                  <a:pt x="106169" y="0"/>
                </a:moveTo>
                <a:lnTo>
                  <a:pt x="5520908" y="0"/>
                </a:lnTo>
                <a:cubicBezTo>
                  <a:pt x="5579543" y="0"/>
                  <a:pt x="5627077" y="47534"/>
                  <a:pt x="5627077" y="106169"/>
                </a:cubicBezTo>
                <a:lnTo>
                  <a:pt x="5627077" y="1247514"/>
                </a:lnTo>
                <a:cubicBezTo>
                  <a:pt x="5627077" y="1306150"/>
                  <a:pt x="5579543" y="1353684"/>
                  <a:pt x="5520908" y="1353684"/>
                </a:cubicBezTo>
                <a:lnTo>
                  <a:pt x="106169" y="1353684"/>
                </a:lnTo>
                <a:cubicBezTo>
                  <a:pt x="47573" y="1353684"/>
                  <a:pt x="0" y="1306111"/>
                  <a:pt x="0" y="1247514"/>
                </a:cubicBezTo>
                <a:lnTo>
                  <a:pt x="0" y="106169"/>
                </a:lnTo>
                <a:cubicBezTo>
                  <a:pt x="0" y="47573"/>
                  <a:pt x="47573" y="0"/>
                  <a:pt x="106169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6383616" y="5621526"/>
            <a:ext cx="139350" cy="159257"/>
          </a:xfrm>
          <a:custGeom>
            <a:avLst/>
            <a:gdLst/>
            <a:ahLst/>
            <a:cxnLst/>
            <a:rect l="l" t="t" r="r" b="b"/>
            <a:pathLst>
              <a:path w="139350" h="159257">
                <a:moveTo>
                  <a:pt x="19907" y="9954"/>
                </a:moveTo>
                <a:cubicBezTo>
                  <a:pt x="8927" y="9954"/>
                  <a:pt x="0" y="18881"/>
                  <a:pt x="0" y="29861"/>
                </a:cubicBezTo>
                <a:lnTo>
                  <a:pt x="0" y="49768"/>
                </a:lnTo>
                <a:cubicBezTo>
                  <a:pt x="0" y="60748"/>
                  <a:pt x="8927" y="69675"/>
                  <a:pt x="19907" y="69675"/>
                </a:cubicBezTo>
                <a:lnTo>
                  <a:pt x="119443" y="69675"/>
                </a:lnTo>
                <a:cubicBezTo>
                  <a:pt x="130423" y="69675"/>
                  <a:pt x="139350" y="60748"/>
                  <a:pt x="139350" y="49768"/>
                </a:cubicBezTo>
                <a:lnTo>
                  <a:pt x="139350" y="29861"/>
                </a:lnTo>
                <a:cubicBezTo>
                  <a:pt x="139350" y="18881"/>
                  <a:pt x="130423" y="9954"/>
                  <a:pt x="119443" y="9954"/>
                </a:cubicBezTo>
                <a:lnTo>
                  <a:pt x="19907" y="9954"/>
                </a:lnTo>
                <a:close/>
                <a:moveTo>
                  <a:pt x="87094" y="32349"/>
                </a:moveTo>
                <a:cubicBezTo>
                  <a:pt x="91214" y="32349"/>
                  <a:pt x="94559" y="35694"/>
                  <a:pt x="94559" y="39814"/>
                </a:cubicBezTo>
                <a:cubicBezTo>
                  <a:pt x="94559" y="43934"/>
                  <a:pt x="91214" y="47279"/>
                  <a:pt x="87094" y="47279"/>
                </a:cubicBezTo>
                <a:cubicBezTo>
                  <a:pt x="82973" y="47279"/>
                  <a:pt x="79628" y="43934"/>
                  <a:pt x="79628" y="39814"/>
                </a:cubicBezTo>
                <a:cubicBezTo>
                  <a:pt x="79628" y="35694"/>
                  <a:pt x="82973" y="32349"/>
                  <a:pt x="87094" y="32349"/>
                </a:cubicBezTo>
                <a:close/>
                <a:moveTo>
                  <a:pt x="104512" y="39814"/>
                </a:moveTo>
                <a:cubicBezTo>
                  <a:pt x="104512" y="35694"/>
                  <a:pt x="107857" y="32349"/>
                  <a:pt x="111978" y="32349"/>
                </a:cubicBezTo>
                <a:cubicBezTo>
                  <a:pt x="116098" y="32349"/>
                  <a:pt x="119443" y="35694"/>
                  <a:pt x="119443" y="39814"/>
                </a:cubicBezTo>
                <a:cubicBezTo>
                  <a:pt x="119443" y="43934"/>
                  <a:pt x="116098" y="47279"/>
                  <a:pt x="111978" y="47279"/>
                </a:cubicBezTo>
                <a:cubicBezTo>
                  <a:pt x="107857" y="47279"/>
                  <a:pt x="104512" y="43934"/>
                  <a:pt x="104512" y="39814"/>
                </a:cubicBezTo>
                <a:close/>
                <a:moveTo>
                  <a:pt x="19907" y="89582"/>
                </a:moveTo>
                <a:cubicBezTo>
                  <a:pt x="8927" y="89582"/>
                  <a:pt x="0" y="98509"/>
                  <a:pt x="0" y="109489"/>
                </a:cubicBezTo>
                <a:lnTo>
                  <a:pt x="0" y="129396"/>
                </a:lnTo>
                <a:cubicBezTo>
                  <a:pt x="0" y="140376"/>
                  <a:pt x="8927" y="149303"/>
                  <a:pt x="19907" y="149303"/>
                </a:cubicBezTo>
                <a:lnTo>
                  <a:pt x="119443" y="149303"/>
                </a:lnTo>
                <a:cubicBezTo>
                  <a:pt x="130423" y="149303"/>
                  <a:pt x="139350" y="140376"/>
                  <a:pt x="139350" y="129396"/>
                </a:cubicBezTo>
                <a:lnTo>
                  <a:pt x="139350" y="109489"/>
                </a:lnTo>
                <a:cubicBezTo>
                  <a:pt x="139350" y="98509"/>
                  <a:pt x="130423" y="89582"/>
                  <a:pt x="119443" y="89582"/>
                </a:cubicBezTo>
                <a:lnTo>
                  <a:pt x="19907" y="89582"/>
                </a:lnTo>
                <a:close/>
                <a:moveTo>
                  <a:pt x="87094" y="111978"/>
                </a:moveTo>
                <a:cubicBezTo>
                  <a:pt x="91214" y="111978"/>
                  <a:pt x="94559" y="115323"/>
                  <a:pt x="94559" y="119443"/>
                </a:cubicBezTo>
                <a:cubicBezTo>
                  <a:pt x="94559" y="123563"/>
                  <a:pt x="91214" y="126908"/>
                  <a:pt x="87094" y="126908"/>
                </a:cubicBezTo>
                <a:cubicBezTo>
                  <a:pt x="82973" y="126908"/>
                  <a:pt x="79628" y="123563"/>
                  <a:pt x="79628" y="119443"/>
                </a:cubicBezTo>
                <a:cubicBezTo>
                  <a:pt x="79628" y="115323"/>
                  <a:pt x="82973" y="111978"/>
                  <a:pt x="87094" y="111978"/>
                </a:cubicBezTo>
                <a:close/>
                <a:moveTo>
                  <a:pt x="104512" y="119443"/>
                </a:moveTo>
                <a:cubicBezTo>
                  <a:pt x="104512" y="115323"/>
                  <a:pt x="107857" y="111978"/>
                  <a:pt x="111978" y="111978"/>
                </a:cubicBezTo>
                <a:cubicBezTo>
                  <a:pt x="116098" y="111978"/>
                  <a:pt x="119443" y="115323"/>
                  <a:pt x="119443" y="119443"/>
                </a:cubicBezTo>
                <a:cubicBezTo>
                  <a:pt x="119443" y="123563"/>
                  <a:pt x="116098" y="126908"/>
                  <a:pt x="111978" y="126908"/>
                </a:cubicBezTo>
                <a:cubicBezTo>
                  <a:pt x="107857" y="126908"/>
                  <a:pt x="104512" y="123563"/>
                  <a:pt x="104512" y="119443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6656786" y="5577288"/>
            <a:ext cx="1052865" cy="247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4" dirty="0">
                <a:solidFill>
                  <a:srgbClr val="E0E2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mama ShuHeiTi" pitchFamily="34" charset="-120"/>
              </a:rPr>
              <a:t>MLA专用后端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51544" y="5931193"/>
            <a:ext cx="2627739" cy="318514"/>
          </a:xfrm>
          <a:custGeom>
            <a:avLst/>
            <a:gdLst/>
            <a:ahLst/>
            <a:cxnLst/>
            <a:rect l="l" t="t" r="r" b="b"/>
            <a:pathLst>
              <a:path w="2627739" h="318514">
                <a:moveTo>
                  <a:pt x="35390" y="0"/>
                </a:moveTo>
                <a:lnTo>
                  <a:pt x="2592349" y="0"/>
                </a:lnTo>
                <a:cubicBezTo>
                  <a:pt x="2611894" y="0"/>
                  <a:pt x="2627739" y="15845"/>
                  <a:pt x="2627739" y="35390"/>
                </a:cubicBezTo>
                <a:lnTo>
                  <a:pt x="2627739" y="283124"/>
                </a:lnTo>
                <a:cubicBezTo>
                  <a:pt x="2627739" y="302669"/>
                  <a:pt x="2611894" y="318514"/>
                  <a:pt x="2592349" y="318514"/>
                </a:cubicBezTo>
                <a:lnTo>
                  <a:pt x="35390" y="318514"/>
                </a:lnTo>
                <a:cubicBezTo>
                  <a:pt x="15845" y="318514"/>
                  <a:pt x="0" y="302669"/>
                  <a:pt x="0" y="283124"/>
                </a:cubicBezTo>
                <a:lnTo>
                  <a:pt x="0" y="35390"/>
                </a:lnTo>
                <a:cubicBezTo>
                  <a:pt x="0" y="15845"/>
                  <a:pt x="15845" y="0"/>
                  <a:pt x="35390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6391358" y="6001973"/>
            <a:ext cx="2548110" cy="176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5" b="1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FLASH_ATTN_MLA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054003" y="5931193"/>
            <a:ext cx="2627739" cy="318514"/>
          </a:xfrm>
          <a:custGeom>
            <a:avLst/>
            <a:gdLst/>
            <a:ahLst/>
            <a:cxnLst/>
            <a:rect l="l" t="t" r="r" b="b"/>
            <a:pathLst>
              <a:path w="2627739" h="318514">
                <a:moveTo>
                  <a:pt x="35390" y="0"/>
                </a:moveTo>
                <a:lnTo>
                  <a:pt x="2592349" y="0"/>
                </a:lnTo>
                <a:cubicBezTo>
                  <a:pt x="2611894" y="0"/>
                  <a:pt x="2627739" y="15845"/>
                  <a:pt x="2627739" y="35390"/>
                </a:cubicBezTo>
                <a:lnTo>
                  <a:pt x="2627739" y="283124"/>
                </a:lnTo>
                <a:cubicBezTo>
                  <a:pt x="2627739" y="302669"/>
                  <a:pt x="2611894" y="318514"/>
                  <a:pt x="2592349" y="318514"/>
                </a:cubicBezTo>
                <a:lnTo>
                  <a:pt x="35390" y="318514"/>
                </a:lnTo>
                <a:cubicBezTo>
                  <a:pt x="15845" y="318514"/>
                  <a:pt x="0" y="302669"/>
                  <a:pt x="0" y="283124"/>
                </a:cubicBezTo>
                <a:lnTo>
                  <a:pt x="0" y="35390"/>
                </a:lnTo>
                <a:cubicBezTo>
                  <a:pt x="0" y="15845"/>
                  <a:pt x="15845" y="0"/>
                  <a:pt x="35390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9093817" y="6001973"/>
            <a:ext cx="2548110" cy="176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5" b="1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FLASHMLA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51544" y="6320487"/>
            <a:ext cx="2627739" cy="318514"/>
          </a:xfrm>
          <a:custGeom>
            <a:avLst/>
            <a:gdLst/>
            <a:ahLst/>
            <a:cxnLst/>
            <a:rect l="l" t="t" r="r" b="b"/>
            <a:pathLst>
              <a:path w="2627739" h="318514">
                <a:moveTo>
                  <a:pt x="35390" y="0"/>
                </a:moveTo>
                <a:lnTo>
                  <a:pt x="2592349" y="0"/>
                </a:lnTo>
                <a:cubicBezTo>
                  <a:pt x="2611894" y="0"/>
                  <a:pt x="2627739" y="15845"/>
                  <a:pt x="2627739" y="35390"/>
                </a:cubicBezTo>
                <a:lnTo>
                  <a:pt x="2627739" y="283124"/>
                </a:lnTo>
                <a:cubicBezTo>
                  <a:pt x="2627739" y="302669"/>
                  <a:pt x="2611894" y="318514"/>
                  <a:pt x="2592349" y="318514"/>
                </a:cubicBezTo>
                <a:lnTo>
                  <a:pt x="35390" y="318514"/>
                </a:lnTo>
                <a:cubicBezTo>
                  <a:pt x="15845" y="318514"/>
                  <a:pt x="0" y="302669"/>
                  <a:pt x="0" y="283124"/>
                </a:cubicBezTo>
                <a:lnTo>
                  <a:pt x="0" y="35390"/>
                </a:lnTo>
                <a:cubicBezTo>
                  <a:pt x="0" y="15845"/>
                  <a:pt x="15845" y="0"/>
                  <a:pt x="35390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6391358" y="6391268"/>
            <a:ext cx="2548110" cy="176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5" b="1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FLASHINFER_MLA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9054003" y="6320487"/>
            <a:ext cx="2627739" cy="318514"/>
          </a:xfrm>
          <a:custGeom>
            <a:avLst/>
            <a:gdLst/>
            <a:ahLst/>
            <a:cxnLst/>
            <a:rect l="l" t="t" r="r" b="b"/>
            <a:pathLst>
              <a:path w="2627739" h="318514">
                <a:moveTo>
                  <a:pt x="35390" y="0"/>
                </a:moveTo>
                <a:lnTo>
                  <a:pt x="2592349" y="0"/>
                </a:lnTo>
                <a:cubicBezTo>
                  <a:pt x="2611894" y="0"/>
                  <a:pt x="2627739" y="15845"/>
                  <a:pt x="2627739" y="35390"/>
                </a:cubicBezTo>
                <a:lnTo>
                  <a:pt x="2627739" y="283124"/>
                </a:lnTo>
                <a:cubicBezTo>
                  <a:pt x="2627739" y="302669"/>
                  <a:pt x="2611894" y="318514"/>
                  <a:pt x="2592349" y="318514"/>
                </a:cubicBezTo>
                <a:lnTo>
                  <a:pt x="35390" y="318514"/>
                </a:lnTo>
                <a:cubicBezTo>
                  <a:pt x="15845" y="318514"/>
                  <a:pt x="0" y="302669"/>
                  <a:pt x="0" y="283124"/>
                </a:cubicBezTo>
                <a:lnTo>
                  <a:pt x="0" y="35390"/>
                </a:lnTo>
                <a:cubicBezTo>
                  <a:pt x="0" y="15845"/>
                  <a:pt x="15845" y="0"/>
                  <a:pt x="35390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9093817" y="6391268"/>
            <a:ext cx="2548110" cy="176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5" b="1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TRITON_MLA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2b7faaba2a4f829ba99d2c3db1b00dba6360348c.jpeg"/>
          <p:cNvPicPr>
            <a:picLocks noChangeAspect="1"/>
          </p:cNvPicPr>
          <p:nvPr/>
        </p:nvPicPr>
        <p:blipFill>
          <a:blip r:embed="rId3">
            <a:alphaModFix amt="30000"/>
          </a:blip>
          <a:srcRect l="180" r="18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385763" y="1757363"/>
            <a:ext cx="1428750" cy="428625"/>
          </a:xfrm>
          <a:custGeom>
            <a:avLst/>
            <a:gdLst/>
            <a:ahLst/>
            <a:cxnLst/>
            <a:rect l="l" t="t" r="r" b="b"/>
            <a:pathLst>
              <a:path w="1428750" h="428625">
                <a:moveTo>
                  <a:pt x="76201" y="0"/>
                </a:moveTo>
                <a:lnTo>
                  <a:pt x="1352549" y="0"/>
                </a:lnTo>
                <a:cubicBezTo>
                  <a:pt x="1394634" y="0"/>
                  <a:pt x="1428750" y="34116"/>
                  <a:pt x="1428750" y="76201"/>
                </a:cubicBezTo>
                <a:lnTo>
                  <a:pt x="1428750" y="352424"/>
                </a:lnTo>
                <a:cubicBezTo>
                  <a:pt x="1428750" y="394509"/>
                  <a:pt x="1394634" y="428625"/>
                  <a:pt x="1352549" y="428625"/>
                </a:cubicBezTo>
                <a:lnTo>
                  <a:pt x="76201" y="428625"/>
                </a:lnTo>
                <a:cubicBezTo>
                  <a:pt x="34116" y="428625"/>
                  <a:pt x="0" y="394509"/>
                  <a:pt x="0" y="3524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 w="12700">
            <a:solidFill>
              <a:srgbClr val="D4A26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542925" y="1857375"/>
            <a:ext cx="12015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kern="0" spc="68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CHAPTER 04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419350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dirty="0">
                <a:solidFill>
                  <a:srgbClr val="E0E2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mama ShuHeiTi" pitchFamily="34" charset="-120"/>
              </a:rPr>
              <a:t>NSA: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dirty="0">
                <a:solidFill>
                  <a:srgbClr val="E0E2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mama ShuHeiTi" pitchFamily="34" charset="-120"/>
              </a:rPr>
              <a:t>原生稀疏注意力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4362450"/>
            <a:ext cx="6515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块级稀疏性与Indexer机制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通过轻量级块索引打分降低超长上下文计算复杂度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E0E2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mama ShuHeiTi" pitchFamily="34" charset="-120"/>
              </a:rPr>
              <a:t>NSA工程语义与Sparse MLA实现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8382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385763" y="1033462"/>
            <a:ext cx="4429125" cy="5762625"/>
          </a:xfrm>
          <a:custGeom>
            <a:avLst/>
            <a:gdLst/>
            <a:ahLst/>
            <a:cxnLst/>
            <a:rect l="l" t="t" r="r" b="b"/>
            <a:pathLst>
              <a:path w="4429125" h="5762625">
                <a:moveTo>
                  <a:pt x="114316" y="0"/>
                </a:moveTo>
                <a:lnTo>
                  <a:pt x="4314809" y="0"/>
                </a:lnTo>
                <a:cubicBezTo>
                  <a:pt x="4377944" y="0"/>
                  <a:pt x="4429125" y="51181"/>
                  <a:pt x="4429125" y="114316"/>
                </a:cubicBezTo>
                <a:lnTo>
                  <a:pt x="4429125" y="5648309"/>
                </a:lnTo>
                <a:cubicBezTo>
                  <a:pt x="4429125" y="5711444"/>
                  <a:pt x="4377944" y="5762625"/>
                  <a:pt x="4314809" y="5762625"/>
                </a:cubicBezTo>
                <a:lnTo>
                  <a:pt x="114316" y="5762625"/>
                </a:lnTo>
                <a:cubicBezTo>
                  <a:pt x="51181" y="5762625"/>
                  <a:pt x="0" y="5711444"/>
                  <a:pt x="0" y="5648309"/>
                </a:cubicBezTo>
                <a:lnTo>
                  <a:pt x="0" y="114316"/>
                </a:lnTo>
                <a:cubicBezTo>
                  <a:pt x="0" y="51223"/>
                  <a:pt x="51223" y="0"/>
                  <a:pt x="114316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604838" y="12668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29766"/>
                </a:moveTo>
                <a:cubicBezTo>
                  <a:pt x="0" y="19906"/>
                  <a:pt x="8000" y="11906"/>
                  <a:pt x="17859" y="11906"/>
                </a:cubicBezTo>
                <a:lnTo>
                  <a:pt x="53578" y="11906"/>
                </a:lnTo>
                <a:cubicBezTo>
                  <a:pt x="63438" y="11906"/>
                  <a:pt x="71438" y="19906"/>
                  <a:pt x="71438" y="29766"/>
                </a:cubicBezTo>
                <a:lnTo>
                  <a:pt x="71438" y="35719"/>
                </a:lnTo>
                <a:lnTo>
                  <a:pt x="119063" y="35719"/>
                </a:lnTo>
                <a:lnTo>
                  <a:pt x="119063" y="29766"/>
                </a:lnTo>
                <a:cubicBezTo>
                  <a:pt x="119063" y="19906"/>
                  <a:pt x="127062" y="11906"/>
                  <a:pt x="136922" y="11906"/>
                </a:cubicBezTo>
                <a:lnTo>
                  <a:pt x="172641" y="11906"/>
                </a:lnTo>
                <a:cubicBezTo>
                  <a:pt x="182500" y="11906"/>
                  <a:pt x="190500" y="19906"/>
                  <a:pt x="190500" y="29766"/>
                </a:cubicBezTo>
                <a:lnTo>
                  <a:pt x="190500" y="65484"/>
                </a:lnTo>
                <a:cubicBezTo>
                  <a:pt x="190500" y="75344"/>
                  <a:pt x="182500" y="83344"/>
                  <a:pt x="172641" y="83344"/>
                </a:cubicBezTo>
                <a:lnTo>
                  <a:pt x="136922" y="83344"/>
                </a:lnTo>
                <a:cubicBezTo>
                  <a:pt x="127062" y="83344"/>
                  <a:pt x="119063" y="75344"/>
                  <a:pt x="119063" y="65484"/>
                </a:cubicBezTo>
                <a:lnTo>
                  <a:pt x="119063" y="59531"/>
                </a:lnTo>
                <a:lnTo>
                  <a:pt x="71438" y="59531"/>
                </a:lnTo>
                <a:lnTo>
                  <a:pt x="71438" y="65484"/>
                </a:lnTo>
                <a:cubicBezTo>
                  <a:pt x="71438" y="68200"/>
                  <a:pt x="70805" y="70805"/>
                  <a:pt x="69726" y="73112"/>
                </a:cubicBezTo>
                <a:lnTo>
                  <a:pt x="95250" y="107156"/>
                </a:lnTo>
                <a:lnTo>
                  <a:pt x="125016" y="107156"/>
                </a:lnTo>
                <a:cubicBezTo>
                  <a:pt x="134875" y="107156"/>
                  <a:pt x="142875" y="115156"/>
                  <a:pt x="142875" y="125016"/>
                </a:cubicBezTo>
                <a:lnTo>
                  <a:pt x="142875" y="160734"/>
                </a:lnTo>
                <a:cubicBezTo>
                  <a:pt x="142875" y="170594"/>
                  <a:pt x="134875" y="178594"/>
                  <a:pt x="125016" y="178594"/>
                </a:cubicBezTo>
                <a:lnTo>
                  <a:pt x="89297" y="178594"/>
                </a:lnTo>
                <a:cubicBezTo>
                  <a:pt x="79437" y="178594"/>
                  <a:pt x="71438" y="170594"/>
                  <a:pt x="71438" y="160734"/>
                </a:cubicBezTo>
                <a:lnTo>
                  <a:pt x="71438" y="125016"/>
                </a:lnTo>
                <a:cubicBezTo>
                  <a:pt x="71438" y="122300"/>
                  <a:pt x="72070" y="119695"/>
                  <a:pt x="73149" y="117388"/>
                </a:cubicBezTo>
                <a:lnTo>
                  <a:pt x="47625" y="83344"/>
                </a:lnTo>
                <a:lnTo>
                  <a:pt x="17859" y="83344"/>
                </a:lnTo>
                <a:cubicBezTo>
                  <a:pt x="8000" y="83344"/>
                  <a:pt x="0" y="75344"/>
                  <a:pt x="0" y="65484"/>
                </a:cubicBezTo>
                <a:lnTo>
                  <a:pt x="0" y="29766"/>
                </a:ln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933450" y="1228725"/>
            <a:ext cx="1619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E0E2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mama ShuHeiTi" pitchFamily="34" charset="-120"/>
              </a:rPr>
              <a:t>NSA核心计算流程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81025" y="1647825"/>
            <a:ext cx="4105275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 DeepSeek-V3.2 与 GLM-5 等模型的实际落地中，NSA 的核心工程挑战在于如何将轻量级的块索引打分（Indexer）与底层的 MLA 解码高效结合。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1025" y="2450306"/>
            <a:ext cx="4038600" cy="3314700"/>
          </a:xfrm>
          <a:custGeom>
            <a:avLst/>
            <a:gdLst/>
            <a:ahLst/>
            <a:cxnLst/>
            <a:rect l="l" t="t" r="r" b="b"/>
            <a:pathLst>
              <a:path w="4038600" h="3314700">
                <a:moveTo>
                  <a:pt x="76205" y="0"/>
                </a:moveTo>
                <a:lnTo>
                  <a:pt x="3962395" y="0"/>
                </a:lnTo>
                <a:cubicBezTo>
                  <a:pt x="4004482" y="0"/>
                  <a:pt x="4038600" y="34118"/>
                  <a:pt x="4038600" y="76205"/>
                </a:cubicBezTo>
                <a:lnTo>
                  <a:pt x="4038600" y="3238495"/>
                </a:lnTo>
                <a:cubicBezTo>
                  <a:pt x="4038600" y="3280582"/>
                  <a:pt x="4004482" y="3314700"/>
                  <a:pt x="3962395" y="3314700"/>
                </a:cubicBezTo>
                <a:lnTo>
                  <a:pt x="76205" y="3314700"/>
                </a:lnTo>
                <a:cubicBezTo>
                  <a:pt x="34118" y="3314700"/>
                  <a:pt x="0" y="3280582"/>
                  <a:pt x="0" y="32384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2C323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733425" y="2602706"/>
            <a:ext cx="3733800" cy="419100"/>
          </a:xfrm>
          <a:custGeom>
            <a:avLst/>
            <a:gdLst/>
            <a:ahLst/>
            <a:cxnLst/>
            <a:rect l="l" t="t" r="r" b="b"/>
            <a:pathLst>
              <a:path w="3733800" h="419100">
                <a:moveTo>
                  <a:pt x="76201" y="0"/>
                </a:moveTo>
                <a:lnTo>
                  <a:pt x="3657599" y="0"/>
                </a:lnTo>
                <a:cubicBezTo>
                  <a:pt x="3699684" y="0"/>
                  <a:pt x="3733800" y="34116"/>
                  <a:pt x="3733800" y="76201"/>
                </a:cubicBezTo>
                <a:lnTo>
                  <a:pt x="3733800" y="342899"/>
                </a:lnTo>
                <a:cubicBezTo>
                  <a:pt x="3733800" y="384984"/>
                  <a:pt x="3699684" y="419100"/>
                  <a:pt x="3657599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14388" y="2717006"/>
            <a:ext cx="3571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hidden_states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541240" y="3136106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50423" y="149602"/>
                </a:moveTo>
                <a:cubicBezTo>
                  <a:pt x="54144" y="153323"/>
                  <a:pt x="60186" y="153323"/>
                  <a:pt x="63907" y="149602"/>
                </a:cubicBezTo>
                <a:lnTo>
                  <a:pt x="111532" y="101977"/>
                </a:lnTo>
                <a:cubicBezTo>
                  <a:pt x="115253" y="98256"/>
                  <a:pt x="115253" y="92214"/>
                  <a:pt x="111532" y="88493"/>
                </a:cubicBezTo>
                <a:cubicBezTo>
                  <a:pt x="107811" y="84773"/>
                  <a:pt x="101769" y="84773"/>
                  <a:pt x="98048" y="88493"/>
                </a:cubicBezTo>
                <a:lnTo>
                  <a:pt x="66675" y="119866"/>
                </a:lnTo>
                <a:lnTo>
                  <a:pt x="66675" y="9525"/>
                </a:lnTo>
                <a:cubicBezTo>
                  <a:pt x="66675" y="4256"/>
                  <a:pt x="62419" y="0"/>
                  <a:pt x="57150" y="0"/>
                </a:cubicBezTo>
                <a:cubicBezTo>
                  <a:pt x="51881" y="0"/>
                  <a:pt x="47625" y="4256"/>
                  <a:pt x="47625" y="9525"/>
                </a:cubicBezTo>
                <a:lnTo>
                  <a:pt x="47625" y="119866"/>
                </a:lnTo>
                <a:lnTo>
                  <a:pt x="16252" y="88493"/>
                </a:lnTo>
                <a:cubicBezTo>
                  <a:pt x="12531" y="84772"/>
                  <a:pt x="6489" y="84772"/>
                  <a:pt x="2768" y="88493"/>
                </a:cubicBezTo>
                <a:cubicBezTo>
                  <a:pt x="-953" y="92214"/>
                  <a:pt x="-953" y="98256"/>
                  <a:pt x="2768" y="101977"/>
                </a:cubicBezTo>
                <a:lnTo>
                  <a:pt x="50393" y="149602"/>
                </a:ln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733425" y="3402806"/>
            <a:ext cx="3733800" cy="609600"/>
          </a:xfrm>
          <a:custGeom>
            <a:avLst/>
            <a:gdLst/>
            <a:ahLst/>
            <a:cxnLst/>
            <a:rect l="l" t="t" r="r" b="b"/>
            <a:pathLst>
              <a:path w="3733800" h="609600">
                <a:moveTo>
                  <a:pt x="76200" y="0"/>
                </a:moveTo>
                <a:lnTo>
                  <a:pt x="3657600" y="0"/>
                </a:lnTo>
                <a:cubicBezTo>
                  <a:pt x="3699656" y="0"/>
                  <a:pt x="3733800" y="34144"/>
                  <a:pt x="3733800" y="76200"/>
                </a:cubicBezTo>
                <a:lnTo>
                  <a:pt x="3733800" y="533400"/>
                </a:lnTo>
                <a:cubicBezTo>
                  <a:pt x="3733800" y="575456"/>
                  <a:pt x="3699656" y="609600"/>
                  <a:pt x="36576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4A26A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814388" y="3517106"/>
            <a:ext cx="35718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Indexer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900" b="1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轻量量化打分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541240" y="4126706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50423" y="149602"/>
                </a:moveTo>
                <a:cubicBezTo>
                  <a:pt x="54144" y="153323"/>
                  <a:pt x="60186" y="153323"/>
                  <a:pt x="63907" y="149602"/>
                </a:cubicBezTo>
                <a:lnTo>
                  <a:pt x="111532" y="101977"/>
                </a:lnTo>
                <a:cubicBezTo>
                  <a:pt x="115253" y="98256"/>
                  <a:pt x="115253" y="92214"/>
                  <a:pt x="111532" y="88493"/>
                </a:cubicBezTo>
                <a:cubicBezTo>
                  <a:pt x="107811" y="84773"/>
                  <a:pt x="101769" y="84773"/>
                  <a:pt x="98048" y="88493"/>
                </a:cubicBezTo>
                <a:lnTo>
                  <a:pt x="66675" y="119866"/>
                </a:lnTo>
                <a:lnTo>
                  <a:pt x="66675" y="9525"/>
                </a:lnTo>
                <a:cubicBezTo>
                  <a:pt x="66675" y="4256"/>
                  <a:pt x="62419" y="0"/>
                  <a:pt x="57150" y="0"/>
                </a:cubicBezTo>
                <a:cubicBezTo>
                  <a:pt x="51881" y="0"/>
                  <a:pt x="47625" y="4256"/>
                  <a:pt x="47625" y="9525"/>
                </a:cubicBezTo>
                <a:lnTo>
                  <a:pt x="47625" y="119866"/>
                </a:lnTo>
                <a:lnTo>
                  <a:pt x="16252" y="88493"/>
                </a:lnTo>
                <a:cubicBezTo>
                  <a:pt x="12531" y="84772"/>
                  <a:pt x="6489" y="84772"/>
                  <a:pt x="2768" y="88493"/>
                </a:cubicBezTo>
                <a:cubicBezTo>
                  <a:pt x="-953" y="92214"/>
                  <a:pt x="-953" y="98256"/>
                  <a:pt x="2768" y="101977"/>
                </a:cubicBezTo>
                <a:lnTo>
                  <a:pt x="50393" y="149602"/>
                </a:ln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733425" y="4393406"/>
            <a:ext cx="3733800" cy="419100"/>
          </a:xfrm>
          <a:custGeom>
            <a:avLst/>
            <a:gdLst/>
            <a:ahLst/>
            <a:cxnLst/>
            <a:rect l="l" t="t" r="r" b="b"/>
            <a:pathLst>
              <a:path w="3733800" h="419100">
                <a:moveTo>
                  <a:pt x="76201" y="0"/>
                </a:moveTo>
                <a:lnTo>
                  <a:pt x="3657599" y="0"/>
                </a:lnTo>
                <a:cubicBezTo>
                  <a:pt x="3699684" y="0"/>
                  <a:pt x="3733800" y="34116"/>
                  <a:pt x="3733800" y="76201"/>
                </a:cubicBezTo>
                <a:lnTo>
                  <a:pt x="3733800" y="342899"/>
                </a:lnTo>
                <a:cubicBezTo>
                  <a:pt x="3733800" y="384984"/>
                  <a:pt x="3699684" y="419100"/>
                  <a:pt x="3657599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814388" y="4507706"/>
            <a:ext cx="3571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TopK 块索引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541240" y="4926806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50423" y="149602"/>
                </a:moveTo>
                <a:cubicBezTo>
                  <a:pt x="54144" y="153323"/>
                  <a:pt x="60186" y="153323"/>
                  <a:pt x="63907" y="149602"/>
                </a:cubicBezTo>
                <a:lnTo>
                  <a:pt x="111532" y="101977"/>
                </a:lnTo>
                <a:cubicBezTo>
                  <a:pt x="115253" y="98256"/>
                  <a:pt x="115253" y="92214"/>
                  <a:pt x="111532" y="88493"/>
                </a:cubicBezTo>
                <a:cubicBezTo>
                  <a:pt x="107811" y="84773"/>
                  <a:pt x="101769" y="84773"/>
                  <a:pt x="98048" y="88493"/>
                </a:cubicBezTo>
                <a:lnTo>
                  <a:pt x="66675" y="119866"/>
                </a:lnTo>
                <a:lnTo>
                  <a:pt x="66675" y="9525"/>
                </a:lnTo>
                <a:cubicBezTo>
                  <a:pt x="66675" y="4256"/>
                  <a:pt x="62419" y="0"/>
                  <a:pt x="57150" y="0"/>
                </a:cubicBezTo>
                <a:cubicBezTo>
                  <a:pt x="51881" y="0"/>
                  <a:pt x="47625" y="4256"/>
                  <a:pt x="47625" y="9525"/>
                </a:cubicBezTo>
                <a:lnTo>
                  <a:pt x="47625" y="119866"/>
                </a:lnTo>
                <a:lnTo>
                  <a:pt x="16252" y="88493"/>
                </a:lnTo>
                <a:cubicBezTo>
                  <a:pt x="12531" y="84772"/>
                  <a:pt x="6489" y="84772"/>
                  <a:pt x="2768" y="88493"/>
                </a:cubicBezTo>
                <a:cubicBezTo>
                  <a:pt x="-953" y="92214"/>
                  <a:pt x="-953" y="98256"/>
                  <a:pt x="2768" y="101977"/>
                </a:cubicBezTo>
                <a:lnTo>
                  <a:pt x="50393" y="149602"/>
                </a:ln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733425" y="5193506"/>
            <a:ext cx="3733800" cy="419100"/>
          </a:xfrm>
          <a:custGeom>
            <a:avLst/>
            <a:gdLst/>
            <a:ahLst/>
            <a:cxnLst/>
            <a:rect l="l" t="t" r="r" b="b"/>
            <a:pathLst>
              <a:path w="3733800" h="419100">
                <a:moveTo>
                  <a:pt x="76201" y="0"/>
                </a:moveTo>
                <a:lnTo>
                  <a:pt x="3657599" y="0"/>
                </a:lnTo>
                <a:cubicBezTo>
                  <a:pt x="3699684" y="0"/>
                  <a:pt x="3733800" y="34116"/>
                  <a:pt x="3733800" y="76201"/>
                </a:cubicBezTo>
                <a:lnTo>
                  <a:pt x="3733800" y="342899"/>
                </a:lnTo>
                <a:cubicBezTo>
                  <a:pt x="3733800" y="384984"/>
                  <a:pt x="3699684" y="419100"/>
                  <a:pt x="3657599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D4A26A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814388" y="5307806"/>
            <a:ext cx="3571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稀疏 MLA 解码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85788" y="5922169"/>
            <a:ext cx="4029075" cy="676275"/>
          </a:xfrm>
          <a:custGeom>
            <a:avLst/>
            <a:gdLst/>
            <a:ahLst/>
            <a:cxnLst/>
            <a:rect l="l" t="t" r="r" b="b"/>
            <a:pathLst>
              <a:path w="4029075" h="676275">
                <a:moveTo>
                  <a:pt x="76203" y="0"/>
                </a:moveTo>
                <a:lnTo>
                  <a:pt x="3952872" y="0"/>
                </a:lnTo>
                <a:cubicBezTo>
                  <a:pt x="3994958" y="0"/>
                  <a:pt x="4029075" y="34117"/>
                  <a:pt x="4029075" y="76203"/>
                </a:cubicBezTo>
                <a:lnTo>
                  <a:pt x="4029075" y="600072"/>
                </a:lnTo>
                <a:cubicBezTo>
                  <a:pt x="4029075" y="642158"/>
                  <a:pt x="3994958" y="676275"/>
                  <a:pt x="3952872" y="676275"/>
                </a:cubicBezTo>
                <a:lnTo>
                  <a:pt x="76203" y="676275"/>
                </a:lnTo>
                <a:cubicBezTo>
                  <a:pt x="34117" y="676275"/>
                  <a:pt x="0" y="642158"/>
                  <a:pt x="0" y="600072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D4A26A">
              <a:alpha val="10196"/>
            </a:srgbClr>
          </a:solidFill>
          <a:ln w="12700">
            <a:solidFill>
              <a:srgbClr val="D4A26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704850" y="6041231"/>
            <a:ext cx="38576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b="1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本质:</a:t>
            </a:r>
            <a:r>
              <a:rPr lang="en-US" sz="105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NSA 是"稀疏化的 MLA 体系"，依赖额外的 Indexer 与稀疏 block table 表达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049143" y="1033462"/>
            <a:ext cx="6753225" cy="4105275"/>
          </a:xfrm>
          <a:custGeom>
            <a:avLst/>
            <a:gdLst/>
            <a:ahLst/>
            <a:cxnLst/>
            <a:rect l="l" t="t" r="r" b="b"/>
            <a:pathLst>
              <a:path w="6753225" h="4105275">
                <a:moveTo>
                  <a:pt x="114291" y="0"/>
                </a:moveTo>
                <a:lnTo>
                  <a:pt x="6638934" y="0"/>
                </a:lnTo>
                <a:cubicBezTo>
                  <a:pt x="6702013" y="0"/>
                  <a:pt x="6753225" y="51212"/>
                  <a:pt x="6753225" y="114291"/>
                </a:cubicBezTo>
                <a:lnTo>
                  <a:pt x="6753225" y="3990984"/>
                </a:lnTo>
                <a:cubicBezTo>
                  <a:pt x="6753225" y="4054105"/>
                  <a:pt x="6702055" y="4105275"/>
                  <a:pt x="6638934" y="4105275"/>
                </a:cubicBezTo>
                <a:lnTo>
                  <a:pt x="114291" y="4105275"/>
                </a:lnTo>
                <a:cubicBezTo>
                  <a:pt x="51170" y="4105275"/>
                  <a:pt x="0" y="4054105"/>
                  <a:pt x="0" y="3990984"/>
                </a:cubicBezTo>
                <a:lnTo>
                  <a:pt x="0" y="114291"/>
                </a:lnTo>
                <a:cubicBezTo>
                  <a:pt x="0" y="51170"/>
                  <a:pt x="51170" y="0"/>
                  <a:pt x="114291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5256312" y="126682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5596830" y="1228725"/>
            <a:ext cx="2133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E0E2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mama ShuHeiTi" pitchFamily="34" charset="-120"/>
              </a:rPr>
              <a:t>Sparse MLA判定与后端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244405" y="1647825"/>
            <a:ext cx="6429375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vLLM 将 NSA 建模为附带稀疏特性的 MLA。通过识别 </a:t>
            </a:r>
            <a:r>
              <a:rPr lang="en-US" sz="1050" dirty="0">
                <a:solidFill>
                  <a:srgbClr val="D4A26A"/>
                </a:solidFill>
                <a:highlight>
                  <a:srgbClr val="2C3238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index_topk </a:t>
            </a:r>
            <a:r>
              <a:rPr lang="en-US" sz="105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配置分配全局稀疏索引缓冲区，实例化 </a:t>
            </a:r>
            <a:r>
              <a:rPr lang="en-US" sz="1050" dirty="0">
                <a:solidFill>
                  <a:srgbClr val="D4A26A"/>
                </a:solidFill>
                <a:highlight>
                  <a:srgbClr val="2C3238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Indexer </a:t>
            </a:r>
            <a:r>
              <a:rPr lang="en-US" sz="105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模块，并调用带有 </a:t>
            </a:r>
            <a:r>
              <a:rPr lang="en-US" sz="1050" dirty="0">
                <a:solidFill>
                  <a:srgbClr val="D4A26A"/>
                </a:solidFill>
                <a:highlight>
                  <a:srgbClr val="2C3238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use_sparse=True </a:t>
            </a:r>
            <a:r>
              <a:rPr lang="en-US" sz="105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的注意力后端。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244405" y="2243138"/>
            <a:ext cx="6362700" cy="1524000"/>
          </a:xfrm>
          <a:custGeom>
            <a:avLst/>
            <a:gdLst/>
            <a:ahLst/>
            <a:cxnLst/>
            <a:rect l="l" t="t" r="r" b="b"/>
            <a:pathLst>
              <a:path w="6362700" h="1524000">
                <a:moveTo>
                  <a:pt x="76200" y="0"/>
                </a:moveTo>
                <a:lnTo>
                  <a:pt x="6286500" y="0"/>
                </a:lnTo>
                <a:cubicBezTo>
                  <a:pt x="6328556" y="0"/>
                  <a:pt x="6362700" y="34144"/>
                  <a:pt x="6362700" y="76200"/>
                </a:cubicBezTo>
                <a:lnTo>
                  <a:pt x="6362700" y="1447800"/>
                </a:lnTo>
                <a:cubicBezTo>
                  <a:pt x="6362700" y="1489856"/>
                  <a:pt x="6328556" y="1524000"/>
                  <a:pt x="6286500" y="1524000"/>
                </a:cubicBezTo>
                <a:lnTo>
                  <a:pt x="76200" y="1524000"/>
                </a:lnTo>
                <a:cubicBezTo>
                  <a:pt x="34144" y="1524000"/>
                  <a:pt x="0" y="1489856"/>
                  <a:pt x="0" y="1447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C323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5358705" y="2357438"/>
            <a:ext cx="6191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vllm/model_executor/models/deepseek_v2.py::DeepseekV2Model.__init__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358705" y="2595563"/>
            <a:ext cx="32226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self.is_v32 = hasattr(config, "index_topk") if self.is_v32: topk_tokens = config.index_topk topk_indices_buffer = torch.empty( max_num_batched_tokens, topk_tokens, dtype=torch.int32, device=self.device, )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244405" y="3881438"/>
            <a:ext cx="6362700" cy="914400"/>
          </a:xfrm>
          <a:custGeom>
            <a:avLst/>
            <a:gdLst/>
            <a:ahLst/>
            <a:cxnLst/>
            <a:rect l="l" t="t" r="r" b="b"/>
            <a:pathLst>
              <a:path w="6362700" h="914400">
                <a:moveTo>
                  <a:pt x="76197" y="0"/>
                </a:moveTo>
                <a:lnTo>
                  <a:pt x="6286503" y="0"/>
                </a:lnTo>
                <a:cubicBezTo>
                  <a:pt x="6328585" y="0"/>
                  <a:pt x="6362700" y="34115"/>
                  <a:pt x="6362700" y="76197"/>
                </a:cubicBezTo>
                <a:lnTo>
                  <a:pt x="6362700" y="838203"/>
                </a:lnTo>
                <a:cubicBezTo>
                  <a:pt x="6362700" y="880285"/>
                  <a:pt x="6328585" y="914400"/>
                  <a:pt x="6286503" y="914400"/>
                </a:cubicBezTo>
                <a:lnTo>
                  <a:pt x="76197" y="914400"/>
                </a:lnTo>
                <a:cubicBezTo>
                  <a:pt x="34115" y="914400"/>
                  <a:pt x="0" y="880285"/>
                  <a:pt x="0" y="8382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2C323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5358705" y="3995738"/>
            <a:ext cx="6191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vllm/model_executor/models/deepseek_v2.py::DeepseekV2MLAAttention.__init__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358705" y="4233863"/>
            <a:ext cx="3290292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 self.is_v32: self.indexer_rope_emb = get_rope(...) self.indexer = Indexer(...) # 实例化Indexer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049143" y="5298281"/>
            <a:ext cx="3295650" cy="1495425"/>
          </a:xfrm>
          <a:custGeom>
            <a:avLst/>
            <a:gdLst/>
            <a:ahLst/>
            <a:cxnLst/>
            <a:rect l="l" t="t" r="r" b="b"/>
            <a:pathLst>
              <a:path w="3295650" h="1495425">
                <a:moveTo>
                  <a:pt x="114295" y="0"/>
                </a:moveTo>
                <a:lnTo>
                  <a:pt x="3181355" y="0"/>
                </a:lnTo>
                <a:cubicBezTo>
                  <a:pt x="3244478" y="0"/>
                  <a:pt x="3295650" y="51172"/>
                  <a:pt x="3295650" y="114295"/>
                </a:cubicBezTo>
                <a:lnTo>
                  <a:pt x="3295650" y="1381130"/>
                </a:lnTo>
                <a:cubicBezTo>
                  <a:pt x="3295650" y="1444253"/>
                  <a:pt x="3244478" y="1495425"/>
                  <a:pt x="3181355" y="1495425"/>
                </a:cubicBezTo>
                <a:lnTo>
                  <a:pt x="114295" y="1495425"/>
                </a:lnTo>
                <a:cubicBezTo>
                  <a:pt x="51172" y="1495425"/>
                  <a:pt x="0" y="1444253"/>
                  <a:pt x="0" y="1381130"/>
                </a:cubicBezTo>
                <a:lnTo>
                  <a:pt x="0" y="114295"/>
                </a:lnTo>
                <a:cubicBezTo>
                  <a:pt x="0" y="51172"/>
                  <a:pt x="51172" y="0"/>
                  <a:pt x="114295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5225355" y="549354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5473005" y="5455444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关键机制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206305" y="5760244"/>
            <a:ext cx="304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检测 index_topk 配置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206305" y="5988844"/>
            <a:ext cx="304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预分配 TopK 索引 Buffer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206305" y="6217444"/>
            <a:ext cx="304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实例化独立 Indexer 模块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206305" y="6446044"/>
            <a:ext cx="304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调用 use_sparse=True 后端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508653" y="5298281"/>
            <a:ext cx="3295650" cy="1495425"/>
          </a:xfrm>
          <a:custGeom>
            <a:avLst/>
            <a:gdLst/>
            <a:ahLst/>
            <a:cxnLst/>
            <a:rect l="l" t="t" r="r" b="b"/>
            <a:pathLst>
              <a:path w="3295650" h="1495425">
                <a:moveTo>
                  <a:pt x="114295" y="0"/>
                </a:moveTo>
                <a:lnTo>
                  <a:pt x="3181355" y="0"/>
                </a:lnTo>
                <a:cubicBezTo>
                  <a:pt x="3244478" y="0"/>
                  <a:pt x="3295650" y="51172"/>
                  <a:pt x="3295650" y="114295"/>
                </a:cubicBezTo>
                <a:lnTo>
                  <a:pt x="3295650" y="1381130"/>
                </a:lnTo>
                <a:cubicBezTo>
                  <a:pt x="3295650" y="1444253"/>
                  <a:pt x="3244478" y="1495425"/>
                  <a:pt x="3181355" y="1495425"/>
                </a:cubicBezTo>
                <a:lnTo>
                  <a:pt x="114295" y="1495425"/>
                </a:lnTo>
                <a:cubicBezTo>
                  <a:pt x="51172" y="1495425"/>
                  <a:pt x="0" y="1444253"/>
                  <a:pt x="0" y="1381130"/>
                </a:cubicBezTo>
                <a:lnTo>
                  <a:pt x="0" y="114295"/>
                </a:lnTo>
                <a:cubicBezTo>
                  <a:pt x="0" y="51172"/>
                  <a:pt x="51172" y="0"/>
                  <a:pt x="114295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8694390" y="5493544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9050" y="9525"/>
                </a:moveTo>
                <a:cubicBezTo>
                  <a:pt x="8543" y="9525"/>
                  <a:pt x="0" y="18068"/>
                  <a:pt x="0" y="28575"/>
                </a:cubicBezTo>
                <a:lnTo>
                  <a:pt x="0" y="47625"/>
                </a:lnTo>
                <a:cubicBezTo>
                  <a:pt x="0" y="58132"/>
                  <a:pt x="8543" y="66675"/>
                  <a:pt x="19050" y="66675"/>
                </a:cubicBezTo>
                <a:lnTo>
                  <a:pt x="114300" y="66675"/>
                </a:lnTo>
                <a:cubicBezTo>
                  <a:pt x="124807" y="66675"/>
                  <a:pt x="133350" y="58132"/>
                  <a:pt x="133350" y="47625"/>
                </a:cubicBezTo>
                <a:lnTo>
                  <a:pt x="133350" y="28575"/>
                </a:lnTo>
                <a:cubicBezTo>
                  <a:pt x="133350" y="18068"/>
                  <a:pt x="124807" y="9525"/>
                  <a:pt x="114300" y="9525"/>
                </a:cubicBezTo>
                <a:lnTo>
                  <a:pt x="19050" y="9525"/>
                </a:lnTo>
                <a:close/>
                <a:moveTo>
                  <a:pt x="83344" y="30956"/>
                </a:moveTo>
                <a:cubicBezTo>
                  <a:pt x="87286" y="30956"/>
                  <a:pt x="90488" y="34157"/>
                  <a:pt x="90488" y="38100"/>
                </a:cubicBezTo>
                <a:cubicBezTo>
                  <a:pt x="90488" y="42043"/>
                  <a:pt x="87286" y="45244"/>
                  <a:pt x="83344" y="45244"/>
                </a:cubicBezTo>
                <a:cubicBezTo>
                  <a:pt x="79401" y="45244"/>
                  <a:pt x="76200" y="42043"/>
                  <a:pt x="76200" y="38100"/>
                </a:cubicBezTo>
                <a:cubicBezTo>
                  <a:pt x="76200" y="34157"/>
                  <a:pt x="79401" y="30956"/>
                  <a:pt x="83344" y="30956"/>
                </a:cubicBezTo>
                <a:close/>
                <a:moveTo>
                  <a:pt x="100013" y="38100"/>
                </a:moveTo>
                <a:cubicBezTo>
                  <a:pt x="100013" y="34157"/>
                  <a:pt x="103214" y="30956"/>
                  <a:pt x="107156" y="30956"/>
                </a:cubicBezTo>
                <a:cubicBezTo>
                  <a:pt x="111099" y="30956"/>
                  <a:pt x="114300" y="34157"/>
                  <a:pt x="114300" y="38100"/>
                </a:cubicBezTo>
                <a:cubicBezTo>
                  <a:pt x="114300" y="42043"/>
                  <a:pt x="111099" y="45244"/>
                  <a:pt x="107156" y="45244"/>
                </a:cubicBezTo>
                <a:cubicBezTo>
                  <a:pt x="103214" y="45244"/>
                  <a:pt x="100013" y="42043"/>
                  <a:pt x="100013" y="38100"/>
                </a:cubicBezTo>
                <a:close/>
                <a:moveTo>
                  <a:pt x="19050" y="85725"/>
                </a:moveTo>
                <a:cubicBezTo>
                  <a:pt x="8543" y="85725"/>
                  <a:pt x="0" y="94268"/>
                  <a:pt x="0" y="104775"/>
                </a:cubicBez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14300" y="142875"/>
                </a:lnTo>
                <a:cubicBezTo>
                  <a:pt x="124807" y="142875"/>
                  <a:pt x="133350" y="134332"/>
                  <a:pt x="133350" y="123825"/>
                </a:cubicBezTo>
                <a:lnTo>
                  <a:pt x="133350" y="104775"/>
                </a:lnTo>
                <a:cubicBezTo>
                  <a:pt x="133350" y="94268"/>
                  <a:pt x="124807" y="85725"/>
                  <a:pt x="114300" y="85725"/>
                </a:cubicBezTo>
                <a:lnTo>
                  <a:pt x="19050" y="85725"/>
                </a:lnTo>
                <a:close/>
                <a:moveTo>
                  <a:pt x="83344" y="107156"/>
                </a:moveTo>
                <a:cubicBezTo>
                  <a:pt x="87286" y="107156"/>
                  <a:pt x="90488" y="110357"/>
                  <a:pt x="90488" y="114300"/>
                </a:cubicBezTo>
                <a:cubicBezTo>
                  <a:pt x="90488" y="118243"/>
                  <a:pt x="87286" y="121444"/>
                  <a:pt x="83344" y="121444"/>
                </a:cubicBezTo>
                <a:cubicBezTo>
                  <a:pt x="79401" y="121444"/>
                  <a:pt x="76200" y="118243"/>
                  <a:pt x="76200" y="114300"/>
                </a:cubicBezTo>
                <a:cubicBezTo>
                  <a:pt x="76200" y="110357"/>
                  <a:pt x="79401" y="107156"/>
                  <a:pt x="83344" y="107156"/>
                </a:cubicBezTo>
                <a:close/>
                <a:moveTo>
                  <a:pt x="100013" y="114300"/>
                </a:moveTo>
                <a:cubicBezTo>
                  <a:pt x="100013" y="110357"/>
                  <a:pt x="103214" y="107156"/>
                  <a:pt x="107156" y="107156"/>
                </a:cubicBezTo>
                <a:cubicBezTo>
                  <a:pt x="111099" y="107156"/>
                  <a:pt x="114300" y="110357"/>
                  <a:pt x="114300" y="114300"/>
                </a:cubicBezTo>
                <a:cubicBezTo>
                  <a:pt x="114300" y="118243"/>
                  <a:pt x="111099" y="121444"/>
                  <a:pt x="107156" y="121444"/>
                </a:cubicBezTo>
                <a:cubicBezTo>
                  <a:pt x="103214" y="121444"/>
                  <a:pt x="100013" y="118243"/>
                  <a:pt x="100013" y="114300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8932515" y="5455444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稀疏后端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665815" y="5760244"/>
            <a:ext cx="2981325" cy="266700"/>
          </a:xfrm>
          <a:custGeom>
            <a:avLst/>
            <a:gdLst/>
            <a:ahLst/>
            <a:cxnLst/>
            <a:rect l="l" t="t" r="r" b="b"/>
            <a:pathLst>
              <a:path w="2981325" h="266700">
                <a:moveTo>
                  <a:pt x="38101" y="0"/>
                </a:moveTo>
                <a:lnTo>
                  <a:pt x="2943224" y="0"/>
                </a:lnTo>
                <a:cubicBezTo>
                  <a:pt x="2964267" y="0"/>
                  <a:pt x="2981325" y="17058"/>
                  <a:pt x="2981325" y="38101"/>
                </a:cubicBezTo>
                <a:lnTo>
                  <a:pt x="2981325" y="228599"/>
                </a:lnTo>
                <a:cubicBezTo>
                  <a:pt x="2981325" y="249642"/>
                  <a:pt x="2964267" y="266700"/>
                  <a:pt x="294322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8670578" y="5798344"/>
            <a:ext cx="297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FLASHMLA_SPARSE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665815" y="6065044"/>
            <a:ext cx="2981325" cy="266700"/>
          </a:xfrm>
          <a:custGeom>
            <a:avLst/>
            <a:gdLst/>
            <a:ahLst/>
            <a:cxnLst/>
            <a:rect l="l" t="t" r="r" b="b"/>
            <a:pathLst>
              <a:path w="2981325" h="266700">
                <a:moveTo>
                  <a:pt x="38101" y="0"/>
                </a:moveTo>
                <a:lnTo>
                  <a:pt x="2943224" y="0"/>
                </a:lnTo>
                <a:cubicBezTo>
                  <a:pt x="2964267" y="0"/>
                  <a:pt x="2981325" y="17058"/>
                  <a:pt x="2981325" y="38101"/>
                </a:cubicBezTo>
                <a:lnTo>
                  <a:pt x="2981325" y="228599"/>
                </a:lnTo>
                <a:cubicBezTo>
                  <a:pt x="2981325" y="249642"/>
                  <a:pt x="2964267" y="266700"/>
                  <a:pt x="294322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8670578" y="6103144"/>
            <a:ext cx="297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FLASHINFER_MLA_SPARSE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665815" y="6369844"/>
            <a:ext cx="2981325" cy="266700"/>
          </a:xfrm>
          <a:custGeom>
            <a:avLst/>
            <a:gdLst/>
            <a:ahLst/>
            <a:cxnLst/>
            <a:rect l="l" t="t" r="r" b="b"/>
            <a:pathLst>
              <a:path w="2981325" h="266700">
                <a:moveTo>
                  <a:pt x="38101" y="0"/>
                </a:moveTo>
                <a:lnTo>
                  <a:pt x="2943224" y="0"/>
                </a:lnTo>
                <a:cubicBezTo>
                  <a:pt x="2964267" y="0"/>
                  <a:pt x="2981325" y="17058"/>
                  <a:pt x="2981325" y="38101"/>
                </a:cubicBezTo>
                <a:lnTo>
                  <a:pt x="2981325" y="228599"/>
                </a:lnTo>
                <a:cubicBezTo>
                  <a:pt x="2981325" y="249642"/>
                  <a:pt x="2964267" y="266700"/>
                  <a:pt x="294322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8670578" y="6407944"/>
            <a:ext cx="297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ROCM_AITER_MLA_SPARSE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7495" y="337495"/>
            <a:ext cx="11668883" cy="337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92" dirty="0">
                <a:solidFill>
                  <a:srgbClr val="E0E2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mama ShuHeiTi" pitchFamily="34" charset="-120"/>
              </a:rPr>
              <a:t>MHA、MLA、NSA 架构对比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37495" y="742489"/>
            <a:ext cx="809988" cy="33749"/>
          </a:xfrm>
          <a:custGeom>
            <a:avLst/>
            <a:gdLst/>
            <a:ahLst/>
            <a:cxnLst/>
            <a:rect l="l" t="t" r="r" b="b"/>
            <a:pathLst>
              <a:path w="809988" h="33749">
                <a:moveTo>
                  <a:pt x="0" y="0"/>
                </a:moveTo>
                <a:lnTo>
                  <a:pt x="809988" y="0"/>
                </a:lnTo>
                <a:lnTo>
                  <a:pt x="809988" y="33749"/>
                </a:lnTo>
                <a:lnTo>
                  <a:pt x="0" y="33749"/>
                </a:lnTo>
                <a:lnTo>
                  <a:pt x="0" y="0"/>
                </a:ln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341713" y="915455"/>
            <a:ext cx="11508573" cy="3625014"/>
          </a:xfrm>
          <a:custGeom>
            <a:avLst/>
            <a:gdLst/>
            <a:ahLst/>
            <a:cxnLst/>
            <a:rect l="l" t="t" r="r" b="b"/>
            <a:pathLst>
              <a:path w="11508573" h="2607147">
                <a:moveTo>
                  <a:pt x="101236" y="0"/>
                </a:moveTo>
                <a:lnTo>
                  <a:pt x="11407337" y="0"/>
                </a:lnTo>
                <a:cubicBezTo>
                  <a:pt x="11463248" y="0"/>
                  <a:pt x="11508573" y="45325"/>
                  <a:pt x="11508573" y="101236"/>
                </a:cubicBezTo>
                <a:lnTo>
                  <a:pt x="11508573" y="2505912"/>
                </a:lnTo>
                <a:cubicBezTo>
                  <a:pt x="11508573" y="2561823"/>
                  <a:pt x="11463248" y="2607147"/>
                  <a:pt x="11407337" y="2607147"/>
                </a:cubicBezTo>
                <a:lnTo>
                  <a:pt x="101236" y="2607147"/>
                </a:lnTo>
                <a:cubicBezTo>
                  <a:pt x="45325" y="2607147"/>
                  <a:pt x="0" y="2561823"/>
                  <a:pt x="0" y="2505912"/>
                </a:cubicBezTo>
                <a:lnTo>
                  <a:pt x="0" y="101236"/>
                </a:lnTo>
                <a:cubicBezTo>
                  <a:pt x="0" y="45362"/>
                  <a:pt x="45362" y="0"/>
                  <a:pt x="101236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14680" y="1122170"/>
            <a:ext cx="210934" cy="168747"/>
          </a:xfrm>
          <a:custGeom>
            <a:avLst/>
            <a:gdLst/>
            <a:ahLst/>
            <a:cxnLst/>
            <a:rect l="l" t="t" r="r" b="b"/>
            <a:pathLst>
              <a:path w="210934" h="168747">
                <a:moveTo>
                  <a:pt x="126561" y="10547"/>
                </a:moveTo>
                <a:lnTo>
                  <a:pt x="168747" y="10547"/>
                </a:lnTo>
                <a:cubicBezTo>
                  <a:pt x="174581" y="10547"/>
                  <a:pt x="179294" y="15260"/>
                  <a:pt x="179294" y="21093"/>
                </a:cubicBezTo>
                <a:cubicBezTo>
                  <a:pt x="179294" y="26927"/>
                  <a:pt x="174581" y="31640"/>
                  <a:pt x="168747" y="31640"/>
                </a:cubicBezTo>
                <a:lnTo>
                  <a:pt x="131307" y="31640"/>
                </a:lnTo>
                <a:cubicBezTo>
                  <a:pt x="129593" y="40143"/>
                  <a:pt x="123759" y="47164"/>
                  <a:pt x="116014" y="50525"/>
                </a:cubicBezTo>
                <a:lnTo>
                  <a:pt x="116014" y="147654"/>
                </a:lnTo>
                <a:lnTo>
                  <a:pt x="168747" y="147654"/>
                </a:lnTo>
                <a:cubicBezTo>
                  <a:pt x="174581" y="147654"/>
                  <a:pt x="179294" y="152367"/>
                  <a:pt x="179294" y="158201"/>
                </a:cubicBezTo>
                <a:cubicBezTo>
                  <a:pt x="179294" y="164034"/>
                  <a:pt x="174581" y="168747"/>
                  <a:pt x="168747" y="168747"/>
                </a:cubicBezTo>
                <a:lnTo>
                  <a:pt x="42187" y="168747"/>
                </a:lnTo>
                <a:cubicBezTo>
                  <a:pt x="36353" y="168747"/>
                  <a:pt x="31640" y="164034"/>
                  <a:pt x="31640" y="158201"/>
                </a:cubicBezTo>
                <a:cubicBezTo>
                  <a:pt x="31640" y="152367"/>
                  <a:pt x="36353" y="147654"/>
                  <a:pt x="42187" y="147654"/>
                </a:cubicBezTo>
                <a:lnTo>
                  <a:pt x="94920" y="147654"/>
                </a:lnTo>
                <a:lnTo>
                  <a:pt x="94920" y="50525"/>
                </a:lnTo>
                <a:cubicBezTo>
                  <a:pt x="87175" y="47131"/>
                  <a:pt x="81342" y="40110"/>
                  <a:pt x="79628" y="31640"/>
                </a:cubicBezTo>
                <a:lnTo>
                  <a:pt x="42187" y="31640"/>
                </a:lnTo>
                <a:cubicBezTo>
                  <a:pt x="36353" y="31640"/>
                  <a:pt x="31640" y="26927"/>
                  <a:pt x="31640" y="21093"/>
                </a:cubicBezTo>
                <a:cubicBezTo>
                  <a:pt x="31640" y="15260"/>
                  <a:pt x="36353" y="10547"/>
                  <a:pt x="42187" y="10547"/>
                </a:cubicBezTo>
                <a:lnTo>
                  <a:pt x="84374" y="10547"/>
                </a:lnTo>
                <a:cubicBezTo>
                  <a:pt x="89186" y="4153"/>
                  <a:pt x="96832" y="0"/>
                  <a:pt x="105467" y="0"/>
                </a:cubicBezTo>
                <a:cubicBezTo>
                  <a:pt x="114102" y="0"/>
                  <a:pt x="121749" y="4153"/>
                  <a:pt x="126561" y="10547"/>
                </a:cubicBezTo>
                <a:close/>
                <a:moveTo>
                  <a:pt x="144885" y="105467"/>
                </a:moveTo>
                <a:lnTo>
                  <a:pt x="192609" y="105467"/>
                </a:lnTo>
                <a:lnTo>
                  <a:pt x="168747" y="64533"/>
                </a:lnTo>
                <a:lnTo>
                  <a:pt x="144885" y="105467"/>
                </a:lnTo>
                <a:close/>
                <a:moveTo>
                  <a:pt x="168747" y="137107"/>
                </a:moveTo>
                <a:cubicBezTo>
                  <a:pt x="148017" y="137107"/>
                  <a:pt x="130779" y="125901"/>
                  <a:pt x="127220" y="111103"/>
                </a:cubicBezTo>
                <a:cubicBezTo>
                  <a:pt x="126363" y="107478"/>
                  <a:pt x="127549" y="103753"/>
                  <a:pt x="129428" y="100523"/>
                </a:cubicBezTo>
                <a:lnTo>
                  <a:pt x="160804" y="46735"/>
                </a:lnTo>
                <a:cubicBezTo>
                  <a:pt x="162452" y="43901"/>
                  <a:pt x="165485" y="42187"/>
                  <a:pt x="168747" y="42187"/>
                </a:cubicBezTo>
                <a:cubicBezTo>
                  <a:pt x="172010" y="42187"/>
                  <a:pt x="175042" y="43934"/>
                  <a:pt x="176690" y="46735"/>
                </a:cubicBezTo>
                <a:lnTo>
                  <a:pt x="208067" y="100523"/>
                </a:lnTo>
                <a:cubicBezTo>
                  <a:pt x="209946" y="103753"/>
                  <a:pt x="211132" y="107478"/>
                  <a:pt x="210275" y="111103"/>
                </a:cubicBezTo>
                <a:cubicBezTo>
                  <a:pt x="206716" y="125868"/>
                  <a:pt x="189478" y="137107"/>
                  <a:pt x="168747" y="137107"/>
                </a:cubicBezTo>
                <a:close/>
                <a:moveTo>
                  <a:pt x="41791" y="64533"/>
                </a:moveTo>
                <a:lnTo>
                  <a:pt x="17929" y="105467"/>
                </a:lnTo>
                <a:lnTo>
                  <a:pt x="65686" y="105467"/>
                </a:lnTo>
                <a:lnTo>
                  <a:pt x="41791" y="64533"/>
                </a:lnTo>
                <a:close/>
                <a:moveTo>
                  <a:pt x="297" y="111103"/>
                </a:moveTo>
                <a:cubicBezTo>
                  <a:pt x="-560" y="107478"/>
                  <a:pt x="626" y="103753"/>
                  <a:pt x="2505" y="100523"/>
                </a:cubicBezTo>
                <a:lnTo>
                  <a:pt x="33881" y="46735"/>
                </a:lnTo>
                <a:cubicBezTo>
                  <a:pt x="35529" y="43901"/>
                  <a:pt x="38561" y="42187"/>
                  <a:pt x="41824" y="42187"/>
                </a:cubicBezTo>
                <a:cubicBezTo>
                  <a:pt x="45087" y="42187"/>
                  <a:pt x="48119" y="43934"/>
                  <a:pt x="49767" y="46735"/>
                </a:cubicBezTo>
                <a:lnTo>
                  <a:pt x="81144" y="100523"/>
                </a:lnTo>
                <a:cubicBezTo>
                  <a:pt x="83022" y="103753"/>
                  <a:pt x="84209" y="107478"/>
                  <a:pt x="83352" y="111103"/>
                </a:cubicBezTo>
                <a:cubicBezTo>
                  <a:pt x="79792" y="125868"/>
                  <a:pt x="62555" y="137107"/>
                  <a:pt x="41824" y="137107"/>
                </a:cubicBezTo>
                <a:cubicBezTo>
                  <a:pt x="21093" y="137107"/>
                  <a:pt x="3856" y="125901"/>
                  <a:pt x="297" y="111103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26862" y="1088421"/>
            <a:ext cx="1771848" cy="236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9" dirty="0">
                <a:solidFill>
                  <a:srgbClr val="E0E2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mama ShuHeiTi" pitchFamily="34" charset="-120"/>
              </a:rPr>
              <a:t>架构特征与复杂度对比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4956362"/>
              </p:ext>
            </p:extLst>
          </p:nvPr>
        </p:nvGraphicFramePr>
        <p:xfrm>
          <a:off x="514680" y="1459665"/>
          <a:ext cx="11162640" cy="2912640"/>
        </p:xfrm>
        <a:graphic>
          <a:graphicData uri="http://schemas.openxmlformats.org/drawingml/2006/table">
            <a:tbl>
              <a:tblPr/>
              <a:tblGrid>
                <a:gridCol w="20824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73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363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665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2528"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D4A26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维度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4998" marR="134998" marT="101248" marB="10124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2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D4A26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MHA / MQA / GQA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4998" marR="134998" marT="101248" marB="10124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2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D4A26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MLA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4998" marR="134998" marT="101248" marB="10124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2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D4A26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NSA (Sparse MLA)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4998" marR="134998" marT="101248" marB="10124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528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D4A26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KV 存储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4998" marR="134998" marT="101248" marB="10124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显式 K / V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4998" marR="134998" marT="101248" marB="10124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低秩潜变量 + 位置分量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4998" marR="134998" marT="101248" marB="10124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MLA KV + 索引缓存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4998" marR="134998" marT="101248" marB="10124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528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D4A26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decode 计算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4998" marR="134998" marT="101248" marB="10124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23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全量上下文参与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4998" marR="134998" marT="101248" marB="10124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23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全量上下文参与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4998" marR="134998" marT="101248" marB="10124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23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TopK 块参与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4998" marR="134998" marT="101248" marB="10124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238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528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D4A26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典型复杂度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4998" marR="134998" marT="101248" marB="10124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O(n) （单步 decode）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4998" marR="134998" marT="101248" marB="10124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O(n) （单步 decode）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4998" marR="134998" marT="101248" marB="10124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近似 O(k) （k ≪ n）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4998" marR="134998" marT="101248" marB="10124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2528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D4A26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典型适用区间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4998" marR="134998" marT="101248" marB="10124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C323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中短上下文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4998" marR="134998" marT="101248" marB="10124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C323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中长上下文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4998" marR="134998" marT="101248" marB="10124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C323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超长上下文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4998" marR="134998" marT="101248" marB="10124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C3238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337495" y="4916515"/>
            <a:ext cx="3737755" cy="717176"/>
          </a:xfrm>
          <a:custGeom>
            <a:avLst/>
            <a:gdLst/>
            <a:ahLst/>
            <a:cxnLst/>
            <a:rect l="l" t="t" r="r" b="b"/>
            <a:pathLst>
              <a:path w="3737755" h="717176">
                <a:moveTo>
                  <a:pt x="101251" y="0"/>
                </a:moveTo>
                <a:lnTo>
                  <a:pt x="3636504" y="0"/>
                </a:lnTo>
                <a:cubicBezTo>
                  <a:pt x="3692423" y="0"/>
                  <a:pt x="3737755" y="45332"/>
                  <a:pt x="3737755" y="101251"/>
                </a:cubicBezTo>
                <a:lnTo>
                  <a:pt x="3737755" y="615925"/>
                </a:lnTo>
                <a:cubicBezTo>
                  <a:pt x="3737755" y="671845"/>
                  <a:pt x="3692423" y="717176"/>
                  <a:pt x="3636504" y="717176"/>
                </a:cubicBezTo>
                <a:lnTo>
                  <a:pt x="101251" y="717176"/>
                </a:lnTo>
                <a:cubicBezTo>
                  <a:pt x="45369" y="717176"/>
                  <a:pt x="0" y="671807"/>
                  <a:pt x="0" y="615925"/>
                </a:cubicBezTo>
                <a:lnTo>
                  <a:pt x="0" y="101251"/>
                </a:lnTo>
                <a:cubicBezTo>
                  <a:pt x="0" y="45369"/>
                  <a:pt x="45369" y="0"/>
                  <a:pt x="101251" y="0"/>
                </a:cubicBezTo>
                <a:close/>
              </a:path>
            </a:pathLst>
          </a:custGeom>
          <a:solidFill>
            <a:srgbClr val="D4A26A">
              <a:alpha val="10196"/>
            </a:srgbClr>
          </a:solidFill>
          <a:ln w="12700">
            <a:solidFill>
              <a:srgbClr val="D4A26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9"/>
          <p:cNvSpPr/>
          <p:nvPr/>
        </p:nvSpPr>
        <p:spPr>
          <a:xfrm>
            <a:off x="493587" y="5089481"/>
            <a:ext cx="134998" cy="134998"/>
          </a:xfrm>
          <a:custGeom>
            <a:avLst/>
            <a:gdLst/>
            <a:ahLst/>
            <a:cxnLst/>
            <a:rect l="l" t="t" r="r" b="b"/>
            <a:pathLst>
              <a:path w="134998" h="134998">
                <a:moveTo>
                  <a:pt x="16875" y="16875"/>
                </a:moveTo>
                <a:cubicBezTo>
                  <a:pt x="16875" y="12208"/>
                  <a:pt x="13104" y="8437"/>
                  <a:pt x="8437" y="8437"/>
                </a:cubicBezTo>
                <a:cubicBezTo>
                  <a:pt x="3770" y="8437"/>
                  <a:pt x="0" y="12208"/>
                  <a:pt x="0" y="16875"/>
                </a:cubicBezTo>
                <a:lnTo>
                  <a:pt x="0" y="105467"/>
                </a:lnTo>
                <a:cubicBezTo>
                  <a:pt x="0" y="117121"/>
                  <a:pt x="9439" y="126561"/>
                  <a:pt x="21093" y="126561"/>
                </a:cubicBezTo>
                <a:lnTo>
                  <a:pt x="126561" y="126561"/>
                </a:lnTo>
                <a:cubicBezTo>
                  <a:pt x="131227" y="126561"/>
                  <a:pt x="134998" y="122790"/>
                  <a:pt x="134998" y="118123"/>
                </a:cubicBezTo>
                <a:cubicBezTo>
                  <a:pt x="134998" y="113456"/>
                  <a:pt x="131227" y="109686"/>
                  <a:pt x="126561" y="109686"/>
                </a:cubicBezTo>
                <a:lnTo>
                  <a:pt x="21093" y="109686"/>
                </a:lnTo>
                <a:cubicBezTo>
                  <a:pt x="18773" y="109686"/>
                  <a:pt x="16875" y="107787"/>
                  <a:pt x="16875" y="105467"/>
                </a:cubicBezTo>
                <a:lnTo>
                  <a:pt x="16875" y="16875"/>
                </a:lnTo>
                <a:close/>
                <a:moveTo>
                  <a:pt x="124082" y="39708"/>
                </a:moveTo>
                <a:cubicBezTo>
                  <a:pt x="127378" y="36413"/>
                  <a:pt x="127378" y="31060"/>
                  <a:pt x="124082" y="27764"/>
                </a:cubicBezTo>
                <a:cubicBezTo>
                  <a:pt x="120786" y="24468"/>
                  <a:pt x="115434" y="24468"/>
                  <a:pt x="112138" y="27764"/>
                </a:cubicBezTo>
                <a:lnTo>
                  <a:pt x="84374" y="55555"/>
                </a:lnTo>
                <a:lnTo>
                  <a:pt x="69239" y="40447"/>
                </a:lnTo>
                <a:cubicBezTo>
                  <a:pt x="65943" y="37151"/>
                  <a:pt x="60591" y="37151"/>
                  <a:pt x="57295" y="40447"/>
                </a:cubicBezTo>
                <a:lnTo>
                  <a:pt x="31983" y="65759"/>
                </a:lnTo>
                <a:cubicBezTo>
                  <a:pt x="28687" y="69055"/>
                  <a:pt x="28687" y="74407"/>
                  <a:pt x="31983" y="77703"/>
                </a:cubicBezTo>
                <a:cubicBezTo>
                  <a:pt x="35279" y="80999"/>
                  <a:pt x="40631" y="80999"/>
                  <a:pt x="43927" y="77703"/>
                </a:cubicBezTo>
                <a:lnTo>
                  <a:pt x="63280" y="58350"/>
                </a:lnTo>
                <a:lnTo>
                  <a:pt x="78415" y="73484"/>
                </a:lnTo>
                <a:cubicBezTo>
                  <a:pt x="81711" y="76780"/>
                  <a:pt x="87063" y="76780"/>
                  <a:pt x="90359" y="73484"/>
                </a:cubicBezTo>
                <a:lnTo>
                  <a:pt x="124108" y="39735"/>
                </a:ln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0"/>
          <p:cNvSpPr/>
          <p:nvPr/>
        </p:nvSpPr>
        <p:spPr>
          <a:xfrm>
            <a:off x="712958" y="5055731"/>
            <a:ext cx="683427" cy="202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3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MHA 优势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76712" y="5325727"/>
            <a:ext cx="3518383" cy="168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0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实现简单，注意力质量高，广泛兼容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4222377" y="4916515"/>
            <a:ext cx="3737755" cy="717176"/>
          </a:xfrm>
          <a:custGeom>
            <a:avLst/>
            <a:gdLst/>
            <a:ahLst/>
            <a:cxnLst/>
            <a:rect l="l" t="t" r="r" b="b"/>
            <a:pathLst>
              <a:path w="3737755" h="717176">
                <a:moveTo>
                  <a:pt x="101251" y="0"/>
                </a:moveTo>
                <a:lnTo>
                  <a:pt x="3636504" y="0"/>
                </a:lnTo>
                <a:cubicBezTo>
                  <a:pt x="3692423" y="0"/>
                  <a:pt x="3737755" y="45332"/>
                  <a:pt x="3737755" y="101251"/>
                </a:cubicBezTo>
                <a:lnTo>
                  <a:pt x="3737755" y="615925"/>
                </a:lnTo>
                <a:cubicBezTo>
                  <a:pt x="3737755" y="671845"/>
                  <a:pt x="3692423" y="717176"/>
                  <a:pt x="3636504" y="717176"/>
                </a:cubicBezTo>
                <a:lnTo>
                  <a:pt x="101251" y="717176"/>
                </a:lnTo>
                <a:cubicBezTo>
                  <a:pt x="45369" y="717176"/>
                  <a:pt x="0" y="671807"/>
                  <a:pt x="0" y="615925"/>
                </a:cubicBezTo>
                <a:lnTo>
                  <a:pt x="0" y="101251"/>
                </a:lnTo>
                <a:cubicBezTo>
                  <a:pt x="0" y="45369"/>
                  <a:pt x="45369" y="0"/>
                  <a:pt x="101251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3"/>
          <p:cNvSpPr/>
          <p:nvPr/>
        </p:nvSpPr>
        <p:spPr>
          <a:xfrm>
            <a:off x="4378469" y="5089481"/>
            <a:ext cx="134998" cy="134998"/>
          </a:xfrm>
          <a:custGeom>
            <a:avLst/>
            <a:gdLst/>
            <a:ahLst/>
            <a:cxnLst/>
            <a:rect l="l" t="t" r="r" b="b"/>
            <a:pathLst>
              <a:path w="134998" h="134998">
                <a:moveTo>
                  <a:pt x="120233" y="59062"/>
                </a:moveTo>
                <a:lnTo>
                  <a:pt x="82264" y="59062"/>
                </a:lnTo>
                <a:cubicBezTo>
                  <a:pt x="78758" y="59062"/>
                  <a:pt x="75936" y="56240"/>
                  <a:pt x="75936" y="52734"/>
                </a:cubicBezTo>
                <a:lnTo>
                  <a:pt x="75936" y="14765"/>
                </a:lnTo>
                <a:cubicBezTo>
                  <a:pt x="75936" y="12208"/>
                  <a:pt x="77466" y="9888"/>
                  <a:pt x="79839" y="8912"/>
                </a:cubicBezTo>
                <a:cubicBezTo>
                  <a:pt x="82212" y="7936"/>
                  <a:pt x="84927" y="8490"/>
                  <a:pt x="86747" y="10283"/>
                </a:cubicBezTo>
                <a:lnTo>
                  <a:pt x="97293" y="20830"/>
                </a:lnTo>
                <a:lnTo>
                  <a:pt x="116647" y="1477"/>
                </a:lnTo>
                <a:cubicBezTo>
                  <a:pt x="117596" y="527"/>
                  <a:pt x="118888" y="0"/>
                  <a:pt x="120233" y="0"/>
                </a:cubicBezTo>
                <a:cubicBezTo>
                  <a:pt x="121577" y="0"/>
                  <a:pt x="122869" y="527"/>
                  <a:pt x="123845" y="1503"/>
                </a:cubicBezTo>
                <a:lnTo>
                  <a:pt x="133521" y="11180"/>
                </a:lnTo>
                <a:cubicBezTo>
                  <a:pt x="134471" y="12129"/>
                  <a:pt x="134998" y="13421"/>
                  <a:pt x="134998" y="14765"/>
                </a:cubicBezTo>
                <a:cubicBezTo>
                  <a:pt x="134998" y="16110"/>
                  <a:pt x="134471" y="17402"/>
                  <a:pt x="133495" y="18378"/>
                </a:cubicBezTo>
                <a:lnTo>
                  <a:pt x="114168" y="37704"/>
                </a:lnTo>
                <a:lnTo>
                  <a:pt x="124715" y="48251"/>
                </a:lnTo>
                <a:cubicBezTo>
                  <a:pt x="126534" y="50071"/>
                  <a:pt x="127062" y="52786"/>
                  <a:pt x="126086" y="55159"/>
                </a:cubicBezTo>
                <a:cubicBezTo>
                  <a:pt x="125110" y="57532"/>
                  <a:pt x="122790" y="59062"/>
                  <a:pt x="120233" y="59062"/>
                </a:cubicBezTo>
                <a:close/>
                <a:moveTo>
                  <a:pt x="120233" y="75936"/>
                </a:moveTo>
                <a:cubicBezTo>
                  <a:pt x="122790" y="75936"/>
                  <a:pt x="125110" y="77466"/>
                  <a:pt x="126086" y="79839"/>
                </a:cubicBezTo>
                <a:cubicBezTo>
                  <a:pt x="127062" y="82212"/>
                  <a:pt x="126534" y="84927"/>
                  <a:pt x="124715" y="86747"/>
                </a:cubicBezTo>
                <a:lnTo>
                  <a:pt x="114168" y="97293"/>
                </a:lnTo>
                <a:lnTo>
                  <a:pt x="133521" y="116647"/>
                </a:lnTo>
                <a:cubicBezTo>
                  <a:pt x="134471" y="117596"/>
                  <a:pt x="135024" y="118888"/>
                  <a:pt x="135024" y="120259"/>
                </a:cubicBezTo>
                <a:cubicBezTo>
                  <a:pt x="135024" y="121630"/>
                  <a:pt x="134497" y="122896"/>
                  <a:pt x="133521" y="123871"/>
                </a:cubicBezTo>
                <a:lnTo>
                  <a:pt x="123845" y="133548"/>
                </a:lnTo>
                <a:cubicBezTo>
                  <a:pt x="122869" y="134471"/>
                  <a:pt x="121577" y="134998"/>
                  <a:pt x="120233" y="134998"/>
                </a:cubicBezTo>
                <a:cubicBezTo>
                  <a:pt x="118888" y="134998"/>
                  <a:pt x="117596" y="134471"/>
                  <a:pt x="116620" y="133495"/>
                </a:cubicBezTo>
                <a:lnTo>
                  <a:pt x="97293" y="114168"/>
                </a:lnTo>
                <a:lnTo>
                  <a:pt x="86747" y="124715"/>
                </a:lnTo>
                <a:cubicBezTo>
                  <a:pt x="84927" y="126534"/>
                  <a:pt x="82212" y="127062"/>
                  <a:pt x="79839" y="126086"/>
                </a:cubicBezTo>
                <a:cubicBezTo>
                  <a:pt x="77466" y="125110"/>
                  <a:pt x="75936" y="122790"/>
                  <a:pt x="75936" y="120233"/>
                </a:cubicBezTo>
                <a:lnTo>
                  <a:pt x="75936" y="82264"/>
                </a:lnTo>
                <a:cubicBezTo>
                  <a:pt x="75936" y="78758"/>
                  <a:pt x="78758" y="75936"/>
                  <a:pt x="82264" y="75936"/>
                </a:cubicBezTo>
                <a:lnTo>
                  <a:pt x="120233" y="75936"/>
                </a:lnTo>
                <a:close/>
                <a:moveTo>
                  <a:pt x="52734" y="75936"/>
                </a:moveTo>
                <a:cubicBezTo>
                  <a:pt x="56240" y="75936"/>
                  <a:pt x="59062" y="78758"/>
                  <a:pt x="59062" y="82264"/>
                </a:cubicBezTo>
                <a:lnTo>
                  <a:pt x="59062" y="120233"/>
                </a:lnTo>
                <a:cubicBezTo>
                  <a:pt x="59062" y="122790"/>
                  <a:pt x="57532" y="125110"/>
                  <a:pt x="55159" y="126086"/>
                </a:cubicBezTo>
                <a:cubicBezTo>
                  <a:pt x="52786" y="127062"/>
                  <a:pt x="50071" y="126534"/>
                  <a:pt x="48251" y="124715"/>
                </a:cubicBezTo>
                <a:lnTo>
                  <a:pt x="37704" y="114168"/>
                </a:lnTo>
                <a:lnTo>
                  <a:pt x="18351" y="133521"/>
                </a:lnTo>
                <a:cubicBezTo>
                  <a:pt x="17402" y="134471"/>
                  <a:pt x="16110" y="134998"/>
                  <a:pt x="14765" y="134998"/>
                </a:cubicBezTo>
                <a:cubicBezTo>
                  <a:pt x="13421" y="134998"/>
                  <a:pt x="12129" y="134471"/>
                  <a:pt x="11153" y="133495"/>
                </a:cubicBezTo>
                <a:lnTo>
                  <a:pt x="1503" y="123845"/>
                </a:lnTo>
                <a:cubicBezTo>
                  <a:pt x="527" y="122869"/>
                  <a:pt x="0" y="121577"/>
                  <a:pt x="0" y="120233"/>
                </a:cubicBezTo>
                <a:cubicBezTo>
                  <a:pt x="0" y="118888"/>
                  <a:pt x="527" y="117596"/>
                  <a:pt x="1503" y="116620"/>
                </a:cubicBezTo>
                <a:lnTo>
                  <a:pt x="20830" y="97293"/>
                </a:lnTo>
                <a:lnTo>
                  <a:pt x="10283" y="86747"/>
                </a:lnTo>
                <a:cubicBezTo>
                  <a:pt x="8464" y="84927"/>
                  <a:pt x="7936" y="82212"/>
                  <a:pt x="8912" y="79839"/>
                </a:cubicBezTo>
                <a:cubicBezTo>
                  <a:pt x="9888" y="77466"/>
                  <a:pt x="12208" y="75936"/>
                  <a:pt x="14765" y="75936"/>
                </a:cubicBezTo>
                <a:lnTo>
                  <a:pt x="52734" y="75936"/>
                </a:lnTo>
                <a:close/>
                <a:moveTo>
                  <a:pt x="14765" y="59062"/>
                </a:moveTo>
                <a:cubicBezTo>
                  <a:pt x="12208" y="59062"/>
                  <a:pt x="9888" y="57532"/>
                  <a:pt x="8912" y="55159"/>
                </a:cubicBezTo>
                <a:cubicBezTo>
                  <a:pt x="7936" y="52786"/>
                  <a:pt x="8490" y="50071"/>
                  <a:pt x="10283" y="48251"/>
                </a:cubicBezTo>
                <a:lnTo>
                  <a:pt x="20830" y="37704"/>
                </a:lnTo>
                <a:lnTo>
                  <a:pt x="1503" y="18378"/>
                </a:lnTo>
                <a:cubicBezTo>
                  <a:pt x="527" y="17402"/>
                  <a:pt x="0" y="16110"/>
                  <a:pt x="0" y="14765"/>
                </a:cubicBezTo>
                <a:cubicBezTo>
                  <a:pt x="0" y="13421"/>
                  <a:pt x="527" y="12129"/>
                  <a:pt x="1503" y="11153"/>
                </a:cubicBezTo>
                <a:lnTo>
                  <a:pt x="11153" y="1503"/>
                </a:lnTo>
                <a:cubicBezTo>
                  <a:pt x="12129" y="527"/>
                  <a:pt x="13421" y="0"/>
                  <a:pt x="14765" y="0"/>
                </a:cubicBezTo>
                <a:cubicBezTo>
                  <a:pt x="16110" y="0"/>
                  <a:pt x="17402" y="527"/>
                  <a:pt x="18378" y="1503"/>
                </a:cubicBezTo>
                <a:lnTo>
                  <a:pt x="37704" y="20830"/>
                </a:lnTo>
                <a:lnTo>
                  <a:pt x="48251" y="10283"/>
                </a:lnTo>
                <a:cubicBezTo>
                  <a:pt x="50071" y="8464"/>
                  <a:pt x="52786" y="7936"/>
                  <a:pt x="55159" y="8912"/>
                </a:cubicBezTo>
                <a:cubicBezTo>
                  <a:pt x="57532" y="9888"/>
                  <a:pt x="59062" y="12208"/>
                  <a:pt x="59062" y="14765"/>
                </a:cubicBezTo>
                <a:lnTo>
                  <a:pt x="59062" y="52734"/>
                </a:lnTo>
                <a:cubicBezTo>
                  <a:pt x="59062" y="56240"/>
                  <a:pt x="56240" y="59062"/>
                  <a:pt x="52734" y="59062"/>
                </a:cubicBezTo>
                <a:lnTo>
                  <a:pt x="14765" y="59062"/>
                </a:ln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4"/>
          <p:cNvSpPr/>
          <p:nvPr/>
        </p:nvSpPr>
        <p:spPr>
          <a:xfrm>
            <a:off x="4597840" y="5055731"/>
            <a:ext cx="658115" cy="202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3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MLA 优势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4361594" y="5325727"/>
            <a:ext cx="3518383" cy="168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0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显存压缩显著，支持更长上下文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8107325" y="4916515"/>
            <a:ext cx="3737755" cy="717176"/>
          </a:xfrm>
          <a:custGeom>
            <a:avLst/>
            <a:gdLst/>
            <a:ahLst/>
            <a:cxnLst/>
            <a:rect l="l" t="t" r="r" b="b"/>
            <a:pathLst>
              <a:path w="3737755" h="717176">
                <a:moveTo>
                  <a:pt x="101251" y="0"/>
                </a:moveTo>
                <a:lnTo>
                  <a:pt x="3636504" y="0"/>
                </a:lnTo>
                <a:cubicBezTo>
                  <a:pt x="3692423" y="0"/>
                  <a:pt x="3737755" y="45332"/>
                  <a:pt x="3737755" y="101251"/>
                </a:cubicBezTo>
                <a:lnTo>
                  <a:pt x="3737755" y="615925"/>
                </a:lnTo>
                <a:cubicBezTo>
                  <a:pt x="3737755" y="671845"/>
                  <a:pt x="3692423" y="717176"/>
                  <a:pt x="3636504" y="717176"/>
                </a:cubicBezTo>
                <a:lnTo>
                  <a:pt x="101251" y="717176"/>
                </a:lnTo>
                <a:cubicBezTo>
                  <a:pt x="45369" y="717176"/>
                  <a:pt x="0" y="671807"/>
                  <a:pt x="0" y="615925"/>
                </a:cubicBezTo>
                <a:lnTo>
                  <a:pt x="0" y="101251"/>
                </a:lnTo>
                <a:cubicBezTo>
                  <a:pt x="0" y="45369"/>
                  <a:pt x="45369" y="0"/>
                  <a:pt x="101251" y="0"/>
                </a:cubicBezTo>
                <a:close/>
              </a:path>
            </a:pathLst>
          </a:custGeom>
          <a:solidFill>
            <a:srgbClr val="6B7A8F">
              <a:alpha val="10196"/>
            </a:srgbClr>
          </a:solidFill>
          <a:ln w="12700">
            <a:solidFill>
              <a:srgbClr val="6B7A8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7"/>
          <p:cNvSpPr/>
          <p:nvPr/>
        </p:nvSpPr>
        <p:spPr>
          <a:xfrm>
            <a:off x="8271853" y="5089481"/>
            <a:ext cx="118123" cy="134998"/>
          </a:xfrm>
          <a:custGeom>
            <a:avLst/>
            <a:gdLst/>
            <a:ahLst/>
            <a:cxnLst/>
            <a:rect l="l" t="t" r="r" b="b"/>
            <a:pathLst>
              <a:path w="118123" h="134998">
                <a:moveTo>
                  <a:pt x="89331" y="-2610"/>
                </a:moveTo>
                <a:cubicBezTo>
                  <a:pt x="92468" y="-343"/>
                  <a:pt x="93628" y="3770"/>
                  <a:pt x="92205" y="7356"/>
                </a:cubicBezTo>
                <a:lnTo>
                  <a:pt x="71533" y="59062"/>
                </a:lnTo>
                <a:lnTo>
                  <a:pt x="109686" y="59062"/>
                </a:lnTo>
                <a:cubicBezTo>
                  <a:pt x="113245" y="59062"/>
                  <a:pt x="116409" y="61276"/>
                  <a:pt x="117622" y="64625"/>
                </a:cubicBezTo>
                <a:cubicBezTo>
                  <a:pt x="118835" y="67974"/>
                  <a:pt x="117807" y="71718"/>
                  <a:pt x="115091" y="73985"/>
                </a:cubicBezTo>
                <a:lnTo>
                  <a:pt x="39155" y="137265"/>
                </a:lnTo>
                <a:cubicBezTo>
                  <a:pt x="36175" y="139744"/>
                  <a:pt x="31930" y="139876"/>
                  <a:pt x="28793" y="137608"/>
                </a:cubicBezTo>
                <a:cubicBezTo>
                  <a:pt x="25655" y="135341"/>
                  <a:pt x="24495" y="131227"/>
                  <a:pt x="25919" y="127642"/>
                </a:cubicBezTo>
                <a:lnTo>
                  <a:pt x="46590" y="75936"/>
                </a:lnTo>
                <a:lnTo>
                  <a:pt x="8437" y="75936"/>
                </a:lnTo>
                <a:cubicBezTo>
                  <a:pt x="4878" y="75936"/>
                  <a:pt x="1714" y="73722"/>
                  <a:pt x="501" y="70373"/>
                </a:cubicBezTo>
                <a:cubicBezTo>
                  <a:pt x="-712" y="67024"/>
                  <a:pt x="316" y="63280"/>
                  <a:pt x="3032" y="61013"/>
                </a:cubicBezTo>
                <a:lnTo>
                  <a:pt x="78969" y="-2268"/>
                </a:lnTo>
                <a:cubicBezTo>
                  <a:pt x="81948" y="-4746"/>
                  <a:pt x="86193" y="-4878"/>
                  <a:pt x="89331" y="-2610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8"/>
          <p:cNvSpPr/>
          <p:nvPr/>
        </p:nvSpPr>
        <p:spPr>
          <a:xfrm>
            <a:off x="8482788" y="5055731"/>
            <a:ext cx="641240" cy="202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3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NSA 优势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8246541" y="5325727"/>
            <a:ext cx="3518383" cy="168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0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超长上下文计算复杂度大幅降低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8.alamy.com/c6693ed75ef71081eb0bdab7e125fdd954f1cfb4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11795" b="1179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385763" y="1757363"/>
            <a:ext cx="1428750" cy="428625"/>
          </a:xfrm>
          <a:custGeom>
            <a:avLst/>
            <a:gdLst/>
            <a:ahLst/>
            <a:cxnLst/>
            <a:rect l="l" t="t" r="r" b="b"/>
            <a:pathLst>
              <a:path w="1428750" h="428625">
                <a:moveTo>
                  <a:pt x="76201" y="0"/>
                </a:moveTo>
                <a:lnTo>
                  <a:pt x="1352549" y="0"/>
                </a:lnTo>
                <a:cubicBezTo>
                  <a:pt x="1394634" y="0"/>
                  <a:pt x="1428750" y="34116"/>
                  <a:pt x="1428750" y="76201"/>
                </a:cubicBezTo>
                <a:lnTo>
                  <a:pt x="1428750" y="352424"/>
                </a:lnTo>
                <a:cubicBezTo>
                  <a:pt x="1428750" y="394509"/>
                  <a:pt x="1394634" y="428625"/>
                  <a:pt x="1352549" y="428625"/>
                </a:cubicBezTo>
                <a:lnTo>
                  <a:pt x="76201" y="428625"/>
                </a:lnTo>
                <a:cubicBezTo>
                  <a:pt x="34116" y="428625"/>
                  <a:pt x="0" y="394509"/>
                  <a:pt x="0" y="3524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 w="12700">
            <a:solidFill>
              <a:srgbClr val="D4A26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542925" y="1857375"/>
            <a:ext cx="1203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kern="0" spc="68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CHAPTER 05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419350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dirty="0">
                <a:solidFill>
                  <a:srgbClr val="E0E2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mama ShuHeiTi" pitchFamily="34" charset="-120"/>
              </a:rPr>
              <a:t>vLLM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dirty="0">
                <a:solidFill>
                  <a:srgbClr val="E0E2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mama ShuHeiTi" pitchFamily="34" charset="-120"/>
              </a:rPr>
              <a:t>支持情况总结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4362450"/>
            <a:ext cx="6515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平台矩阵与Offloading兼容性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指导生产部署的技术决策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E0E2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mama ShuHeiTi" pitchFamily="34" charset="-120"/>
              </a:rPr>
              <a:t>平台支持矩阵与自动选择机制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8382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385763" y="1033462"/>
            <a:ext cx="5591175" cy="5438775"/>
          </a:xfrm>
          <a:custGeom>
            <a:avLst/>
            <a:gdLst/>
            <a:ahLst/>
            <a:cxnLst/>
            <a:rect l="l" t="t" r="r" b="b"/>
            <a:pathLst>
              <a:path w="5591175" h="5438775">
                <a:moveTo>
                  <a:pt x="114323" y="0"/>
                </a:moveTo>
                <a:lnTo>
                  <a:pt x="5476852" y="0"/>
                </a:lnTo>
                <a:cubicBezTo>
                  <a:pt x="5539991" y="0"/>
                  <a:pt x="5591175" y="51184"/>
                  <a:pt x="5591175" y="114323"/>
                </a:cubicBezTo>
                <a:lnTo>
                  <a:pt x="5591175" y="5324452"/>
                </a:lnTo>
                <a:cubicBezTo>
                  <a:pt x="5591175" y="5387591"/>
                  <a:pt x="5539991" y="5438775"/>
                  <a:pt x="5476852" y="5438775"/>
                </a:cubicBezTo>
                <a:lnTo>
                  <a:pt x="114323" y="5438775"/>
                </a:lnTo>
                <a:cubicBezTo>
                  <a:pt x="51184" y="5438775"/>
                  <a:pt x="0" y="5387591"/>
                  <a:pt x="0" y="5324452"/>
                </a:cubicBezTo>
                <a:lnTo>
                  <a:pt x="0" y="114323"/>
                </a:lnTo>
                <a:cubicBezTo>
                  <a:pt x="0" y="51184"/>
                  <a:pt x="51184" y="0"/>
                  <a:pt x="114323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616744" y="126682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42875" y="35719"/>
                </a:moveTo>
                <a:lnTo>
                  <a:pt x="95250" y="35719"/>
                </a:lnTo>
                <a:lnTo>
                  <a:pt x="95250" y="83344"/>
                </a:lnTo>
                <a:lnTo>
                  <a:pt x="142875" y="83344"/>
                </a:lnTo>
                <a:lnTo>
                  <a:pt x="142875" y="35719"/>
                </a:lnTo>
                <a:close/>
                <a:moveTo>
                  <a:pt x="166688" y="83344"/>
                </a:move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35719"/>
                </a:lnTo>
                <a:cubicBezTo>
                  <a:pt x="0" y="22585"/>
                  <a:pt x="10678" y="11906"/>
                  <a:pt x="23812" y="11906"/>
                </a:cubicBezTo>
                <a:lnTo>
                  <a:pt x="142875" y="11906"/>
                </a:lnTo>
                <a:cubicBezTo>
                  <a:pt x="156009" y="11906"/>
                  <a:pt x="166688" y="22585"/>
                  <a:pt x="166688" y="35719"/>
                </a:cubicBezTo>
                <a:lnTo>
                  <a:pt x="166688" y="83344"/>
                </a:lnTo>
                <a:close/>
                <a:moveTo>
                  <a:pt x="23812" y="107156"/>
                </a:moveTo>
                <a:lnTo>
                  <a:pt x="23812" y="154781"/>
                </a:lnTo>
                <a:lnTo>
                  <a:pt x="71438" y="154781"/>
                </a:lnTo>
                <a:lnTo>
                  <a:pt x="71438" y="107156"/>
                </a:lnTo>
                <a:lnTo>
                  <a:pt x="23812" y="107156"/>
                </a:lnTo>
                <a:close/>
                <a:moveTo>
                  <a:pt x="71438" y="83344"/>
                </a:moveTo>
                <a:lnTo>
                  <a:pt x="71438" y="35719"/>
                </a:lnTo>
                <a:lnTo>
                  <a:pt x="23812" y="35719"/>
                </a:lnTo>
                <a:lnTo>
                  <a:pt x="23812" y="83344"/>
                </a:lnTo>
                <a:lnTo>
                  <a:pt x="71438" y="83344"/>
                </a:lnTo>
                <a:close/>
                <a:moveTo>
                  <a:pt x="95250" y="107156"/>
                </a:moveTo>
                <a:lnTo>
                  <a:pt x="95250" y="154781"/>
                </a:lnTo>
                <a:lnTo>
                  <a:pt x="142875" y="154781"/>
                </a:lnTo>
                <a:lnTo>
                  <a:pt x="142875" y="107156"/>
                </a:lnTo>
                <a:lnTo>
                  <a:pt x="95250" y="107156"/>
                </a:ln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933450" y="1228725"/>
            <a:ext cx="1809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E0E2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mama ShuHeiTi" pitchFamily="34" charset="-120"/>
              </a:rPr>
              <a:t>多硬件平台支持矩阵</a:t>
            </a:r>
            <a:endParaRPr lang="en-US" sz="1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1025" y="1647825"/>
          <a:ext cx="5200650" cy="2307432"/>
        </p:xfrm>
        <a:graphic>
          <a:graphicData uri="http://schemas.openxmlformats.org/drawingml/2006/table">
            <a:tbl>
              <a:tblPr/>
              <a:tblGrid>
                <a:gridCol w="6845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0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10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44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0544"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D4A26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平台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2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D4A26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MHA/MQA/GQA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2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D4A26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MLA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2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D4A26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稀疏MLA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544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D4A26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CUDA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支持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自动优先级选择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支持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独立优先级队列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支持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FLASHMLA_SPARSE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544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D4A26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ROCm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23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支持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AITER/Triton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23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部分支持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ROCM_AITER_MLA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23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支持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ROCM_AITER_MLA_SPARSE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238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544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D4A26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CPU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C323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支持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CPU_ATTN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C323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不支持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-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C323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不支持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-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C3238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85788" y="3967163"/>
            <a:ext cx="5191125" cy="676275"/>
          </a:xfrm>
          <a:custGeom>
            <a:avLst/>
            <a:gdLst/>
            <a:ahLst/>
            <a:cxnLst/>
            <a:rect l="l" t="t" r="r" b="b"/>
            <a:pathLst>
              <a:path w="5191125" h="676275">
                <a:moveTo>
                  <a:pt x="76203" y="0"/>
                </a:moveTo>
                <a:lnTo>
                  <a:pt x="5114922" y="0"/>
                </a:lnTo>
                <a:cubicBezTo>
                  <a:pt x="5157008" y="0"/>
                  <a:pt x="5191125" y="34117"/>
                  <a:pt x="5191125" y="76203"/>
                </a:cubicBezTo>
                <a:lnTo>
                  <a:pt x="5191125" y="600072"/>
                </a:lnTo>
                <a:cubicBezTo>
                  <a:pt x="5191125" y="642158"/>
                  <a:pt x="5157008" y="676275"/>
                  <a:pt x="5114922" y="676275"/>
                </a:cubicBezTo>
                <a:lnTo>
                  <a:pt x="76203" y="676275"/>
                </a:lnTo>
                <a:cubicBezTo>
                  <a:pt x="34117" y="676275"/>
                  <a:pt x="0" y="642158"/>
                  <a:pt x="0" y="600072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D4A26A">
              <a:alpha val="10196"/>
            </a:srgbClr>
          </a:solidFill>
          <a:ln w="12700">
            <a:solidFill>
              <a:srgbClr val="D4A26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704850" y="4086225"/>
            <a:ext cx="50196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b="1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结论:</a:t>
            </a:r>
            <a:r>
              <a:rPr lang="en-US" sz="105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CUDA 平台实现全覆盖，ROCm 提供部分支持，CPU 平台目前仅限于标准注意力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215063" y="1033462"/>
            <a:ext cx="5591175" cy="5438775"/>
          </a:xfrm>
          <a:custGeom>
            <a:avLst/>
            <a:gdLst/>
            <a:ahLst/>
            <a:cxnLst/>
            <a:rect l="l" t="t" r="r" b="b"/>
            <a:pathLst>
              <a:path w="5591175" h="5438775">
                <a:moveTo>
                  <a:pt x="114323" y="0"/>
                </a:moveTo>
                <a:lnTo>
                  <a:pt x="5476852" y="0"/>
                </a:lnTo>
                <a:cubicBezTo>
                  <a:pt x="5539991" y="0"/>
                  <a:pt x="5591175" y="51184"/>
                  <a:pt x="5591175" y="114323"/>
                </a:cubicBezTo>
                <a:lnTo>
                  <a:pt x="5591175" y="5324452"/>
                </a:lnTo>
                <a:cubicBezTo>
                  <a:pt x="5591175" y="5387591"/>
                  <a:pt x="5539991" y="5438775"/>
                  <a:pt x="5476852" y="5438775"/>
                </a:cubicBezTo>
                <a:lnTo>
                  <a:pt x="114323" y="5438775"/>
                </a:lnTo>
                <a:cubicBezTo>
                  <a:pt x="51184" y="5438775"/>
                  <a:pt x="0" y="5387591"/>
                  <a:pt x="0" y="5324452"/>
                </a:cubicBezTo>
                <a:lnTo>
                  <a:pt x="0" y="114323"/>
                </a:lnTo>
                <a:cubicBezTo>
                  <a:pt x="0" y="51184"/>
                  <a:pt x="51184" y="0"/>
                  <a:pt x="114323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8"/>
          <p:cNvSpPr/>
          <p:nvPr/>
        </p:nvSpPr>
        <p:spPr>
          <a:xfrm>
            <a:off x="6434138" y="12668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72591" y="3535"/>
                </a:moveTo>
                <a:cubicBezTo>
                  <a:pt x="73707" y="-1972"/>
                  <a:pt x="78581" y="-5953"/>
                  <a:pt x="84237" y="-5953"/>
                </a:cubicBezTo>
                <a:lnTo>
                  <a:pt x="106487" y="-5953"/>
                </a:lnTo>
                <a:cubicBezTo>
                  <a:pt x="112142" y="-5953"/>
                  <a:pt x="117016" y="-1972"/>
                  <a:pt x="118132" y="3535"/>
                </a:cubicBezTo>
                <a:lnTo>
                  <a:pt x="123527" y="29580"/>
                </a:lnTo>
                <a:cubicBezTo>
                  <a:pt x="128774" y="31812"/>
                  <a:pt x="133685" y="34677"/>
                  <a:pt x="138150" y="38063"/>
                </a:cubicBezTo>
                <a:lnTo>
                  <a:pt x="163376" y="29691"/>
                </a:lnTo>
                <a:cubicBezTo>
                  <a:pt x="168734" y="27905"/>
                  <a:pt x="174613" y="30138"/>
                  <a:pt x="177440" y="35049"/>
                </a:cubicBezTo>
                <a:lnTo>
                  <a:pt x="188565" y="54322"/>
                </a:lnTo>
                <a:cubicBezTo>
                  <a:pt x="191393" y="59234"/>
                  <a:pt x="190388" y="65410"/>
                  <a:pt x="186147" y="69168"/>
                </a:cubicBezTo>
                <a:lnTo>
                  <a:pt x="166315" y="86804"/>
                </a:lnTo>
                <a:cubicBezTo>
                  <a:pt x="166650" y="89557"/>
                  <a:pt x="166799" y="92385"/>
                  <a:pt x="166799" y="95250"/>
                </a:cubicBezTo>
                <a:cubicBezTo>
                  <a:pt x="166799" y="98115"/>
                  <a:pt x="166613" y="100943"/>
                  <a:pt x="166315" y="103696"/>
                </a:cubicBezTo>
                <a:lnTo>
                  <a:pt x="186184" y="121369"/>
                </a:lnTo>
                <a:cubicBezTo>
                  <a:pt x="190426" y="125127"/>
                  <a:pt x="191393" y="131341"/>
                  <a:pt x="188602" y="136215"/>
                </a:cubicBezTo>
                <a:lnTo>
                  <a:pt x="177478" y="155488"/>
                </a:lnTo>
                <a:cubicBezTo>
                  <a:pt x="174650" y="160362"/>
                  <a:pt x="168771" y="162632"/>
                  <a:pt x="163413" y="160846"/>
                </a:cubicBezTo>
                <a:lnTo>
                  <a:pt x="138187" y="152474"/>
                </a:lnTo>
                <a:cubicBezTo>
                  <a:pt x="133685" y="155860"/>
                  <a:pt x="128774" y="158688"/>
                  <a:pt x="123565" y="160958"/>
                </a:cubicBezTo>
                <a:lnTo>
                  <a:pt x="118207" y="186965"/>
                </a:lnTo>
                <a:cubicBezTo>
                  <a:pt x="117053" y="192509"/>
                  <a:pt x="112179" y="196453"/>
                  <a:pt x="106561" y="196453"/>
                </a:cubicBezTo>
                <a:lnTo>
                  <a:pt x="84311" y="196453"/>
                </a:lnTo>
                <a:cubicBezTo>
                  <a:pt x="78656" y="196453"/>
                  <a:pt x="73782" y="192472"/>
                  <a:pt x="72665" y="186965"/>
                </a:cubicBezTo>
                <a:lnTo>
                  <a:pt x="67308" y="160958"/>
                </a:lnTo>
                <a:cubicBezTo>
                  <a:pt x="62061" y="158725"/>
                  <a:pt x="57187" y="155860"/>
                  <a:pt x="52685" y="152474"/>
                </a:cubicBezTo>
                <a:lnTo>
                  <a:pt x="27347" y="160846"/>
                </a:lnTo>
                <a:cubicBezTo>
                  <a:pt x="21989" y="162632"/>
                  <a:pt x="16111" y="160400"/>
                  <a:pt x="13283" y="155488"/>
                </a:cubicBezTo>
                <a:lnTo>
                  <a:pt x="2158" y="136215"/>
                </a:lnTo>
                <a:cubicBezTo>
                  <a:pt x="-670" y="131304"/>
                  <a:pt x="335" y="125127"/>
                  <a:pt x="4576" y="121369"/>
                </a:cubicBezTo>
                <a:lnTo>
                  <a:pt x="24445" y="103696"/>
                </a:lnTo>
                <a:cubicBezTo>
                  <a:pt x="24110" y="100943"/>
                  <a:pt x="23961" y="98115"/>
                  <a:pt x="23961" y="95250"/>
                </a:cubicBezTo>
                <a:cubicBezTo>
                  <a:pt x="23961" y="92385"/>
                  <a:pt x="24147" y="89557"/>
                  <a:pt x="24445" y="86804"/>
                </a:cubicBezTo>
                <a:lnTo>
                  <a:pt x="4576" y="69131"/>
                </a:lnTo>
                <a:cubicBezTo>
                  <a:pt x="335" y="65373"/>
                  <a:pt x="-633" y="59159"/>
                  <a:pt x="2158" y="54285"/>
                </a:cubicBezTo>
                <a:lnTo>
                  <a:pt x="13283" y="35012"/>
                </a:lnTo>
                <a:cubicBezTo>
                  <a:pt x="16111" y="30100"/>
                  <a:pt x="21989" y="27868"/>
                  <a:pt x="27347" y="29654"/>
                </a:cubicBezTo>
                <a:lnTo>
                  <a:pt x="52574" y="38026"/>
                </a:lnTo>
                <a:cubicBezTo>
                  <a:pt x="57076" y="34640"/>
                  <a:pt x="61987" y="31812"/>
                  <a:pt x="67196" y="29542"/>
                </a:cubicBezTo>
                <a:lnTo>
                  <a:pt x="72591" y="3535"/>
                </a:lnTo>
                <a:close/>
                <a:moveTo>
                  <a:pt x="95362" y="125016"/>
                </a:moveTo>
                <a:cubicBezTo>
                  <a:pt x="105996" y="124976"/>
                  <a:pt x="115801" y="119266"/>
                  <a:pt x="121084" y="110036"/>
                </a:cubicBezTo>
                <a:cubicBezTo>
                  <a:pt x="126366" y="100807"/>
                  <a:pt x="126324" y="89460"/>
                  <a:pt x="120972" y="80271"/>
                </a:cubicBezTo>
                <a:cubicBezTo>
                  <a:pt x="115620" y="71081"/>
                  <a:pt x="105773" y="65444"/>
                  <a:pt x="95138" y="65484"/>
                </a:cubicBezTo>
                <a:cubicBezTo>
                  <a:pt x="84504" y="65524"/>
                  <a:pt x="74699" y="71234"/>
                  <a:pt x="69416" y="80464"/>
                </a:cubicBezTo>
                <a:cubicBezTo>
                  <a:pt x="64134" y="89693"/>
                  <a:pt x="64176" y="101040"/>
                  <a:pt x="69528" y="110229"/>
                </a:cubicBezTo>
                <a:cubicBezTo>
                  <a:pt x="74880" y="119419"/>
                  <a:pt x="84727" y="125056"/>
                  <a:pt x="95362" y="125016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6762750" y="1228725"/>
            <a:ext cx="1809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E0E2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mama ShuHeiTi" pitchFamily="34" charset="-120"/>
              </a:rPr>
              <a:t>自动选择与手动指定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410325" y="1647825"/>
            <a:ext cx="5200650" cy="1400175"/>
          </a:xfrm>
          <a:custGeom>
            <a:avLst/>
            <a:gdLst/>
            <a:ahLst/>
            <a:cxnLst/>
            <a:rect l="l" t="t" r="r" b="b"/>
            <a:pathLst>
              <a:path w="5200650" h="1400175">
                <a:moveTo>
                  <a:pt x="76198" y="0"/>
                </a:moveTo>
                <a:lnTo>
                  <a:pt x="5124452" y="0"/>
                </a:lnTo>
                <a:cubicBezTo>
                  <a:pt x="5166535" y="0"/>
                  <a:pt x="5200650" y="34115"/>
                  <a:pt x="5200650" y="76198"/>
                </a:cubicBezTo>
                <a:lnTo>
                  <a:pt x="5200650" y="1323977"/>
                </a:lnTo>
                <a:cubicBezTo>
                  <a:pt x="5200650" y="1366060"/>
                  <a:pt x="5166535" y="1400175"/>
                  <a:pt x="5124452" y="1400175"/>
                </a:cubicBezTo>
                <a:lnTo>
                  <a:pt x="76198" y="1400175"/>
                </a:lnTo>
                <a:cubicBezTo>
                  <a:pt x="34115" y="1400175"/>
                  <a:pt x="0" y="1366060"/>
                  <a:pt x="0" y="132397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1"/>
          <p:cNvSpPr/>
          <p:nvPr/>
        </p:nvSpPr>
        <p:spPr>
          <a:xfrm>
            <a:off x="6562725" y="1838325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04775" y="0"/>
                </a:moveTo>
                <a:cubicBezTo>
                  <a:pt x="104775" y="-5269"/>
                  <a:pt x="100519" y="-9525"/>
                  <a:pt x="95250" y="-9525"/>
                </a:cubicBezTo>
                <a:cubicBezTo>
                  <a:pt x="89981" y="-9525"/>
                  <a:pt x="85725" y="-5269"/>
                  <a:pt x="85725" y="0"/>
                </a:cubicBezTo>
                <a:lnTo>
                  <a:pt x="85725" y="19050"/>
                </a:lnTo>
                <a:lnTo>
                  <a:pt x="57150" y="19050"/>
                </a:lnTo>
                <a:cubicBezTo>
                  <a:pt x="41374" y="19050"/>
                  <a:pt x="28575" y="31849"/>
                  <a:pt x="28575" y="47625"/>
                </a:cubicBezTo>
                <a:lnTo>
                  <a:pt x="28575" y="114300"/>
                </a:lnTo>
                <a:cubicBezTo>
                  <a:pt x="28575" y="130076"/>
                  <a:pt x="41374" y="142875"/>
                  <a:pt x="57150" y="142875"/>
                </a:cubicBezTo>
                <a:lnTo>
                  <a:pt x="133350" y="142875"/>
                </a:lnTo>
                <a:cubicBezTo>
                  <a:pt x="149126" y="142875"/>
                  <a:pt x="161925" y="130076"/>
                  <a:pt x="161925" y="114300"/>
                </a:cubicBezTo>
                <a:lnTo>
                  <a:pt x="161925" y="47625"/>
                </a:lnTo>
                <a:cubicBezTo>
                  <a:pt x="161925" y="31849"/>
                  <a:pt x="149126" y="19050"/>
                  <a:pt x="133350" y="19050"/>
                </a:cubicBezTo>
                <a:lnTo>
                  <a:pt x="104775" y="19050"/>
                </a:lnTo>
                <a:lnTo>
                  <a:pt x="104775" y="0"/>
                </a:lnTo>
                <a:close/>
                <a:moveTo>
                  <a:pt x="47625" y="109537"/>
                </a:moveTo>
                <a:cubicBezTo>
                  <a:pt x="47625" y="105579"/>
                  <a:pt x="50810" y="102394"/>
                  <a:pt x="54769" y="102394"/>
                </a:cubicBezTo>
                <a:lnTo>
                  <a:pt x="64294" y="102394"/>
                </a:lnTo>
                <a:cubicBezTo>
                  <a:pt x="68253" y="102394"/>
                  <a:pt x="71438" y="105579"/>
                  <a:pt x="71438" y="109537"/>
                </a:cubicBezTo>
                <a:cubicBezTo>
                  <a:pt x="71438" y="113496"/>
                  <a:pt x="68253" y="116681"/>
                  <a:pt x="64294" y="116681"/>
                </a:cubicBezTo>
                <a:lnTo>
                  <a:pt x="54769" y="116681"/>
                </a:lnTo>
                <a:cubicBezTo>
                  <a:pt x="50810" y="116681"/>
                  <a:pt x="47625" y="113496"/>
                  <a:pt x="47625" y="109537"/>
                </a:cubicBezTo>
                <a:close/>
                <a:moveTo>
                  <a:pt x="83344" y="109537"/>
                </a:moveTo>
                <a:cubicBezTo>
                  <a:pt x="83344" y="105579"/>
                  <a:pt x="86529" y="102394"/>
                  <a:pt x="90488" y="102394"/>
                </a:cubicBezTo>
                <a:lnTo>
                  <a:pt x="100013" y="102394"/>
                </a:lnTo>
                <a:cubicBezTo>
                  <a:pt x="103971" y="102394"/>
                  <a:pt x="107156" y="105579"/>
                  <a:pt x="107156" y="109537"/>
                </a:cubicBezTo>
                <a:cubicBezTo>
                  <a:pt x="107156" y="113496"/>
                  <a:pt x="103971" y="116681"/>
                  <a:pt x="100013" y="116681"/>
                </a:cubicBezTo>
                <a:lnTo>
                  <a:pt x="90488" y="116681"/>
                </a:lnTo>
                <a:cubicBezTo>
                  <a:pt x="86529" y="116681"/>
                  <a:pt x="83344" y="113496"/>
                  <a:pt x="83344" y="109537"/>
                </a:cubicBezTo>
                <a:close/>
                <a:moveTo>
                  <a:pt x="119062" y="109537"/>
                </a:moveTo>
                <a:cubicBezTo>
                  <a:pt x="119062" y="105579"/>
                  <a:pt x="122247" y="102394"/>
                  <a:pt x="126206" y="102394"/>
                </a:cubicBezTo>
                <a:lnTo>
                  <a:pt x="135731" y="102394"/>
                </a:lnTo>
                <a:cubicBezTo>
                  <a:pt x="139690" y="102394"/>
                  <a:pt x="142875" y="105579"/>
                  <a:pt x="142875" y="109537"/>
                </a:cubicBezTo>
                <a:cubicBezTo>
                  <a:pt x="142875" y="113496"/>
                  <a:pt x="139690" y="116681"/>
                  <a:pt x="135731" y="116681"/>
                </a:cubicBezTo>
                <a:lnTo>
                  <a:pt x="126206" y="116681"/>
                </a:lnTo>
                <a:cubicBezTo>
                  <a:pt x="122247" y="116681"/>
                  <a:pt x="119062" y="113496"/>
                  <a:pt x="119062" y="109537"/>
                </a:cubicBezTo>
                <a:close/>
                <a:moveTo>
                  <a:pt x="66675" y="52388"/>
                </a:moveTo>
                <a:cubicBezTo>
                  <a:pt x="74560" y="52388"/>
                  <a:pt x="80962" y="58790"/>
                  <a:pt x="80962" y="66675"/>
                </a:cubicBezTo>
                <a:cubicBezTo>
                  <a:pt x="80962" y="74560"/>
                  <a:pt x="74560" y="80962"/>
                  <a:pt x="66675" y="80962"/>
                </a:cubicBezTo>
                <a:cubicBezTo>
                  <a:pt x="58790" y="80962"/>
                  <a:pt x="52388" y="74560"/>
                  <a:pt x="52388" y="66675"/>
                </a:cubicBezTo>
                <a:cubicBezTo>
                  <a:pt x="52388" y="58790"/>
                  <a:pt x="58790" y="52388"/>
                  <a:pt x="66675" y="52388"/>
                </a:cubicBezTo>
                <a:close/>
                <a:moveTo>
                  <a:pt x="109537" y="66675"/>
                </a:moveTo>
                <a:cubicBezTo>
                  <a:pt x="109537" y="58790"/>
                  <a:pt x="115940" y="52388"/>
                  <a:pt x="123825" y="52388"/>
                </a:cubicBezTo>
                <a:cubicBezTo>
                  <a:pt x="131710" y="52388"/>
                  <a:pt x="138113" y="58790"/>
                  <a:pt x="138113" y="66675"/>
                </a:cubicBezTo>
                <a:cubicBezTo>
                  <a:pt x="138113" y="74560"/>
                  <a:pt x="131710" y="80962"/>
                  <a:pt x="123825" y="80962"/>
                </a:cubicBezTo>
                <a:cubicBezTo>
                  <a:pt x="115940" y="80962"/>
                  <a:pt x="109537" y="74560"/>
                  <a:pt x="109537" y="66675"/>
                </a:cubicBezTo>
                <a:close/>
                <a:moveTo>
                  <a:pt x="19050" y="66675"/>
                </a:moveTo>
                <a:cubicBezTo>
                  <a:pt x="19050" y="61406"/>
                  <a:pt x="14794" y="57150"/>
                  <a:pt x="9525" y="57150"/>
                </a:cubicBezTo>
                <a:cubicBezTo>
                  <a:pt x="4256" y="57150"/>
                  <a:pt x="0" y="61406"/>
                  <a:pt x="0" y="66675"/>
                </a:cubicBezTo>
                <a:lnTo>
                  <a:pt x="0" y="95250"/>
                </a:lnTo>
                <a:cubicBezTo>
                  <a:pt x="0" y="100519"/>
                  <a:pt x="4256" y="104775"/>
                  <a:pt x="9525" y="104775"/>
                </a:cubicBezTo>
                <a:cubicBezTo>
                  <a:pt x="14794" y="104775"/>
                  <a:pt x="19050" y="100519"/>
                  <a:pt x="19050" y="95250"/>
                </a:cubicBezTo>
                <a:lnTo>
                  <a:pt x="19050" y="66675"/>
                </a:lnTo>
                <a:close/>
                <a:moveTo>
                  <a:pt x="180975" y="57150"/>
                </a:moveTo>
                <a:cubicBezTo>
                  <a:pt x="175706" y="57150"/>
                  <a:pt x="171450" y="61406"/>
                  <a:pt x="171450" y="66675"/>
                </a:cubicBezTo>
                <a:lnTo>
                  <a:pt x="171450" y="95250"/>
                </a:lnTo>
                <a:cubicBezTo>
                  <a:pt x="171450" y="100519"/>
                  <a:pt x="175706" y="104775"/>
                  <a:pt x="180975" y="104775"/>
                </a:cubicBezTo>
                <a:cubicBezTo>
                  <a:pt x="186244" y="104775"/>
                  <a:pt x="190500" y="100519"/>
                  <a:pt x="190500" y="95250"/>
                </a:cubicBezTo>
                <a:lnTo>
                  <a:pt x="190500" y="66675"/>
                </a:lnTo>
                <a:cubicBezTo>
                  <a:pt x="190500" y="61406"/>
                  <a:pt x="186244" y="57150"/>
                  <a:pt x="180975" y="57150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12"/>
          <p:cNvSpPr/>
          <p:nvPr/>
        </p:nvSpPr>
        <p:spPr>
          <a:xfrm>
            <a:off x="6829425" y="1800225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自动选择机制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562725" y="2105025"/>
            <a:ext cx="49625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未手动指定后端时，vLLM 按平台优先级依次校验兼容性，选第一个合法后端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562725" y="2397919"/>
            <a:ext cx="4895850" cy="495300"/>
          </a:xfrm>
          <a:custGeom>
            <a:avLst/>
            <a:gdLst/>
            <a:ahLst/>
            <a:cxnLst/>
            <a:rect l="l" t="t" r="r" b="b"/>
            <a:pathLst>
              <a:path w="4895850" h="495300">
                <a:moveTo>
                  <a:pt x="38098" y="0"/>
                </a:moveTo>
                <a:lnTo>
                  <a:pt x="4857752" y="0"/>
                </a:lnTo>
                <a:cubicBezTo>
                  <a:pt x="4878793" y="0"/>
                  <a:pt x="4895850" y="17057"/>
                  <a:pt x="4895850" y="38098"/>
                </a:cubicBezTo>
                <a:lnTo>
                  <a:pt x="4895850" y="457202"/>
                </a:lnTo>
                <a:cubicBezTo>
                  <a:pt x="4895850" y="478243"/>
                  <a:pt x="4878793" y="495300"/>
                  <a:pt x="4857752" y="495300"/>
                </a:cubicBezTo>
                <a:lnTo>
                  <a:pt x="38098" y="495300"/>
                </a:lnTo>
                <a:cubicBezTo>
                  <a:pt x="17057" y="495300"/>
                  <a:pt x="0" y="478243"/>
                  <a:pt x="0" y="4572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2C323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5"/>
          <p:cNvSpPr/>
          <p:nvPr/>
        </p:nvSpPr>
        <p:spPr>
          <a:xfrm>
            <a:off x="6638925" y="2474119"/>
            <a:ext cx="4800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优先级队列示例 (CUDA):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638925" y="2664619"/>
            <a:ext cx="4800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FLASHMLA → FLASH_ATTN_MLA → FLASHINFER_MLA → TRITON_MLA → ...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410325" y="3198019"/>
            <a:ext cx="5200650" cy="1400175"/>
          </a:xfrm>
          <a:custGeom>
            <a:avLst/>
            <a:gdLst/>
            <a:ahLst/>
            <a:cxnLst/>
            <a:rect l="l" t="t" r="r" b="b"/>
            <a:pathLst>
              <a:path w="5200650" h="1400175">
                <a:moveTo>
                  <a:pt x="76198" y="0"/>
                </a:moveTo>
                <a:lnTo>
                  <a:pt x="5124452" y="0"/>
                </a:lnTo>
                <a:cubicBezTo>
                  <a:pt x="5166535" y="0"/>
                  <a:pt x="5200650" y="34115"/>
                  <a:pt x="5200650" y="76198"/>
                </a:cubicBezTo>
                <a:lnTo>
                  <a:pt x="5200650" y="1323977"/>
                </a:lnTo>
                <a:cubicBezTo>
                  <a:pt x="5200650" y="1366060"/>
                  <a:pt x="5166535" y="1400175"/>
                  <a:pt x="5124452" y="1400175"/>
                </a:cubicBezTo>
                <a:lnTo>
                  <a:pt x="76198" y="1400175"/>
                </a:lnTo>
                <a:cubicBezTo>
                  <a:pt x="34115" y="1400175"/>
                  <a:pt x="0" y="1366060"/>
                  <a:pt x="0" y="132397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8"/>
          <p:cNvSpPr/>
          <p:nvPr/>
        </p:nvSpPr>
        <p:spPr>
          <a:xfrm>
            <a:off x="6591300" y="3388519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38100" y="11906"/>
                </a:moveTo>
                <a:cubicBezTo>
                  <a:pt x="38100" y="5328"/>
                  <a:pt x="43428" y="0"/>
                  <a:pt x="50006" y="0"/>
                </a:cubicBezTo>
                <a:cubicBezTo>
                  <a:pt x="56584" y="0"/>
                  <a:pt x="61912" y="5328"/>
                  <a:pt x="61912" y="11906"/>
                </a:cubicBezTo>
                <a:lnTo>
                  <a:pt x="61912" y="56019"/>
                </a:lnTo>
                <a:cubicBezTo>
                  <a:pt x="64443" y="53757"/>
                  <a:pt x="67776" y="52388"/>
                  <a:pt x="71438" y="52388"/>
                </a:cubicBezTo>
                <a:cubicBezTo>
                  <a:pt x="77569" y="52388"/>
                  <a:pt x="82808" y="56257"/>
                  <a:pt x="84832" y="61674"/>
                </a:cubicBezTo>
                <a:cubicBezTo>
                  <a:pt x="87451" y="58906"/>
                  <a:pt x="91142" y="57150"/>
                  <a:pt x="95250" y="57150"/>
                </a:cubicBezTo>
                <a:cubicBezTo>
                  <a:pt x="102781" y="57150"/>
                  <a:pt x="108942" y="62954"/>
                  <a:pt x="109508" y="70336"/>
                </a:cubicBezTo>
                <a:cubicBezTo>
                  <a:pt x="112038" y="68044"/>
                  <a:pt x="115401" y="66675"/>
                  <a:pt x="119062" y="66675"/>
                </a:cubicBezTo>
                <a:cubicBezTo>
                  <a:pt x="126950" y="66675"/>
                  <a:pt x="133350" y="73075"/>
                  <a:pt x="133350" y="80962"/>
                </a:cubicBezTo>
                <a:lnTo>
                  <a:pt x="133350" y="114300"/>
                </a:lnTo>
                <a:cubicBezTo>
                  <a:pt x="133350" y="135344"/>
                  <a:pt x="116294" y="152400"/>
                  <a:pt x="95250" y="152400"/>
                </a:cubicBezTo>
                <a:lnTo>
                  <a:pt x="69860" y="152400"/>
                </a:lnTo>
                <a:cubicBezTo>
                  <a:pt x="68372" y="152400"/>
                  <a:pt x="66913" y="152311"/>
                  <a:pt x="65484" y="152102"/>
                </a:cubicBezTo>
                <a:cubicBezTo>
                  <a:pt x="49024" y="150435"/>
                  <a:pt x="33873" y="141982"/>
                  <a:pt x="23813" y="128588"/>
                </a:cubicBezTo>
                <a:lnTo>
                  <a:pt x="2381" y="100013"/>
                </a:lnTo>
                <a:cubicBezTo>
                  <a:pt x="-1578" y="94744"/>
                  <a:pt x="-506" y="87303"/>
                  <a:pt x="4763" y="83344"/>
                </a:cubicBezTo>
                <a:cubicBezTo>
                  <a:pt x="10031" y="79385"/>
                  <a:pt x="17472" y="80456"/>
                  <a:pt x="21431" y="85725"/>
                </a:cubicBezTo>
                <a:lnTo>
                  <a:pt x="38100" y="107960"/>
                </a:lnTo>
                <a:lnTo>
                  <a:pt x="38100" y="11906"/>
                </a:lnTo>
                <a:close/>
                <a:moveTo>
                  <a:pt x="71438" y="90488"/>
                </a:moveTo>
                <a:cubicBezTo>
                  <a:pt x="71438" y="87868"/>
                  <a:pt x="69294" y="85725"/>
                  <a:pt x="66675" y="85725"/>
                </a:cubicBezTo>
                <a:cubicBezTo>
                  <a:pt x="64056" y="85725"/>
                  <a:pt x="61912" y="87868"/>
                  <a:pt x="61912" y="90488"/>
                </a:cubicBezTo>
                <a:lnTo>
                  <a:pt x="61912" y="119062"/>
                </a:lnTo>
                <a:cubicBezTo>
                  <a:pt x="61912" y="121682"/>
                  <a:pt x="64056" y="123825"/>
                  <a:pt x="66675" y="123825"/>
                </a:cubicBezTo>
                <a:cubicBezTo>
                  <a:pt x="69294" y="123825"/>
                  <a:pt x="71438" y="121682"/>
                  <a:pt x="71438" y="119062"/>
                </a:cubicBezTo>
                <a:lnTo>
                  <a:pt x="71438" y="90488"/>
                </a:lnTo>
                <a:close/>
                <a:moveTo>
                  <a:pt x="85725" y="85725"/>
                </a:moveTo>
                <a:cubicBezTo>
                  <a:pt x="83106" y="85725"/>
                  <a:pt x="80962" y="87868"/>
                  <a:pt x="80962" y="90488"/>
                </a:cubicBezTo>
                <a:lnTo>
                  <a:pt x="80962" y="119062"/>
                </a:lnTo>
                <a:cubicBezTo>
                  <a:pt x="80962" y="121682"/>
                  <a:pt x="83106" y="123825"/>
                  <a:pt x="85725" y="123825"/>
                </a:cubicBezTo>
                <a:cubicBezTo>
                  <a:pt x="88344" y="123825"/>
                  <a:pt x="90488" y="121682"/>
                  <a:pt x="90488" y="119062"/>
                </a:cubicBezTo>
                <a:lnTo>
                  <a:pt x="90488" y="90488"/>
                </a:lnTo>
                <a:cubicBezTo>
                  <a:pt x="90488" y="87868"/>
                  <a:pt x="88344" y="85725"/>
                  <a:pt x="85725" y="85725"/>
                </a:cubicBezTo>
                <a:close/>
                <a:moveTo>
                  <a:pt x="109537" y="90488"/>
                </a:moveTo>
                <a:cubicBezTo>
                  <a:pt x="109537" y="87868"/>
                  <a:pt x="107394" y="85725"/>
                  <a:pt x="104775" y="85725"/>
                </a:cubicBezTo>
                <a:cubicBezTo>
                  <a:pt x="102156" y="85725"/>
                  <a:pt x="100013" y="87868"/>
                  <a:pt x="100013" y="90488"/>
                </a:cubicBezTo>
                <a:lnTo>
                  <a:pt x="100013" y="119062"/>
                </a:lnTo>
                <a:cubicBezTo>
                  <a:pt x="100013" y="121682"/>
                  <a:pt x="102156" y="123825"/>
                  <a:pt x="104775" y="123825"/>
                </a:cubicBezTo>
                <a:cubicBezTo>
                  <a:pt x="107394" y="123825"/>
                  <a:pt x="109537" y="121682"/>
                  <a:pt x="109537" y="119062"/>
                </a:cubicBezTo>
                <a:lnTo>
                  <a:pt x="109537" y="90488"/>
                </a:ln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9"/>
          <p:cNvSpPr/>
          <p:nvPr/>
        </p:nvSpPr>
        <p:spPr>
          <a:xfrm>
            <a:off x="6829425" y="3350419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手动指定机制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562725" y="3655219"/>
            <a:ext cx="49625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允许用户通过 </a:t>
            </a:r>
            <a:r>
              <a:rPr lang="en-US" sz="1050" dirty="0">
                <a:solidFill>
                  <a:srgbClr val="D4A26A"/>
                </a:solidFill>
                <a:highlight>
                  <a:srgbClr val="2C3238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--attention-backend </a:t>
            </a:r>
            <a:r>
              <a:rPr lang="en-US" sz="1050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显式指定，配置不兼容时直接报错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562725" y="3952875"/>
            <a:ext cx="4895850" cy="495300"/>
          </a:xfrm>
          <a:custGeom>
            <a:avLst/>
            <a:gdLst/>
            <a:ahLst/>
            <a:cxnLst/>
            <a:rect l="l" t="t" r="r" b="b"/>
            <a:pathLst>
              <a:path w="4895850" h="495300">
                <a:moveTo>
                  <a:pt x="38098" y="0"/>
                </a:moveTo>
                <a:lnTo>
                  <a:pt x="4857752" y="0"/>
                </a:lnTo>
                <a:cubicBezTo>
                  <a:pt x="4878793" y="0"/>
                  <a:pt x="4895850" y="17057"/>
                  <a:pt x="4895850" y="38098"/>
                </a:cubicBezTo>
                <a:lnTo>
                  <a:pt x="4895850" y="457202"/>
                </a:lnTo>
                <a:cubicBezTo>
                  <a:pt x="4895850" y="478243"/>
                  <a:pt x="4878793" y="495300"/>
                  <a:pt x="4857752" y="495300"/>
                </a:cubicBezTo>
                <a:lnTo>
                  <a:pt x="38098" y="495300"/>
                </a:lnTo>
                <a:cubicBezTo>
                  <a:pt x="17057" y="495300"/>
                  <a:pt x="0" y="478243"/>
                  <a:pt x="0" y="4572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2C323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2"/>
          <p:cNvSpPr/>
          <p:nvPr/>
        </p:nvSpPr>
        <p:spPr>
          <a:xfrm>
            <a:off x="6638925" y="4029075"/>
            <a:ext cx="4800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示例命令: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638925" y="4219575"/>
            <a:ext cx="4800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vllm serve model --attention-backend FLASH_ATTN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6415088" y="4757738"/>
            <a:ext cx="5191125" cy="676275"/>
          </a:xfrm>
          <a:custGeom>
            <a:avLst/>
            <a:gdLst/>
            <a:ahLst/>
            <a:cxnLst/>
            <a:rect l="l" t="t" r="r" b="b"/>
            <a:pathLst>
              <a:path w="5191125" h="676275">
                <a:moveTo>
                  <a:pt x="76203" y="0"/>
                </a:moveTo>
                <a:lnTo>
                  <a:pt x="5114922" y="0"/>
                </a:lnTo>
                <a:cubicBezTo>
                  <a:pt x="5157008" y="0"/>
                  <a:pt x="5191125" y="34117"/>
                  <a:pt x="5191125" y="76203"/>
                </a:cubicBezTo>
                <a:lnTo>
                  <a:pt x="5191125" y="600072"/>
                </a:lnTo>
                <a:cubicBezTo>
                  <a:pt x="5191125" y="642158"/>
                  <a:pt x="5157008" y="676275"/>
                  <a:pt x="5114922" y="676275"/>
                </a:cubicBezTo>
                <a:lnTo>
                  <a:pt x="76203" y="676275"/>
                </a:lnTo>
                <a:cubicBezTo>
                  <a:pt x="34117" y="676275"/>
                  <a:pt x="0" y="642158"/>
                  <a:pt x="0" y="600072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D4A26A">
              <a:alpha val="10196"/>
            </a:srgbClr>
          </a:solidFill>
          <a:ln w="12700">
            <a:solidFill>
              <a:srgbClr val="D4A26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5"/>
          <p:cNvSpPr/>
          <p:nvPr/>
        </p:nvSpPr>
        <p:spPr>
          <a:xfrm>
            <a:off x="6534150" y="4876800"/>
            <a:ext cx="50196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b="1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注意:</a:t>
            </a:r>
            <a:r>
              <a:rPr lang="en-US" sz="105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稀疏 MLA 仅在模型与硬件同时满足条件时可用（如 index_topk 字段与设备能力限制）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E0E2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mama ShuHeiTi" pitchFamily="34" charset="-120"/>
              </a:rPr>
              <a:t>KV Cache Offloading 兼容性深度解析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8382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385763" y="1033462"/>
            <a:ext cx="3695700" cy="2638425"/>
          </a:xfrm>
          <a:custGeom>
            <a:avLst/>
            <a:gdLst/>
            <a:ahLst/>
            <a:cxnLst/>
            <a:rect l="l" t="t" r="r" b="b"/>
            <a:pathLst>
              <a:path w="3695700" h="2638425">
                <a:moveTo>
                  <a:pt x="114297" y="0"/>
                </a:moveTo>
                <a:lnTo>
                  <a:pt x="3581403" y="0"/>
                </a:lnTo>
                <a:cubicBezTo>
                  <a:pt x="3644528" y="0"/>
                  <a:pt x="3695700" y="51172"/>
                  <a:pt x="3695700" y="114297"/>
                </a:cubicBezTo>
                <a:lnTo>
                  <a:pt x="3695700" y="2524128"/>
                </a:lnTo>
                <a:cubicBezTo>
                  <a:pt x="3695700" y="2587253"/>
                  <a:pt x="3644528" y="2638425"/>
                  <a:pt x="3581403" y="2638425"/>
                </a:cubicBezTo>
                <a:lnTo>
                  <a:pt x="114297" y="2638425"/>
                </a:lnTo>
                <a:cubicBezTo>
                  <a:pt x="51172" y="2638425"/>
                  <a:pt x="0" y="2587253"/>
                  <a:pt x="0" y="2524128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42925" y="11906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619125" y="12668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923925" y="1209675"/>
            <a:ext cx="1457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0E2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mama ShuHeiTi" pitchFamily="34" charset="-120"/>
              </a:rPr>
              <a:t>MHA/MQA/GQA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7688" y="1614488"/>
            <a:ext cx="3371850" cy="733425"/>
          </a:xfrm>
          <a:custGeom>
            <a:avLst/>
            <a:gdLst/>
            <a:ahLst/>
            <a:cxnLst/>
            <a:rect l="l" t="t" r="r" b="b"/>
            <a:pathLst>
              <a:path w="3371850" h="733425">
                <a:moveTo>
                  <a:pt x="76203" y="0"/>
                </a:moveTo>
                <a:lnTo>
                  <a:pt x="3295647" y="0"/>
                </a:lnTo>
                <a:cubicBezTo>
                  <a:pt x="3337705" y="0"/>
                  <a:pt x="3371850" y="34145"/>
                  <a:pt x="3371850" y="76203"/>
                </a:cubicBezTo>
                <a:lnTo>
                  <a:pt x="3371850" y="657222"/>
                </a:lnTo>
                <a:cubicBezTo>
                  <a:pt x="3371850" y="699280"/>
                  <a:pt x="3337705" y="733425"/>
                  <a:pt x="3295647" y="733425"/>
                </a:cubicBezTo>
                <a:lnTo>
                  <a:pt x="76203" y="733425"/>
                </a:lnTo>
                <a:cubicBezTo>
                  <a:pt x="34145" y="733425"/>
                  <a:pt x="0" y="699280"/>
                  <a:pt x="0" y="657222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 w="12700">
            <a:solidFill>
              <a:srgbClr val="D4A26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33413" y="1733550"/>
            <a:ext cx="3200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兼容性结论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9125" y="1962150"/>
            <a:ext cx="3228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完全支持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2925" y="2466975"/>
            <a:ext cx="3448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标准注意力结构完美适配原生 Offloading 设计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2925" y="2733675"/>
            <a:ext cx="3448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配置 </a:t>
            </a:r>
            <a:r>
              <a:rPr lang="en-US" sz="1050" dirty="0">
                <a:solidFill>
                  <a:srgbClr val="D4A26A"/>
                </a:solidFill>
                <a:highlight>
                  <a:srgbClr val="2C3238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--kv-offloading-size </a:t>
            </a:r>
            <a:r>
              <a:rPr lang="en-US" sz="1050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后可正常卸载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2925" y="3005138"/>
            <a:ext cx="3448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通过 </a:t>
            </a:r>
            <a:r>
              <a:rPr lang="en-US" sz="1050" dirty="0">
                <a:solidFill>
                  <a:srgbClr val="D4A26A"/>
                </a:solidFill>
                <a:highlight>
                  <a:srgbClr val="2C3238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OffloadingConnector </a:t>
            </a:r>
            <a:r>
              <a:rPr lang="en-US" sz="1050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异步卸载 GPU Block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5763" y="3833812"/>
            <a:ext cx="3695700" cy="2638425"/>
          </a:xfrm>
          <a:custGeom>
            <a:avLst/>
            <a:gdLst/>
            <a:ahLst/>
            <a:cxnLst/>
            <a:rect l="l" t="t" r="r" b="b"/>
            <a:pathLst>
              <a:path w="3695700" h="2638425">
                <a:moveTo>
                  <a:pt x="114297" y="0"/>
                </a:moveTo>
                <a:lnTo>
                  <a:pt x="3581403" y="0"/>
                </a:lnTo>
                <a:cubicBezTo>
                  <a:pt x="3644528" y="0"/>
                  <a:pt x="3695700" y="51172"/>
                  <a:pt x="3695700" y="114297"/>
                </a:cubicBezTo>
                <a:lnTo>
                  <a:pt x="3695700" y="2524128"/>
                </a:lnTo>
                <a:cubicBezTo>
                  <a:pt x="3695700" y="2587253"/>
                  <a:pt x="3644528" y="2638425"/>
                  <a:pt x="3581403" y="2638425"/>
                </a:cubicBezTo>
                <a:lnTo>
                  <a:pt x="114297" y="2638425"/>
                </a:lnTo>
                <a:cubicBezTo>
                  <a:pt x="51172" y="2638425"/>
                  <a:pt x="0" y="2587253"/>
                  <a:pt x="0" y="2524128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542925" y="399097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619125" y="40671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923925" y="4010025"/>
            <a:ext cx="447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0E2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mama ShuHeiTi" pitchFamily="34" charset="-120"/>
              </a:rPr>
              <a:t>MLA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7688" y="4414838"/>
            <a:ext cx="3371850" cy="733425"/>
          </a:xfrm>
          <a:custGeom>
            <a:avLst/>
            <a:gdLst/>
            <a:ahLst/>
            <a:cxnLst/>
            <a:rect l="l" t="t" r="r" b="b"/>
            <a:pathLst>
              <a:path w="3371850" h="733425">
                <a:moveTo>
                  <a:pt x="76203" y="0"/>
                </a:moveTo>
                <a:lnTo>
                  <a:pt x="3295647" y="0"/>
                </a:lnTo>
                <a:cubicBezTo>
                  <a:pt x="3337705" y="0"/>
                  <a:pt x="3371850" y="34145"/>
                  <a:pt x="3371850" y="76203"/>
                </a:cubicBezTo>
                <a:lnTo>
                  <a:pt x="3371850" y="657222"/>
                </a:lnTo>
                <a:cubicBezTo>
                  <a:pt x="3371850" y="699280"/>
                  <a:pt x="3337705" y="733425"/>
                  <a:pt x="3295647" y="733425"/>
                </a:cubicBezTo>
                <a:lnTo>
                  <a:pt x="76203" y="733425"/>
                </a:lnTo>
                <a:cubicBezTo>
                  <a:pt x="34145" y="733425"/>
                  <a:pt x="0" y="699280"/>
                  <a:pt x="0" y="657222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 w="12700">
            <a:solidFill>
              <a:srgbClr val="D4A26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33413" y="4533900"/>
            <a:ext cx="3200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兼容性结论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19125" y="4762500"/>
            <a:ext cx="3228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完全支持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2925" y="5267325"/>
            <a:ext cx="3448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050" dirty="0">
                <a:solidFill>
                  <a:srgbClr val="D4A26A"/>
                </a:solidFill>
                <a:highlight>
                  <a:srgbClr val="2C3238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MLAAttentionSpec </a:t>
            </a:r>
            <a:r>
              <a:rPr lang="en-US" sz="1050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声明 </a:t>
            </a:r>
            <a:r>
              <a:rPr lang="en-US" sz="1050" dirty="0">
                <a:solidFill>
                  <a:srgbClr val="D4A26A"/>
                </a:solidFill>
                <a:highlight>
                  <a:srgbClr val="2C3238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num_kv_heads=1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2925" y="5538788"/>
            <a:ext cx="3448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对分页内存管理器完全透明兼容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2925" y="5805488"/>
            <a:ext cx="3448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开启配置后可正常实现潜变量 CPU 卸载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246513" y="1033462"/>
            <a:ext cx="3695700" cy="2571750"/>
          </a:xfrm>
          <a:custGeom>
            <a:avLst/>
            <a:gdLst/>
            <a:ahLst/>
            <a:cxnLst/>
            <a:rect l="l" t="t" r="r" b="b"/>
            <a:pathLst>
              <a:path w="3695700" h="2571750">
                <a:moveTo>
                  <a:pt x="114289" y="0"/>
                </a:moveTo>
                <a:lnTo>
                  <a:pt x="3581411" y="0"/>
                </a:lnTo>
                <a:cubicBezTo>
                  <a:pt x="3644489" y="0"/>
                  <a:pt x="3695700" y="51211"/>
                  <a:pt x="3695700" y="114289"/>
                </a:cubicBezTo>
                <a:lnTo>
                  <a:pt x="3695700" y="2457461"/>
                </a:lnTo>
                <a:cubicBezTo>
                  <a:pt x="3695700" y="2520581"/>
                  <a:pt x="3644531" y="2571750"/>
                  <a:pt x="3581411" y="2571750"/>
                </a:cubicBezTo>
                <a:lnTo>
                  <a:pt x="114289" y="2571750"/>
                </a:lnTo>
                <a:cubicBezTo>
                  <a:pt x="51211" y="2571750"/>
                  <a:pt x="0" y="2520539"/>
                  <a:pt x="0" y="2457461"/>
                </a:cubicBezTo>
                <a:lnTo>
                  <a:pt x="0" y="114289"/>
                </a:lnTo>
                <a:cubicBezTo>
                  <a:pt x="0" y="51169"/>
                  <a:pt x="51169" y="0"/>
                  <a:pt x="114289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4403675" y="11906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4479875" y="12668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80576" y="0"/>
                  <a:pt x="84594" y="2411"/>
                  <a:pt x="86678" y="6251"/>
                </a:cubicBezTo>
                <a:lnTo>
                  <a:pt x="150971" y="125313"/>
                </a:lnTo>
                <a:cubicBezTo>
                  <a:pt x="152966" y="129004"/>
                  <a:pt x="152876" y="133469"/>
                  <a:pt x="150733" y="137071"/>
                </a:cubicBezTo>
                <a:cubicBezTo>
                  <a:pt x="148590" y="140672"/>
                  <a:pt x="144691" y="142875"/>
                  <a:pt x="140494" y="142875"/>
                </a:cubicBezTo>
                <a:lnTo>
                  <a:pt x="11906" y="142875"/>
                </a:lnTo>
                <a:cubicBezTo>
                  <a:pt x="7709" y="142875"/>
                  <a:pt x="3840" y="140672"/>
                  <a:pt x="1667" y="137071"/>
                </a:cubicBezTo>
                <a:cubicBezTo>
                  <a:pt x="-506" y="133469"/>
                  <a:pt x="-566" y="129004"/>
                  <a:pt x="1429" y="125313"/>
                </a:cubicBezTo>
                <a:lnTo>
                  <a:pt x="65723" y="6251"/>
                </a:lnTo>
                <a:cubicBezTo>
                  <a:pt x="67806" y="2411"/>
                  <a:pt x="71824" y="0"/>
                  <a:pt x="76200" y="0"/>
                </a:cubicBezTo>
                <a:close/>
                <a:moveTo>
                  <a:pt x="76200" y="50006"/>
                </a:moveTo>
                <a:cubicBezTo>
                  <a:pt x="72241" y="50006"/>
                  <a:pt x="69056" y="53191"/>
                  <a:pt x="69056" y="57150"/>
                </a:cubicBezTo>
                <a:lnTo>
                  <a:pt x="69056" y="90488"/>
                </a:lnTo>
                <a:cubicBezTo>
                  <a:pt x="69056" y="94446"/>
                  <a:pt x="72241" y="97631"/>
                  <a:pt x="76200" y="97631"/>
                </a:cubicBezTo>
                <a:cubicBezTo>
                  <a:pt x="80159" y="97631"/>
                  <a:pt x="83344" y="94446"/>
                  <a:pt x="83344" y="90488"/>
                </a:cubicBezTo>
                <a:lnTo>
                  <a:pt x="83344" y="57150"/>
                </a:lnTo>
                <a:cubicBezTo>
                  <a:pt x="83344" y="53191"/>
                  <a:pt x="80159" y="50006"/>
                  <a:pt x="76200" y="50006"/>
                </a:cubicBezTo>
                <a:close/>
                <a:moveTo>
                  <a:pt x="84147" y="114300"/>
                </a:moveTo>
                <a:cubicBezTo>
                  <a:pt x="84328" y="111350"/>
                  <a:pt x="82857" y="108543"/>
                  <a:pt x="80328" y="107014"/>
                </a:cubicBezTo>
                <a:cubicBezTo>
                  <a:pt x="77799" y="105484"/>
                  <a:pt x="74630" y="105484"/>
                  <a:pt x="72102" y="107014"/>
                </a:cubicBezTo>
                <a:cubicBezTo>
                  <a:pt x="69573" y="108543"/>
                  <a:pt x="68102" y="111350"/>
                  <a:pt x="68282" y="114300"/>
                </a:cubicBezTo>
                <a:cubicBezTo>
                  <a:pt x="68102" y="117250"/>
                  <a:pt x="69573" y="120057"/>
                  <a:pt x="72102" y="121586"/>
                </a:cubicBezTo>
                <a:cubicBezTo>
                  <a:pt x="74630" y="123116"/>
                  <a:pt x="77799" y="123116"/>
                  <a:pt x="80328" y="121586"/>
                </a:cubicBezTo>
                <a:cubicBezTo>
                  <a:pt x="82857" y="120057"/>
                  <a:pt x="84328" y="117250"/>
                  <a:pt x="84147" y="114300"/>
                </a:cubicBezTo>
                <a:close/>
              </a:path>
            </a:pathLst>
          </a:custGeom>
          <a:solidFill>
            <a:srgbClr val="4A6D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4784675" y="1209675"/>
            <a:ext cx="1581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0E2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mama ShuHeiTi" pitchFamily="34" charset="-120"/>
              </a:rPr>
              <a:t>NSA / Sparse MLA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408438" y="1614488"/>
            <a:ext cx="3371850" cy="733425"/>
          </a:xfrm>
          <a:custGeom>
            <a:avLst/>
            <a:gdLst/>
            <a:ahLst/>
            <a:cxnLst/>
            <a:rect l="l" t="t" r="r" b="b"/>
            <a:pathLst>
              <a:path w="3371850" h="733425">
                <a:moveTo>
                  <a:pt x="76203" y="0"/>
                </a:moveTo>
                <a:lnTo>
                  <a:pt x="3295647" y="0"/>
                </a:lnTo>
                <a:cubicBezTo>
                  <a:pt x="3337705" y="0"/>
                  <a:pt x="3371850" y="34145"/>
                  <a:pt x="3371850" y="76203"/>
                </a:cubicBezTo>
                <a:lnTo>
                  <a:pt x="3371850" y="657222"/>
                </a:lnTo>
                <a:cubicBezTo>
                  <a:pt x="3371850" y="699280"/>
                  <a:pt x="3337705" y="733425"/>
                  <a:pt x="3295647" y="733425"/>
                </a:cubicBezTo>
                <a:lnTo>
                  <a:pt x="76203" y="733425"/>
                </a:lnTo>
                <a:cubicBezTo>
                  <a:pt x="34145" y="733425"/>
                  <a:pt x="0" y="699280"/>
                  <a:pt x="0" y="657222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 w="12700">
            <a:solidFill>
              <a:srgbClr val="4A6D8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4494163" y="1733550"/>
            <a:ext cx="3200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4A6D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兼容性结论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484638" y="1962150"/>
            <a:ext cx="3219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部分支持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403675" y="2466975"/>
            <a:ext cx="3448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050" b="1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 KV 支持:</a:t>
            </a:r>
            <a:r>
              <a:rPr lang="en-US" sz="1050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低秩潜变量支持基础 Block 卸载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403675" y="2733675"/>
            <a:ext cx="3448050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050" b="1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Indexer Cache 暂不支持:</a:t>
            </a:r>
            <a:r>
              <a:rPr lang="en-US" sz="1050" dirty="0">
                <a:solidFill>
                  <a:srgbClr val="D4A26A"/>
                </a:solidFill>
                <a:highlight>
                  <a:srgbClr val="2C3238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DeepseekV32IndexerCache </a:t>
            </a:r>
            <a:r>
              <a:rPr lang="en-US" sz="1050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与主 KV 池隔离，尚未纳入自动卸载链路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246513" y="3767138"/>
            <a:ext cx="3695700" cy="2705100"/>
          </a:xfrm>
          <a:custGeom>
            <a:avLst/>
            <a:gdLst/>
            <a:ahLst/>
            <a:cxnLst/>
            <a:rect l="l" t="t" r="r" b="b"/>
            <a:pathLst>
              <a:path w="3695700" h="2705100">
                <a:moveTo>
                  <a:pt x="114290" y="0"/>
                </a:moveTo>
                <a:lnTo>
                  <a:pt x="3581410" y="0"/>
                </a:lnTo>
                <a:cubicBezTo>
                  <a:pt x="3644530" y="0"/>
                  <a:pt x="3695700" y="51170"/>
                  <a:pt x="3695700" y="114290"/>
                </a:cubicBezTo>
                <a:lnTo>
                  <a:pt x="3695700" y="2590810"/>
                </a:lnTo>
                <a:cubicBezTo>
                  <a:pt x="3695700" y="2653930"/>
                  <a:pt x="3644530" y="2705100"/>
                  <a:pt x="3581410" y="2705100"/>
                </a:cubicBezTo>
                <a:lnTo>
                  <a:pt x="114290" y="2705100"/>
                </a:lnTo>
                <a:cubicBezTo>
                  <a:pt x="51170" y="2705100"/>
                  <a:pt x="0" y="2653930"/>
                  <a:pt x="0" y="2590810"/>
                </a:cubicBezTo>
                <a:lnTo>
                  <a:pt x="0" y="114290"/>
                </a:lnTo>
                <a:cubicBezTo>
                  <a:pt x="0" y="51212"/>
                  <a:pt x="51212" y="0"/>
                  <a:pt x="114290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4403675" y="39243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B7A8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4479875" y="4000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6B7A8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4784675" y="3943350"/>
            <a:ext cx="1114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mama ShuHeiTi" pitchFamily="34" charset="-120"/>
              </a:rPr>
              <a:t>混合架构模型</a:t>
            </a:r>
            <a:endParaRPr lang="en-US" sz="1600" dirty="0">
              <a:solidFill>
                <a:schemeClr val="accent2"/>
              </a:solidFill>
            </a:endParaRPr>
          </a:p>
        </p:txBody>
      </p:sp>
      <p:sp>
        <p:nvSpPr>
          <p:cNvPr id="37" name="Shape 35"/>
          <p:cNvSpPr/>
          <p:nvPr/>
        </p:nvSpPr>
        <p:spPr>
          <a:xfrm>
            <a:off x="4408438" y="4348163"/>
            <a:ext cx="3371850" cy="733425"/>
          </a:xfrm>
          <a:custGeom>
            <a:avLst/>
            <a:gdLst/>
            <a:ahLst/>
            <a:cxnLst/>
            <a:rect l="l" t="t" r="r" b="b"/>
            <a:pathLst>
              <a:path w="3371850" h="733425">
                <a:moveTo>
                  <a:pt x="76203" y="0"/>
                </a:moveTo>
                <a:lnTo>
                  <a:pt x="3295647" y="0"/>
                </a:lnTo>
                <a:cubicBezTo>
                  <a:pt x="3337705" y="0"/>
                  <a:pt x="3371850" y="34145"/>
                  <a:pt x="3371850" y="76203"/>
                </a:cubicBezTo>
                <a:lnTo>
                  <a:pt x="3371850" y="657222"/>
                </a:lnTo>
                <a:cubicBezTo>
                  <a:pt x="3371850" y="699280"/>
                  <a:pt x="3337705" y="733425"/>
                  <a:pt x="3295647" y="733425"/>
                </a:cubicBezTo>
                <a:lnTo>
                  <a:pt x="76203" y="733425"/>
                </a:lnTo>
                <a:cubicBezTo>
                  <a:pt x="34145" y="733425"/>
                  <a:pt x="0" y="699280"/>
                  <a:pt x="0" y="657222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6B7A8F">
              <a:alpha val="20000"/>
            </a:srgbClr>
          </a:solidFill>
          <a:ln w="12700">
            <a:solidFill>
              <a:srgbClr val="6B7A8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4494163" y="4467225"/>
            <a:ext cx="3200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兼容性结论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484638" y="4695825"/>
            <a:ext cx="3219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C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当前不支持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40" name="Text 38"/>
          <p:cNvSpPr/>
          <p:nvPr/>
        </p:nvSpPr>
        <p:spPr>
          <a:xfrm>
            <a:off x="4403675" y="5200650"/>
            <a:ext cx="34480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混合模型（Qwen3.5、MiniMax-Text-01 等）强制启用 HMA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403675" y="5657850"/>
            <a:ext cx="344805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050" dirty="0">
                <a:solidFill>
                  <a:srgbClr val="D4A26A"/>
                </a:solidFill>
                <a:highlight>
                  <a:srgbClr val="2C3238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OffloadingConnector </a:t>
            </a:r>
            <a:r>
              <a:rPr lang="en-US" sz="1050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和 </a:t>
            </a:r>
            <a:r>
              <a:rPr lang="en-US" sz="1050" dirty="0">
                <a:solidFill>
                  <a:srgbClr val="D4A26A"/>
                </a:solidFill>
                <a:highlight>
                  <a:srgbClr val="2C3238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LMCacheConnectorV1 </a:t>
            </a:r>
            <a:r>
              <a:rPr lang="en-US" sz="1050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缺乏 </a:t>
            </a:r>
            <a:r>
              <a:rPr lang="en-US" sz="1050" dirty="0">
                <a:solidFill>
                  <a:srgbClr val="D4A26A"/>
                </a:solidFill>
                <a:highlight>
                  <a:srgbClr val="2C3238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SupportsHMA </a:t>
            </a:r>
            <a:r>
              <a:rPr lang="en-US" sz="1050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接口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403675" y="6124575"/>
            <a:ext cx="3448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触发 HMA 的模型均无法开启 Offloading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107338" y="1033462"/>
            <a:ext cx="3695700" cy="2790825"/>
          </a:xfrm>
          <a:custGeom>
            <a:avLst/>
            <a:gdLst/>
            <a:ahLst/>
            <a:cxnLst/>
            <a:rect l="l" t="t" r="r" b="b"/>
            <a:pathLst>
              <a:path w="3695700" h="2790825">
                <a:moveTo>
                  <a:pt x="114312" y="0"/>
                </a:moveTo>
                <a:lnTo>
                  <a:pt x="3581388" y="0"/>
                </a:lnTo>
                <a:cubicBezTo>
                  <a:pt x="3644521" y="0"/>
                  <a:pt x="3695700" y="51179"/>
                  <a:pt x="3695700" y="114312"/>
                </a:cubicBezTo>
                <a:lnTo>
                  <a:pt x="3695700" y="2676513"/>
                </a:lnTo>
                <a:cubicBezTo>
                  <a:pt x="3695700" y="2739646"/>
                  <a:pt x="3644521" y="2790825"/>
                  <a:pt x="3581388" y="2790825"/>
                </a:cubicBezTo>
                <a:lnTo>
                  <a:pt x="114312" y="2790825"/>
                </a:lnTo>
                <a:cubicBezTo>
                  <a:pt x="51179" y="2790825"/>
                  <a:pt x="0" y="2739646"/>
                  <a:pt x="0" y="2676513"/>
                </a:cubicBezTo>
                <a:lnTo>
                  <a:pt x="0" y="114312"/>
                </a:lnTo>
                <a:cubicBezTo>
                  <a:pt x="0" y="51222"/>
                  <a:pt x="51222" y="0"/>
                  <a:pt x="114312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8264500" y="11906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8340700" y="12668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8645500" y="1209675"/>
            <a:ext cx="828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0E2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mama ShuHeiTi" pitchFamily="34" charset="-120"/>
              </a:rPr>
              <a:t>MoE 模型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269263" y="1614488"/>
            <a:ext cx="3371850" cy="733425"/>
          </a:xfrm>
          <a:custGeom>
            <a:avLst/>
            <a:gdLst/>
            <a:ahLst/>
            <a:cxnLst/>
            <a:rect l="l" t="t" r="r" b="b"/>
            <a:pathLst>
              <a:path w="3371850" h="733425">
                <a:moveTo>
                  <a:pt x="76203" y="0"/>
                </a:moveTo>
                <a:lnTo>
                  <a:pt x="3295647" y="0"/>
                </a:lnTo>
                <a:cubicBezTo>
                  <a:pt x="3337705" y="0"/>
                  <a:pt x="3371850" y="34145"/>
                  <a:pt x="3371850" y="76203"/>
                </a:cubicBezTo>
                <a:lnTo>
                  <a:pt x="3371850" y="657222"/>
                </a:lnTo>
                <a:cubicBezTo>
                  <a:pt x="3371850" y="699280"/>
                  <a:pt x="3337705" y="733425"/>
                  <a:pt x="3295647" y="733425"/>
                </a:cubicBezTo>
                <a:lnTo>
                  <a:pt x="76203" y="733425"/>
                </a:lnTo>
                <a:cubicBezTo>
                  <a:pt x="34145" y="733425"/>
                  <a:pt x="0" y="699280"/>
                  <a:pt x="0" y="657222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 w="12700">
            <a:solidFill>
              <a:srgbClr val="D4A26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8354988" y="1733550"/>
            <a:ext cx="3200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兼容性结论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345463" y="1962150"/>
            <a:ext cx="3219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完全支持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264500" y="2466975"/>
            <a:ext cx="3448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KV Cache 存储与注意力层绑定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264500" y="2733675"/>
            <a:ext cx="3448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MoE 机制作用于 FFN 层，不影响 KV 卸载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264500" y="3000375"/>
            <a:ext cx="3448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卸载能力仅取决于注意力机制类型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107338" y="3986213"/>
            <a:ext cx="3695700" cy="2486025"/>
          </a:xfrm>
          <a:custGeom>
            <a:avLst/>
            <a:gdLst/>
            <a:ahLst/>
            <a:cxnLst/>
            <a:rect l="l" t="t" r="r" b="b"/>
            <a:pathLst>
              <a:path w="3695700" h="2486025">
                <a:moveTo>
                  <a:pt x="114307" y="0"/>
                </a:moveTo>
                <a:lnTo>
                  <a:pt x="3581393" y="0"/>
                </a:lnTo>
                <a:cubicBezTo>
                  <a:pt x="3644523" y="0"/>
                  <a:pt x="3695700" y="51177"/>
                  <a:pt x="3695700" y="114307"/>
                </a:cubicBezTo>
                <a:lnTo>
                  <a:pt x="3695700" y="2371718"/>
                </a:lnTo>
                <a:cubicBezTo>
                  <a:pt x="3695700" y="2434848"/>
                  <a:pt x="3644523" y="2486025"/>
                  <a:pt x="3581393" y="2486025"/>
                </a:cubicBezTo>
                <a:lnTo>
                  <a:pt x="114307" y="2486025"/>
                </a:lnTo>
                <a:cubicBezTo>
                  <a:pt x="51177" y="2486025"/>
                  <a:pt x="0" y="2434848"/>
                  <a:pt x="0" y="23717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Shape 52"/>
          <p:cNvSpPr/>
          <p:nvPr/>
        </p:nvSpPr>
        <p:spPr>
          <a:xfrm>
            <a:off x="8283550" y="42005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2798" y="35302"/>
                </a:moveTo>
                <a:cubicBezTo>
                  <a:pt x="-923" y="31581"/>
                  <a:pt x="-923" y="25539"/>
                  <a:pt x="2798" y="21818"/>
                </a:cubicBezTo>
                <a:cubicBezTo>
                  <a:pt x="6519" y="18098"/>
                  <a:pt x="12561" y="18098"/>
                  <a:pt x="16282" y="21818"/>
                </a:cubicBezTo>
                <a:lnTo>
                  <a:pt x="63907" y="69443"/>
                </a:lnTo>
                <a:cubicBezTo>
                  <a:pt x="67628" y="73164"/>
                  <a:pt x="67628" y="79206"/>
                  <a:pt x="63907" y="82927"/>
                </a:cubicBezTo>
                <a:lnTo>
                  <a:pt x="16282" y="130552"/>
                </a:lnTo>
                <a:cubicBezTo>
                  <a:pt x="12561" y="134273"/>
                  <a:pt x="6519" y="134273"/>
                  <a:pt x="2798" y="130552"/>
                </a:cubicBezTo>
                <a:cubicBezTo>
                  <a:pt x="-923" y="126831"/>
                  <a:pt x="-923" y="120789"/>
                  <a:pt x="2798" y="117068"/>
                </a:cubicBezTo>
                <a:lnTo>
                  <a:pt x="43666" y="76200"/>
                </a:lnTo>
                <a:lnTo>
                  <a:pt x="2798" y="35302"/>
                </a:lnTo>
                <a:close/>
                <a:moveTo>
                  <a:pt x="66675" y="114300"/>
                </a:moveTo>
                <a:lnTo>
                  <a:pt x="142875" y="114300"/>
                </a:lnTo>
                <a:cubicBezTo>
                  <a:pt x="148144" y="114300"/>
                  <a:pt x="152400" y="118556"/>
                  <a:pt x="152400" y="123825"/>
                </a:cubicBezTo>
                <a:cubicBezTo>
                  <a:pt x="152400" y="129094"/>
                  <a:pt x="148144" y="133350"/>
                  <a:pt x="142875" y="133350"/>
                </a:cubicBezTo>
                <a:lnTo>
                  <a:pt x="66675" y="133350"/>
                </a:lnTo>
                <a:cubicBezTo>
                  <a:pt x="61406" y="133350"/>
                  <a:pt x="57150" y="129094"/>
                  <a:pt x="57150" y="123825"/>
                </a:cubicBezTo>
                <a:cubicBezTo>
                  <a:pt x="57150" y="118556"/>
                  <a:pt x="61406" y="114300"/>
                  <a:pt x="66675" y="114300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8531200" y="4143375"/>
            <a:ext cx="1114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0E2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mama ShuHeiTi" pitchFamily="34" charset="-120"/>
              </a:rPr>
              <a:t>典型部署命令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264500" y="4524375"/>
            <a:ext cx="3381375" cy="495300"/>
          </a:xfrm>
          <a:custGeom>
            <a:avLst/>
            <a:gdLst/>
            <a:ahLst/>
            <a:cxnLst/>
            <a:rect l="l" t="t" r="r" b="b"/>
            <a:pathLst>
              <a:path w="3381375" h="495300">
                <a:moveTo>
                  <a:pt x="38098" y="0"/>
                </a:moveTo>
                <a:lnTo>
                  <a:pt x="3343277" y="0"/>
                </a:lnTo>
                <a:cubicBezTo>
                  <a:pt x="3364318" y="0"/>
                  <a:pt x="3381375" y="17057"/>
                  <a:pt x="3381375" y="38098"/>
                </a:cubicBezTo>
                <a:lnTo>
                  <a:pt x="3381375" y="457202"/>
                </a:lnTo>
                <a:cubicBezTo>
                  <a:pt x="3381375" y="478243"/>
                  <a:pt x="3364318" y="495300"/>
                  <a:pt x="3343277" y="495300"/>
                </a:cubicBezTo>
                <a:lnTo>
                  <a:pt x="38098" y="495300"/>
                </a:lnTo>
                <a:cubicBezTo>
                  <a:pt x="17057" y="495300"/>
                  <a:pt x="0" y="478243"/>
                  <a:pt x="0" y="4572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2C323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8340700" y="4600575"/>
            <a:ext cx="32861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标准注意力模型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340700" y="4791075"/>
            <a:ext cx="32861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vllm serve meta-llama/Llama-3.1-8B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264500" y="5095875"/>
            <a:ext cx="3381375" cy="495300"/>
          </a:xfrm>
          <a:custGeom>
            <a:avLst/>
            <a:gdLst/>
            <a:ahLst/>
            <a:cxnLst/>
            <a:rect l="l" t="t" r="r" b="b"/>
            <a:pathLst>
              <a:path w="3381375" h="495300">
                <a:moveTo>
                  <a:pt x="38098" y="0"/>
                </a:moveTo>
                <a:lnTo>
                  <a:pt x="3343277" y="0"/>
                </a:lnTo>
                <a:cubicBezTo>
                  <a:pt x="3364318" y="0"/>
                  <a:pt x="3381375" y="17057"/>
                  <a:pt x="3381375" y="38098"/>
                </a:cubicBezTo>
                <a:lnTo>
                  <a:pt x="3381375" y="457202"/>
                </a:lnTo>
                <a:cubicBezTo>
                  <a:pt x="3381375" y="478243"/>
                  <a:pt x="3364318" y="495300"/>
                  <a:pt x="3343277" y="495300"/>
                </a:cubicBezTo>
                <a:lnTo>
                  <a:pt x="38098" y="495300"/>
                </a:lnTo>
                <a:cubicBezTo>
                  <a:pt x="17057" y="495300"/>
                  <a:pt x="0" y="478243"/>
                  <a:pt x="0" y="4572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2C323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0" name="Text 58"/>
          <p:cNvSpPr/>
          <p:nvPr/>
        </p:nvSpPr>
        <p:spPr>
          <a:xfrm>
            <a:off x="8340700" y="5172075"/>
            <a:ext cx="32861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MLA 模型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8340700" y="5362575"/>
            <a:ext cx="32861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vllm serve deepseek-ai/DeepSeek-V3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8264500" y="5667375"/>
            <a:ext cx="3381375" cy="647700"/>
          </a:xfrm>
          <a:custGeom>
            <a:avLst/>
            <a:gdLst/>
            <a:ahLst/>
            <a:cxnLst/>
            <a:rect l="l" t="t" r="r" b="b"/>
            <a:pathLst>
              <a:path w="3381375" h="647700">
                <a:moveTo>
                  <a:pt x="38098" y="0"/>
                </a:moveTo>
                <a:lnTo>
                  <a:pt x="3343277" y="0"/>
                </a:lnTo>
                <a:cubicBezTo>
                  <a:pt x="3364304" y="0"/>
                  <a:pt x="3381375" y="17071"/>
                  <a:pt x="3381375" y="38098"/>
                </a:cubicBezTo>
                <a:lnTo>
                  <a:pt x="3381375" y="609602"/>
                </a:lnTo>
                <a:cubicBezTo>
                  <a:pt x="3381375" y="630643"/>
                  <a:pt x="3364318" y="647700"/>
                  <a:pt x="3343277" y="647700"/>
                </a:cubicBezTo>
                <a:lnTo>
                  <a:pt x="38098" y="647700"/>
                </a:lnTo>
                <a:cubicBezTo>
                  <a:pt x="17071" y="647700"/>
                  <a:pt x="0" y="630629"/>
                  <a:pt x="0" y="6096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2C323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3" name="Text 61"/>
          <p:cNvSpPr/>
          <p:nvPr/>
        </p:nvSpPr>
        <p:spPr>
          <a:xfrm>
            <a:off x="8340700" y="5743575"/>
            <a:ext cx="32861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NSA / 稀疏 MLA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8340700" y="5934075"/>
            <a:ext cx="32861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vllm serve THUDM/glm-5-9b --attention-backend FLASHMLA_SPARSE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5e82a0230cb6d59c0a877376741e65c8e2e7c534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9821" b="982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0000"/>
                </a:srgbClr>
              </a:gs>
              <a:gs pos="50000">
                <a:srgbClr val="4A6D8C">
                  <a:alpha val="20000"/>
                </a:srgbClr>
              </a:gs>
              <a:gs pos="100000">
                <a:srgbClr val="1A1D21">
                  <a:alpha val="95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5194771" y="633413"/>
            <a:ext cx="1800225" cy="504825"/>
          </a:xfrm>
          <a:custGeom>
            <a:avLst/>
            <a:gdLst/>
            <a:ahLst/>
            <a:cxnLst/>
            <a:rect l="l" t="t" r="r" b="b"/>
            <a:pathLst>
              <a:path w="1800225" h="504825">
                <a:moveTo>
                  <a:pt x="114302" y="0"/>
                </a:moveTo>
                <a:lnTo>
                  <a:pt x="1685923" y="0"/>
                </a:lnTo>
                <a:cubicBezTo>
                  <a:pt x="1749050" y="0"/>
                  <a:pt x="1800225" y="51175"/>
                  <a:pt x="1800225" y="114302"/>
                </a:cubicBezTo>
                <a:lnTo>
                  <a:pt x="1800225" y="390523"/>
                </a:lnTo>
                <a:cubicBezTo>
                  <a:pt x="1800225" y="453650"/>
                  <a:pt x="1749050" y="504825"/>
                  <a:pt x="1685923" y="504825"/>
                </a:cubicBezTo>
                <a:lnTo>
                  <a:pt x="114302" y="504825"/>
                </a:lnTo>
                <a:cubicBezTo>
                  <a:pt x="51175" y="504825"/>
                  <a:pt x="0" y="453650"/>
                  <a:pt x="0" y="390523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 w="12700">
            <a:solidFill>
              <a:srgbClr val="D4A26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5380509" y="757238"/>
            <a:ext cx="1430908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kern="0" spc="75" dirty="0">
                <a:solidFill>
                  <a:srgbClr val="D4A2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810125" y="1676400"/>
            <a:ext cx="2571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500" dirty="0">
                <a:solidFill>
                  <a:srgbClr val="E0E2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mama ShuHeiTi" pitchFamily="34" charset="-120"/>
              </a:rPr>
              <a:t>技术演进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4500" dirty="0">
                <a:solidFill>
                  <a:srgbClr val="E0E2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mama ShuHeiTi" pitchFamily="34" charset="-120"/>
              </a:rPr>
              <a:t>永不止步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267870" y="3333750"/>
            <a:ext cx="36576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vLLM框架持续优化注意力机制支持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为LLM推理性能提升提供坚实基础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727573" y="4538663"/>
            <a:ext cx="2038350" cy="1685925"/>
          </a:xfrm>
          <a:custGeom>
            <a:avLst/>
            <a:gdLst/>
            <a:ahLst/>
            <a:cxnLst/>
            <a:rect l="l" t="t" r="r" b="b"/>
            <a:pathLst>
              <a:path w="2038350" h="1685925">
                <a:moveTo>
                  <a:pt x="114306" y="0"/>
                </a:moveTo>
                <a:lnTo>
                  <a:pt x="1924044" y="0"/>
                </a:lnTo>
                <a:cubicBezTo>
                  <a:pt x="1987174" y="0"/>
                  <a:pt x="2038350" y="51176"/>
                  <a:pt x="2038350" y="114306"/>
                </a:cubicBezTo>
                <a:lnTo>
                  <a:pt x="2038350" y="1571619"/>
                </a:lnTo>
                <a:cubicBezTo>
                  <a:pt x="2038350" y="1634749"/>
                  <a:pt x="1987174" y="1685925"/>
                  <a:pt x="1924044" y="1685925"/>
                </a:cubicBezTo>
                <a:lnTo>
                  <a:pt x="114306" y="1685925"/>
                </a:lnTo>
                <a:cubicBezTo>
                  <a:pt x="51176" y="1685925"/>
                  <a:pt x="0" y="1634749"/>
                  <a:pt x="0" y="1571619"/>
                </a:cubicBezTo>
                <a:lnTo>
                  <a:pt x="0" y="114306"/>
                </a:lnTo>
                <a:cubicBezTo>
                  <a:pt x="0" y="51176"/>
                  <a:pt x="51176" y="0"/>
                  <a:pt x="114306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6"/>
          <p:cNvSpPr/>
          <p:nvPr/>
        </p:nvSpPr>
        <p:spPr>
          <a:xfrm>
            <a:off x="3574107" y="4772025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17872" y="16073"/>
                </a:moveTo>
                <a:cubicBezTo>
                  <a:pt x="117872" y="7166"/>
                  <a:pt x="110706" y="0"/>
                  <a:pt x="101798" y="0"/>
                </a:cubicBezTo>
                <a:cubicBezTo>
                  <a:pt x="92891" y="0"/>
                  <a:pt x="85725" y="7166"/>
                  <a:pt x="85725" y="16073"/>
                </a:cubicBezTo>
                <a:lnTo>
                  <a:pt x="85725" y="42863"/>
                </a:lnTo>
                <a:cubicBezTo>
                  <a:pt x="62084" y="42863"/>
                  <a:pt x="42863" y="62084"/>
                  <a:pt x="42863" y="85725"/>
                </a:cubicBezTo>
                <a:lnTo>
                  <a:pt x="16073" y="85725"/>
                </a:lnTo>
                <a:cubicBezTo>
                  <a:pt x="7166" y="85725"/>
                  <a:pt x="0" y="92891"/>
                  <a:pt x="0" y="101798"/>
                </a:cubicBezTo>
                <a:cubicBezTo>
                  <a:pt x="0" y="110706"/>
                  <a:pt x="7166" y="117872"/>
                  <a:pt x="16073" y="117872"/>
                </a:cubicBezTo>
                <a:lnTo>
                  <a:pt x="42863" y="117872"/>
                </a:lnTo>
                <a:lnTo>
                  <a:pt x="42863" y="155377"/>
                </a:lnTo>
                <a:lnTo>
                  <a:pt x="16073" y="155377"/>
                </a:lnTo>
                <a:cubicBezTo>
                  <a:pt x="7166" y="155377"/>
                  <a:pt x="0" y="162543"/>
                  <a:pt x="0" y="171450"/>
                </a:cubicBezTo>
                <a:cubicBezTo>
                  <a:pt x="0" y="180357"/>
                  <a:pt x="7166" y="187523"/>
                  <a:pt x="16073" y="187523"/>
                </a:cubicBezTo>
                <a:lnTo>
                  <a:pt x="42863" y="187523"/>
                </a:lnTo>
                <a:lnTo>
                  <a:pt x="42863" y="225028"/>
                </a:lnTo>
                <a:lnTo>
                  <a:pt x="16073" y="225028"/>
                </a:lnTo>
                <a:cubicBezTo>
                  <a:pt x="7166" y="225028"/>
                  <a:pt x="0" y="232194"/>
                  <a:pt x="0" y="241102"/>
                </a:cubicBezTo>
                <a:cubicBezTo>
                  <a:pt x="0" y="250009"/>
                  <a:pt x="7166" y="257175"/>
                  <a:pt x="16073" y="257175"/>
                </a:cubicBezTo>
                <a:lnTo>
                  <a:pt x="42863" y="257175"/>
                </a:lnTo>
                <a:cubicBezTo>
                  <a:pt x="42863" y="280816"/>
                  <a:pt x="62084" y="300038"/>
                  <a:pt x="85725" y="300038"/>
                </a:cubicBezTo>
                <a:lnTo>
                  <a:pt x="85725" y="326827"/>
                </a:lnTo>
                <a:cubicBezTo>
                  <a:pt x="85725" y="335734"/>
                  <a:pt x="92891" y="342900"/>
                  <a:pt x="101798" y="342900"/>
                </a:cubicBezTo>
                <a:cubicBezTo>
                  <a:pt x="110706" y="342900"/>
                  <a:pt x="117872" y="335734"/>
                  <a:pt x="117872" y="326827"/>
                </a:cubicBezTo>
                <a:lnTo>
                  <a:pt x="117872" y="300038"/>
                </a:lnTo>
                <a:lnTo>
                  <a:pt x="155377" y="300038"/>
                </a:lnTo>
                <a:lnTo>
                  <a:pt x="155377" y="326827"/>
                </a:lnTo>
                <a:cubicBezTo>
                  <a:pt x="155377" y="335734"/>
                  <a:pt x="162543" y="342900"/>
                  <a:pt x="171450" y="342900"/>
                </a:cubicBezTo>
                <a:cubicBezTo>
                  <a:pt x="180357" y="342900"/>
                  <a:pt x="187523" y="335734"/>
                  <a:pt x="187523" y="326827"/>
                </a:cubicBezTo>
                <a:lnTo>
                  <a:pt x="187523" y="300038"/>
                </a:lnTo>
                <a:lnTo>
                  <a:pt x="225028" y="300038"/>
                </a:lnTo>
                <a:lnTo>
                  <a:pt x="225028" y="326827"/>
                </a:lnTo>
                <a:cubicBezTo>
                  <a:pt x="225028" y="335734"/>
                  <a:pt x="232194" y="342900"/>
                  <a:pt x="241102" y="342900"/>
                </a:cubicBezTo>
                <a:cubicBezTo>
                  <a:pt x="250009" y="342900"/>
                  <a:pt x="257175" y="335734"/>
                  <a:pt x="257175" y="326827"/>
                </a:cubicBezTo>
                <a:lnTo>
                  <a:pt x="257175" y="300038"/>
                </a:lnTo>
                <a:cubicBezTo>
                  <a:pt x="280816" y="300038"/>
                  <a:pt x="300038" y="280816"/>
                  <a:pt x="300038" y="257175"/>
                </a:cubicBezTo>
                <a:lnTo>
                  <a:pt x="326827" y="257175"/>
                </a:lnTo>
                <a:cubicBezTo>
                  <a:pt x="335734" y="257175"/>
                  <a:pt x="342900" y="250009"/>
                  <a:pt x="342900" y="241102"/>
                </a:cubicBezTo>
                <a:cubicBezTo>
                  <a:pt x="342900" y="232194"/>
                  <a:pt x="335734" y="225028"/>
                  <a:pt x="326827" y="225028"/>
                </a:cubicBezTo>
                <a:lnTo>
                  <a:pt x="300038" y="225028"/>
                </a:lnTo>
                <a:lnTo>
                  <a:pt x="300038" y="187523"/>
                </a:lnTo>
                <a:lnTo>
                  <a:pt x="326827" y="187523"/>
                </a:lnTo>
                <a:cubicBezTo>
                  <a:pt x="335734" y="187523"/>
                  <a:pt x="342900" y="180357"/>
                  <a:pt x="342900" y="171450"/>
                </a:cubicBezTo>
                <a:cubicBezTo>
                  <a:pt x="342900" y="162543"/>
                  <a:pt x="335734" y="155377"/>
                  <a:pt x="326827" y="155377"/>
                </a:cubicBezTo>
                <a:lnTo>
                  <a:pt x="300038" y="155377"/>
                </a:lnTo>
                <a:lnTo>
                  <a:pt x="300038" y="117872"/>
                </a:lnTo>
                <a:lnTo>
                  <a:pt x="326827" y="117872"/>
                </a:lnTo>
                <a:cubicBezTo>
                  <a:pt x="335734" y="117872"/>
                  <a:pt x="342900" y="110706"/>
                  <a:pt x="342900" y="101798"/>
                </a:cubicBezTo>
                <a:cubicBezTo>
                  <a:pt x="342900" y="92891"/>
                  <a:pt x="335734" y="85725"/>
                  <a:pt x="326827" y="85725"/>
                </a:cubicBezTo>
                <a:lnTo>
                  <a:pt x="300038" y="85725"/>
                </a:lnTo>
                <a:cubicBezTo>
                  <a:pt x="300038" y="62084"/>
                  <a:pt x="280816" y="42863"/>
                  <a:pt x="257175" y="42863"/>
                </a:cubicBezTo>
                <a:lnTo>
                  <a:pt x="257175" y="16073"/>
                </a:lnTo>
                <a:cubicBezTo>
                  <a:pt x="257175" y="7166"/>
                  <a:pt x="250009" y="0"/>
                  <a:pt x="241102" y="0"/>
                </a:cubicBezTo>
                <a:cubicBezTo>
                  <a:pt x="232194" y="0"/>
                  <a:pt x="225028" y="7166"/>
                  <a:pt x="225028" y="16073"/>
                </a:cubicBezTo>
                <a:lnTo>
                  <a:pt x="225028" y="42863"/>
                </a:lnTo>
                <a:lnTo>
                  <a:pt x="187523" y="42863"/>
                </a:lnTo>
                <a:lnTo>
                  <a:pt x="187523" y="16073"/>
                </a:lnTo>
                <a:cubicBezTo>
                  <a:pt x="187523" y="7166"/>
                  <a:pt x="180357" y="0"/>
                  <a:pt x="171450" y="0"/>
                </a:cubicBezTo>
                <a:cubicBezTo>
                  <a:pt x="162543" y="0"/>
                  <a:pt x="155377" y="7166"/>
                  <a:pt x="155377" y="16073"/>
                </a:cubicBezTo>
                <a:lnTo>
                  <a:pt x="155377" y="42863"/>
                </a:lnTo>
                <a:lnTo>
                  <a:pt x="117872" y="42863"/>
                </a:lnTo>
                <a:lnTo>
                  <a:pt x="117872" y="16073"/>
                </a:lnTo>
                <a:close/>
                <a:moveTo>
                  <a:pt x="107156" y="85725"/>
                </a:moveTo>
                <a:lnTo>
                  <a:pt x="235744" y="85725"/>
                </a:lnTo>
                <a:cubicBezTo>
                  <a:pt x="247598" y="85725"/>
                  <a:pt x="257175" y="95302"/>
                  <a:pt x="257175" y="107156"/>
                </a:cubicBezTo>
                <a:lnTo>
                  <a:pt x="257175" y="235744"/>
                </a:lnTo>
                <a:cubicBezTo>
                  <a:pt x="257175" y="247598"/>
                  <a:pt x="247598" y="257175"/>
                  <a:pt x="235744" y="257175"/>
                </a:cubicBezTo>
                <a:lnTo>
                  <a:pt x="107156" y="257175"/>
                </a:lnTo>
                <a:cubicBezTo>
                  <a:pt x="95302" y="257175"/>
                  <a:pt x="85725" y="247598"/>
                  <a:pt x="85725" y="235744"/>
                </a:cubicBezTo>
                <a:lnTo>
                  <a:pt x="85725" y="107156"/>
                </a:lnTo>
                <a:cubicBezTo>
                  <a:pt x="85725" y="95302"/>
                  <a:pt x="95302" y="85725"/>
                  <a:pt x="107156" y="85725"/>
                </a:cubicBezTo>
                <a:close/>
                <a:moveTo>
                  <a:pt x="117872" y="117872"/>
                </a:moveTo>
                <a:lnTo>
                  <a:pt x="117872" y="225028"/>
                </a:lnTo>
                <a:lnTo>
                  <a:pt x="225028" y="225028"/>
                </a:lnTo>
                <a:lnTo>
                  <a:pt x="225028" y="117872"/>
                </a:lnTo>
                <a:lnTo>
                  <a:pt x="117872" y="117872"/>
                </a:ln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2913311" y="5267325"/>
            <a:ext cx="1666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E0E2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mama ShuHeiTi" pitchFamily="34" charset="-120"/>
              </a:rPr>
              <a:t>架构创新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2927598" y="5610225"/>
            <a:ext cx="1638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 MHA 到 MLA 再到 NSA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持续突破显存与计算瓶颈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077941" y="4538663"/>
            <a:ext cx="2038350" cy="1685925"/>
          </a:xfrm>
          <a:custGeom>
            <a:avLst/>
            <a:gdLst/>
            <a:ahLst/>
            <a:cxnLst/>
            <a:rect l="l" t="t" r="r" b="b"/>
            <a:pathLst>
              <a:path w="2038350" h="1685925">
                <a:moveTo>
                  <a:pt x="114306" y="0"/>
                </a:moveTo>
                <a:lnTo>
                  <a:pt x="1924044" y="0"/>
                </a:lnTo>
                <a:cubicBezTo>
                  <a:pt x="1987174" y="0"/>
                  <a:pt x="2038350" y="51176"/>
                  <a:pt x="2038350" y="114306"/>
                </a:cubicBezTo>
                <a:lnTo>
                  <a:pt x="2038350" y="1571619"/>
                </a:lnTo>
                <a:cubicBezTo>
                  <a:pt x="2038350" y="1634749"/>
                  <a:pt x="1987174" y="1685925"/>
                  <a:pt x="1924044" y="1685925"/>
                </a:cubicBezTo>
                <a:lnTo>
                  <a:pt x="114306" y="1685925"/>
                </a:lnTo>
                <a:cubicBezTo>
                  <a:pt x="51176" y="1685925"/>
                  <a:pt x="0" y="1634749"/>
                  <a:pt x="0" y="1571619"/>
                </a:cubicBezTo>
                <a:lnTo>
                  <a:pt x="0" y="114306"/>
                </a:lnTo>
                <a:cubicBezTo>
                  <a:pt x="0" y="51176"/>
                  <a:pt x="51176" y="0"/>
                  <a:pt x="114306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0"/>
          <p:cNvSpPr/>
          <p:nvPr/>
        </p:nvSpPr>
        <p:spPr>
          <a:xfrm>
            <a:off x="5881613" y="4772025"/>
            <a:ext cx="428625" cy="342900"/>
          </a:xfrm>
          <a:custGeom>
            <a:avLst/>
            <a:gdLst/>
            <a:ahLst/>
            <a:cxnLst/>
            <a:rect l="l" t="t" r="r" b="b"/>
            <a:pathLst>
              <a:path w="428625" h="342900">
                <a:moveTo>
                  <a:pt x="278539" y="140977"/>
                </a:moveTo>
                <a:cubicBezTo>
                  <a:pt x="286710" y="138767"/>
                  <a:pt x="295282" y="142652"/>
                  <a:pt x="298966" y="150220"/>
                </a:cubicBezTo>
                <a:lnTo>
                  <a:pt x="311423" y="175401"/>
                </a:lnTo>
                <a:cubicBezTo>
                  <a:pt x="318321" y="176339"/>
                  <a:pt x="325085" y="178214"/>
                  <a:pt x="331448" y="180826"/>
                </a:cubicBezTo>
                <a:lnTo>
                  <a:pt x="354888" y="165222"/>
                </a:lnTo>
                <a:cubicBezTo>
                  <a:pt x="361920" y="160533"/>
                  <a:pt x="371229" y="161471"/>
                  <a:pt x="377190" y="167432"/>
                </a:cubicBezTo>
                <a:lnTo>
                  <a:pt x="390049" y="180290"/>
                </a:lnTo>
                <a:cubicBezTo>
                  <a:pt x="396009" y="186251"/>
                  <a:pt x="396947" y="195627"/>
                  <a:pt x="392259" y="202592"/>
                </a:cubicBezTo>
                <a:lnTo>
                  <a:pt x="376654" y="225966"/>
                </a:lnTo>
                <a:cubicBezTo>
                  <a:pt x="377927" y="229113"/>
                  <a:pt x="379065" y="232395"/>
                  <a:pt x="380003" y="235811"/>
                </a:cubicBezTo>
                <a:cubicBezTo>
                  <a:pt x="380940" y="239226"/>
                  <a:pt x="381543" y="242575"/>
                  <a:pt x="382012" y="245991"/>
                </a:cubicBezTo>
                <a:lnTo>
                  <a:pt x="407261" y="258447"/>
                </a:lnTo>
                <a:cubicBezTo>
                  <a:pt x="414829" y="262198"/>
                  <a:pt x="418713" y="270770"/>
                  <a:pt x="416503" y="278874"/>
                </a:cubicBezTo>
                <a:lnTo>
                  <a:pt x="411815" y="296421"/>
                </a:lnTo>
                <a:cubicBezTo>
                  <a:pt x="409605" y="304525"/>
                  <a:pt x="402037" y="310016"/>
                  <a:pt x="393598" y="309481"/>
                </a:cubicBezTo>
                <a:lnTo>
                  <a:pt x="365470" y="307672"/>
                </a:lnTo>
                <a:cubicBezTo>
                  <a:pt x="361251" y="313097"/>
                  <a:pt x="356362" y="318120"/>
                  <a:pt x="350803" y="322406"/>
                </a:cubicBezTo>
                <a:lnTo>
                  <a:pt x="352611" y="350468"/>
                </a:lnTo>
                <a:cubicBezTo>
                  <a:pt x="353147" y="358906"/>
                  <a:pt x="347655" y="366541"/>
                  <a:pt x="339551" y="368684"/>
                </a:cubicBezTo>
                <a:lnTo>
                  <a:pt x="322005" y="373373"/>
                </a:lnTo>
                <a:cubicBezTo>
                  <a:pt x="313834" y="375583"/>
                  <a:pt x="305328" y="371698"/>
                  <a:pt x="301578" y="364130"/>
                </a:cubicBezTo>
                <a:lnTo>
                  <a:pt x="289121" y="338949"/>
                </a:lnTo>
                <a:cubicBezTo>
                  <a:pt x="282223" y="338011"/>
                  <a:pt x="275459" y="336136"/>
                  <a:pt x="269096" y="333524"/>
                </a:cubicBezTo>
                <a:lnTo>
                  <a:pt x="245656" y="349128"/>
                </a:lnTo>
                <a:cubicBezTo>
                  <a:pt x="238624" y="353817"/>
                  <a:pt x="229314" y="352879"/>
                  <a:pt x="223354" y="346918"/>
                </a:cubicBezTo>
                <a:lnTo>
                  <a:pt x="210495" y="334060"/>
                </a:lnTo>
                <a:cubicBezTo>
                  <a:pt x="204534" y="328099"/>
                  <a:pt x="203597" y="318790"/>
                  <a:pt x="208285" y="311758"/>
                </a:cubicBezTo>
                <a:lnTo>
                  <a:pt x="223890" y="288317"/>
                </a:lnTo>
                <a:cubicBezTo>
                  <a:pt x="222617" y="285170"/>
                  <a:pt x="221479" y="281888"/>
                  <a:pt x="220541" y="278472"/>
                </a:cubicBezTo>
                <a:cubicBezTo>
                  <a:pt x="219603" y="275057"/>
                  <a:pt x="219001" y="271641"/>
                  <a:pt x="218532" y="268292"/>
                </a:cubicBezTo>
                <a:lnTo>
                  <a:pt x="193283" y="255836"/>
                </a:lnTo>
                <a:cubicBezTo>
                  <a:pt x="185715" y="252085"/>
                  <a:pt x="181898" y="243513"/>
                  <a:pt x="184041" y="235409"/>
                </a:cubicBezTo>
                <a:lnTo>
                  <a:pt x="188729" y="217862"/>
                </a:lnTo>
                <a:cubicBezTo>
                  <a:pt x="190939" y="209758"/>
                  <a:pt x="198507" y="204267"/>
                  <a:pt x="206946" y="204802"/>
                </a:cubicBezTo>
                <a:lnTo>
                  <a:pt x="235007" y="206611"/>
                </a:lnTo>
                <a:cubicBezTo>
                  <a:pt x="239226" y="201186"/>
                  <a:pt x="244115" y="196163"/>
                  <a:pt x="249674" y="191877"/>
                </a:cubicBezTo>
                <a:lnTo>
                  <a:pt x="247866" y="163882"/>
                </a:lnTo>
                <a:cubicBezTo>
                  <a:pt x="247330" y="155444"/>
                  <a:pt x="252822" y="147809"/>
                  <a:pt x="260925" y="145666"/>
                </a:cubicBezTo>
                <a:lnTo>
                  <a:pt x="278472" y="140977"/>
                </a:lnTo>
                <a:close/>
                <a:moveTo>
                  <a:pt x="300305" y="227707"/>
                </a:moveTo>
                <a:cubicBezTo>
                  <a:pt x="284042" y="227726"/>
                  <a:pt x="270852" y="240945"/>
                  <a:pt x="270871" y="257208"/>
                </a:cubicBezTo>
                <a:cubicBezTo>
                  <a:pt x="270889" y="273472"/>
                  <a:pt x="284109" y="286661"/>
                  <a:pt x="300372" y="286643"/>
                </a:cubicBezTo>
                <a:cubicBezTo>
                  <a:pt x="316636" y="286624"/>
                  <a:pt x="329825" y="273405"/>
                  <a:pt x="329807" y="257142"/>
                </a:cubicBezTo>
                <a:cubicBezTo>
                  <a:pt x="329788" y="240878"/>
                  <a:pt x="316569" y="227689"/>
                  <a:pt x="300305" y="227707"/>
                </a:cubicBezTo>
                <a:close/>
                <a:moveTo>
                  <a:pt x="150622" y="-30473"/>
                </a:moveTo>
                <a:lnTo>
                  <a:pt x="168168" y="-25784"/>
                </a:lnTo>
                <a:cubicBezTo>
                  <a:pt x="176272" y="-23574"/>
                  <a:pt x="181764" y="-15939"/>
                  <a:pt x="181228" y="-7568"/>
                </a:cubicBezTo>
                <a:lnTo>
                  <a:pt x="179420" y="20427"/>
                </a:lnTo>
                <a:cubicBezTo>
                  <a:pt x="184978" y="24713"/>
                  <a:pt x="189867" y="29669"/>
                  <a:pt x="194087" y="35161"/>
                </a:cubicBezTo>
                <a:lnTo>
                  <a:pt x="222215" y="33352"/>
                </a:lnTo>
                <a:cubicBezTo>
                  <a:pt x="230587" y="32817"/>
                  <a:pt x="238222" y="38308"/>
                  <a:pt x="240432" y="46412"/>
                </a:cubicBezTo>
                <a:lnTo>
                  <a:pt x="245120" y="63959"/>
                </a:lnTo>
                <a:cubicBezTo>
                  <a:pt x="247263" y="72063"/>
                  <a:pt x="243446" y="80635"/>
                  <a:pt x="235878" y="84386"/>
                </a:cubicBezTo>
                <a:lnTo>
                  <a:pt x="210629" y="96842"/>
                </a:lnTo>
                <a:cubicBezTo>
                  <a:pt x="210160" y="100258"/>
                  <a:pt x="209490" y="103674"/>
                  <a:pt x="208620" y="107022"/>
                </a:cubicBezTo>
                <a:cubicBezTo>
                  <a:pt x="207749" y="110371"/>
                  <a:pt x="206544" y="113720"/>
                  <a:pt x="205271" y="116867"/>
                </a:cubicBezTo>
                <a:lnTo>
                  <a:pt x="220876" y="140308"/>
                </a:lnTo>
                <a:cubicBezTo>
                  <a:pt x="225564" y="147340"/>
                  <a:pt x="224626" y="156649"/>
                  <a:pt x="218666" y="162610"/>
                </a:cubicBezTo>
                <a:lnTo>
                  <a:pt x="205807" y="175468"/>
                </a:lnTo>
                <a:cubicBezTo>
                  <a:pt x="199846" y="181429"/>
                  <a:pt x="190537" y="182367"/>
                  <a:pt x="183505" y="177678"/>
                </a:cubicBezTo>
                <a:lnTo>
                  <a:pt x="160065" y="162074"/>
                </a:lnTo>
                <a:cubicBezTo>
                  <a:pt x="153702" y="164686"/>
                  <a:pt x="146938" y="166561"/>
                  <a:pt x="140040" y="167499"/>
                </a:cubicBezTo>
                <a:lnTo>
                  <a:pt x="127583" y="192680"/>
                </a:lnTo>
                <a:cubicBezTo>
                  <a:pt x="123832" y="200248"/>
                  <a:pt x="115260" y="204066"/>
                  <a:pt x="107156" y="201923"/>
                </a:cubicBezTo>
                <a:lnTo>
                  <a:pt x="89609" y="197234"/>
                </a:lnTo>
                <a:cubicBezTo>
                  <a:pt x="81439" y="195024"/>
                  <a:pt x="76014" y="187389"/>
                  <a:pt x="76550" y="179018"/>
                </a:cubicBezTo>
                <a:lnTo>
                  <a:pt x="78358" y="150956"/>
                </a:lnTo>
                <a:cubicBezTo>
                  <a:pt x="72799" y="146670"/>
                  <a:pt x="67910" y="141714"/>
                  <a:pt x="63691" y="136222"/>
                </a:cubicBezTo>
                <a:lnTo>
                  <a:pt x="35562" y="138031"/>
                </a:lnTo>
                <a:cubicBezTo>
                  <a:pt x="27191" y="138566"/>
                  <a:pt x="19556" y="133075"/>
                  <a:pt x="17346" y="124971"/>
                </a:cubicBezTo>
                <a:lnTo>
                  <a:pt x="12658" y="107424"/>
                </a:lnTo>
                <a:cubicBezTo>
                  <a:pt x="10515" y="99320"/>
                  <a:pt x="14332" y="90748"/>
                  <a:pt x="21900" y="86997"/>
                </a:cubicBezTo>
                <a:lnTo>
                  <a:pt x="47149" y="74541"/>
                </a:lnTo>
                <a:cubicBezTo>
                  <a:pt x="47618" y="71125"/>
                  <a:pt x="48287" y="67776"/>
                  <a:pt x="49158" y="64361"/>
                </a:cubicBezTo>
                <a:cubicBezTo>
                  <a:pt x="50096" y="60945"/>
                  <a:pt x="51167" y="57663"/>
                  <a:pt x="52507" y="54516"/>
                </a:cubicBezTo>
                <a:lnTo>
                  <a:pt x="36902" y="31142"/>
                </a:lnTo>
                <a:cubicBezTo>
                  <a:pt x="32214" y="24110"/>
                  <a:pt x="33151" y="14801"/>
                  <a:pt x="39112" y="8840"/>
                </a:cubicBezTo>
                <a:lnTo>
                  <a:pt x="51971" y="-4018"/>
                </a:lnTo>
                <a:cubicBezTo>
                  <a:pt x="57931" y="-9979"/>
                  <a:pt x="67241" y="-10917"/>
                  <a:pt x="74273" y="-6228"/>
                </a:cubicBezTo>
                <a:lnTo>
                  <a:pt x="97713" y="9376"/>
                </a:lnTo>
                <a:cubicBezTo>
                  <a:pt x="104076" y="6764"/>
                  <a:pt x="110840" y="4889"/>
                  <a:pt x="117738" y="3951"/>
                </a:cubicBezTo>
                <a:lnTo>
                  <a:pt x="130195" y="-21230"/>
                </a:lnTo>
                <a:cubicBezTo>
                  <a:pt x="133945" y="-28798"/>
                  <a:pt x="142451" y="-32616"/>
                  <a:pt x="150622" y="-30473"/>
                </a:cubicBezTo>
                <a:close/>
                <a:moveTo>
                  <a:pt x="128855" y="56257"/>
                </a:moveTo>
                <a:cubicBezTo>
                  <a:pt x="112592" y="56257"/>
                  <a:pt x="99387" y="69461"/>
                  <a:pt x="99387" y="85725"/>
                </a:cubicBezTo>
                <a:cubicBezTo>
                  <a:pt x="99387" y="101989"/>
                  <a:pt x="112592" y="115193"/>
                  <a:pt x="128855" y="115193"/>
                </a:cubicBezTo>
                <a:cubicBezTo>
                  <a:pt x="145119" y="115193"/>
                  <a:pt x="158323" y="101989"/>
                  <a:pt x="158323" y="85725"/>
                </a:cubicBezTo>
                <a:cubicBezTo>
                  <a:pt x="158323" y="69461"/>
                  <a:pt x="145119" y="56257"/>
                  <a:pt x="128855" y="56257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5263679" y="5267325"/>
            <a:ext cx="1666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E0E2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mama ShuHeiTi" pitchFamily="34" charset="-120"/>
              </a:rPr>
              <a:t>工程落地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277966" y="5610225"/>
            <a:ext cx="1638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灵活的后端注册机制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跨平台差异化支持策略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428309" y="4538663"/>
            <a:ext cx="2038350" cy="1685925"/>
          </a:xfrm>
          <a:custGeom>
            <a:avLst/>
            <a:gdLst/>
            <a:ahLst/>
            <a:cxnLst/>
            <a:rect l="l" t="t" r="r" b="b"/>
            <a:pathLst>
              <a:path w="2038350" h="1685925">
                <a:moveTo>
                  <a:pt x="114306" y="0"/>
                </a:moveTo>
                <a:lnTo>
                  <a:pt x="1924044" y="0"/>
                </a:lnTo>
                <a:cubicBezTo>
                  <a:pt x="1987174" y="0"/>
                  <a:pt x="2038350" y="51176"/>
                  <a:pt x="2038350" y="114306"/>
                </a:cubicBezTo>
                <a:lnTo>
                  <a:pt x="2038350" y="1571619"/>
                </a:lnTo>
                <a:cubicBezTo>
                  <a:pt x="2038350" y="1634749"/>
                  <a:pt x="1987174" y="1685925"/>
                  <a:pt x="1924044" y="1685925"/>
                </a:cubicBezTo>
                <a:lnTo>
                  <a:pt x="114306" y="1685925"/>
                </a:lnTo>
                <a:cubicBezTo>
                  <a:pt x="51176" y="1685925"/>
                  <a:pt x="0" y="1634749"/>
                  <a:pt x="0" y="1571619"/>
                </a:cubicBezTo>
                <a:lnTo>
                  <a:pt x="0" y="114306"/>
                </a:lnTo>
                <a:cubicBezTo>
                  <a:pt x="0" y="51176"/>
                  <a:pt x="51176" y="0"/>
                  <a:pt x="114306" y="0"/>
                </a:cubicBezTo>
                <a:close/>
              </a:path>
            </a:pathLst>
          </a:custGeom>
          <a:solidFill>
            <a:srgbClr val="4A6D8C">
              <a:alpha val="10196"/>
            </a:srgbClr>
          </a:solidFill>
          <a:ln w="12700">
            <a:solidFill>
              <a:srgbClr val="4A6D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4"/>
          <p:cNvSpPr/>
          <p:nvPr/>
        </p:nvSpPr>
        <p:spPr>
          <a:xfrm>
            <a:off x="8274844" y="4772025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85725" y="214313"/>
                </a:moveTo>
                <a:lnTo>
                  <a:pt x="16408" y="214313"/>
                </a:lnTo>
                <a:cubicBezTo>
                  <a:pt x="-268" y="214313"/>
                  <a:pt x="-10515" y="196163"/>
                  <a:pt x="-1942" y="181831"/>
                </a:cubicBezTo>
                <a:lnTo>
                  <a:pt x="33486" y="122761"/>
                </a:lnTo>
                <a:cubicBezTo>
                  <a:pt x="39313" y="113050"/>
                  <a:pt x="49761" y="107156"/>
                  <a:pt x="61079" y="107156"/>
                </a:cubicBezTo>
                <a:lnTo>
                  <a:pt x="124703" y="107156"/>
                </a:lnTo>
                <a:cubicBezTo>
                  <a:pt x="175669" y="20828"/>
                  <a:pt x="251683" y="16475"/>
                  <a:pt x="302515" y="23909"/>
                </a:cubicBezTo>
                <a:cubicBezTo>
                  <a:pt x="311088" y="25182"/>
                  <a:pt x="317785" y="31879"/>
                  <a:pt x="318991" y="40385"/>
                </a:cubicBezTo>
                <a:cubicBezTo>
                  <a:pt x="326425" y="91217"/>
                  <a:pt x="322072" y="167231"/>
                  <a:pt x="235744" y="218197"/>
                </a:cubicBezTo>
                <a:lnTo>
                  <a:pt x="235744" y="281821"/>
                </a:lnTo>
                <a:cubicBezTo>
                  <a:pt x="235744" y="293139"/>
                  <a:pt x="229850" y="303587"/>
                  <a:pt x="220139" y="309414"/>
                </a:cubicBezTo>
                <a:lnTo>
                  <a:pt x="161069" y="344842"/>
                </a:lnTo>
                <a:cubicBezTo>
                  <a:pt x="146804" y="353415"/>
                  <a:pt x="128588" y="343101"/>
                  <a:pt x="128588" y="326492"/>
                </a:cubicBezTo>
                <a:lnTo>
                  <a:pt x="128588" y="257175"/>
                </a:lnTo>
                <a:cubicBezTo>
                  <a:pt x="128588" y="233534"/>
                  <a:pt x="109366" y="214313"/>
                  <a:pt x="85725" y="214313"/>
                </a:cubicBezTo>
                <a:lnTo>
                  <a:pt x="85658" y="214313"/>
                </a:lnTo>
                <a:close/>
                <a:moveTo>
                  <a:pt x="267891" y="107156"/>
                </a:moveTo>
                <a:cubicBezTo>
                  <a:pt x="267891" y="89414"/>
                  <a:pt x="253486" y="75009"/>
                  <a:pt x="235744" y="75009"/>
                </a:cubicBezTo>
                <a:cubicBezTo>
                  <a:pt x="218001" y="75009"/>
                  <a:pt x="203597" y="89414"/>
                  <a:pt x="203597" y="107156"/>
                </a:cubicBezTo>
                <a:cubicBezTo>
                  <a:pt x="203597" y="124899"/>
                  <a:pt x="218001" y="139303"/>
                  <a:pt x="235744" y="139303"/>
                </a:cubicBezTo>
                <a:cubicBezTo>
                  <a:pt x="253486" y="139303"/>
                  <a:pt x="267891" y="124899"/>
                  <a:pt x="267891" y="107156"/>
                </a:cubicBezTo>
                <a:close/>
              </a:path>
            </a:pathLst>
          </a:custGeom>
          <a:solidFill>
            <a:srgbClr val="D4A2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5"/>
          <p:cNvSpPr/>
          <p:nvPr/>
        </p:nvSpPr>
        <p:spPr>
          <a:xfrm>
            <a:off x="7614047" y="5267325"/>
            <a:ext cx="1666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E0E2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mama ShuHeiTi" pitchFamily="34" charset="-120"/>
              </a:rPr>
              <a:t>生产就绪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628334" y="5610225"/>
            <a:ext cx="1638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完善的Offloading支持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B7A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为大规模部署保驾护航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1667</Words>
  <Application>Microsoft Macintosh PowerPoint</Application>
  <PresentationFormat>宽屏</PresentationFormat>
  <Paragraphs>293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1" baseType="lpstr">
      <vt:lpstr>Microsoft YaHei</vt:lpstr>
      <vt:lpstr>Arial</vt:lpstr>
      <vt:lpstr>MiSans</vt:lpstr>
      <vt:lpstr>Microsoft YaHei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vLLM 注意力机制演进与支持全景</dc:title>
  <dc:subject>vLLM 注意力机制演进与支持全景</dc:subject>
  <dc:creator>Kimi</dc:creator>
  <cp:lastModifiedBy>王 天青</cp:lastModifiedBy>
  <cp:revision>3</cp:revision>
  <dcterms:created xsi:type="dcterms:W3CDTF">2026-03-25T07:13:21Z</dcterms:created>
  <dcterms:modified xsi:type="dcterms:W3CDTF">2026-03-25T07:18:51Z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{"Label":"vLLM 注意力机制演进与支持全景","ContentProducer":"001191110108MACG2KBH8F10000","ProduceID":"19d23d25-ce62-8864-8000-00006bbc016a","ReservedCode1":"","ContentPropagator":"001191110108MACG2KBH8F20000","PropagateID":"19d23d25-ce62-8864-8000-00006bbc016a","ReservedCode2":""}</vt:lpwstr>
  </property>
</Properties>
</file>