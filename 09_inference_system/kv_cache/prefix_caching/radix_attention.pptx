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12192000"/>
  <p:embeddedFontLst>
    <p:embeddedFont>
      <p:font typeface="MiSans" pitchFamily="2" charset="-122"/>
      <p:regular r:id="rId39"/>
    </p:embeddedFont>
    <p:embeddedFont>
      <p:font typeface="微软雅黑" panose="020B0503020204020204" pitchFamily="34" charset="-122"/>
      <p:regular r:id="rId40"/>
      <p:bold r:id="rId41"/>
    </p:embeddedFont>
    <p:embeddedFont>
      <p:font typeface="Noto Sans SC" panose="020B0200000000000000"/>
      <p:regular r:id="rId42"/>
    </p:embeddedFont>
    <p:embeddedFont>
      <p:font typeface="Quattrocento Sans" panose="020B0502050000020003" pitchFamily="34" charset="0"/>
      <p:regular r:id="rId43"/>
      <p:bold r:id="rId44"/>
      <p:italic r:id="rId45"/>
      <p:boldItalic r:id="rId4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8433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400050" y="1871663"/>
            <a:ext cx="2190750" cy="381000"/>
          </a:xfrm>
          <a:custGeom>
            <a:avLst/>
            <a:gdLst/>
            <a:ahLst/>
            <a:cxnLst/>
            <a:rect l="l" t="t" r="r" b="b"/>
            <a:pathLst>
              <a:path w="2190750" h="381000">
                <a:moveTo>
                  <a:pt x="0" y="0"/>
                </a:moveTo>
                <a:lnTo>
                  <a:pt x="2190750" y="0"/>
                </a:lnTo>
                <a:lnTo>
                  <a:pt x="21907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400050" y="1871663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571500" y="1947863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DEEP DIVE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481263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RadixAttention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6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技术详解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86263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从原理到 SGLang 实践及 vLLM APC 对比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0050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47700" y="6248400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KV Cache 优化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038796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3813" y="30956"/>
                </a:moveTo>
                <a:cubicBezTo>
                  <a:pt x="27755" y="30956"/>
                  <a:pt x="30956" y="27755"/>
                  <a:pt x="30956" y="23813"/>
                </a:cubicBezTo>
                <a:cubicBezTo>
                  <a:pt x="30956" y="19870"/>
                  <a:pt x="27755" y="16669"/>
                  <a:pt x="23813" y="16669"/>
                </a:cubicBezTo>
                <a:cubicBezTo>
                  <a:pt x="19870" y="16669"/>
                  <a:pt x="16669" y="19870"/>
                  <a:pt x="16669" y="23813"/>
                </a:cubicBezTo>
                <a:cubicBezTo>
                  <a:pt x="16669" y="27755"/>
                  <a:pt x="19870" y="30956"/>
                  <a:pt x="23813" y="30956"/>
                </a:cubicBezTo>
                <a:close/>
                <a:moveTo>
                  <a:pt x="47625" y="23813"/>
                </a:moveTo>
                <a:cubicBezTo>
                  <a:pt x="47625" y="33576"/>
                  <a:pt x="41761" y="41970"/>
                  <a:pt x="33338" y="45631"/>
                </a:cubicBezTo>
                <a:lnTo>
                  <a:pt x="33338" y="66675"/>
                </a:lnTo>
                <a:lnTo>
                  <a:pt x="85725" y="66675"/>
                </a:lnTo>
                <a:cubicBezTo>
                  <a:pt x="93613" y="66675"/>
                  <a:pt x="100013" y="60275"/>
                  <a:pt x="100013" y="52388"/>
                </a:cubicBezTo>
                <a:lnTo>
                  <a:pt x="100013" y="45631"/>
                </a:lnTo>
                <a:cubicBezTo>
                  <a:pt x="91589" y="41970"/>
                  <a:pt x="85725" y="33576"/>
                  <a:pt x="85725" y="23813"/>
                </a:cubicBezTo>
                <a:cubicBezTo>
                  <a:pt x="85725" y="10656"/>
                  <a:pt x="96381" y="0"/>
                  <a:pt x="109537" y="0"/>
                </a:cubicBezTo>
                <a:cubicBezTo>
                  <a:pt x="122694" y="0"/>
                  <a:pt x="133350" y="10656"/>
                  <a:pt x="133350" y="23813"/>
                </a:cubicBezTo>
                <a:cubicBezTo>
                  <a:pt x="133350" y="33576"/>
                  <a:pt x="127486" y="41970"/>
                  <a:pt x="119062" y="45631"/>
                </a:cubicBezTo>
                <a:lnTo>
                  <a:pt x="119062" y="52388"/>
                </a:lnTo>
                <a:cubicBezTo>
                  <a:pt x="119062" y="70812"/>
                  <a:pt x="104150" y="85725"/>
                  <a:pt x="85725" y="85725"/>
                </a:cubicBezTo>
                <a:lnTo>
                  <a:pt x="33338" y="85725"/>
                </a:lnTo>
                <a:lnTo>
                  <a:pt x="33338" y="106769"/>
                </a:lnTo>
                <a:cubicBezTo>
                  <a:pt x="41761" y="110430"/>
                  <a:pt x="47625" y="118824"/>
                  <a:pt x="47625" y="128588"/>
                </a:cubicBezTo>
                <a:cubicBezTo>
                  <a:pt x="47625" y="141744"/>
                  <a:pt x="36969" y="152400"/>
                  <a:pt x="23813" y="152400"/>
                </a:cubicBezTo>
                <a:cubicBezTo>
                  <a:pt x="10656" y="152400"/>
                  <a:pt x="0" y="141744"/>
                  <a:pt x="0" y="128588"/>
                </a:cubicBezTo>
                <a:cubicBezTo>
                  <a:pt x="0" y="118824"/>
                  <a:pt x="5864" y="110430"/>
                  <a:pt x="14288" y="106769"/>
                </a:cubicBezTo>
                <a:lnTo>
                  <a:pt x="14288" y="45660"/>
                </a:lnTo>
                <a:cubicBezTo>
                  <a:pt x="5864" y="41970"/>
                  <a:pt x="0" y="33576"/>
                  <a:pt x="0" y="23813"/>
                </a:cubicBezTo>
                <a:cubicBezTo>
                  <a:pt x="0" y="10656"/>
                  <a:pt x="10656" y="0"/>
                  <a:pt x="23813" y="0"/>
                </a:cubicBezTo>
                <a:cubicBezTo>
                  <a:pt x="36969" y="0"/>
                  <a:pt x="47625" y="10656"/>
                  <a:pt x="47625" y="23813"/>
                </a:cubicBezTo>
                <a:close/>
                <a:moveTo>
                  <a:pt x="116681" y="23813"/>
                </a:moveTo>
                <a:cubicBezTo>
                  <a:pt x="116681" y="19870"/>
                  <a:pt x="113480" y="16669"/>
                  <a:pt x="109537" y="16669"/>
                </a:cubicBezTo>
                <a:cubicBezTo>
                  <a:pt x="105595" y="16669"/>
                  <a:pt x="102394" y="19870"/>
                  <a:pt x="102394" y="23813"/>
                </a:cubicBezTo>
                <a:cubicBezTo>
                  <a:pt x="102394" y="27755"/>
                  <a:pt x="105595" y="30956"/>
                  <a:pt x="109537" y="30956"/>
                </a:cubicBezTo>
                <a:cubicBezTo>
                  <a:pt x="113480" y="30956"/>
                  <a:pt x="116681" y="27755"/>
                  <a:pt x="116681" y="23813"/>
                </a:cubicBezTo>
                <a:close/>
                <a:moveTo>
                  <a:pt x="23813" y="135731"/>
                </a:moveTo>
                <a:cubicBezTo>
                  <a:pt x="27755" y="135731"/>
                  <a:pt x="30956" y="132530"/>
                  <a:pt x="30956" y="128588"/>
                </a:cubicBezTo>
                <a:cubicBezTo>
                  <a:pt x="30956" y="124645"/>
                  <a:pt x="27755" y="121444"/>
                  <a:pt x="23813" y="121444"/>
                </a:cubicBezTo>
                <a:cubicBezTo>
                  <a:pt x="19870" y="121444"/>
                  <a:pt x="16669" y="124645"/>
                  <a:pt x="16669" y="128588"/>
                </a:cubicBezTo>
                <a:cubicBezTo>
                  <a:pt x="16669" y="132530"/>
                  <a:pt x="19870" y="135731"/>
                  <a:pt x="23813" y="13573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2276921" y="62484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Radix Tree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374306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3612431" y="62484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推理加速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47800"/>
            <a:ext cx="5543550" cy="1190625"/>
          </a:xfrm>
          <a:custGeom>
            <a:avLst/>
            <a:gdLst/>
            <a:ahLst/>
            <a:cxnLst/>
            <a:rect l="l" t="t" r="r" b="b"/>
            <a:pathLst>
              <a:path w="5543550" h="1190625">
                <a:moveTo>
                  <a:pt x="3810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114425"/>
                </a:lnTo>
                <a:cubicBezTo>
                  <a:pt x="5543550" y="1156481"/>
                  <a:pt x="5509406" y="1190625"/>
                  <a:pt x="5467350" y="1190625"/>
                </a:cubicBezTo>
                <a:lnTo>
                  <a:pt x="38100" y="1190625"/>
                </a:lnTo>
                <a:cubicBezTo>
                  <a:pt x="17072" y="1190625"/>
                  <a:pt x="0" y="1173553"/>
                  <a:pt x="0" y="1152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447800"/>
            <a:ext cx="38100" cy="1190625"/>
          </a:xfrm>
          <a:custGeom>
            <a:avLst/>
            <a:gdLst/>
            <a:ahLst/>
            <a:cxnLst/>
            <a:rect l="l" t="t" r="r" b="b"/>
            <a:pathLst>
              <a:path w="38100" h="1190625">
                <a:moveTo>
                  <a:pt x="38100" y="0"/>
                </a:moveTo>
                <a:lnTo>
                  <a:pt x="38100" y="0"/>
                </a:lnTo>
                <a:lnTo>
                  <a:pt x="38100" y="1190625"/>
                </a:lnTo>
                <a:lnTo>
                  <a:pt x="38100" y="1190625"/>
                </a:lnTo>
                <a:cubicBezTo>
                  <a:pt x="17072" y="1190625"/>
                  <a:pt x="0" y="1173553"/>
                  <a:pt x="0" y="1152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09600" y="1654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61975" y="16541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17494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引言与背景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2187550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LLM推理中的重复计算问题与KV Cache复用需求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7450" y="1447800"/>
            <a:ext cx="5543550" cy="1190625"/>
          </a:xfrm>
          <a:custGeom>
            <a:avLst/>
            <a:gdLst/>
            <a:ahLst/>
            <a:cxnLst/>
            <a:rect l="l" t="t" r="r" b="b"/>
            <a:pathLst>
              <a:path w="5543550" h="1190625">
                <a:moveTo>
                  <a:pt x="3810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114425"/>
                </a:lnTo>
                <a:cubicBezTo>
                  <a:pt x="5543550" y="1156481"/>
                  <a:pt x="5509406" y="1190625"/>
                  <a:pt x="5467350" y="1190625"/>
                </a:cubicBezTo>
                <a:lnTo>
                  <a:pt x="38100" y="1190625"/>
                </a:lnTo>
                <a:cubicBezTo>
                  <a:pt x="17072" y="1190625"/>
                  <a:pt x="0" y="1173553"/>
                  <a:pt x="0" y="1152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267450" y="1447800"/>
            <a:ext cx="38100" cy="1190625"/>
          </a:xfrm>
          <a:custGeom>
            <a:avLst/>
            <a:gdLst/>
            <a:ahLst/>
            <a:cxnLst/>
            <a:rect l="l" t="t" r="r" b="b"/>
            <a:pathLst>
              <a:path w="38100" h="1190625">
                <a:moveTo>
                  <a:pt x="38100" y="0"/>
                </a:moveTo>
                <a:lnTo>
                  <a:pt x="38100" y="0"/>
                </a:lnTo>
                <a:lnTo>
                  <a:pt x="38100" y="1190625"/>
                </a:lnTo>
                <a:lnTo>
                  <a:pt x="38100" y="1190625"/>
                </a:lnTo>
                <a:cubicBezTo>
                  <a:pt x="17072" y="1190625"/>
                  <a:pt x="0" y="1173553"/>
                  <a:pt x="0" y="1152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477000" y="1654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29375" y="16541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6600" y="1749400"/>
            <a:ext cx="226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RadixAttention 核心原理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2187550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 Radix Tree 的 KV Cache 自动复用机制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2832050"/>
            <a:ext cx="5543550" cy="1190625"/>
          </a:xfrm>
          <a:custGeom>
            <a:avLst/>
            <a:gdLst/>
            <a:ahLst/>
            <a:cxnLst/>
            <a:rect l="l" t="t" r="r" b="b"/>
            <a:pathLst>
              <a:path w="5543550" h="1190625">
                <a:moveTo>
                  <a:pt x="3810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114425"/>
                </a:lnTo>
                <a:cubicBezTo>
                  <a:pt x="5543550" y="1156481"/>
                  <a:pt x="5509406" y="1190625"/>
                  <a:pt x="5467350" y="1190625"/>
                </a:cubicBezTo>
                <a:lnTo>
                  <a:pt x="38100" y="1190625"/>
                </a:lnTo>
                <a:cubicBezTo>
                  <a:pt x="17072" y="1190625"/>
                  <a:pt x="0" y="1173553"/>
                  <a:pt x="0" y="1152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00050" y="2832050"/>
            <a:ext cx="38100" cy="1190625"/>
          </a:xfrm>
          <a:custGeom>
            <a:avLst/>
            <a:gdLst/>
            <a:ahLst/>
            <a:cxnLst/>
            <a:rect l="l" t="t" r="r" b="b"/>
            <a:pathLst>
              <a:path w="38100" h="1190625">
                <a:moveTo>
                  <a:pt x="38100" y="0"/>
                </a:moveTo>
                <a:lnTo>
                  <a:pt x="38100" y="0"/>
                </a:lnTo>
                <a:lnTo>
                  <a:pt x="38100" y="1190625"/>
                </a:lnTo>
                <a:lnTo>
                  <a:pt x="38100" y="1190625"/>
                </a:lnTo>
                <a:cubicBezTo>
                  <a:pt x="17072" y="1190625"/>
                  <a:pt x="0" y="1173553"/>
                  <a:pt x="0" y="1152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09600" y="303840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61975" y="303840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19200" y="3133651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SGLang 中的实现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3571801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RadixAttention 在 SGLang 推理系统中的落地实践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2832050"/>
            <a:ext cx="5543550" cy="1190625"/>
          </a:xfrm>
          <a:custGeom>
            <a:avLst/>
            <a:gdLst/>
            <a:ahLst/>
            <a:cxnLst/>
            <a:rect l="l" t="t" r="r" b="b"/>
            <a:pathLst>
              <a:path w="5543550" h="1190625">
                <a:moveTo>
                  <a:pt x="3810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114425"/>
                </a:lnTo>
                <a:cubicBezTo>
                  <a:pt x="5543550" y="1156481"/>
                  <a:pt x="5509406" y="1190625"/>
                  <a:pt x="5467350" y="1190625"/>
                </a:cubicBezTo>
                <a:lnTo>
                  <a:pt x="38100" y="1190625"/>
                </a:lnTo>
                <a:cubicBezTo>
                  <a:pt x="17072" y="1190625"/>
                  <a:pt x="0" y="1173553"/>
                  <a:pt x="0" y="1152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267450" y="2832050"/>
            <a:ext cx="38100" cy="1190625"/>
          </a:xfrm>
          <a:custGeom>
            <a:avLst/>
            <a:gdLst/>
            <a:ahLst/>
            <a:cxnLst/>
            <a:rect l="l" t="t" r="r" b="b"/>
            <a:pathLst>
              <a:path w="38100" h="1190625">
                <a:moveTo>
                  <a:pt x="38100" y="0"/>
                </a:moveTo>
                <a:lnTo>
                  <a:pt x="38100" y="0"/>
                </a:lnTo>
                <a:lnTo>
                  <a:pt x="38100" y="1190625"/>
                </a:lnTo>
                <a:lnTo>
                  <a:pt x="38100" y="1190625"/>
                </a:lnTo>
                <a:cubicBezTo>
                  <a:pt x="17072" y="1190625"/>
                  <a:pt x="0" y="1173553"/>
                  <a:pt x="0" y="1152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477000" y="303840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29375" y="303840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86600" y="3133651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APC 对比分析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3571801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RadixAttention 与 vLLM Automatic Prefix Caching 的全方位对比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4216375"/>
            <a:ext cx="5543550" cy="1190625"/>
          </a:xfrm>
          <a:custGeom>
            <a:avLst/>
            <a:gdLst/>
            <a:ahLst/>
            <a:cxnLst/>
            <a:rect l="l" t="t" r="r" b="b"/>
            <a:pathLst>
              <a:path w="5543550" h="1190625">
                <a:moveTo>
                  <a:pt x="3810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114425"/>
                </a:lnTo>
                <a:cubicBezTo>
                  <a:pt x="5543550" y="1156481"/>
                  <a:pt x="5509406" y="1190625"/>
                  <a:pt x="5467350" y="1190625"/>
                </a:cubicBezTo>
                <a:lnTo>
                  <a:pt x="38100" y="1190625"/>
                </a:lnTo>
                <a:cubicBezTo>
                  <a:pt x="17072" y="1190625"/>
                  <a:pt x="0" y="1173553"/>
                  <a:pt x="0" y="1152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00050" y="4216375"/>
            <a:ext cx="38100" cy="1190625"/>
          </a:xfrm>
          <a:custGeom>
            <a:avLst/>
            <a:gdLst/>
            <a:ahLst/>
            <a:cxnLst/>
            <a:rect l="l" t="t" r="r" b="b"/>
            <a:pathLst>
              <a:path w="38100" h="1190625">
                <a:moveTo>
                  <a:pt x="38100" y="0"/>
                </a:moveTo>
                <a:lnTo>
                  <a:pt x="38100" y="0"/>
                </a:lnTo>
                <a:lnTo>
                  <a:pt x="38100" y="1190625"/>
                </a:lnTo>
                <a:lnTo>
                  <a:pt x="38100" y="1190625"/>
                </a:lnTo>
                <a:cubicBezTo>
                  <a:pt x="17072" y="1190625"/>
                  <a:pt x="0" y="1173553"/>
                  <a:pt x="0" y="1152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09600" y="4422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61975" y="442272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19200" y="451797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进阶主题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19200" y="4956125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多租户、分布式场景与技术协同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67450" y="4216375"/>
            <a:ext cx="5543550" cy="1190625"/>
          </a:xfrm>
          <a:custGeom>
            <a:avLst/>
            <a:gdLst/>
            <a:ahLst/>
            <a:cxnLst/>
            <a:rect l="l" t="t" r="r" b="b"/>
            <a:pathLst>
              <a:path w="5543550" h="1190625">
                <a:moveTo>
                  <a:pt x="3810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114425"/>
                </a:lnTo>
                <a:cubicBezTo>
                  <a:pt x="5543550" y="1156481"/>
                  <a:pt x="5509406" y="1190625"/>
                  <a:pt x="5467350" y="1190625"/>
                </a:cubicBezTo>
                <a:lnTo>
                  <a:pt x="38100" y="1190625"/>
                </a:lnTo>
                <a:cubicBezTo>
                  <a:pt x="17072" y="1190625"/>
                  <a:pt x="0" y="1173553"/>
                  <a:pt x="0" y="1152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267450" y="4216375"/>
            <a:ext cx="38100" cy="1190625"/>
          </a:xfrm>
          <a:custGeom>
            <a:avLst/>
            <a:gdLst/>
            <a:ahLst/>
            <a:cxnLst/>
            <a:rect l="l" t="t" r="r" b="b"/>
            <a:pathLst>
              <a:path w="38100" h="1190625">
                <a:moveTo>
                  <a:pt x="38100" y="0"/>
                </a:moveTo>
                <a:lnTo>
                  <a:pt x="38100" y="0"/>
                </a:lnTo>
                <a:lnTo>
                  <a:pt x="38100" y="1190625"/>
                </a:lnTo>
                <a:lnTo>
                  <a:pt x="38100" y="1190625"/>
                </a:lnTo>
                <a:cubicBezTo>
                  <a:pt x="17072" y="1190625"/>
                  <a:pt x="0" y="1173553"/>
                  <a:pt x="0" y="1152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477000" y="4422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429375" y="442272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86600" y="451797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性能分析与最佳实践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6600" y="4956125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理论模型、实测数据与生产环境优化建议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0050" y="5638800"/>
            <a:ext cx="11410950" cy="838200"/>
          </a:xfrm>
          <a:custGeom>
            <a:avLst/>
            <a:gdLst/>
            <a:ahLst/>
            <a:cxnLst/>
            <a:rect l="l" t="t" r="r" b="b"/>
            <a:pathLst>
              <a:path w="11410950" h="838200">
                <a:moveTo>
                  <a:pt x="38100" y="0"/>
                </a:moveTo>
                <a:lnTo>
                  <a:pt x="11334749" y="0"/>
                </a:lnTo>
                <a:cubicBezTo>
                  <a:pt x="11376834" y="0"/>
                  <a:pt x="11410950" y="34116"/>
                  <a:pt x="11410950" y="76201"/>
                </a:cubicBezTo>
                <a:lnTo>
                  <a:pt x="11410950" y="761999"/>
                </a:lnTo>
                <a:cubicBezTo>
                  <a:pt x="11410950" y="804084"/>
                  <a:pt x="11376834" y="838200"/>
                  <a:pt x="113347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400050" y="56388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571500" y="5867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528638" y="58674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66800" y="5791200"/>
            <a:ext cx="2838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66800" y="6096000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核心价值、技术选型建议与未来发展方向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85763" y="2085975"/>
            <a:ext cx="1323975" cy="390525"/>
          </a:xfrm>
          <a:custGeom>
            <a:avLst/>
            <a:gdLst/>
            <a:ahLst/>
            <a:cxnLst/>
            <a:rect l="l" t="t" r="r" b="b"/>
            <a:pathLst>
              <a:path w="1323975" h="390525">
                <a:moveTo>
                  <a:pt x="76199" y="0"/>
                </a:moveTo>
                <a:lnTo>
                  <a:pt x="1247776" y="0"/>
                </a:lnTo>
                <a:cubicBezTo>
                  <a:pt x="1289859" y="0"/>
                  <a:pt x="1323975" y="34116"/>
                  <a:pt x="1323975" y="76199"/>
                </a:cubicBezTo>
                <a:lnTo>
                  <a:pt x="1323975" y="314326"/>
                </a:lnTo>
                <a:cubicBezTo>
                  <a:pt x="1323975" y="356409"/>
                  <a:pt x="1289859" y="390525"/>
                  <a:pt x="12477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270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2166938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09863"/>
            <a:ext cx="5295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引言与背景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795713"/>
            <a:ext cx="5067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LLM推理中的重复计算问题与KV Cache复用需求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4343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524000" y="4548188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3个核心议题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LLM推理中的重复计算问题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5610225" cy="1495425"/>
          </a:xfrm>
          <a:custGeom>
            <a:avLst/>
            <a:gdLst/>
            <a:ahLst/>
            <a:cxnLst/>
            <a:rect l="l" t="t" r="r" b="b"/>
            <a:pathLst>
              <a:path w="5610225" h="1495425">
                <a:moveTo>
                  <a:pt x="76207" y="0"/>
                </a:moveTo>
                <a:lnTo>
                  <a:pt x="5534018" y="0"/>
                </a:lnTo>
                <a:cubicBezTo>
                  <a:pt x="5576106" y="0"/>
                  <a:pt x="5610225" y="34119"/>
                  <a:pt x="5610225" y="76207"/>
                </a:cubicBezTo>
                <a:lnTo>
                  <a:pt x="5610225" y="1419218"/>
                </a:lnTo>
                <a:cubicBezTo>
                  <a:pt x="5610225" y="1461306"/>
                  <a:pt x="5576106" y="1495425"/>
                  <a:pt x="5534018" y="1495425"/>
                </a:cubicBezTo>
                <a:lnTo>
                  <a:pt x="76207" y="1495425"/>
                </a:lnTo>
                <a:cubicBezTo>
                  <a:pt x="34119" y="1495425"/>
                  <a:pt x="0" y="1461306"/>
                  <a:pt x="0" y="1419218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09600" y="1438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81075" y="1419225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推理的两个阶段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1025" y="1800225"/>
            <a:ext cx="647700" cy="304800"/>
          </a:xfrm>
          <a:custGeom>
            <a:avLst/>
            <a:gdLst/>
            <a:ahLst/>
            <a:cxnLst/>
            <a:rect l="l" t="t" r="r" b="b"/>
            <a:pathLst>
              <a:path w="647700" h="304800">
                <a:moveTo>
                  <a:pt x="38100" y="0"/>
                </a:moveTo>
                <a:lnTo>
                  <a:pt x="609600" y="0"/>
                </a:lnTo>
                <a:cubicBezTo>
                  <a:pt x="630628" y="0"/>
                  <a:pt x="647700" y="17072"/>
                  <a:pt x="647700" y="38100"/>
                </a:cubicBezTo>
                <a:lnTo>
                  <a:pt x="647700" y="266700"/>
                </a:lnTo>
                <a:cubicBezTo>
                  <a:pt x="647700" y="287728"/>
                  <a:pt x="630628" y="304800"/>
                  <a:pt x="6096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81025" y="1800225"/>
            <a:ext cx="723900" cy="3048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9230" y="1800225"/>
            <a:ext cx="4133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处理完整输入序列并生成KV Cache，计算复杂度为 </a:t>
            </a:r>
            <a:r>
              <a:rPr lang="en-US" sz="1200" b="1" dirty="0">
                <a:solidFill>
                  <a:srgbClr val="E8E8E8"/>
                </a:solidFill>
                <a:highlight>
                  <a:srgbClr val="D4A26A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O(N²)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1025" y="2219325"/>
            <a:ext cx="781050" cy="304800"/>
          </a:xfrm>
          <a:custGeom>
            <a:avLst/>
            <a:gdLst/>
            <a:ahLst/>
            <a:cxnLst/>
            <a:rect l="l" t="t" r="r" b="b"/>
            <a:pathLst>
              <a:path w="781050" h="304800">
                <a:moveTo>
                  <a:pt x="38100" y="0"/>
                </a:moveTo>
                <a:lnTo>
                  <a:pt x="742950" y="0"/>
                </a:lnTo>
                <a:cubicBezTo>
                  <a:pt x="763978" y="0"/>
                  <a:pt x="781050" y="17072"/>
                  <a:pt x="781050" y="38100"/>
                </a:cubicBezTo>
                <a:lnTo>
                  <a:pt x="781050" y="266700"/>
                </a:lnTo>
                <a:cubicBezTo>
                  <a:pt x="781050" y="287728"/>
                  <a:pt x="763978" y="304800"/>
                  <a:pt x="7429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81025" y="2219325"/>
            <a:ext cx="857250" cy="3048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Decode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75184" y="2219325"/>
            <a:ext cx="28479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逐个生成token，复用已计算的KV Cache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5763" y="2881313"/>
            <a:ext cx="5610225" cy="3590925"/>
          </a:xfrm>
          <a:custGeom>
            <a:avLst/>
            <a:gdLst/>
            <a:ahLst/>
            <a:cxnLst/>
            <a:rect l="l" t="t" r="r" b="b"/>
            <a:pathLst>
              <a:path w="5610225" h="3590925">
                <a:moveTo>
                  <a:pt x="76199" y="0"/>
                </a:moveTo>
                <a:lnTo>
                  <a:pt x="5534026" y="0"/>
                </a:lnTo>
                <a:cubicBezTo>
                  <a:pt x="5576109" y="0"/>
                  <a:pt x="5610225" y="34116"/>
                  <a:pt x="5610225" y="76199"/>
                </a:cubicBezTo>
                <a:lnTo>
                  <a:pt x="5610225" y="3514726"/>
                </a:lnTo>
                <a:cubicBezTo>
                  <a:pt x="5610225" y="3556809"/>
                  <a:pt x="5576109" y="3590925"/>
                  <a:pt x="5534026" y="3590925"/>
                </a:cubicBezTo>
                <a:lnTo>
                  <a:pt x="76199" y="3590925"/>
                </a:lnTo>
                <a:cubicBezTo>
                  <a:pt x="34116" y="3590925"/>
                  <a:pt x="0" y="3556809"/>
                  <a:pt x="0" y="3514726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09600" y="30956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1450" y="85725"/>
                </a:moveTo>
                <a:cubicBezTo>
                  <a:pt x="195114" y="85725"/>
                  <a:pt x="214313" y="66526"/>
                  <a:pt x="214313" y="42863"/>
                </a:cubicBezTo>
                <a:cubicBezTo>
                  <a:pt x="214313" y="19199"/>
                  <a:pt x="195114" y="0"/>
                  <a:pt x="171450" y="0"/>
                </a:cubicBezTo>
                <a:cubicBezTo>
                  <a:pt x="147786" y="0"/>
                  <a:pt x="128588" y="19199"/>
                  <a:pt x="128588" y="42863"/>
                </a:cubicBezTo>
                <a:cubicBezTo>
                  <a:pt x="128588" y="45274"/>
                  <a:pt x="128811" y="47685"/>
                  <a:pt x="129168" y="50006"/>
                </a:cubicBezTo>
                <a:lnTo>
                  <a:pt x="71259" y="82198"/>
                </a:lnTo>
                <a:cubicBezTo>
                  <a:pt x="63713" y="75501"/>
                  <a:pt x="53757" y="71438"/>
                  <a:pt x="42863" y="71438"/>
                </a:cubicBezTo>
                <a:cubicBezTo>
                  <a:pt x="19199" y="71438"/>
                  <a:pt x="0" y="90636"/>
                  <a:pt x="0" y="114300"/>
                </a:cubicBezTo>
                <a:cubicBezTo>
                  <a:pt x="0" y="137964"/>
                  <a:pt x="19199" y="157163"/>
                  <a:pt x="42863" y="157163"/>
                </a:cubicBezTo>
                <a:cubicBezTo>
                  <a:pt x="53757" y="157163"/>
                  <a:pt x="63669" y="153099"/>
                  <a:pt x="71259" y="146402"/>
                </a:cubicBezTo>
                <a:lnTo>
                  <a:pt x="129168" y="178594"/>
                </a:lnTo>
                <a:cubicBezTo>
                  <a:pt x="128766" y="180915"/>
                  <a:pt x="128588" y="183282"/>
                  <a:pt x="128588" y="185738"/>
                </a:cubicBezTo>
                <a:cubicBezTo>
                  <a:pt x="128588" y="209401"/>
                  <a:pt x="147786" y="228600"/>
                  <a:pt x="171450" y="228600"/>
                </a:cubicBezTo>
                <a:cubicBezTo>
                  <a:pt x="195114" y="228600"/>
                  <a:pt x="214313" y="209401"/>
                  <a:pt x="214313" y="185738"/>
                </a:cubicBezTo>
                <a:cubicBezTo>
                  <a:pt x="214313" y="162074"/>
                  <a:pt x="195114" y="142875"/>
                  <a:pt x="171450" y="142875"/>
                </a:cubicBezTo>
                <a:cubicBezTo>
                  <a:pt x="160556" y="142875"/>
                  <a:pt x="150644" y="146938"/>
                  <a:pt x="143054" y="153635"/>
                </a:cubicBezTo>
                <a:lnTo>
                  <a:pt x="85145" y="121444"/>
                </a:lnTo>
                <a:cubicBezTo>
                  <a:pt x="85546" y="119122"/>
                  <a:pt x="85725" y="116756"/>
                  <a:pt x="85725" y="114300"/>
                </a:cubicBezTo>
                <a:cubicBezTo>
                  <a:pt x="85725" y="111844"/>
                  <a:pt x="85502" y="109478"/>
                  <a:pt x="85145" y="107156"/>
                </a:cubicBezTo>
                <a:lnTo>
                  <a:pt x="143054" y="74965"/>
                </a:lnTo>
                <a:cubicBezTo>
                  <a:pt x="150599" y="81662"/>
                  <a:pt x="160556" y="85725"/>
                  <a:pt x="171450" y="8572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81075" y="307657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共享前缀的普遍存在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1025" y="3457575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实际LLM应用中存在大量共享前缀场景：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5788" y="3824288"/>
            <a:ext cx="2543175" cy="1276350"/>
          </a:xfrm>
          <a:custGeom>
            <a:avLst/>
            <a:gdLst/>
            <a:ahLst/>
            <a:cxnLst/>
            <a:rect l="l" t="t" r="r" b="b"/>
            <a:pathLst>
              <a:path w="2543175" h="1276350">
                <a:moveTo>
                  <a:pt x="38099" y="0"/>
                </a:moveTo>
                <a:lnTo>
                  <a:pt x="2505076" y="0"/>
                </a:lnTo>
                <a:cubicBezTo>
                  <a:pt x="2526117" y="0"/>
                  <a:pt x="2543175" y="17058"/>
                  <a:pt x="2543175" y="38099"/>
                </a:cubicBezTo>
                <a:lnTo>
                  <a:pt x="2543175" y="1238251"/>
                </a:lnTo>
                <a:cubicBezTo>
                  <a:pt x="2543175" y="1259292"/>
                  <a:pt x="2526117" y="1276350"/>
                  <a:pt x="2505076" y="1276350"/>
                </a:cubicBezTo>
                <a:lnTo>
                  <a:pt x="38099" y="1276350"/>
                </a:lnTo>
                <a:cubicBezTo>
                  <a:pt x="17058" y="1276350"/>
                  <a:pt x="0" y="1259292"/>
                  <a:pt x="0" y="1238251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04850" y="4100513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System Prompt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850" y="4367213"/>
            <a:ext cx="2381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所有请求使用相同系统指令（2K-8K tokens）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52788" y="3824288"/>
            <a:ext cx="2543175" cy="1276350"/>
          </a:xfrm>
          <a:custGeom>
            <a:avLst/>
            <a:gdLst/>
            <a:ahLst/>
            <a:cxnLst/>
            <a:rect l="l" t="t" r="r" b="b"/>
            <a:pathLst>
              <a:path w="2543175" h="1276350">
                <a:moveTo>
                  <a:pt x="38099" y="0"/>
                </a:moveTo>
                <a:lnTo>
                  <a:pt x="2505076" y="0"/>
                </a:lnTo>
                <a:cubicBezTo>
                  <a:pt x="2526117" y="0"/>
                  <a:pt x="2543175" y="17058"/>
                  <a:pt x="2543175" y="38099"/>
                </a:cubicBezTo>
                <a:lnTo>
                  <a:pt x="2543175" y="1238251"/>
                </a:lnTo>
                <a:cubicBezTo>
                  <a:pt x="2543175" y="1259292"/>
                  <a:pt x="2526117" y="1276350"/>
                  <a:pt x="2505076" y="1276350"/>
                </a:cubicBezTo>
                <a:lnTo>
                  <a:pt x="38099" y="1276350"/>
                </a:lnTo>
                <a:cubicBezTo>
                  <a:pt x="17058" y="1276350"/>
                  <a:pt x="0" y="1259292"/>
                  <a:pt x="0" y="1238251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371850" y="4214813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多轮对话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71850" y="4481513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历史对话上下文反复出现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5788" y="5224463"/>
            <a:ext cx="2543175" cy="1047750"/>
          </a:xfrm>
          <a:custGeom>
            <a:avLst/>
            <a:gdLst/>
            <a:ahLst/>
            <a:cxnLst/>
            <a:rect l="l" t="t" r="r" b="b"/>
            <a:pathLst>
              <a:path w="2543175" h="1047750">
                <a:moveTo>
                  <a:pt x="38096" y="0"/>
                </a:moveTo>
                <a:lnTo>
                  <a:pt x="2505079" y="0"/>
                </a:lnTo>
                <a:cubicBezTo>
                  <a:pt x="2526119" y="0"/>
                  <a:pt x="2543175" y="17056"/>
                  <a:pt x="2543175" y="38096"/>
                </a:cubicBezTo>
                <a:lnTo>
                  <a:pt x="2543175" y="1009654"/>
                </a:lnTo>
                <a:cubicBezTo>
                  <a:pt x="2543175" y="1030694"/>
                  <a:pt x="2526119" y="1047750"/>
                  <a:pt x="2505079" y="1047750"/>
                </a:cubicBezTo>
                <a:lnTo>
                  <a:pt x="38096" y="1047750"/>
                </a:lnTo>
                <a:cubicBezTo>
                  <a:pt x="17056" y="1047750"/>
                  <a:pt x="0" y="1030694"/>
                  <a:pt x="0" y="100965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04850" y="5500688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Few-shot Examples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850" y="5767388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相同示例在多个请求中复用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52788" y="5224463"/>
            <a:ext cx="2543175" cy="1047750"/>
          </a:xfrm>
          <a:custGeom>
            <a:avLst/>
            <a:gdLst/>
            <a:ahLst/>
            <a:cxnLst/>
            <a:rect l="l" t="t" r="r" b="b"/>
            <a:pathLst>
              <a:path w="2543175" h="1047750">
                <a:moveTo>
                  <a:pt x="38096" y="0"/>
                </a:moveTo>
                <a:lnTo>
                  <a:pt x="2505079" y="0"/>
                </a:lnTo>
                <a:cubicBezTo>
                  <a:pt x="2526119" y="0"/>
                  <a:pt x="2543175" y="17056"/>
                  <a:pt x="2543175" y="38096"/>
                </a:cubicBezTo>
                <a:lnTo>
                  <a:pt x="2543175" y="1009654"/>
                </a:lnTo>
                <a:cubicBezTo>
                  <a:pt x="2543175" y="1030694"/>
                  <a:pt x="2526119" y="1047750"/>
                  <a:pt x="2505079" y="1047750"/>
                </a:cubicBezTo>
                <a:lnTo>
                  <a:pt x="38096" y="1047750"/>
                </a:lnTo>
                <a:cubicBezTo>
                  <a:pt x="17056" y="1047750"/>
                  <a:pt x="0" y="1030694"/>
                  <a:pt x="0" y="100965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371850" y="5500688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场景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71850" y="5767388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检索到的文档被多个查询复用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00775" y="1228725"/>
            <a:ext cx="5600700" cy="1733550"/>
          </a:xfrm>
          <a:custGeom>
            <a:avLst/>
            <a:gdLst/>
            <a:ahLst/>
            <a:cxnLst/>
            <a:rect l="l" t="t" r="r" b="b"/>
            <a:pathLst>
              <a:path w="5600700" h="1733550">
                <a:moveTo>
                  <a:pt x="76207" y="0"/>
                </a:moveTo>
                <a:lnTo>
                  <a:pt x="5524493" y="0"/>
                </a:lnTo>
                <a:cubicBezTo>
                  <a:pt x="5566581" y="0"/>
                  <a:pt x="5600700" y="34119"/>
                  <a:pt x="5600700" y="76207"/>
                </a:cubicBezTo>
                <a:lnTo>
                  <a:pt x="5600700" y="1657343"/>
                </a:lnTo>
                <a:cubicBezTo>
                  <a:pt x="5600700" y="1699431"/>
                  <a:pt x="5566581" y="1733550"/>
                  <a:pt x="5524493" y="1733550"/>
                </a:cubicBezTo>
                <a:lnTo>
                  <a:pt x="76207" y="1733550"/>
                </a:lnTo>
                <a:cubicBezTo>
                  <a:pt x="34119" y="1733550"/>
                  <a:pt x="0" y="1699431"/>
                  <a:pt x="0" y="165734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429375" y="144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800850" y="14287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统计数据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86500" y="1885950"/>
            <a:ext cx="5429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40%-80%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57938" y="2419350"/>
            <a:ext cx="528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token序列存在可复用的共享前缀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6013" y="3128963"/>
            <a:ext cx="5610225" cy="3343275"/>
          </a:xfrm>
          <a:custGeom>
            <a:avLst/>
            <a:gdLst/>
            <a:ahLst/>
            <a:cxnLst/>
            <a:rect l="l" t="t" r="r" b="b"/>
            <a:pathLst>
              <a:path w="5610225" h="3343275">
                <a:moveTo>
                  <a:pt x="76193" y="0"/>
                </a:moveTo>
                <a:lnTo>
                  <a:pt x="5534032" y="0"/>
                </a:lnTo>
                <a:cubicBezTo>
                  <a:pt x="5576112" y="0"/>
                  <a:pt x="5610225" y="34113"/>
                  <a:pt x="5610225" y="76193"/>
                </a:cubicBezTo>
                <a:lnTo>
                  <a:pt x="5610225" y="3267082"/>
                </a:lnTo>
                <a:cubicBezTo>
                  <a:pt x="5610225" y="3309162"/>
                  <a:pt x="5576112" y="3343275"/>
                  <a:pt x="5534032" y="3343275"/>
                </a:cubicBezTo>
                <a:lnTo>
                  <a:pt x="76193" y="3343275"/>
                </a:lnTo>
                <a:cubicBezTo>
                  <a:pt x="34113" y="3343275"/>
                  <a:pt x="0" y="3309162"/>
                  <a:pt x="0" y="32670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391275" y="33432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791325" y="3324225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场景示例：客服机器人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1275" y="3705225"/>
            <a:ext cx="5219700" cy="2000250"/>
          </a:xfrm>
          <a:custGeom>
            <a:avLst/>
            <a:gdLst/>
            <a:ahLst/>
            <a:cxnLst/>
            <a:rect l="l" t="t" r="r" b="b"/>
            <a:pathLst>
              <a:path w="5219700" h="2000250">
                <a:moveTo>
                  <a:pt x="38105" y="0"/>
                </a:moveTo>
                <a:lnTo>
                  <a:pt x="5181595" y="0"/>
                </a:lnTo>
                <a:cubicBezTo>
                  <a:pt x="5202640" y="0"/>
                  <a:pt x="5219700" y="17060"/>
                  <a:pt x="5219700" y="38105"/>
                </a:cubicBezTo>
                <a:lnTo>
                  <a:pt x="5219700" y="1962145"/>
                </a:lnTo>
                <a:cubicBezTo>
                  <a:pt x="5219700" y="1983190"/>
                  <a:pt x="5202640" y="2000250"/>
                  <a:pt x="5181595" y="2000250"/>
                </a:cubicBezTo>
                <a:lnTo>
                  <a:pt x="38105" y="2000250"/>
                </a:lnTo>
                <a:cubicBezTo>
                  <a:pt x="17060" y="2000250"/>
                  <a:pt x="0" y="1983190"/>
                  <a:pt x="0" y="1962145"/>
                </a:cubicBezTo>
                <a:lnTo>
                  <a:pt x="0" y="38105"/>
                </a:lnTo>
                <a:cubicBezTo>
                  <a:pt x="0" y="17074"/>
                  <a:pt x="17074" y="0"/>
                  <a:pt x="3810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543675" y="3857625"/>
            <a:ext cx="4991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三个请求共享 System Prompt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43675" y="4105275"/>
            <a:ext cx="4991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请求A: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[System:8K] + [QueryA:256]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43675" y="4352925"/>
            <a:ext cx="4991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请求B: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[System:8K] + [QueryB:128]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43675" y="4600575"/>
            <a:ext cx="4991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请求C: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[System:8K] + [QueryC:512]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10325" y="5819775"/>
            <a:ext cx="5200650" cy="457200"/>
          </a:xfrm>
          <a:custGeom>
            <a:avLst/>
            <a:gdLst/>
            <a:ahLst/>
            <a:cxnLst/>
            <a:rect l="l" t="t" r="r" b="b"/>
            <a:pathLst>
              <a:path w="5200650" h="457200">
                <a:moveTo>
                  <a:pt x="38098" y="0"/>
                </a:moveTo>
                <a:lnTo>
                  <a:pt x="5162552" y="0"/>
                </a:lnTo>
                <a:cubicBezTo>
                  <a:pt x="5183593" y="0"/>
                  <a:pt x="5200650" y="17057"/>
                  <a:pt x="5200650" y="38098"/>
                </a:cubicBezTo>
                <a:lnTo>
                  <a:pt x="5200650" y="419102"/>
                </a:lnTo>
                <a:cubicBezTo>
                  <a:pt x="5200650" y="440143"/>
                  <a:pt x="5183593" y="457200"/>
                  <a:pt x="516255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410325" y="5819775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543675" y="5934075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问题：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System Prompt被重复计算3次，浪费约 </a:t>
            </a:r>
            <a:r>
              <a:rPr lang="en-US" sz="1200" b="1" dirty="0">
                <a:solidFill>
                  <a:srgbClr val="E8E8E8"/>
                </a:solidFill>
                <a:highlight>
                  <a:srgbClr val="D4A26A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95% 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的Prefill计算量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为什么需要 KV Cache 复用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11410950" cy="1438275"/>
          </a:xfrm>
          <a:custGeom>
            <a:avLst/>
            <a:gdLst/>
            <a:ahLst/>
            <a:cxnLst/>
            <a:rect l="l" t="t" r="r" b="b"/>
            <a:pathLst>
              <a:path w="11410950" h="1438275">
                <a:moveTo>
                  <a:pt x="38100" y="0"/>
                </a:moveTo>
                <a:lnTo>
                  <a:pt x="11334750" y="0"/>
                </a:lnTo>
                <a:cubicBezTo>
                  <a:pt x="11376834" y="0"/>
                  <a:pt x="11410950" y="34116"/>
                  <a:pt x="11410950" y="76200"/>
                </a:cubicBezTo>
                <a:lnTo>
                  <a:pt x="11410950" y="1362075"/>
                </a:lnTo>
                <a:cubicBezTo>
                  <a:pt x="11410950" y="1404159"/>
                  <a:pt x="11376834" y="1438275"/>
                  <a:pt x="11334750" y="1438275"/>
                </a:cubicBez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257300"/>
            <a:ext cx="38100" cy="1438275"/>
          </a:xfrm>
          <a:custGeom>
            <a:avLst/>
            <a:gdLst/>
            <a:ahLst/>
            <a:cxnLst/>
            <a:rect l="l" t="t" r="r" b="b"/>
            <a:pathLst>
              <a:path w="38100" h="1438275">
                <a:moveTo>
                  <a:pt x="38100" y="0"/>
                </a:moveTo>
                <a:lnTo>
                  <a:pt x="38100" y="0"/>
                </a:lnTo>
                <a:lnTo>
                  <a:pt x="38100" y="1438275"/>
                </a:ln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38175" y="1485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0019" y="157163"/>
                </a:moveTo>
                <a:cubicBezTo>
                  <a:pt x="193417" y="157163"/>
                  <a:pt x="228600" y="121980"/>
                  <a:pt x="228600" y="78581"/>
                </a:cubicBezTo>
                <a:cubicBezTo>
                  <a:pt x="228600" y="35183"/>
                  <a:pt x="193417" y="0"/>
                  <a:pt x="150019" y="0"/>
                </a:cubicBezTo>
                <a:cubicBezTo>
                  <a:pt x="106620" y="0"/>
                  <a:pt x="71438" y="35183"/>
                  <a:pt x="71438" y="78581"/>
                </a:cubicBezTo>
                <a:cubicBezTo>
                  <a:pt x="71438" y="86931"/>
                  <a:pt x="72732" y="95012"/>
                  <a:pt x="75143" y="102557"/>
                </a:cubicBezTo>
                <a:lnTo>
                  <a:pt x="3125" y="174575"/>
                </a:lnTo>
                <a:cubicBezTo>
                  <a:pt x="1116" y="176585"/>
                  <a:pt x="0" y="179308"/>
                  <a:pt x="0" y="182166"/>
                </a:cubicBezTo>
                <a:lnTo>
                  <a:pt x="0" y="217884"/>
                </a:lnTo>
                <a:cubicBezTo>
                  <a:pt x="0" y="223823"/>
                  <a:pt x="4777" y="228600"/>
                  <a:pt x="10716" y="228600"/>
                </a:cubicBezTo>
                <a:lnTo>
                  <a:pt x="46434" y="228600"/>
                </a:lnTo>
                <a:cubicBezTo>
                  <a:pt x="52373" y="228600"/>
                  <a:pt x="57150" y="223823"/>
                  <a:pt x="57150" y="217884"/>
                </a:cubicBezTo>
                <a:lnTo>
                  <a:pt x="57150" y="200025"/>
                </a:lnTo>
                <a:lnTo>
                  <a:pt x="75009" y="200025"/>
                </a:lnTo>
                <a:cubicBezTo>
                  <a:pt x="80948" y="200025"/>
                  <a:pt x="85725" y="195248"/>
                  <a:pt x="85725" y="189309"/>
                </a:cubicBezTo>
                <a:lnTo>
                  <a:pt x="85725" y="171450"/>
                </a:lnTo>
                <a:lnTo>
                  <a:pt x="103584" y="171450"/>
                </a:lnTo>
                <a:cubicBezTo>
                  <a:pt x="106442" y="171450"/>
                  <a:pt x="109165" y="170334"/>
                  <a:pt x="111175" y="168325"/>
                </a:cubicBezTo>
                <a:lnTo>
                  <a:pt x="126043" y="153457"/>
                </a:lnTo>
                <a:cubicBezTo>
                  <a:pt x="133588" y="155868"/>
                  <a:pt x="141669" y="157163"/>
                  <a:pt x="150019" y="157163"/>
                </a:cubicBezTo>
                <a:close/>
                <a:moveTo>
                  <a:pt x="167878" y="42863"/>
                </a:moveTo>
                <a:cubicBezTo>
                  <a:pt x="177735" y="42863"/>
                  <a:pt x="185738" y="50865"/>
                  <a:pt x="185738" y="60722"/>
                </a:cubicBezTo>
                <a:cubicBezTo>
                  <a:pt x="185738" y="70579"/>
                  <a:pt x="177735" y="78581"/>
                  <a:pt x="167878" y="78581"/>
                </a:cubicBezTo>
                <a:cubicBezTo>
                  <a:pt x="158021" y="78581"/>
                  <a:pt x="150019" y="70579"/>
                  <a:pt x="150019" y="60722"/>
                </a:cubicBezTo>
                <a:cubicBezTo>
                  <a:pt x="150019" y="50865"/>
                  <a:pt x="158021" y="42863"/>
                  <a:pt x="167878" y="42863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09650" y="1447800"/>
            <a:ext cx="3324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KV Cache 的关键特性：确定性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4363" y="1871663"/>
            <a:ext cx="11001375" cy="628650"/>
          </a:xfrm>
          <a:custGeom>
            <a:avLst/>
            <a:gdLst/>
            <a:ahLst/>
            <a:cxnLst/>
            <a:rect l="l" t="t" r="r" b="b"/>
            <a:pathLst>
              <a:path w="11001375" h="628650">
                <a:moveTo>
                  <a:pt x="76199" y="0"/>
                </a:moveTo>
                <a:lnTo>
                  <a:pt x="10925176" y="0"/>
                </a:lnTo>
                <a:cubicBezTo>
                  <a:pt x="10967260" y="0"/>
                  <a:pt x="11001375" y="34115"/>
                  <a:pt x="11001375" y="76199"/>
                </a:cubicBezTo>
                <a:lnTo>
                  <a:pt x="11001375" y="552451"/>
                </a:lnTo>
                <a:cubicBezTo>
                  <a:pt x="11001375" y="594535"/>
                  <a:pt x="10967260" y="628650"/>
                  <a:pt x="10925176" y="628650"/>
                </a:cubicBezTo>
                <a:lnTo>
                  <a:pt x="76199" y="628650"/>
                </a:lnTo>
                <a:cubicBezTo>
                  <a:pt x="34115" y="628650"/>
                  <a:pt x="0" y="594535"/>
                  <a:pt x="0" y="5524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D4A26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23900" y="2028825"/>
            <a:ext cx="107823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相同的 token 序列 → 相同的 KV Cache → </a:t>
            </a:r>
            <a:r>
              <a:rPr lang="en-US" sz="15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只需计算一次，后续直接复用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2886075"/>
            <a:ext cx="3676650" cy="2181225"/>
          </a:xfrm>
          <a:custGeom>
            <a:avLst/>
            <a:gdLst/>
            <a:ahLst/>
            <a:cxnLst/>
            <a:rect l="l" t="t" r="r" b="b"/>
            <a:pathLst>
              <a:path w="3676650" h="2181225">
                <a:moveTo>
                  <a:pt x="76190" y="0"/>
                </a:moveTo>
                <a:lnTo>
                  <a:pt x="3600460" y="0"/>
                </a:lnTo>
                <a:cubicBezTo>
                  <a:pt x="3642538" y="0"/>
                  <a:pt x="3676650" y="34112"/>
                  <a:pt x="3676650" y="76190"/>
                </a:cubicBezTo>
                <a:lnTo>
                  <a:pt x="3676650" y="2105035"/>
                </a:lnTo>
                <a:cubicBezTo>
                  <a:pt x="3676650" y="2147113"/>
                  <a:pt x="3642538" y="2181225"/>
                  <a:pt x="3600460" y="2181225"/>
                </a:cubicBezTo>
                <a:lnTo>
                  <a:pt x="76190" y="2181225"/>
                </a:lnTo>
                <a:cubicBezTo>
                  <a:pt x="34112" y="2181225"/>
                  <a:pt x="0" y="2147113"/>
                  <a:pt x="0" y="2105035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81025" y="30813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26281" y="321468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52525" y="3176588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降低 TTFT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1025" y="3690937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跳过前缀的 Prefill 计算，显著降低 Time-To-First-Token，提升用户体验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79364" y="4271963"/>
            <a:ext cx="128617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60-95%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7688" y="4681538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TTFT 降低幅度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59238" y="2886075"/>
            <a:ext cx="3676650" cy="2181225"/>
          </a:xfrm>
          <a:custGeom>
            <a:avLst/>
            <a:gdLst/>
            <a:ahLst/>
            <a:cxnLst/>
            <a:rect l="l" t="t" r="r" b="b"/>
            <a:pathLst>
              <a:path w="3676650" h="2181225">
                <a:moveTo>
                  <a:pt x="76190" y="0"/>
                </a:moveTo>
                <a:lnTo>
                  <a:pt x="3600460" y="0"/>
                </a:lnTo>
                <a:cubicBezTo>
                  <a:pt x="3642538" y="0"/>
                  <a:pt x="3676650" y="34112"/>
                  <a:pt x="3676650" y="76190"/>
                </a:cubicBezTo>
                <a:lnTo>
                  <a:pt x="3676650" y="2105035"/>
                </a:lnTo>
                <a:cubicBezTo>
                  <a:pt x="3676650" y="2147113"/>
                  <a:pt x="3642538" y="2181225"/>
                  <a:pt x="3600460" y="2181225"/>
                </a:cubicBezTo>
                <a:lnTo>
                  <a:pt x="76190" y="2181225"/>
                </a:lnTo>
                <a:cubicBezTo>
                  <a:pt x="34112" y="2181225"/>
                  <a:pt x="0" y="2147113"/>
                  <a:pt x="0" y="2105035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454500" y="30813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587850" y="32146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026000" y="3176588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提升吞吐量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54500" y="3690937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节省的 GPU 算力可服务更多请求，系统整体吞吐量提升 2-8 倍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89848" y="4271963"/>
            <a:ext cx="8121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2-8x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21163" y="4681538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吞吐量提升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2713" y="2886075"/>
            <a:ext cx="3676650" cy="2181225"/>
          </a:xfrm>
          <a:custGeom>
            <a:avLst/>
            <a:gdLst/>
            <a:ahLst/>
            <a:cxnLst/>
            <a:rect l="l" t="t" r="r" b="b"/>
            <a:pathLst>
              <a:path w="3676650" h="2181225">
                <a:moveTo>
                  <a:pt x="76190" y="0"/>
                </a:moveTo>
                <a:lnTo>
                  <a:pt x="3600460" y="0"/>
                </a:lnTo>
                <a:cubicBezTo>
                  <a:pt x="3642538" y="0"/>
                  <a:pt x="3676650" y="34112"/>
                  <a:pt x="3676650" y="76190"/>
                </a:cubicBezTo>
                <a:lnTo>
                  <a:pt x="3676650" y="2105035"/>
                </a:lnTo>
                <a:cubicBezTo>
                  <a:pt x="3676650" y="2147113"/>
                  <a:pt x="3642538" y="2181225"/>
                  <a:pt x="3600460" y="2181225"/>
                </a:cubicBezTo>
                <a:lnTo>
                  <a:pt x="76190" y="2181225"/>
                </a:lnTo>
                <a:cubicBezTo>
                  <a:pt x="34112" y="2181225"/>
                  <a:pt x="0" y="2147113"/>
                  <a:pt x="0" y="2105035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327975" y="30813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497044" y="3214688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899475" y="3176588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降低成本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27975" y="3690937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减少单位请求的计算资源消耗，降低推理服务的运营成本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12796" y="4271963"/>
            <a:ext cx="9132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~95%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94638" y="4681538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Prefill 计算节省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5763" y="5267325"/>
            <a:ext cx="11420475" cy="1228725"/>
          </a:xfrm>
          <a:custGeom>
            <a:avLst/>
            <a:gdLst/>
            <a:ahLst/>
            <a:cxnLst/>
            <a:rect l="l" t="t" r="r" b="b"/>
            <a:pathLst>
              <a:path w="11420475" h="1228725">
                <a:moveTo>
                  <a:pt x="76206" y="0"/>
                </a:moveTo>
                <a:lnTo>
                  <a:pt x="11344269" y="0"/>
                </a:lnTo>
                <a:cubicBezTo>
                  <a:pt x="11386357" y="0"/>
                  <a:pt x="11420475" y="34118"/>
                  <a:pt x="11420475" y="76206"/>
                </a:cubicBezTo>
                <a:lnTo>
                  <a:pt x="11420475" y="1152519"/>
                </a:lnTo>
                <a:cubicBezTo>
                  <a:pt x="11420475" y="1194607"/>
                  <a:pt x="11386357" y="1228725"/>
                  <a:pt x="11344269" y="1228725"/>
                </a:cubicBezTo>
                <a:lnTo>
                  <a:pt x="76206" y="1228725"/>
                </a:lnTo>
                <a:cubicBezTo>
                  <a:pt x="34118" y="1228725"/>
                  <a:pt x="0" y="1194607"/>
                  <a:pt x="0" y="115251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D4A26A">
              <a:alpha val="10196"/>
            </a:srgbClr>
          </a:solidFill>
          <a:ln w="1270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04838" y="55006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33450" y="5462588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核心技术挑战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33450" y="5843588"/>
            <a:ext cx="2581275" cy="457200"/>
          </a:xfrm>
          <a:custGeom>
            <a:avLst/>
            <a:gdLst/>
            <a:ahLst/>
            <a:cxnLst/>
            <a:rect l="l" t="t" r="r" b="b"/>
            <a:pathLst>
              <a:path w="2581275" h="457200">
                <a:moveTo>
                  <a:pt x="38098" y="0"/>
                </a:moveTo>
                <a:lnTo>
                  <a:pt x="2543177" y="0"/>
                </a:lnTo>
                <a:cubicBezTo>
                  <a:pt x="2564218" y="0"/>
                  <a:pt x="2581275" y="17057"/>
                  <a:pt x="2581275" y="38098"/>
                </a:cubicBezTo>
                <a:lnTo>
                  <a:pt x="2581275" y="419102"/>
                </a:lnTo>
                <a:cubicBezTo>
                  <a:pt x="2581275" y="440143"/>
                  <a:pt x="2564218" y="457200"/>
                  <a:pt x="254317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009650" y="5957888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缓存的键是什么？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31406" y="5843588"/>
            <a:ext cx="2581275" cy="457200"/>
          </a:xfrm>
          <a:custGeom>
            <a:avLst/>
            <a:gdLst/>
            <a:ahLst/>
            <a:cxnLst/>
            <a:rect l="l" t="t" r="r" b="b"/>
            <a:pathLst>
              <a:path w="2581275" h="457200">
                <a:moveTo>
                  <a:pt x="38098" y="0"/>
                </a:moveTo>
                <a:lnTo>
                  <a:pt x="2543177" y="0"/>
                </a:lnTo>
                <a:cubicBezTo>
                  <a:pt x="2564218" y="0"/>
                  <a:pt x="2581275" y="17057"/>
                  <a:pt x="2581275" y="38098"/>
                </a:cubicBezTo>
                <a:lnTo>
                  <a:pt x="2581275" y="419102"/>
                </a:lnTo>
                <a:cubicBezTo>
                  <a:pt x="2581275" y="440143"/>
                  <a:pt x="2564218" y="457200"/>
                  <a:pt x="254317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3707606" y="5957888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如何快速判断命中？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29363" y="5843588"/>
            <a:ext cx="2581275" cy="457200"/>
          </a:xfrm>
          <a:custGeom>
            <a:avLst/>
            <a:gdLst/>
            <a:ahLst/>
            <a:cxnLst/>
            <a:rect l="l" t="t" r="r" b="b"/>
            <a:pathLst>
              <a:path w="2581275" h="457200">
                <a:moveTo>
                  <a:pt x="38098" y="0"/>
                </a:moveTo>
                <a:lnTo>
                  <a:pt x="2543177" y="0"/>
                </a:lnTo>
                <a:cubicBezTo>
                  <a:pt x="2564218" y="0"/>
                  <a:pt x="2581275" y="17057"/>
                  <a:pt x="2581275" y="38098"/>
                </a:cubicBezTo>
                <a:lnTo>
                  <a:pt x="2581275" y="419102"/>
                </a:lnTo>
                <a:cubicBezTo>
                  <a:pt x="2581275" y="440143"/>
                  <a:pt x="2564218" y="457200"/>
                  <a:pt x="254317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405563" y="5957888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如何处理部分匹配？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27319" y="5843588"/>
            <a:ext cx="2581275" cy="457200"/>
          </a:xfrm>
          <a:custGeom>
            <a:avLst/>
            <a:gdLst/>
            <a:ahLst/>
            <a:cxnLst/>
            <a:rect l="l" t="t" r="r" b="b"/>
            <a:pathLst>
              <a:path w="2581275" h="457200">
                <a:moveTo>
                  <a:pt x="38098" y="0"/>
                </a:moveTo>
                <a:lnTo>
                  <a:pt x="2543177" y="0"/>
                </a:lnTo>
                <a:cubicBezTo>
                  <a:pt x="2564218" y="0"/>
                  <a:pt x="2581275" y="17057"/>
                  <a:pt x="2581275" y="38098"/>
                </a:cubicBezTo>
                <a:lnTo>
                  <a:pt x="2581275" y="419102"/>
                </a:lnTo>
                <a:cubicBezTo>
                  <a:pt x="2581275" y="440143"/>
                  <a:pt x="2564218" y="457200"/>
                  <a:pt x="2543177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9103519" y="5957888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如何淘汰和替换？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SOLUTIONS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现有方案的局限性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109663"/>
            <a:ext cx="3695700" cy="4505325"/>
          </a:xfrm>
          <a:custGeom>
            <a:avLst/>
            <a:gdLst/>
            <a:ahLst/>
            <a:cxnLst/>
            <a:rect l="l" t="t" r="r" b="b"/>
            <a:pathLst>
              <a:path w="3695700" h="4505325">
                <a:moveTo>
                  <a:pt x="76205" y="0"/>
                </a:moveTo>
                <a:lnTo>
                  <a:pt x="3619495" y="0"/>
                </a:lnTo>
                <a:cubicBezTo>
                  <a:pt x="3661582" y="0"/>
                  <a:pt x="3695700" y="34118"/>
                  <a:pt x="3695700" y="76205"/>
                </a:cubicBezTo>
                <a:lnTo>
                  <a:pt x="3695700" y="4429120"/>
                </a:lnTo>
                <a:cubicBezTo>
                  <a:pt x="3695700" y="4471207"/>
                  <a:pt x="3661582" y="4505325"/>
                  <a:pt x="3619495" y="4505325"/>
                </a:cubicBezTo>
                <a:lnTo>
                  <a:pt x="76205" y="4505325"/>
                </a:lnTo>
                <a:cubicBezTo>
                  <a:pt x="34118" y="4505325"/>
                  <a:pt x="0" y="4471207"/>
                  <a:pt x="0" y="44291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4825" y="1228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88A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61963" y="12287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0125" y="128587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简单哈希表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4825" y="1685925"/>
            <a:ext cx="3457575" cy="838200"/>
          </a:xfrm>
          <a:custGeom>
            <a:avLst/>
            <a:gdLst/>
            <a:ahLst/>
            <a:cxnLst/>
            <a:rect l="l" t="t" r="r" b="b"/>
            <a:pathLst>
              <a:path w="3457575" h="838200">
                <a:moveTo>
                  <a:pt x="38096" y="0"/>
                </a:moveTo>
                <a:lnTo>
                  <a:pt x="3419479" y="0"/>
                </a:lnTo>
                <a:cubicBezTo>
                  <a:pt x="3440519" y="0"/>
                  <a:pt x="3457575" y="17056"/>
                  <a:pt x="3457575" y="38096"/>
                </a:cubicBezTo>
                <a:lnTo>
                  <a:pt x="3457575" y="800104"/>
                </a:lnTo>
                <a:cubicBezTo>
                  <a:pt x="3457575" y="821144"/>
                  <a:pt x="3440519" y="838200"/>
                  <a:pt x="3419479" y="838200"/>
                </a:cubicBezTo>
                <a:lnTo>
                  <a:pt x="38096" y="838200"/>
                </a:lnTo>
                <a:cubicBezTo>
                  <a:pt x="17056" y="838200"/>
                  <a:pt x="0" y="821144"/>
                  <a:pt x="0" y="8001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81025" y="1762125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完整序列哈希作为键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025" y="1990725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= hash(tuple(token_ids))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1025" y="2219325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cache[key] = kv_cache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3875" y="2600325"/>
            <a:ext cx="3438525" cy="2895600"/>
          </a:xfrm>
          <a:custGeom>
            <a:avLst/>
            <a:gdLst/>
            <a:ahLst/>
            <a:cxnLst/>
            <a:rect l="l" t="t" r="r" b="b"/>
            <a:pathLst>
              <a:path w="3438525" h="2895600">
                <a:moveTo>
                  <a:pt x="38100" y="0"/>
                </a:moveTo>
                <a:lnTo>
                  <a:pt x="3400419" y="0"/>
                </a:lnTo>
                <a:cubicBezTo>
                  <a:pt x="3421464" y="0"/>
                  <a:pt x="3438525" y="17061"/>
                  <a:pt x="3438525" y="38106"/>
                </a:cubicBezTo>
                <a:lnTo>
                  <a:pt x="3438525" y="2857494"/>
                </a:lnTo>
                <a:cubicBezTo>
                  <a:pt x="3438525" y="2878539"/>
                  <a:pt x="3421464" y="2895600"/>
                  <a:pt x="3400419" y="2895600"/>
                </a:cubicBezTo>
                <a:lnTo>
                  <a:pt x="38100" y="2895600"/>
                </a:lnTo>
                <a:cubicBezTo>
                  <a:pt x="17072" y="2895600"/>
                  <a:pt x="0" y="2878528"/>
                  <a:pt x="0" y="2857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23875" y="2600325"/>
            <a:ext cx="38100" cy="2895600"/>
          </a:xfrm>
          <a:custGeom>
            <a:avLst/>
            <a:gdLst/>
            <a:ahLst/>
            <a:cxnLst/>
            <a:rect l="l" t="t" r="r" b="b"/>
            <a:pathLst>
              <a:path w="38100" h="2895600">
                <a:moveTo>
                  <a:pt x="38100" y="0"/>
                </a:moveTo>
                <a:lnTo>
                  <a:pt x="38100" y="0"/>
                </a:lnTo>
                <a:lnTo>
                  <a:pt x="38100" y="2895600"/>
                </a:lnTo>
                <a:lnTo>
                  <a:pt x="38100" y="2895600"/>
                </a:lnTo>
                <a:cubicBezTo>
                  <a:pt x="17072" y="2895600"/>
                  <a:pt x="0" y="2878528"/>
                  <a:pt x="0" y="2857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57225" y="3524250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7225" y="3829050"/>
            <a:ext cx="32670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无法支持前缀匹配。即使两个请求共享 </a:t>
            </a: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99%的前缀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，只要有一个token不同，就无法复用任何缓存。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46513" y="1109663"/>
            <a:ext cx="3695700" cy="4505325"/>
          </a:xfrm>
          <a:custGeom>
            <a:avLst/>
            <a:gdLst/>
            <a:ahLst/>
            <a:cxnLst/>
            <a:rect l="l" t="t" r="r" b="b"/>
            <a:pathLst>
              <a:path w="3695700" h="4505325">
                <a:moveTo>
                  <a:pt x="76205" y="0"/>
                </a:moveTo>
                <a:lnTo>
                  <a:pt x="3619495" y="0"/>
                </a:lnTo>
                <a:cubicBezTo>
                  <a:pt x="3661582" y="0"/>
                  <a:pt x="3695700" y="34118"/>
                  <a:pt x="3695700" y="76205"/>
                </a:cubicBezTo>
                <a:lnTo>
                  <a:pt x="3695700" y="4429120"/>
                </a:lnTo>
                <a:cubicBezTo>
                  <a:pt x="3695700" y="4471207"/>
                  <a:pt x="3661582" y="4505325"/>
                  <a:pt x="3619495" y="4505325"/>
                </a:cubicBezTo>
                <a:lnTo>
                  <a:pt x="76205" y="4505325"/>
                </a:lnTo>
                <a:cubicBezTo>
                  <a:pt x="34118" y="4505325"/>
                  <a:pt x="0" y="4471207"/>
                  <a:pt x="0" y="44291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365575" y="1228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88A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322713" y="12287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60875" y="128587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静态前缀缓存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65575" y="1685925"/>
            <a:ext cx="3457575" cy="647700"/>
          </a:xfrm>
          <a:custGeom>
            <a:avLst/>
            <a:gdLst/>
            <a:ahLst/>
            <a:cxnLst/>
            <a:rect l="l" t="t" r="r" b="b"/>
            <a:pathLst>
              <a:path w="3457575" h="647700">
                <a:moveTo>
                  <a:pt x="38098" y="0"/>
                </a:moveTo>
                <a:lnTo>
                  <a:pt x="3419477" y="0"/>
                </a:lnTo>
                <a:cubicBezTo>
                  <a:pt x="3440504" y="0"/>
                  <a:pt x="3457575" y="17071"/>
                  <a:pt x="3457575" y="38098"/>
                </a:cubicBezTo>
                <a:lnTo>
                  <a:pt x="3457575" y="609602"/>
                </a:lnTo>
                <a:cubicBezTo>
                  <a:pt x="3457575" y="630643"/>
                  <a:pt x="3440518" y="647700"/>
                  <a:pt x="341947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441775" y="1762125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预先定义固定的System Prompt，为其计算并缓存KV Cache。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84625" y="2409825"/>
            <a:ext cx="3438525" cy="3086100"/>
          </a:xfrm>
          <a:custGeom>
            <a:avLst/>
            <a:gdLst/>
            <a:ahLst/>
            <a:cxnLst/>
            <a:rect l="l" t="t" r="r" b="b"/>
            <a:pathLst>
              <a:path w="3438525" h="3086100">
                <a:moveTo>
                  <a:pt x="38100" y="0"/>
                </a:moveTo>
                <a:lnTo>
                  <a:pt x="3400412" y="0"/>
                </a:lnTo>
                <a:cubicBezTo>
                  <a:pt x="3421461" y="0"/>
                  <a:pt x="3438525" y="17064"/>
                  <a:pt x="3438525" y="38113"/>
                </a:cubicBezTo>
                <a:lnTo>
                  <a:pt x="3438525" y="3047987"/>
                </a:lnTo>
                <a:cubicBezTo>
                  <a:pt x="3438525" y="3069036"/>
                  <a:pt x="3421461" y="3086100"/>
                  <a:pt x="3400412" y="3086100"/>
                </a:cubicBezTo>
                <a:lnTo>
                  <a:pt x="38100" y="3086100"/>
                </a:lnTo>
                <a:cubicBezTo>
                  <a:pt x="17072" y="3086100"/>
                  <a:pt x="0" y="3069028"/>
                  <a:pt x="0" y="3048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384625" y="2409825"/>
            <a:ext cx="38100" cy="3086100"/>
          </a:xfrm>
          <a:custGeom>
            <a:avLst/>
            <a:gdLst/>
            <a:ahLst/>
            <a:cxnLst/>
            <a:rect l="l" t="t" r="r" b="b"/>
            <a:pathLst>
              <a:path w="38100" h="3086100">
                <a:moveTo>
                  <a:pt x="38100" y="0"/>
                </a:moveTo>
                <a:lnTo>
                  <a:pt x="38100" y="0"/>
                </a:lnTo>
                <a:lnTo>
                  <a:pt x="38100" y="3086100"/>
                </a:lnTo>
                <a:lnTo>
                  <a:pt x="38100" y="3086100"/>
                </a:lnTo>
                <a:cubicBezTo>
                  <a:pt x="17072" y="3086100"/>
                  <a:pt x="0" y="3069028"/>
                  <a:pt x="0" y="3048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517975" y="3429000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17975" y="3733800"/>
            <a:ext cx="32670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缺乏灵活性，无法适应动态工作负载。多轮对话、用户特定上下文等场景无法受益，缓存利用率受限。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07338" y="1109663"/>
            <a:ext cx="3695700" cy="4505325"/>
          </a:xfrm>
          <a:custGeom>
            <a:avLst/>
            <a:gdLst/>
            <a:ahLst/>
            <a:cxnLst/>
            <a:rect l="l" t="t" r="r" b="b"/>
            <a:pathLst>
              <a:path w="3695700" h="4505325">
                <a:moveTo>
                  <a:pt x="76205" y="0"/>
                </a:moveTo>
                <a:lnTo>
                  <a:pt x="3619495" y="0"/>
                </a:lnTo>
                <a:cubicBezTo>
                  <a:pt x="3661582" y="0"/>
                  <a:pt x="3695700" y="34118"/>
                  <a:pt x="3695700" y="76205"/>
                </a:cubicBezTo>
                <a:lnTo>
                  <a:pt x="3695700" y="4429120"/>
                </a:lnTo>
                <a:cubicBezTo>
                  <a:pt x="3695700" y="4471207"/>
                  <a:pt x="3661582" y="4505325"/>
                  <a:pt x="3619495" y="4505325"/>
                </a:cubicBezTo>
                <a:lnTo>
                  <a:pt x="76205" y="4505325"/>
                </a:lnTo>
                <a:cubicBezTo>
                  <a:pt x="34118" y="4505325"/>
                  <a:pt x="0" y="4471207"/>
                  <a:pt x="0" y="44291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226400" y="1228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88A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183538" y="12287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21700" y="1285875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逐Token查找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26400" y="1685925"/>
            <a:ext cx="3457575" cy="647700"/>
          </a:xfrm>
          <a:custGeom>
            <a:avLst/>
            <a:gdLst/>
            <a:ahLst/>
            <a:cxnLst/>
            <a:rect l="l" t="t" r="r" b="b"/>
            <a:pathLst>
              <a:path w="3457575" h="647700">
                <a:moveTo>
                  <a:pt x="38098" y="0"/>
                </a:moveTo>
                <a:lnTo>
                  <a:pt x="3419477" y="0"/>
                </a:lnTo>
                <a:cubicBezTo>
                  <a:pt x="3440504" y="0"/>
                  <a:pt x="3457575" y="17071"/>
                  <a:pt x="3457575" y="38098"/>
                </a:cubicBezTo>
                <a:lnTo>
                  <a:pt x="3457575" y="609602"/>
                </a:lnTo>
                <a:cubicBezTo>
                  <a:pt x="3457575" y="630643"/>
                  <a:pt x="3440518" y="647700"/>
                  <a:pt x="341947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302600" y="1762125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将每个token的KV Cache单独存储，按位置索引进行查找。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45450" y="2409825"/>
            <a:ext cx="3438525" cy="3086100"/>
          </a:xfrm>
          <a:custGeom>
            <a:avLst/>
            <a:gdLst/>
            <a:ahLst/>
            <a:cxnLst/>
            <a:rect l="l" t="t" r="r" b="b"/>
            <a:pathLst>
              <a:path w="3438525" h="3086100">
                <a:moveTo>
                  <a:pt x="38100" y="0"/>
                </a:moveTo>
                <a:lnTo>
                  <a:pt x="3400412" y="0"/>
                </a:lnTo>
                <a:cubicBezTo>
                  <a:pt x="3421461" y="0"/>
                  <a:pt x="3438525" y="17064"/>
                  <a:pt x="3438525" y="38113"/>
                </a:cubicBezTo>
                <a:lnTo>
                  <a:pt x="3438525" y="3047987"/>
                </a:lnTo>
                <a:cubicBezTo>
                  <a:pt x="3438525" y="3069036"/>
                  <a:pt x="3421461" y="3086100"/>
                  <a:pt x="3400412" y="3086100"/>
                </a:cubicBezTo>
                <a:lnTo>
                  <a:pt x="38100" y="3086100"/>
                </a:lnTo>
                <a:cubicBezTo>
                  <a:pt x="17072" y="3086100"/>
                  <a:pt x="0" y="3069028"/>
                  <a:pt x="0" y="3048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245450" y="2409825"/>
            <a:ext cx="38100" cy="3086100"/>
          </a:xfrm>
          <a:custGeom>
            <a:avLst/>
            <a:gdLst/>
            <a:ahLst/>
            <a:cxnLst/>
            <a:rect l="l" t="t" r="r" b="b"/>
            <a:pathLst>
              <a:path w="38100" h="3086100">
                <a:moveTo>
                  <a:pt x="38100" y="0"/>
                </a:moveTo>
                <a:lnTo>
                  <a:pt x="38100" y="0"/>
                </a:lnTo>
                <a:lnTo>
                  <a:pt x="38100" y="3086100"/>
                </a:lnTo>
                <a:lnTo>
                  <a:pt x="38100" y="3086100"/>
                </a:lnTo>
                <a:cubicBezTo>
                  <a:pt x="17072" y="3086100"/>
                  <a:pt x="0" y="3069028"/>
                  <a:pt x="0" y="3048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378800" y="3429000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78800" y="3733800"/>
            <a:ext cx="32670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管理开销巨大，无法利用前缀的结构化特性进行高效查找。每个token都需要一次查找操作，效率低下。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00050" y="5695950"/>
            <a:ext cx="11410950" cy="781050"/>
          </a:xfrm>
          <a:custGeom>
            <a:avLst/>
            <a:gdLst/>
            <a:ahLst/>
            <a:cxnLst/>
            <a:rect l="l" t="t" r="r" b="b"/>
            <a:pathLst>
              <a:path w="11410950" h="781050">
                <a:moveTo>
                  <a:pt x="38100" y="0"/>
                </a:moveTo>
                <a:lnTo>
                  <a:pt x="11334751" y="0"/>
                </a:lnTo>
                <a:cubicBezTo>
                  <a:pt x="11376834" y="0"/>
                  <a:pt x="11410950" y="34116"/>
                  <a:pt x="11410950" y="76199"/>
                </a:cubicBezTo>
                <a:lnTo>
                  <a:pt x="11410950" y="704851"/>
                </a:lnTo>
                <a:cubicBezTo>
                  <a:pt x="11410950" y="746934"/>
                  <a:pt x="11376834" y="781050"/>
                  <a:pt x="11334751" y="781050"/>
                </a:cubicBez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400050" y="5695950"/>
            <a:ext cx="38100" cy="781050"/>
          </a:xfrm>
          <a:custGeom>
            <a:avLst/>
            <a:gdLst/>
            <a:ahLst/>
            <a:cxnLst/>
            <a:rect l="l" t="t" r="r" b="b"/>
            <a:pathLst>
              <a:path w="38100" h="781050">
                <a:moveTo>
                  <a:pt x="38100" y="0"/>
                </a:moveTo>
                <a:lnTo>
                  <a:pt x="38100" y="0"/>
                </a:lnTo>
                <a:lnTo>
                  <a:pt x="38100" y="781050"/>
                </a:ln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07219" y="594360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042988" y="5810250"/>
            <a:ext cx="10753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RadixAttention 的解决方案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42988" y="6115050"/>
            <a:ext cx="107346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SGLang团队提出 </a:t>
            </a: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基于Radix Tree（基数树）的KV Cache管理方案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，能够自动、高效地识别和复用任意长度的共享前缀，克服了上述所有局限性。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85763" y="1657350"/>
            <a:ext cx="1352550" cy="390525"/>
          </a:xfrm>
          <a:custGeom>
            <a:avLst/>
            <a:gdLst/>
            <a:ahLst/>
            <a:cxnLst/>
            <a:rect l="l" t="t" r="r" b="b"/>
            <a:pathLst>
              <a:path w="1352550" h="390525">
                <a:moveTo>
                  <a:pt x="76199" y="0"/>
                </a:moveTo>
                <a:lnTo>
                  <a:pt x="1276351" y="0"/>
                </a:lnTo>
                <a:cubicBezTo>
                  <a:pt x="1318434" y="0"/>
                  <a:pt x="1352550" y="34116"/>
                  <a:pt x="1352550" y="76199"/>
                </a:cubicBezTo>
                <a:lnTo>
                  <a:pt x="1352550" y="314326"/>
                </a:lnTo>
                <a:cubicBezTo>
                  <a:pt x="1352550" y="356409"/>
                  <a:pt x="1318434" y="390525"/>
                  <a:pt x="12763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 w="127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1738313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81238"/>
            <a:ext cx="5181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RadixAttention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24338"/>
            <a:ext cx="4953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 Radix Tree 的 KV Cache 自动复用机制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7206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524000" y="4976813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8个核心概念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844" y="372844"/>
            <a:ext cx="11520881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kern="0" spc="59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RADIX TREE FUNDAMENTALS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2844" y="671119"/>
            <a:ext cx="11614092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2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 Trie 到 Radix Tree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7505" y="1235046"/>
            <a:ext cx="5620624" cy="4912220"/>
          </a:xfrm>
          <a:custGeom>
            <a:avLst/>
            <a:gdLst/>
            <a:ahLst/>
            <a:cxnLst/>
            <a:rect l="l" t="t" r="r" b="b"/>
            <a:pathLst>
              <a:path w="5620624" h="4912220">
                <a:moveTo>
                  <a:pt x="74568" y="0"/>
                </a:moveTo>
                <a:lnTo>
                  <a:pt x="5546056" y="0"/>
                </a:lnTo>
                <a:cubicBezTo>
                  <a:pt x="5587211" y="0"/>
                  <a:pt x="5620624" y="33413"/>
                  <a:pt x="5620624" y="74568"/>
                </a:cubicBezTo>
                <a:lnTo>
                  <a:pt x="5620624" y="4837653"/>
                </a:lnTo>
                <a:cubicBezTo>
                  <a:pt x="5620624" y="4878808"/>
                  <a:pt x="5587211" y="4912220"/>
                  <a:pt x="5546056" y="4912220"/>
                </a:cubicBezTo>
                <a:lnTo>
                  <a:pt x="74568" y="4912220"/>
                </a:lnTo>
                <a:cubicBezTo>
                  <a:pt x="33413" y="4912220"/>
                  <a:pt x="0" y="4878808"/>
                  <a:pt x="0" y="4837653"/>
                </a:cubicBezTo>
                <a:lnTo>
                  <a:pt x="0" y="74568"/>
                </a:lnTo>
                <a:cubicBezTo>
                  <a:pt x="0" y="33413"/>
                  <a:pt x="33413" y="0"/>
                  <a:pt x="7456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96550" y="1444771"/>
            <a:ext cx="223706" cy="223706"/>
          </a:xfrm>
          <a:custGeom>
            <a:avLst/>
            <a:gdLst/>
            <a:ahLst/>
            <a:cxnLst/>
            <a:rect l="l" t="t" r="r" b="b"/>
            <a:pathLst>
              <a:path w="223706" h="223706">
                <a:moveTo>
                  <a:pt x="83890" y="27963"/>
                </a:moveTo>
                <a:cubicBezTo>
                  <a:pt x="83890" y="20230"/>
                  <a:pt x="90138" y="13982"/>
                  <a:pt x="97872" y="13982"/>
                </a:cubicBezTo>
                <a:lnTo>
                  <a:pt x="125835" y="13982"/>
                </a:lnTo>
                <a:cubicBezTo>
                  <a:pt x="133568" y="13982"/>
                  <a:pt x="139817" y="20230"/>
                  <a:pt x="139817" y="27963"/>
                </a:cubicBezTo>
                <a:lnTo>
                  <a:pt x="139817" y="55927"/>
                </a:lnTo>
                <a:cubicBezTo>
                  <a:pt x="139817" y="63660"/>
                  <a:pt x="133568" y="69908"/>
                  <a:pt x="125835" y="69908"/>
                </a:cubicBezTo>
                <a:lnTo>
                  <a:pt x="122339" y="69908"/>
                </a:lnTo>
                <a:lnTo>
                  <a:pt x="122339" y="97872"/>
                </a:lnTo>
                <a:lnTo>
                  <a:pt x="174771" y="97872"/>
                </a:lnTo>
                <a:cubicBezTo>
                  <a:pt x="192160" y="97872"/>
                  <a:pt x="206229" y="111941"/>
                  <a:pt x="206229" y="129330"/>
                </a:cubicBezTo>
                <a:lnTo>
                  <a:pt x="206229" y="153798"/>
                </a:lnTo>
                <a:lnTo>
                  <a:pt x="209725" y="153798"/>
                </a:lnTo>
                <a:cubicBezTo>
                  <a:pt x="217458" y="153798"/>
                  <a:pt x="223706" y="160046"/>
                  <a:pt x="223706" y="167780"/>
                </a:cubicBezTo>
                <a:lnTo>
                  <a:pt x="223706" y="195743"/>
                </a:lnTo>
                <a:cubicBezTo>
                  <a:pt x="223706" y="203477"/>
                  <a:pt x="217458" y="209725"/>
                  <a:pt x="209725" y="209725"/>
                </a:cubicBezTo>
                <a:lnTo>
                  <a:pt x="181761" y="209725"/>
                </a:lnTo>
                <a:cubicBezTo>
                  <a:pt x="174028" y="209725"/>
                  <a:pt x="167780" y="203477"/>
                  <a:pt x="167780" y="195743"/>
                </a:cubicBezTo>
                <a:lnTo>
                  <a:pt x="167780" y="167780"/>
                </a:lnTo>
                <a:cubicBezTo>
                  <a:pt x="167780" y="160046"/>
                  <a:pt x="174028" y="153798"/>
                  <a:pt x="181761" y="153798"/>
                </a:cubicBezTo>
                <a:lnTo>
                  <a:pt x="185257" y="153798"/>
                </a:lnTo>
                <a:lnTo>
                  <a:pt x="185257" y="129330"/>
                </a:lnTo>
                <a:cubicBezTo>
                  <a:pt x="185257" y="123519"/>
                  <a:pt x="180582" y="118844"/>
                  <a:pt x="174771" y="118844"/>
                </a:cubicBezTo>
                <a:lnTo>
                  <a:pt x="122339" y="118844"/>
                </a:lnTo>
                <a:lnTo>
                  <a:pt x="122339" y="153798"/>
                </a:lnTo>
                <a:lnTo>
                  <a:pt x="125835" y="153798"/>
                </a:lnTo>
                <a:cubicBezTo>
                  <a:pt x="133568" y="153798"/>
                  <a:pt x="139817" y="160046"/>
                  <a:pt x="139817" y="167780"/>
                </a:cubicBezTo>
                <a:lnTo>
                  <a:pt x="139817" y="195743"/>
                </a:lnTo>
                <a:cubicBezTo>
                  <a:pt x="139817" y="203477"/>
                  <a:pt x="133568" y="209725"/>
                  <a:pt x="125835" y="209725"/>
                </a:cubicBezTo>
                <a:lnTo>
                  <a:pt x="97872" y="209725"/>
                </a:lnTo>
                <a:cubicBezTo>
                  <a:pt x="90138" y="209725"/>
                  <a:pt x="83890" y="203477"/>
                  <a:pt x="83890" y="195743"/>
                </a:cubicBezTo>
                <a:lnTo>
                  <a:pt x="83890" y="167780"/>
                </a:lnTo>
                <a:cubicBezTo>
                  <a:pt x="83890" y="160046"/>
                  <a:pt x="90138" y="153798"/>
                  <a:pt x="97872" y="153798"/>
                </a:cubicBezTo>
                <a:lnTo>
                  <a:pt x="101367" y="153798"/>
                </a:lnTo>
                <a:lnTo>
                  <a:pt x="101367" y="118844"/>
                </a:lnTo>
                <a:lnTo>
                  <a:pt x="48936" y="118844"/>
                </a:lnTo>
                <a:cubicBezTo>
                  <a:pt x="43125" y="118844"/>
                  <a:pt x="38450" y="123519"/>
                  <a:pt x="38450" y="129330"/>
                </a:cubicBezTo>
                <a:lnTo>
                  <a:pt x="38450" y="153798"/>
                </a:lnTo>
                <a:lnTo>
                  <a:pt x="41945" y="153798"/>
                </a:lnTo>
                <a:cubicBezTo>
                  <a:pt x="49679" y="153798"/>
                  <a:pt x="55927" y="160046"/>
                  <a:pt x="55927" y="167780"/>
                </a:cubicBezTo>
                <a:lnTo>
                  <a:pt x="55927" y="195743"/>
                </a:lnTo>
                <a:cubicBezTo>
                  <a:pt x="55927" y="203477"/>
                  <a:pt x="49679" y="209725"/>
                  <a:pt x="41945" y="209725"/>
                </a:cubicBezTo>
                <a:lnTo>
                  <a:pt x="13982" y="209725"/>
                </a:lnTo>
                <a:cubicBezTo>
                  <a:pt x="6248" y="209725"/>
                  <a:pt x="0" y="203477"/>
                  <a:pt x="0" y="195743"/>
                </a:cubicBezTo>
                <a:lnTo>
                  <a:pt x="0" y="167780"/>
                </a:lnTo>
                <a:cubicBezTo>
                  <a:pt x="0" y="160046"/>
                  <a:pt x="6248" y="153798"/>
                  <a:pt x="13982" y="153798"/>
                </a:cubicBezTo>
                <a:lnTo>
                  <a:pt x="17477" y="153798"/>
                </a:lnTo>
                <a:lnTo>
                  <a:pt x="17477" y="129330"/>
                </a:lnTo>
                <a:cubicBezTo>
                  <a:pt x="17477" y="111941"/>
                  <a:pt x="31546" y="97872"/>
                  <a:pt x="48936" y="97872"/>
                </a:cubicBezTo>
                <a:lnTo>
                  <a:pt x="101367" y="97872"/>
                </a:lnTo>
                <a:lnTo>
                  <a:pt x="101367" y="69908"/>
                </a:lnTo>
                <a:lnTo>
                  <a:pt x="97872" y="69908"/>
                </a:lnTo>
                <a:cubicBezTo>
                  <a:pt x="90138" y="69908"/>
                  <a:pt x="83890" y="63660"/>
                  <a:pt x="83890" y="55927"/>
                </a:cubicBezTo>
                <a:lnTo>
                  <a:pt x="83890" y="27963"/>
                </a:lnTo>
                <a:close/>
              </a:path>
            </a:pathLst>
          </a:custGeom>
          <a:solidFill>
            <a:srgbClr val="788A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60073" y="1426128"/>
            <a:ext cx="137020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Trie（前缀树）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8587" y="1836257"/>
            <a:ext cx="5313028" cy="242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每个节点代表一个字符，从根到叶子的路径表示完整字符串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8587" y="2190459"/>
            <a:ext cx="5238459" cy="2982752"/>
          </a:xfrm>
          <a:custGeom>
            <a:avLst/>
            <a:gdLst/>
            <a:ahLst/>
            <a:cxnLst/>
            <a:rect l="l" t="t" r="r" b="b"/>
            <a:pathLst>
              <a:path w="5238459" h="2982752">
                <a:moveTo>
                  <a:pt x="37284" y="0"/>
                </a:moveTo>
                <a:lnTo>
                  <a:pt x="5201174" y="0"/>
                </a:lnTo>
                <a:cubicBezTo>
                  <a:pt x="5221766" y="0"/>
                  <a:pt x="5238459" y="16693"/>
                  <a:pt x="5238459" y="37284"/>
                </a:cubicBezTo>
                <a:lnTo>
                  <a:pt x="5238459" y="2945468"/>
                </a:lnTo>
                <a:cubicBezTo>
                  <a:pt x="5238459" y="2966059"/>
                  <a:pt x="5221766" y="2982752"/>
                  <a:pt x="5201174" y="2982752"/>
                </a:cubicBezTo>
                <a:lnTo>
                  <a:pt x="37284" y="2982752"/>
                </a:lnTo>
                <a:cubicBezTo>
                  <a:pt x="16693" y="2982752"/>
                  <a:pt x="0" y="2966059"/>
                  <a:pt x="0" y="2945468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0440" y="2302312"/>
            <a:ext cx="5089321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 ["hello", "help", "world"]：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0440" y="2600587"/>
            <a:ext cx="5089321" cy="2460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root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/    \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h      w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</a:t>
            </a:r>
            <a:r>
              <a:rPr lang="zh-CN" alt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|      |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e      o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</a:t>
            </a:r>
            <a:r>
              <a:rPr lang="zh-CN" alt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|      |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r>
              <a:rPr lang="zh-CN" alt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l      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</a:t>
            </a:r>
            <a:r>
              <a:rPr lang="zh-CN" alt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/ \     |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</a:t>
            </a:r>
            <a:r>
              <a:rPr lang="zh-CN" alt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l   p    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</a:t>
            </a:r>
            <a:r>
              <a:rPr lang="zh-CN" alt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|       </a:t>
            </a:r>
            <a:r>
              <a:rPr lang="zh-CN" alt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|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7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o        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7229" y="5285064"/>
            <a:ext cx="5219817" cy="671119"/>
          </a:xfrm>
          <a:custGeom>
            <a:avLst/>
            <a:gdLst/>
            <a:ahLst/>
            <a:cxnLst/>
            <a:rect l="l" t="t" r="r" b="b"/>
            <a:pathLst>
              <a:path w="5219817" h="671119">
                <a:moveTo>
                  <a:pt x="37284" y="0"/>
                </a:moveTo>
                <a:lnTo>
                  <a:pt x="5182529" y="0"/>
                </a:lnTo>
                <a:cubicBezTo>
                  <a:pt x="5203122" y="0"/>
                  <a:pt x="5219817" y="16694"/>
                  <a:pt x="5219817" y="37287"/>
                </a:cubicBezTo>
                <a:lnTo>
                  <a:pt x="5219817" y="633832"/>
                </a:lnTo>
                <a:cubicBezTo>
                  <a:pt x="5219817" y="654425"/>
                  <a:pt x="5203122" y="671119"/>
                  <a:pt x="5182529" y="671119"/>
                </a:cubicBezTo>
                <a:lnTo>
                  <a:pt x="37284" y="671119"/>
                </a:lnTo>
                <a:cubicBezTo>
                  <a:pt x="16693" y="671119"/>
                  <a:pt x="0" y="654426"/>
                  <a:pt x="0" y="633835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87229" y="5285064"/>
            <a:ext cx="37284" cy="671119"/>
          </a:xfrm>
          <a:custGeom>
            <a:avLst/>
            <a:gdLst/>
            <a:ahLst/>
            <a:cxnLst/>
            <a:rect l="l" t="t" r="r" b="b"/>
            <a:pathLst>
              <a:path w="37284" h="671119">
                <a:moveTo>
                  <a:pt x="37284" y="0"/>
                </a:moveTo>
                <a:lnTo>
                  <a:pt x="37284" y="0"/>
                </a:lnTo>
                <a:lnTo>
                  <a:pt x="37284" y="671119"/>
                </a:lnTo>
                <a:lnTo>
                  <a:pt x="37284" y="671119"/>
                </a:lnTo>
                <a:cubicBezTo>
                  <a:pt x="16693" y="671119"/>
                  <a:pt x="0" y="654426"/>
                  <a:pt x="0" y="633835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17725" y="5396917"/>
            <a:ext cx="5052037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问题：</a:t>
            </a:r>
            <a:r>
              <a:rPr lang="en-US" sz="1174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存在长的非分支路径时，产生大量单分支中间节点，浪费内存且增加遍历深度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00571" y="1239706"/>
            <a:ext cx="5611303" cy="4902899"/>
          </a:xfrm>
          <a:custGeom>
            <a:avLst/>
            <a:gdLst/>
            <a:ahLst/>
            <a:cxnLst/>
            <a:rect l="l" t="t" r="r" b="b"/>
            <a:pathLst>
              <a:path w="5611303" h="4902899">
                <a:moveTo>
                  <a:pt x="74573" y="0"/>
                </a:moveTo>
                <a:lnTo>
                  <a:pt x="5536730" y="0"/>
                </a:lnTo>
                <a:cubicBezTo>
                  <a:pt x="5577915" y="0"/>
                  <a:pt x="5611303" y="33388"/>
                  <a:pt x="5611303" y="74573"/>
                </a:cubicBezTo>
                <a:lnTo>
                  <a:pt x="5611303" y="4828326"/>
                </a:lnTo>
                <a:cubicBezTo>
                  <a:pt x="5611303" y="4869512"/>
                  <a:pt x="5577915" y="4902899"/>
                  <a:pt x="5536730" y="4902899"/>
                </a:cubicBezTo>
                <a:lnTo>
                  <a:pt x="74573" y="4902899"/>
                </a:lnTo>
                <a:cubicBezTo>
                  <a:pt x="33388" y="4902899"/>
                  <a:pt x="0" y="4869512"/>
                  <a:pt x="0" y="4828326"/>
                </a:cubicBezTo>
                <a:lnTo>
                  <a:pt x="0" y="74573"/>
                </a:lnTo>
                <a:cubicBezTo>
                  <a:pt x="0" y="33415"/>
                  <a:pt x="33415" y="0"/>
                  <a:pt x="74573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424278" y="1454092"/>
            <a:ext cx="223706" cy="223706"/>
          </a:xfrm>
          <a:custGeom>
            <a:avLst/>
            <a:gdLst/>
            <a:ahLst/>
            <a:cxnLst/>
            <a:rect l="l" t="t" r="r" b="b"/>
            <a:pathLst>
              <a:path w="223706" h="223706">
                <a:moveTo>
                  <a:pt x="0" y="34954"/>
                </a:moveTo>
                <a:cubicBezTo>
                  <a:pt x="0" y="23376"/>
                  <a:pt x="9394" y="13982"/>
                  <a:pt x="20972" y="13982"/>
                </a:cubicBezTo>
                <a:lnTo>
                  <a:pt x="62917" y="13982"/>
                </a:lnTo>
                <a:cubicBezTo>
                  <a:pt x="74496" y="13982"/>
                  <a:pt x="83890" y="23376"/>
                  <a:pt x="83890" y="34954"/>
                </a:cubicBezTo>
                <a:lnTo>
                  <a:pt x="83890" y="41945"/>
                </a:lnTo>
                <a:lnTo>
                  <a:pt x="139817" y="41945"/>
                </a:lnTo>
                <a:lnTo>
                  <a:pt x="139817" y="34954"/>
                </a:lnTo>
                <a:cubicBezTo>
                  <a:pt x="139817" y="23376"/>
                  <a:pt x="149210" y="13982"/>
                  <a:pt x="160789" y="13982"/>
                </a:cubicBezTo>
                <a:lnTo>
                  <a:pt x="202734" y="13982"/>
                </a:lnTo>
                <a:cubicBezTo>
                  <a:pt x="214313" y="13982"/>
                  <a:pt x="223706" y="23376"/>
                  <a:pt x="223706" y="34954"/>
                </a:cubicBezTo>
                <a:lnTo>
                  <a:pt x="223706" y="76899"/>
                </a:lnTo>
                <a:cubicBezTo>
                  <a:pt x="223706" y="88478"/>
                  <a:pt x="214313" y="97872"/>
                  <a:pt x="202734" y="97872"/>
                </a:cubicBezTo>
                <a:lnTo>
                  <a:pt x="160789" y="97872"/>
                </a:lnTo>
                <a:cubicBezTo>
                  <a:pt x="149210" y="97872"/>
                  <a:pt x="139817" y="88478"/>
                  <a:pt x="139817" y="76899"/>
                </a:cubicBezTo>
                <a:lnTo>
                  <a:pt x="139817" y="69908"/>
                </a:lnTo>
                <a:lnTo>
                  <a:pt x="83890" y="69908"/>
                </a:lnTo>
                <a:lnTo>
                  <a:pt x="83890" y="76899"/>
                </a:lnTo>
                <a:cubicBezTo>
                  <a:pt x="83890" y="80089"/>
                  <a:pt x="83147" y="83147"/>
                  <a:pt x="81880" y="85856"/>
                </a:cubicBezTo>
                <a:lnTo>
                  <a:pt x="111853" y="125835"/>
                </a:lnTo>
                <a:lnTo>
                  <a:pt x="146807" y="125835"/>
                </a:lnTo>
                <a:cubicBezTo>
                  <a:pt x="158386" y="125835"/>
                  <a:pt x="167780" y="135229"/>
                  <a:pt x="167780" y="146807"/>
                </a:cubicBezTo>
                <a:lnTo>
                  <a:pt x="167780" y="188752"/>
                </a:lnTo>
                <a:cubicBezTo>
                  <a:pt x="167780" y="200331"/>
                  <a:pt x="158386" y="209725"/>
                  <a:pt x="146807" y="209725"/>
                </a:cubicBezTo>
                <a:lnTo>
                  <a:pt x="104862" y="209725"/>
                </a:lnTo>
                <a:cubicBezTo>
                  <a:pt x="93284" y="209725"/>
                  <a:pt x="83890" y="200331"/>
                  <a:pt x="83890" y="188752"/>
                </a:cubicBezTo>
                <a:lnTo>
                  <a:pt x="83890" y="146807"/>
                </a:lnTo>
                <a:cubicBezTo>
                  <a:pt x="83890" y="143618"/>
                  <a:pt x="84633" y="140559"/>
                  <a:pt x="85900" y="137850"/>
                </a:cubicBezTo>
                <a:lnTo>
                  <a:pt x="55927" y="97872"/>
                </a:lnTo>
                <a:lnTo>
                  <a:pt x="20972" y="97872"/>
                </a:lnTo>
                <a:cubicBezTo>
                  <a:pt x="9394" y="97872"/>
                  <a:pt x="0" y="88478"/>
                  <a:pt x="0" y="76899"/>
                </a:cubicBezTo>
                <a:lnTo>
                  <a:pt x="0" y="34954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787800" y="1435450"/>
            <a:ext cx="1985394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Radix Tree（基数树）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6314" y="1845578"/>
            <a:ext cx="5294385" cy="242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</a:t>
            </a:r>
            <a:r>
              <a:rPr lang="en-US" sz="1174" b="1" dirty="0">
                <a:solidFill>
                  <a:srgbClr val="E8E8E8"/>
                </a:solidFill>
                <a:highlight>
                  <a:srgbClr val="D4A26A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路径压缩 </a:t>
            </a:r>
            <a:r>
              <a:rPr lang="en-US" sz="1174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解决Trie的问题，将连续的非分支节点合并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96314" y="2199780"/>
            <a:ext cx="5219817" cy="2087927"/>
          </a:xfrm>
          <a:custGeom>
            <a:avLst/>
            <a:gdLst/>
            <a:ahLst/>
            <a:cxnLst/>
            <a:rect l="l" t="t" r="r" b="b"/>
            <a:pathLst>
              <a:path w="5219817" h="2087927">
                <a:moveTo>
                  <a:pt x="37290" y="0"/>
                </a:moveTo>
                <a:lnTo>
                  <a:pt x="5182526" y="0"/>
                </a:lnTo>
                <a:cubicBezTo>
                  <a:pt x="5203121" y="0"/>
                  <a:pt x="5219817" y="16695"/>
                  <a:pt x="5219817" y="37290"/>
                </a:cubicBezTo>
                <a:lnTo>
                  <a:pt x="5219817" y="2050636"/>
                </a:lnTo>
                <a:cubicBezTo>
                  <a:pt x="5219817" y="2071231"/>
                  <a:pt x="5203121" y="2087927"/>
                  <a:pt x="5182526" y="2087927"/>
                </a:cubicBezTo>
                <a:lnTo>
                  <a:pt x="37290" y="2087927"/>
                </a:lnTo>
                <a:cubicBezTo>
                  <a:pt x="16695" y="2087927"/>
                  <a:pt x="0" y="2071231"/>
                  <a:pt x="0" y="2050636"/>
                </a:cubicBezTo>
                <a:lnTo>
                  <a:pt x="0" y="37290"/>
                </a:lnTo>
                <a:cubicBezTo>
                  <a:pt x="0" y="16709"/>
                  <a:pt x="16709" y="0"/>
                  <a:pt x="3729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508167" y="2311633"/>
            <a:ext cx="5070679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 ["hello", "help", "world"]：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8167" y="2609908"/>
            <a:ext cx="5070679" cy="156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74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root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74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/    \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74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"hel"  "world"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74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/ \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74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"lo" "p"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17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节点数：5（Trie需要11个）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96314" y="4399560"/>
            <a:ext cx="2553982" cy="708404"/>
          </a:xfrm>
          <a:custGeom>
            <a:avLst/>
            <a:gdLst/>
            <a:ahLst/>
            <a:cxnLst/>
            <a:rect l="l" t="t" r="r" b="b"/>
            <a:pathLst>
              <a:path w="2553982" h="708404">
                <a:moveTo>
                  <a:pt x="37283" y="0"/>
                </a:moveTo>
                <a:lnTo>
                  <a:pt x="2516698" y="0"/>
                </a:lnTo>
                <a:cubicBezTo>
                  <a:pt x="2537289" y="0"/>
                  <a:pt x="2553982" y="16692"/>
                  <a:pt x="2553982" y="37283"/>
                </a:cubicBezTo>
                <a:lnTo>
                  <a:pt x="2553982" y="671120"/>
                </a:lnTo>
                <a:cubicBezTo>
                  <a:pt x="2553982" y="691711"/>
                  <a:pt x="2537289" y="708404"/>
                  <a:pt x="2516698" y="708404"/>
                </a:cubicBezTo>
                <a:lnTo>
                  <a:pt x="37283" y="708404"/>
                </a:lnTo>
                <a:cubicBezTo>
                  <a:pt x="16692" y="708404"/>
                  <a:pt x="0" y="691711"/>
                  <a:pt x="0" y="671120"/>
                </a:cubicBezTo>
                <a:lnTo>
                  <a:pt x="0" y="37283"/>
                </a:lnTo>
                <a:cubicBezTo>
                  <a:pt x="0" y="16706"/>
                  <a:pt x="16706" y="0"/>
                  <a:pt x="3728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52241" y="4511413"/>
            <a:ext cx="2442128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1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54%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5544" y="4809688"/>
            <a:ext cx="2395523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节点减少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63169" y="4399560"/>
            <a:ext cx="2553982" cy="708404"/>
          </a:xfrm>
          <a:custGeom>
            <a:avLst/>
            <a:gdLst/>
            <a:ahLst/>
            <a:cxnLst/>
            <a:rect l="l" t="t" r="r" b="b"/>
            <a:pathLst>
              <a:path w="2553982" h="708404">
                <a:moveTo>
                  <a:pt x="37283" y="0"/>
                </a:moveTo>
                <a:lnTo>
                  <a:pt x="2516698" y="0"/>
                </a:lnTo>
                <a:cubicBezTo>
                  <a:pt x="2537289" y="0"/>
                  <a:pt x="2553982" y="16692"/>
                  <a:pt x="2553982" y="37283"/>
                </a:cubicBezTo>
                <a:lnTo>
                  <a:pt x="2553982" y="671120"/>
                </a:lnTo>
                <a:cubicBezTo>
                  <a:pt x="2553982" y="691711"/>
                  <a:pt x="2537289" y="708404"/>
                  <a:pt x="2516698" y="708404"/>
                </a:cubicBezTo>
                <a:lnTo>
                  <a:pt x="37283" y="708404"/>
                </a:lnTo>
                <a:cubicBezTo>
                  <a:pt x="16692" y="708404"/>
                  <a:pt x="0" y="691711"/>
                  <a:pt x="0" y="671120"/>
                </a:cubicBezTo>
                <a:lnTo>
                  <a:pt x="0" y="37283"/>
                </a:lnTo>
                <a:cubicBezTo>
                  <a:pt x="0" y="16706"/>
                  <a:pt x="16706" y="0"/>
                  <a:pt x="3728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119095" y="4511413"/>
            <a:ext cx="2442128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1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O(m)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2398" y="4809688"/>
            <a:ext cx="2395523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查找复杂度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7505" y="6305725"/>
            <a:ext cx="11436991" cy="549945"/>
          </a:xfrm>
          <a:custGeom>
            <a:avLst/>
            <a:gdLst/>
            <a:ahLst/>
            <a:cxnLst/>
            <a:rect l="l" t="t" r="r" b="b"/>
            <a:pathLst>
              <a:path w="11436991" h="549945">
                <a:moveTo>
                  <a:pt x="74567" y="0"/>
                </a:moveTo>
                <a:lnTo>
                  <a:pt x="11362424" y="0"/>
                </a:lnTo>
                <a:cubicBezTo>
                  <a:pt x="11403606" y="0"/>
                  <a:pt x="11436991" y="33385"/>
                  <a:pt x="11436991" y="74567"/>
                </a:cubicBezTo>
                <a:lnTo>
                  <a:pt x="11436991" y="475378"/>
                </a:lnTo>
                <a:cubicBezTo>
                  <a:pt x="11436991" y="516560"/>
                  <a:pt x="11403606" y="549945"/>
                  <a:pt x="11362424" y="549945"/>
                </a:cubicBezTo>
                <a:lnTo>
                  <a:pt x="74567" y="549945"/>
                </a:lnTo>
                <a:cubicBezTo>
                  <a:pt x="33412" y="549945"/>
                  <a:pt x="0" y="516533"/>
                  <a:pt x="0" y="475378"/>
                </a:cubicBezTo>
                <a:lnTo>
                  <a:pt x="0" y="74567"/>
                </a:lnTo>
                <a:cubicBezTo>
                  <a:pt x="0" y="33412"/>
                  <a:pt x="33412" y="0"/>
                  <a:pt x="7456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54606" y="6487486"/>
            <a:ext cx="186422" cy="186422"/>
          </a:xfrm>
          <a:custGeom>
            <a:avLst/>
            <a:gdLst/>
            <a:ahLst/>
            <a:cxnLst/>
            <a:rect l="l" t="t" r="r" b="b"/>
            <a:pathLst>
              <a:path w="186422" h="186422">
                <a:moveTo>
                  <a:pt x="93211" y="186422"/>
                </a:moveTo>
                <a:cubicBezTo>
                  <a:pt x="144656" y="186422"/>
                  <a:pt x="186422" y="144656"/>
                  <a:pt x="186422" y="93211"/>
                </a:cubicBezTo>
                <a:cubicBezTo>
                  <a:pt x="186422" y="41766"/>
                  <a:pt x="144656" y="0"/>
                  <a:pt x="93211" y="0"/>
                </a:cubicBezTo>
                <a:cubicBezTo>
                  <a:pt x="41766" y="0"/>
                  <a:pt x="0" y="41766"/>
                  <a:pt x="0" y="93211"/>
                </a:cubicBezTo>
                <a:cubicBezTo>
                  <a:pt x="0" y="144656"/>
                  <a:pt x="41766" y="186422"/>
                  <a:pt x="93211" y="186422"/>
                </a:cubicBezTo>
                <a:close/>
                <a:moveTo>
                  <a:pt x="81560" y="58257"/>
                </a:moveTo>
                <a:cubicBezTo>
                  <a:pt x="81560" y="51826"/>
                  <a:pt x="86780" y="46606"/>
                  <a:pt x="93211" y="46606"/>
                </a:cubicBezTo>
                <a:cubicBezTo>
                  <a:pt x="99642" y="46606"/>
                  <a:pt x="104862" y="51826"/>
                  <a:pt x="104862" y="58257"/>
                </a:cubicBezTo>
                <a:cubicBezTo>
                  <a:pt x="104862" y="64687"/>
                  <a:pt x="99642" y="69908"/>
                  <a:pt x="93211" y="69908"/>
                </a:cubicBezTo>
                <a:cubicBezTo>
                  <a:pt x="86780" y="69908"/>
                  <a:pt x="81560" y="64687"/>
                  <a:pt x="81560" y="58257"/>
                </a:cubicBezTo>
                <a:close/>
                <a:moveTo>
                  <a:pt x="78647" y="81560"/>
                </a:moveTo>
                <a:lnTo>
                  <a:pt x="96124" y="81560"/>
                </a:lnTo>
                <a:cubicBezTo>
                  <a:pt x="100966" y="81560"/>
                  <a:pt x="104862" y="85456"/>
                  <a:pt x="104862" y="90298"/>
                </a:cubicBezTo>
                <a:lnTo>
                  <a:pt x="104862" y="122339"/>
                </a:lnTo>
                <a:lnTo>
                  <a:pt x="107775" y="122339"/>
                </a:lnTo>
                <a:cubicBezTo>
                  <a:pt x="112618" y="122339"/>
                  <a:pt x="116514" y="126235"/>
                  <a:pt x="116514" y="131078"/>
                </a:cubicBezTo>
                <a:cubicBezTo>
                  <a:pt x="116514" y="135921"/>
                  <a:pt x="112618" y="139817"/>
                  <a:pt x="107775" y="139817"/>
                </a:cubicBezTo>
                <a:lnTo>
                  <a:pt x="78647" y="139817"/>
                </a:lnTo>
                <a:cubicBezTo>
                  <a:pt x="73804" y="139817"/>
                  <a:pt x="69908" y="135921"/>
                  <a:pt x="69908" y="131078"/>
                </a:cubicBezTo>
                <a:cubicBezTo>
                  <a:pt x="69908" y="126235"/>
                  <a:pt x="73804" y="122339"/>
                  <a:pt x="78647" y="122339"/>
                </a:cubicBezTo>
                <a:lnTo>
                  <a:pt x="87385" y="122339"/>
                </a:lnTo>
                <a:lnTo>
                  <a:pt x="87385" y="99037"/>
                </a:lnTo>
                <a:lnTo>
                  <a:pt x="78647" y="99037"/>
                </a:lnTo>
                <a:cubicBezTo>
                  <a:pt x="73804" y="99037"/>
                  <a:pt x="69908" y="95141"/>
                  <a:pt x="69908" y="90298"/>
                </a:cubicBezTo>
                <a:cubicBezTo>
                  <a:pt x="69908" y="85456"/>
                  <a:pt x="73804" y="81560"/>
                  <a:pt x="78647" y="8156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76183" y="6459523"/>
            <a:ext cx="9414312" cy="242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关键洞察：</a:t>
            </a:r>
            <a:r>
              <a:rPr lang="en-US" sz="1174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Radix Tree 也称为压缩前缀树（Compressed Trie）或 Patricia Tree，通过合并连续的非分支节点，大幅减少内存占用和遍历深度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CHARACTERISTICS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Radix Tree 的核心特性与时间复杂度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5288" y="12954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66750" y="1257300"/>
            <a:ext cx="544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四大核心特性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714500"/>
            <a:ext cx="5600700" cy="857250"/>
          </a:xfrm>
          <a:custGeom>
            <a:avLst/>
            <a:gdLst/>
            <a:ahLst/>
            <a:cxnLst/>
            <a:rect l="l" t="t" r="r" b="b"/>
            <a:pathLst>
              <a:path w="5600700" h="857250">
                <a:moveTo>
                  <a:pt x="38100" y="0"/>
                </a:moveTo>
                <a:lnTo>
                  <a:pt x="5524499" y="0"/>
                </a:lnTo>
                <a:cubicBezTo>
                  <a:pt x="5566584" y="0"/>
                  <a:pt x="5600700" y="34116"/>
                  <a:pt x="5600700" y="76201"/>
                </a:cubicBezTo>
                <a:lnTo>
                  <a:pt x="5600700" y="781049"/>
                </a:lnTo>
                <a:cubicBezTo>
                  <a:pt x="5600700" y="823134"/>
                  <a:pt x="5566584" y="857250"/>
                  <a:pt x="5524499" y="857250"/>
                </a:cubicBezTo>
                <a:lnTo>
                  <a:pt x="38100" y="857250"/>
                </a:lnTo>
                <a:cubicBezTo>
                  <a:pt x="17072" y="857250"/>
                  <a:pt x="0" y="840178"/>
                  <a:pt x="0" y="819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00050" y="1714500"/>
            <a:ext cx="38100" cy="857250"/>
          </a:xfrm>
          <a:custGeom>
            <a:avLst/>
            <a:gdLst/>
            <a:ahLst/>
            <a:cxnLst/>
            <a:rect l="l" t="t" r="r" b="b"/>
            <a:pathLst>
              <a:path w="38100" h="857250">
                <a:moveTo>
                  <a:pt x="38100" y="0"/>
                </a:moveTo>
                <a:lnTo>
                  <a:pt x="38100" y="0"/>
                </a:lnTo>
                <a:lnTo>
                  <a:pt x="38100" y="857250"/>
                </a:lnTo>
                <a:lnTo>
                  <a:pt x="38100" y="857250"/>
                </a:lnTo>
                <a:cubicBezTo>
                  <a:pt x="17072" y="857250"/>
                  <a:pt x="0" y="840178"/>
                  <a:pt x="0" y="819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715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33400" y="18669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1866900"/>
            <a:ext cx="486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路径压缩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2171700"/>
            <a:ext cx="4857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连续非分支节点合并，减少内存占用和遍历深度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2686050"/>
            <a:ext cx="5600700" cy="857250"/>
          </a:xfrm>
          <a:custGeom>
            <a:avLst/>
            <a:gdLst/>
            <a:ahLst/>
            <a:cxnLst/>
            <a:rect l="l" t="t" r="r" b="b"/>
            <a:pathLst>
              <a:path w="5600700" h="857250">
                <a:moveTo>
                  <a:pt x="38100" y="0"/>
                </a:moveTo>
                <a:lnTo>
                  <a:pt x="5524499" y="0"/>
                </a:lnTo>
                <a:cubicBezTo>
                  <a:pt x="5566584" y="0"/>
                  <a:pt x="5600700" y="34116"/>
                  <a:pt x="5600700" y="76201"/>
                </a:cubicBezTo>
                <a:lnTo>
                  <a:pt x="5600700" y="781049"/>
                </a:lnTo>
                <a:cubicBezTo>
                  <a:pt x="5600700" y="823134"/>
                  <a:pt x="5566584" y="857250"/>
                  <a:pt x="5524499" y="857250"/>
                </a:cubicBezTo>
                <a:lnTo>
                  <a:pt x="38100" y="857250"/>
                </a:lnTo>
                <a:cubicBezTo>
                  <a:pt x="17072" y="857250"/>
                  <a:pt x="0" y="840178"/>
                  <a:pt x="0" y="819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00050" y="2686050"/>
            <a:ext cx="38100" cy="857250"/>
          </a:xfrm>
          <a:custGeom>
            <a:avLst/>
            <a:gdLst/>
            <a:ahLst/>
            <a:cxnLst/>
            <a:rect l="l" t="t" r="r" b="b"/>
            <a:pathLst>
              <a:path w="38100" h="857250">
                <a:moveTo>
                  <a:pt x="38100" y="0"/>
                </a:moveTo>
                <a:lnTo>
                  <a:pt x="38100" y="0"/>
                </a:lnTo>
                <a:lnTo>
                  <a:pt x="38100" y="857250"/>
                </a:lnTo>
                <a:lnTo>
                  <a:pt x="38100" y="857250"/>
                </a:lnTo>
                <a:cubicBezTo>
                  <a:pt x="17072" y="857250"/>
                  <a:pt x="0" y="840178"/>
                  <a:pt x="0" y="819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71500" y="2838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33400" y="28384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6800" y="2838450"/>
            <a:ext cx="486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前缀共享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6800" y="3143250"/>
            <a:ext cx="4857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相同前缀自动合并到同一路径，天然支持共享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657600"/>
            <a:ext cx="5600700" cy="857250"/>
          </a:xfrm>
          <a:custGeom>
            <a:avLst/>
            <a:gdLst/>
            <a:ahLst/>
            <a:cxnLst/>
            <a:rect l="l" t="t" r="r" b="b"/>
            <a:pathLst>
              <a:path w="5600700" h="857250">
                <a:moveTo>
                  <a:pt x="38100" y="0"/>
                </a:moveTo>
                <a:lnTo>
                  <a:pt x="5524499" y="0"/>
                </a:lnTo>
                <a:cubicBezTo>
                  <a:pt x="5566584" y="0"/>
                  <a:pt x="5600700" y="34116"/>
                  <a:pt x="5600700" y="76201"/>
                </a:cubicBezTo>
                <a:lnTo>
                  <a:pt x="5600700" y="781049"/>
                </a:lnTo>
                <a:cubicBezTo>
                  <a:pt x="5600700" y="823134"/>
                  <a:pt x="5566584" y="857250"/>
                  <a:pt x="5524499" y="857250"/>
                </a:cubicBezTo>
                <a:lnTo>
                  <a:pt x="38100" y="857250"/>
                </a:lnTo>
                <a:cubicBezTo>
                  <a:pt x="17072" y="857250"/>
                  <a:pt x="0" y="840178"/>
                  <a:pt x="0" y="819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00050" y="3657600"/>
            <a:ext cx="38100" cy="857250"/>
          </a:xfrm>
          <a:custGeom>
            <a:avLst/>
            <a:gdLst/>
            <a:ahLst/>
            <a:cxnLst/>
            <a:rect l="l" t="t" r="r" b="b"/>
            <a:pathLst>
              <a:path w="38100" h="857250">
                <a:moveTo>
                  <a:pt x="38100" y="0"/>
                </a:moveTo>
                <a:lnTo>
                  <a:pt x="38100" y="0"/>
                </a:lnTo>
                <a:lnTo>
                  <a:pt x="38100" y="857250"/>
                </a:lnTo>
                <a:lnTo>
                  <a:pt x="38100" y="857250"/>
                </a:lnTo>
                <a:cubicBezTo>
                  <a:pt x="17072" y="857250"/>
                  <a:pt x="0" y="840178"/>
                  <a:pt x="0" y="819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71500" y="381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33400" y="38100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6800" y="3810000"/>
            <a:ext cx="486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动态更新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6800" y="4114800"/>
            <a:ext cx="4857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支持高效的插入、删除和查找操作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0050" y="4629150"/>
            <a:ext cx="5600700" cy="857250"/>
          </a:xfrm>
          <a:custGeom>
            <a:avLst/>
            <a:gdLst/>
            <a:ahLst/>
            <a:cxnLst/>
            <a:rect l="l" t="t" r="r" b="b"/>
            <a:pathLst>
              <a:path w="5600700" h="857250">
                <a:moveTo>
                  <a:pt x="38100" y="0"/>
                </a:moveTo>
                <a:lnTo>
                  <a:pt x="5524499" y="0"/>
                </a:lnTo>
                <a:cubicBezTo>
                  <a:pt x="5566584" y="0"/>
                  <a:pt x="5600700" y="34116"/>
                  <a:pt x="5600700" y="76201"/>
                </a:cubicBezTo>
                <a:lnTo>
                  <a:pt x="5600700" y="781049"/>
                </a:lnTo>
                <a:cubicBezTo>
                  <a:pt x="5600700" y="823134"/>
                  <a:pt x="5566584" y="857250"/>
                  <a:pt x="5524499" y="857250"/>
                </a:cubicBezTo>
                <a:lnTo>
                  <a:pt x="38100" y="857250"/>
                </a:lnTo>
                <a:cubicBezTo>
                  <a:pt x="17072" y="857250"/>
                  <a:pt x="0" y="840178"/>
                  <a:pt x="0" y="819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00050" y="4629150"/>
            <a:ext cx="38100" cy="857250"/>
          </a:xfrm>
          <a:custGeom>
            <a:avLst/>
            <a:gdLst/>
            <a:ahLst/>
            <a:cxnLst/>
            <a:rect l="l" t="t" r="r" b="b"/>
            <a:pathLst>
              <a:path w="38100" h="857250">
                <a:moveTo>
                  <a:pt x="38100" y="0"/>
                </a:moveTo>
                <a:lnTo>
                  <a:pt x="38100" y="0"/>
                </a:lnTo>
                <a:lnTo>
                  <a:pt x="38100" y="857250"/>
                </a:lnTo>
                <a:lnTo>
                  <a:pt x="38100" y="857250"/>
                </a:lnTo>
                <a:cubicBezTo>
                  <a:pt x="17072" y="857250"/>
                  <a:pt x="0" y="840178"/>
                  <a:pt x="0" y="819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71500" y="4781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33400" y="47815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66800" y="4781550"/>
            <a:ext cx="486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最长前缀匹配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66800" y="5086350"/>
            <a:ext cx="4857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天然支持找到与查询序列匹配的最长前缀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9825" y="1295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77000" y="1257300"/>
            <a:ext cx="544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时间复杂度分析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6013" y="1719263"/>
            <a:ext cx="5610225" cy="3924300"/>
          </a:xfrm>
          <a:custGeom>
            <a:avLst/>
            <a:gdLst/>
            <a:ahLst/>
            <a:cxnLst/>
            <a:rect l="l" t="t" r="r" b="b"/>
            <a:pathLst>
              <a:path w="5610225" h="3924300">
                <a:moveTo>
                  <a:pt x="76210" y="0"/>
                </a:moveTo>
                <a:lnTo>
                  <a:pt x="5534015" y="0"/>
                </a:lnTo>
                <a:cubicBezTo>
                  <a:pt x="5576105" y="0"/>
                  <a:pt x="5610225" y="34120"/>
                  <a:pt x="5610225" y="76210"/>
                </a:cubicBezTo>
                <a:lnTo>
                  <a:pt x="5610225" y="3848090"/>
                </a:lnTo>
                <a:cubicBezTo>
                  <a:pt x="5610225" y="3890180"/>
                  <a:pt x="5576105" y="3924300"/>
                  <a:pt x="5534015" y="3924300"/>
                </a:cubicBezTo>
                <a:lnTo>
                  <a:pt x="76210" y="3924300"/>
                </a:lnTo>
                <a:cubicBezTo>
                  <a:pt x="34120" y="3924300"/>
                  <a:pt x="0" y="3890180"/>
                  <a:pt x="0" y="3848090"/>
                </a:cubicBezTo>
                <a:lnTo>
                  <a:pt x="0" y="76210"/>
                </a:lnTo>
                <a:cubicBezTo>
                  <a:pt x="0" y="34149"/>
                  <a:pt x="34149" y="0"/>
                  <a:pt x="7621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391275" y="1914525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 </a:t>
            </a:r>
            <a:r>
              <a:rPr lang="en-US" sz="1200" dirty="0">
                <a:solidFill>
                  <a:srgbClr val="E8E8E8"/>
                </a:solidFill>
                <a:highlight>
                  <a:srgbClr val="D4A26A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 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为查询/插入序列的长度</a:t>
            </a:r>
            <a:endParaRPr lang="en-US" sz="1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1275" y="2295525"/>
          <a:ext cx="5219700" cy="2333625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操作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时间复杂度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查找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O(m)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788A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与序列长度线性相关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插入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O(m)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788A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最坏情况需分裂节点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删除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O(m)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788A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可能触发节点合并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最长前缀匹配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O(m)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788A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遍历直到无法匹配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6410325" y="4781550"/>
            <a:ext cx="5200650" cy="666750"/>
          </a:xfrm>
          <a:custGeom>
            <a:avLst/>
            <a:gdLst/>
            <a:ahLst/>
            <a:cxnLst/>
            <a:rect l="l" t="t" r="r" b="b"/>
            <a:pathLst>
              <a:path w="5200650" h="666750">
                <a:moveTo>
                  <a:pt x="38098" y="0"/>
                </a:moveTo>
                <a:lnTo>
                  <a:pt x="5162552" y="0"/>
                </a:lnTo>
                <a:cubicBezTo>
                  <a:pt x="5183593" y="0"/>
                  <a:pt x="5200650" y="17057"/>
                  <a:pt x="5200650" y="38098"/>
                </a:cubicBezTo>
                <a:lnTo>
                  <a:pt x="5200650" y="628652"/>
                </a:lnTo>
                <a:cubicBezTo>
                  <a:pt x="5200650" y="649693"/>
                  <a:pt x="5183593" y="666750"/>
                  <a:pt x="5162552" y="666750"/>
                </a:cubicBezTo>
                <a:lnTo>
                  <a:pt x="38098" y="666750"/>
                </a:lnTo>
                <a:cubicBezTo>
                  <a:pt x="17057" y="666750"/>
                  <a:pt x="0" y="649693"/>
                  <a:pt x="0" y="62865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3"/>
          <p:cNvSpPr/>
          <p:nvPr/>
        </p:nvSpPr>
        <p:spPr>
          <a:xfrm>
            <a:off x="6410325" y="4781550"/>
            <a:ext cx="38100" cy="666750"/>
          </a:xfrm>
          <a:custGeom>
            <a:avLst/>
            <a:gdLst/>
            <a:ahLst/>
            <a:cxnLst/>
            <a:rect l="l" t="t" r="r" b="b"/>
            <a:pathLst>
              <a:path w="38100" h="666750">
                <a:moveTo>
                  <a:pt x="38100" y="0"/>
                </a:moveTo>
                <a:lnTo>
                  <a:pt x="38100" y="0"/>
                </a:lnTo>
                <a:lnTo>
                  <a:pt x="38100" y="666750"/>
                </a:lnTo>
                <a:lnTo>
                  <a:pt x="38100" y="666750"/>
                </a:lnTo>
                <a:cubicBezTo>
                  <a:pt x="17072" y="666750"/>
                  <a:pt x="0" y="649678"/>
                  <a:pt x="0" y="628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4"/>
          <p:cNvSpPr/>
          <p:nvPr/>
        </p:nvSpPr>
        <p:spPr>
          <a:xfrm>
            <a:off x="6543675" y="4895850"/>
            <a:ext cx="50196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注：</a:t>
            </a:r>
            <a:r>
              <a:rPr lang="en-US" sz="105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在LLM推理场景中，由于Token ID是定长整数且比较极快，时间复杂度与序列长度m呈线性关系是工程上准确的简化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MAPPING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Token 序列到 KV Cache 的映射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071563"/>
            <a:ext cx="5629275" cy="3495675"/>
          </a:xfrm>
          <a:custGeom>
            <a:avLst/>
            <a:gdLst/>
            <a:ahLst/>
            <a:cxnLst/>
            <a:rect l="l" t="t" r="r" b="b"/>
            <a:pathLst>
              <a:path w="5629275" h="3495675">
                <a:moveTo>
                  <a:pt x="76206" y="0"/>
                </a:moveTo>
                <a:lnTo>
                  <a:pt x="5553069" y="0"/>
                </a:lnTo>
                <a:cubicBezTo>
                  <a:pt x="5595128" y="0"/>
                  <a:pt x="5629275" y="34147"/>
                  <a:pt x="5629275" y="76206"/>
                </a:cubicBezTo>
                <a:lnTo>
                  <a:pt x="5629275" y="3419469"/>
                </a:lnTo>
                <a:cubicBezTo>
                  <a:pt x="5629275" y="3461557"/>
                  <a:pt x="5595157" y="3495675"/>
                  <a:pt x="5553069" y="3495675"/>
                </a:cubicBezTo>
                <a:lnTo>
                  <a:pt x="76206" y="3495675"/>
                </a:lnTo>
                <a:cubicBezTo>
                  <a:pt x="34118" y="3495675"/>
                  <a:pt x="0" y="3461557"/>
                  <a:pt x="0" y="341946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7922" y="12382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95338" y="1190625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RadixNode 节点结构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4825" y="1533525"/>
            <a:ext cx="5391150" cy="2914650"/>
          </a:xfrm>
          <a:custGeom>
            <a:avLst/>
            <a:gdLst/>
            <a:ahLst/>
            <a:cxnLst/>
            <a:rect l="l" t="t" r="r" b="b"/>
            <a:pathLst>
              <a:path w="5391150" h="2914650">
                <a:moveTo>
                  <a:pt x="38094" y="0"/>
                </a:moveTo>
                <a:lnTo>
                  <a:pt x="5353056" y="0"/>
                </a:lnTo>
                <a:cubicBezTo>
                  <a:pt x="5374095" y="0"/>
                  <a:pt x="5391150" y="17055"/>
                  <a:pt x="5391150" y="38094"/>
                </a:cubicBezTo>
                <a:lnTo>
                  <a:pt x="5391150" y="2876556"/>
                </a:lnTo>
                <a:cubicBezTo>
                  <a:pt x="5391150" y="2897595"/>
                  <a:pt x="5374095" y="2914650"/>
                  <a:pt x="5353056" y="2914650"/>
                </a:cubicBezTo>
                <a:lnTo>
                  <a:pt x="38094" y="2914650"/>
                </a:lnTo>
                <a:cubicBezTo>
                  <a:pt x="17055" y="2914650"/>
                  <a:pt x="0" y="2897595"/>
                  <a:pt x="0" y="2876556"/>
                </a:cubicBezTo>
                <a:lnTo>
                  <a:pt x="0" y="38094"/>
                </a:lnTo>
                <a:cubicBezTo>
                  <a:pt x="0" y="17055"/>
                  <a:pt x="17055" y="0"/>
                  <a:pt x="3809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81025" y="1609725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 RadixNode: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7225" y="1876425"/>
            <a:ext cx="52292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tokens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List[int] </a:t>
            </a: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序列片段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7225" y="2059781"/>
            <a:ext cx="52292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kv_cache_blocks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List[Block] </a:t>
            </a: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KV块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7225" y="2243138"/>
            <a:ext cx="52292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children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Dict[int, Node] </a:t>
            </a: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子节点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225" y="2426494"/>
            <a:ext cx="52292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ref_count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int </a:t>
            </a: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引用计数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7225" y="2609850"/>
            <a:ext cx="52292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last_access_time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float </a:t>
            </a: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访问时间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4691063"/>
            <a:ext cx="5629275" cy="1323975"/>
          </a:xfrm>
          <a:custGeom>
            <a:avLst/>
            <a:gdLst/>
            <a:ahLst/>
            <a:cxnLst/>
            <a:rect l="l" t="t" r="r" b="b"/>
            <a:pathLst>
              <a:path w="5629275" h="1323975">
                <a:moveTo>
                  <a:pt x="76195" y="0"/>
                </a:moveTo>
                <a:lnTo>
                  <a:pt x="5553080" y="0"/>
                </a:lnTo>
                <a:cubicBezTo>
                  <a:pt x="5595161" y="0"/>
                  <a:pt x="5629275" y="34114"/>
                  <a:pt x="5629275" y="76195"/>
                </a:cubicBezTo>
                <a:lnTo>
                  <a:pt x="5629275" y="1247780"/>
                </a:lnTo>
                <a:cubicBezTo>
                  <a:pt x="5629275" y="1289861"/>
                  <a:pt x="5595161" y="1323975"/>
                  <a:pt x="5553080" y="1323975"/>
                </a:cubicBezTo>
                <a:lnTo>
                  <a:pt x="76195" y="1323975"/>
                </a:lnTo>
                <a:cubicBezTo>
                  <a:pt x="34114" y="1323975"/>
                  <a:pt x="0" y="1289861"/>
                  <a:pt x="0" y="124778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28638" y="48577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95338" y="4810125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树的构建过程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4825" y="5172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76250" y="5172075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1525" y="5153025"/>
            <a:ext cx="387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从根节点开始匹配：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逐token比较，沿匹配路径向下遍历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4825" y="5438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76250" y="5438775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1525" y="5419725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处理分歧点：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节点内不匹配则分裂，保留公共部分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4825" y="5705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76250" y="5705475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1525" y="5686425"/>
            <a:ext cx="3019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创建新路径：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对不匹配后缀，创建新节点链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1725" y="1076325"/>
            <a:ext cx="5619750" cy="4933950"/>
          </a:xfrm>
          <a:custGeom>
            <a:avLst/>
            <a:gdLst/>
            <a:ahLst/>
            <a:cxnLst/>
            <a:rect l="l" t="t" r="r" b="b"/>
            <a:pathLst>
              <a:path w="5619750" h="4933950">
                <a:moveTo>
                  <a:pt x="76180" y="0"/>
                </a:moveTo>
                <a:lnTo>
                  <a:pt x="5543570" y="0"/>
                </a:lnTo>
                <a:cubicBezTo>
                  <a:pt x="5585643" y="0"/>
                  <a:pt x="5619750" y="34107"/>
                  <a:pt x="5619750" y="76180"/>
                </a:cubicBezTo>
                <a:lnTo>
                  <a:pt x="5619750" y="4857770"/>
                </a:lnTo>
                <a:cubicBezTo>
                  <a:pt x="5619750" y="4899843"/>
                  <a:pt x="5585643" y="4933950"/>
                  <a:pt x="5543570" y="4933950"/>
                </a:cubicBezTo>
                <a:lnTo>
                  <a:pt x="76180" y="4933950"/>
                </a:lnTo>
                <a:cubicBezTo>
                  <a:pt x="34107" y="4933950"/>
                  <a:pt x="0" y="4899843"/>
                  <a:pt x="0" y="4857770"/>
                </a:cubicBezTo>
                <a:lnTo>
                  <a:pt x="0" y="76180"/>
                </a:lnTo>
                <a:cubicBezTo>
                  <a:pt x="0" y="34135"/>
                  <a:pt x="34135" y="0"/>
                  <a:pt x="7618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340078" y="12477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-10716"/>
                </a:moveTo>
                <a:cubicBezTo>
                  <a:pt x="77353" y="-10716"/>
                  <a:pt x="79597" y="-9678"/>
                  <a:pt x="81137" y="-7869"/>
                </a:cubicBezTo>
                <a:lnTo>
                  <a:pt x="126679" y="45709"/>
                </a:lnTo>
                <a:cubicBezTo>
                  <a:pt x="128721" y="48086"/>
                  <a:pt x="129157" y="51435"/>
                  <a:pt x="127851" y="54281"/>
                </a:cubicBezTo>
                <a:cubicBezTo>
                  <a:pt x="126545" y="57128"/>
                  <a:pt x="123698" y="58936"/>
                  <a:pt x="120551" y="58936"/>
                </a:cubicBezTo>
                <a:lnTo>
                  <a:pt x="112213" y="58936"/>
                </a:lnTo>
                <a:lnTo>
                  <a:pt x="137394" y="88571"/>
                </a:lnTo>
                <a:cubicBezTo>
                  <a:pt x="139437" y="90949"/>
                  <a:pt x="139872" y="94298"/>
                  <a:pt x="138566" y="97144"/>
                </a:cubicBezTo>
                <a:cubicBezTo>
                  <a:pt x="137260" y="99990"/>
                  <a:pt x="134414" y="101798"/>
                  <a:pt x="131266" y="101798"/>
                </a:cubicBezTo>
                <a:lnTo>
                  <a:pt x="118374" y="101798"/>
                </a:lnTo>
                <a:lnTo>
                  <a:pt x="148110" y="136792"/>
                </a:lnTo>
                <a:cubicBezTo>
                  <a:pt x="150153" y="139169"/>
                  <a:pt x="150588" y="142518"/>
                  <a:pt x="149282" y="145364"/>
                </a:cubicBezTo>
                <a:cubicBezTo>
                  <a:pt x="147976" y="148210"/>
                  <a:pt x="145130" y="150019"/>
                  <a:pt x="141982" y="150019"/>
                </a:cubicBezTo>
                <a:lnTo>
                  <a:pt x="85725" y="150019"/>
                </a:lnTo>
                <a:lnTo>
                  <a:pt x="85725" y="171450"/>
                </a:lnTo>
                <a:cubicBezTo>
                  <a:pt x="85725" y="177377"/>
                  <a:pt x="80936" y="182166"/>
                  <a:pt x="75009" y="182166"/>
                </a:cubicBezTo>
                <a:cubicBezTo>
                  <a:pt x="69082" y="182166"/>
                  <a:pt x="64294" y="177377"/>
                  <a:pt x="64294" y="171450"/>
                </a:cubicBezTo>
                <a:lnTo>
                  <a:pt x="64294" y="150019"/>
                </a:lnTo>
                <a:lnTo>
                  <a:pt x="8037" y="150019"/>
                </a:lnTo>
                <a:cubicBezTo>
                  <a:pt x="4889" y="150019"/>
                  <a:pt x="2043" y="148210"/>
                  <a:pt x="737" y="145364"/>
                </a:cubicBezTo>
                <a:cubicBezTo>
                  <a:pt x="-569" y="142518"/>
                  <a:pt x="-134" y="139169"/>
                  <a:pt x="1909" y="136792"/>
                </a:cubicBezTo>
                <a:lnTo>
                  <a:pt x="31645" y="101798"/>
                </a:lnTo>
                <a:lnTo>
                  <a:pt x="18752" y="101798"/>
                </a:lnTo>
                <a:cubicBezTo>
                  <a:pt x="15605" y="101798"/>
                  <a:pt x="12758" y="99990"/>
                  <a:pt x="11452" y="97144"/>
                </a:cubicBezTo>
                <a:cubicBezTo>
                  <a:pt x="10146" y="94298"/>
                  <a:pt x="10582" y="90949"/>
                  <a:pt x="12624" y="88571"/>
                </a:cubicBezTo>
                <a:lnTo>
                  <a:pt x="37806" y="58936"/>
                </a:lnTo>
                <a:lnTo>
                  <a:pt x="29468" y="58936"/>
                </a:lnTo>
                <a:cubicBezTo>
                  <a:pt x="26320" y="58936"/>
                  <a:pt x="23474" y="57128"/>
                  <a:pt x="22168" y="54281"/>
                </a:cubicBezTo>
                <a:cubicBezTo>
                  <a:pt x="20862" y="51435"/>
                  <a:pt x="21297" y="48086"/>
                  <a:pt x="23340" y="45709"/>
                </a:cubicBezTo>
                <a:lnTo>
                  <a:pt x="68881" y="-7869"/>
                </a:lnTo>
                <a:cubicBezTo>
                  <a:pt x="70422" y="-9678"/>
                  <a:pt x="72665" y="-10716"/>
                  <a:pt x="75009" y="-10716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596063" y="12001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插入示例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05550" y="1543050"/>
            <a:ext cx="5372100" cy="1924050"/>
          </a:xfrm>
          <a:custGeom>
            <a:avLst/>
            <a:gdLst/>
            <a:ahLst/>
            <a:cxnLst/>
            <a:rect l="l" t="t" r="r" b="b"/>
            <a:pathLst>
              <a:path w="5372100" h="1924050">
                <a:moveTo>
                  <a:pt x="38096" y="0"/>
                </a:moveTo>
                <a:lnTo>
                  <a:pt x="5334004" y="0"/>
                </a:lnTo>
                <a:cubicBezTo>
                  <a:pt x="5355044" y="0"/>
                  <a:pt x="5372100" y="17056"/>
                  <a:pt x="5372100" y="38096"/>
                </a:cubicBezTo>
                <a:lnTo>
                  <a:pt x="5372100" y="1885954"/>
                </a:lnTo>
                <a:cubicBezTo>
                  <a:pt x="5372100" y="1906994"/>
                  <a:pt x="5355044" y="1924050"/>
                  <a:pt x="5334004" y="1924050"/>
                </a:cubicBezTo>
                <a:lnTo>
                  <a:pt x="38096" y="1924050"/>
                </a:lnTo>
                <a:cubicBezTo>
                  <a:pt x="17056" y="1924050"/>
                  <a:pt x="0" y="1906994"/>
                  <a:pt x="0" y="188595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381750" y="2105025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初始状态：已有 "hello world"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81750" y="2333625"/>
            <a:ext cx="529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root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34150" y="2524125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34150" y="2714625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"hello world"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05550" y="3543300"/>
            <a:ext cx="5372100" cy="1924050"/>
          </a:xfrm>
          <a:custGeom>
            <a:avLst/>
            <a:gdLst/>
            <a:ahLst/>
            <a:cxnLst/>
            <a:rect l="l" t="t" r="r" b="b"/>
            <a:pathLst>
              <a:path w="5372100" h="1924050">
                <a:moveTo>
                  <a:pt x="38096" y="0"/>
                </a:moveTo>
                <a:lnTo>
                  <a:pt x="5334004" y="0"/>
                </a:lnTo>
                <a:cubicBezTo>
                  <a:pt x="5355044" y="0"/>
                  <a:pt x="5372100" y="17056"/>
                  <a:pt x="5372100" y="38096"/>
                </a:cubicBezTo>
                <a:lnTo>
                  <a:pt x="5372100" y="1885954"/>
                </a:lnTo>
                <a:cubicBezTo>
                  <a:pt x="5372100" y="1906994"/>
                  <a:pt x="5355044" y="1924050"/>
                  <a:pt x="5334004" y="1924050"/>
                </a:cubicBezTo>
                <a:lnTo>
                  <a:pt x="38096" y="1924050"/>
                </a:lnTo>
                <a:cubicBezTo>
                  <a:pt x="17056" y="1924050"/>
                  <a:pt x="0" y="1906994"/>
                  <a:pt x="0" y="188595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381750" y="3914775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插入 "hello vllm" 后：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81750" y="4143375"/>
            <a:ext cx="529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root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34150" y="4333875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34150" y="4524375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"hello "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34150" y="4714875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\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57950" y="4905375"/>
            <a:ext cx="521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"world" "vllm"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24600" y="5543550"/>
            <a:ext cx="5353050" cy="342900"/>
          </a:xfrm>
          <a:custGeom>
            <a:avLst/>
            <a:gdLst/>
            <a:ahLst/>
            <a:cxnLst/>
            <a:rect l="l" t="t" r="r" b="b"/>
            <a:pathLst>
              <a:path w="5353050" h="342900">
                <a:moveTo>
                  <a:pt x="38100" y="0"/>
                </a:moveTo>
                <a:lnTo>
                  <a:pt x="5314950" y="0"/>
                </a:lnTo>
                <a:cubicBezTo>
                  <a:pt x="5335992" y="0"/>
                  <a:pt x="5353050" y="17058"/>
                  <a:pt x="5353050" y="38100"/>
                </a:cubicBezTo>
                <a:lnTo>
                  <a:pt x="5353050" y="304800"/>
                </a:lnTo>
                <a:cubicBezTo>
                  <a:pt x="5353050" y="325842"/>
                  <a:pt x="5335992" y="342900"/>
                  <a:pt x="53149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324600" y="5543550"/>
            <a:ext cx="38100" cy="342900"/>
          </a:xfrm>
          <a:custGeom>
            <a:avLst/>
            <a:gdLst/>
            <a:ahLst/>
            <a:cxnLst/>
            <a:rect l="l" t="t" r="r" b="b"/>
            <a:pathLst>
              <a:path w="38100" h="342900">
                <a:moveTo>
                  <a:pt x="38100" y="0"/>
                </a:moveTo>
                <a:lnTo>
                  <a:pt x="38100" y="0"/>
                </a:lnTo>
                <a:lnTo>
                  <a:pt x="38100" y="342900"/>
                </a:lnTo>
                <a:lnTo>
                  <a:pt x="38100" y="342900"/>
                </a:lnTo>
                <a:cubicBezTo>
                  <a:pt x="17072" y="342900"/>
                  <a:pt x="0" y="325828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419850" y="5619750"/>
            <a:ext cx="3181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关键：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公共前缀 "hello " 被复用，仅新增分支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5763" y="6100763"/>
            <a:ext cx="11420475" cy="371475"/>
          </a:xfrm>
          <a:custGeom>
            <a:avLst/>
            <a:gdLst/>
            <a:ahLst/>
            <a:cxnLst/>
            <a:rect l="l" t="t" r="r" b="b"/>
            <a:pathLst>
              <a:path w="11420475" h="371475">
                <a:moveTo>
                  <a:pt x="76201" y="0"/>
                </a:moveTo>
                <a:lnTo>
                  <a:pt x="11344274" y="0"/>
                </a:lnTo>
                <a:cubicBezTo>
                  <a:pt x="11386359" y="0"/>
                  <a:pt x="11420475" y="34116"/>
                  <a:pt x="11420475" y="76201"/>
                </a:cubicBezTo>
                <a:lnTo>
                  <a:pt x="11420475" y="295274"/>
                </a:lnTo>
                <a:cubicBezTo>
                  <a:pt x="11420475" y="337359"/>
                  <a:pt x="11386359" y="371475"/>
                  <a:pt x="11344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490538" y="6200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795338" y="6181725"/>
            <a:ext cx="62960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设计要点：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每个节点关联KV Cache Block列表，通过引用计数和访问时间管理实现LRU淘汰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PREFIX SHARING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前缀共享机制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81100"/>
            <a:ext cx="6448425" cy="1066800"/>
          </a:xfrm>
          <a:custGeom>
            <a:avLst/>
            <a:gdLst/>
            <a:ahLst/>
            <a:cxnLst/>
            <a:rect l="l" t="t" r="r" b="b"/>
            <a:pathLst>
              <a:path w="6448425" h="1066800">
                <a:moveTo>
                  <a:pt x="38100" y="0"/>
                </a:moveTo>
                <a:lnTo>
                  <a:pt x="6372223" y="0"/>
                </a:lnTo>
                <a:cubicBezTo>
                  <a:pt x="6414308" y="0"/>
                  <a:pt x="6448425" y="34117"/>
                  <a:pt x="6448425" y="76202"/>
                </a:cubicBezTo>
                <a:lnTo>
                  <a:pt x="6448425" y="990598"/>
                </a:lnTo>
                <a:cubicBezTo>
                  <a:pt x="6448425" y="1032683"/>
                  <a:pt x="6414308" y="1066800"/>
                  <a:pt x="637222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1811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95313" y="1371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2875" y="71438"/>
                </a:moveTo>
                <a:cubicBezTo>
                  <a:pt x="162595" y="71438"/>
                  <a:pt x="178594" y="55438"/>
                  <a:pt x="178594" y="35719"/>
                </a:cubicBezTo>
                <a:cubicBezTo>
                  <a:pt x="178594" y="15999"/>
                  <a:pt x="162595" y="0"/>
                  <a:pt x="142875" y="0"/>
                </a:cubicBezTo>
                <a:cubicBezTo>
                  <a:pt x="123155" y="0"/>
                  <a:pt x="107156" y="15999"/>
                  <a:pt x="107156" y="35719"/>
                </a:cubicBezTo>
                <a:cubicBezTo>
                  <a:pt x="107156" y="37728"/>
                  <a:pt x="107342" y="39737"/>
                  <a:pt x="107640" y="41672"/>
                </a:cubicBezTo>
                <a:lnTo>
                  <a:pt x="59382" y="68498"/>
                </a:lnTo>
                <a:cubicBezTo>
                  <a:pt x="53094" y="62917"/>
                  <a:pt x="44797" y="59531"/>
                  <a:pt x="35719" y="59531"/>
                </a:cubicBezTo>
                <a:cubicBezTo>
                  <a:pt x="15999" y="59531"/>
                  <a:pt x="0" y="75530"/>
                  <a:pt x="0" y="95250"/>
                </a:cubicBezTo>
                <a:cubicBezTo>
                  <a:pt x="0" y="114970"/>
                  <a:pt x="15999" y="130969"/>
                  <a:pt x="35719" y="130969"/>
                </a:cubicBezTo>
                <a:cubicBezTo>
                  <a:pt x="44797" y="130969"/>
                  <a:pt x="53057" y="127583"/>
                  <a:pt x="59382" y="122002"/>
                </a:cubicBezTo>
                <a:lnTo>
                  <a:pt x="107640" y="148828"/>
                </a:lnTo>
                <a:cubicBezTo>
                  <a:pt x="107305" y="150763"/>
                  <a:pt x="107156" y="152735"/>
                  <a:pt x="107156" y="154781"/>
                </a:cubicBezTo>
                <a:cubicBezTo>
                  <a:pt x="107156" y="174501"/>
                  <a:pt x="123155" y="190500"/>
                  <a:pt x="142875" y="190500"/>
                </a:cubicBezTo>
                <a:cubicBezTo>
                  <a:pt x="162595" y="190500"/>
                  <a:pt x="178594" y="174501"/>
                  <a:pt x="178594" y="154781"/>
                </a:cubicBezTo>
                <a:cubicBezTo>
                  <a:pt x="178594" y="135062"/>
                  <a:pt x="162595" y="119063"/>
                  <a:pt x="142875" y="119063"/>
                </a:cubicBezTo>
                <a:cubicBezTo>
                  <a:pt x="133796" y="119063"/>
                  <a:pt x="125537" y="122448"/>
                  <a:pt x="119211" y="128029"/>
                </a:cubicBezTo>
                <a:lnTo>
                  <a:pt x="70954" y="101203"/>
                </a:lnTo>
                <a:cubicBezTo>
                  <a:pt x="71289" y="99268"/>
                  <a:pt x="71438" y="97296"/>
                  <a:pt x="71438" y="95250"/>
                </a:cubicBezTo>
                <a:cubicBezTo>
                  <a:pt x="71438" y="93204"/>
                  <a:pt x="71251" y="91232"/>
                  <a:pt x="70954" y="89297"/>
                </a:cubicBezTo>
                <a:lnTo>
                  <a:pt x="119211" y="62471"/>
                </a:lnTo>
                <a:cubicBezTo>
                  <a:pt x="125499" y="68052"/>
                  <a:pt x="133796" y="71438"/>
                  <a:pt x="142875" y="71438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09625" y="1333500"/>
            <a:ext cx="598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天然的前缀共享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1676400"/>
            <a:ext cx="62007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Radix Tree 的结构天然支持前缀共享： </a:t>
            </a: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所有具有相同前缀的序列都会经过相同的节点路径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。这意味着相同前缀的 KV Cache 只存储一份，新序列插入时自动识别并复用已有前缀。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2405063"/>
            <a:ext cx="6457950" cy="4067175"/>
          </a:xfrm>
          <a:custGeom>
            <a:avLst/>
            <a:gdLst/>
            <a:ahLst/>
            <a:cxnLst/>
            <a:rect l="l" t="t" r="r" b="b"/>
            <a:pathLst>
              <a:path w="6457950" h="4067175">
                <a:moveTo>
                  <a:pt x="76219" y="0"/>
                </a:moveTo>
                <a:lnTo>
                  <a:pt x="6381731" y="0"/>
                </a:lnTo>
                <a:cubicBezTo>
                  <a:pt x="6423826" y="0"/>
                  <a:pt x="6457950" y="34124"/>
                  <a:pt x="6457950" y="76219"/>
                </a:cubicBezTo>
                <a:lnTo>
                  <a:pt x="6457950" y="3990956"/>
                </a:lnTo>
                <a:cubicBezTo>
                  <a:pt x="6457950" y="4033051"/>
                  <a:pt x="6423826" y="4067175"/>
                  <a:pt x="6381731" y="4067175"/>
                </a:cubicBezTo>
                <a:lnTo>
                  <a:pt x="76219" y="4067175"/>
                </a:lnTo>
                <a:cubicBezTo>
                  <a:pt x="34124" y="4067175"/>
                  <a:pt x="0" y="4033051"/>
                  <a:pt x="0" y="3990956"/>
                </a:cubicBezTo>
                <a:lnTo>
                  <a:pt x="0" y="76219"/>
                </a:lnTo>
                <a:cubicBezTo>
                  <a:pt x="0" y="34153"/>
                  <a:pt x="34153" y="0"/>
                  <a:pt x="7621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66738" y="2600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57250" y="25622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请求示例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2905125"/>
            <a:ext cx="6143625" cy="1257300"/>
          </a:xfrm>
          <a:custGeom>
            <a:avLst/>
            <a:gdLst/>
            <a:ahLst/>
            <a:cxnLst/>
            <a:rect l="l" t="t" r="r" b="b"/>
            <a:pathLst>
              <a:path w="6143625" h="1257300">
                <a:moveTo>
                  <a:pt x="38096" y="0"/>
                </a:moveTo>
                <a:lnTo>
                  <a:pt x="6105529" y="0"/>
                </a:lnTo>
                <a:cubicBezTo>
                  <a:pt x="6126569" y="0"/>
                  <a:pt x="6143625" y="17056"/>
                  <a:pt x="6143625" y="38096"/>
                </a:cubicBezTo>
                <a:lnTo>
                  <a:pt x="6143625" y="1219204"/>
                </a:lnTo>
                <a:cubicBezTo>
                  <a:pt x="6143625" y="1240244"/>
                  <a:pt x="6126569" y="1257300"/>
                  <a:pt x="6105529" y="1257300"/>
                </a:cubicBezTo>
                <a:lnTo>
                  <a:pt x="38096" y="1257300"/>
                </a:lnTo>
                <a:cubicBezTo>
                  <a:pt x="17056" y="1257300"/>
                  <a:pt x="0" y="1240244"/>
                  <a:pt x="0" y="12192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57225" y="3019425"/>
            <a:ext cx="599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请求A: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[System] + [QueryA] → 缓存 System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225" y="3286125"/>
            <a:ext cx="599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请求B: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[System] + [QueryB] → </a:t>
            </a: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自动复用 System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7225" y="3552825"/>
            <a:ext cx="599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请求C: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[System] + [QueryA] + [Response] + [QueryC]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90625" y="3819525"/>
            <a:ext cx="545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</a:t>
            </a: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复用全部 KV Cache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7688" y="5576888"/>
            <a:ext cx="1962150" cy="733425"/>
          </a:xfrm>
          <a:custGeom>
            <a:avLst/>
            <a:gdLst/>
            <a:ahLst/>
            <a:cxnLst/>
            <a:rect l="l" t="t" r="r" b="b"/>
            <a:pathLst>
              <a:path w="1962150" h="733425">
                <a:moveTo>
                  <a:pt x="38101" y="0"/>
                </a:moveTo>
                <a:lnTo>
                  <a:pt x="1924049" y="0"/>
                </a:lnTo>
                <a:cubicBezTo>
                  <a:pt x="1945077" y="0"/>
                  <a:pt x="1962150" y="17073"/>
                  <a:pt x="1962150" y="38101"/>
                </a:cubicBezTo>
                <a:lnTo>
                  <a:pt x="1962150" y="695324"/>
                </a:lnTo>
                <a:cubicBezTo>
                  <a:pt x="1962150" y="716352"/>
                  <a:pt x="1945077" y="733425"/>
                  <a:pt x="1924049" y="733425"/>
                </a:cubicBezTo>
                <a:lnTo>
                  <a:pt x="38101" y="733425"/>
                </a:lnTo>
                <a:cubicBezTo>
                  <a:pt x="17073" y="733425"/>
                  <a:pt x="0" y="716352"/>
                  <a:pt x="0" y="69532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445716" y="56769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90550" y="5886450"/>
            <a:ext cx="1876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自动识别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0550" y="6076950"/>
            <a:ext cx="1876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无需显式声明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634258" y="5576888"/>
            <a:ext cx="1962150" cy="733425"/>
          </a:xfrm>
          <a:custGeom>
            <a:avLst/>
            <a:gdLst/>
            <a:ahLst/>
            <a:cxnLst/>
            <a:rect l="l" t="t" r="r" b="b"/>
            <a:pathLst>
              <a:path w="1962150" h="733425">
                <a:moveTo>
                  <a:pt x="38101" y="0"/>
                </a:moveTo>
                <a:lnTo>
                  <a:pt x="1924049" y="0"/>
                </a:lnTo>
                <a:cubicBezTo>
                  <a:pt x="1945077" y="0"/>
                  <a:pt x="1962150" y="17073"/>
                  <a:pt x="1962150" y="38101"/>
                </a:cubicBezTo>
                <a:lnTo>
                  <a:pt x="1962150" y="695324"/>
                </a:lnTo>
                <a:cubicBezTo>
                  <a:pt x="1962150" y="716352"/>
                  <a:pt x="1945077" y="733425"/>
                  <a:pt x="1924049" y="733425"/>
                </a:cubicBezTo>
                <a:lnTo>
                  <a:pt x="38101" y="733425"/>
                </a:lnTo>
                <a:cubicBezTo>
                  <a:pt x="17073" y="733425"/>
                  <a:pt x="0" y="716352"/>
                  <a:pt x="0" y="69532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532287" y="56769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2677120" y="5886450"/>
            <a:ext cx="1876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单份存储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77120" y="6076950"/>
            <a:ext cx="1876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节省显存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20903" y="5576888"/>
            <a:ext cx="1962150" cy="733425"/>
          </a:xfrm>
          <a:custGeom>
            <a:avLst/>
            <a:gdLst/>
            <a:ahLst/>
            <a:cxnLst/>
            <a:rect l="l" t="t" r="r" b="b"/>
            <a:pathLst>
              <a:path w="1962150" h="733425">
                <a:moveTo>
                  <a:pt x="38101" y="0"/>
                </a:moveTo>
                <a:lnTo>
                  <a:pt x="1924049" y="0"/>
                </a:lnTo>
                <a:cubicBezTo>
                  <a:pt x="1945077" y="0"/>
                  <a:pt x="1962150" y="17073"/>
                  <a:pt x="1962150" y="38101"/>
                </a:cubicBezTo>
                <a:lnTo>
                  <a:pt x="1962150" y="695324"/>
                </a:lnTo>
                <a:cubicBezTo>
                  <a:pt x="1962150" y="716352"/>
                  <a:pt x="1945077" y="733425"/>
                  <a:pt x="1924049" y="733425"/>
                </a:cubicBezTo>
                <a:lnTo>
                  <a:pt x="38101" y="733425"/>
                </a:lnTo>
                <a:cubicBezTo>
                  <a:pt x="17073" y="733425"/>
                  <a:pt x="0" y="716352"/>
                  <a:pt x="0" y="69532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629647" y="56769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763765" y="5886450"/>
            <a:ext cx="1876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即时复用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63765" y="6076950"/>
            <a:ext cx="1876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新请求立即可用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88535" y="1190625"/>
            <a:ext cx="4714875" cy="5276850"/>
          </a:xfrm>
          <a:custGeom>
            <a:avLst/>
            <a:gdLst/>
            <a:ahLst/>
            <a:cxnLst/>
            <a:rect l="l" t="t" r="r" b="b"/>
            <a:pathLst>
              <a:path w="4714875" h="5276850">
                <a:moveTo>
                  <a:pt x="76192" y="0"/>
                </a:moveTo>
                <a:lnTo>
                  <a:pt x="4638683" y="0"/>
                </a:lnTo>
                <a:cubicBezTo>
                  <a:pt x="4680763" y="0"/>
                  <a:pt x="4714875" y="34112"/>
                  <a:pt x="4714875" y="76192"/>
                </a:cubicBezTo>
                <a:lnTo>
                  <a:pt x="4714875" y="5200658"/>
                </a:lnTo>
                <a:cubicBezTo>
                  <a:pt x="4714875" y="5242738"/>
                  <a:pt x="4680763" y="5276850"/>
                  <a:pt x="4638683" y="5276850"/>
                </a:cubicBezTo>
                <a:lnTo>
                  <a:pt x="76192" y="5276850"/>
                </a:lnTo>
                <a:cubicBezTo>
                  <a:pt x="34112" y="5276850"/>
                  <a:pt x="0" y="5242738"/>
                  <a:pt x="0" y="520065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7312372" y="1428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526685" y="1390650"/>
            <a:ext cx="4171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树结构可视化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88560" y="1771650"/>
            <a:ext cx="4314825" cy="3695700"/>
          </a:xfrm>
          <a:custGeom>
            <a:avLst/>
            <a:gdLst/>
            <a:ahLst/>
            <a:cxnLst/>
            <a:rect l="l" t="t" r="r" b="b"/>
            <a:pathLst>
              <a:path w="4314825" h="3695700">
                <a:moveTo>
                  <a:pt x="38103" y="0"/>
                </a:moveTo>
                <a:lnTo>
                  <a:pt x="4276722" y="0"/>
                </a:lnTo>
                <a:cubicBezTo>
                  <a:pt x="4297766" y="0"/>
                  <a:pt x="4314825" y="17059"/>
                  <a:pt x="4314825" y="38103"/>
                </a:cubicBezTo>
                <a:lnTo>
                  <a:pt x="4314825" y="3657597"/>
                </a:lnTo>
                <a:cubicBezTo>
                  <a:pt x="4314825" y="3678641"/>
                  <a:pt x="4297766" y="3695700"/>
                  <a:pt x="4276722" y="3695700"/>
                </a:cubicBezTo>
                <a:lnTo>
                  <a:pt x="38103" y="3695700"/>
                </a:lnTo>
                <a:cubicBezTo>
                  <a:pt x="17059" y="3695700"/>
                  <a:pt x="0" y="3678641"/>
                  <a:pt x="0" y="36575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9238506" y="2917031"/>
            <a:ext cx="409575" cy="9525"/>
          </a:xfrm>
          <a:custGeom>
            <a:avLst/>
            <a:gdLst/>
            <a:ahLst/>
            <a:cxnLst/>
            <a:rect l="l" t="t" r="r" b="b"/>
            <a:pathLst>
              <a:path w="409575" h="9525">
                <a:moveTo>
                  <a:pt x="0" y="0"/>
                </a:moveTo>
                <a:lnTo>
                  <a:pt x="409575" y="0"/>
                </a:lnTo>
                <a:lnTo>
                  <a:pt x="4095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D4A2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238506" y="2607469"/>
            <a:ext cx="495300" cy="304800"/>
          </a:xfrm>
          <a:prstGeom prst="rect">
            <a:avLst/>
          </a:prstGeom>
          <a:noFill/>
          <a:ln/>
        </p:spPr>
        <p:txBody>
          <a:bodyPr wrap="square" lIns="0" tIns="0" rIns="0" bIns="3810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root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435480" y="2959894"/>
            <a:ext cx="19050" cy="152400"/>
          </a:xfrm>
          <a:custGeom>
            <a:avLst/>
            <a:gdLst/>
            <a:ahLst/>
            <a:cxnLst/>
            <a:rect l="l" t="t" r="r" b="b"/>
            <a:pathLst>
              <a:path w="19050" h="152400">
                <a:moveTo>
                  <a:pt x="0" y="0"/>
                </a:moveTo>
                <a:lnTo>
                  <a:pt x="19050" y="0"/>
                </a:lnTo>
                <a:lnTo>
                  <a:pt x="1905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756824" y="3150394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"System Prompt"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435480" y="3417094"/>
            <a:ext cx="19050" cy="152400"/>
          </a:xfrm>
          <a:custGeom>
            <a:avLst/>
            <a:gdLst/>
            <a:ahLst/>
            <a:cxnLst/>
            <a:rect l="l" t="t" r="r" b="b"/>
            <a:pathLst>
              <a:path w="19050" h="152400">
                <a:moveTo>
                  <a:pt x="0" y="0"/>
                </a:moveTo>
                <a:lnTo>
                  <a:pt x="19050" y="0"/>
                </a:lnTo>
                <a:lnTo>
                  <a:pt x="1905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870156" y="3607594"/>
            <a:ext cx="19050" cy="152400"/>
          </a:xfrm>
          <a:custGeom>
            <a:avLst/>
            <a:gdLst/>
            <a:ahLst/>
            <a:cxnLst/>
            <a:rect l="l" t="t" r="r" b="b"/>
            <a:pathLst>
              <a:path w="19050" h="152400">
                <a:moveTo>
                  <a:pt x="0" y="0"/>
                </a:moveTo>
                <a:lnTo>
                  <a:pt x="19050" y="0"/>
                </a:lnTo>
                <a:lnTo>
                  <a:pt x="1905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466832" y="3759994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"Query A"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000729" y="3607594"/>
            <a:ext cx="19050" cy="152400"/>
          </a:xfrm>
          <a:custGeom>
            <a:avLst/>
            <a:gdLst/>
            <a:ahLst/>
            <a:cxnLst/>
            <a:rect l="l" t="t" r="r" b="b"/>
            <a:pathLst>
              <a:path w="19050" h="152400">
                <a:moveTo>
                  <a:pt x="0" y="0"/>
                </a:moveTo>
                <a:lnTo>
                  <a:pt x="19050" y="0"/>
                </a:lnTo>
                <a:lnTo>
                  <a:pt x="1905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9597405" y="3759994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"Query B"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440960" y="4102894"/>
            <a:ext cx="4010025" cy="19050"/>
          </a:xfrm>
          <a:custGeom>
            <a:avLst/>
            <a:gdLst/>
            <a:ahLst/>
            <a:cxnLst/>
            <a:rect l="l" t="t" r="r" b="b"/>
            <a:pathLst>
              <a:path w="4010025" h="19050">
                <a:moveTo>
                  <a:pt x="0" y="0"/>
                </a:moveTo>
                <a:lnTo>
                  <a:pt x="4010025" y="0"/>
                </a:lnTo>
                <a:lnTo>
                  <a:pt x="401002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407622" y="4198144"/>
            <a:ext cx="4076700" cy="4381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请求A/B/C 共享 "System Prompt" 节点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9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请求C额外共享 "Query A" 分支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07610" y="5619750"/>
            <a:ext cx="4295775" cy="647700"/>
          </a:xfrm>
          <a:custGeom>
            <a:avLst/>
            <a:gdLst/>
            <a:ahLst/>
            <a:cxnLst/>
            <a:rect l="l" t="t" r="r" b="b"/>
            <a:pathLst>
              <a:path w="4295775" h="647700">
                <a:moveTo>
                  <a:pt x="38098" y="0"/>
                </a:moveTo>
                <a:lnTo>
                  <a:pt x="4257677" y="0"/>
                </a:lnTo>
                <a:cubicBezTo>
                  <a:pt x="4278704" y="0"/>
                  <a:pt x="4295775" y="17071"/>
                  <a:pt x="4295775" y="38098"/>
                </a:cubicBezTo>
                <a:lnTo>
                  <a:pt x="4295775" y="609602"/>
                </a:lnTo>
                <a:cubicBezTo>
                  <a:pt x="4295775" y="630643"/>
                  <a:pt x="4278718" y="647700"/>
                  <a:pt x="425767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307610" y="561975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7440960" y="5734050"/>
            <a:ext cx="41243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优势：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无需显式"注册"共享关系，系统通过树结构自动发现前缀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ALGORITHM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最长前缀匹配算法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109663"/>
            <a:ext cx="5753100" cy="5748337"/>
          </a:xfrm>
          <a:custGeom>
            <a:avLst/>
            <a:gdLst/>
            <a:ahLst/>
            <a:cxnLst/>
            <a:rect l="l" t="t" r="r" b="b"/>
            <a:pathLst>
              <a:path w="5753100" h="5362575">
                <a:moveTo>
                  <a:pt x="76202" y="0"/>
                </a:moveTo>
                <a:lnTo>
                  <a:pt x="5676898" y="0"/>
                </a:lnTo>
                <a:cubicBezTo>
                  <a:pt x="5718983" y="0"/>
                  <a:pt x="5753100" y="34117"/>
                  <a:pt x="5753100" y="76202"/>
                </a:cubicBezTo>
                <a:lnTo>
                  <a:pt x="5753100" y="5286373"/>
                </a:lnTo>
                <a:cubicBezTo>
                  <a:pt x="5753100" y="5328458"/>
                  <a:pt x="5718983" y="5362575"/>
                  <a:pt x="5676898" y="5362575"/>
                </a:cubicBezTo>
                <a:lnTo>
                  <a:pt x="76202" y="5362575"/>
                </a:lnTo>
                <a:cubicBezTo>
                  <a:pt x="34117" y="5362575"/>
                  <a:pt x="0" y="5328458"/>
                  <a:pt x="0" y="52863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7922" y="12763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95338" y="1228725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match_prefix 实现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4825" y="1571624"/>
            <a:ext cx="5514975" cy="5197045"/>
          </a:xfrm>
          <a:custGeom>
            <a:avLst/>
            <a:gdLst/>
            <a:ahLst/>
            <a:cxnLst/>
            <a:rect l="l" t="t" r="r" b="b"/>
            <a:pathLst>
              <a:path w="5514975" h="4781550">
                <a:moveTo>
                  <a:pt x="38109" y="0"/>
                </a:moveTo>
                <a:lnTo>
                  <a:pt x="5476866" y="0"/>
                </a:lnTo>
                <a:cubicBezTo>
                  <a:pt x="5497913" y="0"/>
                  <a:pt x="5514975" y="17062"/>
                  <a:pt x="5514975" y="38109"/>
                </a:cubicBezTo>
                <a:lnTo>
                  <a:pt x="5514975" y="4743441"/>
                </a:lnTo>
                <a:cubicBezTo>
                  <a:pt x="5514975" y="4764488"/>
                  <a:pt x="5497913" y="4781550"/>
                  <a:pt x="5476866" y="4781550"/>
                </a:cubicBezTo>
                <a:lnTo>
                  <a:pt x="38109" y="4781550"/>
                </a:lnTo>
                <a:cubicBezTo>
                  <a:pt x="17062" y="4781550"/>
                  <a:pt x="0" y="4764488"/>
                  <a:pt x="0" y="4743441"/>
                </a:cubicBezTo>
                <a:lnTo>
                  <a:pt x="0" y="38109"/>
                </a:lnTo>
                <a:cubicBezTo>
                  <a:pt x="0" y="17076"/>
                  <a:pt x="17076" y="0"/>
                  <a:pt x="3810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 sz="1100"/>
          </a:p>
        </p:txBody>
      </p:sp>
      <p:sp>
        <p:nvSpPr>
          <p:cNvPr id="8" name="Text 6"/>
          <p:cNvSpPr/>
          <p:nvPr/>
        </p:nvSpPr>
        <p:spPr>
          <a:xfrm>
            <a:off x="581025" y="1647825"/>
            <a:ext cx="54387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match_prefix(root, query_tokens):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7225" y="1857375"/>
            <a:ext cx="53625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= root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7225" y="2066925"/>
            <a:ext cx="53625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matched_len = 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7225" y="2276475"/>
            <a:ext cx="53625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matched_blocks = []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7225" y="2486025"/>
            <a:ext cx="53625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query_pos =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7225" y="2715945"/>
            <a:ext cx="53625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while</a:t>
            </a:r>
            <a:r>
              <a:rPr lang="en-US" sz="11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query_pos &lt; len(query_tokens):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3425" y="2925495"/>
            <a:ext cx="52863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查找匹配的子节点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3425" y="3135045"/>
            <a:ext cx="52863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first_token = query_tokens[query_pos]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3425" y="3344595"/>
            <a:ext cx="52863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r>
              <a:rPr lang="en-US" sz="11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first_token </a:t>
            </a:r>
            <a:r>
              <a:rPr lang="en-US" sz="11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 in</a:t>
            </a:r>
            <a:r>
              <a:rPr lang="en-US" sz="11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current.children: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9625" y="3568434"/>
            <a:ext cx="534963" cy="126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break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3425" y="3763695"/>
            <a:ext cx="52863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child = current.children[first_token]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3425" y="4046156"/>
            <a:ext cx="52863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在子节点内逐token匹配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3425" y="4255706"/>
            <a:ext cx="52863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node_pos = </a:t>
            </a:r>
            <a:r>
              <a:rPr lang="en-US" sz="11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3425" y="4465256"/>
            <a:ext cx="52863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while</a:t>
            </a:r>
            <a:r>
              <a:rPr lang="en-US" sz="11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node_pos &lt; len(child.tokens) </a:t>
            </a:r>
            <a:r>
              <a:rPr lang="en-US" sz="11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</a:t>
            </a:r>
            <a:r>
              <a:rPr lang="en-US" sz="11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...: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9625" y="4674806"/>
            <a:ext cx="52101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r>
              <a:rPr lang="en-US" sz="11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child.tokens[node_pos] != ...: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5825" y="4898645"/>
            <a:ext cx="534963" cy="126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break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9625" y="5093906"/>
            <a:ext cx="52101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node_pos += 1; query_pos += 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3425" y="5334334"/>
            <a:ext cx="52863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收集匹配的KV Blocks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3425" y="5543884"/>
            <a:ext cx="52863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matched_len = query_pos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3425" y="5753434"/>
            <a:ext cx="52863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matched_blocks.extend(...)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3425" y="5983344"/>
            <a:ext cx="52863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r>
              <a:rPr lang="en-US" sz="11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node_pos &lt; len(child.tokens):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9625" y="6207183"/>
            <a:ext cx="534963" cy="126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break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3425" y="6402444"/>
            <a:ext cx="52863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= child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7225" y="6621854"/>
            <a:ext cx="5362575" cy="14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r>
              <a:rPr lang="en-US" sz="11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matched_len, matched_blocks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0788" y="1109663"/>
            <a:ext cx="5505450" cy="4543425"/>
          </a:xfrm>
          <a:custGeom>
            <a:avLst/>
            <a:gdLst/>
            <a:ahLst/>
            <a:cxnLst/>
            <a:rect l="l" t="t" r="r" b="b"/>
            <a:pathLst>
              <a:path w="5505450" h="4543425">
                <a:moveTo>
                  <a:pt x="76193" y="0"/>
                </a:moveTo>
                <a:lnTo>
                  <a:pt x="5429257" y="0"/>
                </a:lnTo>
                <a:cubicBezTo>
                  <a:pt x="5471337" y="0"/>
                  <a:pt x="5505450" y="34113"/>
                  <a:pt x="5505450" y="76193"/>
                </a:cubicBezTo>
                <a:lnTo>
                  <a:pt x="5505450" y="4467232"/>
                </a:lnTo>
                <a:cubicBezTo>
                  <a:pt x="5505450" y="4509312"/>
                  <a:pt x="5471337" y="4543425"/>
                  <a:pt x="5429257" y="4543425"/>
                </a:cubicBezTo>
                <a:lnTo>
                  <a:pt x="76193" y="4543425"/>
                </a:lnTo>
                <a:cubicBezTo>
                  <a:pt x="34113" y="4543425"/>
                  <a:pt x="0" y="4509312"/>
                  <a:pt x="0" y="446723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481763" y="13144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4110"/>
                </a:moveTo>
                <a:cubicBezTo>
                  <a:pt x="0" y="19690"/>
                  <a:pt x="3583" y="16073"/>
                  <a:pt x="8037" y="16073"/>
                </a:cubicBezTo>
                <a:lnTo>
                  <a:pt x="24110" y="16073"/>
                </a:lnTo>
                <a:cubicBezTo>
                  <a:pt x="28564" y="16073"/>
                  <a:pt x="32147" y="19656"/>
                  <a:pt x="32147" y="24110"/>
                </a:cubicBezTo>
                <a:lnTo>
                  <a:pt x="32147" y="58936"/>
                </a:lnTo>
                <a:lnTo>
                  <a:pt x="40184" y="58936"/>
                </a:lnTo>
                <a:cubicBezTo>
                  <a:pt x="44637" y="58936"/>
                  <a:pt x="48220" y="62519"/>
                  <a:pt x="48220" y="66973"/>
                </a:cubicBezTo>
                <a:cubicBezTo>
                  <a:pt x="48220" y="71426"/>
                  <a:pt x="44637" y="75009"/>
                  <a:pt x="40184" y="75009"/>
                </a:cubicBezTo>
                <a:lnTo>
                  <a:pt x="8037" y="75009"/>
                </a:lnTo>
                <a:cubicBezTo>
                  <a:pt x="3583" y="75009"/>
                  <a:pt x="0" y="71426"/>
                  <a:pt x="0" y="66973"/>
                </a:cubicBezTo>
                <a:cubicBezTo>
                  <a:pt x="0" y="62519"/>
                  <a:pt x="3583" y="58936"/>
                  <a:pt x="8037" y="58936"/>
                </a:cubicBezTo>
                <a:lnTo>
                  <a:pt x="16073" y="58936"/>
                </a:lnTo>
                <a:lnTo>
                  <a:pt x="16073" y="32147"/>
                </a:lnTo>
                <a:lnTo>
                  <a:pt x="8037" y="32147"/>
                </a:lnTo>
                <a:cubicBezTo>
                  <a:pt x="3583" y="32147"/>
                  <a:pt x="0" y="28564"/>
                  <a:pt x="0" y="24110"/>
                </a:cubicBezTo>
                <a:close/>
                <a:moveTo>
                  <a:pt x="10180" y="100861"/>
                </a:moveTo>
                <a:cubicBezTo>
                  <a:pt x="13997" y="97981"/>
                  <a:pt x="18652" y="96441"/>
                  <a:pt x="23440" y="96441"/>
                </a:cubicBezTo>
                <a:lnTo>
                  <a:pt x="25081" y="96441"/>
                </a:lnTo>
                <a:cubicBezTo>
                  <a:pt x="36366" y="96441"/>
                  <a:pt x="45541" y="105616"/>
                  <a:pt x="45541" y="116901"/>
                </a:cubicBezTo>
                <a:cubicBezTo>
                  <a:pt x="45541" y="123464"/>
                  <a:pt x="42394" y="129592"/>
                  <a:pt x="37103" y="133443"/>
                </a:cubicBezTo>
                <a:lnTo>
                  <a:pt x="29066" y="139303"/>
                </a:lnTo>
                <a:lnTo>
                  <a:pt x="40184" y="139303"/>
                </a:lnTo>
                <a:cubicBezTo>
                  <a:pt x="44637" y="139303"/>
                  <a:pt x="48220" y="142886"/>
                  <a:pt x="48220" y="147340"/>
                </a:cubicBezTo>
                <a:cubicBezTo>
                  <a:pt x="48220" y="151794"/>
                  <a:pt x="44637" y="155377"/>
                  <a:pt x="40184" y="155377"/>
                </a:cubicBezTo>
                <a:lnTo>
                  <a:pt x="9811" y="155377"/>
                </a:lnTo>
                <a:cubicBezTo>
                  <a:pt x="4387" y="155377"/>
                  <a:pt x="0" y="150990"/>
                  <a:pt x="0" y="145565"/>
                </a:cubicBezTo>
                <a:cubicBezTo>
                  <a:pt x="0" y="142417"/>
                  <a:pt x="1507" y="139471"/>
                  <a:pt x="4052" y="137629"/>
                </a:cubicBezTo>
                <a:lnTo>
                  <a:pt x="27660" y="120450"/>
                </a:lnTo>
                <a:cubicBezTo>
                  <a:pt x="28798" y="119613"/>
                  <a:pt x="29468" y="118307"/>
                  <a:pt x="29468" y="116901"/>
                </a:cubicBezTo>
                <a:cubicBezTo>
                  <a:pt x="29468" y="114490"/>
                  <a:pt x="27492" y="112514"/>
                  <a:pt x="25081" y="112514"/>
                </a:cubicBezTo>
                <a:lnTo>
                  <a:pt x="23440" y="112514"/>
                </a:lnTo>
                <a:cubicBezTo>
                  <a:pt x="22134" y="112514"/>
                  <a:pt x="20862" y="112949"/>
                  <a:pt x="19824" y="113720"/>
                </a:cubicBezTo>
                <a:lnTo>
                  <a:pt x="12859" y="118943"/>
                </a:lnTo>
                <a:cubicBezTo>
                  <a:pt x="9309" y="121622"/>
                  <a:pt x="4286" y="120886"/>
                  <a:pt x="1607" y="117336"/>
                </a:cubicBezTo>
                <a:cubicBezTo>
                  <a:pt x="-1072" y="113787"/>
                  <a:pt x="-335" y="108764"/>
                  <a:pt x="3215" y="106085"/>
                </a:cubicBezTo>
                <a:lnTo>
                  <a:pt x="10180" y="100861"/>
                </a:lnTo>
                <a:close/>
                <a:moveTo>
                  <a:pt x="75009" y="21431"/>
                </a:move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75009" y="42863"/>
                </a:lnTo>
                <a:cubicBezTo>
                  <a:pt x="69082" y="42863"/>
                  <a:pt x="64294" y="38074"/>
                  <a:pt x="64294" y="32147"/>
                </a:cubicBezTo>
                <a:cubicBezTo>
                  <a:pt x="64294" y="26220"/>
                  <a:pt x="69082" y="21431"/>
                  <a:pt x="75009" y="21431"/>
                </a:cubicBezTo>
                <a:close/>
                <a:moveTo>
                  <a:pt x="75009" y="75009"/>
                </a:move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75009" y="96441"/>
                </a:lnTo>
                <a:cubicBezTo>
                  <a:pt x="69082" y="96441"/>
                  <a:pt x="64294" y="91652"/>
                  <a:pt x="64294" y="85725"/>
                </a:cubicBezTo>
                <a:cubicBezTo>
                  <a:pt x="64294" y="79798"/>
                  <a:pt x="69082" y="75009"/>
                  <a:pt x="75009" y="75009"/>
                </a:cubicBezTo>
                <a:close/>
                <a:moveTo>
                  <a:pt x="75009" y="128588"/>
                </a:move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75009" y="150019"/>
                </a:lnTo>
                <a:cubicBezTo>
                  <a:pt x="69082" y="150019"/>
                  <a:pt x="64294" y="145230"/>
                  <a:pt x="64294" y="139303"/>
                </a:cubicBezTo>
                <a:cubicBezTo>
                  <a:pt x="64294" y="133376"/>
                  <a:pt x="69082" y="128588"/>
                  <a:pt x="75009" y="128588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748463" y="126682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算法流程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57950" y="243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429375" y="24384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62750" y="241935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从根节点开始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62750" y="2590800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初始化匹配长度和blocks列表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57950" y="2914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429375" y="291465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62750" y="2895600"/>
            <a:ext cx="2295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查找匹配的子节点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62750" y="3067050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根据当前token查找对应的子节点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57950" y="3390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429375" y="33909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62750" y="3371850"/>
            <a:ext cx="2219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在子节点内逐token匹配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62750" y="3543300"/>
            <a:ext cx="2219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比较子节点的tokens与查询序列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57950" y="3867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429375" y="386715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62750" y="384810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收集匹配的KV Blocks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62750" y="4019550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将匹配的blocks加入结果列表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57950" y="434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6429375" y="43434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762750" y="4324350"/>
            <a:ext cx="2209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继续向下遍历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62750" y="4495800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如果完全匹配，继续匹配子节点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15075" y="5772150"/>
            <a:ext cx="5495925" cy="704850"/>
          </a:xfrm>
          <a:custGeom>
            <a:avLst/>
            <a:gdLst/>
            <a:ahLst/>
            <a:cxnLst/>
            <a:rect l="l" t="t" r="r" b="b"/>
            <a:pathLst>
              <a:path w="5495925" h="704850">
                <a:moveTo>
                  <a:pt x="38100" y="0"/>
                </a:moveTo>
                <a:lnTo>
                  <a:pt x="5419724" y="0"/>
                </a:lnTo>
                <a:cubicBezTo>
                  <a:pt x="5461809" y="0"/>
                  <a:pt x="5495925" y="34116"/>
                  <a:pt x="5495925" y="76201"/>
                </a:cubicBezTo>
                <a:lnTo>
                  <a:pt x="5495925" y="628649"/>
                </a:lnTo>
                <a:cubicBezTo>
                  <a:pt x="5495925" y="670734"/>
                  <a:pt x="5461809" y="704850"/>
                  <a:pt x="5419724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6315075" y="5772150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6472238" y="5915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6738938" y="588645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时间复杂度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448425" y="6153150"/>
            <a:ext cx="53244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查找时间复杂度为 </a:t>
            </a:r>
            <a:r>
              <a:rPr lang="en-US" sz="1200" b="1" dirty="0">
                <a:solidFill>
                  <a:srgbClr val="D4A26A"/>
                </a:solidFill>
                <a:highlight>
                  <a:srgbClr val="D4A26A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O(m) 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，其中m是查询序列长度，与树中总节点数无关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 RESULT HANDLING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查找结果的处理方式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071563"/>
            <a:ext cx="5791200" cy="5400675"/>
          </a:xfrm>
          <a:custGeom>
            <a:avLst/>
            <a:gdLst/>
            <a:ahLst/>
            <a:cxnLst/>
            <a:rect l="l" t="t" r="r" b="b"/>
            <a:pathLst>
              <a:path w="5791200" h="5400675">
                <a:moveTo>
                  <a:pt x="76204" y="0"/>
                </a:moveTo>
                <a:lnTo>
                  <a:pt x="5714996" y="0"/>
                </a:lnTo>
                <a:cubicBezTo>
                  <a:pt x="5757083" y="0"/>
                  <a:pt x="5791200" y="34117"/>
                  <a:pt x="5791200" y="76204"/>
                </a:cubicBezTo>
                <a:lnTo>
                  <a:pt x="5791200" y="5324471"/>
                </a:lnTo>
                <a:cubicBezTo>
                  <a:pt x="5791200" y="5366558"/>
                  <a:pt x="5757083" y="5400675"/>
                  <a:pt x="5714996" y="5400675"/>
                </a:cubicBezTo>
                <a:lnTo>
                  <a:pt x="76204" y="5400675"/>
                </a:lnTo>
                <a:cubicBezTo>
                  <a:pt x="34117" y="5400675"/>
                  <a:pt x="0" y="5366558"/>
                  <a:pt x="0" y="53244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78644" y="12668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7250" y="12287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三种匹配情况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1975" y="2514600"/>
            <a:ext cx="5457825" cy="819150"/>
          </a:xfrm>
          <a:custGeom>
            <a:avLst/>
            <a:gdLst/>
            <a:ahLst/>
            <a:cxnLst/>
            <a:rect l="l" t="t" r="r" b="b"/>
            <a:pathLst>
              <a:path w="5457825" h="819150">
                <a:moveTo>
                  <a:pt x="38099" y="0"/>
                </a:moveTo>
                <a:lnTo>
                  <a:pt x="5419726" y="0"/>
                </a:lnTo>
                <a:cubicBezTo>
                  <a:pt x="5440768" y="0"/>
                  <a:pt x="5457825" y="17057"/>
                  <a:pt x="5457825" y="38099"/>
                </a:cubicBezTo>
                <a:lnTo>
                  <a:pt x="5457825" y="781051"/>
                </a:lnTo>
                <a:cubicBezTo>
                  <a:pt x="5457825" y="802093"/>
                  <a:pt x="5440768" y="819150"/>
                  <a:pt x="5419726" y="819150"/>
                </a:cubicBezTo>
                <a:lnTo>
                  <a:pt x="38099" y="819150"/>
                </a:lnTo>
                <a:cubicBezTo>
                  <a:pt x="17057" y="819150"/>
                  <a:pt x="0" y="802093"/>
                  <a:pt x="0" y="781051"/>
                </a:cubicBezTo>
                <a:lnTo>
                  <a:pt x="0" y="38099"/>
                </a:lnTo>
                <a:cubicBezTo>
                  <a:pt x="0" y="17071"/>
                  <a:pt x="17071" y="0"/>
                  <a:pt x="380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61975" y="2514600"/>
            <a:ext cx="38100" cy="819150"/>
          </a:xfrm>
          <a:custGeom>
            <a:avLst/>
            <a:gdLst/>
            <a:ahLst/>
            <a:cxnLst/>
            <a:rect l="l" t="t" r="r" b="b"/>
            <a:pathLst>
              <a:path w="38100" h="819150">
                <a:moveTo>
                  <a:pt x="38100" y="0"/>
                </a:moveTo>
                <a:lnTo>
                  <a:pt x="38100" y="0"/>
                </a:lnTo>
                <a:lnTo>
                  <a:pt x="38100" y="819150"/>
                </a:lnTo>
                <a:lnTo>
                  <a:pt x="38100" y="819150"/>
                </a:lnTo>
                <a:cubicBezTo>
                  <a:pt x="17072" y="819150"/>
                  <a:pt x="0" y="802078"/>
                  <a:pt x="0" y="781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33425" y="266700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5DF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完全匹配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62227" y="2667000"/>
            <a:ext cx="904875" cy="266700"/>
          </a:xfrm>
          <a:custGeom>
            <a:avLst/>
            <a:gdLst/>
            <a:ahLst/>
            <a:cxnLst/>
            <a:rect l="l" t="t" r="r" b="b"/>
            <a:pathLst>
              <a:path w="904875" h="266700">
                <a:moveTo>
                  <a:pt x="38101" y="0"/>
                </a:moveTo>
                <a:lnTo>
                  <a:pt x="866774" y="0"/>
                </a:lnTo>
                <a:cubicBezTo>
                  <a:pt x="887817" y="0"/>
                  <a:pt x="904875" y="17058"/>
                  <a:pt x="904875" y="38101"/>
                </a:cubicBezTo>
                <a:lnTo>
                  <a:pt x="904875" y="228599"/>
                </a:lnTo>
                <a:cubicBezTo>
                  <a:pt x="904875" y="249642"/>
                  <a:pt x="887817" y="266700"/>
                  <a:pt x="8667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962227" y="2667000"/>
            <a:ext cx="981075" cy="2667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5DF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 命中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3425" y="2971800"/>
            <a:ext cx="52101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查询序列与树中某路径完全匹配，直接复用全部KV Cache，跳过Prefill阶段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1975" y="3448050"/>
            <a:ext cx="5457825" cy="1028700"/>
          </a:xfrm>
          <a:custGeom>
            <a:avLst/>
            <a:gdLst/>
            <a:ahLst/>
            <a:cxnLst/>
            <a:rect l="l" t="t" r="r" b="b"/>
            <a:pathLst>
              <a:path w="5457825" h="1028700">
                <a:moveTo>
                  <a:pt x="38100" y="0"/>
                </a:moveTo>
                <a:lnTo>
                  <a:pt x="5419722" y="0"/>
                </a:lnTo>
                <a:cubicBezTo>
                  <a:pt x="5440766" y="0"/>
                  <a:pt x="5457825" y="17059"/>
                  <a:pt x="5457825" y="38103"/>
                </a:cubicBezTo>
                <a:lnTo>
                  <a:pt x="5457825" y="990597"/>
                </a:lnTo>
                <a:cubicBezTo>
                  <a:pt x="5457825" y="1011641"/>
                  <a:pt x="5440766" y="1028700"/>
                  <a:pt x="5419722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61975" y="344805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3425" y="36004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部分匹配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05400" y="360045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38101" y="0"/>
                </a:moveTo>
                <a:lnTo>
                  <a:pt x="723899" y="0"/>
                </a:lnTo>
                <a:cubicBezTo>
                  <a:pt x="744942" y="0"/>
                  <a:pt x="762000" y="17058"/>
                  <a:pt x="762000" y="38101"/>
                </a:cubicBezTo>
                <a:lnTo>
                  <a:pt x="762000" y="228599"/>
                </a:lnTo>
                <a:cubicBezTo>
                  <a:pt x="762000" y="249628"/>
                  <a:pt x="744928" y="266700"/>
                  <a:pt x="7238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105400" y="3600450"/>
            <a:ext cx="838200" cy="2667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部分命中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3425" y="3905250"/>
            <a:ext cx="52101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查询序列的前缀与树中路径匹配，复用匹配部分的KV Cache，仅对未匹配后缀执行Prefill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1975" y="4591050"/>
            <a:ext cx="5457825" cy="819150"/>
          </a:xfrm>
          <a:custGeom>
            <a:avLst/>
            <a:gdLst/>
            <a:ahLst/>
            <a:cxnLst/>
            <a:rect l="l" t="t" r="r" b="b"/>
            <a:pathLst>
              <a:path w="5457825" h="819150">
                <a:moveTo>
                  <a:pt x="38099" y="0"/>
                </a:moveTo>
                <a:lnTo>
                  <a:pt x="5419726" y="0"/>
                </a:lnTo>
                <a:cubicBezTo>
                  <a:pt x="5440768" y="0"/>
                  <a:pt x="5457825" y="17057"/>
                  <a:pt x="5457825" y="38099"/>
                </a:cubicBezTo>
                <a:lnTo>
                  <a:pt x="5457825" y="781051"/>
                </a:lnTo>
                <a:cubicBezTo>
                  <a:pt x="5457825" y="802093"/>
                  <a:pt x="5440768" y="819150"/>
                  <a:pt x="5419726" y="819150"/>
                </a:cubicBezTo>
                <a:lnTo>
                  <a:pt x="38099" y="819150"/>
                </a:lnTo>
                <a:cubicBezTo>
                  <a:pt x="17057" y="819150"/>
                  <a:pt x="0" y="802093"/>
                  <a:pt x="0" y="781051"/>
                </a:cubicBezTo>
                <a:lnTo>
                  <a:pt x="0" y="38099"/>
                </a:lnTo>
                <a:cubicBezTo>
                  <a:pt x="0" y="17071"/>
                  <a:pt x="17071" y="0"/>
                  <a:pt x="380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61975" y="4591050"/>
            <a:ext cx="38100" cy="819150"/>
          </a:xfrm>
          <a:custGeom>
            <a:avLst/>
            <a:gdLst/>
            <a:ahLst/>
            <a:cxnLst/>
            <a:rect l="l" t="t" r="r" b="b"/>
            <a:pathLst>
              <a:path w="38100" h="819150">
                <a:moveTo>
                  <a:pt x="38100" y="0"/>
                </a:moveTo>
                <a:lnTo>
                  <a:pt x="38100" y="0"/>
                </a:lnTo>
                <a:lnTo>
                  <a:pt x="38100" y="819150"/>
                </a:lnTo>
                <a:lnTo>
                  <a:pt x="38100" y="819150"/>
                </a:lnTo>
                <a:cubicBezTo>
                  <a:pt x="17072" y="819150"/>
                  <a:pt x="0" y="802078"/>
                  <a:pt x="0" y="781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33425" y="4743450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6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无匹配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16190" y="4743450"/>
            <a:ext cx="752475" cy="266700"/>
          </a:xfrm>
          <a:custGeom>
            <a:avLst/>
            <a:gdLst/>
            <a:ahLst/>
            <a:cxnLst/>
            <a:rect l="l" t="t" r="r" b="b"/>
            <a:pathLst>
              <a:path w="752475" h="266700">
                <a:moveTo>
                  <a:pt x="38101" y="0"/>
                </a:moveTo>
                <a:lnTo>
                  <a:pt x="714374" y="0"/>
                </a:lnTo>
                <a:cubicBezTo>
                  <a:pt x="735417" y="0"/>
                  <a:pt x="752475" y="17058"/>
                  <a:pt x="752475" y="38101"/>
                </a:cubicBezTo>
                <a:lnTo>
                  <a:pt x="752475" y="228599"/>
                </a:lnTo>
                <a:cubicBezTo>
                  <a:pt x="752475" y="249628"/>
                  <a:pt x="735403" y="266700"/>
                  <a:pt x="7143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116190" y="4743450"/>
            <a:ext cx="828675" cy="2667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0% 命中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3425" y="5048250"/>
            <a:ext cx="52101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查询序列与树中任何路径都不匹配，从头执行完整Prefill，并将结果缓存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43650" y="1076325"/>
            <a:ext cx="5457825" cy="4552950"/>
          </a:xfrm>
          <a:custGeom>
            <a:avLst/>
            <a:gdLst/>
            <a:ahLst/>
            <a:cxnLst/>
            <a:rect l="l" t="t" r="r" b="b"/>
            <a:pathLst>
              <a:path w="5457825" h="4552950">
                <a:moveTo>
                  <a:pt x="76216" y="0"/>
                </a:moveTo>
                <a:lnTo>
                  <a:pt x="5381609" y="0"/>
                </a:lnTo>
                <a:cubicBezTo>
                  <a:pt x="5423702" y="0"/>
                  <a:pt x="5457825" y="34123"/>
                  <a:pt x="5457825" y="76216"/>
                </a:cubicBezTo>
                <a:lnTo>
                  <a:pt x="5457825" y="4476734"/>
                </a:lnTo>
                <a:cubicBezTo>
                  <a:pt x="5457825" y="4518827"/>
                  <a:pt x="5423702" y="4552950"/>
                  <a:pt x="5381609" y="4552950"/>
                </a:cubicBezTo>
                <a:lnTo>
                  <a:pt x="76216" y="4552950"/>
                </a:lnTo>
                <a:cubicBezTo>
                  <a:pt x="34123" y="4552950"/>
                  <a:pt x="0" y="4518827"/>
                  <a:pt x="0" y="4476734"/>
                </a:cubicBezTo>
                <a:lnTo>
                  <a:pt x="0" y="76216"/>
                </a:lnTo>
                <a:cubicBezTo>
                  <a:pt x="0" y="34151"/>
                  <a:pt x="34151" y="0"/>
                  <a:pt x="76216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502003" y="12477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6789" y="34826"/>
                </a:moveTo>
                <a:cubicBezTo>
                  <a:pt x="31225" y="34826"/>
                  <a:pt x="34826" y="31225"/>
                  <a:pt x="34826" y="26789"/>
                </a:cubicBezTo>
                <a:cubicBezTo>
                  <a:pt x="34826" y="22353"/>
                  <a:pt x="31225" y="18752"/>
                  <a:pt x="26789" y="18752"/>
                </a:cubicBezTo>
                <a:cubicBezTo>
                  <a:pt x="22353" y="18752"/>
                  <a:pt x="18752" y="22353"/>
                  <a:pt x="18752" y="26789"/>
                </a:cubicBezTo>
                <a:cubicBezTo>
                  <a:pt x="18752" y="31225"/>
                  <a:pt x="22353" y="34826"/>
                  <a:pt x="26789" y="34826"/>
                </a:cubicBezTo>
                <a:close/>
                <a:moveTo>
                  <a:pt x="53578" y="26789"/>
                </a:moveTo>
                <a:cubicBezTo>
                  <a:pt x="53578" y="37773"/>
                  <a:pt x="46981" y="47216"/>
                  <a:pt x="37505" y="51335"/>
                </a:cubicBezTo>
                <a:lnTo>
                  <a:pt x="37505" y="75009"/>
                </a:lnTo>
                <a:lnTo>
                  <a:pt x="96441" y="75009"/>
                </a:lnTo>
                <a:cubicBezTo>
                  <a:pt x="105315" y="75009"/>
                  <a:pt x="112514" y="67810"/>
                  <a:pt x="112514" y="58936"/>
                </a:cubicBezTo>
                <a:lnTo>
                  <a:pt x="112514" y="51335"/>
                </a:lnTo>
                <a:cubicBezTo>
                  <a:pt x="103037" y="47216"/>
                  <a:pt x="96441" y="37773"/>
                  <a:pt x="96441" y="26789"/>
                </a:cubicBezTo>
                <a:cubicBezTo>
                  <a:pt x="96441" y="11988"/>
                  <a:pt x="108429" y="0"/>
                  <a:pt x="123230" y="0"/>
                </a:cubicBezTo>
                <a:cubicBezTo>
                  <a:pt x="138031" y="0"/>
                  <a:pt x="150019" y="11988"/>
                  <a:pt x="150019" y="26789"/>
                </a:cubicBezTo>
                <a:cubicBezTo>
                  <a:pt x="150019" y="37773"/>
                  <a:pt x="143422" y="47216"/>
                  <a:pt x="133945" y="51335"/>
                </a:cubicBezTo>
                <a:lnTo>
                  <a:pt x="133945" y="58936"/>
                </a:lnTo>
                <a:cubicBezTo>
                  <a:pt x="133945" y="79664"/>
                  <a:pt x="117169" y="96441"/>
                  <a:pt x="96441" y="96441"/>
                </a:cubicBezTo>
                <a:lnTo>
                  <a:pt x="37505" y="96441"/>
                </a:lnTo>
                <a:lnTo>
                  <a:pt x="37505" y="120115"/>
                </a:lnTo>
                <a:cubicBezTo>
                  <a:pt x="46981" y="124234"/>
                  <a:pt x="53578" y="133677"/>
                  <a:pt x="53578" y="144661"/>
                </a:cubicBezTo>
                <a:cubicBezTo>
                  <a:pt x="53578" y="159462"/>
                  <a:pt x="41590" y="171450"/>
                  <a:pt x="26789" y="171450"/>
                </a:cubicBezTo>
                <a:cubicBezTo>
                  <a:pt x="11988" y="171450"/>
                  <a:pt x="0" y="159462"/>
                  <a:pt x="0" y="144661"/>
                </a:cubicBezTo>
                <a:cubicBezTo>
                  <a:pt x="0" y="133677"/>
                  <a:pt x="6597" y="124234"/>
                  <a:pt x="16073" y="120115"/>
                </a:cubicBezTo>
                <a:lnTo>
                  <a:pt x="16073" y="51368"/>
                </a:lnTo>
                <a:cubicBezTo>
                  <a:pt x="6597" y="47216"/>
                  <a:pt x="0" y="37773"/>
                  <a:pt x="0" y="26789"/>
                </a:cubicBezTo>
                <a:cubicBezTo>
                  <a:pt x="0" y="11988"/>
                  <a:pt x="11988" y="0"/>
                  <a:pt x="26789" y="0"/>
                </a:cubicBezTo>
                <a:cubicBezTo>
                  <a:pt x="41590" y="0"/>
                  <a:pt x="53578" y="11988"/>
                  <a:pt x="53578" y="26789"/>
                </a:cubicBezTo>
                <a:close/>
                <a:moveTo>
                  <a:pt x="131266" y="26789"/>
                </a:moveTo>
                <a:cubicBezTo>
                  <a:pt x="131266" y="22353"/>
                  <a:pt x="127665" y="18752"/>
                  <a:pt x="123230" y="18752"/>
                </a:cubicBezTo>
                <a:cubicBezTo>
                  <a:pt x="118794" y="18752"/>
                  <a:pt x="115193" y="22353"/>
                  <a:pt x="115193" y="26789"/>
                </a:cubicBezTo>
                <a:cubicBezTo>
                  <a:pt x="115193" y="31225"/>
                  <a:pt x="118794" y="34826"/>
                  <a:pt x="123230" y="34826"/>
                </a:cubicBezTo>
                <a:cubicBezTo>
                  <a:pt x="127665" y="34826"/>
                  <a:pt x="131266" y="31225"/>
                  <a:pt x="131266" y="26789"/>
                </a:cubicBezTo>
                <a:close/>
                <a:moveTo>
                  <a:pt x="26789" y="152698"/>
                </a:moveTo>
                <a:cubicBezTo>
                  <a:pt x="31225" y="152698"/>
                  <a:pt x="34826" y="149097"/>
                  <a:pt x="34826" y="144661"/>
                </a:cubicBezTo>
                <a:cubicBezTo>
                  <a:pt x="34826" y="140225"/>
                  <a:pt x="31225" y="136624"/>
                  <a:pt x="26789" y="136624"/>
                </a:cubicBezTo>
                <a:cubicBezTo>
                  <a:pt x="22353" y="136624"/>
                  <a:pt x="18752" y="140225"/>
                  <a:pt x="18752" y="144661"/>
                </a:cubicBezTo>
                <a:cubicBezTo>
                  <a:pt x="18752" y="149097"/>
                  <a:pt x="22353" y="152698"/>
                  <a:pt x="26789" y="152698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757988" y="12001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处理示例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67475" y="1543050"/>
            <a:ext cx="5210175" cy="876300"/>
          </a:xfrm>
          <a:custGeom>
            <a:avLst/>
            <a:gdLst/>
            <a:ahLst/>
            <a:cxnLst/>
            <a:rect l="l" t="t" r="r" b="b"/>
            <a:pathLst>
              <a:path w="5210175" h="876300">
                <a:moveTo>
                  <a:pt x="38102" y="0"/>
                </a:moveTo>
                <a:lnTo>
                  <a:pt x="5172073" y="0"/>
                </a:lnTo>
                <a:cubicBezTo>
                  <a:pt x="5193116" y="0"/>
                  <a:pt x="5210175" y="17059"/>
                  <a:pt x="5210175" y="38102"/>
                </a:cubicBezTo>
                <a:lnTo>
                  <a:pt x="5210175" y="838198"/>
                </a:lnTo>
                <a:cubicBezTo>
                  <a:pt x="5210175" y="859241"/>
                  <a:pt x="5193116" y="876300"/>
                  <a:pt x="5172073" y="876300"/>
                </a:cubicBezTo>
                <a:lnTo>
                  <a:pt x="38102" y="876300"/>
                </a:lnTo>
                <a:cubicBezTo>
                  <a:pt x="17059" y="876300"/>
                  <a:pt x="0" y="859241"/>
                  <a:pt x="0" y="8381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543675" y="1619250"/>
            <a:ext cx="513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查询序列与树中已有序列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43675" y="1885950"/>
            <a:ext cx="513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查询: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[T0, T1, T2, T3, T4, T5, T6, T7]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43675" y="2114550"/>
            <a:ext cx="513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树中: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[T0, T1, T2, T3] → Blocks [B0, B1]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86525" y="2495550"/>
            <a:ext cx="5191125" cy="361950"/>
          </a:xfrm>
          <a:custGeom>
            <a:avLst/>
            <a:gdLst/>
            <a:ahLst/>
            <a:cxnLst/>
            <a:rect l="l" t="t" r="r" b="b"/>
            <a:pathLst>
              <a:path w="5191125" h="361950">
                <a:moveTo>
                  <a:pt x="38099" y="0"/>
                </a:moveTo>
                <a:lnTo>
                  <a:pt x="5153026" y="0"/>
                </a:lnTo>
                <a:cubicBezTo>
                  <a:pt x="5174053" y="0"/>
                  <a:pt x="5191125" y="17072"/>
                  <a:pt x="5191125" y="38099"/>
                </a:cubicBezTo>
                <a:lnTo>
                  <a:pt x="5191125" y="323851"/>
                </a:lnTo>
                <a:cubicBezTo>
                  <a:pt x="5191125" y="344878"/>
                  <a:pt x="5174053" y="361950"/>
                  <a:pt x="5153026" y="361950"/>
                </a:cubicBezTo>
                <a:lnTo>
                  <a:pt x="38099" y="361950"/>
                </a:lnTo>
                <a:cubicBezTo>
                  <a:pt x="17072" y="361950"/>
                  <a:pt x="0" y="344878"/>
                  <a:pt x="0" y="32385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486525" y="2495550"/>
            <a:ext cx="38100" cy="361950"/>
          </a:xfrm>
          <a:custGeom>
            <a:avLst/>
            <a:gdLst/>
            <a:ahLst/>
            <a:cxnLst/>
            <a:rect l="l" t="t" r="r" b="b"/>
            <a:pathLst>
              <a:path w="38100" h="361950">
                <a:moveTo>
                  <a:pt x="38100" y="0"/>
                </a:moveTo>
                <a:lnTo>
                  <a:pt x="38100" y="0"/>
                </a:lnTo>
                <a:lnTo>
                  <a:pt x="38100" y="361950"/>
                </a:lnTo>
                <a:lnTo>
                  <a:pt x="38100" y="361950"/>
                </a:lnTo>
                <a:cubicBezTo>
                  <a:pt x="17072" y="361950"/>
                  <a:pt x="0" y="344878"/>
                  <a:pt x="0" y="323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581775" y="2571750"/>
            <a:ext cx="5095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匹配结果：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长度=4, Blocks=[B0, B1]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67475" y="2933700"/>
            <a:ext cx="5210175" cy="2571750"/>
          </a:xfrm>
          <a:custGeom>
            <a:avLst/>
            <a:gdLst/>
            <a:ahLst/>
            <a:cxnLst/>
            <a:rect l="l" t="t" r="r" b="b"/>
            <a:pathLst>
              <a:path w="5210175" h="2571750">
                <a:moveTo>
                  <a:pt x="38088" y="0"/>
                </a:moveTo>
                <a:lnTo>
                  <a:pt x="5172087" y="0"/>
                </a:lnTo>
                <a:cubicBezTo>
                  <a:pt x="5193123" y="0"/>
                  <a:pt x="5210175" y="17052"/>
                  <a:pt x="5210175" y="38088"/>
                </a:cubicBezTo>
                <a:lnTo>
                  <a:pt x="5210175" y="2533662"/>
                </a:lnTo>
                <a:cubicBezTo>
                  <a:pt x="5210175" y="2554698"/>
                  <a:pt x="5193123" y="2571750"/>
                  <a:pt x="5172087" y="2571750"/>
                </a:cubicBezTo>
                <a:lnTo>
                  <a:pt x="38088" y="2571750"/>
                </a:lnTo>
                <a:cubicBezTo>
                  <a:pt x="17052" y="2571750"/>
                  <a:pt x="0" y="2554698"/>
                  <a:pt x="0" y="2533662"/>
                </a:cubicBezTo>
                <a:lnTo>
                  <a:pt x="0" y="38088"/>
                </a:lnTo>
                <a:cubicBezTo>
                  <a:pt x="0" y="17066"/>
                  <a:pt x="17066" y="0"/>
                  <a:pt x="3808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543675" y="3009900"/>
            <a:ext cx="513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Prefill 执行流程：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43675" y="3971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510338" y="3971925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5DF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48475" y="3952875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位置 0-3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48475" y="4143375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跳过计算，加载 [B0, B1]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543675" y="4429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510338" y="4429125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⚡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48475" y="4410075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位置 4-7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48475" y="4600575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执行Prefill，生成新的KV Cache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38888" y="5757863"/>
            <a:ext cx="5467350" cy="714375"/>
          </a:xfrm>
          <a:custGeom>
            <a:avLst/>
            <a:gdLst/>
            <a:ahLst/>
            <a:cxnLst/>
            <a:rect l="l" t="t" r="r" b="b"/>
            <a:pathLst>
              <a:path w="5467350" h="714375">
                <a:moveTo>
                  <a:pt x="76202" y="0"/>
                </a:moveTo>
                <a:lnTo>
                  <a:pt x="5391148" y="0"/>
                </a:lnTo>
                <a:cubicBezTo>
                  <a:pt x="5433233" y="0"/>
                  <a:pt x="5467350" y="34117"/>
                  <a:pt x="5467350" y="76202"/>
                </a:cubicBezTo>
                <a:lnTo>
                  <a:pt x="5467350" y="638173"/>
                </a:lnTo>
                <a:cubicBezTo>
                  <a:pt x="5467350" y="680258"/>
                  <a:pt x="5433233" y="714375"/>
                  <a:pt x="5391148" y="714375"/>
                </a:cubicBezTo>
                <a:lnTo>
                  <a:pt x="76202" y="714375"/>
                </a:lnTo>
                <a:cubicBezTo>
                  <a:pt x="34117" y="714375"/>
                  <a:pt x="0" y="680258"/>
                  <a:pt x="0" y="6381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6503194" y="59055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748463" y="587692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关键优势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57950" y="6143625"/>
            <a:ext cx="5305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通过最长前缀匹配， </a:t>
            </a: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最大化复用已缓存的KV Cache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，显著减少重复计算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LRU EVICTION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LRU 淘汰策略：引用计数机制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066800"/>
            <a:ext cx="5619750" cy="952500"/>
          </a:xfrm>
          <a:custGeom>
            <a:avLst/>
            <a:gdLst/>
            <a:ahLst/>
            <a:cxnLst/>
            <a:rect l="l" t="t" r="r" b="b"/>
            <a:pathLst>
              <a:path w="5619750" h="9525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876300"/>
                </a:lnTo>
                <a:cubicBezTo>
                  <a:pt x="5619750" y="918356"/>
                  <a:pt x="5585606" y="952500"/>
                  <a:pt x="55435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0668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57213" y="1228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52475" y="118110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为什么需要引用计数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400" y="1485900"/>
            <a:ext cx="5448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GPU显存有限，无法无限缓存KV Cache。为避免淘汰正在使用的KV Cache，每个节点维护 </a:t>
            </a: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引用计数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2138363"/>
            <a:ext cx="5629275" cy="4333875"/>
          </a:xfrm>
          <a:custGeom>
            <a:avLst/>
            <a:gdLst/>
            <a:ahLst/>
            <a:cxnLst/>
            <a:rect l="l" t="t" r="r" b="b"/>
            <a:pathLst>
              <a:path w="5629275" h="4333875">
                <a:moveTo>
                  <a:pt x="76190" y="0"/>
                </a:moveTo>
                <a:lnTo>
                  <a:pt x="5553085" y="0"/>
                </a:lnTo>
                <a:cubicBezTo>
                  <a:pt x="5595164" y="0"/>
                  <a:pt x="5629275" y="34111"/>
                  <a:pt x="5629275" y="76190"/>
                </a:cubicBezTo>
                <a:lnTo>
                  <a:pt x="5629275" y="4257685"/>
                </a:lnTo>
                <a:cubicBezTo>
                  <a:pt x="5629275" y="4299764"/>
                  <a:pt x="5595164" y="4333875"/>
                  <a:pt x="5553085" y="4333875"/>
                </a:cubicBezTo>
                <a:lnTo>
                  <a:pt x="76190" y="4333875"/>
                </a:lnTo>
                <a:cubicBezTo>
                  <a:pt x="34111" y="4333875"/>
                  <a:pt x="0" y="4299764"/>
                  <a:pt x="0" y="4257685"/>
                </a:cubicBezTo>
                <a:lnTo>
                  <a:pt x="0" y="76190"/>
                </a:lnTo>
                <a:cubicBezTo>
                  <a:pt x="0" y="34111"/>
                  <a:pt x="34111" y="0"/>
                  <a:pt x="7619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17922" y="23050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95338" y="2257425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引用计数操作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4825" y="2600325"/>
            <a:ext cx="5391150" cy="876300"/>
          </a:xfrm>
          <a:custGeom>
            <a:avLst/>
            <a:gdLst/>
            <a:ahLst/>
            <a:cxnLst/>
            <a:rect l="l" t="t" r="r" b="b"/>
            <a:pathLst>
              <a:path w="5391150" h="876300">
                <a:moveTo>
                  <a:pt x="38102" y="0"/>
                </a:moveTo>
                <a:lnTo>
                  <a:pt x="5353048" y="0"/>
                </a:lnTo>
                <a:cubicBezTo>
                  <a:pt x="5374091" y="0"/>
                  <a:pt x="5391150" y="17059"/>
                  <a:pt x="5391150" y="38102"/>
                </a:cubicBezTo>
                <a:lnTo>
                  <a:pt x="5391150" y="838198"/>
                </a:lnTo>
                <a:cubicBezTo>
                  <a:pt x="5391150" y="859241"/>
                  <a:pt x="5374091" y="876300"/>
                  <a:pt x="5353048" y="876300"/>
                </a:cubicBezTo>
                <a:lnTo>
                  <a:pt x="38102" y="876300"/>
                </a:lnTo>
                <a:cubicBezTo>
                  <a:pt x="17059" y="876300"/>
                  <a:pt x="0" y="859241"/>
                  <a:pt x="0" y="8381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81025" y="2676525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acquire_node(node):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225" y="2967038"/>
            <a:ext cx="18194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node.ref_count += 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7225" y="3171825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node.last_access_time = now() </a:t>
            </a: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更新访问时间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4825" y="3552825"/>
            <a:ext cx="5391150" cy="876300"/>
          </a:xfrm>
          <a:custGeom>
            <a:avLst/>
            <a:gdLst/>
            <a:ahLst/>
            <a:cxnLst/>
            <a:rect l="l" t="t" r="r" b="b"/>
            <a:pathLst>
              <a:path w="5391150" h="876300">
                <a:moveTo>
                  <a:pt x="38102" y="0"/>
                </a:moveTo>
                <a:lnTo>
                  <a:pt x="5353048" y="0"/>
                </a:lnTo>
                <a:cubicBezTo>
                  <a:pt x="5374091" y="0"/>
                  <a:pt x="5391150" y="17059"/>
                  <a:pt x="5391150" y="38102"/>
                </a:cubicBezTo>
                <a:lnTo>
                  <a:pt x="5391150" y="838198"/>
                </a:lnTo>
                <a:cubicBezTo>
                  <a:pt x="5391150" y="859241"/>
                  <a:pt x="5374091" y="876300"/>
                  <a:pt x="5353048" y="876300"/>
                </a:cubicBezTo>
                <a:lnTo>
                  <a:pt x="38102" y="876300"/>
                </a:lnTo>
                <a:cubicBezTo>
                  <a:pt x="17059" y="876300"/>
                  <a:pt x="0" y="859241"/>
                  <a:pt x="0" y="8381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81025" y="3629025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release_node(node):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7225" y="3919537"/>
            <a:ext cx="18194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node.ref_count -= 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7225" y="4148137"/>
            <a:ext cx="24897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当 ref_count == 0 时可淘汰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3875" y="5991225"/>
            <a:ext cx="5372100" cy="361950"/>
          </a:xfrm>
          <a:custGeom>
            <a:avLst/>
            <a:gdLst/>
            <a:ahLst/>
            <a:cxnLst/>
            <a:rect l="l" t="t" r="r" b="b"/>
            <a:pathLst>
              <a:path w="5372100" h="361950">
                <a:moveTo>
                  <a:pt x="38099" y="0"/>
                </a:moveTo>
                <a:lnTo>
                  <a:pt x="5334001" y="0"/>
                </a:lnTo>
                <a:cubicBezTo>
                  <a:pt x="5355028" y="0"/>
                  <a:pt x="5372100" y="17072"/>
                  <a:pt x="5372100" y="38099"/>
                </a:cubicBezTo>
                <a:lnTo>
                  <a:pt x="5372100" y="323851"/>
                </a:lnTo>
                <a:cubicBezTo>
                  <a:pt x="5372100" y="344878"/>
                  <a:pt x="5355028" y="361950"/>
                  <a:pt x="5334001" y="361950"/>
                </a:cubicBezTo>
                <a:lnTo>
                  <a:pt x="38099" y="361950"/>
                </a:lnTo>
                <a:cubicBezTo>
                  <a:pt x="17072" y="361950"/>
                  <a:pt x="0" y="344878"/>
                  <a:pt x="0" y="32385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23875" y="5991225"/>
            <a:ext cx="38100" cy="361950"/>
          </a:xfrm>
          <a:custGeom>
            <a:avLst/>
            <a:gdLst/>
            <a:ahLst/>
            <a:cxnLst/>
            <a:rect l="l" t="t" r="r" b="b"/>
            <a:pathLst>
              <a:path w="38100" h="361950">
                <a:moveTo>
                  <a:pt x="38100" y="0"/>
                </a:moveTo>
                <a:lnTo>
                  <a:pt x="38100" y="0"/>
                </a:lnTo>
                <a:lnTo>
                  <a:pt x="38100" y="361950"/>
                </a:lnTo>
                <a:lnTo>
                  <a:pt x="38100" y="361950"/>
                </a:lnTo>
                <a:cubicBezTo>
                  <a:pt x="17072" y="361950"/>
                  <a:pt x="0" y="344878"/>
                  <a:pt x="0" y="323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19125" y="6067425"/>
            <a:ext cx="5276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核心原则：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只有 </a:t>
            </a:r>
            <a:r>
              <a:rPr lang="en-US" sz="1200" dirty="0">
                <a:solidFill>
                  <a:srgbClr val="E8E8E8"/>
                </a:solidFill>
                <a:highlight>
                  <a:srgbClr val="D4A26A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ref_count == 0 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的节点才能被淘汰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6963" y="1071563"/>
            <a:ext cx="5629275" cy="3457575"/>
          </a:xfrm>
          <a:custGeom>
            <a:avLst/>
            <a:gdLst/>
            <a:ahLst/>
            <a:cxnLst/>
            <a:rect l="l" t="t" r="r" b="b"/>
            <a:pathLst>
              <a:path w="5629275" h="3457575">
                <a:moveTo>
                  <a:pt x="76205" y="0"/>
                </a:moveTo>
                <a:lnTo>
                  <a:pt x="5553070" y="0"/>
                </a:lnTo>
                <a:cubicBezTo>
                  <a:pt x="5595157" y="0"/>
                  <a:pt x="5629275" y="34118"/>
                  <a:pt x="5629275" y="76205"/>
                </a:cubicBezTo>
                <a:lnTo>
                  <a:pt x="5629275" y="3381370"/>
                </a:lnTo>
                <a:cubicBezTo>
                  <a:pt x="5629275" y="3423457"/>
                  <a:pt x="5595157" y="3457575"/>
                  <a:pt x="5553070" y="3457575"/>
                </a:cubicBezTo>
                <a:lnTo>
                  <a:pt x="76205" y="3457575"/>
                </a:lnTo>
                <a:cubicBezTo>
                  <a:pt x="34118" y="3457575"/>
                  <a:pt x="0" y="3423457"/>
                  <a:pt x="0" y="33813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319838" y="1238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22962" y="138131"/>
                </a:moveTo>
                <a:cubicBezTo>
                  <a:pt x="112481" y="145632"/>
                  <a:pt x="99622" y="150019"/>
                  <a:pt x="85725" y="150019"/>
                </a:cubicBezTo>
                <a:cubicBezTo>
                  <a:pt x="71828" y="150019"/>
                  <a:pt x="58969" y="145632"/>
                  <a:pt x="48488" y="138131"/>
                </a:cubicBezTo>
                <a:lnTo>
                  <a:pt x="67910" y="118709"/>
                </a:lnTo>
                <a:cubicBezTo>
                  <a:pt x="73201" y="121589"/>
                  <a:pt x="79296" y="123230"/>
                  <a:pt x="85758" y="123230"/>
                </a:cubicBezTo>
                <a:cubicBezTo>
                  <a:pt x="92221" y="123230"/>
                  <a:pt x="98282" y="121589"/>
                  <a:pt x="103607" y="118709"/>
                </a:cubicBezTo>
                <a:lnTo>
                  <a:pt x="123029" y="138131"/>
                </a:lnTo>
                <a:close/>
                <a:moveTo>
                  <a:pt x="153334" y="138399"/>
                </a:moveTo>
                <a:cubicBezTo>
                  <a:pt x="164652" y="123866"/>
                  <a:pt x="171417" y="105582"/>
                  <a:pt x="171417" y="85725"/>
                </a:cubicBezTo>
                <a:cubicBezTo>
                  <a:pt x="171417" y="65868"/>
                  <a:pt x="164686" y="47584"/>
                  <a:pt x="153367" y="33051"/>
                </a:cubicBezTo>
                <a:cubicBezTo>
                  <a:pt x="156381" y="28865"/>
                  <a:pt x="156013" y="22972"/>
                  <a:pt x="152229" y="19221"/>
                </a:cubicBezTo>
                <a:cubicBezTo>
                  <a:pt x="148445" y="15471"/>
                  <a:pt x="142585" y="15069"/>
                  <a:pt x="138399" y="18083"/>
                </a:cubicBezTo>
                <a:cubicBezTo>
                  <a:pt x="123866" y="6764"/>
                  <a:pt x="105582" y="0"/>
                  <a:pt x="85725" y="0"/>
                </a:cubicBezTo>
                <a:cubicBezTo>
                  <a:pt x="65868" y="0"/>
                  <a:pt x="47584" y="6764"/>
                  <a:pt x="33051" y="18083"/>
                </a:cubicBezTo>
                <a:cubicBezTo>
                  <a:pt x="28865" y="15069"/>
                  <a:pt x="22972" y="15437"/>
                  <a:pt x="19221" y="19221"/>
                </a:cubicBezTo>
                <a:cubicBezTo>
                  <a:pt x="15471" y="23005"/>
                  <a:pt x="15069" y="28865"/>
                  <a:pt x="18083" y="33051"/>
                </a:cubicBezTo>
                <a:cubicBezTo>
                  <a:pt x="6764" y="47584"/>
                  <a:pt x="0" y="65868"/>
                  <a:pt x="0" y="85725"/>
                </a:cubicBezTo>
                <a:cubicBezTo>
                  <a:pt x="0" y="105582"/>
                  <a:pt x="6764" y="123866"/>
                  <a:pt x="18083" y="138399"/>
                </a:cubicBezTo>
                <a:cubicBezTo>
                  <a:pt x="15069" y="142585"/>
                  <a:pt x="15437" y="148478"/>
                  <a:pt x="19221" y="152229"/>
                </a:cubicBezTo>
                <a:cubicBezTo>
                  <a:pt x="23005" y="155979"/>
                  <a:pt x="28865" y="156381"/>
                  <a:pt x="33051" y="153367"/>
                </a:cubicBezTo>
                <a:cubicBezTo>
                  <a:pt x="47584" y="164686"/>
                  <a:pt x="65868" y="171450"/>
                  <a:pt x="85725" y="171450"/>
                </a:cubicBezTo>
                <a:cubicBezTo>
                  <a:pt x="105582" y="171450"/>
                  <a:pt x="123866" y="164686"/>
                  <a:pt x="138399" y="153367"/>
                </a:cubicBezTo>
                <a:cubicBezTo>
                  <a:pt x="142585" y="156381"/>
                  <a:pt x="148478" y="156013"/>
                  <a:pt x="152229" y="152229"/>
                </a:cubicBezTo>
                <a:cubicBezTo>
                  <a:pt x="155979" y="148445"/>
                  <a:pt x="156381" y="142585"/>
                  <a:pt x="153367" y="138399"/>
                </a:cubicBezTo>
                <a:close/>
                <a:moveTo>
                  <a:pt x="138098" y="122962"/>
                </a:moveTo>
                <a:lnTo>
                  <a:pt x="118676" y="103540"/>
                </a:lnTo>
                <a:cubicBezTo>
                  <a:pt x="121555" y="98249"/>
                  <a:pt x="123196" y="92154"/>
                  <a:pt x="123196" y="85692"/>
                </a:cubicBezTo>
                <a:cubicBezTo>
                  <a:pt x="123196" y="79229"/>
                  <a:pt x="121555" y="73168"/>
                  <a:pt x="118676" y="67843"/>
                </a:cubicBezTo>
                <a:lnTo>
                  <a:pt x="138098" y="48421"/>
                </a:lnTo>
                <a:cubicBezTo>
                  <a:pt x="145632" y="58969"/>
                  <a:pt x="150019" y="71828"/>
                  <a:pt x="150019" y="85725"/>
                </a:cubicBezTo>
                <a:cubicBezTo>
                  <a:pt x="150019" y="99622"/>
                  <a:pt x="145632" y="112481"/>
                  <a:pt x="138131" y="122962"/>
                </a:cubicBezTo>
                <a:close/>
                <a:moveTo>
                  <a:pt x="122962" y="33319"/>
                </a:moveTo>
                <a:lnTo>
                  <a:pt x="103540" y="52741"/>
                </a:lnTo>
                <a:cubicBezTo>
                  <a:pt x="98249" y="49861"/>
                  <a:pt x="92154" y="48220"/>
                  <a:pt x="85692" y="48220"/>
                </a:cubicBezTo>
                <a:cubicBezTo>
                  <a:pt x="79229" y="48220"/>
                  <a:pt x="73168" y="49861"/>
                  <a:pt x="67843" y="52741"/>
                </a:cubicBezTo>
                <a:lnTo>
                  <a:pt x="48421" y="33319"/>
                </a:lnTo>
                <a:cubicBezTo>
                  <a:pt x="58969" y="25818"/>
                  <a:pt x="71828" y="21431"/>
                  <a:pt x="85725" y="21431"/>
                </a:cubicBezTo>
                <a:cubicBezTo>
                  <a:pt x="99622" y="21431"/>
                  <a:pt x="112481" y="25818"/>
                  <a:pt x="122962" y="33319"/>
                </a:cubicBezTo>
                <a:close/>
                <a:moveTo>
                  <a:pt x="52741" y="103573"/>
                </a:moveTo>
                <a:lnTo>
                  <a:pt x="33319" y="122995"/>
                </a:lnTo>
                <a:cubicBezTo>
                  <a:pt x="25818" y="112481"/>
                  <a:pt x="21431" y="99622"/>
                  <a:pt x="21431" y="85725"/>
                </a:cubicBezTo>
                <a:cubicBezTo>
                  <a:pt x="21431" y="71828"/>
                  <a:pt x="25818" y="58969"/>
                  <a:pt x="33319" y="48488"/>
                </a:cubicBezTo>
                <a:lnTo>
                  <a:pt x="52741" y="67910"/>
                </a:lnTo>
                <a:cubicBezTo>
                  <a:pt x="49861" y="73201"/>
                  <a:pt x="48220" y="79296"/>
                  <a:pt x="48220" y="85758"/>
                </a:cubicBezTo>
                <a:cubicBezTo>
                  <a:pt x="48220" y="92221"/>
                  <a:pt x="49861" y="98282"/>
                  <a:pt x="52741" y="103607"/>
                </a:cubicBezTo>
                <a:close/>
                <a:moveTo>
                  <a:pt x="69652" y="85725"/>
                </a:moveTo>
                <a:cubicBezTo>
                  <a:pt x="69652" y="76854"/>
                  <a:pt x="76854" y="69652"/>
                  <a:pt x="85725" y="69652"/>
                </a:cubicBezTo>
                <a:cubicBezTo>
                  <a:pt x="94596" y="69652"/>
                  <a:pt x="101798" y="76854"/>
                  <a:pt x="101798" y="85725"/>
                </a:cubicBezTo>
                <a:cubicBezTo>
                  <a:pt x="101798" y="94596"/>
                  <a:pt x="94596" y="101798"/>
                  <a:pt x="85725" y="101798"/>
                </a:cubicBezTo>
                <a:cubicBezTo>
                  <a:pt x="76854" y="101798"/>
                  <a:pt x="69652" y="94596"/>
                  <a:pt x="69652" y="8572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586538" y="1190625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节点生命周期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96025" y="2114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267450" y="211455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00825" y="2095500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请求开始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00825" y="2286000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acquire_node()，ref_count += 1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96025" y="2571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267450" y="257175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00825" y="25527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请求处理中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00825" y="27432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ref_count &gt; 0，节点被锁定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96025" y="3028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267450" y="302895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00825" y="3009900"/>
            <a:ext cx="2276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请求结束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00825" y="3200400"/>
            <a:ext cx="2276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release_node()，ref_count -= 1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96025" y="3486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267450" y="348615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00825" y="3467100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可被淘汰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00825" y="3657600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ref_count == 0，进入LRU候选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81725" y="4657725"/>
            <a:ext cx="5619750" cy="1238250"/>
          </a:xfrm>
          <a:custGeom>
            <a:avLst/>
            <a:gdLst/>
            <a:ahLst/>
            <a:cxnLst/>
            <a:rect l="l" t="t" r="r" b="b"/>
            <a:pathLst>
              <a:path w="5619750" h="1238250">
                <a:moveTo>
                  <a:pt x="76202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162048"/>
                </a:lnTo>
                <a:cubicBezTo>
                  <a:pt x="5619750" y="1204133"/>
                  <a:pt x="5585633" y="1238250"/>
                  <a:pt x="5543548" y="1238250"/>
                </a:cubicBezTo>
                <a:lnTo>
                  <a:pt x="76202" y="1238250"/>
                </a:lnTo>
                <a:cubicBezTo>
                  <a:pt x="34117" y="1238250"/>
                  <a:pt x="0" y="1204133"/>
                  <a:pt x="0" y="11620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318647" y="48291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1584" y="80367"/>
                </a:moveTo>
                <a:lnTo>
                  <a:pt x="112648" y="80367"/>
                </a:lnTo>
                <a:cubicBezTo>
                  <a:pt x="106721" y="80367"/>
                  <a:pt x="101932" y="75579"/>
                  <a:pt x="101932" y="69652"/>
                </a:cubicBezTo>
                <a:lnTo>
                  <a:pt x="101932" y="10716"/>
                </a:lnTo>
                <a:cubicBezTo>
                  <a:pt x="101932" y="4789"/>
                  <a:pt x="106754" y="-67"/>
                  <a:pt x="112615" y="703"/>
                </a:cubicBezTo>
                <a:cubicBezTo>
                  <a:pt x="148445" y="5458"/>
                  <a:pt x="176841" y="33855"/>
                  <a:pt x="181596" y="69685"/>
                </a:cubicBezTo>
                <a:cubicBezTo>
                  <a:pt x="182367" y="75545"/>
                  <a:pt x="177511" y="80367"/>
                  <a:pt x="171584" y="80367"/>
                </a:cubicBezTo>
                <a:close/>
                <a:moveTo>
                  <a:pt x="74541" y="12457"/>
                </a:moveTo>
                <a:cubicBezTo>
                  <a:pt x="80602" y="11184"/>
                  <a:pt x="85859" y="16140"/>
                  <a:pt x="85859" y="22335"/>
                </a:cubicBezTo>
                <a:lnTo>
                  <a:pt x="85859" y="88404"/>
                </a:lnTo>
                <a:cubicBezTo>
                  <a:pt x="85859" y="90279"/>
                  <a:pt x="86529" y="92087"/>
                  <a:pt x="87701" y="93527"/>
                </a:cubicBezTo>
                <a:lnTo>
                  <a:pt x="131936" y="146905"/>
                </a:lnTo>
                <a:cubicBezTo>
                  <a:pt x="135854" y="151626"/>
                  <a:pt x="135017" y="158759"/>
                  <a:pt x="129626" y="161672"/>
                </a:cubicBezTo>
                <a:cubicBezTo>
                  <a:pt x="118207" y="167900"/>
                  <a:pt x="105114" y="171450"/>
                  <a:pt x="91217" y="171450"/>
                </a:cubicBezTo>
                <a:cubicBezTo>
                  <a:pt x="46847" y="171450"/>
                  <a:pt x="10850" y="135452"/>
                  <a:pt x="10850" y="91083"/>
                </a:cubicBezTo>
                <a:cubicBezTo>
                  <a:pt x="10850" y="52406"/>
                  <a:pt x="38141" y="20125"/>
                  <a:pt x="74541" y="12457"/>
                </a:cubicBezTo>
                <a:close/>
                <a:moveTo>
                  <a:pt x="159998" y="96441"/>
                </a:moveTo>
                <a:lnTo>
                  <a:pt x="181429" y="96441"/>
                </a:lnTo>
                <a:cubicBezTo>
                  <a:pt x="187624" y="96441"/>
                  <a:pt x="192580" y="101698"/>
                  <a:pt x="191307" y="107759"/>
                </a:cubicBezTo>
                <a:cubicBezTo>
                  <a:pt x="187892" y="123966"/>
                  <a:pt x="179587" y="138366"/>
                  <a:pt x="168001" y="149349"/>
                </a:cubicBezTo>
                <a:cubicBezTo>
                  <a:pt x="163882" y="153267"/>
                  <a:pt x="157419" y="152430"/>
                  <a:pt x="153803" y="148043"/>
                </a:cubicBezTo>
                <a:lnTo>
                  <a:pt x="125540" y="113987"/>
                </a:lnTo>
                <a:cubicBezTo>
                  <a:pt x="119747" y="106989"/>
                  <a:pt x="124737" y="96441"/>
                  <a:pt x="133778" y="96441"/>
                </a:cubicBezTo>
                <a:lnTo>
                  <a:pt x="159964" y="96441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596063" y="478155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引用计数统计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05550" y="5124450"/>
            <a:ext cx="2647950" cy="647700"/>
          </a:xfrm>
          <a:custGeom>
            <a:avLst/>
            <a:gdLst/>
            <a:ahLst/>
            <a:cxnLst/>
            <a:rect l="l" t="t" r="r" b="b"/>
            <a:pathLst>
              <a:path w="2647950" h="647700">
                <a:moveTo>
                  <a:pt x="38098" y="0"/>
                </a:moveTo>
                <a:lnTo>
                  <a:pt x="2609852" y="0"/>
                </a:lnTo>
                <a:cubicBezTo>
                  <a:pt x="2630879" y="0"/>
                  <a:pt x="2647950" y="17071"/>
                  <a:pt x="2647950" y="38098"/>
                </a:cubicBezTo>
                <a:lnTo>
                  <a:pt x="2647950" y="609602"/>
                </a:lnTo>
                <a:cubicBezTo>
                  <a:pt x="2647950" y="630643"/>
                  <a:pt x="2630893" y="647700"/>
                  <a:pt x="26098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324600" y="5200650"/>
            <a:ext cx="2609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ref=0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43650" y="5543550"/>
            <a:ext cx="2571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可被LRU淘汰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29700" y="5124450"/>
            <a:ext cx="2647950" cy="647700"/>
          </a:xfrm>
          <a:custGeom>
            <a:avLst/>
            <a:gdLst/>
            <a:ahLst/>
            <a:cxnLst/>
            <a:rect l="l" t="t" r="r" b="b"/>
            <a:pathLst>
              <a:path w="2647950" h="647700">
                <a:moveTo>
                  <a:pt x="38098" y="0"/>
                </a:moveTo>
                <a:lnTo>
                  <a:pt x="2609852" y="0"/>
                </a:lnTo>
                <a:cubicBezTo>
                  <a:pt x="2630879" y="0"/>
                  <a:pt x="2647950" y="17071"/>
                  <a:pt x="2647950" y="38098"/>
                </a:cubicBezTo>
                <a:lnTo>
                  <a:pt x="2647950" y="609602"/>
                </a:lnTo>
                <a:cubicBezTo>
                  <a:pt x="2647950" y="630643"/>
                  <a:pt x="2630893" y="647700"/>
                  <a:pt x="26098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9048750" y="5200650"/>
            <a:ext cx="2609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ref&gt;0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067800" y="5543550"/>
            <a:ext cx="2571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正在被使用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76963" y="6024563"/>
            <a:ext cx="5629275" cy="447675"/>
          </a:xfrm>
          <a:custGeom>
            <a:avLst/>
            <a:gdLst/>
            <a:ahLst/>
            <a:cxnLst/>
            <a:rect l="l" t="t" r="r" b="b"/>
            <a:pathLst>
              <a:path w="5629275" h="447675">
                <a:moveTo>
                  <a:pt x="76199" y="0"/>
                </a:moveTo>
                <a:lnTo>
                  <a:pt x="5553076" y="0"/>
                </a:lnTo>
                <a:cubicBezTo>
                  <a:pt x="5595160" y="0"/>
                  <a:pt x="5629275" y="34115"/>
                  <a:pt x="5629275" y="76199"/>
                </a:cubicBezTo>
                <a:lnTo>
                  <a:pt x="5629275" y="371476"/>
                </a:lnTo>
                <a:cubicBezTo>
                  <a:pt x="5629275" y="413560"/>
                  <a:pt x="5595160" y="447675"/>
                  <a:pt x="55530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319838" y="6162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586538" y="6143625"/>
            <a:ext cx="40862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注意：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引用计数不仅保护叶子节点，还保护其所有祖先节点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321" y="340321"/>
            <a:ext cx="11579422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kern="0" spc="54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LRU EVICTION ALGORITHM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0321" y="612578"/>
            <a:ext cx="11664502" cy="340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2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LRU 淘汰算法与级联效应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4575" y="1127313"/>
            <a:ext cx="5657837" cy="5504692"/>
          </a:xfrm>
          <a:custGeom>
            <a:avLst/>
            <a:gdLst/>
            <a:ahLst/>
            <a:cxnLst/>
            <a:rect l="l" t="t" r="r" b="b"/>
            <a:pathLst>
              <a:path w="5657837" h="5504692">
                <a:moveTo>
                  <a:pt x="68038" y="0"/>
                </a:moveTo>
                <a:lnTo>
                  <a:pt x="5589799" y="0"/>
                </a:lnTo>
                <a:cubicBezTo>
                  <a:pt x="5627375" y="0"/>
                  <a:pt x="5657837" y="30462"/>
                  <a:pt x="5657837" y="68038"/>
                </a:cubicBezTo>
                <a:lnTo>
                  <a:pt x="5657837" y="5436654"/>
                </a:lnTo>
                <a:cubicBezTo>
                  <a:pt x="5657837" y="5474231"/>
                  <a:pt x="5627375" y="5504692"/>
                  <a:pt x="5589799" y="5504692"/>
                </a:cubicBezTo>
                <a:lnTo>
                  <a:pt x="68038" y="5504692"/>
                </a:lnTo>
                <a:cubicBezTo>
                  <a:pt x="30462" y="5504692"/>
                  <a:pt x="0" y="5474231"/>
                  <a:pt x="0" y="5436654"/>
                </a:cubicBezTo>
                <a:lnTo>
                  <a:pt x="0" y="68038"/>
                </a:lnTo>
                <a:cubicBezTo>
                  <a:pt x="0" y="30462"/>
                  <a:pt x="30462" y="0"/>
                  <a:pt x="6803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1752" y="1318744"/>
            <a:ext cx="229717" cy="204193"/>
          </a:xfrm>
          <a:custGeom>
            <a:avLst/>
            <a:gdLst/>
            <a:ahLst/>
            <a:cxnLst/>
            <a:rect l="l" t="t" r="r" b="b"/>
            <a:pathLst>
              <a:path w="229717" h="204193">
                <a:moveTo>
                  <a:pt x="143892" y="479"/>
                </a:moveTo>
                <a:cubicBezTo>
                  <a:pt x="137112" y="-1476"/>
                  <a:pt x="130053" y="2473"/>
                  <a:pt x="128099" y="9252"/>
                </a:cubicBezTo>
                <a:lnTo>
                  <a:pt x="77051" y="187921"/>
                </a:lnTo>
                <a:cubicBezTo>
                  <a:pt x="75097" y="194701"/>
                  <a:pt x="79045" y="201760"/>
                  <a:pt x="85825" y="203714"/>
                </a:cubicBezTo>
                <a:cubicBezTo>
                  <a:pt x="92605" y="205668"/>
                  <a:pt x="99664" y="201720"/>
                  <a:pt x="101618" y="194940"/>
                </a:cubicBezTo>
                <a:lnTo>
                  <a:pt x="152666" y="16272"/>
                </a:lnTo>
                <a:cubicBezTo>
                  <a:pt x="154620" y="9492"/>
                  <a:pt x="150672" y="2433"/>
                  <a:pt x="143892" y="479"/>
                </a:cubicBezTo>
                <a:close/>
                <a:moveTo>
                  <a:pt x="169655" y="54757"/>
                </a:moveTo>
                <a:cubicBezTo>
                  <a:pt x="164670" y="59742"/>
                  <a:pt x="164670" y="67838"/>
                  <a:pt x="169655" y="72823"/>
                </a:cubicBezTo>
                <a:lnTo>
                  <a:pt x="198928" y="102096"/>
                </a:lnTo>
                <a:lnTo>
                  <a:pt x="169655" y="131369"/>
                </a:lnTo>
                <a:cubicBezTo>
                  <a:pt x="164670" y="136354"/>
                  <a:pt x="164670" y="144450"/>
                  <a:pt x="169655" y="149435"/>
                </a:cubicBezTo>
                <a:cubicBezTo>
                  <a:pt x="174641" y="154421"/>
                  <a:pt x="182736" y="154421"/>
                  <a:pt x="187722" y="149435"/>
                </a:cubicBezTo>
                <a:lnTo>
                  <a:pt x="226008" y="111149"/>
                </a:lnTo>
                <a:cubicBezTo>
                  <a:pt x="230993" y="106164"/>
                  <a:pt x="230993" y="98068"/>
                  <a:pt x="226008" y="93083"/>
                </a:cubicBezTo>
                <a:lnTo>
                  <a:pt x="187722" y="54797"/>
                </a:lnTo>
                <a:cubicBezTo>
                  <a:pt x="182736" y="49812"/>
                  <a:pt x="174641" y="49812"/>
                  <a:pt x="169655" y="54797"/>
                </a:cubicBezTo>
                <a:close/>
                <a:moveTo>
                  <a:pt x="60101" y="54757"/>
                </a:moveTo>
                <a:cubicBezTo>
                  <a:pt x="55116" y="49772"/>
                  <a:pt x="47020" y="49772"/>
                  <a:pt x="42035" y="54757"/>
                </a:cubicBezTo>
                <a:lnTo>
                  <a:pt x="3749" y="93043"/>
                </a:lnTo>
                <a:cubicBezTo>
                  <a:pt x="-1236" y="98028"/>
                  <a:pt x="-1236" y="106124"/>
                  <a:pt x="3749" y="111109"/>
                </a:cubicBezTo>
                <a:lnTo>
                  <a:pt x="42035" y="149396"/>
                </a:lnTo>
                <a:cubicBezTo>
                  <a:pt x="47020" y="154381"/>
                  <a:pt x="55116" y="154381"/>
                  <a:pt x="60101" y="149396"/>
                </a:cubicBezTo>
                <a:cubicBezTo>
                  <a:pt x="65086" y="144410"/>
                  <a:pt x="65086" y="136315"/>
                  <a:pt x="60101" y="131329"/>
                </a:cubicBezTo>
                <a:lnTo>
                  <a:pt x="30828" y="102096"/>
                </a:lnTo>
                <a:lnTo>
                  <a:pt x="60061" y="72823"/>
                </a:lnTo>
                <a:cubicBezTo>
                  <a:pt x="65047" y="67838"/>
                  <a:pt x="65047" y="59742"/>
                  <a:pt x="60061" y="5475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76327" y="1301728"/>
            <a:ext cx="1157091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evict_lru 实现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8990" y="1676081"/>
            <a:ext cx="5309008" cy="4781510"/>
          </a:xfrm>
          <a:custGeom>
            <a:avLst/>
            <a:gdLst/>
            <a:ahLst/>
            <a:cxnLst/>
            <a:rect l="l" t="t" r="r" b="b"/>
            <a:pathLst>
              <a:path w="5309008" h="4781510">
                <a:moveTo>
                  <a:pt x="34044" y="0"/>
                </a:moveTo>
                <a:lnTo>
                  <a:pt x="5274963" y="0"/>
                </a:lnTo>
                <a:cubicBezTo>
                  <a:pt x="5293766" y="0"/>
                  <a:pt x="5309008" y="15242"/>
                  <a:pt x="5309008" y="34044"/>
                </a:cubicBezTo>
                <a:lnTo>
                  <a:pt x="5309008" y="4747466"/>
                </a:lnTo>
                <a:cubicBezTo>
                  <a:pt x="5309008" y="4766268"/>
                  <a:pt x="5293766" y="4781510"/>
                  <a:pt x="5274963" y="4781510"/>
                </a:cubicBezTo>
                <a:lnTo>
                  <a:pt x="34044" y="4781510"/>
                </a:lnTo>
                <a:cubicBezTo>
                  <a:pt x="15242" y="4781510"/>
                  <a:pt x="0" y="4766268"/>
                  <a:pt x="0" y="4747466"/>
                </a:cubicBezTo>
                <a:lnTo>
                  <a:pt x="0" y="34044"/>
                </a:lnTo>
                <a:cubicBezTo>
                  <a:pt x="0" y="15242"/>
                  <a:pt x="15242" y="0"/>
                  <a:pt x="3404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55118" y="1812209"/>
            <a:ext cx="5104815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evict_lru(root, target_free):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3182" y="2016402"/>
            <a:ext cx="5036751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freed = 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3182" y="2220595"/>
            <a:ext cx="5036751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收集可淘汰的叶子节点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3182" y="2424787"/>
            <a:ext cx="5036751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leaves = collect_leaves(root)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182" y="2628980"/>
            <a:ext cx="5036751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按最后访问时间排序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3182" y="2833172"/>
            <a:ext cx="5036751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leaves.sort(key=lambda n: n.last_access)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3182" y="3037365"/>
            <a:ext cx="5036751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淘汰最久未使用的节点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3182" y="3241558"/>
            <a:ext cx="5036751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leaf in leaves: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1246" y="3445750"/>
            <a:ext cx="496868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freed &gt;= target_free: break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1246" y="3649943"/>
            <a:ext cx="496868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leaf.lock_ref &gt; 0: continue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1246" y="3854135"/>
            <a:ext cx="496868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freed += len(leaf.kv_blocks)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1246" y="4058328"/>
            <a:ext cx="496868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release_kv_blocks(leaf.kv_blocks)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1246" y="4262521"/>
            <a:ext cx="496868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remove_from_parent(leaf)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1246" y="4466713"/>
            <a:ext cx="496868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merge_single_child(leaf.parent)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3182" y="4670906"/>
            <a:ext cx="5036751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freed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84803" y="1127313"/>
            <a:ext cx="5657837" cy="2356723"/>
          </a:xfrm>
          <a:custGeom>
            <a:avLst/>
            <a:gdLst/>
            <a:ahLst/>
            <a:cxnLst/>
            <a:rect l="l" t="t" r="r" b="b"/>
            <a:pathLst>
              <a:path w="5657837" h="2356723">
                <a:moveTo>
                  <a:pt x="68062" y="0"/>
                </a:moveTo>
                <a:lnTo>
                  <a:pt x="5589775" y="0"/>
                </a:lnTo>
                <a:cubicBezTo>
                  <a:pt x="5627364" y="0"/>
                  <a:pt x="5657837" y="30472"/>
                  <a:pt x="5657837" y="68062"/>
                </a:cubicBezTo>
                <a:lnTo>
                  <a:pt x="5657837" y="2288661"/>
                </a:lnTo>
                <a:cubicBezTo>
                  <a:pt x="5657837" y="2326250"/>
                  <a:pt x="5627364" y="2356723"/>
                  <a:pt x="5589775" y="2356723"/>
                </a:cubicBezTo>
                <a:lnTo>
                  <a:pt x="68062" y="2356723"/>
                </a:lnTo>
                <a:cubicBezTo>
                  <a:pt x="30472" y="2356723"/>
                  <a:pt x="0" y="2326250"/>
                  <a:pt x="0" y="2288661"/>
                </a:cubicBezTo>
                <a:lnTo>
                  <a:pt x="0" y="68062"/>
                </a:lnTo>
                <a:cubicBezTo>
                  <a:pt x="0" y="30498"/>
                  <a:pt x="30498" y="0"/>
                  <a:pt x="6806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384741" y="1318744"/>
            <a:ext cx="204193" cy="204193"/>
          </a:xfrm>
          <a:custGeom>
            <a:avLst/>
            <a:gdLst/>
            <a:ahLst/>
            <a:cxnLst/>
            <a:rect l="l" t="t" r="r" b="b"/>
            <a:pathLst>
              <a:path w="204193" h="204193">
                <a:moveTo>
                  <a:pt x="0" y="28715"/>
                </a:moveTo>
                <a:cubicBezTo>
                  <a:pt x="0" y="23450"/>
                  <a:pt x="4267" y="19143"/>
                  <a:pt x="9572" y="19143"/>
                </a:cubicBezTo>
                <a:lnTo>
                  <a:pt x="28715" y="19143"/>
                </a:lnTo>
                <a:cubicBezTo>
                  <a:pt x="34019" y="19143"/>
                  <a:pt x="38286" y="23410"/>
                  <a:pt x="38286" y="28715"/>
                </a:cubicBezTo>
                <a:lnTo>
                  <a:pt x="38286" y="70191"/>
                </a:lnTo>
                <a:lnTo>
                  <a:pt x="47858" y="70191"/>
                </a:lnTo>
                <a:cubicBezTo>
                  <a:pt x="53162" y="70191"/>
                  <a:pt x="57429" y="74459"/>
                  <a:pt x="57429" y="79763"/>
                </a:cubicBezTo>
                <a:cubicBezTo>
                  <a:pt x="57429" y="85067"/>
                  <a:pt x="53162" y="89334"/>
                  <a:pt x="47858" y="89334"/>
                </a:cubicBezTo>
                <a:lnTo>
                  <a:pt x="9572" y="89334"/>
                </a:lnTo>
                <a:cubicBezTo>
                  <a:pt x="4267" y="89334"/>
                  <a:pt x="0" y="85067"/>
                  <a:pt x="0" y="79763"/>
                </a:cubicBezTo>
                <a:cubicBezTo>
                  <a:pt x="0" y="74459"/>
                  <a:pt x="4267" y="70191"/>
                  <a:pt x="9572" y="70191"/>
                </a:cubicBezTo>
                <a:lnTo>
                  <a:pt x="19143" y="70191"/>
                </a:lnTo>
                <a:lnTo>
                  <a:pt x="19143" y="38286"/>
                </a:lnTo>
                <a:lnTo>
                  <a:pt x="9572" y="38286"/>
                </a:lnTo>
                <a:cubicBezTo>
                  <a:pt x="4267" y="38286"/>
                  <a:pt x="0" y="34019"/>
                  <a:pt x="0" y="28715"/>
                </a:cubicBezTo>
                <a:close/>
                <a:moveTo>
                  <a:pt x="12124" y="120123"/>
                </a:moveTo>
                <a:cubicBezTo>
                  <a:pt x="16670" y="116693"/>
                  <a:pt x="22214" y="114858"/>
                  <a:pt x="27917" y="114858"/>
                </a:cubicBezTo>
                <a:lnTo>
                  <a:pt x="29871" y="114858"/>
                </a:lnTo>
                <a:cubicBezTo>
                  <a:pt x="43311" y="114858"/>
                  <a:pt x="54239" y="125786"/>
                  <a:pt x="54239" y="139226"/>
                </a:cubicBezTo>
                <a:cubicBezTo>
                  <a:pt x="54239" y="147043"/>
                  <a:pt x="50490" y="154341"/>
                  <a:pt x="44189" y="158927"/>
                </a:cubicBezTo>
                <a:lnTo>
                  <a:pt x="34617" y="165906"/>
                </a:lnTo>
                <a:lnTo>
                  <a:pt x="47858" y="165906"/>
                </a:lnTo>
                <a:cubicBezTo>
                  <a:pt x="53162" y="165906"/>
                  <a:pt x="57429" y="170174"/>
                  <a:pt x="57429" y="175478"/>
                </a:cubicBezTo>
                <a:cubicBezTo>
                  <a:pt x="57429" y="180782"/>
                  <a:pt x="53162" y="185050"/>
                  <a:pt x="47858" y="185050"/>
                </a:cubicBezTo>
                <a:lnTo>
                  <a:pt x="11685" y="185050"/>
                </a:lnTo>
                <a:cubicBezTo>
                  <a:pt x="5224" y="185050"/>
                  <a:pt x="0" y="179825"/>
                  <a:pt x="0" y="173364"/>
                </a:cubicBezTo>
                <a:cubicBezTo>
                  <a:pt x="0" y="169615"/>
                  <a:pt x="1795" y="166106"/>
                  <a:pt x="4826" y="163912"/>
                </a:cubicBezTo>
                <a:lnTo>
                  <a:pt x="32942" y="143453"/>
                </a:lnTo>
                <a:cubicBezTo>
                  <a:pt x="34298" y="142456"/>
                  <a:pt x="35096" y="140901"/>
                  <a:pt x="35096" y="139226"/>
                </a:cubicBezTo>
                <a:cubicBezTo>
                  <a:pt x="35096" y="136354"/>
                  <a:pt x="32743" y="134001"/>
                  <a:pt x="29871" y="134001"/>
                </a:cubicBezTo>
                <a:lnTo>
                  <a:pt x="27917" y="134001"/>
                </a:lnTo>
                <a:cubicBezTo>
                  <a:pt x="26362" y="134001"/>
                  <a:pt x="24846" y="134520"/>
                  <a:pt x="23610" y="135437"/>
                </a:cubicBezTo>
                <a:lnTo>
                  <a:pt x="15314" y="141659"/>
                </a:lnTo>
                <a:cubicBezTo>
                  <a:pt x="11087" y="144849"/>
                  <a:pt x="5105" y="143972"/>
                  <a:pt x="1914" y="139744"/>
                </a:cubicBezTo>
                <a:cubicBezTo>
                  <a:pt x="-1276" y="135517"/>
                  <a:pt x="-399" y="129535"/>
                  <a:pt x="3829" y="126344"/>
                </a:cubicBezTo>
                <a:lnTo>
                  <a:pt x="12124" y="120123"/>
                </a:lnTo>
                <a:close/>
                <a:moveTo>
                  <a:pt x="89334" y="25524"/>
                </a:moveTo>
                <a:lnTo>
                  <a:pt x="191431" y="25524"/>
                </a:lnTo>
                <a:cubicBezTo>
                  <a:pt x="198490" y="25524"/>
                  <a:pt x="204193" y="31227"/>
                  <a:pt x="204193" y="38286"/>
                </a:cubicBezTo>
                <a:cubicBezTo>
                  <a:pt x="204193" y="45345"/>
                  <a:pt x="198490" y="51048"/>
                  <a:pt x="191431" y="51048"/>
                </a:cubicBezTo>
                <a:lnTo>
                  <a:pt x="89334" y="51048"/>
                </a:lnTo>
                <a:cubicBezTo>
                  <a:pt x="82275" y="51048"/>
                  <a:pt x="76572" y="45345"/>
                  <a:pt x="76572" y="38286"/>
                </a:cubicBezTo>
                <a:cubicBezTo>
                  <a:pt x="76572" y="31227"/>
                  <a:pt x="82275" y="25524"/>
                  <a:pt x="89334" y="25524"/>
                </a:cubicBezTo>
                <a:close/>
                <a:moveTo>
                  <a:pt x="89334" y="89334"/>
                </a:moveTo>
                <a:lnTo>
                  <a:pt x="191431" y="89334"/>
                </a:lnTo>
                <a:cubicBezTo>
                  <a:pt x="198490" y="89334"/>
                  <a:pt x="204193" y="95037"/>
                  <a:pt x="204193" y="102096"/>
                </a:cubicBezTo>
                <a:cubicBezTo>
                  <a:pt x="204193" y="109155"/>
                  <a:pt x="198490" y="114858"/>
                  <a:pt x="191431" y="114858"/>
                </a:cubicBezTo>
                <a:lnTo>
                  <a:pt x="89334" y="114858"/>
                </a:lnTo>
                <a:cubicBezTo>
                  <a:pt x="82275" y="114858"/>
                  <a:pt x="76572" y="109155"/>
                  <a:pt x="76572" y="102096"/>
                </a:cubicBezTo>
                <a:cubicBezTo>
                  <a:pt x="76572" y="95037"/>
                  <a:pt x="82275" y="89334"/>
                  <a:pt x="89334" y="89334"/>
                </a:cubicBezTo>
                <a:close/>
                <a:moveTo>
                  <a:pt x="89334" y="153144"/>
                </a:moveTo>
                <a:lnTo>
                  <a:pt x="191431" y="153144"/>
                </a:lnTo>
                <a:cubicBezTo>
                  <a:pt x="198490" y="153144"/>
                  <a:pt x="204193" y="158847"/>
                  <a:pt x="204193" y="165906"/>
                </a:cubicBezTo>
                <a:cubicBezTo>
                  <a:pt x="204193" y="172965"/>
                  <a:pt x="198490" y="178669"/>
                  <a:pt x="191431" y="178669"/>
                </a:cubicBezTo>
                <a:lnTo>
                  <a:pt x="89334" y="178669"/>
                </a:lnTo>
                <a:cubicBezTo>
                  <a:pt x="82275" y="178669"/>
                  <a:pt x="76572" y="172965"/>
                  <a:pt x="76572" y="165906"/>
                </a:cubicBezTo>
                <a:cubicBezTo>
                  <a:pt x="76572" y="158847"/>
                  <a:pt x="82275" y="153144"/>
                  <a:pt x="89334" y="153144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716554" y="1301728"/>
            <a:ext cx="765722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淘汰流程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9217" y="1676081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34032" y="0"/>
                </a:moveTo>
                <a:lnTo>
                  <a:pt x="238225" y="0"/>
                </a:lnTo>
                <a:cubicBezTo>
                  <a:pt x="257020" y="0"/>
                  <a:pt x="272257" y="15237"/>
                  <a:pt x="272257" y="34032"/>
                </a:cubicBezTo>
                <a:lnTo>
                  <a:pt x="272257" y="238225"/>
                </a:lnTo>
                <a:cubicBezTo>
                  <a:pt x="272257" y="257020"/>
                  <a:pt x="257020" y="272257"/>
                  <a:pt x="238225" y="272257"/>
                </a:cubicBezTo>
                <a:lnTo>
                  <a:pt x="34032" y="272257"/>
                </a:lnTo>
                <a:cubicBezTo>
                  <a:pt x="15237" y="272257"/>
                  <a:pt x="0" y="257020"/>
                  <a:pt x="0" y="238225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325185" y="1676081"/>
            <a:ext cx="340321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33570" y="1710113"/>
            <a:ext cx="2909745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收集所有可淘汰的叶子节点（ref_count == 0）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9217" y="2016402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34032" y="0"/>
                </a:moveTo>
                <a:lnTo>
                  <a:pt x="238225" y="0"/>
                </a:lnTo>
                <a:cubicBezTo>
                  <a:pt x="257020" y="0"/>
                  <a:pt x="272257" y="15237"/>
                  <a:pt x="272257" y="34032"/>
                </a:cubicBezTo>
                <a:lnTo>
                  <a:pt x="272257" y="238225"/>
                </a:lnTo>
                <a:cubicBezTo>
                  <a:pt x="272257" y="257020"/>
                  <a:pt x="257020" y="272257"/>
                  <a:pt x="238225" y="272257"/>
                </a:cubicBezTo>
                <a:lnTo>
                  <a:pt x="34032" y="272257"/>
                </a:lnTo>
                <a:cubicBezTo>
                  <a:pt x="15237" y="272257"/>
                  <a:pt x="0" y="257020"/>
                  <a:pt x="0" y="238225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325185" y="2016402"/>
            <a:ext cx="340321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33570" y="2050434"/>
            <a:ext cx="2246119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按最后访问时间排序（最旧的在前）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9217" y="2356723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34032" y="0"/>
                </a:moveTo>
                <a:lnTo>
                  <a:pt x="238225" y="0"/>
                </a:lnTo>
                <a:cubicBezTo>
                  <a:pt x="257020" y="0"/>
                  <a:pt x="272257" y="15237"/>
                  <a:pt x="272257" y="34032"/>
                </a:cubicBezTo>
                <a:lnTo>
                  <a:pt x="272257" y="238225"/>
                </a:lnTo>
                <a:cubicBezTo>
                  <a:pt x="272257" y="257020"/>
                  <a:pt x="257020" y="272257"/>
                  <a:pt x="238225" y="272257"/>
                </a:cubicBezTo>
                <a:lnTo>
                  <a:pt x="34032" y="272257"/>
                </a:lnTo>
                <a:cubicBezTo>
                  <a:pt x="15237" y="272257"/>
                  <a:pt x="0" y="257020"/>
                  <a:pt x="0" y="238225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325185" y="2356723"/>
            <a:ext cx="340321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33570" y="2390755"/>
            <a:ext cx="2280151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跳过被锁定的节点（ref_count &gt; 0）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9217" y="2697044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34032" y="0"/>
                </a:moveTo>
                <a:lnTo>
                  <a:pt x="238225" y="0"/>
                </a:lnTo>
                <a:cubicBezTo>
                  <a:pt x="257020" y="0"/>
                  <a:pt x="272257" y="15237"/>
                  <a:pt x="272257" y="34032"/>
                </a:cubicBezTo>
                <a:lnTo>
                  <a:pt x="272257" y="238225"/>
                </a:lnTo>
                <a:cubicBezTo>
                  <a:pt x="272257" y="257020"/>
                  <a:pt x="257020" y="272257"/>
                  <a:pt x="238225" y="272257"/>
                </a:cubicBezTo>
                <a:lnTo>
                  <a:pt x="34032" y="272257"/>
                </a:lnTo>
                <a:cubicBezTo>
                  <a:pt x="15237" y="272257"/>
                  <a:pt x="0" y="257020"/>
                  <a:pt x="0" y="238225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325185" y="2697044"/>
            <a:ext cx="340321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33570" y="2731076"/>
            <a:ext cx="2246119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释放KV Cache Blocks并从树中移除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9217" y="3037365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34032" y="0"/>
                </a:moveTo>
                <a:lnTo>
                  <a:pt x="238225" y="0"/>
                </a:lnTo>
                <a:cubicBezTo>
                  <a:pt x="257020" y="0"/>
                  <a:pt x="272257" y="15237"/>
                  <a:pt x="272257" y="34032"/>
                </a:cubicBezTo>
                <a:lnTo>
                  <a:pt x="272257" y="238225"/>
                </a:lnTo>
                <a:cubicBezTo>
                  <a:pt x="272257" y="257020"/>
                  <a:pt x="257020" y="272257"/>
                  <a:pt x="238225" y="272257"/>
                </a:cubicBezTo>
                <a:lnTo>
                  <a:pt x="34032" y="272257"/>
                </a:lnTo>
                <a:cubicBezTo>
                  <a:pt x="15237" y="272257"/>
                  <a:pt x="0" y="257020"/>
                  <a:pt x="0" y="238225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325185" y="3037365"/>
            <a:ext cx="340321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33570" y="3071397"/>
            <a:ext cx="238224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如果父节点只剩一个子节点，合并路径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89057" y="3632927"/>
            <a:ext cx="5649329" cy="2994825"/>
          </a:xfrm>
          <a:custGeom>
            <a:avLst/>
            <a:gdLst/>
            <a:ahLst/>
            <a:cxnLst/>
            <a:rect l="l" t="t" r="r" b="b"/>
            <a:pathLst>
              <a:path w="5649329" h="2994825">
                <a:moveTo>
                  <a:pt x="68072" y="0"/>
                </a:moveTo>
                <a:lnTo>
                  <a:pt x="5581256" y="0"/>
                </a:lnTo>
                <a:cubicBezTo>
                  <a:pt x="5618852" y="0"/>
                  <a:pt x="5649329" y="30477"/>
                  <a:pt x="5649329" y="68072"/>
                </a:cubicBezTo>
                <a:lnTo>
                  <a:pt x="5649329" y="2926752"/>
                </a:lnTo>
                <a:cubicBezTo>
                  <a:pt x="5649329" y="2964348"/>
                  <a:pt x="5618852" y="2994825"/>
                  <a:pt x="5581256" y="2994825"/>
                </a:cubicBezTo>
                <a:lnTo>
                  <a:pt x="68072" y="2994825"/>
                </a:lnTo>
                <a:cubicBezTo>
                  <a:pt x="30477" y="2994825"/>
                  <a:pt x="0" y="2964348"/>
                  <a:pt x="0" y="2926752"/>
                </a:cubicBezTo>
                <a:lnTo>
                  <a:pt x="0" y="68072"/>
                </a:lnTo>
                <a:cubicBezTo>
                  <a:pt x="0" y="30477"/>
                  <a:pt x="30477" y="0"/>
                  <a:pt x="68072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393249" y="3828611"/>
            <a:ext cx="204193" cy="204193"/>
          </a:xfrm>
          <a:custGeom>
            <a:avLst/>
            <a:gdLst/>
            <a:ahLst/>
            <a:cxnLst/>
            <a:rect l="l" t="t" r="r" b="b"/>
            <a:pathLst>
              <a:path w="204193" h="204193">
                <a:moveTo>
                  <a:pt x="0" y="31905"/>
                </a:moveTo>
                <a:cubicBezTo>
                  <a:pt x="0" y="21337"/>
                  <a:pt x="8574" y="12762"/>
                  <a:pt x="19143" y="12762"/>
                </a:cubicBezTo>
                <a:lnTo>
                  <a:pt x="57429" y="12762"/>
                </a:lnTo>
                <a:cubicBezTo>
                  <a:pt x="67998" y="12762"/>
                  <a:pt x="76572" y="21337"/>
                  <a:pt x="76572" y="31905"/>
                </a:cubicBezTo>
                <a:lnTo>
                  <a:pt x="76572" y="38286"/>
                </a:lnTo>
                <a:lnTo>
                  <a:pt x="127620" y="38286"/>
                </a:lnTo>
                <a:lnTo>
                  <a:pt x="127620" y="31905"/>
                </a:lnTo>
                <a:cubicBezTo>
                  <a:pt x="127620" y="21337"/>
                  <a:pt x="136195" y="12762"/>
                  <a:pt x="146763" y="12762"/>
                </a:cubicBezTo>
                <a:lnTo>
                  <a:pt x="185050" y="12762"/>
                </a:lnTo>
                <a:cubicBezTo>
                  <a:pt x="195618" y="12762"/>
                  <a:pt x="204193" y="21337"/>
                  <a:pt x="204193" y="31905"/>
                </a:cubicBezTo>
                <a:lnTo>
                  <a:pt x="204193" y="70191"/>
                </a:lnTo>
                <a:cubicBezTo>
                  <a:pt x="204193" y="80760"/>
                  <a:pt x="195618" y="89334"/>
                  <a:pt x="185050" y="89334"/>
                </a:cubicBezTo>
                <a:lnTo>
                  <a:pt x="146763" y="89334"/>
                </a:lnTo>
                <a:cubicBezTo>
                  <a:pt x="136195" y="89334"/>
                  <a:pt x="127620" y="80760"/>
                  <a:pt x="127620" y="70191"/>
                </a:cubicBezTo>
                <a:lnTo>
                  <a:pt x="127620" y="63810"/>
                </a:lnTo>
                <a:lnTo>
                  <a:pt x="76572" y="63810"/>
                </a:lnTo>
                <a:lnTo>
                  <a:pt x="76572" y="70191"/>
                </a:lnTo>
                <a:cubicBezTo>
                  <a:pt x="76572" y="73103"/>
                  <a:pt x="75894" y="75894"/>
                  <a:pt x="74738" y="78367"/>
                </a:cubicBezTo>
                <a:lnTo>
                  <a:pt x="102096" y="114858"/>
                </a:lnTo>
                <a:lnTo>
                  <a:pt x="134001" y="114858"/>
                </a:lnTo>
                <a:cubicBezTo>
                  <a:pt x="144570" y="114858"/>
                  <a:pt x="153144" y="123433"/>
                  <a:pt x="153144" y="134001"/>
                </a:cubicBezTo>
                <a:lnTo>
                  <a:pt x="153144" y="172288"/>
                </a:lnTo>
                <a:cubicBezTo>
                  <a:pt x="153144" y="182856"/>
                  <a:pt x="144570" y="191431"/>
                  <a:pt x="134001" y="191431"/>
                </a:cubicBezTo>
                <a:lnTo>
                  <a:pt x="95715" y="191431"/>
                </a:lnTo>
                <a:cubicBezTo>
                  <a:pt x="85147" y="191431"/>
                  <a:pt x="76572" y="182856"/>
                  <a:pt x="76572" y="172288"/>
                </a:cubicBezTo>
                <a:lnTo>
                  <a:pt x="76572" y="134001"/>
                </a:lnTo>
                <a:cubicBezTo>
                  <a:pt x="76572" y="131090"/>
                  <a:pt x="77250" y="128298"/>
                  <a:pt x="78407" y="125826"/>
                </a:cubicBezTo>
                <a:lnTo>
                  <a:pt x="51048" y="89334"/>
                </a:lnTo>
                <a:lnTo>
                  <a:pt x="19143" y="89334"/>
                </a:lnTo>
                <a:cubicBezTo>
                  <a:pt x="8574" y="89334"/>
                  <a:pt x="0" y="80760"/>
                  <a:pt x="0" y="70191"/>
                </a:cubicBezTo>
                <a:lnTo>
                  <a:pt x="0" y="31905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725062" y="3811595"/>
            <a:ext cx="765722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淘汰示例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67725" y="4185948"/>
            <a:ext cx="5291992" cy="1735637"/>
          </a:xfrm>
          <a:custGeom>
            <a:avLst/>
            <a:gdLst/>
            <a:ahLst/>
            <a:cxnLst/>
            <a:rect l="l" t="t" r="r" b="b"/>
            <a:pathLst>
              <a:path w="5291992" h="1735637">
                <a:moveTo>
                  <a:pt x="34036" y="0"/>
                </a:moveTo>
                <a:lnTo>
                  <a:pt x="5257956" y="0"/>
                </a:lnTo>
                <a:cubicBezTo>
                  <a:pt x="5276753" y="0"/>
                  <a:pt x="5291992" y="15238"/>
                  <a:pt x="5291992" y="34036"/>
                </a:cubicBezTo>
                <a:lnTo>
                  <a:pt x="5291992" y="1701601"/>
                </a:lnTo>
                <a:cubicBezTo>
                  <a:pt x="5291992" y="1720399"/>
                  <a:pt x="5276753" y="1735637"/>
                  <a:pt x="5257956" y="1735637"/>
                </a:cubicBezTo>
                <a:lnTo>
                  <a:pt x="34036" y="1735637"/>
                </a:lnTo>
                <a:cubicBezTo>
                  <a:pt x="15238" y="1735637"/>
                  <a:pt x="0" y="1720399"/>
                  <a:pt x="0" y="1701601"/>
                </a:cubicBezTo>
                <a:lnTo>
                  <a:pt x="0" y="34036"/>
                </a:lnTo>
                <a:cubicBezTo>
                  <a:pt x="0" y="15238"/>
                  <a:pt x="15238" y="0"/>
                  <a:pt x="3403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503853" y="4322077"/>
            <a:ext cx="5087799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淘汰前：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03853" y="4594334"/>
            <a:ext cx="5087799" cy="612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"hello "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\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"world" "vllm"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03853" y="5309008"/>
            <a:ext cx="5087799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淘汰 "vllm" 后：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03853" y="5581264"/>
            <a:ext cx="5087799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"hello world"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84741" y="6023682"/>
            <a:ext cx="5274976" cy="425401"/>
          </a:xfrm>
          <a:custGeom>
            <a:avLst/>
            <a:gdLst/>
            <a:ahLst/>
            <a:cxnLst/>
            <a:rect l="l" t="t" r="r" b="b"/>
            <a:pathLst>
              <a:path w="5274976" h="425401">
                <a:moveTo>
                  <a:pt x="34032" y="0"/>
                </a:moveTo>
                <a:lnTo>
                  <a:pt x="5240943" y="0"/>
                </a:lnTo>
                <a:cubicBezTo>
                  <a:pt x="5259739" y="0"/>
                  <a:pt x="5274976" y="15237"/>
                  <a:pt x="5274976" y="34032"/>
                </a:cubicBezTo>
                <a:lnTo>
                  <a:pt x="5274976" y="391369"/>
                </a:lnTo>
                <a:cubicBezTo>
                  <a:pt x="5274976" y="410165"/>
                  <a:pt x="5259739" y="425401"/>
                  <a:pt x="5240943" y="425401"/>
                </a:cubicBezTo>
                <a:lnTo>
                  <a:pt x="34032" y="425401"/>
                </a:lnTo>
                <a:cubicBezTo>
                  <a:pt x="15237" y="425401"/>
                  <a:pt x="0" y="410165"/>
                  <a:pt x="0" y="391369"/>
                </a:cubicBezTo>
                <a:lnTo>
                  <a:pt x="0" y="34032"/>
                </a:lnTo>
                <a:cubicBezTo>
                  <a:pt x="0" y="15249"/>
                  <a:pt x="15249" y="0"/>
                  <a:pt x="34032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6384741" y="6023682"/>
            <a:ext cx="34032" cy="425401"/>
          </a:xfrm>
          <a:custGeom>
            <a:avLst/>
            <a:gdLst/>
            <a:ahLst/>
            <a:cxnLst/>
            <a:rect l="l" t="t" r="r" b="b"/>
            <a:pathLst>
              <a:path w="34032" h="425401">
                <a:moveTo>
                  <a:pt x="34032" y="0"/>
                </a:moveTo>
                <a:lnTo>
                  <a:pt x="34032" y="0"/>
                </a:lnTo>
                <a:lnTo>
                  <a:pt x="34032" y="425401"/>
                </a:lnTo>
                <a:lnTo>
                  <a:pt x="34032" y="425401"/>
                </a:lnTo>
                <a:cubicBezTo>
                  <a:pt x="15237" y="425401"/>
                  <a:pt x="0" y="410165"/>
                  <a:pt x="0" y="391369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503853" y="6125778"/>
            <a:ext cx="5121831" cy="221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2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级联效应：</a:t>
            </a:r>
            <a:r>
              <a:rPr lang="en-US" sz="1072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只能从叶子节点开始淘汰，父节点只剩一个子节点时合并以保持压缩特性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85763" y="1657350"/>
            <a:ext cx="1352550" cy="390525"/>
          </a:xfrm>
          <a:custGeom>
            <a:avLst/>
            <a:gdLst/>
            <a:ahLst/>
            <a:cxnLst/>
            <a:rect l="l" t="t" r="r" b="b"/>
            <a:pathLst>
              <a:path w="1352550" h="390525">
                <a:moveTo>
                  <a:pt x="76199" y="0"/>
                </a:moveTo>
                <a:lnTo>
                  <a:pt x="1276351" y="0"/>
                </a:lnTo>
                <a:cubicBezTo>
                  <a:pt x="1318434" y="0"/>
                  <a:pt x="1352550" y="34116"/>
                  <a:pt x="1352550" y="76199"/>
                </a:cubicBezTo>
                <a:lnTo>
                  <a:pt x="1352550" y="314326"/>
                </a:lnTo>
                <a:cubicBezTo>
                  <a:pt x="1352550" y="356409"/>
                  <a:pt x="1318434" y="390525"/>
                  <a:pt x="12763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270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1738313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81238"/>
            <a:ext cx="5486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SGLang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中的实现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24338"/>
            <a:ext cx="52578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RadixAttention 在 SGLang 推理系统中的落地实践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7206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524000" y="4976813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6个实现要点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SGLang 系统架构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066800"/>
            <a:ext cx="4495800" cy="1162050"/>
          </a:xfrm>
          <a:custGeom>
            <a:avLst/>
            <a:gdLst/>
            <a:ahLst/>
            <a:cxnLst/>
            <a:rect l="l" t="t" r="r" b="b"/>
            <a:pathLst>
              <a:path w="4495800" h="1162050">
                <a:moveTo>
                  <a:pt x="38100" y="0"/>
                </a:moveTo>
                <a:lnTo>
                  <a:pt x="4419604" y="0"/>
                </a:lnTo>
                <a:cubicBezTo>
                  <a:pt x="4461686" y="0"/>
                  <a:pt x="4495800" y="34114"/>
                  <a:pt x="4495800" y="76196"/>
                </a:cubicBezTo>
                <a:lnTo>
                  <a:pt x="4495800" y="1085854"/>
                </a:lnTo>
                <a:cubicBezTo>
                  <a:pt x="4495800" y="1127936"/>
                  <a:pt x="4461686" y="1162050"/>
                  <a:pt x="4419604" y="1162050"/>
                </a:cubicBezTo>
                <a:lnTo>
                  <a:pt x="38100" y="1162050"/>
                </a:lnTo>
                <a:cubicBezTo>
                  <a:pt x="17072" y="1162050"/>
                  <a:pt x="0" y="1144978"/>
                  <a:pt x="0" y="1123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066800"/>
            <a:ext cx="38100" cy="1162050"/>
          </a:xfrm>
          <a:custGeom>
            <a:avLst/>
            <a:gdLst/>
            <a:ahLst/>
            <a:cxnLst/>
            <a:rect l="l" t="t" r="r" b="b"/>
            <a:pathLst>
              <a:path w="38100" h="1162050">
                <a:moveTo>
                  <a:pt x="38100" y="0"/>
                </a:moveTo>
                <a:lnTo>
                  <a:pt x="38100" y="0"/>
                </a:lnTo>
                <a:lnTo>
                  <a:pt x="38100" y="1162050"/>
                </a:lnTo>
                <a:lnTo>
                  <a:pt x="38100" y="1162050"/>
                </a:lnTo>
                <a:cubicBezTo>
                  <a:pt x="17072" y="1162050"/>
                  <a:pt x="0" y="1144978"/>
                  <a:pt x="0" y="1123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57213" y="1228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52475" y="1181100"/>
            <a:ext cx="411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SGLang 的定位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400" y="1485900"/>
            <a:ext cx="43243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结构化语言模型程序的高效执行引擎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。支持复杂控制流、多次生成调用的复合任务，并通过 RadixAttention 实现跨调用的 KV Cache 自动复用。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2347913"/>
            <a:ext cx="4505325" cy="4124325"/>
          </a:xfrm>
          <a:custGeom>
            <a:avLst/>
            <a:gdLst/>
            <a:ahLst/>
            <a:cxnLst/>
            <a:rect l="l" t="t" r="r" b="b"/>
            <a:pathLst>
              <a:path w="4505325" h="4124325">
                <a:moveTo>
                  <a:pt x="76218" y="0"/>
                </a:moveTo>
                <a:lnTo>
                  <a:pt x="4429107" y="0"/>
                </a:lnTo>
                <a:cubicBezTo>
                  <a:pt x="4471201" y="0"/>
                  <a:pt x="4505325" y="34124"/>
                  <a:pt x="4505325" y="76218"/>
                </a:cubicBezTo>
                <a:lnTo>
                  <a:pt x="4505325" y="4048107"/>
                </a:lnTo>
                <a:cubicBezTo>
                  <a:pt x="4505325" y="4090201"/>
                  <a:pt x="4471201" y="4124325"/>
                  <a:pt x="4429107" y="4124325"/>
                </a:cubicBezTo>
                <a:lnTo>
                  <a:pt x="76218" y="4124325"/>
                </a:lnTo>
                <a:cubicBezTo>
                  <a:pt x="34124" y="4124325"/>
                  <a:pt x="0" y="4090201"/>
                  <a:pt x="0" y="4048107"/>
                </a:cubicBezTo>
                <a:lnTo>
                  <a:pt x="0" y="76218"/>
                </a:lnTo>
                <a:cubicBezTo>
                  <a:pt x="0" y="34152"/>
                  <a:pt x="34152" y="0"/>
                  <a:pt x="7621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28638" y="2514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95338" y="246697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三层架构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3875" y="3619500"/>
            <a:ext cx="4248150" cy="590550"/>
          </a:xfrm>
          <a:custGeom>
            <a:avLst/>
            <a:gdLst/>
            <a:ahLst/>
            <a:cxnLst/>
            <a:rect l="l" t="t" r="r" b="b"/>
            <a:pathLst>
              <a:path w="4248150" h="590550">
                <a:moveTo>
                  <a:pt x="38100" y="0"/>
                </a:moveTo>
                <a:lnTo>
                  <a:pt x="4210048" y="0"/>
                </a:lnTo>
                <a:cubicBezTo>
                  <a:pt x="4231077" y="0"/>
                  <a:pt x="4248150" y="17073"/>
                  <a:pt x="4248150" y="38102"/>
                </a:cubicBezTo>
                <a:lnTo>
                  <a:pt x="4248150" y="552448"/>
                </a:lnTo>
                <a:cubicBezTo>
                  <a:pt x="4248150" y="573491"/>
                  <a:pt x="4231091" y="590550"/>
                  <a:pt x="4210048" y="590550"/>
                </a:cubicBezTo>
                <a:lnTo>
                  <a:pt x="38100" y="590550"/>
                </a:lnTo>
                <a:cubicBezTo>
                  <a:pt x="17072" y="590550"/>
                  <a:pt x="0" y="573478"/>
                  <a:pt x="0" y="552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23875" y="3619500"/>
            <a:ext cx="38100" cy="590550"/>
          </a:xfrm>
          <a:custGeom>
            <a:avLst/>
            <a:gdLst/>
            <a:ahLst/>
            <a:cxnLst/>
            <a:rect l="l" t="t" r="r" b="b"/>
            <a:pathLst>
              <a:path w="38100" h="590550">
                <a:moveTo>
                  <a:pt x="38100" y="0"/>
                </a:moveTo>
                <a:lnTo>
                  <a:pt x="38100" y="0"/>
                </a:lnTo>
                <a:lnTo>
                  <a:pt x="38100" y="590550"/>
                </a:lnTo>
                <a:lnTo>
                  <a:pt x="38100" y="590550"/>
                </a:lnTo>
                <a:cubicBezTo>
                  <a:pt x="17072" y="590550"/>
                  <a:pt x="0" y="573478"/>
                  <a:pt x="0" y="552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19125" y="3695700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68738" y="3733800"/>
            <a:ext cx="676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DSL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9125" y="3943350"/>
            <a:ext cx="415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结构化LLM程序的Python领域特定语言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3875" y="4286250"/>
            <a:ext cx="4248150" cy="590550"/>
          </a:xfrm>
          <a:custGeom>
            <a:avLst/>
            <a:gdLst/>
            <a:ahLst/>
            <a:cxnLst/>
            <a:rect l="l" t="t" r="r" b="b"/>
            <a:pathLst>
              <a:path w="4248150" h="590550">
                <a:moveTo>
                  <a:pt x="38100" y="0"/>
                </a:moveTo>
                <a:lnTo>
                  <a:pt x="4210048" y="0"/>
                </a:lnTo>
                <a:cubicBezTo>
                  <a:pt x="4231077" y="0"/>
                  <a:pt x="4248150" y="17073"/>
                  <a:pt x="4248150" y="38102"/>
                </a:cubicBezTo>
                <a:lnTo>
                  <a:pt x="4248150" y="552448"/>
                </a:lnTo>
                <a:cubicBezTo>
                  <a:pt x="4248150" y="573491"/>
                  <a:pt x="4231091" y="590550"/>
                  <a:pt x="4210048" y="590550"/>
                </a:cubicBezTo>
                <a:lnTo>
                  <a:pt x="38100" y="590550"/>
                </a:lnTo>
                <a:cubicBezTo>
                  <a:pt x="17072" y="590550"/>
                  <a:pt x="0" y="573478"/>
                  <a:pt x="0" y="552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23875" y="4286250"/>
            <a:ext cx="38100" cy="590550"/>
          </a:xfrm>
          <a:custGeom>
            <a:avLst/>
            <a:gdLst/>
            <a:ahLst/>
            <a:cxnLst/>
            <a:rect l="l" t="t" r="r" b="b"/>
            <a:pathLst>
              <a:path w="38100" h="590550">
                <a:moveTo>
                  <a:pt x="38100" y="0"/>
                </a:moveTo>
                <a:lnTo>
                  <a:pt x="38100" y="0"/>
                </a:lnTo>
                <a:lnTo>
                  <a:pt x="38100" y="590550"/>
                </a:lnTo>
                <a:lnTo>
                  <a:pt x="38100" y="590550"/>
                </a:lnTo>
                <a:cubicBezTo>
                  <a:pt x="17072" y="590550"/>
                  <a:pt x="0" y="573478"/>
                  <a:pt x="0" y="552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19125" y="4362450"/>
            <a:ext cx="67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Runtime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20530" y="4400550"/>
            <a:ext cx="628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核心执行层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9125" y="4610100"/>
            <a:ext cx="415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包含 Scheduler、RadixCache、Executor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3875" y="4953000"/>
            <a:ext cx="4248150" cy="590550"/>
          </a:xfrm>
          <a:custGeom>
            <a:avLst/>
            <a:gdLst/>
            <a:ahLst/>
            <a:cxnLst/>
            <a:rect l="l" t="t" r="r" b="b"/>
            <a:pathLst>
              <a:path w="4248150" h="590550">
                <a:moveTo>
                  <a:pt x="38100" y="0"/>
                </a:moveTo>
                <a:lnTo>
                  <a:pt x="4210048" y="0"/>
                </a:lnTo>
                <a:cubicBezTo>
                  <a:pt x="4231077" y="0"/>
                  <a:pt x="4248150" y="17073"/>
                  <a:pt x="4248150" y="38102"/>
                </a:cubicBezTo>
                <a:lnTo>
                  <a:pt x="4248150" y="552448"/>
                </a:lnTo>
                <a:cubicBezTo>
                  <a:pt x="4248150" y="573491"/>
                  <a:pt x="4231091" y="590550"/>
                  <a:pt x="4210048" y="590550"/>
                </a:cubicBezTo>
                <a:lnTo>
                  <a:pt x="38100" y="590550"/>
                </a:lnTo>
                <a:cubicBezTo>
                  <a:pt x="17072" y="590550"/>
                  <a:pt x="0" y="573478"/>
                  <a:pt x="0" y="552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23875" y="4953000"/>
            <a:ext cx="38100" cy="590550"/>
          </a:xfrm>
          <a:custGeom>
            <a:avLst/>
            <a:gdLst/>
            <a:ahLst/>
            <a:cxnLst/>
            <a:rect l="l" t="t" r="r" b="b"/>
            <a:pathLst>
              <a:path w="38100" h="590550">
                <a:moveTo>
                  <a:pt x="38100" y="0"/>
                </a:moveTo>
                <a:lnTo>
                  <a:pt x="38100" y="0"/>
                </a:lnTo>
                <a:lnTo>
                  <a:pt x="38100" y="590550"/>
                </a:lnTo>
                <a:lnTo>
                  <a:pt x="38100" y="590550"/>
                </a:lnTo>
                <a:cubicBezTo>
                  <a:pt x="17072" y="590550"/>
                  <a:pt x="0" y="573478"/>
                  <a:pt x="0" y="552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19125" y="5029200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Backend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234830" y="50673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执行后端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9125" y="5276850"/>
            <a:ext cx="415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CUDA Kernels、PagedAttention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53980" y="1076325"/>
            <a:ext cx="6743700" cy="4324350"/>
          </a:xfrm>
          <a:custGeom>
            <a:avLst/>
            <a:gdLst/>
            <a:ahLst/>
            <a:cxnLst/>
            <a:rect l="l" t="t" r="r" b="b"/>
            <a:pathLst>
              <a:path w="6743700" h="4324350">
                <a:moveTo>
                  <a:pt x="76195" y="0"/>
                </a:moveTo>
                <a:lnTo>
                  <a:pt x="6667505" y="0"/>
                </a:lnTo>
                <a:cubicBezTo>
                  <a:pt x="6709586" y="0"/>
                  <a:pt x="6743700" y="34114"/>
                  <a:pt x="6743700" y="76195"/>
                </a:cubicBezTo>
                <a:lnTo>
                  <a:pt x="6743700" y="4248155"/>
                </a:lnTo>
                <a:cubicBezTo>
                  <a:pt x="6743700" y="4290236"/>
                  <a:pt x="6709586" y="4324350"/>
                  <a:pt x="6667505" y="4324350"/>
                </a:cubicBezTo>
                <a:lnTo>
                  <a:pt x="76195" y="4324350"/>
                </a:lnTo>
                <a:cubicBezTo>
                  <a:pt x="34114" y="4324350"/>
                  <a:pt x="0" y="4290236"/>
                  <a:pt x="0" y="424815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201617" y="1247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468317" y="1200150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Runtime 核心组件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77805" y="1543050"/>
            <a:ext cx="6496050" cy="3733800"/>
          </a:xfrm>
          <a:custGeom>
            <a:avLst/>
            <a:gdLst/>
            <a:ahLst/>
            <a:cxnLst/>
            <a:rect l="l" t="t" r="r" b="b"/>
            <a:pathLst>
              <a:path w="6496050" h="3733800">
                <a:moveTo>
                  <a:pt x="38085" y="0"/>
                </a:moveTo>
                <a:lnTo>
                  <a:pt x="6457965" y="0"/>
                </a:lnTo>
                <a:cubicBezTo>
                  <a:pt x="6478999" y="0"/>
                  <a:pt x="6496050" y="17051"/>
                  <a:pt x="6496050" y="38085"/>
                </a:cubicBezTo>
                <a:lnTo>
                  <a:pt x="6496050" y="3695715"/>
                </a:lnTo>
                <a:cubicBezTo>
                  <a:pt x="6496050" y="3716749"/>
                  <a:pt x="6478999" y="3733800"/>
                  <a:pt x="6457965" y="3733800"/>
                </a:cubicBezTo>
                <a:lnTo>
                  <a:pt x="38085" y="3733800"/>
                </a:lnTo>
                <a:cubicBezTo>
                  <a:pt x="17051" y="3733800"/>
                  <a:pt x="0" y="3716749"/>
                  <a:pt x="0" y="3695715"/>
                </a:cubicBezTo>
                <a:lnTo>
                  <a:pt x="0" y="38085"/>
                </a:lnTo>
                <a:cubicBezTo>
                  <a:pt x="0" y="17051"/>
                  <a:pt x="17051" y="0"/>
                  <a:pt x="3808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5296867" y="2366963"/>
            <a:ext cx="6257925" cy="466725"/>
          </a:xfrm>
          <a:custGeom>
            <a:avLst/>
            <a:gdLst/>
            <a:ahLst/>
            <a:cxnLst/>
            <a:rect l="l" t="t" r="r" b="b"/>
            <a:pathLst>
              <a:path w="6257925" h="466725">
                <a:moveTo>
                  <a:pt x="38099" y="0"/>
                </a:moveTo>
                <a:lnTo>
                  <a:pt x="6219826" y="0"/>
                </a:lnTo>
                <a:cubicBezTo>
                  <a:pt x="6240868" y="0"/>
                  <a:pt x="6257925" y="17057"/>
                  <a:pt x="6257925" y="38099"/>
                </a:cubicBezTo>
                <a:lnTo>
                  <a:pt x="6257925" y="428626"/>
                </a:lnTo>
                <a:cubicBezTo>
                  <a:pt x="6257925" y="449668"/>
                  <a:pt x="6240868" y="466725"/>
                  <a:pt x="6219826" y="466725"/>
                </a:cubicBezTo>
                <a:lnTo>
                  <a:pt x="38099" y="466725"/>
                </a:lnTo>
                <a:cubicBezTo>
                  <a:pt x="17057" y="466725"/>
                  <a:pt x="0" y="449668"/>
                  <a:pt x="0" y="428626"/>
                </a:cubicBezTo>
                <a:lnTo>
                  <a:pt x="0" y="38099"/>
                </a:lnTo>
                <a:cubicBezTo>
                  <a:pt x="0" y="17057"/>
                  <a:pt x="17057" y="0"/>
                  <a:pt x="38099" y="0"/>
                </a:cubicBezTo>
                <a:close/>
              </a:path>
            </a:pathLst>
          </a:custGeom>
          <a:solidFill>
            <a:srgbClr val="4A6C8C">
              <a:alpha val="5098"/>
            </a:srgbClr>
          </a:solidFill>
          <a:ln w="12700">
            <a:solidFill>
              <a:srgbClr val="4A6C8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377830" y="2447925"/>
            <a:ext cx="617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Scheduler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77830" y="2619375"/>
            <a:ext cx="61626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请求调度与批处理管理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80065" y="293370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44120" y="130902"/>
                </a:moveTo>
                <a:cubicBezTo>
                  <a:pt x="47376" y="134157"/>
                  <a:pt x="52663" y="134157"/>
                  <a:pt x="55918" y="130902"/>
                </a:cubicBezTo>
                <a:lnTo>
                  <a:pt x="97590" y="89230"/>
                </a:lnTo>
                <a:cubicBezTo>
                  <a:pt x="100846" y="85974"/>
                  <a:pt x="100846" y="80687"/>
                  <a:pt x="97590" y="77432"/>
                </a:cubicBezTo>
                <a:cubicBezTo>
                  <a:pt x="94335" y="74176"/>
                  <a:pt x="89048" y="74176"/>
                  <a:pt x="85792" y="77432"/>
                </a:cubicBezTo>
                <a:lnTo>
                  <a:pt x="58341" y="104883"/>
                </a:lnTo>
                <a:lnTo>
                  <a:pt x="58341" y="8334"/>
                </a:lnTo>
                <a:cubicBezTo>
                  <a:pt x="58341" y="3724"/>
                  <a:pt x="54616" y="0"/>
                  <a:pt x="50006" y="0"/>
                </a:cubicBezTo>
                <a:cubicBezTo>
                  <a:pt x="45396" y="0"/>
                  <a:pt x="41672" y="3724"/>
                  <a:pt x="41672" y="8334"/>
                </a:cubicBezTo>
                <a:lnTo>
                  <a:pt x="41672" y="104883"/>
                </a:lnTo>
                <a:lnTo>
                  <a:pt x="14221" y="77432"/>
                </a:lnTo>
                <a:cubicBezTo>
                  <a:pt x="10965" y="74176"/>
                  <a:pt x="5678" y="74176"/>
                  <a:pt x="2422" y="77432"/>
                </a:cubicBezTo>
                <a:cubicBezTo>
                  <a:pt x="-833" y="80687"/>
                  <a:pt x="-833" y="85974"/>
                  <a:pt x="2422" y="89230"/>
                </a:cubicBezTo>
                <a:lnTo>
                  <a:pt x="44094" y="13090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301630" y="3171825"/>
            <a:ext cx="6248400" cy="476250"/>
          </a:xfrm>
          <a:custGeom>
            <a:avLst/>
            <a:gdLst/>
            <a:ahLst/>
            <a:cxnLst/>
            <a:rect l="l" t="t" r="r" b="b"/>
            <a:pathLst>
              <a:path w="6248400" h="476250">
                <a:moveTo>
                  <a:pt x="38100" y="0"/>
                </a:moveTo>
                <a:lnTo>
                  <a:pt x="6210300" y="0"/>
                </a:lnTo>
                <a:cubicBezTo>
                  <a:pt x="6231328" y="0"/>
                  <a:pt x="6248400" y="17072"/>
                  <a:pt x="6248400" y="38100"/>
                </a:cubicBezTo>
                <a:lnTo>
                  <a:pt x="6248400" y="438150"/>
                </a:lnTo>
                <a:cubicBezTo>
                  <a:pt x="6248400" y="459178"/>
                  <a:pt x="6231328" y="476250"/>
                  <a:pt x="6210300" y="476250"/>
                </a:cubicBezTo>
                <a:lnTo>
                  <a:pt x="38100" y="476250"/>
                </a:lnTo>
                <a:cubicBezTo>
                  <a:pt x="17072" y="476250"/>
                  <a:pt x="0" y="459178"/>
                  <a:pt x="0" y="438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>
              <a:alpha val="10196"/>
            </a:srgbClr>
          </a:soli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387355" y="3257550"/>
            <a:ext cx="6153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RadixCache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87355" y="3429000"/>
            <a:ext cx="6143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 Cache 管理与前缀匹配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80065" y="37528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44120" y="130902"/>
                </a:moveTo>
                <a:cubicBezTo>
                  <a:pt x="47376" y="134157"/>
                  <a:pt x="52663" y="134157"/>
                  <a:pt x="55918" y="130902"/>
                </a:cubicBezTo>
                <a:lnTo>
                  <a:pt x="97590" y="89230"/>
                </a:lnTo>
                <a:cubicBezTo>
                  <a:pt x="100846" y="85974"/>
                  <a:pt x="100846" y="80687"/>
                  <a:pt x="97590" y="77432"/>
                </a:cubicBezTo>
                <a:cubicBezTo>
                  <a:pt x="94335" y="74176"/>
                  <a:pt x="89048" y="74176"/>
                  <a:pt x="85792" y="77432"/>
                </a:cubicBezTo>
                <a:lnTo>
                  <a:pt x="58341" y="104883"/>
                </a:lnTo>
                <a:lnTo>
                  <a:pt x="58341" y="8334"/>
                </a:lnTo>
                <a:cubicBezTo>
                  <a:pt x="58341" y="3724"/>
                  <a:pt x="54616" y="0"/>
                  <a:pt x="50006" y="0"/>
                </a:cubicBezTo>
                <a:cubicBezTo>
                  <a:pt x="45396" y="0"/>
                  <a:pt x="41672" y="3724"/>
                  <a:pt x="41672" y="8334"/>
                </a:cubicBezTo>
                <a:lnTo>
                  <a:pt x="41672" y="104883"/>
                </a:lnTo>
                <a:lnTo>
                  <a:pt x="14221" y="77432"/>
                </a:lnTo>
                <a:cubicBezTo>
                  <a:pt x="10965" y="74176"/>
                  <a:pt x="5678" y="74176"/>
                  <a:pt x="2422" y="77432"/>
                </a:cubicBezTo>
                <a:cubicBezTo>
                  <a:pt x="-833" y="80687"/>
                  <a:pt x="-833" y="85974"/>
                  <a:pt x="2422" y="89230"/>
                </a:cubicBezTo>
                <a:lnTo>
                  <a:pt x="44094" y="13090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5296867" y="3986213"/>
            <a:ext cx="6257925" cy="466725"/>
          </a:xfrm>
          <a:custGeom>
            <a:avLst/>
            <a:gdLst/>
            <a:ahLst/>
            <a:cxnLst/>
            <a:rect l="l" t="t" r="r" b="b"/>
            <a:pathLst>
              <a:path w="6257925" h="466725">
                <a:moveTo>
                  <a:pt x="38099" y="0"/>
                </a:moveTo>
                <a:lnTo>
                  <a:pt x="6219826" y="0"/>
                </a:lnTo>
                <a:cubicBezTo>
                  <a:pt x="6240868" y="0"/>
                  <a:pt x="6257925" y="17057"/>
                  <a:pt x="6257925" y="38099"/>
                </a:cubicBezTo>
                <a:lnTo>
                  <a:pt x="6257925" y="428626"/>
                </a:lnTo>
                <a:cubicBezTo>
                  <a:pt x="6257925" y="449668"/>
                  <a:pt x="6240868" y="466725"/>
                  <a:pt x="6219826" y="466725"/>
                </a:cubicBezTo>
                <a:lnTo>
                  <a:pt x="38099" y="466725"/>
                </a:lnTo>
                <a:cubicBezTo>
                  <a:pt x="17057" y="466725"/>
                  <a:pt x="0" y="449668"/>
                  <a:pt x="0" y="428626"/>
                </a:cubicBezTo>
                <a:lnTo>
                  <a:pt x="0" y="38099"/>
                </a:lnTo>
                <a:cubicBezTo>
                  <a:pt x="0" y="17057"/>
                  <a:pt x="17057" y="0"/>
                  <a:pt x="38099" y="0"/>
                </a:cubicBezTo>
                <a:close/>
              </a:path>
            </a:pathLst>
          </a:custGeom>
          <a:solidFill>
            <a:srgbClr val="788A9C">
              <a:alpha val="5098"/>
            </a:srgbClr>
          </a:solidFill>
          <a:ln w="12700">
            <a:solidFill>
              <a:srgbClr val="788A9C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377830" y="4067175"/>
            <a:ext cx="617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Executor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377830" y="4238625"/>
            <a:ext cx="61626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模型执行与计算管理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049217" y="5529263"/>
            <a:ext cx="6753225" cy="942975"/>
          </a:xfrm>
          <a:custGeom>
            <a:avLst/>
            <a:gdLst/>
            <a:ahLst/>
            <a:cxnLst/>
            <a:rect l="l" t="t" r="r" b="b"/>
            <a:pathLst>
              <a:path w="6753225" h="942975">
                <a:moveTo>
                  <a:pt x="76202" y="0"/>
                </a:moveTo>
                <a:lnTo>
                  <a:pt x="6677023" y="0"/>
                </a:lnTo>
                <a:cubicBezTo>
                  <a:pt x="6719108" y="0"/>
                  <a:pt x="6753225" y="34117"/>
                  <a:pt x="6753225" y="76202"/>
                </a:cubicBezTo>
                <a:lnTo>
                  <a:pt x="6753225" y="866773"/>
                </a:lnTo>
                <a:cubicBezTo>
                  <a:pt x="6753225" y="908858"/>
                  <a:pt x="6719108" y="942975"/>
                  <a:pt x="6677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5192092" y="56769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458792" y="5648325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RadixCache 职责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168280" y="5915025"/>
            <a:ext cx="2124075" cy="438150"/>
          </a:xfrm>
          <a:custGeom>
            <a:avLst/>
            <a:gdLst/>
            <a:ahLst/>
            <a:cxnLst/>
            <a:rect l="l" t="t" r="r" b="b"/>
            <a:pathLst>
              <a:path w="2124075" h="438150">
                <a:moveTo>
                  <a:pt x="38102" y="0"/>
                </a:moveTo>
                <a:lnTo>
                  <a:pt x="2085973" y="0"/>
                </a:lnTo>
                <a:cubicBezTo>
                  <a:pt x="2107016" y="0"/>
                  <a:pt x="2124075" y="17059"/>
                  <a:pt x="2124075" y="38102"/>
                </a:cubicBezTo>
                <a:lnTo>
                  <a:pt x="2124075" y="400048"/>
                </a:lnTo>
                <a:cubicBezTo>
                  <a:pt x="2124075" y="421091"/>
                  <a:pt x="2107016" y="438150"/>
                  <a:pt x="2085973" y="438150"/>
                </a:cubicBezTo>
                <a:lnTo>
                  <a:pt x="38102" y="438150"/>
                </a:lnTo>
                <a:cubicBezTo>
                  <a:pt x="17059" y="438150"/>
                  <a:pt x="0" y="421091"/>
                  <a:pt x="0" y="4000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5187330" y="59721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管理映射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187330" y="61436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token序列↔KV Cache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366620" y="5915025"/>
            <a:ext cx="2124075" cy="438150"/>
          </a:xfrm>
          <a:custGeom>
            <a:avLst/>
            <a:gdLst/>
            <a:ahLst/>
            <a:cxnLst/>
            <a:rect l="l" t="t" r="r" b="b"/>
            <a:pathLst>
              <a:path w="2124075" h="438150">
                <a:moveTo>
                  <a:pt x="38102" y="0"/>
                </a:moveTo>
                <a:lnTo>
                  <a:pt x="2085973" y="0"/>
                </a:lnTo>
                <a:cubicBezTo>
                  <a:pt x="2107016" y="0"/>
                  <a:pt x="2124075" y="17059"/>
                  <a:pt x="2124075" y="38102"/>
                </a:cubicBezTo>
                <a:lnTo>
                  <a:pt x="2124075" y="400048"/>
                </a:lnTo>
                <a:cubicBezTo>
                  <a:pt x="2124075" y="421091"/>
                  <a:pt x="2107016" y="438150"/>
                  <a:pt x="2085973" y="438150"/>
                </a:cubicBezTo>
                <a:lnTo>
                  <a:pt x="38102" y="438150"/>
                </a:lnTo>
                <a:cubicBezTo>
                  <a:pt x="17059" y="438150"/>
                  <a:pt x="0" y="421091"/>
                  <a:pt x="0" y="4000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7385670" y="59721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前缀匹配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385670" y="61436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为请求提供查询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564960" y="5915025"/>
            <a:ext cx="2124075" cy="438150"/>
          </a:xfrm>
          <a:custGeom>
            <a:avLst/>
            <a:gdLst/>
            <a:ahLst/>
            <a:cxnLst/>
            <a:rect l="l" t="t" r="r" b="b"/>
            <a:pathLst>
              <a:path w="2124075" h="438150">
                <a:moveTo>
                  <a:pt x="38102" y="0"/>
                </a:moveTo>
                <a:lnTo>
                  <a:pt x="2085973" y="0"/>
                </a:lnTo>
                <a:cubicBezTo>
                  <a:pt x="2107016" y="0"/>
                  <a:pt x="2124075" y="17059"/>
                  <a:pt x="2124075" y="38102"/>
                </a:cubicBezTo>
                <a:lnTo>
                  <a:pt x="2124075" y="400048"/>
                </a:lnTo>
                <a:cubicBezTo>
                  <a:pt x="2124075" y="421091"/>
                  <a:pt x="2107016" y="438150"/>
                  <a:pt x="2085973" y="438150"/>
                </a:cubicBezTo>
                <a:lnTo>
                  <a:pt x="38102" y="438150"/>
                </a:lnTo>
                <a:cubicBezTo>
                  <a:pt x="17059" y="438150"/>
                  <a:pt x="0" y="421091"/>
                  <a:pt x="0" y="4000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9584010" y="59721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内存调度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584010" y="61436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分配与淘汰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DATA STRUCTURES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核心数据结构：RadixCache 与 TreeNode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071563"/>
            <a:ext cx="5753100" cy="5400675"/>
          </a:xfrm>
          <a:custGeom>
            <a:avLst/>
            <a:gdLst/>
            <a:ahLst/>
            <a:cxnLst/>
            <a:rect l="l" t="t" r="r" b="b"/>
            <a:pathLst>
              <a:path w="5753100" h="5400675">
                <a:moveTo>
                  <a:pt x="76204" y="0"/>
                </a:moveTo>
                <a:lnTo>
                  <a:pt x="5676896" y="0"/>
                </a:lnTo>
                <a:cubicBezTo>
                  <a:pt x="5718983" y="0"/>
                  <a:pt x="5753100" y="34117"/>
                  <a:pt x="5753100" y="76204"/>
                </a:cubicBezTo>
                <a:lnTo>
                  <a:pt x="5753100" y="5324471"/>
                </a:lnTo>
                <a:cubicBezTo>
                  <a:pt x="5753100" y="5366558"/>
                  <a:pt x="5718983" y="5400675"/>
                  <a:pt x="5676896" y="5400675"/>
                </a:cubicBezTo>
                <a:lnTo>
                  <a:pt x="76204" y="5400675"/>
                </a:lnTo>
                <a:cubicBezTo>
                  <a:pt x="34117" y="5400675"/>
                  <a:pt x="0" y="5366558"/>
                  <a:pt x="0" y="53244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9353" y="12382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95338" y="1190625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RadixCache 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4825" y="1533525"/>
            <a:ext cx="5514975" cy="4819650"/>
          </a:xfrm>
          <a:custGeom>
            <a:avLst/>
            <a:gdLst/>
            <a:ahLst/>
            <a:cxnLst/>
            <a:rect l="l" t="t" r="r" b="b"/>
            <a:pathLst>
              <a:path w="5514975" h="4819650">
                <a:moveTo>
                  <a:pt x="38123" y="0"/>
                </a:moveTo>
                <a:lnTo>
                  <a:pt x="5476852" y="0"/>
                </a:lnTo>
                <a:cubicBezTo>
                  <a:pt x="5497907" y="0"/>
                  <a:pt x="5514975" y="17068"/>
                  <a:pt x="5514975" y="38123"/>
                </a:cubicBezTo>
                <a:lnTo>
                  <a:pt x="5514975" y="4781527"/>
                </a:lnTo>
                <a:cubicBezTo>
                  <a:pt x="5514975" y="4802582"/>
                  <a:pt x="5497907" y="4819650"/>
                  <a:pt x="5476852" y="4819650"/>
                </a:cubicBezTo>
                <a:lnTo>
                  <a:pt x="38123" y="4819650"/>
                </a:lnTo>
                <a:cubicBezTo>
                  <a:pt x="17068" y="4819650"/>
                  <a:pt x="0" y="4802582"/>
                  <a:pt x="0" y="4781527"/>
                </a:cubicBezTo>
                <a:lnTo>
                  <a:pt x="0" y="38123"/>
                </a:lnTo>
                <a:cubicBezTo>
                  <a:pt x="0" y="17083"/>
                  <a:pt x="17083" y="0"/>
                  <a:pt x="3812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81025" y="1609725"/>
            <a:ext cx="543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 RadixCache: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7225" y="1876425"/>
            <a:ext cx="5353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root_node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TreeNode </a:t>
            </a: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根节点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7225" y="2059781"/>
            <a:ext cx="5353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req_to_token_pool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TokenPool </a:t>
            </a: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Token管理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7225" y="2243138"/>
            <a:ext cx="5353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token_to_kv_pool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KVPool </a:t>
            </a: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KV Cache管理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225" y="2426494"/>
            <a:ext cx="5353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disable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bool </a:t>
            </a: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是否禁用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7225" y="2647950"/>
            <a:ext cx="536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统计信息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225" y="2876550"/>
            <a:ext cx="5353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total_cache_hit_tokens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int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7225" y="3059906"/>
            <a:ext cx="5353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total_cache_miss_tokens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int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7225" y="3281363"/>
            <a:ext cx="536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核心方法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7225" y="3509963"/>
            <a:ext cx="5353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match_prefix(rid, key) -&gt; (node, len)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7225" y="3693319"/>
            <a:ext cx="5353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insert(node, key, value)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7225" y="3876675"/>
            <a:ext cx="5353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evict(num_tokens) -&gt; int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5550" y="1076325"/>
            <a:ext cx="5495925" cy="4114800"/>
          </a:xfrm>
          <a:custGeom>
            <a:avLst/>
            <a:gdLst/>
            <a:ahLst/>
            <a:cxnLst/>
            <a:rect l="l" t="t" r="r" b="b"/>
            <a:pathLst>
              <a:path w="5495925" h="4114800">
                <a:moveTo>
                  <a:pt x="76206" y="0"/>
                </a:moveTo>
                <a:lnTo>
                  <a:pt x="5419719" y="0"/>
                </a:lnTo>
                <a:cubicBezTo>
                  <a:pt x="5461806" y="0"/>
                  <a:pt x="5495925" y="34119"/>
                  <a:pt x="5495925" y="76206"/>
                </a:cubicBezTo>
                <a:lnTo>
                  <a:pt x="5495925" y="4038594"/>
                </a:lnTo>
                <a:cubicBezTo>
                  <a:pt x="5495925" y="4080681"/>
                  <a:pt x="5461806" y="4114800"/>
                  <a:pt x="5419719" y="4114800"/>
                </a:cubicBezTo>
                <a:lnTo>
                  <a:pt x="76206" y="4114800"/>
                </a:lnTo>
                <a:cubicBezTo>
                  <a:pt x="34119" y="4114800"/>
                  <a:pt x="0" y="4080681"/>
                  <a:pt x="0" y="40385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463903" y="12477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6789" y="34826"/>
                </a:moveTo>
                <a:cubicBezTo>
                  <a:pt x="31225" y="34826"/>
                  <a:pt x="34826" y="31225"/>
                  <a:pt x="34826" y="26789"/>
                </a:cubicBezTo>
                <a:cubicBezTo>
                  <a:pt x="34826" y="22353"/>
                  <a:pt x="31225" y="18752"/>
                  <a:pt x="26789" y="18752"/>
                </a:cubicBezTo>
                <a:cubicBezTo>
                  <a:pt x="22353" y="18752"/>
                  <a:pt x="18752" y="22353"/>
                  <a:pt x="18752" y="26789"/>
                </a:cubicBezTo>
                <a:cubicBezTo>
                  <a:pt x="18752" y="31225"/>
                  <a:pt x="22353" y="34826"/>
                  <a:pt x="26789" y="34826"/>
                </a:cubicBezTo>
                <a:close/>
                <a:moveTo>
                  <a:pt x="53578" y="26789"/>
                </a:moveTo>
                <a:cubicBezTo>
                  <a:pt x="53578" y="37773"/>
                  <a:pt x="46981" y="47216"/>
                  <a:pt x="37505" y="51335"/>
                </a:cubicBezTo>
                <a:lnTo>
                  <a:pt x="37505" y="75009"/>
                </a:lnTo>
                <a:lnTo>
                  <a:pt x="96441" y="75009"/>
                </a:lnTo>
                <a:cubicBezTo>
                  <a:pt x="105315" y="75009"/>
                  <a:pt x="112514" y="67810"/>
                  <a:pt x="112514" y="58936"/>
                </a:cubicBezTo>
                <a:lnTo>
                  <a:pt x="112514" y="51335"/>
                </a:lnTo>
                <a:cubicBezTo>
                  <a:pt x="103037" y="47216"/>
                  <a:pt x="96441" y="37773"/>
                  <a:pt x="96441" y="26789"/>
                </a:cubicBezTo>
                <a:cubicBezTo>
                  <a:pt x="96441" y="11988"/>
                  <a:pt x="108429" y="0"/>
                  <a:pt x="123230" y="0"/>
                </a:cubicBezTo>
                <a:cubicBezTo>
                  <a:pt x="138031" y="0"/>
                  <a:pt x="150019" y="11988"/>
                  <a:pt x="150019" y="26789"/>
                </a:cubicBezTo>
                <a:cubicBezTo>
                  <a:pt x="150019" y="37773"/>
                  <a:pt x="143422" y="47216"/>
                  <a:pt x="133945" y="51335"/>
                </a:cubicBezTo>
                <a:lnTo>
                  <a:pt x="133945" y="58936"/>
                </a:lnTo>
                <a:cubicBezTo>
                  <a:pt x="133945" y="79664"/>
                  <a:pt x="117169" y="96441"/>
                  <a:pt x="96441" y="96441"/>
                </a:cubicBezTo>
                <a:lnTo>
                  <a:pt x="37505" y="96441"/>
                </a:lnTo>
                <a:lnTo>
                  <a:pt x="37505" y="120115"/>
                </a:lnTo>
                <a:cubicBezTo>
                  <a:pt x="46981" y="124234"/>
                  <a:pt x="53578" y="133677"/>
                  <a:pt x="53578" y="144661"/>
                </a:cubicBezTo>
                <a:cubicBezTo>
                  <a:pt x="53578" y="159462"/>
                  <a:pt x="41590" y="171450"/>
                  <a:pt x="26789" y="171450"/>
                </a:cubicBezTo>
                <a:cubicBezTo>
                  <a:pt x="11988" y="171450"/>
                  <a:pt x="0" y="159462"/>
                  <a:pt x="0" y="144661"/>
                </a:cubicBezTo>
                <a:cubicBezTo>
                  <a:pt x="0" y="133677"/>
                  <a:pt x="6597" y="124234"/>
                  <a:pt x="16073" y="120115"/>
                </a:cubicBezTo>
                <a:lnTo>
                  <a:pt x="16073" y="51368"/>
                </a:lnTo>
                <a:cubicBezTo>
                  <a:pt x="6597" y="47216"/>
                  <a:pt x="0" y="37773"/>
                  <a:pt x="0" y="26789"/>
                </a:cubicBezTo>
                <a:cubicBezTo>
                  <a:pt x="0" y="11988"/>
                  <a:pt x="11988" y="0"/>
                  <a:pt x="26789" y="0"/>
                </a:cubicBezTo>
                <a:cubicBezTo>
                  <a:pt x="41590" y="0"/>
                  <a:pt x="53578" y="11988"/>
                  <a:pt x="53578" y="26789"/>
                </a:cubicBezTo>
                <a:close/>
                <a:moveTo>
                  <a:pt x="131266" y="26789"/>
                </a:moveTo>
                <a:cubicBezTo>
                  <a:pt x="131266" y="22353"/>
                  <a:pt x="127665" y="18752"/>
                  <a:pt x="123230" y="18752"/>
                </a:cubicBezTo>
                <a:cubicBezTo>
                  <a:pt x="118794" y="18752"/>
                  <a:pt x="115193" y="22353"/>
                  <a:pt x="115193" y="26789"/>
                </a:cubicBezTo>
                <a:cubicBezTo>
                  <a:pt x="115193" y="31225"/>
                  <a:pt x="118794" y="34826"/>
                  <a:pt x="123230" y="34826"/>
                </a:cubicBezTo>
                <a:cubicBezTo>
                  <a:pt x="127665" y="34826"/>
                  <a:pt x="131266" y="31225"/>
                  <a:pt x="131266" y="26789"/>
                </a:cubicBezTo>
                <a:close/>
                <a:moveTo>
                  <a:pt x="26789" y="152698"/>
                </a:moveTo>
                <a:cubicBezTo>
                  <a:pt x="31225" y="152698"/>
                  <a:pt x="34826" y="149097"/>
                  <a:pt x="34826" y="144661"/>
                </a:cubicBezTo>
                <a:cubicBezTo>
                  <a:pt x="34826" y="140225"/>
                  <a:pt x="31225" y="136624"/>
                  <a:pt x="26789" y="136624"/>
                </a:cubicBezTo>
                <a:cubicBezTo>
                  <a:pt x="22353" y="136624"/>
                  <a:pt x="18752" y="140225"/>
                  <a:pt x="18752" y="144661"/>
                </a:cubicBezTo>
                <a:cubicBezTo>
                  <a:pt x="18752" y="149097"/>
                  <a:pt x="22353" y="152698"/>
                  <a:pt x="26789" y="152698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719888" y="1200150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TreeNode 结构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29375" y="1543050"/>
            <a:ext cx="5248275" cy="3524250"/>
          </a:xfrm>
          <a:custGeom>
            <a:avLst/>
            <a:gdLst/>
            <a:ahLst/>
            <a:cxnLst/>
            <a:rect l="l" t="t" r="r" b="b"/>
            <a:pathLst>
              <a:path w="5248275" h="3524250">
                <a:moveTo>
                  <a:pt x="38097" y="0"/>
                </a:moveTo>
                <a:lnTo>
                  <a:pt x="5210178" y="0"/>
                </a:lnTo>
                <a:cubicBezTo>
                  <a:pt x="5231204" y="0"/>
                  <a:pt x="5248275" y="17071"/>
                  <a:pt x="5248275" y="38097"/>
                </a:cubicBezTo>
                <a:lnTo>
                  <a:pt x="5248275" y="3486153"/>
                </a:lnTo>
                <a:cubicBezTo>
                  <a:pt x="5248275" y="3507193"/>
                  <a:pt x="5231218" y="3524250"/>
                  <a:pt x="5210178" y="3524250"/>
                </a:cubicBezTo>
                <a:lnTo>
                  <a:pt x="38097" y="3524250"/>
                </a:lnTo>
                <a:cubicBezTo>
                  <a:pt x="17071" y="3524250"/>
                  <a:pt x="0" y="3507179"/>
                  <a:pt x="0" y="3486153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505575" y="1619250"/>
            <a:ext cx="517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 TreeNode: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1775" y="1885950"/>
            <a:ext cx="50863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children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Dict[int, Node] </a:t>
            </a: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子节点映射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81775" y="2069306"/>
            <a:ext cx="50863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parent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Optional[Node] </a:t>
            </a: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父节点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81775" y="2252663"/>
            <a:ext cx="50863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List[int] </a:t>
            </a: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token序列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1775" y="2436019"/>
            <a:ext cx="50863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List[int] </a:t>
            </a: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KV Block索引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81775" y="2619375"/>
            <a:ext cx="50863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lock_ref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int </a:t>
            </a: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引用计数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81775" y="2802731"/>
            <a:ext cx="50863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last_access_time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float </a:t>
            </a: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访问时间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00788" y="5319713"/>
            <a:ext cx="5505450" cy="1152525"/>
          </a:xfrm>
          <a:custGeom>
            <a:avLst/>
            <a:gdLst/>
            <a:ahLst/>
            <a:cxnLst/>
            <a:rect l="l" t="t" r="r" b="b"/>
            <a:pathLst>
              <a:path w="5505450" h="1152525">
                <a:moveTo>
                  <a:pt x="76205" y="0"/>
                </a:moveTo>
                <a:lnTo>
                  <a:pt x="5429245" y="0"/>
                </a:lnTo>
                <a:cubicBezTo>
                  <a:pt x="5471332" y="0"/>
                  <a:pt x="5505450" y="34118"/>
                  <a:pt x="5505450" y="76205"/>
                </a:cubicBezTo>
                <a:lnTo>
                  <a:pt x="5505450" y="1076320"/>
                </a:lnTo>
                <a:cubicBezTo>
                  <a:pt x="5505450" y="1118407"/>
                  <a:pt x="5471332" y="1152525"/>
                  <a:pt x="5429245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443663" y="54673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2514" y="117872"/>
                </a:moveTo>
                <a:cubicBezTo>
                  <a:pt x="145063" y="117872"/>
                  <a:pt x="171450" y="91485"/>
                  <a:pt x="171450" y="58936"/>
                </a:cubicBezTo>
                <a:cubicBezTo>
                  <a:pt x="171450" y="26387"/>
                  <a:pt x="145063" y="0"/>
                  <a:pt x="112514" y="0"/>
                </a:cubicBezTo>
                <a:cubicBezTo>
                  <a:pt x="79965" y="0"/>
                  <a:pt x="53578" y="26387"/>
                  <a:pt x="53578" y="58936"/>
                </a:cubicBezTo>
                <a:cubicBezTo>
                  <a:pt x="53578" y="65198"/>
                  <a:pt x="54549" y="71259"/>
                  <a:pt x="56357" y="76918"/>
                </a:cubicBezTo>
                <a:lnTo>
                  <a:pt x="2344" y="130932"/>
                </a:lnTo>
                <a:cubicBezTo>
                  <a:pt x="837" y="132438"/>
                  <a:pt x="0" y="134481"/>
                  <a:pt x="0" y="136624"/>
                </a:cubicBezTo>
                <a:lnTo>
                  <a:pt x="0" y="163413"/>
                </a:lnTo>
                <a:cubicBezTo>
                  <a:pt x="0" y="167867"/>
                  <a:pt x="3583" y="171450"/>
                  <a:pt x="8037" y="171450"/>
                </a:cubicBezTo>
                <a:lnTo>
                  <a:pt x="34826" y="171450"/>
                </a:lnTo>
                <a:cubicBezTo>
                  <a:pt x="39279" y="171450"/>
                  <a:pt x="42863" y="167867"/>
                  <a:pt x="42863" y="163413"/>
                </a:cubicBezTo>
                <a:lnTo>
                  <a:pt x="42863" y="150019"/>
                </a:lnTo>
                <a:lnTo>
                  <a:pt x="56257" y="150019"/>
                </a:lnTo>
                <a:cubicBezTo>
                  <a:pt x="60711" y="150019"/>
                  <a:pt x="64294" y="146436"/>
                  <a:pt x="64294" y="141982"/>
                </a:cubicBezTo>
                <a:lnTo>
                  <a:pt x="64294" y="128588"/>
                </a:lnTo>
                <a:lnTo>
                  <a:pt x="77688" y="128588"/>
                </a:lnTo>
                <a:cubicBezTo>
                  <a:pt x="79831" y="128588"/>
                  <a:pt x="81874" y="127750"/>
                  <a:pt x="83381" y="126243"/>
                </a:cubicBezTo>
                <a:lnTo>
                  <a:pt x="94532" y="115093"/>
                </a:lnTo>
                <a:cubicBezTo>
                  <a:pt x="100191" y="116901"/>
                  <a:pt x="106252" y="117872"/>
                  <a:pt x="112514" y="117872"/>
                </a:cubicBezTo>
                <a:close/>
                <a:moveTo>
                  <a:pt x="125909" y="32147"/>
                </a:moveTo>
                <a:cubicBezTo>
                  <a:pt x="133301" y="32147"/>
                  <a:pt x="139303" y="38149"/>
                  <a:pt x="139303" y="45541"/>
                </a:cubicBezTo>
                <a:cubicBezTo>
                  <a:pt x="139303" y="52934"/>
                  <a:pt x="133301" y="58936"/>
                  <a:pt x="125909" y="58936"/>
                </a:cubicBezTo>
                <a:cubicBezTo>
                  <a:pt x="118516" y="58936"/>
                  <a:pt x="112514" y="52934"/>
                  <a:pt x="112514" y="45541"/>
                </a:cubicBezTo>
                <a:cubicBezTo>
                  <a:pt x="112514" y="38149"/>
                  <a:pt x="118516" y="32147"/>
                  <a:pt x="125909" y="3214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710363" y="54387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关键字段说明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19850" y="5705475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17221" y="5705475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存储压缩后的token序列片段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19850" y="5934075"/>
            <a:ext cx="552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77807" y="593407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对应KV Cache Block的索引列表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19850" y="6162675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lock_ref: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18611" y="6162675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引用计数，0表示可被LRU淘汰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内存池管理：TokenToKVPool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066800"/>
            <a:ext cx="5619750" cy="952500"/>
          </a:xfrm>
          <a:custGeom>
            <a:avLst/>
            <a:gdLst/>
            <a:ahLst/>
            <a:cxnLst/>
            <a:rect l="l" t="t" r="r" b="b"/>
            <a:pathLst>
              <a:path w="5619750" h="9525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876300"/>
                </a:lnTo>
                <a:cubicBezTo>
                  <a:pt x="5619750" y="918356"/>
                  <a:pt x="5585606" y="952500"/>
                  <a:pt x="55435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0668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57213" y="1228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9611" y="21431"/>
                  <a:pt x="0" y="31042"/>
                  <a:pt x="0" y="42863"/>
                </a:cubicBezTo>
                <a:lnTo>
                  <a:pt x="0" y="45340"/>
                </a:lnTo>
                <a:cubicBezTo>
                  <a:pt x="0" y="47618"/>
                  <a:pt x="1473" y="49560"/>
                  <a:pt x="3382" y="50799"/>
                </a:cubicBezTo>
                <a:cubicBezTo>
                  <a:pt x="7802" y="53679"/>
                  <a:pt x="10716" y="58635"/>
                  <a:pt x="10716" y="64294"/>
                </a:cubicBezTo>
                <a:cubicBezTo>
                  <a:pt x="10716" y="69953"/>
                  <a:pt x="7802" y="74909"/>
                  <a:pt x="3382" y="77789"/>
                </a:cubicBezTo>
                <a:cubicBezTo>
                  <a:pt x="1473" y="79028"/>
                  <a:pt x="0" y="80970"/>
                  <a:pt x="0" y="83247"/>
                </a:cubicBezTo>
                <a:lnTo>
                  <a:pt x="0" y="101798"/>
                </a:lnTo>
                <a:lnTo>
                  <a:pt x="171450" y="101798"/>
                </a:lnTo>
                <a:lnTo>
                  <a:pt x="171450" y="83247"/>
                </a:lnTo>
                <a:cubicBezTo>
                  <a:pt x="171450" y="80970"/>
                  <a:pt x="169977" y="79028"/>
                  <a:pt x="168068" y="77789"/>
                </a:cubicBezTo>
                <a:cubicBezTo>
                  <a:pt x="163648" y="74909"/>
                  <a:pt x="160734" y="69953"/>
                  <a:pt x="160734" y="64294"/>
                </a:cubicBezTo>
                <a:cubicBezTo>
                  <a:pt x="160734" y="58635"/>
                  <a:pt x="163648" y="53679"/>
                  <a:pt x="168068" y="50799"/>
                </a:cubicBezTo>
                <a:cubicBezTo>
                  <a:pt x="169977" y="49560"/>
                  <a:pt x="171450" y="47618"/>
                  <a:pt x="171450" y="45340"/>
                </a:cubicBezTo>
                <a:lnTo>
                  <a:pt x="171450" y="42862"/>
                </a:lnTo>
                <a:cubicBezTo>
                  <a:pt x="171450" y="31042"/>
                  <a:pt x="161839" y="21431"/>
                  <a:pt x="150019" y="21431"/>
                </a:cubicBezTo>
                <a:lnTo>
                  <a:pt x="21431" y="21431"/>
                </a:lnTo>
                <a:close/>
                <a:moveTo>
                  <a:pt x="171450" y="139303"/>
                </a:moveTo>
                <a:lnTo>
                  <a:pt x="171450" y="117872"/>
                </a:lnTo>
                <a:lnTo>
                  <a:pt x="0" y="117872"/>
                </a:lnTo>
                <a:lnTo>
                  <a:pt x="0" y="139303"/>
                </a:lnTo>
                <a:cubicBezTo>
                  <a:pt x="0" y="145230"/>
                  <a:pt x="4789" y="150019"/>
                  <a:pt x="10716" y="150019"/>
                </a:cubicBezTo>
                <a:lnTo>
                  <a:pt x="32147" y="150019"/>
                </a:lnTo>
                <a:lnTo>
                  <a:pt x="32147" y="141982"/>
                </a:lnTo>
                <a:cubicBezTo>
                  <a:pt x="32147" y="137528"/>
                  <a:pt x="35730" y="133945"/>
                  <a:pt x="40184" y="133945"/>
                </a:cubicBezTo>
                <a:cubicBezTo>
                  <a:pt x="44637" y="133945"/>
                  <a:pt x="48220" y="137528"/>
                  <a:pt x="48220" y="141982"/>
                </a:cubicBezTo>
                <a:lnTo>
                  <a:pt x="48220" y="150019"/>
                </a:lnTo>
                <a:lnTo>
                  <a:pt x="77688" y="150019"/>
                </a:lnTo>
                <a:lnTo>
                  <a:pt x="77688" y="141982"/>
                </a:lnTo>
                <a:cubicBezTo>
                  <a:pt x="77688" y="137528"/>
                  <a:pt x="81271" y="133945"/>
                  <a:pt x="85725" y="133945"/>
                </a:cubicBezTo>
                <a:cubicBezTo>
                  <a:pt x="90179" y="133945"/>
                  <a:pt x="93762" y="137528"/>
                  <a:pt x="93762" y="141982"/>
                </a:cubicBezTo>
                <a:lnTo>
                  <a:pt x="93762" y="150019"/>
                </a:lnTo>
                <a:lnTo>
                  <a:pt x="123230" y="150019"/>
                </a:lnTo>
                <a:lnTo>
                  <a:pt x="123230" y="141982"/>
                </a:lnTo>
                <a:cubicBezTo>
                  <a:pt x="123230" y="137528"/>
                  <a:pt x="126813" y="133945"/>
                  <a:pt x="131266" y="133945"/>
                </a:cubicBezTo>
                <a:cubicBezTo>
                  <a:pt x="135720" y="133945"/>
                  <a:pt x="139303" y="137528"/>
                  <a:pt x="139303" y="141982"/>
                </a:cubicBezTo>
                <a:lnTo>
                  <a:pt x="139303" y="150019"/>
                </a:lnTo>
                <a:lnTo>
                  <a:pt x="160734" y="150019"/>
                </a:lnTo>
                <a:cubicBezTo>
                  <a:pt x="166661" y="150019"/>
                  <a:pt x="171450" y="145230"/>
                  <a:pt x="171450" y="139303"/>
                </a:cubicBezTo>
                <a:close/>
                <a:moveTo>
                  <a:pt x="53578" y="53578"/>
                </a:moveTo>
                <a:lnTo>
                  <a:pt x="53578" y="75009"/>
                </a:lnTo>
                <a:cubicBezTo>
                  <a:pt x="53578" y="80936"/>
                  <a:pt x="48790" y="85725"/>
                  <a:pt x="42863" y="85725"/>
                </a:cubicBezTo>
                <a:cubicBezTo>
                  <a:pt x="36935" y="85725"/>
                  <a:pt x="32147" y="80936"/>
                  <a:pt x="32147" y="75009"/>
                </a:cubicBezTo>
                <a:lnTo>
                  <a:pt x="32147" y="53578"/>
                </a:lnTo>
                <a:cubicBezTo>
                  <a:pt x="32147" y="47651"/>
                  <a:pt x="36935" y="42863"/>
                  <a:pt x="42863" y="42863"/>
                </a:cubicBezTo>
                <a:cubicBezTo>
                  <a:pt x="48790" y="42863"/>
                  <a:pt x="53578" y="47651"/>
                  <a:pt x="53578" y="53578"/>
                </a:cubicBezTo>
                <a:close/>
                <a:moveTo>
                  <a:pt x="96441" y="53578"/>
                </a:moveTo>
                <a:lnTo>
                  <a:pt x="96441" y="75009"/>
                </a:lnTo>
                <a:cubicBezTo>
                  <a:pt x="96441" y="80936"/>
                  <a:pt x="91652" y="85725"/>
                  <a:pt x="85725" y="85725"/>
                </a:cubicBezTo>
                <a:cubicBezTo>
                  <a:pt x="79798" y="85725"/>
                  <a:pt x="75009" y="80936"/>
                  <a:pt x="75009" y="75009"/>
                </a:cubicBezTo>
                <a:lnTo>
                  <a:pt x="75009" y="53578"/>
                </a:lnTo>
                <a:cubicBezTo>
                  <a:pt x="75009" y="47651"/>
                  <a:pt x="79798" y="42863"/>
                  <a:pt x="85725" y="42863"/>
                </a:cubicBezTo>
                <a:cubicBezTo>
                  <a:pt x="91652" y="42863"/>
                  <a:pt x="96441" y="47651"/>
                  <a:pt x="96441" y="53578"/>
                </a:cubicBezTo>
                <a:close/>
                <a:moveTo>
                  <a:pt x="139303" y="53578"/>
                </a:moveTo>
                <a:lnTo>
                  <a:pt x="139303" y="75009"/>
                </a:lnTo>
                <a:cubicBezTo>
                  <a:pt x="139303" y="80936"/>
                  <a:pt x="134515" y="85725"/>
                  <a:pt x="128588" y="85725"/>
                </a:cubicBezTo>
                <a:cubicBezTo>
                  <a:pt x="122660" y="85725"/>
                  <a:pt x="117872" y="80936"/>
                  <a:pt x="117872" y="75009"/>
                </a:cubicBezTo>
                <a:lnTo>
                  <a:pt x="117872" y="53578"/>
                </a:lnTo>
                <a:cubicBezTo>
                  <a:pt x="117872" y="47651"/>
                  <a:pt x="122660" y="42863"/>
                  <a:pt x="128588" y="42863"/>
                </a:cubicBezTo>
                <a:cubicBezTo>
                  <a:pt x="134515" y="42863"/>
                  <a:pt x="139303" y="47651"/>
                  <a:pt x="139303" y="53578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52475" y="118110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内存池设计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400" y="1485900"/>
            <a:ext cx="5448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SGLang 使用专门的内存池管理 KV Cache Blocks，通过 </a:t>
            </a: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预分配显存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和 </a:t>
            </a: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空闲列表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实现高效的内存分配与释放。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2138363"/>
            <a:ext cx="5629275" cy="4333875"/>
          </a:xfrm>
          <a:custGeom>
            <a:avLst/>
            <a:gdLst/>
            <a:ahLst/>
            <a:cxnLst/>
            <a:rect l="l" t="t" r="r" b="b"/>
            <a:pathLst>
              <a:path w="5629275" h="4333875">
                <a:moveTo>
                  <a:pt x="76190" y="0"/>
                </a:moveTo>
                <a:lnTo>
                  <a:pt x="5553085" y="0"/>
                </a:lnTo>
                <a:cubicBezTo>
                  <a:pt x="5595164" y="0"/>
                  <a:pt x="5629275" y="34111"/>
                  <a:pt x="5629275" y="76190"/>
                </a:cubicBezTo>
                <a:lnTo>
                  <a:pt x="5629275" y="4257685"/>
                </a:lnTo>
                <a:cubicBezTo>
                  <a:pt x="5629275" y="4299764"/>
                  <a:pt x="5595164" y="4333875"/>
                  <a:pt x="5553085" y="4333875"/>
                </a:cubicBezTo>
                <a:lnTo>
                  <a:pt x="76190" y="4333875"/>
                </a:lnTo>
                <a:cubicBezTo>
                  <a:pt x="34111" y="4333875"/>
                  <a:pt x="0" y="4299764"/>
                  <a:pt x="0" y="4257685"/>
                </a:cubicBezTo>
                <a:lnTo>
                  <a:pt x="0" y="76190"/>
                </a:lnTo>
                <a:cubicBezTo>
                  <a:pt x="0" y="34111"/>
                  <a:pt x="34111" y="0"/>
                  <a:pt x="7619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17922" y="23050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95338" y="2257425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TokenToKVPool 类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4825" y="2600325"/>
            <a:ext cx="5391150" cy="3752850"/>
          </a:xfrm>
          <a:custGeom>
            <a:avLst/>
            <a:gdLst/>
            <a:ahLst/>
            <a:cxnLst/>
            <a:rect l="l" t="t" r="r" b="b"/>
            <a:pathLst>
              <a:path w="5391150" h="3752850">
                <a:moveTo>
                  <a:pt x="38091" y="0"/>
                </a:moveTo>
                <a:lnTo>
                  <a:pt x="5353059" y="0"/>
                </a:lnTo>
                <a:cubicBezTo>
                  <a:pt x="5374082" y="0"/>
                  <a:pt x="5391150" y="17068"/>
                  <a:pt x="5391150" y="38091"/>
                </a:cubicBezTo>
                <a:lnTo>
                  <a:pt x="5391150" y="3714759"/>
                </a:lnTo>
                <a:cubicBezTo>
                  <a:pt x="5391150" y="3735796"/>
                  <a:pt x="5374096" y="3752850"/>
                  <a:pt x="5353059" y="3752850"/>
                </a:cubicBezTo>
                <a:lnTo>
                  <a:pt x="38091" y="3752850"/>
                </a:lnTo>
                <a:cubicBezTo>
                  <a:pt x="17068" y="3752850"/>
                  <a:pt x="0" y="3735782"/>
                  <a:pt x="0" y="3714759"/>
                </a:cubicBezTo>
                <a:lnTo>
                  <a:pt x="0" y="38091"/>
                </a:lnTo>
                <a:cubicBezTo>
                  <a:pt x="0" y="17068"/>
                  <a:pt x="17068" y="0"/>
                  <a:pt x="3809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81025" y="2676525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 TokenToKVPool: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225" y="2943225"/>
            <a:ext cx="52292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k_buffer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torch.Tensor </a:t>
            </a: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K缓存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7225" y="3126581"/>
            <a:ext cx="52292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v_buffer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torch.Tensor </a:t>
            </a: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V缓存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7225" y="3309938"/>
            <a:ext cx="52292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free_slots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List[int] </a:t>
            </a: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空闲列表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7225" y="3531394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核心方法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7225" y="3759994"/>
            <a:ext cx="52292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alloc(num_blocks) -&gt; List[int]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7225" y="3943350"/>
            <a:ext cx="52292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free(block_ids)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81725" y="1076325"/>
            <a:ext cx="5619750" cy="4286250"/>
          </a:xfrm>
          <a:custGeom>
            <a:avLst/>
            <a:gdLst/>
            <a:ahLst/>
            <a:cxnLst/>
            <a:rect l="l" t="t" r="r" b="b"/>
            <a:pathLst>
              <a:path w="5619750" h="4286250">
                <a:moveTo>
                  <a:pt x="76210" y="0"/>
                </a:moveTo>
                <a:lnTo>
                  <a:pt x="5543540" y="0"/>
                </a:lnTo>
                <a:cubicBezTo>
                  <a:pt x="5585630" y="0"/>
                  <a:pt x="5619750" y="34120"/>
                  <a:pt x="5619750" y="76210"/>
                </a:cubicBezTo>
                <a:lnTo>
                  <a:pt x="5619750" y="4210040"/>
                </a:lnTo>
                <a:cubicBezTo>
                  <a:pt x="5619750" y="4252130"/>
                  <a:pt x="5585630" y="4286250"/>
                  <a:pt x="5543540" y="4286250"/>
                </a:cubicBezTo>
                <a:lnTo>
                  <a:pt x="76210" y="4286250"/>
                </a:lnTo>
                <a:cubicBezTo>
                  <a:pt x="34120" y="4286250"/>
                  <a:pt x="0" y="4252130"/>
                  <a:pt x="0" y="42100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307931" y="12477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596063" y="120015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内存管理流程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5550" y="2057400"/>
            <a:ext cx="5372100" cy="609600"/>
          </a:xfrm>
          <a:custGeom>
            <a:avLst/>
            <a:gdLst/>
            <a:ahLst/>
            <a:cxnLst/>
            <a:rect l="l" t="t" r="r" b="b"/>
            <a:pathLst>
              <a:path w="5372100" h="609600">
                <a:moveTo>
                  <a:pt x="38100" y="0"/>
                </a:moveTo>
                <a:lnTo>
                  <a:pt x="5334000" y="0"/>
                </a:lnTo>
                <a:cubicBezTo>
                  <a:pt x="5355028" y="0"/>
                  <a:pt x="5372100" y="17072"/>
                  <a:pt x="5372100" y="38100"/>
                </a:cubicBezTo>
                <a:lnTo>
                  <a:pt x="5372100" y="571500"/>
                </a:lnTo>
                <a:cubicBezTo>
                  <a:pt x="5372100" y="592528"/>
                  <a:pt x="5355028" y="609600"/>
                  <a:pt x="53340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381750" y="2133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353175" y="21336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86550" y="2171700"/>
            <a:ext cx="53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初始化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86550" y="2400300"/>
            <a:ext cx="499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预分配固定大小的KV Cache显存，初始化空闲列表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05550" y="2743200"/>
            <a:ext cx="5372100" cy="609600"/>
          </a:xfrm>
          <a:custGeom>
            <a:avLst/>
            <a:gdLst/>
            <a:ahLst/>
            <a:cxnLst/>
            <a:rect l="l" t="t" r="r" b="b"/>
            <a:pathLst>
              <a:path w="5372100" h="609600">
                <a:moveTo>
                  <a:pt x="38100" y="0"/>
                </a:moveTo>
                <a:lnTo>
                  <a:pt x="5334000" y="0"/>
                </a:lnTo>
                <a:cubicBezTo>
                  <a:pt x="5355028" y="0"/>
                  <a:pt x="5372100" y="17072"/>
                  <a:pt x="5372100" y="38100"/>
                </a:cubicBezTo>
                <a:lnTo>
                  <a:pt x="5372100" y="571500"/>
                </a:lnTo>
                <a:cubicBezTo>
                  <a:pt x="5372100" y="592528"/>
                  <a:pt x="5355028" y="609600"/>
                  <a:pt x="53340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381750" y="2819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353175" y="28194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86550" y="28575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分配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86550" y="3086100"/>
            <a:ext cx="499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从free_slots中取出指定数量的block索引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05550" y="3429000"/>
            <a:ext cx="5372100" cy="609600"/>
          </a:xfrm>
          <a:custGeom>
            <a:avLst/>
            <a:gdLst/>
            <a:ahLst/>
            <a:cxnLst/>
            <a:rect l="l" t="t" r="r" b="b"/>
            <a:pathLst>
              <a:path w="5372100" h="609600">
                <a:moveTo>
                  <a:pt x="38100" y="0"/>
                </a:moveTo>
                <a:lnTo>
                  <a:pt x="5334000" y="0"/>
                </a:lnTo>
                <a:cubicBezTo>
                  <a:pt x="5355028" y="0"/>
                  <a:pt x="5372100" y="17072"/>
                  <a:pt x="5372100" y="38100"/>
                </a:cubicBezTo>
                <a:lnTo>
                  <a:pt x="5372100" y="571500"/>
                </a:lnTo>
                <a:cubicBezTo>
                  <a:pt x="5372100" y="592528"/>
                  <a:pt x="5355028" y="609600"/>
                  <a:pt x="53340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381750" y="3505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353175" y="35052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86550" y="35433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释放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86550" y="3771900"/>
            <a:ext cx="499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将block索引归还到free_slots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05550" y="4114800"/>
            <a:ext cx="5372100" cy="609600"/>
          </a:xfrm>
          <a:custGeom>
            <a:avLst/>
            <a:gdLst/>
            <a:ahLst/>
            <a:cxnLst/>
            <a:rect l="l" t="t" r="r" b="b"/>
            <a:pathLst>
              <a:path w="5372100" h="609600">
                <a:moveTo>
                  <a:pt x="38100" y="0"/>
                </a:moveTo>
                <a:lnTo>
                  <a:pt x="5334000" y="0"/>
                </a:lnTo>
                <a:cubicBezTo>
                  <a:pt x="5355028" y="0"/>
                  <a:pt x="5372100" y="17072"/>
                  <a:pt x="5372100" y="38100"/>
                </a:cubicBezTo>
                <a:lnTo>
                  <a:pt x="5372100" y="571500"/>
                </a:lnTo>
                <a:cubicBezTo>
                  <a:pt x="5372100" y="592528"/>
                  <a:pt x="5355028" y="609600"/>
                  <a:pt x="53340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381750" y="4191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353175" y="41910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86550" y="42291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淘汰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86550" y="4457700"/>
            <a:ext cx="499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LRU淘汰时释放最久未使用的blocks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76963" y="5491163"/>
            <a:ext cx="5629275" cy="981075"/>
          </a:xfrm>
          <a:custGeom>
            <a:avLst/>
            <a:gdLst/>
            <a:ahLst/>
            <a:cxnLst/>
            <a:rect l="l" t="t" r="r" b="b"/>
            <a:pathLst>
              <a:path w="5629275" h="981075">
                <a:moveTo>
                  <a:pt x="76200" y="0"/>
                </a:moveTo>
                <a:lnTo>
                  <a:pt x="5553075" y="0"/>
                </a:lnTo>
                <a:cubicBezTo>
                  <a:pt x="5595159" y="0"/>
                  <a:pt x="5629275" y="34116"/>
                  <a:pt x="5629275" y="76200"/>
                </a:cubicBezTo>
                <a:lnTo>
                  <a:pt x="5629275" y="904875"/>
                </a:lnTo>
                <a:cubicBezTo>
                  <a:pt x="5629275" y="946959"/>
                  <a:pt x="5595159" y="981075"/>
                  <a:pt x="5553075" y="981075"/>
                </a:cubicBezTo>
                <a:lnTo>
                  <a:pt x="76200" y="981075"/>
                </a:lnTo>
                <a:cubicBezTo>
                  <a:pt x="34116" y="981075"/>
                  <a:pt x="0" y="946959"/>
                  <a:pt x="0" y="904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319838" y="56388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586538" y="561022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两层内存池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96025" y="5876925"/>
            <a:ext cx="2657475" cy="476250"/>
          </a:xfrm>
          <a:custGeom>
            <a:avLst/>
            <a:gdLst/>
            <a:ahLst/>
            <a:cxnLst/>
            <a:rect l="l" t="t" r="r" b="b"/>
            <a:pathLst>
              <a:path w="2657475" h="476250">
                <a:moveTo>
                  <a:pt x="38100" y="0"/>
                </a:moveTo>
                <a:lnTo>
                  <a:pt x="2619375" y="0"/>
                </a:lnTo>
                <a:cubicBezTo>
                  <a:pt x="2640403" y="0"/>
                  <a:pt x="2657475" y="17072"/>
                  <a:pt x="2657475" y="38100"/>
                </a:cubicBezTo>
                <a:lnTo>
                  <a:pt x="2657475" y="438150"/>
                </a:lnTo>
                <a:cubicBezTo>
                  <a:pt x="2657475" y="459178"/>
                  <a:pt x="2640403" y="476250"/>
                  <a:pt x="2619375" y="476250"/>
                </a:cubicBezTo>
                <a:lnTo>
                  <a:pt x="38100" y="476250"/>
                </a:lnTo>
                <a:cubicBezTo>
                  <a:pt x="17072" y="476250"/>
                  <a:pt x="0" y="459178"/>
                  <a:pt x="0" y="438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372225" y="5953125"/>
            <a:ext cx="2581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Token Pool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72225" y="6124575"/>
            <a:ext cx="2581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管理token到物理位置的映射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029700" y="5876925"/>
            <a:ext cx="2657475" cy="476250"/>
          </a:xfrm>
          <a:custGeom>
            <a:avLst/>
            <a:gdLst/>
            <a:ahLst/>
            <a:cxnLst/>
            <a:rect l="l" t="t" r="r" b="b"/>
            <a:pathLst>
              <a:path w="2657475" h="476250">
                <a:moveTo>
                  <a:pt x="38100" y="0"/>
                </a:moveTo>
                <a:lnTo>
                  <a:pt x="2619375" y="0"/>
                </a:lnTo>
                <a:cubicBezTo>
                  <a:pt x="2640403" y="0"/>
                  <a:pt x="2657475" y="17072"/>
                  <a:pt x="2657475" y="38100"/>
                </a:cubicBezTo>
                <a:lnTo>
                  <a:pt x="2657475" y="438150"/>
                </a:lnTo>
                <a:cubicBezTo>
                  <a:pt x="2657475" y="459178"/>
                  <a:pt x="2640403" y="476250"/>
                  <a:pt x="2619375" y="476250"/>
                </a:cubicBezTo>
                <a:lnTo>
                  <a:pt x="38100" y="476250"/>
                </a:lnTo>
                <a:cubicBezTo>
                  <a:pt x="17072" y="476250"/>
                  <a:pt x="0" y="459178"/>
                  <a:pt x="0" y="438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9105900" y="5953125"/>
            <a:ext cx="2581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KV Pool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105900" y="6124575"/>
            <a:ext cx="2581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管理实际的KV Cache显存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OPERATIONS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关键操作：前缀匹配与插入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071563"/>
            <a:ext cx="5753100" cy="5400675"/>
          </a:xfrm>
          <a:custGeom>
            <a:avLst/>
            <a:gdLst/>
            <a:ahLst/>
            <a:cxnLst/>
            <a:rect l="l" t="t" r="r" b="b"/>
            <a:pathLst>
              <a:path w="5753100" h="5400675">
                <a:moveTo>
                  <a:pt x="76204" y="0"/>
                </a:moveTo>
                <a:lnTo>
                  <a:pt x="5676896" y="0"/>
                </a:lnTo>
                <a:cubicBezTo>
                  <a:pt x="5718983" y="0"/>
                  <a:pt x="5753100" y="34117"/>
                  <a:pt x="5753100" y="76204"/>
                </a:cubicBezTo>
                <a:lnTo>
                  <a:pt x="5753100" y="5324471"/>
                </a:lnTo>
                <a:cubicBezTo>
                  <a:pt x="5753100" y="5366558"/>
                  <a:pt x="5718983" y="5400675"/>
                  <a:pt x="5676896" y="5400675"/>
                </a:cubicBezTo>
                <a:lnTo>
                  <a:pt x="76204" y="5400675"/>
                </a:lnTo>
                <a:cubicBezTo>
                  <a:pt x="34117" y="5400675"/>
                  <a:pt x="0" y="5366558"/>
                  <a:pt x="0" y="53244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8638" y="1238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95338" y="1190625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match_prefix 方法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4825" y="1533525"/>
            <a:ext cx="5514975" cy="4819650"/>
          </a:xfrm>
          <a:custGeom>
            <a:avLst/>
            <a:gdLst/>
            <a:ahLst/>
            <a:cxnLst/>
            <a:rect l="l" t="t" r="r" b="b"/>
            <a:pathLst>
              <a:path w="5514975" h="4819650">
                <a:moveTo>
                  <a:pt x="38123" y="0"/>
                </a:moveTo>
                <a:lnTo>
                  <a:pt x="5476852" y="0"/>
                </a:lnTo>
                <a:cubicBezTo>
                  <a:pt x="5497907" y="0"/>
                  <a:pt x="5514975" y="17068"/>
                  <a:pt x="5514975" y="38123"/>
                </a:cubicBezTo>
                <a:lnTo>
                  <a:pt x="5514975" y="4781527"/>
                </a:lnTo>
                <a:cubicBezTo>
                  <a:pt x="5514975" y="4802582"/>
                  <a:pt x="5497907" y="4819650"/>
                  <a:pt x="5476852" y="4819650"/>
                </a:cubicBezTo>
                <a:lnTo>
                  <a:pt x="38123" y="4819650"/>
                </a:lnTo>
                <a:cubicBezTo>
                  <a:pt x="17068" y="4819650"/>
                  <a:pt x="0" y="4802582"/>
                  <a:pt x="0" y="4781527"/>
                </a:cubicBezTo>
                <a:lnTo>
                  <a:pt x="0" y="38123"/>
                </a:lnTo>
                <a:cubicBezTo>
                  <a:pt x="0" y="17083"/>
                  <a:pt x="17083" y="0"/>
                  <a:pt x="3812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81025" y="1609725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match_prefix(self, rid, key):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7225" y="18002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self.disable: return root, 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7225" y="19907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= self.root_node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7225" y="21812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prefix_len = 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225" y="23717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key_len = len(key)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7225" y="26003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while prefix_len &lt; key_len: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3425" y="27908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first_token = key[prefix_len]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3425" y="29813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first_token not in current.children: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9625" y="3171825"/>
            <a:ext cx="520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break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3425" y="33623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child = current.children[first_token]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3425" y="35528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child_key = child.key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3425" y="37433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match_len = 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3425" y="39338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检查子节点的key是否匹配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3425" y="41243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while match_len &lt; len(child_key) and ...: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9625" y="4314825"/>
            <a:ext cx="520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child_key[match_len] != key[...]: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5825" y="4505325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break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9625" y="4695825"/>
            <a:ext cx="520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match_len += 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3425" y="48863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prefix_len += match_len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3425" y="50768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match_len &lt; len(child_key):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9625" y="5267325"/>
            <a:ext cx="520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break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3425" y="54578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= child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7225" y="56864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更新统计信息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7225" y="58769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self.total_cache_hit_tokens += prefix_len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7225" y="60674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self.total_cache_miss_tokens += key_len - prefix_len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7225" y="62579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current, prefix_len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05550" y="151415"/>
            <a:ext cx="5495925" cy="6058885"/>
          </a:xfrm>
          <a:custGeom>
            <a:avLst/>
            <a:gdLst/>
            <a:ahLst/>
            <a:cxnLst/>
            <a:rect l="l" t="t" r="r" b="b"/>
            <a:pathLst>
              <a:path w="5495925" h="4819650">
                <a:moveTo>
                  <a:pt x="76199" y="0"/>
                </a:moveTo>
                <a:lnTo>
                  <a:pt x="5419726" y="0"/>
                </a:lnTo>
                <a:cubicBezTo>
                  <a:pt x="5461810" y="0"/>
                  <a:pt x="5495925" y="34115"/>
                  <a:pt x="5495925" y="76199"/>
                </a:cubicBezTo>
                <a:lnTo>
                  <a:pt x="5495925" y="4743451"/>
                </a:lnTo>
                <a:cubicBezTo>
                  <a:pt x="5495925" y="4785535"/>
                  <a:pt x="5461810" y="4819650"/>
                  <a:pt x="5419726" y="4819650"/>
                </a:cubicBezTo>
                <a:lnTo>
                  <a:pt x="76199" y="4819650"/>
                </a:lnTo>
                <a:cubicBezTo>
                  <a:pt x="34115" y="4819650"/>
                  <a:pt x="0" y="4785535"/>
                  <a:pt x="0" y="47434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453188" y="32286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7688" y="115193"/>
                </a:moveTo>
                <a:lnTo>
                  <a:pt x="77688" y="93762"/>
                </a:lnTo>
                <a:lnTo>
                  <a:pt x="56257" y="93762"/>
                </a:lnTo>
                <a:cubicBezTo>
                  <a:pt x="51803" y="93762"/>
                  <a:pt x="48220" y="90179"/>
                  <a:pt x="48220" y="85725"/>
                </a:cubicBezTo>
                <a:cubicBezTo>
                  <a:pt x="48220" y="81271"/>
                  <a:pt x="51803" y="77688"/>
                  <a:pt x="56257" y="77688"/>
                </a:cubicBezTo>
                <a:lnTo>
                  <a:pt x="77688" y="77688"/>
                </a:lnTo>
                <a:lnTo>
                  <a:pt x="77688" y="56257"/>
                </a:lnTo>
                <a:cubicBezTo>
                  <a:pt x="77688" y="51803"/>
                  <a:pt x="81271" y="48220"/>
                  <a:pt x="85725" y="48220"/>
                </a:cubicBezTo>
                <a:cubicBezTo>
                  <a:pt x="90179" y="48220"/>
                  <a:pt x="93762" y="51803"/>
                  <a:pt x="93762" y="56257"/>
                </a:cubicBezTo>
                <a:lnTo>
                  <a:pt x="93762" y="77688"/>
                </a:lnTo>
                <a:lnTo>
                  <a:pt x="115193" y="77688"/>
                </a:lnTo>
                <a:cubicBezTo>
                  <a:pt x="119647" y="77688"/>
                  <a:pt x="123230" y="81271"/>
                  <a:pt x="123230" y="85725"/>
                </a:cubicBezTo>
                <a:cubicBezTo>
                  <a:pt x="123230" y="90179"/>
                  <a:pt x="119647" y="93762"/>
                  <a:pt x="115193" y="93762"/>
                </a:cubicBezTo>
                <a:lnTo>
                  <a:pt x="93762" y="93762"/>
                </a:lnTo>
                <a:lnTo>
                  <a:pt x="93762" y="115193"/>
                </a:lnTo>
                <a:cubicBezTo>
                  <a:pt x="93762" y="119647"/>
                  <a:pt x="90179" y="123230"/>
                  <a:pt x="85725" y="123230"/>
                </a:cubicBezTo>
                <a:cubicBezTo>
                  <a:pt x="81271" y="123230"/>
                  <a:pt x="77688" y="119647"/>
                  <a:pt x="77688" y="115193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719888" y="275241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insert 方法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9375" y="618141"/>
            <a:ext cx="5248275" cy="5449284"/>
          </a:xfrm>
          <a:custGeom>
            <a:avLst/>
            <a:gdLst/>
            <a:ahLst/>
            <a:cxnLst/>
            <a:rect l="l" t="t" r="r" b="b"/>
            <a:pathLst>
              <a:path w="5248275" h="4229100">
                <a:moveTo>
                  <a:pt x="38104" y="0"/>
                </a:moveTo>
                <a:lnTo>
                  <a:pt x="5210171" y="0"/>
                </a:lnTo>
                <a:cubicBezTo>
                  <a:pt x="5231215" y="0"/>
                  <a:pt x="5248275" y="17060"/>
                  <a:pt x="5248275" y="38104"/>
                </a:cubicBezTo>
                <a:lnTo>
                  <a:pt x="5248275" y="4190996"/>
                </a:lnTo>
                <a:cubicBezTo>
                  <a:pt x="5248275" y="4212040"/>
                  <a:pt x="5231215" y="4229100"/>
                  <a:pt x="5210171" y="4229100"/>
                </a:cubicBezTo>
                <a:lnTo>
                  <a:pt x="38104" y="4229100"/>
                </a:lnTo>
                <a:cubicBezTo>
                  <a:pt x="17060" y="4229100"/>
                  <a:pt x="0" y="4212040"/>
                  <a:pt x="0" y="4190996"/>
                </a:cubicBezTo>
                <a:lnTo>
                  <a:pt x="0" y="38104"/>
                </a:lnTo>
                <a:cubicBezTo>
                  <a:pt x="0" y="17074"/>
                  <a:pt x="17074" y="0"/>
                  <a:pt x="3810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505575" y="694341"/>
            <a:ext cx="516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insert(self, node, key, value):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81775" y="884841"/>
            <a:ext cx="508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self.disable or len(key) == 0: return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81775" y="1075341"/>
            <a:ext cx="508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= node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81775" y="1265841"/>
            <a:ext cx="508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key_pos = 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81775" y="1494441"/>
            <a:ext cx="508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while key_pos &lt; len(key):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57975" y="1684941"/>
            <a:ext cx="501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first_token = key[key_pos]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57975" y="1875441"/>
            <a:ext cx="501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first_token in current.children: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34175" y="2065941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child = current.children[first_token]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34175" y="2256441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child_key = child.key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34175" y="2446941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common_len = 0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34175" y="2637441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找到公共前缀长度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34175" y="2827941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while common_len &lt; len(child_key) and ...: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10375" y="3018441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child_key[...] == key[...]: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86575" y="3208941"/>
            <a:ext cx="478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common_len += 1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34175" y="3399441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common_len &lt; len(child_key):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10375" y="3589941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self._split_node(child, common_len)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734175" y="3780441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key_pos += common_len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34175" y="3970941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= child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657975" y="4161441"/>
            <a:ext cx="501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else: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734175" y="4351941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创建新节点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734175" y="4542441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new_node = TreeNode()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34175" y="4732941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new_node.key = key[key_pos:]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734175" y="4944465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new_node.value = value[key_pos:]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734175" y="5166495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new_node.parent = current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734175" y="5356995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current.children[first_token] = new_node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34175" y="5547495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break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581775" y="5776095"/>
            <a:ext cx="508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current.last_access_time = time.time()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00788" y="6318850"/>
            <a:ext cx="5505450" cy="447675"/>
          </a:xfrm>
          <a:custGeom>
            <a:avLst/>
            <a:gdLst/>
            <a:ahLst/>
            <a:cxnLst/>
            <a:rect l="l" t="t" r="r" b="b"/>
            <a:pathLst>
              <a:path w="5505450" h="447675">
                <a:moveTo>
                  <a:pt x="76199" y="0"/>
                </a:moveTo>
                <a:lnTo>
                  <a:pt x="5429251" y="0"/>
                </a:lnTo>
                <a:cubicBezTo>
                  <a:pt x="5471335" y="0"/>
                  <a:pt x="5505450" y="34115"/>
                  <a:pt x="5505450" y="76199"/>
                </a:cubicBezTo>
                <a:lnTo>
                  <a:pt x="5505450" y="371476"/>
                </a:lnTo>
                <a:cubicBezTo>
                  <a:pt x="5505450" y="413560"/>
                  <a:pt x="5471335" y="447675"/>
                  <a:pt x="5429251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6443663" y="645696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6710363" y="6437912"/>
            <a:ext cx="4238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关键逻辑：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插入时可能需要分裂现有节点以保持树的压缩特性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EVICTION &amp; CONCURRENCY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关键操作：LRU 淘汰与并发控制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071563"/>
            <a:ext cx="5753100" cy="5400675"/>
          </a:xfrm>
          <a:custGeom>
            <a:avLst/>
            <a:gdLst/>
            <a:ahLst/>
            <a:cxnLst/>
            <a:rect l="l" t="t" r="r" b="b"/>
            <a:pathLst>
              <a:path w="5753100" h="5400675">
                <a:moveTo>
                  <a:pt x="76204" y="0"/>
                </a:moveTo>
                <a:lnTo>
                  <a:pt x="5676896" y="0"/>
                </a:lnTo>
                <a:cubicBezTo>
                  <a:pt x="5718983" y="0"/>
                  <a:pt x="5753100" y="34117"/>
                  <a:pt x="5753100" y="76204"/>
                </a:cubicBezTo>
                <a:lnTo>
                  <a:pt x="5753100" y="5324471"/>
                </a:lnTo>
                <a:cubicBezTo>
                  <a:pt x="5753100" y="5366558"/>
                  <a:pt x="5718983" y="5400675"/>
                  <a:pt x="5676896" y="5400675"/>
                </a:cubicBezTo>
                <a:lnTo>
                  <a:pt x="76204" y="5400675"/>
                </a:lnTo>
                <a:cubicBezTo>
                  <a:pt x="34117" y="5400675"/>
                  <a:pt x="0" y="5366558"/>
                  <a:pt x="0" y="53244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9353" y="12382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5776" y="1976"/>
                </a:moveTo>
                <a:cubicBezTo>
                  <a:pt x="47249" y="-2411"/>
                  <a:pt x="51335" y="-5358"/>
                  <a:pt x="55956" y="-5358"/>
                </a:cubicBezTo>
                <a:lnTo>
                  <a:pt x="94097" y="-5358"/>
                </a:lnTo>
                <a:cubicBezTo>
                  <a:pt x="98718" y="-5358"/>
                  <a:pt x="102803" y="-2411"/>
                  <a:pt x="104276" y="1976"/>
                </a:cubicBezTo>
                <a:lnTo>
                  <a:pt x="107156" y="10716"/>
                </a:lnTo>
                <a:lnTo>
                  <a:pt x="139303" y="10716"/>
                </a:lnTo>
                <a:cubicBezTo>
                  <a:pt x="145230" y="10716"/>
                  <a:pt x="150019" y="15504"/>
                  <a:pt x="150019" y="21431"/>
                </a:cubicBezTo>
                <a:cubicBezTo>
                  <a:pt x="150019" y="27358"/>
                  <a:pt x="145230" y="32147"/>
                  <a:pt x="139303" y="32147"/>
                </a:cubicBezTo>
                <a:lnTo>
                  <a:pt x="10716" y="32147"/>
                </a:lnTo>
                <a:cubicBezTo>
                  <a:pt x="4789" y="32147"/>
                  <a:pt x="0" y="27358"/>
                  <a:pt x="0" y="21431"/>
                </a:cubicBezTo>
                <a:cubicBezTo>
                  <a:pt x="0" y="15504"/>
                  <a:pt x="4789" y="10716"/>
                  <a:pt x="10716" y="10716"/>
                </a:cubicBezTo>
                <a:lnTo>
                  <a:pt x="42863" y="10716"/>
                </a:lnTo>
                <a:lnTo>
                  <a:pt x="45776" y="1976"/>
                </a:lnTo>
                <a:close/>
                <a:moveTo>
                  <a:pt x="10716" y="48220"/>
                </a:moveTo>
                <a:lnTo>
                  <a:pt x="139303" y="48220"/>
                </a:lnTo>
                <a:lnTo>
                  <a:pt x="139303" y="150019"/>
                </a:lnTo>
                <a:cubicBezTo>
                  <a:pt x="139303" y="161839"/>
                  <a:pt x="129693" y="171450"/>
                  <a:pt x="117872" y="171450"/>
                </a:cubicBezTo>
                <a:lnTo>
                  <a:pt x="32147" y="171450"/>
                </a:lnTo>
                <a:cubicBezTo>
                  <a:pt x="20326" y="171450"/>
                  <a:pt x="10716" y="161839"/>
                  <a:pt x="10716" y="150019"/>
                </a:cubicBezTo>
                <a:lnTo>
                  <a:pt x="10716" y="48220"/>
                </a:lnTo>
                <a:close/>
                <a:moveTo>
                  <a:pt x="40184" y="69652"/>
                </a:moveTo>
                <a:cubicBezTo>
                  <a:pt x="35730" y="69652"/>
                  <a:pt x="32147" y="73235"/>
                  <a:pt x="32147" y="77688"/>
                </a:cubicBezTo>
                <a:lnTo>
                  <a:pt x="32147" y="141982"/>
                </a:lnTo>
                <a:cubicBezTo>
                  <a:pt x="32147" y="146436"/>
                  <a:pt x="35730" y="150019"/>
                  <a:pt x="40184" y="150019"/>
                </a:cubicBezTo>
                <a:cubicBezTo>
                  <a:pt x="44637" y="150019"/>
                  <a:pt x="48220" y="146436"/>
                  <a:pt x="48220" y="141982"/>
                </a:cubicBezTo>
                <a:lnTo>
                  <a:pt x="48220" y="77688"/>
                </a:lnTo>
                <a:cubicBezTo>
                  <a:pt x="48220" y="73235"/>
                  <a:pt x="44637" y="69652"/>
                  <a:pt x="40184" y="69652"/>
                </a:cubicBezTo>
                <a:close/>
                <a:moveTo>
                  <a:pt x="75009" y="69652"/>
                </a:moveTo>
                <a:cubicBezTo>
                  <a:pt x="70556" y="69652"/>
                  <a:pt x="66973" y="73235"/>
                  <a:pt x="66973" y="77688"/>
                </a:cubicBezTo>
                <a:lnTo>
                  <a:pt x="66973" y="141982"/>
                </a:lnTo>
                <a:cubicBezTo>
                  <a:pt x="66973" y="146436"/>
                  <a:pt x="70556" y="150019"/>
                  <a:pt x="75009" y="150019"/>
                </a:cubicBezTo>
                <a:cubicBezTo>
                  <a:pt x="79463" y="150019"/>
                  <a:pt x="83046" y="146436"/>
                  <a:pt x="83046" y="141982"/>
                </a:cubicBezTo>
                <a:lnTo>
                  <a:pt x="83046" y="77688"/>
                </a:lnTo>
                <a:cubicBezTo>
                  <a:pt x="83046" y="73235"/>
                  <a:pt x="79463" y="69652"/>
                  <a:pt x="75009" y="69652"/>
                </a:cubicBezTo>
                <a:close/>
                <a:moveTo>
                  <a:pt x="109835" y="69652"/>
                </a:moveTo>
                <a:cubicBezTo>
                  <a:pt x="105381" y="69652"/>
                  <a:pt x="101798" y="73235"/>
                  <a:pt x="101798" y="77688"/>
                </a:cubicBezTo>
                <a:lnTo>
                  <a:pt x="101798" y="141982"/>
                </a:lnTo>
                <a:cubicBezTo>
                  <a:pt x="101798" y="146436"/>
                  <a:pt x="105381" y="150019"/>
                  <a:pt x="109835" y="150019"/>
                </a:cubicBezTo>
                <a:cubicBezTo>
                  <a:pt x="114289" y="150019"/>
                  <a:pt x="117872" y="146436"/>
                  <a:pt x="117872" y="141982"/>
                </a:cubicBezTo>
                <a:lnTo>
                  <a:pt x="117872" y="77688"/>
                </a:lnTo>
                <a:cubicBezTo>
                  <a:pt x="117872" y="73235"/>
                  <a:pt x="114289" y="69652"/>
                  <a:pt x="109835" y="69652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95338" y="1190625"/>
            <a:ext cx="87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evict 方法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4825" y="1533525"/>
            <a:ext cx="5514975" cy="4819650"/>
          </a:xfrm>
          <a:custGeom>
            <a:avLst/>
            <a:gdLst/>
            <a:ahLst/>
            <a:cxnLst/>
            <a:rect l="l" t="t" r="r" b="b"/>
            <a:pathLst>
              <a:path w="5514975" h="4819650">
                <a:moveTo>
                  <a:pt x="38123" y="0"/>
                </a:moveTo>
                <a:lnTo>
                  <a:pt x="5476852" y="0"/>
                </a:lnTo>
                <a:cubicBezTo>
                  <a:pt x="5497907" y="0"/>
                  <a:pt x="5514975" y="17068"/>
                  <a:pt x="5514975" y="38123"/>
                </a:cubicBezTo>
                <a:lnTo>
                  <a:pt x="5514975" y="4781527"/>
                </a:lnTo>
                <a:cubicBezTo>
                  <a:pt x="5514975" y="4802582"/>
                  <a:pt x="5497907" y="4819650"/>
                  <a:pt x="5476852" y="4819650"/>
                </a:cubicBezTo>
                <a:lnTo>
                  <a:pt x="38123" y="4819650"/>
                </a:lnTo>
                <a:cubicBezTo>
                  <a:pt x="17068" y="4819650"/>
                  <a:pt x="0" y="4802582"/>
                  <a:pt x="0" y="4781527"/>
                </a:cubicBezTo>
                <a:lnTo>
                  <a:pt x="0" y="38123"/>
                </a:lnTo>
                <a:cubicBezTo>
                  <a:pt x="0" y="17083"/>
                  <a:pt x="17083" y="0"/>
                  <a:pt x="3812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81025" y="1609725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evict(self, num_tokens):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7225" y="18002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self.disable: return 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7225" y="19907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evicted = 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7225" y="21812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收集所有叶子节点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225" y="23717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leaves = self._collect_leaves()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7225" y="25622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按最后访问时间排序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225" y="27527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leaves.sort(key=lambda n: n.last_access)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7225" y="29813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leaf in leaves: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3425" y="31718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evicted &gt;= num_tokens: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9625" y="3362325"/>
            <a:ext cx="520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break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3425" y="35528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leaf.lock_ref &gt; 0: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9625" y="3743325"/>
            <a:ext cx="520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continue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3425" y="39338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释放KV Cache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3425" y="41243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evicted += len(leaf.value)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3425" y="43148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self.token_to_kv_pool.free(leaf.value)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3425" y="45053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从树中移除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3425" y="46958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self._remove_node(leaf)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3425" y="48863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evicted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5550" y="1076325"/>
            <a:ext cx="5495925" cy="4057650"/>
          </a:xfrm>
          <a:custGeom>
            <a:avLst/>
            <a:gdLst/>
            <a:ahLst/>
            <a:cxnLst/>
            <a:rect l="l" t="t" r="r" b="b"/>
            <a:pathLst>
              <a:path w="5495925" h="4057650">
                <a:moveTo>
                  <a:pt x="76203" y="0"/>
                </a:moveTo>
                <a:lnTo>
                  <a:pt x="5419722" y="0"/>
                </a:lnTo>
                <a:cubicBezTo>
                  <a:pt x="5461808" y="0"/>
                  <a:pt x="5495925" y="34117"/>
                  <a:pt x="5495925" y="76203"/>
                </a:cubicBezTo>
                <a:lnTo>
                  <a:pt x="5495925" y="3981447"/>
                </a:lnTo>
                <a:cubicBezTo>
                  <a:pt x="5495925" y="4023533"/>
                  <a:pt x="5461808" y="4057650"/>
                  <a:pt x="5419722" y="4057650"/>
                </a:cubicBezTo>
                <a:lnTo>
                  <a:pt x="76203" y="4057650"/>
                </a:lnTo>
                <a:cubicBezTo>
                  <a:pt x="34117" y="4057650"/>
                  <a:pt x="0" y="4023533"/>
                  <a:pt x="0" y="39814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474619" y="12477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42863" y="32147"/>
                </a:moveTo>
                <a:lnTo>
                  <a:pt x="42863" y="53578"/>
                </a:lnTo>
                <a:lnTo>
                  <a:pt x="85725" y="53578"/>
                </a:lnTo>
                <a:lnTo>
                  <a:pt x="85725" y="32147"/>
                </a:lnTo>
                <a:cubicBezTo>
                  <a:pt x="85725" y="20326"/>
                  <a:pt x="76114" y="10716"/>
                  <a:pt x="64294" y="10716"/>
                </a:cubicBezTo>
                <a:cubicBezTo>
                  <a:pt x="52473" y="10716"/>
                  <a:pt x="42863" y="20326"/>
                  <a:pt x="42863" y="32147"/>
                </a:cubicBezTo>
                <a:close/>
                <a:moveTo>
                  <a:pt x="21431" y="53578"/>
                </a:moveTo>
                <a:lnTo>
                  <a:pt x="21431" y="32147"/>
                </a:lnTo>
                <a:cubicBezTo>
                  <a:pt x="21431" y="8472"/>
                  <a:pt x="40619" y="-10716"/>
                  <a:pt x="64294" y="-10716"/>
                </a:cubicBezTo>
                <a:cubicBezTo>
                  <a:pt x="87969" y="-10716"/>
                  <a:pt x="107156" y="8472"/>
                  <a:pt x="107156" y="32147"/>
                </a:cubicBezTo>
                <a:lnTo>
                  <a:pt x="107156" y="53578"/>
                </a:lnTo>
                <a:cubicBezTo>
                  <a:pt x="118977" y="53578"/>
                  <a:pt x="128588" y="63189"/>
                  <a:pt x="128588" y="75009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75009"/>
                </a:lnTo>
                <a:cubicBezTo>
                  <a:pt x="0" y="63189"/>
                  <a:pt x="9611" y="53578"/>
                  <a:pt x="21431" y="53578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719888" y="120015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并发控制：节点级锁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29375" y="1543050"/>
            <a:ext cx="5248275" cy="1485900"/>
          </a:xfrm>
          <a:custGeom>
            <a:avLst/>
            <a:gdLst/>
            <a:ahLst/>
            <a:cxnLst/>
            <a:rect l="l" t="t" r="r" b="b"/>
            <a:pathLst>
              <a:path w="5248275" h="1485900">
                <a:moveTo>
                  <a:pt x="38098" y="0"/>
                </a:moveTo>
                <a:lnTo>
                  <a:pt x="5210177" y="0"/>
                </a:lnTo>
                <a:cubicBezTo>
                  <a:pt x="5231218" y="0"/>
                  <a:pt x="5248275" y="17057"/>
                  <a:pt x="5248275" y="38098"/>
                </a:cubicBezTo>
                <a:lnTo>
                  <a:pt x="5248275" y="1447802"/>
                </a:lnTo>
                <a:cubicBezTo>
                  <a:pt x="5248275" y="1468843"/>
                  <a:pt x="5231218" y="1485900"/>
                  <a:pt x="5210177" y="1485900"/>
                </a:cubicBezTo>
                <a:lnTo>
                  <a:pt x="38098" y="1485900"/>
                </a:lnTo>
                <a:cubicBezTo>
                  <a:pt x="17057" y="1485900"/>
                  <a:pt x="0" y="1468843"/>
                  <a:pt x="0" y="14478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505575" y="1619250"/>
            <a:ext cx="516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inc_lock_ref(self, node):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81775" y="1809750"/>
            <a:ext cx="508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while node is not None: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57975" y="2000250"/>
            <a:ext cx="501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node.lock_ref == 0: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34175" y="2190750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delta += 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57975" y="2381250"/>
            <a:ext cx="501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node.lock_ref += 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57975" y="2571750"/>
            <a:ext cx="501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 = node.parent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81775" y="2762250"/>
            <a:ext cx="508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delta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9375" y="3105150"/>
            <a:ext cx="5248275" cy="1485900"/>
          </a:xfrm>
          <a:custGeom>
            <a:avLst/>
            <a:gdLst/>
            <a:ahLst/>
            <a:cxnLst/>
            <a:rect l="l" t="t" r="r" b="b"/>
            <a:pathLst>
              <a:path w="5248275" h="1485900">
                <a:moveTo>
                  <a:pt x="38098" y="0"/>
                </a:moveTo>
                <a:lnTo>
                  <a:pt x="5210177" y="0"/>
                </a:lnTo>
                <a:cubicBezTo>
                  <a:pt x="5231218" y="0"/>
                  <a:pt x="5248275" y="17057"/>
                  <a:pt x="5248275" y="38098"/>
                </a:cubicBezTo>
                <a:lnTo>
                  <a:pt x="5248275" y="1447802"/>
                </a:lnTo>
                <a:cubicBezTo>
                  <a:pt x="5248275" y="1468843"/>
                  <a:pt x="5231218" y="1485900"/>
                  <a:pt x="5210177" y="1485900"/>
                </a:cubicBezTo>
                <a:lnTo>
                  <a:pt x="38098" y="1485900"/>
                </a:lnTo>
                <a:cubicBezTo>
                  <a:pt x="17057" y="1485900"/>
                  <a:pt x="0" y="1468843"/>
                  <a:pt x="0" y="14478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505575" y="3181350"/>
            <a:ext cx="516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dec_lock_ref(self, node):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81775" y="3371850"/>
            <a:ext cx="508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while node is not None: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57975" y="3562350"/>
            <a:ext cx="501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node.lock_ref -= 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57975" y="3752850"/>
            <a:ext cx="501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node.lock_ref == 0: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34175" y="3943350"/>
            <a:ext cx="493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delta += 1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57975" y="4133850"/>
            <a:ext cx="501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 = node.parent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81775" y="4324350"/>
            <a:ext cx="508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delta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00788" y="5262563"/>
            <a:ext cx="5505450" cy="1209675"/>
          </a:xfrm>
          <a:custGeom>
            <a:avLst/>
            <a:gdLst/>
            <a:ahLst/>
            <a:cxnLst/>
            <a:rect l="l" t="t" r="r" b="b"/>
            <a:pathLst>
              <a:path w="5505450" h="1209675">
                <a:moveTo>
                  <a:pt x="76197" y="0"/>
                </a:moveTo>
                <a:lnTo>
                  <a:pt x="5429253" y="0"/>
                </a:lnTo>
                <a:cubicBezTo>
                  <a:pt x="5471307" y="0"/>
                  <a:pt x="5505450" y="34143"/>
                  <a:pt x="5505450" y="76197"/>
                </a:cubicBezTo>
                <a:lnTo>
                  <a:pt x="5505450" y="1133478"/>
                </a:lnTo>
                <a:cubicBezTo>
                  <a:pt x="5505450" y="1175532"/>
                  <a:pt x="5471307" y="1209675"/>
                  <a:pt x="5429253" y="1209675"/>
                </a:cubicBezTo>
                <a:lnTo>
                  <a:pt x="76197" y="1209675"/>
                </a:lnTo>
                <a:cubicBezTo>
                  <a:pt x="34143" y="1209675"/>
                  <a:pt x="0" y="1175532"/>
                  <a:pt x="0" y="1133478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6443663" y="5410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710363" y="53816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并发安全保证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47234" y="56864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6662738" y="5648325"/>
            <a:ext cx="2457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节点级锁保护正在使用的KV Cache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47234" y="5934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662738" y="5895975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从叶子到根的路径都被锁定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47234" y="61817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662738" y="6143625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LRU淘汰跳过被锁定的节点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 PagedAttention 的集成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066800"/>
            <a:ext cx="5619750" cy="1752600"/>
          </a:xfrm>
          <a:custGeom>
            <a:avLst/>
            <a:gdLst/>
            <a:ahLst/>
            <a:cxnLst/>
            <a:rect l="l" t="t" r="r" b="b"/>
            <a:pathLst>
              <a:path w="5619750" h="1752600">
                <a:moveTo>
                  <a:pt x="38100" y="0"/>
                </a:moveTo>
                <a:lnTo>
                  <a:pt x="5543547" y="0"/>
                </a:lnTo>
                <a:cubicBezTo>
                  <a:pt x="5585633" y="0"/>
                  <a:pt x="5619750" y="34117"/>
                  <a:pt x="5619750" y="76203"/>
                </a:cubicBezTo>
                <a:lnTo>
                  <a:pt x="5619750" y="1676397"/>
                </a:lnTo>
                <a:cubicBezTo>
                  <a:pt x="5619750" y="1718483"/>
                  <a:pt x="5585633" y="1752600"/>
                  <a:pt x="5543547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0668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57213" y="1228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009" y="0"/>
                </a:moveTo>
                <a:cubicBezTo>
                  <a:pt x="86830" y="0"/>
                  <a:pt x="96441" y="7200"/>
                  <a:pt x="96441" y="16073"/>
                </a:cubicBezTo>
                <a:cubicBezTo>
                  <a:pt x="96441" y="19556"/>
                  <a:pt x="94967" y="22771"/>
                  <a:pt x="92422" y="25416"/>
                </a:cubicBezTo>
                <a:cubicBezTo>
                  <a:pt x="90212" y="27727"/>
                  <a:pt x="88404" y="30540"/>
                  <a:pt x="88404" y="33754"/>
                </a:cubicBezTo>
                <a:cubicBezTo>
                  <a:pt x="88404" y="38777"/>
                  <a:pt x="92489" y="42863"/>
                  <a:pt x="97512" y="42863"/>
                </a:cubicBezTo>
                <a:lnTo>
                  <a:pt x="112514" y="42863"/>
                </a:lnTo>
                <a:cubicBezTo>
                  <a:pt x="121388" y="42863"/>
                  <a:pt x="128588" y="50062"/>
                  <a:pt x="128588" y="58936"/>
                </a:cubicBezTo>
                <a:lnTo>
                  <a:pt x="128588" y="73938"/>
                </a:lnTo>
                <a:cubicBezTo>
                  <a:pt x="128588" y="78961"/>
                  <a:pt x="132673" y="83046"/>
                  <a:pt x="137696" y="83046"/>
                </a:cubicBezTo>
                <a:cubicBezTo>
                  <a:pt x="140877" y="83046"/>
                  <a:pt x="143723" y="81238"/>
                  <a:pt x="146034" y="79028"/>
                </a:cubicBezTo>
                <a:cubicBezTo>
                  <a:pt x="148679" y="76516"/>
                  <a:pt x="151894" y="75009"/>
                  <a:pt x="155377" y="75009"/>
                </a:cubicBezTo>
                <a:cubicBezTo>
                  <a:pt x="164250" y="75009"/>
                  <a:pt x="171450" y="84620"/>
                  <a:pt x="171450" y="96441"/>
                </a:cubicBezTo>
                <a:cubicBezTo>
                  <a:pt x="171450" y="108261"/>
                  <a:pt x="164250" y="117872"/>
                  <a:pt x="155377" y="117872"/>
                </a:cubicBezTo>
                <a:cubicBezTo>
                  <a:pt x="151894" y="117872"/>
                  <a:pt x="148646" y="116398"/>
                  <a:pt x="146034" y="113854"/>
                </a:cubicBezTo>
                <a:cubicBezTo>
                  <a:pt x="143723" y="111643"/>
                  <a:pt x="140910" y="109835"/>
                  <a:pt x="137696" y="109835"/>
                </a:cubicBezTo>
                <a:cubicBezTo>
                  <a:pt x="132673" y="109835"/>
                  <a:pt x="128588" y="113920"/>
                  <a:pt x="128588" y="118943"/>
                </a:cubicBezTo>
                <a:lnTo>
                  <a:pt x="128588" y="155377"/>
                </a:lnTo>
                <a:cubicBezTo>
                  <a:pt x="128588" y="164250"/>
                  <a:pt x="121388" y="171450"/>
                  <a:pt x="112514" y="171450"/>
                </a:cubicBezTo>
                <a:lnTo>
                  <a:pt x="93494" y="171450"/>
                </a:lnTo>
                <a:cubicBezTo>
                  <a:pt x="89208" y="171450"/>
                  <a:pt x="85725" y="167967"/>
                  <a:pt x="85725" y="163681"/>
                </a:cubicBezTo>
                <a:cubicBezTo>
                  <a:pt x="85725" y="160600"/>
                  <a:pt x="87667" y="157888"/>
                  <a:pt x="90145" y="156046"/>
                </a:cubicBezTo>
                <a:cubicBezTo>
                  <a:pt x="94030" y="153133"/>
                  <a:pt x="96441" y="149115"/>
                  <a:pt x="96441" y="144661"/>
                </a:cubicBezTo>
                <a:cubicBezTo>
                  <a:pt x="96441" y="135787"/>
                  <a:pt x="86830" y="128588"/>
                  <a:pt x="75009" y="128588"/>
                </a:cubicBezTo>
                <a:cubicBezTo>
                  <a:pt x="63189" y="128588"/>
                  <a:pt x="53578" y="135787"/>
                  <a:pt x="53578" y="144661"/>
                </a:cubicBezTo>
                <a:cubicBezTo>
                  <a:pt x="53578" y="149115"/>
                  <a:pt x="55989" y="153133"/>
                  <a:pt x="59874" y="156046"/>
                </a:cubicBezTo>
                <a:cubicBezTo>
                  <a:pt x="62352" y="157888"/>
                  <a:pt x="64294" y="160567"/>
                  <a:pt x="64294" y="163681"/>
                </a:cubicBezTo>
                <a:cubicBezTo>
                  <a:pt x="64294" y="167967"/>
                  <a:pt x="60811" y="171450"/>
                  <a:pt x="56525" y="171450"/>
                </a:cubicBezTo>
                <a:lnTo>
                  <a:pt x="16073" y="171450"/>
                </a:lnTo>
                <a:cubicBezTo>
                  <a:pt x="7200" y="171450"/>
                  <a:pt x="0" y="164250"/>
                  <a:pt x="0" y="155377"/>
                </a:cubicBezTo>
                <a:lnTo>
                  <a:pt x="0" y="114925"/>
                </a:lnTo>
                <a:cubicBezTo>
                  <a:pt x="0" y="110639"/>
                  <a:pt x="3483" y="107156"/>
                  <a:pt x="7769" y="107156"/>
                </a:cubicBezTo>
                <a:cubicBezTo>
                  <a:pt x="10850" y="107156"/>
                  <a:pt x="13562" y="109098"/>
                  <a:pt x="15404" y="111576"/>
                </a:cubicBezTo>
                <a:cubicBezTo>
                  <a:pt x="18317" y="115461"/>
                  <a:pt x="22335" y="117872"/>
                  <a:pt x="26789" y="117872"/>
                </a:cubicBezTo>
                <a:cubicBezTo>
                  <a:pt x="35663" y="117872"/>
                  <a:pt x="42863" y="108261"/>
                  <a:pt x="42863" y="96441"/>
                </a:cubicBezTo>
                <a:cubicBezTo>
                  <a:pt x="42863" y="84620"/>
                  <a:pt x="35663" y="75009"/>
                  <a:pt x="26789" y="75009"/>
                </a:cubicBezTo>
                <a:cubicBezTo>
                  <a:pt x="22335" y="75009"/>
                  <a:pt x="18317" y="77420"/>
                  <a:pt x="15404" y="81305"/>
                </a:cubicBezTo>
                <a:cubicBezTo>
                  <a:pt x="13562" y="83783"/>
                  <a:pt x="10883" y="85725"/>
                  <a:pt x="7769" y="85725"/>
                </a:cubicBezTo>
                <a:cubicBezTo>
                  <a:pt x="3483" y="85725"/>
                  <a:pt x="0" y="82242"/>
                  <a:pt x="0" y="77956"/>
                </a:cubicBezTo>
                <a:lnTo>
                  <a:pt x="0" y="58936"/>
                </a:lnTo>
                <a:cubicBezTo>
                  <a:pt x="0" y="50062"/>
                  <a:pt x="7200" y="42863"/>
                  <a:pt x="16073" y="42863"/>
                </a:cubicBezTo>
                <a:lnTo>
                  <a:pt x="52507" y="42863"/>
                </a:lnTo>
                <a:cubicBezTo>
                  <a:pt x="57530" y="42863"/>
                  <a:pt x="61615" y="38777"/>
                  <a:pt x="61615" y="33754"/>
                </a:cubicBezTo>
                <a:cubicBezTo>
                  <a:pt x="61615" y="30573"/>
                  <a:pt x="59807" y="27727"/>
                  <a:pt x="57596" y="25416"/>
                </a:cubicBezTo>
                <a:cubicBezTo>
                  <a:pt x="55085" y="22771"/>
                  <a:pt x="53578" y="19556"/>
                  <a:pt x="53578" y="16073"/>
                </a:cubicBezTo>
                <a:cubicBezTo>
                  <a:pt x="53578" y="7200"/>
                  <a:pt x="63189" y="0"/>
                  <a:pt x="75009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52475" y="118110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三层集成关系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3400" y="1504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04825" y="150495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" y="1485900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 粒度对齐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" y="1676400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RadixCache存储Block ID而非显存地址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" y="1924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04825" y="192405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" y="1905000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统一内存池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" y="2095500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KV Cache Blocks由TokenToKVPool统一管理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2343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04825" y="234315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" y="232410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 Table 更新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" y="251460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Prefill完成后自动更新Block Table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2938463"/>
            <a:ext cx="5629275" cy="3533775"/>
          </a:xfrm>
          <a:custGeom>
            <a:avLst/>
            <a:gdLst/>
            <a:ahLst/>
            <a:cxnLst/>
            <a:rect l="l" t="t" r="r" b="b"/>
            <a:pathLst>
              <a:path w="5629275" h="3533775">
                <a:moveTo>
                  <a:pt x="76188" y="0"/>
                </a:moveTo>
                <a:lnTo>
                  <a:pt x="5553087" y="0"/>
                </a:lnTo>
                <a:cubicBezTo>
                  <a:pt x="5595164" y="0"/>
                  <a:pt x="5629275" y="34111"/>
                  <a:pt x="5629275" y="76188"/>
                </a:cubicBezTo>
                <a:lnTo>
                  <a:pt x="5629275" y="3457587"/>
                </a:lnTo>
                <a:cubicBezTo>
                  <a:pt x="5629275" y="3499664"/>
                  <a:pt x="5595164" y="3533775"/>
                  <a:pt x="5553087" y="3533775"/>
                </a:cubicBezTo>
                <a:lnTo>
                  <a:pt x="76188" y="3533775"/>
                </a:lnTo>
                <a:cubicBezTo>
                  <a:pt x="34111" y="3533775"/>
                  <a:pt x="0" y="3499664"/>
                  <a:pt x="0" y="3457587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50069" y="31051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95338" y="3057525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集成的优势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4825" y="3971925"/>
            <a:ext cx="5391150" cy="552450"/>
          </a:xfrm>
          <a:custGeom>
            <a:avLst/>
            <a:gdLst/>
            <a:ahLst/>
            <a:cxnLst/>
            <a:rect l="l" t="t" r="r" b="b"/>
            <a:pathLst>
              <a:path w="5391150" h="552450">
                <a:moveTo>
                  <a:pt x="38102" y="0"/>
                </a:moveTo>
                <a:lnTo>
                  <a:pt x="5353048" y="0"/>
                </a:lnTo>
                <a:cubicBezTo>
                  <a:pt x="5374091" y="0"/>
                  <a:pt x="5391150" y="17059"/>
                  <a:pt x="5391150" y="38102"/>
                </a:cubicBezTo>
                <a:lnTo>
                  <a:pt x="5391150" y="514348"/>
                </a:lnTo>
                <a:cubicBezTo>
                  <a:pt x="5391150" y="535391"/>
                  <a:pt x="5374091" y="552450"/>
                  <a:pt x="5353048" y="552450"/>
                </a:cubicBezTo>
                <a:lnTo>
                  <a:pt x="38102" y="552450"/>
                </a:lnTo>
                <a:cubicBezTo>
                  <a:pt x="17059" y="552450"/>
                  <a:pt x="0" y="535391"/>
                  <a:pt x="0" y="5143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81025" y="4048125"/>
            <a:ext cx="531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内存管理统一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1025" y="4257675"/>
            <a:ext cx="531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避免重复实现内存分配逻辑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4825" y="4600575"/>
            <a:ext cx="5391150" cy="552450"/>
          </a:xfrm>
          <a:custGeom>
            <a:avLst/>
            <a:gdLst/>
            <a:ahLst/>
            <a:cxnLst/>
            <a:rect l="l" t="t" r="r" b="b"/>
            <a:pathLst>
              <a:path w="5391150" h="552450">
                <a:moveTo>
                  <a:pt x="38102" y="0"/>
                </a:moveTo>
                <a:lnTo>
                  <a:pt x="5353048" y="0"/>
                </a:lnTo>
                <a:cubicBezTo>
                  <a:pt x="5374091" y="0"/>
                  <a:pt x="5391150" y="17059"/>
                  <a:pt x="5391150" y="38102"/>
                </a:cubicBezTo>
                <a:lnTo>
                  <a:pt x="5391150" y="514348"/>
                </a:lnTo>
                <a:cubicBezTo>
                  <a:pt x="5391150" y="535391"/>
                  <a:pt x="5374091" y="552450"/>
                  <a:pt x="5353048" y="552450"/>
                </a:cubicBezTo>
                <a:lnTo>
                  <a:pt x="38102" y="552450"/>
                </a:lnTo>
                <a:cubicBezTo>
                  <a:pt x="17059" y="552450"/>
                  <a:pt x="0" y="535391"/>
                  <a:pt x="0" y="5143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81025" y="4676775"/>
            <a:ext cx="531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Block复用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1025" y="4886325"/>
            <a:ext cx="531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Prefill和Decode共享相同的Block管理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4825" y="5229225"/>
            <a:ext cx="5391150" cy="552450"/>
          </a:xfrm>
          <a:custGeom>
            <a:avLst/>
            <a:gdLst/>
            <a:ahLst/>
            <a:cxnLst/>
            <a:rect l="l" t="t" r="r" b="b"/>
            <a:pathLst>
              <a:path w="5391150" h="552450">
                <a:moveTo>
                  <a:pt x="38102" y="0"/>
                </a:moveTo>
                <a:lnTo>
                  <a:pt x="5353048" y="0"/>
                </a:lnTo>
                <a:cubicBezTo>
                  <a:pt x="5374091" y="0"/>
                  <a:pt x="5391150" y="17059"/>
                  <a:pt x="5391150" y="38102"/>
                </a:cubicBezTo>
                <a:lnTo>
                  <a:pt x="5391150" y="514348"/>
                </a:lnTo>
                <a:cubicBezTo>
                  <a:pt x="5391150" y="535391"/>
                  <a:pt x="5374091" y="552450"/>
                  <a:pt x="5353048" y="552450"/>
                </a:cubicBezTo>
                <a:lnTo>
                  <a:pt x="38102" y="552450"/>
                </a:lnTo>
                <a:cubicBezTo>
                  <a:pt x="17059" y="552450"/>
                  <a:pt x="0" y="535391"/>
                  <a:pt x="0" y="5143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81025" y="5305425"/>
            <a:ext cx="531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透明集成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1025" y="5514975"/>
            <a:ext cx="531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对上层应用无感知，自动优化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81725" y="1076325"/>
            <a:ext cx="5619750" cy="5391150"/>
          </a:xfrm>
          <a:custGeom>
            <a:avLst/>
            <a:gdLst/>
            <a:ahLst/>
            <a:cxnLst/>
            <a:rect l="l" t="t" r="r" b="b"/>
            <a:pathLst>
              <a:path w="5619750" h="5391150">
                <a:moveTo>
                  <a:pt x="76177" y="0"/>
                </a:moveTo>
                <a:lnTo>
                  <a:pt x="5543573" y="0"/>
                </a:lnTo>
                <a:cubicBezTo>
                  <a:pt x="5585644" y="0"/>
                  <a:pt x="5619750" y="34106"/>
                  <a:pt x="5619750" y="76177"/>
                </a:cubicBezTo>
                <a:lnTo>
                  <a:pt x="5619750" y="5314973"/>
                </a:lnTo>
                <a:cubicBezTo>
                  <a:pt x="5619750" y="5357044"/>
                  <a:pt x="5585644" y="5391150"/>
                  <a:pt x="5543573" y="5391150"/>
                </a:cubicBezTo>
                <a:lnTo>
                  <a:pt x="76177" y="5391150"/>
                </a:lnTo>
                <a:cubicBezTo>
                  <a:pt x="34106" y="5391150"/>
                  <a:pt x="0" y="5357044"/>
                  <a:pt x="0" y="5314973"/>
                </a:cubicBezTo>
                <a:lnTo>
                  <a:pt x="0" y="76177"/>
                </a:lnTo>
                <a:cubicBezTo>
                  <a:pt x="0" y="34134"/>
                  <a:pt x="34134" y="0"/>
                  <a:pt x="76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329363" y="1247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596063" y="120015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请求处理流程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05550" y="2066925"/>
            <a:ext cx="5372100" cy="552450"/>
          </a:xfrm>
          <a:custGeom>
            <a:avLst/>
            <a:gdLst/>
            <a:ahLst/>
            <a:cxnLst/>
            <a:rect l="l" t="t" r="r" b="b"/>
            <a:pathLst>
              <a:path w="5372100" h="552450">
                <a:moveTo>
                  <a:pt x="38102" y="0"/>
                </a:moveTo>
                <a:lnTo>
                  <a:pt x="5333998" y="0"/>
                </a:lnTo>
                <a:cubicBezTo>
                  <a:pt x="5355041" y="0"/>
                  <a:pt x="5372100" y="17059"/>
                  <a:pt x="5372100" y="38102"/>
                </a:cubicBezTo>
                <a:lnTo>
                  <a:pt x="5372100" y="514348"/>
                </a:lnTo>
                <a:cubicBezTo>
                  <a:pt x="5372100" y="535391"/>
                  <a:pt x="5355041" y="552450"/>
                  <a:pt x="5333998" y="552450"/>
                </a:cubicBezTo>
                <a:lnTo>
                  <a:pt x="38102" y="552450"/>
                </a:lnTo>
                <a:cubicBezTo>
                  <a:pt x="17059" y="552450"/>
                  <a:pt x="0" y="535391"/>
                  <a:pt x="0" y="5143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381750" y="2143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353175" y="2143125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48450" y="2162175"/>
            <a:ext cx="685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前缀匹配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48450" y="2352675"/>
            <a:ext cx="502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match_prefix(tokens) → (node, prefix_len, block_ids)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943975" y="26765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44120" y="130902"/>
                </a:moveTo>
                <a:cubicBezTo>
                  <a:pt x="47376" y="134157"/>
                  <a:pt x="52663" y="134157"/>
                  <a:pt x="55918" y="130902"/>
                </a:cubicBezTo>
                <a:lnTo>
                  <a:pt x="97590" y="89230"/>
                </a:lnTo>
                <a:cubicBezTo>
                  <a:pt x="100846" y="85974"/>
                  <a:pt x="100846" y="80687"/>
                  <a:pt x="97590" y="77432"/>
                </a:cubicBezTo>
                <a:cubicBezTo>
                  <a:pt x="94335" y="74176"/>
                  <a:pt x="89048" y="74176"/>
                  <a:pt x="85792" y="77432"/>
                </a:cubicBezTo>
                <a:lnTo>
                  <a:pt x="58341" y="104883"/>
                </a:lnTo>
                <a:lnTo>
                  <a:pt x="58341" y="8334"/>
                </a:lnTo>
                <a:cubicBezTo>
                  <a:pt x="58341" y="3724"/>
                  <a:pt x="54616" y="0"/>
                  <a:pt x="50006" y="0"/>
                </a:cubicBezTo>
                <a:cubicBezTo>
                  <a:pt x="45396" y="0"/>
                  <a:pt x="41672" y="3724"/>
                  <a:pt x="41672" y="8334"/>
                </a:cubicBezTo>
                <a:lnTo>
                  <a:pt x="41672" y="104883"/>
                </a:lnTo>
                <a:lnTo>
                  <a:pt x="14221" y="77432"/>
                </a:lnTo>
                <a:cubicBezTo>
                  <a:pt x="10965" y="74176"/>
                  <a:pt x="5678" y="74176"/>
                  <a:pt x="2422" y="77432"/>
                </a:cubicBezTo>
                <a:cubicBezTo>
                  <a:pt x="-833" y="80687"/>
                  <a:pt x="-833" y="85974"/>
                  <a:pt x="2422" y="89230"/>
                </a:cubicBezTo>
                <a:lnTo>
                  <a:pt x="44094" y="13090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305550" y="2867025"/>
            <a:ext cx="5372100" cy="552450"/>
          </a:xfrm>
          <a:custGeom>
            <a:avLst/>
            <a:gdLst/>
            <a:ahLst/>
            <a:cxnLst/>
            <a:rect l="l" t="t" r="r" b="b"/>
            <a:pathLst>
              <a:path w="5372100" h="552450">
                <a:moveTo>
                  <a:pt x="38102" y="0"/>
                </a:moveTo>
                <a:lnTo>
                  <a:pt x="5333998" y="0"/>
                </a:lnTo>
                <a:cubicBezTo>
                  <a:pt x="5355041" y="0"/>
                  <a:pt x="5372100" y="17059"/>
                  <a:pt x="5372100" y="38102"/>
                </a:cubicBezTo>
                <a:lnTo>
                  <a:pt x="5372100" y="514348"/>
                </a:lnTo>
                <a:cubicBezTo>
                  <a:pt x="5372100" y="535391"/>
                  <a:pt x="5355041" y="552450"/>
                  <a:pt x="5333998" y="552450"/>
                </a:cubicBezTo>
                <a:lnTo>
                  <a:pt x="38102" y="552450"/>
                </a:lnTo>
                <a:cubicBezTo>
                  <a:pt x="17059" y="552450"/>
                  <a:pt x="0" y="535391"/>
                  <a:pt x="0" y="5143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381750" y="2943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353175" y="2943225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48450" y="2962275"/>
            <a:ext cx="123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加载Block Table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48450" y="3152775"/>
            <a:ext cx="502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将block_ids加载到Block Table的前prefix_len位置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943975" y="34766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44120" y="130902"/>
                </a:moveTo>
                <a:cubicBezTo>
                  <a:pt x="47376" y="134157"/>
                  <a:pt x="52663" y="134157"/>
                  <a:pt x="55918" y="130902"/>
                </a:cubicBezTo>
                <a:lnTo>
                  <a:pt x="97590" y="89230"/>
                </a:lnTo>
                <a:cubicBezTo>
                  <a:pt x="100846" y="85974"/>
                  <a:pt x="100846" y="80687"/>
                  <a:pt x="97590" y="77432"/>
                </a:cubicBezTo>
                <a:cubicBezTo>
                  <a:pt x="94335" y="74176"/>
                  <a:pt x="89048" y="74176"/>
                  <a:pt x="85792" y="77432"/>
                </a:cubicBezTo>
                <a:lnTo>
                  <a:pt x="58341" y="104883"/>
                </a:lnTo>
                <a:lnTo>
                  <a:pt x="58341" y="8334"/>
                </a:lnTo>
                <a:cubicBezTo>
                  <a:pt x="58341" y="3724"/>
                  <a:pt x="54616" y="0"/>
                  <a:pt x="50006" y="0"/>
                </a:cubicBezTo>
                <a:cubicBezTo>
                  <a:pt x="45396" y="0"/>
                  <a:pt x="41672" y="3724"/>
                  <a:pt x="41672" y="8334"/>
                </a:cubicBezTo>
                <a:lnTo>
                  <a:pt x="41672" y="104883"/>
                </a:lnTo>
                <a:lnTo>
                  <a:pt x="14221" y="77432"/>
                </a:lnTo>
                <a:cubicBezTo>
                  <a:pt x="10965" y="74176"/>
                  <a:pt x="5678" y="74176"/>
                  <a:pt x="2422" y="77432"/>
                </a:cubicBezTo>
                <a:cubicBezTo>
                  <a:pt x="-833" y="80687"/>
                  <a:pt x="-833" y="85974"/>
                  <a:pt x="2422" y="89230"/>
                </a:cubicBezTo>
                <a:lnTo>
                  <a:pt x="44094" y="13090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6305550" y="3667125"/>
            <a:ext cx="5372100" cy="552450"/>
          </a:xfrm>
          <a:custGeom>
            <a:avLst/>
            <a:gdLst/>
            <a:ahLst/>
            <a:cxnLst/>
            <a:rect l="l" t="t" r="r" b="b"/>
            <a:pathLst>
              <a:path w="5372100" h="552450">
                <a:moveTo>
                  <a:pt x="38102" y="0"/>
                </a:moveTo>
                <a:lnTo>
                  <a:pt x="5333998" y="0"/>
                </a:lnTo>
                <a:cubicBezTo>
                  <a:pt x="5355041" y="0"/>
                  <a:pt x="5372100" y="17059"/>
                  <a:pt x="5372100" y="38102"/>
                </a:cubicBezTo>
                <a:lnTo>
                  <a:pt x="5372100" y="514348"/>
                </a:lnTo>
                <a:cubicBezTo>
                  <a:pt x="5372100" y="535391"/>
                  <a:pt x="5355041" y="552450"/>
                  <a:pt x="5333998" y="552450"/>
                </a:cubicBezTo>
                <a:lnTo>
                  <a:pt x="38102" y="552450"/>
                </a:lnTo>
                <a:cubicBezTo>
                  <a:pt x="17059" y="552450"/>
                  <a:pt x="0" y="535391"/>
                  <a:pt x="0" y="5143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6381750" y="3743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6353175" y="3743325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648450" y="3762375"/>
            <a:ext cx="800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执行Prefill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648450" y="3952875"/>
            <a:ext cx="502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仅对tokens[prefix_len:]执行Prefill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943975" y="42767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44120" y="130902"/>
                </a:moveTo>
                <a:cubicBezTo>
                  <a:pt x="47376" y="134157"/>
                  <a:pt x="52663" y="134157"/>
                  <a:pt x="55918" y="130902"/>
                </a:cubicBezTo>
                <a:lnTo>
                  <a:pt x="97590" y="89230"/>
                </a:lnTo>
                <a:cubicBezTo>
                  <a:pt x="100846" y="85974"/>
                  <a:pt x="100846" y="80687"/>
                  <a:pt x="97590" y="77432"/>
                </a:cubicBezTo>
                <a:cubicBezTo>
                  <a:pt x="94335" y="74176"/>
                  <a:pt x="89048" y="74176"/>
                  <a:pt x="85792" y="77432"/>
                </a:cubicBezTo>
                <a:lnTo>
                  <a:pt x="58341" y="104883"/>
                </a:lnTo>
                <a:lnTo>
                  <a:pt x="58341" y="8334"/>
                </a:lnTo>
                <a:cubicBezTo>
                  <a:pt x="58341" y="3724"/>
                  <a:pt x="54616" y="0"/>
                  <a:pt x="50006" y="0"/>
                </a:cubicBezTo>
                <a:cubicBezTo>
                  <a:pt x="45396" y="0"/>
                  <a:pt x="41672" y="3724"/>
                  <a:pt x="41672" y="8334"/>
                </a:cubicBezTo>
                <a:lnTo>
                  <a:pt x="41672" y="104883"/>
                </a:lnTo>
                <a:lnTo>
                  <a:pt x="14221" y="77432"/>
                </a:lnTo>
                <a:cubicBezTo>
                  <a:pt x="10965" y="74176"/>
                  <a:pt x="5678" y="74176"/>
                  <a:pt x="2422" y="77432"/>
                </a:cubicBezTo>
                <a:cubicBezTo>
                  <a:pt x="-833" y="80687"/>
                  <a:pt x="-833" y="85974"/>
                  <a:pt x="2422" y="89230"/>
                </a:cubicBezTo>
                <a:lnTo>
                  <a:pt x="44094" y="13090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6305550" y="4467225"/>
            <a:ext cx="5372100" cy="552450"/>
          </a:xfrm>
          <a:custGeom>
            <a:avLst/>
            <a:gdLst/>
            <a:ahLst/>
            <a:cxnLst/>
            <a:rect l="l" t="t" r="r" b="b"/>
            <a:pathLst>
              <a:path w="5372100" h="552450">
                <a:moveTo>
                  <a:pt x="38102" y="0"/>
                </a:moveTo>
                <a:lnTo>
                  <a:pt x="5333998" y="0"/>
                </a:lnTo>
                <a:cubicBezTo>
                  <a:pt x="5355041" y="0"/>
                  <a:pt x="5372100" y="17059"/>
                  <a:pt x="5372100" y="38102"/>
                </a:cubicBezTo>
                <a:lnTo>
                  <a:pt x="5372100" y="514348"/>
                </a:lnTo>
                <a:cubicBezTo>
                  <a:pt x="5372100" y="535391"/>
                  <a:pt x="5355041" y="552450"/>
                  <a:pt x="5333998" y="552450"/>
                </a:cubicBezTo>
                <a:lnTo>
                  <a:pt x="38102" y="552450"/>
                </a:lnTo>
                <a:cubicBezTo>
                  <a:pt x="17059" y="552450"/>
                  <a:pt x="0" y="535391"/>
                  <a:pt x="0" y="5143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6381750" y="4543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6353175" y="4543425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648450" y="4562475"/>
            <a:ext cx="1247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存储新KV Cache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648450" y="4752975"/>
            <a:ext cx="502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将新生成的KV Cache存入新分配的Blocks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943975" y="50768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44120" y="130902"/>
                </a:moveTo>
                <a:cubicBezTo>
                  <a:pt x="47376" y="134157"/>
                  <a:pt x="52663" y="134157"/>
                  <a:pt x="55918" y="130902"/>
                </a:cubicBezTo>
                <a:lnTo>
                  <a:pt x="97590" y="89230"/>
                </a:lnTo>
                <a:cubicBezTo>
                  <a:pt x="100846" y="85974"/>
                  <a:pt x="100846" y="80687"/>
                  <a:pt x="97590" y="77432"/>
                </a:cubicBezTo>
                <a:cubicBezTo>
                  <a:pt x="94335" y="74176"/>
                  <a:pt x="89048" y="74176"/>
                  <a:pt x="85792" y="77432"/>
                </a:cubicBezTo>
                <a:lnTo>
                  <a:pt x="58341" y="104883"/>
                </a:lnTo>
                <a:lnTo>
                  <a:pt x="58341" y="8334"/>
                </a:lnTo>
                <a:cubicBezTo>
                  <a:pt x="58341" y="3724"/>
                  <a:pt x="54616" y="0"/>
                  <a:pt x="50006" y="0"/>
                </a:cubicBezTo>
                <a:cubicBezTo>
                  <a:pt x="45396" y="0"/>
                  <a:pt x="41672" y="3724"/>
                  <a:pt x="41672" y="8334"/>
                </a:cubicBezTo>
                <a:lnTo>
                  <a:pt x="41672" y="104883"/>
                </a:lnTo>
                <a:lnTo>
                  <a:pt x="14221" y="77432"/>
                </a:lnTo>
                <a:cubicBezTo>
                  <a:pt x="10965" y="74176"/>
                  <a:pt x="5678" y="74176"/>
                  <a:pt x="2422" y="77432"/>
                </a:cubicBezTo>
                <a:cubicBezTo>
                  <a:pt x="-833" y="80687"/>
                  <a:pt x="-833" y="85974"/>
                  <a:pt x="2422" y="89230"/>
                </a:cubicBezTo>
                <a:lnTo>
                  <a:pt x="44094" y="13090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6305550" y="5267325"/>
            <a:ext cx="5372100" cy="552450"/>
          </a:xfrm>
          <a:custGeom>
            <a:avLst/>
            <a:gdLst/>
            <a:ahLst/>
            <a:cxnLst/>
            <a:rect l="l" t="t" r="r" b="b"/>
            <a:pathLst>
              <a:path w="5372100" h="552450">
                <a:moveTo>
                  <a:pt x="38102" y="0"/>
                </a:moveTo>
                <a:lnTo>
                  <a:pt x="5333998" y="0"/>
                </a:lnTo>
                <a:cubicBezTo>
                  <a:pt x="5355041" y="0"/>
                  <a:pt x="5372100" y="17059"/>
                  <a:pt x="5372100" y="38102"/>
                </a:cubicBezTo>
                <a:lnTo>
                  <a:pt x="5372100" y="514348"/>
                </a:lnTo>
                <a:cubicBezTo>
                  <a:pt x="5372100" y="535391"/>
                  <a:pt x="5355041" y="552450"/>
                  <a:pt x="5333998" y="552450"/>
                </a:cubicBezTo>
                <a:lnTo>
                  <a:pt x="38102" y="552450"/>
                </a:lnTo>
                <a:cubicBezTo>
                  <a:pt x="17059" y="552450"/>
                  <a:pt x="0" y="535391"/>
                  <a:pt x="0" y="5143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6381750" y="5343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6353175" y="5343525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648450" y="5362575"/>
            <a:ext cx="116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插入Radix Tree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648450" y="5553075"/>
            <a:ext cx="502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insert(node, tokens[prefix_len:], new_block_ids)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85763" y="1657350"/>
            <a:ext cx="1352550" cy="390525"/>
          </a:xfrm>
          <a:custGeom>
            <a:avLst/>
            <a:gdLst/>
            <a:ahLst/>
            <a:cxnLst/>
            <a:rect l="l" t="t" r="r" b="b"/>
            <a:pathLst>
              <a:path w="1352550" h="390525">
                <a:moveTo>
                  <a:pt x="76199" y="0"/>
                </a:moveTo>
                <a:lnTo>
                  <a:pt x="1276351" y="0"/>
                </a:lnTo>
                <a:cubicBezTo>
                  <a:pt x="1318434" y="0"/>
                  <a:pt x="1352550" y="34116"/>
                  <a:pt x="1352550" y="76199"/>
                </a:cubicBezTo>
                <a:lnTo>
                  <a:pt x="1352550" y="314326"/>
                </a:lnTo>
                <a:cubicBezTo>
                  <a:pt x="1352550" y="356409"/>
                  <a:pt x="1318434" y="390525"/>
                  <a:pt x="12763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 w="127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1738313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81238"/>
            <a:ext cx="71056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APC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对比分析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24338"/>
            <a:ext cx="68770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RadixAttention 与 vLLM Automatic Prefix Caching 的全方位对比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7206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524000" y="4976813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5个对比维度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VLLM TECHNOLOGY CHOICE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的技术选型：Hash Table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066800"/>
            <a:ext cx="5619750" cy="952500"/>
          </a:xfrm>
          <a:custGeom>
            <a:avLst/>
            <a:gdLst/>
            <a:ahLst/>
            <a:cxnLst/>
            <a:rect l="l" t="t" r="r" b="b"/>
            <a:pathLst>
              <a:path w="5619750" h="9525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876300"/>
                </a:lnTo>
                <a:cubicBezTo>
                  <a:pt x="5619750" y="918356"/>
                  <a:pt x="5585606" y="952500"/>
                  <a:pt x="55435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0668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57213" y="1228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58936"/>
                </a:moveTo>
                <a:cubicBezTo>
                  <a:pt x="79798" y="58936"/>
                  <a:pt x="75009" y="63724"/>
                  <a:pt x="75009" y="69652"/>
                </a:cubicBezTo>
                <a:cubicBezTo>
                  <a:pt x="75009" y="74105"/>
                  <a:pt x="71426" y="77688"/>
                  <a:pt x="66973" y="77688"/>
                </a:cubicBezTo>
                <a:cubicBezTo>
                  <a:pt x="62519" y="77688"/>
                  <a:pt x="58936" y="74105"/>
                  <a:pt x="58936" y="69652"/>
                </a:cubicBezTo>
                <a:cubicBezTo>
                  <a:pt x="58936" y="54851"/>
                  <a:pt x="70924" y="42863"/>
                  <a:pt x="85725" y="42863"/>
                </a:cubicBezTo>
                <a:cubicBezTo>
                  <a:pt x="100526" y="42863"/>
                  <a:pt x="112514" y="54851"/>
                  <a:pt x="112514" y="69652"/>
                </a:cubicBezTo>
                <a:cubicBezTo>
                  <a:pt x="112514" y="85457"/>
                  <a:pt x="100459" y="92154"/>
                  <a:pt x="93762" y="94599"/>
                </a:cubicBezTo>
                <a:lnTo>
                  <a:pt x="93762" y="95871"/>
                </a:lnTo>
                <a:cubicBezTo>
                  <a:pt x="93762" y="100325"/>
                  <a:pt x="90179" y="103908"/>
                  <a:pt x="85725" y="103908"/>
                </a:cubicBezTo>
                <a:cubicBezTo>
                  <a:pt x="81271" y="103908"/>
                  <a:pt x="77688" y="100325"/>
                  <a:pt x="77688" y="95871"/>
                </a:cubicBezTo>
                <a:lnTo>
                  <a:pt x="77688" y="93159"/>
                </a:lnTo>
                <a:cubicBezTo>
                  <a:pt x="77688" y="86294"/>
                  <a:pt x="82644" y="81372"/>
                  <a:pt x="87768" y="79697"/>
                </a:cubicBezTo>
                <a:cubicBezTo>
                  <a:pt x="89911" y="78994"/>
                  <a:pt x="92188" y="77856"/>
                  <a:pt x="93862" y="76248"/>
                </a:cubicBezTo>
                <a:cubicBezTo>
                  <a:pt x="95302" y="74842"/>
                  <a:pt x="96441" y="72900"/>
                  <a:pt x="96441" y="69685"/>
                </a:cubicBezTo>
                <a:cubicBezTo>
                  <a:pt x="96441" y="63758"/>
                  <a:pt x="91652" y="58969"/>
                  <a:pt x="85725" y="58969"/>
                </a:cubicBezTo>
                <a:close/>
                <a:moveTo>
                  <a:pt x="75009" y="123230"/>
                </a:moveTo>
                <a:cubicBezTo>
                  <a:pt x="75009" y="117316"/>
                  <a:pt x="79811" y="112514"/>
                  <a:pt x="85725" y="112514"/>
                </a:cubicBezTo>
                <a:cubicBezTo>
                  <a:pt x="91639" y="112514"/>
                  <a:pt x="96441" y="117316"/>
                  <a:pt x="96441" y="123230"/>
                </a:cubicBezTo>
                <a:cubicBezTo>
                  <a:pt x="96441" y="129144"/>
                  <a:pt x="91639" y="133945"/>
                  <a:pt x="85725" y="133945"/>
                </a:cubicBezTo>
                <a:cubicBezTo>
                  <a:pt x="79811" y="133945"/>
                  <a:pt x="75009" y="129144"/>
                  <a:pt x="75009" y="12323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52475" y="118110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 vLLM 选择 Hash Table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400" y="1485900"/>
            <a:ext cx="5448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的 APC 与 SGLang 的 RadixAttention 功能相似，但在底层数据结构上做出了不同的选择。 </a:t>
            </a: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选择了基于哈希表的增量哈希链方案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2138363"/>
            <a:ext cx="5629275" cy="4333875"/>
          </a:xfrm>
          <a:custGeom>
            <a:avLst/>
            <a:gdLst/>
            <a:ahLst/>
            <a:cxnLst/>
            <a:rect l="l" t="t" r="r" b="b"/>
            <a:pathLst>
              <a:path w="5629275" h="4333875">
                <a:moveTo>
                  <a:pt x="76190" y="0"/>
                </a:moveTo>
                <a:lnTo>
                  <a:pt x="5553085" y="0"/>
                </a:lnTo>
                <a:cubicBezTo>
                  <a:pt x="5595164" y="0"/>
                  <a:pt x="5629275" y="34111"/>
                  <a:pt x="5629275" y="76190"/>
                </a:cubicBezTo>
                <a:lnTo>
                  <a:pt x="5629275" y="4257685"/>
                </a:lnTo>
                <a:cubicBezTo>
                  <a:pt x="5629275" y="4299764"/>
                  <a:pt x="5595164" y="4333875"/>
                  <a:pt x="5553085" y="4333875"/>
                </a:cubicBezTo>
                <a:lnTo>
                  <a:pt x="76190" y="4333875"/>
                </a:lnTo>
                <a:cubicBezTo>
                  <a:pt x="34111" y="4333875"/>
                  <a:pt x="0" y="4299764"/>
                  <a:pt x="0" y="4257685"/>
                </a:cubicBezTo>
                <a:lnTo>
                  <a:pt x="0" y="76190"/>
                </a:lnTo>
                <a:cubicBezTo>
                  <a:pt x="0" y="34111"/>
                  <a:pt x="34111" y="0"/>
                  <a:pt x="7619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28638" y="230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4110"/>
                </a:moveTo>
                <a:cubicBezTo>
                  <a:pt x="0" y="19690"/>
                  <a:pt x="3583" y="16073"/>
                  <a:pt x="8037" y="16073"/>
                </a:cubicBezTo>
                <a:lnTo>
                  <a:pt x="24110" y="16073"/>
                </a:lnTo>
                <a:cubicBezTo>
                  <a:pt x="28564" y="16073"/>
                  <a:pt x="32147" y="19656"/>
                  <a:pt x="32147" y="24110"/>
                </a:cubicBezTo>
                <a:lnTo>
                  <a:pt x="32147" y="58936"/>
                </a:lnTo>
                <a:lnTo>
                  <a:pt x="40184" y="58936"/>
                </a:lnTo>
                <a:cubicBezTo>
                  <a:pt x="44637" y="58936"/>
                  <a:pt x="48220" y="62519"/>
                  <a:pt x="48220" y="66973"/>
                </a:cubicBezTo>
                <a:cubicBezTo>
                  <a:pt x="48220" y="71426"/>
                  <a:pt x="44637" y="75009"/>
                  <a:pt x="40184" y="75009"/>
                </a:cubicBezTo>
                <a:lnTo>
                  <a:pt x="8037" y="75009"/>
                </a:lnTo>
                <a:cubicBezTo>
                  <a:pt x="3583" y="75009"/>
                  <a:pt x="0" y="71426"/>
                  <a:pt x="0" y="66973"/>
                </a:cubicBezTo>
                <a:cubicBezTo>
                  <a:pt x="0" y="62519"/>
                  <a:pt x="3583" y="58936"/>
                  <a:pt x="8037" y="58936"/>
                </a:cubicBezTo>
                <a:lnTo>
                  <a:pt x="16073" y="58936"/>
                </a:lnTo>
                <a:lnTo>
                  <a:pt x="16073" y="32147"/>
                </a:lnTo>
                <a:lnTo>
                  <a:pt x="8037" y="32147"/>
                </a:lnTo>
                <a:cubicBezTo>
                  <a:pt x="3583" y="32147"/>
                  <a:pt x="0" y="28564"/>
                  <a:pt x="0" y="24110"/>
                </a:cubicBezTo>
                <a:close/>
                <a:moveTo>
                  <a:pt x="10180" y="100861"/>
                </a:moveTo>
                <a:cubicBezTo>
                  <a:pt x="13997" y="97981"/>
                  <a:pt x="18652" y="96441"/>
                  <a:pt x="23440" y="96441"/>
                </a:cubicBezTo>
                <a:lnTo>
                  <a:pt x="25081" y="96441"/>
                </a:lnTo>
                <a:cubicBezTo>
                  <a:pt x="36366" y="96441"/>
                  <a:pt x="45541" y="105616"/>
                  <a:pt x="45541" y="116901"/>
                </a:cubicBezTo>
                <a:cubicBezTo>
                  <a:pt x="45541" y="123464"/>
                  <a:pt x="42394" y="129592"/>
                  <a:pt x="37103" y="133443"/>
                </a:cubicBezTo>
                <a:lnTo>
                  <a:pt x="29066" y="139303"/>
                </a:lnTo>
                <a:lnTo>
                  <a:pt x="40184" y="139303"/>
                </a:lnTo>
                <a:cubicBezTo>
                  <a:pt x="44637" y="139303"/>
                  <a:pt x="48220" y="142886"/>
                  <a:pt x="48220" y="147340"/>
                </a:cubicBezTo>
                <a:cubicBezTo>
                  <a:pt x="48220" y="151794"/>
                  <a:pt x="44637" y="155377"/>
                  <a:pt x="40184" y="155377"/>
                </a:cubicBezTo>
                <a:lnTo>
                  <a:pt x="9811" y="155377"/>
                </a:lnTo>
                <a:cubicBezTo>
                  <a:pt x="4387" y="155377"/>
                  <a:pt x="0" y="150990"/>
                  <a:pt x="0" y="145565"/>
                </a:cubicBezTo>
                <a:cubicBezTo>
                  <a:pt x="0" y="142417"/>
                  <a:pt x="1507" y="139471"/>
                  <a:pt x="4052" y="137629"/>
                </a:cubicBezTo>
                <a:lnTo>
                  <a:pt x="27660" y="120450"/>
                </a:lnTo>
                <a:cubicBezTo>
                  <a:pt x="28798" y="119613"/>
                  <a:pt x="29468" y="118307"/>
                  <a:pt x="29468" y="116901"/>
                </a:cubicBezTo>
                <a:cubicBezTo>
                  <a:pt x="29468" y="114490"/>
                  <a:pt x="27492" y="112514"/>
                  <a:pt x="25081" y="112514"/>
                </a:cubicBezTo>
                <a:lnTo>
                  <a:pt x="23440" y="112514"/>
                </a:lnTo>
                <a:cubicBezTo>
                  <a:pt x="22134" y="112514"/>
                  <a:pt x="20862" y="112949"/>
                  <a:pt x="19824" y="113720"/>
                </a:cubicBezTo>
                <a:lnTo>
                  <a:pt x="12859" y="118943"/>
                </a:lnTo>
                <a:cubicBezTo>
                  <a:pt x="9309" y="121622"/>
                  <a:pt x="4286" y="120886"/>
                  <a:pt x="1607" y="117336"/>
                </a:cubicBezTo>
                <a:cubicBezTo>
                  <a:pt x="-1072" y="113787"/>
                  <a:pt x="-335" y="108764"/>
                  <a:pt x="3215" y="106085"/>
                </a:cubicBezTo>
                <a:lnTo>
                  <a:pt x="10180" y="100861"/>
                </a:lnTo>
                <a:close/>
                <a:moveTo>
                  <a:pt x="75009" y="21431"/>
                </a:move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75009" y="42863"/>
                </a:lnTo>
                <a:cubicBezTo>
                  <a:pt x="69082" y="42863"/>
                  <a:pt x="64294" y="38074"/>
                  <a:pt x="64294" y="32147"/>
                </a:cubicBezTo>
                <a:cubicBezTo>
                  <a:pt x="64294" y="26220"/>
                  <a:pt x="69082" y="21431"/>
                  <a:pt x="75009" y="21431"/>
                </a:cubicBezTo>
                <a:close/>
                <a:moveTo>
                  <a:pt x="75009" y="75009"/>
                </a:move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75009" y="96441"/>
                </a:lnTo>
                <a:cubicBezTo>
                  <a:pt x="69082" y="96441"/>
                  <a:pt x="64294" y="91652"/>
                  <a:pt x="64294" y="85725"/>
                </a:cubicBezTo>
                <a:cubicBezTo>
                  <a:pt x="64294" y="79798"/>
                  <a:pt x="69082" y="75009"/>
                  <a:pt x="75009" y="75009"/>
                </a:cubicBezTo>
                <a:close/>
                <a:moveTo>
                  <a:pt x="75009" y="128588"/>
                </a:move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75009" y="150019"/>
                </a:lnTo>
                <a:cubicBezTo>
                  <a:pt x="69082" y="150019"/>
                  <a:pt x="64294" y="145230"/>
                  <a:pt x="64294" y="139303"/>
                </a:cubicBezTo>
                <a:cubicBezTo>
                  <a:pt x="64294" y="133376"/>
                  <a:pt x="69082" y="128588"/>
                  <a:pt x="75009" y="128588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95338" y="2257425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三大考量因素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3875" y="3276600"/>
            <a:ext cx="5372100" cy="876300"/>
          </a:xfrm>
          <a:custGeom>
            <a:avLst/>
            <a:gdLst/>
            <a:ahLst/>
            <a:cxnLst/>
            <a:rect l="l" t="t" r="r" b="b"/>
            <a:pathLst>
              <a:path w="5372100" h="876300">
                <a:moveTo>
                  <a:pt x="38100" y="0"/>
                </a:moveTo>
                <a:lnTo>
                  <a:pt x="5333998" y="0"/>
                </a:lnTo>
                <a:cubicBezTo>
                  <a:pt x="5355041" y="0"/>
                  <a:pt x="5372100" y="17059"/>
                  <a:pt x="5372100" y="38102"/>
                </a:cubicBezTo>
                <a:lnTo>
                  <a:pt x="5372100" y="838198"/>
                </a:lnTo>
                <a:cubicBezTo>
                  <a:pt x="5372100" y="859241"/>
                  <a:pt x="5355041" y="876300"/>
                  <a:pt x="5333998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23875" y="32766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57225" y="3390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28650" y="33909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2025" y="3429000"/>
            <a:ext cx="1724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 Block Manager 集成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2025" y="3657600"/>
            <a:ext cx="4895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的 PagedAttention 以 Block 为粒度管理 KV Cache，哈希表可直接以 Block Hash 为键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3875" y="4229100"/>
            <a:ext cx="5372100" cy="685800"/>
          </a:xfrm>
          <a:custGeom>
            <a:avLst/>
            <a:gdLst/>
            <a:ahLst/>
            <a:cxnLst/>
            <a:rect l="l" t="t" r="r" b="b"/>
            <a:pathLst>
              <a:path w="5372100" h="685800">
                <a:moveTo>
                  <a:pt x="38100" y="0"/>
                </a:moveTo>
                <a:lnTo>
                  <a:pt x="5333997" y="0"/>
                </a:lnTo>
                <a:cubicBezTo>
                  <a:pt x="5355041" y="0"/>
                  <a:pt x="5372100" y="17059"/>
                  <a:pt x="5372100" y="38103"/>
                </a:cubicBezTo>
                <a:lnTo>
                  <a:pt x="5372100" y="647697"/>
                </a:lnTo>
                <a:cubicBezTo>
                  <a:pt x="5372100" y="668741"/>
                  <a:pt x="5355041" y="685800"/>
                  <a:pt x="5333997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23875" y="42291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57225" y="434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28650" y="43434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2025" y="4381500"/>
            <a:ext cx="83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实现复杂度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2025" y="4610100"/>
            <a:ext cx="489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哈希表的实现比 Radix Tree 更简单，易于维护和调试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3875" y="4991100"/>
            <a:ext cx="5372100" cy="685800"/>
          </a:xfrm>
          <a:custGeom>
            <a:avLst/>
            <a:gdLst/>
            <a:ahLst/>
            <a:cxnLst/>
            <a:rect l="l" t="t" r="r" b="b"/>
            <a:pathLst>
              <a:path w="5372100" h="685800">
                <a:moveTo>
                  <a:pt x="38100" y="0"/>
                </a:moveTo>
                <a:lnTo>
                  <a:pt x="5333997" y="0"/>
                </a:lnTo>
                <a:cubicBezTo>
                  <a:pt x="5355041" y="0"/>
                  <a:pt x="5372100" y="17059"/>
                  <a:pt x="5372100" y="38103"/>
                </a:cubicBezTo>
                <a:lnTo>
                  <a:pt x="5372100" y="647697"/>
                </a:lnTo>
                <a:cubicBezTo>
                  <a:pt x="5372100" y="668741"/>
                  <a:pt x="5355041" y="685800"/>
                  <a:pt x="5333997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23875" y="49911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57225" y="5105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28650" y="51054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2025" y="5143500"/>
            <a:ext cx="685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内存开销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2025" y="5372100"/>
            <a:ext cx="489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哈希表的额外内存开销通常低于树结构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81725" y="1076325"/>
            <a:ext cx="5619750" cy="4343400"/>
          </a:xfrm>
          <a:custGeom>
            <a:avLst/>
            <a:gdLst/>
            <a:ahLst/>
            <a:cxnLst/>
            <a:rect l="l" t="t" r="r" b="b"/>
            <a:pathLst>
              <a:path w="5619750" h="4343400">
                <a:moveTo>
                  <a:pt x="76183" y="0"/>
                </a:moveTo>
                <a:lnTo>
                  <a:pt x="5543567" y="0"/>
                </a:lnTo>
                <a:cubicBezTo>
                  <a:pt x="5585642" y="0"/>
                  <a:pt x="5619750" y="34108"/>
                  <a:pt x="5619750" y="76183"/>
                </a:cubicBezTo>
                <a:lnTo>
                  <a:pt x="5619750" y="4267217"/>
                </a:lnTo>
                <a:cubicBezTo>
                  <a:pt x="5619750" y="4309292"/>
                  <a:pt x="5585642" y="4343400"/>
                  <a:pt x="5543567" y="4343400"/>
                </a:cubicBezTo>
                <a:lnTo>
                  <a:pt x="76183" y="4343400"/>
                </a:lnTo>
                <a:cubicBezTo>
                  <a:pt x="34108" y="4343400"/>
                  <a:pt x="0" y="4309292"/>
                  <a:pt x="0" y="4267217"/>
                </a:cubicBezTo>
                <a:lnTo>
                  <a:pt x="0" y="76183"/>
                </a:lnTo>
                <a:cubicBezTo>
                  <a:pt x="0" y="34137"/>
                  <a:pt x="34137" y="0"/>
                  <a:pt x="76183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318647" y="12477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40475" y="32147"/>
                </a:moveTo>
                <a:cubicBezTo>
                  <a:pt x="134916" y="32147"/>
                  <a:pt x="129525" y="33654"/>
                  <a:pt x="124804" y="36400"/>
                </a:cubicBezTo>
                <a:cubicBezTo>
                  <a:pt x="119513" y="31042"/>
                  <a:pt x="113351" y="26555"/>
                  <a:pt x="106553" y="23173"/>
                </a:cubicBezTo>
                <a:cubicBezTo>
                  <a:pt x="115997" y="15136"/>
                  <a:pt x="128018" y="10716"/>
                  <a:pt x="140475" y="10716"/>
                </a:cubicBezTo>
                <a:cubicBezTo>
                  <a:pt x="169407" y="10716"/>
                  <a:pt x="192881" y="34156"/>
                  <a:pt x="192881" y="63122"/>
                </a:cubicBezTo>
                <a:cubicBezTo>
                  <a:pt x="192881" y="77019"/>
                  <a:pt x="187356" y="90346"/>
                  <a:pt x="177545" y="100158"/>
                </a:cubicBezTo>
                <a:lnTo>
                  <a:pt x="153736" y="123966"/>
                </a:lnTo>
                <a:cubicBezTo>
                  <a:pt x="143924" y="133778"/>
                  <a:pt x="130597" y="139303"/>
                  <a:pt x="116700" y="139303"/>
                </a:cubicBezTo>
                <a:cubicBezTo>
                  <a:pt x="87768" y="139303"/>
                  <a:pt x="64294" y="115863"/>
                  <a:pt x="64294" y="86897"/>
                </a:cubicBezTo>
                <a:cubicBezTo>
                  <a:pt x="64294" y="86395"/>
                  <a:pt x="64294" y="85892"/>
                  <a:pt x="64327" y="85390"/>
                </a:cubicBezTo>
                <a:cubicBezTo>
                  <a:pt x="64495" y="79463"/>
                  <a:pt x="69417" y="74808"/>
                  <a:pt x="75344" y="74976"/>
                </a:cubicBezTo>
                <a:cubicBezTo>
                  <a:pt x="81271" y="75143"/>
                  <a:pt x="85926" y="80066"/>
                  <a:pt x="85758" y="85993"/>
                </a:cubicBezTo>
                <a:cubicBezTo>
                  <a:pt x="85758" y="86294"/>
                  <a:pt x="85758" y="86596"/>
                  <a:pt x="85758" y="86864"/>
                </a:cubicBezTo>
                <a:cubicBezTo>
                  <a:pt x="85758" y="103975"/>
                  <a:pt x="99622" y="117838"/>
                  <a:pt x="116733" y="117838"/>
                </a:cubicBezTo>
                <a:cubicBezTo>
                  <a:pt x="124937" y="117838"/>
                  <a:pt x="132807" y="114590"/>
                  <a:pt x="138633" y="108764"/>
                </a:cubicBezTo>
                <a:lnTo>
                  <a:pt x="162442" y="84955"/>
                </a:lnTo>
                <a:cubicBezTo>
                  <a:pt x="168235" y="79162"/>
                  <a:pt x="171517" y="71259"/>
                  <a:pt x="171517" y="63055"/>
                </a:cubicBezTo>
                <a:cubicBezTo>
                  <a:pt x="171517" y="45943"/>
                  <a:pt x="157654" y="32080"/>
                  <a:pt x="140542" y="32080"/>
                </a:cubicBezTo>
                <a:close/>
                <a:moveTo>
                  <a:pt x="92154" y="58032"/>
                </a:moveTo>
                <a:cubicBezTo>
                  <a:pt x="91518" y="57764"/>
                  <a:pt x="90882" y="57396"/>
                  <a:pt x="90313" y="56994"/>
                </a:cubicBezTo>
                <a:cubicBezTo>
                  <a:pt x="86093" y="54817"/>
                  <a:pt x="81271" y="53578"/>
                  <a:pt x="76215" y="53578"/>
                </a:cubicBezTo>
                <a:cubicBezTo>
                  <a:pt x="68011" y="53578"/>
                  <a:pt x="60141" y="56826"/>
                  <a:pt x="54315" y="62653"/>
                </a:cubicBezTo>
                <a:lnTo>
                  <a:pt x="30506" y="86462"/>
                </a:lnTo>
                <a:cubicBezTo>
                  <a:pt x="24713" y="92255"/>
                  <a:pt x="21431" y="100158"/>
                  <a:pt x="21431" y="108362"/>
                </a:cubicBezTo>
                <a:cubicBezTo>
                  <a:pt x="21431" y="125473"/>
                  <a:pt x="35295" y="139337"/>
                  <a:pt x="52406" y="139337"/>
                </a:cubicBezTo>
                <a:cubicBezTo>
                  <a:pt x="57931" y="139337"/>
                  <a:pt x="63323" y="137863"/>
                  <a:pt x="68044" y="135117"/>
                </a:cubicBezTo>
                <a:cubicBezTo>
                  <a:pt x="73335" y="140475"/>
                  <a:pt x="79497" y="144962"/>
                  <a:pt x="86328" y="148344"/>
                </a:cubicBezTo>
                <a:cubicBezTo>
                  <a:pt x="76885" y="156348"/>
                  <a:pt x="64897" y="160801"/>
                  <a:pt x="52406" y="160801"/>
                </a:cubicBezTo>
                <a:cubicBezTo>
                  <a:pt x="23474" y="160801"/>
                  <a:pt x="0" y="137361"/>
                  <a:pt x="0" y="108395"/>
                </a:cubicBezTo>
                <a:cubicBezTo>
                  <a:pt x="0" y="94498"/>
                  <a:pt x="5525" y="81171"/>
                  <a:pt x="15337" y="71359"/>
                </a:cubicBezTo>
                <a:lnTo>
                  <a:pt x="39146" y="47551"/>
                </a:lnTo>
                <a:cubicBezTo>
                  <a:pt x="48957" y="37739"/>
                  <a:pt x="62285" y="32214"/>
                  <a:pt x="76181" y="32214"/>
                </a:cubicBezTo>
                <a:cubicBezTo>
                  <a:pt x="105181" y="32214"/>
                  <a:pt x="128588" y="55855"/>
                  <a:pt x="128588" y="84754"/>
                </a:cubicBezTo>
                <a:cubicBezTo>
                  <a:pt x="128588" y="85189"/>
                  <a:pt x="128588" y="85625"/>
                  <a:pt x="128588" y="86060"/>
                </a:cubicBezTo>
                <a:cubicBezTo>
                  <a:pt x="128454" y="91987"/>
                  <a:pt x="123531" y="96642"/>
                  <a:pt x="117604" y="96508"/>
                </a:cubicBezTo>
                <a:cubicBezTo>
                  <a:pt x="111677" y="96374"/>
                  <a:pt x="107022" y="91451"/>
                  <a:pt x="107156" y="85524"/>
                </a:cubicBezTo>
                <a:cubicBezTo>
                  <a:pt x="107156" y="85256"/>
                  <a:pt x="107156" y="85022"/>
                  <a:pt x="107156" y="84754"/>
                </a:cubicBezTo>
                <a:cubicBezTo>
                  <a:pt x="107156" y="73469"/>
                  <a:pt x="101129" y="63557"/>
                  <a:pt x="92154" y="58099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596063" y="120015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增量哈希链设计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05550" y="1543050"/>
            <a:ext cx="5448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的 APC 使用 </a:t>
            </a: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增量哈希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确保前缀依赖：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05550" y="1828800"/>
            <a:ext cx="5372100" cy="723900"/>
          </a:xfrm>
          <a:custGeom>
            <a:avLst/>
            <a:gdLst/>
            <a:ahLst/>
            <a:cxnLst/>
            <a:rect l="l" t="t" r="r" b="b"/>
            <a:pathLst>
              <a:path w="5372100" h="723900">
                <a:moveTo>
                  <a:pt x="38099" y="0"/>
                </a:moveTo>
                <a:lnTo>
                  <a:pt x="5334001" y="0"/>
                </a:lnTo>
                <a:cubicBezTo>
                  <a:pt x="5355028" y="0"/>
                  <a:pt x="5372100" y="17072"/>
                  <a:pt x="5372100" y="38099"/>
                </a:cubicBezTo>
                <a:lnTo>
                  <a:pt x="5372100" y="685801"/>
                </a:lnTo>
                <a:cubicBezTo>
                  <a:pt x="5372100" y="706828"/>
                  <a:pt x="5355028" y="723900"/>
                  <a:pt x="53340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419850" y="1966912"/>
            <a:ext cx="16359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H₀ = Hash(Chunk₀)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19850" y="2233613"/>
            <a:ext cx="21865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Hᵢ = Hash(Hᵢ₋₁, Chunkᵢ)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05550" y="2628900"/>
            <a:ext cx="5372100" cy="2667000"/>
          </a:xfrm>
          <a:custGeom>
            <a:avLst/>
            <a:gdLst/>
            <a:ahLst/>
            <a:cxnLst/>
            <a:rect l="l" t="t" r="r" b="b"/>
            <a:pathLst>
              <a:path w="5372100" h="2667000">
                <a:moveTo>
                  <a:pt x="38111" y="0"/>
                </a:moveTo>
                <a:lnTo>
                  <a:pt x="5333989" y="0"/>
                </a:lnTo>
                <a:cubicBezTo>
                  <a:pt x="5355037" y="0"/>
                  <a:pt x="5372100" y="17063"/>
                  <a:pt x="5372100" y="38111"/>
                </a:cubicBezTo>
                <a:lnTo>
                  <a:pt x="5372100" y="2628889"/>
                </a:lnTo>
                <a:cubicBezTo>
                  <a:pt x="5372100" y="2649937"/>
                  <a:pt x="5355037" y="2667000"/>
                  <a:pt x="5333989" y="2667000"/>
                </a:cubicBezTo>
                <a:lnTo>
                  <a:pt x="38111" y="2667000"/>
                </a:lnTo>
                <a:cubicBezTo>
                  <a:pt x="17063" y="2667000"/>
                  <a:pt x="0" y="2649937"/>
                  <a:pt x="0" y="2628889"/>
                </a:cubicBezTo>
                <a:lnTo>
                  <a:pt x="0" y="38111"/>
                </a:lnTo>
                <a:cubicBezTo>
                  <a:pt x="0" y="17077"/>
                  <a:pt x="17077" y="0"/>
                  <a:pt x="3811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381750" y="2705100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hash_block_tokens(parent_hash, curr_tokens):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57950" y="289560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hash((parent_hash, curr_tokens))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6963" y="5548313"/>
            <a:ext cx="5629275" cy="923925"/>
          </a:xfrm>
          <a:custGeom>
            <a:avLst/>
            <a:gdLst/>
            <a:ahLst/>
            <a:cxnLst/>
            <a:rect l="l" t="t" r="r" b="b"/>
            <a:pathLst>
              <a:path w="5629275" h="923925">
                <a:moveTo>
                  <a:pt x="76196" y="0"/>
                </a:moveTo>
                <a:lnTo>
                  <a:pt x="5553079" y="0"/>
                </a:lnTo>
                <a:cubicBezTo>
                  <a:pt x="5595161" y="0"/>
                  <a:pt x="5629275" y="34114"/>
                  <a:pt x="5629275" y="76196"/>
                </a:cubicBezTo>
                <a:lnTo>
                  <a:pt x="5629275" y="847729"/>
                </a:lnTo>
                <a:cubicBezTo>
                  <a:pt x="5629275" y="889811"/>
                  <a:pt x="5595161" y="923925"/>
                  <a:pt x="555307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319838" y="56959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586538" y="56673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增量哈希保证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15075" y="5972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538913" y="5934075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相同的前缀 → 相同的哈希链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15075" y="62007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538913" y="6162675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不同的前缀 → 不同的哈希值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LOOKUP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增量哈希链与缓存查找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071563"/>
            <a:ext cx="5753100" cy="5400675"/>
          </a:xfrm>
          <a:custGeom>
            <a:avLst/>
            <a:gdLst/>
            <a:ahLst/>
            <a:cxnLst/>
            <a:rect l="l" t="t" r="r" b="b"/>
            <a:pathLst>
              <a:path w="5753100" h="5400675">
                <a:moveTo>
                  <a:pt x="76204" y="0"/>
                </a:moveTo>
                <a:lnTo>
                  <a:pt x="5676896" y="0"/>
                </a:lnTo>
                <a:cubicBezTo>
                  <a:pt x="5718983" y="0"/>
                  <a:pt x="5753100" y="34117"/>
                  <a:pt x="5753100" y="76204"/>
                </a:cubicBezTo>
                <a:lnTo>
                  <a:pt x="5753100" y="5324471"/>
                </a:lnTo>
                <a:cubicBezTo>
                  <a:pt x="5753100" y="5366558"/>
                  <a:pt x="5718983" y="5400675"/>
                  <a:pt x="5676896" y="5400675"/>
                </a:cubicBezTo>
                <a:lnTo>
                  <a:pt x="76204" y="5400675"/>
                </a:lnTo>
                <a:cubicBezTo>
                  <a:pt x="34117" y="5400675"/>
                  <a:pt x="0" y="5366558"/>
                  <a:pt x="0" y="53244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8638" y="1238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95338" y="1190625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缓存查找流程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4825" y="1533525"/>
            <a:ext cx="5514975" cy="4819650"/>
          </a:xfrm>
          <a:custGeom>
            <a:avLst/>
            <a:gdLst/>
            <a:ahLst/>
            <a:cxnLst/>
            <a:rect l="l" t="t" r="r" b="b"/>
            <a:pathLst>
              <a:path w="5514975" h="4819650">
                <a:moveTo>
                  <a:pt x="38123" y="0"/>
                </a:moveTo>
                <a:lnTo>
                  <a:pt x="5476852" y="0"/>
                </a:lnTo>
                <a:cubicBezTo>
                  <a:pt x="5497907" y="0"/>
                  <a:pt x="5514975" y="17068"/>
                  <a:pt x="5514975" y="38123"/>
                </a:cubicBezTo>
                <a:lnTo>
                  <a:pt x="5514975" y="4781527"/>
                </a:lnTo>
                <a:cubicBezTo>
                  <a:pt x="5514975" y="4802582"/>
                  <a:pt x="5497907" y="4819650"/>
                  <a:pt x="5476852" y="4819650"/>
                </a:cubicBezTo>
                <a:lnTo>
                  <a:pt x="38123" y="4819650"/>
                </a:lnTo>
                <a:cubicBezTo>
                  <a:pt x="17068" y="4819650"/>
                  <a:pt x="0" y="4802582"/>
                  <a:pt x="0" y="4781527"/>
                </a:cubicBezTo>
                <a:lnTo>
                  <a:pt x="0" y="38123"/>
                </a:lnTo>
                <a:cubicBezTo>
                  <a:pt x="0" y="17083"/>
                  <a:pt x="17083" y="0"/>
                  <a:pt x="3812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81025" y="1609725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find_cached_blocks(token_ids, block_size):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7225" y="18002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cached_blocks = []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7225" y="19907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parent_hash = None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7225" y="22193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i in range(0, len(token_ids), block_size):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3425" y="24098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 = tuple(token_ids[i:i+size])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3425" y="26003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block_hash = hash_block_tokens(parent_hash, chunk)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3425" y="27908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查找缓存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3425" y="29813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block_hash in block_cache: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9625" y="3171825"/>
            <a:ext cx="520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cached_blocks.append(block_cache[block_hash])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9625" y="3362325"/>
            <a:ext cx="520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parent_hash = block_hash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3425" y="3552825"/>
            <a:ext cx="527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else: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9625" y="3743325"/>
            <a:ext cx="520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break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225" y="3933825"/>
            <a:ext cx="535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cached_blocks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5550" y="1076325"/>
            <a:ext cx="5495925" cy="4114800"/>
          </a:xfrm>
          <a:custGeom>
            <a:avLst/>
            <a:gdLst/>
            <a:ahLst/>
            <a:cxnLst/>
            <a:rect l="l" t="t" r="r" b="b"/>
            <a:pathLst>
              <a:path w="5495925" h="4114800">
                <a:moveTo>
                  <a:pt x="76206" y="0"/>
                </a:moveTo>
                <a:lnTo>
                  <a:pt x="5419719" y="0"/>
                </a:lnTo>
                <a:cubicBezTo>
                  <a:pt x="5461806" y="0"/>
                  <a:pt x="5495925" y="34119"/>
                  <a:pt x="5495925" y="76206"/>
                </a:cubicBezTo>
                <a:lnTo>
                  <a:pt x="5495925" y="4038594"/>
                </a:lnTo>
                <a:cubicBezTo>
                  <a:pt x="5495925" y="4080681"/>
                  <a:pt x="5461806" y="4114800"/>
                  <a:pt x="5419719" y="4114800"/>
                </a:cubicBezTo>
                <a:lnTo>
                  <a:pt x="76206" y="4114800"/>
                </a:lnTo>
                <a:cubicBezTo>
                  <a:pt x="34119" y="4114800"/>
                  <a:pt x="0" y="4080681"/>
                  <a:pt x="0" y="40385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453188" y="1247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4110"/>
                </a:moveTo>
                <a:cubicBezTo>
                  <a:pt x="0" y="19690"/>
                  <a:pt x="3583" y="16073"/>
                  <a:pt x="8037" y="16073"/>
                </a:cubicBezTo>
                <a:lnTo>
                  <a:pt x="24110" y="16073"/>
                </a:lnTo>
                <a:cubicBezTo>
                  <a:pt x="28564" y="16073"/>
                  <a:pt x="32147" y="19656"/>
                  <a:pt x="32147" y="24110"/>
                </a:cubicBezTo>
                <a:lnTo>
                  <a:pt x="32147" y="58936"/>
                </a:lnTo>
                <a:lnTo>
                  <a:pt x="40184" y="58936"/>
                </a:lnTo>
                <a:cubicBezTo>
                  <a:pt x="44637" y="58936"/>
                  <a:pt x="48220" y="62519"/>
                  <a:pt x="48220" y="66973"/>
                </a:cubicBezTo>
                <a:cubicBezTo>
                  <a:pt x="48220" y="71426"/>
                  <a:pt x="44637" y="75009"/>
                  <a:pt x="40184" y="75009"/>
                </a:cubicBezTo>
                <a:lnTo>
                  <a:pt x="8037" y="75009"/>
                </a:lnTo>
                <a:cubicBezTo>
                  <a:pt x="3583" y="75009"/>
                  <a:pt x="0" y="71426"/>
                  <a:pt x="0" y="66973"/>
                </a:cubicBezTo>
                <a:cubicBezTo>
                  <a:pt x="0" y="62519"/>
                  <a:pt x="3583" y="58936"/>
                  <a:pt x="8037" y="58936"/>
                </a:cubicBezTo>
                <a:lnTo>
                  <a:pt x="16073" y="58936"/>
                </a:lnTo>
                <a:lnTo>
                  <a:pt x="16073" y="32147"/>
                </a:lnTo>
                <a:lnTo>
                  <a:pt x="8037" y="32147"/>
                </a:lnTo>
                <a:cubicBezTo>
                  <a:pt x="3583" y="32147"/>
                  <a:pt x="0" y="28564"/>
                  <a:pt x="0" y="24110"/>
                </a:cubicBezTo>
                <a:close/>
                <a:moveTo>
                  <a:pt x="10180" y="100861"/>
                </a:moveTo>
                <a:cubicBezTo>
                  <a:pt x="13997" y="97981"/>
                  <a:pt x="18652" y="96441"/>
                  <a:pt x="23440" y="96441"/>
                </a:cubicBezTo>
                <a:lnTo>
                  <a:pt x="25081" y="96441"/>
                </a:lnTo>
                <a:cubicBezTo>
                  <a:pt x="36366" y="96441"/>
                  <a:pt x="45541" y="105616"/>
                  <a:pt x="45541" y="116901"/>
                </a:cubicBezTo>
                <a:cubicBezTo>
                  <a:pt x="45541" y="123464"/>
                  <a:pt x="42394" y="129592"/>
                  <a:pt x="37103" y="133443"/>
                </a:cubicBezTo>
                <a:lnTo>
                  <a:pt x="29066" y="139303"/>
                </a:lnTo>
                <a:lnTo>
                  <a:pt x="40184" y="139303"/>
                </a:lnTo>
                <a:cubicBezTo>
                  <a:pt x="44637" y="139303"/>
                  <a:pt x="48220" y="142886"/>
                  <a:pt x="48220" y="147340"/>
                </a:cubicBezTo>
                <a:cubicBezTo>
                  <a:pt x="48220" y="151794"/>
                  <a:pt x="44637" y="155377"/>
                  <a:pt x="40184" y="155377"/>
                </a:cubicBezTo>
                <a:lnTo>
                  <a:pt x="9811" y="155377"/>
                </a:lnTo>
                <a:cubicBezTo>
                  <a:pt x="4387" y="155377"/>
                  <a:pt x="0" y="150990"/>
                  <a:pt x="0" y="145565"/>
                </a:cubicBezTo>
                <a:cubicBezTo>
                  <a:pt x="0" y="142417"/>
                  <a:pt x="1507" y="139471"/>
                  <a:pt x="4052" y="137629"/>
                </a:cubicBezTo>
                <a:lnTo>
                  <a:pt x="27660" y="120450"/>
                </a:lnTo>
                <a:cubicBezTo>
                  <a:pt x="28798" y="119613"/>
                  <a:pt x="29468" y="118307"/>
                  <a:pt x="29468" y="116901"/>
                </a:cubicBezTo>
                <a:cubicBezTo>
                  <a:pt x="29468" y="114490"/>
                  <a:pt x="27492" y="112514"/>
                  <a:pt x="25081" y="112514"/>
                </a:cubicBezTo>
                <a:lnTo>
                  <a:pt x="23440" y="112514"/>
                </a:lnTo>
                <a:cubicBezTo>
                  <a:pt x="22134" y="112514"/>
                  <a:pt x="20862" y="112949"/>
                  <a:pt x="19824" y="113720"/>
                </a:cubicBezTo>
                <a:lnTo>
                  <a:pt x="12859" y="118943"/>
                </a:lnTo>
                <a:cubicBezTo>
                  <a:pt x="9309" y="121622"/>
                  <a:pt x="4286" y="120886"/>
                  <a:pt x="1607" y="117336"/>
                </a:cubicBezTo>
                <a:cubicBezTo>
                  <a:pt x="-1072" y="113787"/>
                  <a:pt x="-335" y="108764"/>
                  <a:pt x="3215" y="106085"/>
                </a:cubicBezTo>
                <a:lnTo>
                  <a:pt x="10180" y="100861"/>
                </a:lnTo>
                <a:close/>
                <a:moveTo>
                  <a:pt x="75009" y="21431"/>
                </a:move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75009" y="42863"/>
                </a:lnTo>
                <a:cubicBezTo>
                  <a:pt x="69082" y="42863"/>
                  <a:pt x="64294" y="38074"/>
                  <a:pt x="64294" y="32147"/>
                </a:cubicBezTo>
                <a:cubicBezTo>
                  <a:pt x="64294" y="26220"/>
                  <a:pt x="69082" y="21431"/>
                  <a:pt x="75009" y="21431"/>
                </a:cubicBezTo>
                <a:close/>
                <a:moveTo>
                  <a:pt x="75009" y="75009"/>
                </a:move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75009" y="96441"/>
                </a:lnTo>
                <a:cubicBezTo>
                  <a:pt x="69082" y="96441"/>
                  <a:pt x="64294" y="91652"/>
                  <a:pt x="64294" y="85725"/>
                </a:cubicBezTo>
                <a:cubicBezTo>
                  <a:pt x="64294" y="79798"/>
                  <a:pt x="69082" y="75009"/>
                  <a:pt x="75009" y="75009"/>
                </a:cubicBezTo>
                <a:close/>
                <a:moveTo>
                  <a:pt x="75009" y="128588"/>
                </a:move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75009" y="150019"/>
                </a:lnTo>
                <a:cubicBezTo>
                  <a:pt x="69082" y="150019"/>
                  <a:pt x="64294" y="145230"/>
                  <a:pt x="64294" y="139303"/>
                </a:cubicBezTo>
                <a:cubicBezTo>
                  <a:pt x="64294" y="133376"/>
                  <a:pt x="69082" y="128588"/>
                  <a:pt x="75009" y="128588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719888" y="120015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查找过程示例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29375" y="2247900"/>
            <a:ext cx="5248275" cy="514350"/>
          </a:xfrm>
          <a:custGeom>
            <a:avLst/>
            <a:gdLst/>
            <a:ahLst/>
            <a:cxnLst/>
            <a:rect l="l" t="t" r="r" b="b"/>
            <a:pathLst>
              <a:path w="5248275" h="514350">
                <a:moveTo>
                  <a:pt x="38098" y="0"/>
                </a:moveTo>
                <a:lnTo>
                  <a:pt x="5210177" y="0"/>
                </a:lnTo>
                <a:cubicBezTo>
                  <a:pt x="5231218" y="0"/>
                  <a:pt x="5248275" y="17057"/>
                  <a:pt x="5248275" y="38098"/>
                </a:cubicBezTo>
                <a:lnTo>
                  <a:pt x="5248275" y="476252"/>
                </a:lnTo>
                <a:cubicBezTo>
                  <a:pt x="5248275" y="497293"/>
                  <a:pt x="5231218" y="514350"/>
                  <a:pt x="5210177" y="514350"/>
                </a:cubicBezTo>
                <a:lnTo>
                  <a:pt x="38098" y="514350"/>
                </a:lnTo>
                <a:cubicBezTo>
                  <a:pt x="17057" y="514350"/>
                  <a:pt x="0" y="497293"/>
                  <a:pt x="0" y="47625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505575" y="2343150"/>
            <a:ext cx="676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Chunk 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220450" y="2324100"/>
            <a:ext cx="381000" cy="190500"/>
          </a:xfrm>
          <a:custGeom>
            <a:avLst/>
            <a:gdLst/>
            <a:ahLst/>
            <a:cxnLst/>
            <a:rect l="l" t="t" r="r" b="b"/>
            <a:pathLst>
              <a:path w="381000" h="1905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152400"/>
                </a:lnTo>
                <a:cubicBezTo>
                  <a:pt x="381000" y="173428"/>
                  <a:pt x="363928" y="190500"/>
                  <a:pt x="3429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1220450" y="2324100"/>
            <a:ext cx="4381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5DF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命中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05575" y="2533650"/>
            <a:ext cx="517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H₀ = Hash(Chunk₀)，缓存命中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29375" y="2838450"/>
            <a:ext cx="5248275" cy="514350"/>
          </a:xfrm>
          <a:custGeom>
            <a:avLst/>
            <a:gdLst/>
            <a:ahLst/>
            <a:cxnLst/>
            <a:rect l="l" t="t" r="r" b="b"/>
            <a:pathLst>
              <a:path w="5248275" h="514350">
                <a:moveTo>
                  <a:pt x="38098" y="0"/>
                </a:moveTo>
                <a:lnTo>
                  <a:pt x="5210177" y="0"/>
                </a:lnTo>
                <a:cubicBezTo>
                  <a:pt x="5231218" y="0"/>
                  <a:pt x="5248275" y="17057"/>
                  <a:pt x="5248275" y="38098"/>
                </a:cubicBezTo>
                <a:lnTo>
                  <a:pt x="5248275" y="476252"/>
                </a:lnTo>
                <a:cubicBezTo>
                  <a:pt x="5248275" y="497293"/>
                  <a:pt x="5231218" y="514350"/>
                  <a:pt x="5210177" y="514350"/>
                </a:cubicBezTo>
                <a:lnTo>
                  <a:pt x="38098" y="514350"/>
                </a:lnTo>
                <a:cubicBezTo>
                  <a:pt x="17057" y="514350"/>
                  <a:pt x="0" y="497293"/>
                  <a:pt x="0" y="47625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505575" y="2933700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Chunk 1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220450" y="2914650"/>
            <a:ext cx="381000" cy="190500"/>
          </a:xfrm>
          <a:custGeom>
            <a:avLst/>
            <a:gdLst/>
            <a:ahLst/>
            <a:cxnLst/>
            <a:rect l="l" t="t" r="r" b="b"/>
            <a:pathLst>
              <a:path w="381000" h="1905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152400"/>
                </a:lnTo>
                <a:cubicBezTo>
                  <a:pt x="381000" y="173428"/>
                  <a:pt x="363928" y="190500"/>
                  <a:pt x="3429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1220450" y="2914650"/>
            <a:ext cx="4381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5DF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命中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05575" y="3124200"/>
            <a:ext cx="517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H₁ = Hash(H₀, Chunk₁)，缓存命中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9375" y="3429000"/>
            <a:ext cx="5248275" cy="514350"/>
          </a:xfrm>
          <a:custGeom>
            <a:avLst/>
            <a:gdLst/>
            <a:ahLst/>
            <a:cxnLst/>
            <a:rect l="l" t="t" r="r" b="b"/>
            <a:pathLst>
              <a:path w="5248275" h="514350">
                <a:moveTo>
                  <a:pt x="38098" y="0"/>
                </a:moveTo>
                <a:lnTo>
                  <a:pt x="5210177" y="0"/>
                </a:lnTo>
                <a:cubicBezTo>
                  <a:pt x="5231218" y="0"/>
                  <a:pt x="5248275" y="17057"/>
                  <a:pt x="5248275" y="38098"/>
                </a:cubicBezTo>
                <a:lnTo>
                  <a:pt x="5248275" y="476252"/>
                </a:lnTo>
                <a:cubicBezTo>
                  <a:pt x="5248275" y="497293"/>
                  <a:pt x="5231218" y="514350"/>
                  <a:pt x="5210177" y="514350"/>
                </a:cubicBezTo>
                <a:lnTo>
                  <a:pt x="38098" y="514350"/>
                </a:lnTo>
                <a:cubicBezTo>
                  <a:pt x="17057" y="514350"/>
                  <a:pt x="0" y="497293"/>
                  <a:pt x="0" y="47625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505575" y="3524250"/>
            <a:ext cx="676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Chunk 2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106150" y="3505200"/>
            <a:ext cx="495300" cy="190500"/>
          </a:xfrm>
          <a:custGeom>
            <a:avLst/>
            <a:gdLst/>
            <a:ahLst/>
            <a:cxnLst/>
            <a:rect l="l" t="t" r="r" b="b"/>
            <a:pathLst>
              <a:path w="495300" h="190500">
                <a:moveTo>
                  <a:pt x="38100" y="0"/>
                </a:moveTo>
                <a:lnTo>
                  <a:pt x="457200" y="0"/>
                </a:lnTo>
                <a:cubicBezTo>
                  <a:pt x="478228" y="0"/>
                  <a:pt x="495300" y="17072"/>
                  <a:pt x="495300" y="38100"/>
                </a:cubicBezTo>
                <a:lnTo>
                  <a:pt x="495300" y="152400"/>
                </a:lnTo>
                <a:cubicBezTo>
                  <a:pt x="495300" y="173428"/>
                  <a:pt x="478228" y="190500"/>
                  <a:pt x="4572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106150" y="3505200"/>
            <a:ext cx="5524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646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未命中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05575" y="3714750"/>
            <a:ext cx="517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H₂ = Hash(H₁, Chunk₂)，缓存未命中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48425" y="4019550"/>
            <a:ext cx="5229225" cy="342900"/>
          </a:xfrm>
          <a:custGeom>
            <a:avLst/>
            <a:gdLst/>
            <a:ahLst/>
            <a:cxnLst/>
            <a:rect l="l" t="t" r="r" b="b"/>
            <a:pathLst>
              <a:path w="5229225" h="342900">
                <a:moveTo>
                  <a:pt x="38100" y="0"/>
                </a:moveTo>
                <a:lnTo>
                  <a:pt x="5191125" y="0"/>
                </a:lnTo>
                <a:cubicBezTo>
                  <a:pt x="5212167" y="0"/>
                  <a:pt x="5229225" y="17058"/>
                  <a:pt x="5229225" y="38100"/>
                </a:cubicBezTo>
                <a:lnTo>
                  <a:pt x="5229225" y="304800"/>
                </a:lnTo>
                <a:cubicBezTo>
                  <a:pt x="5229225" y="325842"/>
                  <a:pt x="5212167" y="342900"/>
                  <a:pt x="51911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448425" y="4019550"/>
            <a:ext cx="38100" cy="342900"/>
          </a:xfrm>
          <a:custGeom>
            <a:avLst/>
            <a:gdLst/>
            <a:ahLst/>
            <a:cxnLst/>
            <a:rect l="l" t="t" r="r" b="b"/>
            <a:pathLst>
              <a:path w="38100" h="342900">
                <a:moveTo>
                  <a:pt x="38100" y="0"/>
                </a:moveTo>
                <a:lnTo>
                  <a:pt x="38100" y="0"/>
                </a:lnTo>
                <a:lnTo>
                  <a:pt x="38100" y="342900"/>
                </a:lnTo>
                <a:lnTo>
                  <a:pt x="38100" y="342900"/>
                </a:lnTo>
                <a:cubicBezTo>
                  <a:pt x="17072" y="342900"/>
                  <a:pt x="0" y="325828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543675" y="4095750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结果：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命中2个Blocks，后续Blocks无法复用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00788" y="5319713"/>
            <a:ext cx="5505450" cy="1152525"/>
          </a:xfrm>
          <a:custGeom>
            <a:avLst/>
            <a:gdLst/>
            <a:ahLst/>
            <a:cxnLst/>
            <a:rect l="l" t="t" r="r" b="b"/>
            <a:pathLst>
              <a:path w="5505450" h="1152525">
                <a:moveTo>
                  <a:pt x="76205" y="0"/>
                </a:moveTo>
                <a:lnTo>
                  <a:pt x="5429245" y="0"/>
                </a:lnTo>
                <a:cubicBezTo>
                  <a:pt x="5471332" y="0"/>
                  <a:pt x="5505450" y="34118"/>
                  <a:pt x="5505450" y="76205"/>
                </a:cubicBezTo>
                <a:lnTo>
                  <a:pt x="5505450" y="1076320"/>
                </a:lnTo>
                <a:cubicBezTo>
                  <a:pt x="5505450" y="1118407"/>
                  <a:pt x="5471332" y="1152525"/>
                  <a:pt x="5429245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443663" y="54673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710363" y="543877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关键特点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47234" y="57435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662738" y="5705475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 Block 粒度逐个匹配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47234" y="59721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662738" y="5934075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一旦未命中，后续都无法复用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47234" y="62007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6662738" y="6162675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前缀依赖通过哈希链保证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两种方案的多维度对比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11420475" cy="5248275"/>
          </a:xfrm>
          <a:custGeom>
            <a:avLst/>
            <a:gdLst/>
            <a:ahLst/>
            <a:cxnLst/>
            <a:rect l="l" t="t" r="r" b="b"/>
            <a:pathLst>
              <a:path w="11420475" h="5248275">
                <a:moveTo>
                  <a:pt x="76205" y="0"/>
                </a:moveTo>
                <a:lnTo>
                  <a:pt x="11344270" y="0"/>
                </a:lnTo>
                <a:cubicBezTo>
                  <a:pt x="11386357" y="0"/>
                  <a:pt x="11420475" y="34118"/>
                  <a:pt x="11420475" y="76205"/>
                </a:cubicBezTo>
                <a:lnTo>
                  <a:pt x="11420475" y="5172070"/>
                </a:lnTo>
                <a:cubicBezTo>
                  <a:pt x="11420475" y="5214157"/>
                  <a:pt x="11386357" y="5248275"/>
                  <a:pt x="11344270" y="5248275"/>
                </a:cubicBezTo>
                <a:lnTo>
                  <a:pt x="76205" y="5248275"/>
                </a:lnTo>
                <a:cubicBezTo>
                  <a:pt x="34118" y="5248275"/>
                  <a:pt x="0" y="5214157"/>
                  <a:pt x="0" y="51720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23888" y="14382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300" y="71438"/>
                </a:moveTo>
                <a:lnTo>
                  <a:pt x="114300" y="114300"/>
                </a:lnTo>
                <a:lnTo>
                  <a:pt x="171450" y="114300"/>
                </a:lnTo>
                <a:lnTo>
                  <a:pt x="171450" y="71438"/>
                </a:lnTo>
                <a:lnTo>
                  <a:pt x="114300" y="71438"/>
                </a:lnTo>
                <a:close/>
                <a:moveTo>
                  <a:pt x="85725" y="71438"/>
                </a:moveTo>
                <a:lnTo>
                  <a:pt x="28575" y="71438"/>
                </a:lnTo>
                <a:lnTo>
                  <a:pt x="28575" y="114300"/>
                </a:lnTo>
                <a:lnTo>
                  <a:pt x="85725" y="114300"/>
                </a:lnTo>
                <a:lnTo>
                  <a:pt x="85725" y="71438"/>
                </a:lnTo>
                <a:close/>
                <a:moveTo>
                  <a:pt x="0" y="142875"/>
                </a:move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142875"/>
                </a:lnTo>
                <a:close/>
                <a:moveTo>
                  <a:pt x="171450" y="142875"/>
                </a:moveTo>
                <a:lnTo>
                  <a:pt x="114300" y="142875"/>
                </a:lnTo>
                <a:lnTo>
                  <a:pt x="114300" y="185738"/>
                </a:lnTo>
                <a:lnTo>
                  <a:pt x="171450" y="185738"/>
                </a:lnTo>
                <a:lnTo>
                  <a:pt x="171450" y="142875"/>
                </a:lnTo>
                <a:close/>
                <a:moveTo>
                  <a:pt x="85725" y="185738"/>
                </a:moveTo>
                <a:lnTo>
                  <a:pt x="85725" y="142875"/>
                </a:lnTo>
                <a:lnTo>
                  <a:pt x="28575" y="142875"/>
                </a:lnTo>
                <a:lnTo>
                  <a:pt x="28575" y="185738"/>
                </a:lnTo>
                <a:lnTo>
                  <a:pt x="85725" y="185738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81075" y="1419225"/>
            <a:ext cx="2790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RadixAttention vs APC 对比表</a:t>
            </a:r>
            <a:endParaRPr lang="en-US" sz="1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25" y="1838325"/>
          <a:ext cx="11029950" cy="4200525"/>
        </p:xfrm>
        <a:graphic>
          <a:graphicData uri="http://schemas.openxmlformats.org/drawingml/2006/table">
            <a:tbl>
              <a:tblPr/>
              <a:tblGrid>
                <a:gridCol w="300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4A6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RadixAttention (SGLang)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APC (vLLM)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数据结构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Radix Tree（压缩前缀树）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Hash Table（哈希表）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索引粒度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Token 级别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Block 级别（16-32 tokens）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查找方式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树遍历，天然支持最长前缀匹配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逐 Block 哈希查找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内存开销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较高（树节点、指针）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较低（仅哈希表条目）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动态前缀支持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任意位置分支，灵活性高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 Block 对齐，灵活性稍低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内存碎片化倾向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低（Block 连续分配）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中（Block 离散分配）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实现复杂度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较高（节点分裂、合并）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较低（标准哈希表操作）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并发支持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需要细粒度锁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通过引用计数管理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APPLICABLE SCENARIOS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适用场景对比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525" y="1076325"/>
            <a:ext cx="5619750" cy="4933950"/>
          </a:xfrm>
          <a:custGeom>
            <a:avLst/>
            <a:gdLst/>
            <a:ahLst/>
            <a:cxnLst/>
            <a:rect l="l" t="t" r="r" b="b"/>
            <a:pathLst>
              <a:path w="5619750" h="4933950">
                <a:moveTo>
                  <a:pt x="76180" y="0"/>
                </a:moveTo>
                <a:lnTo>
                  <a:pt x="5543570" y="0"/>
                </a:lnTo>
                <a:cubicBezTo>
                  <a:pt x="5585643" y="0"/>
                  <a:pt x="5619750" y="34107"/>
                  <a:pt x="5619750" y="76180"/>
                </a:cubicBezTo>
                <a:lnTo>
                  <a:pt x="5619750" y="4857770"/>
                </a:lnTo>
                <a:cubicBezTo>
                  <a:pt x="5619750" y="4899843"/>
                  <a:pt x="5585643" y="4933950"/>
                  <a:pt x="5543570" y="4933950"/>
                </a:cubicBezTo>
                <a:lnTo>
                  <a:pt x="76180" y="4933950"/>
                </a:lnTo>
                <a:cubicBezTo>
                  <a:pt x="34107" y="4933950"/>
                  <a:pt x="0" y="4899843"/>
                  <a:pt x="0" y="4857770"/>
                </a:cubicBezTo>
                <a:lnTo>
                  <a:pt x="0" y="76180"/>
                </a:lnTo>
                <a:cubicBezTo>
                  <a:pt x="0" y="34135"/>
                  <a:pt x="34135" y="0"/>
                  <a:pt x="7618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2540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7447" y="12477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4863" y="1200150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RadixAttention 更适合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3400" y="2667000"/>
            <a:ext cx="5353050" cy="647700"/>
          </a:xfrm>
          <a:custGeom>
            <a:avLst/>
            <a:gdLst/>
            <a:ahLst/>
            <a:cxnLst/>
            <a:rect l="l" t="t" r="r" b="b"/>
            <a:pathLst>
              <a:path w="5353050" h="647700">
                <a:moveTo>
                  <a:pt x="38098" y="0"/>
                </a:moveTo>
                <a:lnTo>
                  <a:pt x="5314952" y="0"/>
                </a:lnTo>
                <a:cubicBezTo>
                  <a:pt x="5335979" y="0"/>
                  <a:pt x="5353050" y="17071"/>
                  <a:pt x="5353050" y="38098"/>
                </a:cubicBezTo>
                <a:lnTo>
                  <a:pt x="5353050" y="609602"/>
                </a:lnTo>
                <a:cubicBezTo>
                  <a:pt x="5353050" y="630643"/>
                  <a:pt x="5335993" y="647700"/>
                  <a:pt x="53149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33400" y="26670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90563" y="28194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57263" y="2781300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高度动态的工作负载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7263" y="3009900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前缀频繁变化，需要任意位置分支的场景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" y="3390900"/>
            <a:ext cx="5353050" cy="647700"/>
          </a:xfrm>
          <a:custGeom>
            <a:avLst/>
            <a:gdLst/>
            <a:ahLst/>
            <a:cxnLst/>
            <a:rect l="l" t="t" r="r" b="b"/>
            <a:pathLst>
              <a:path w="5353050" h="647700">
                <a:moveTo>
                  <a:pt x="38098" y="0"/>
                </a:moveTo>
                <a:lnTo>
                  <a:pt x="5314952" y="0"/>
                </a:lnTo>
                <a:cubicBezTo>
                  <a:pt x="5335979" y="0"/>
                  <a:pt x="5353050" y="17071"/>
                  <a:pt x="5353050" y="38098"/>
                </a:cubicBezTo>
                <a:lnTo>
                  <a:pt x="5353050" y="609602"/>
                </a:lnTo>
                <a:cubicBezTo>
                  <a:pt x="5353050" y="630643"/>
                  <a:pt x="5335993" y="647700"/>
                  <a:pt x="53149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33400" y="33909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90563" y="35433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57263" y="35052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细粒度缓存控制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7263" y="37338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需要 token 级缓存控制的场景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4114800"/>
            <a:ext cx="5353050" cy="647700"/>
          </a:xfrm>
          <a:custGeom>
            <a:avLst/>
            <a:gdLst/>
            <a:ahLst/>
            <a:cxnLst/>
            <a:rect l="l" t="t" r="r" b="b"/>
            <a:pathLst>
              <a:path w="5353050" h="647700">
                <a:moveTo>
                  <a:pt x="38098" y="0"/>
                </a:moveTo>
                <a:lnTo>
                  <a:pt x="5314952" y="0"/>
                </a:lnTo>
                <a:cubicBezTo>
                  <a:pt x="5335979" y="0"/>
                  <a:pt x="5353050" y="17071"/>
                  <a:pt x="5353050" y="38098"/>
                </a:cubicBezTo>
                <a:lnTo>
                  <a:pt x="5353050" y="609602"/>
                </a:lnTo>
                <a:cubicBezTo>
                  <a:pt x="5353050" y="630643"/>
                  <a:pt x="5335993" y="647700"/>
                  <a:pt x="53149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33400" y="41148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90563" y="4267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57263" y="422910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复杂结构化生成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7263" y="445770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SGLang 的核心用例，如多轮对话、树状生成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81725" y="1076325"/>
            <a:ext cx="5619750" cy="4933950"/>
          </a:xfrm>
          <a:custGeom>
            <a:avLst/>
            <a:gdLst/>
            <a:ahLst/>
            <a:cxnLst/>
            <a:rect l="l" t="t" r="r" b="b"/>
            <a:pathLst>
              <a:path w="5619750" h="4933950">
                <a:moveTo>
                  <a:pt x="76180" y="0"/>
                </a:moveTo>
                <a:lnTo>
                  <a:pt x="5543570" y="0"/>
                </a:lnTo>
                <a:cubicBezTo>
                  <a:pt x="5585643" y="0"/>
                  <a:pt x="5619750" y="34107"/>
                  <a:pt x="5619750" y="76180"/>
                </a:cubicBezTo>
                <a:lnTo>
                  <a:pt x="5619750" y="4857770"/>
                </a:lnTo>
                <a:cubicBezTo>
                  <a:pt x="5619750" y="4899843"/>
                  <a:pt x="5585643" y="4933950"/>
                  <a:pt x="5543570" y="4933950"/>
                </a:cubicBezTo>
                <a:lnTo>
                  <a:pt x="76180" y="4933950"/>
                </a:lnTo>
                <a:cubicBezTo>
                  <a:pt x="34107" y="4933950"/>
                  <a:pt x="0" y="4899843"/>
                  <a:pt x="0" y="4857770"/>
                </a:cubicBezTo>
                <a:lnTo>
                  <a:pt x="0" y="76180"/>
                </a:lnTo>
                <a:cubicBezTo>
                  <a:pt x="0" y="34135"/>
                  <a:pt x="34135" y="0"/>
                  <a:pt x="7618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D4A26A">
                  <a:alpha val="5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318647" y="12477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596063" y="1200150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 APC 更适合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24600" y="2667000"/>
            <a:ext cx="5353050" cy="647700"/>
          </a:xfrm>
          <a:custGeom>
            <a:avLst/>
            <a:gdLst/>
            <a:ahLst/>
            <a:cxnLst/>
            <a:rect l="l" t="t" r="r" b="b"/>
            <a:pathLst>
              <a:path w="5353050" h="647700">
                <a:moveTo>
                  <a:pt x="38098" y="0"/>
                </a:moveTo>
                <a:lnTo>
                  <a:pt x="5314952" y="0"/>
                </a:lnTo>
                <a:cubicBezTo>
                  <a:pt x="5335979" y="0"/>
                  <a:pt x="5353050" y="17071"/>
                  <a:pt x="5353050" y="38098"/>
                </a:cubicBezTo>
                <a:lnTo>
                  <a:pt x="5353050" y="609602"/>
                </a:lnTo>
                <a:cubicBezTo>
                  <a:pt x="5353050" y="630643"/>
                  <a:pt x="5335993" y="647700"/>
                  <a:pt x="53149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324600" y="26670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481763" y="28194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748463" y="2781300"/>
            <a:ext cx="2886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前缀相对固定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48463" y="3009900"/>
            <a:ext cx="2886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如固定 System Prompt，前缀变化不频繁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24600" y="3390900"/>
            <a:ext cx="5353050" cy="647700"/>
          </a:xfrm>
          <a:custGeom>
            <a:avLst/>
            <a:gdLst/>
            <a:ahLst/>
            <a:cxnLst/>
            <a:rect l="l" t="t" r="r" b="b"/>
            <a:pathLst>
              <a:path w="5353050" h="647700">
                <a:moveTo>
                  <a:pt x="38098" y="0"/>
                </a:moveTo>
                <a:lnTo>
                  <a:pt x="5314952" y="0"/>
                </a:lnTo>
                <a:cubicBezTo>
                  <a:pt x="5335979" y="0"/>
                  <a:pt x="5353050" y="17071"/>
                  <a:pt x="5353050" y="38098"/>
                </a:cubicBezTo>
                <a:lnTo>
                  <a:pt x="5353050" y="609602"/>
                </a:lnTo>
                <a:cubicBezTo>
                  <a:pt x="5353050" y="630643"/>
                  <a:pt x="5335993" y="647700"/>
                  <a:pt x="53149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324600" y="33909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481763" y="35433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748463" y="3505200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追求实现简洁性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48463" y="3733800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与现有系统集成简单，易于维护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24600" y="4114800"/>
            <a:ext cx="5353050" cy="647700"/>
          </a:xfrm>
          <a:custGeom>
            <a:avLst/>
            <a:gdLst/>
            <a:ahLst/>
            <a:cxnLst/>
            <a:rect l="l" t="t" r="r" b="b"/>
            <a:pathLst>
              <a:path w="5353050" h="647700">
                <a:moveTo>
                  <a:pt x="38098" y="0"/>
                </a:moveTo>
                <a:lnTo>
                  <a:pt x="5314952" y="0"/>
                </a:lnTo>
                <a:cubicBezTo>
                  <a:pt x="5335979" y="0"/>
                  <a:pt x="5353050" y="17071"/>
                  <a:pt x="5353050" y="38098"/>
                </a:cubicBezTo>
                <a:lnTo>
                  <a:pt x="5353050" y="609602"/>
                </a:lnTo>
                <a:cubicBezTo>
                  <a:pt x="5353050" y="630643"/>
                  <a:pt x="5335993" y="647700"/>
                  <a:pt x="53149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324600" y="41148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481763" y="4267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748463" y="4229100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 对齐可接受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48463" y="4457700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 对齐不造成显著浪费的场景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5763" y="6100763"/>
            <a:ext cx="11420475" cy="371475"/>
          </a:xfrm>
          <a:custGeom>
            <a:avLst/>
            <a:gdLst/>
            <a:ahLst/>
            <a:cxnLst/>
            <a:rect l="l" t="t" r="r" b="b"/>
            <a:pathLst>
              <a:path w="11420475" h="371475">
                <a:moveTo>
                  <a:pt x="76201" y="0"/>
                </a:moveTo>
                <a:lnTo>
                  <a:pt x="11344274" y="0"/>
                </a:lnTo>
                <a:cubicBezTo>
                  <a:pt x="11386359" y="0"/>
                  <a:pt x="11420475" y="34116"/>
                  <a:pt x="11420475" y="76201"/>
                </a:cubicBezTo>
                <a:lnTo>
                  <a:pt x="11420475" y="295274"/>
                </a:lnTo>
                <a:cubicBezTo>
                  <a:pt x="11420475" y="337359"/>
                  <a:pt x="11386359" y="371475"/>
                  <a:pt x="11344274" y="371475"/>
                </a:cubicBezTo>
                <a:lnTo>
                  <a:pt x="76201" y="371475"/>
                </a:lnTo>
                <a:cubicBezTo>
                  <a:pt x="34116" y="371475"/>
                  <a:pt x="0" y="337359"/>
                  <a:pt x="0" y="2952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511969" y="62007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57238" y="6181725"/>
            <a:ext cx="6524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选型建议：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根据实际业务场景的前缀变化频率、实现复杂度和内存开销要求，选择最适合的方案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VLLM ROUTER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vLLM Router 中的 Radix Tree 应用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066800"/>
            <a:ext cx="5619750" cy="952500"/>
          </a:xfrm>
          <a:custGeom>
            <a:avLst/>
            <a:gdLst/>
            <a:ahLst/>
            <a:cxnLst/>
            <a:rect l="l" t="t" r="r" b="b"/>
            <a:pathLst>
              <a:path w="5619750" h="9525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876300"/>
                </a:lnTo>
                <a:cubicBezTo>
                  <a:pt x="5619750" y="918356"/>
                  <a:pt x="5585606" y="952500"/>
                  <a:pt x="55435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0668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57213" y="1228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52475" y="118110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有趣的对比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400" y="1485900"/>
            <a:ext cx="5448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虽然 vLLM 的 KV Cache 管理使用哈希表，但其 </a:t>
            </a: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路由组件（vLLM Router）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却使用了 Radix Tree 来实现 </a:t>
            </a: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Cache Aware 路由策略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2138363"/>
            <a:ext cx="5629275" cy="4333875"/>
          </a:xfrm>
          <a:custGeom>
            <a:avLst/>
            <a:gdLst/>
            <a:ahLst/>
            <a:cxnLst/>
            <a:rect l="l" t="t" r="r" b="b"/>
            <a:pathLst>
              <a:path w="5629275" h="4333875">
                <a:moveTo>
                  <a:pt x="76190" y="0"/>
                </a:moveTo>
                <a:lnTo>
                  <a:pt x="5553085" y="0"/>
                </a:lnTo>
                <a:cubicBezTo>
                  <a:pt x="5595164" y="0"/>
                  <a:pt x="5629275" y="34111"/>
                  <a:pt x="5629275" y="76190"/>
                </a:cubicBezTo>
                <a:lnTo>
                  <a:pt x="5629275" y="4257685"/>
                </a:lnTo>
                <a:cubicBezTo>
                  <a:pt x="5629275" y="4299764"/>
                  <a:pt x="5595164" y="4333875"/>
                  <a:pt x="5553085" y="4333875"/>
                </a:cubicBezTo>
                <a:lnTo>
                  <a:pt x="76190" y="4333875"/>
                </a:lnTo>
                <a:cubicBezTo>
                  <a:pt x="34111" y="4333875"/>
                  <a:pt x="0" y="4299764"/>
                  <a:pt x="0" y="4257685"/>
                </a:cubicBezTo>
                <a:lnTo>
                  <a:pt x="0" y="76190"/>
                </a:lnTo>
                <a:cubicBezTo>
                  <a:pt x="0" y="34111"/>
                  <a:pt x="34111" y="0"/>
                  <a:pt x="7619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28638" y="230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71450" y="32147"/>
                </a:moveTo>
                <a:cubicBezTo>
                  <a:pt x="171450" y="48957"/>
                  <a:pt x="151660" y="74038"/>
                  <a:pt x="143121" y="84051"/>
                </a:cubicBezTo>
                <a:cubicBezTo>
                  <a:pt x="141848" y="85524"/>
                  <a:pt x="139973" y="86093"/>
                  <a:pt x="138265" y="85725"/>
                </a:cubicBezTo>
                <a:lnTo>
                  <a:pt x="107156" y="85725"/>
                </a:lnTo>
                <a:cubicBezTo>
                  <a:pt x="101229" y="85725"/>
                  <a:pt x="96441" y="90514"/>
                  <a:pt x="96441" y="96441"/>
                </a:cubicBezTo>
                <a:cubicBezTo>
                  <a:pt x="96441" y="102368"/>
                  <a:pt x="101229" y="107156"/>
                  <a:pt x="107156" y="107156"/>
                </a:cubicBezTo>
                <a:lnTo>
                  <a:pt x="139303" y="107156"/>
                </a:lnTo>
                <a:cubicBezTo>
                  <a:pt x="157051" y="107156"/>
                  <a:pt x="171450" y="121555"/>
                  <a:pt x="171450" y="139303"/>
                </a:cubicBezTo>
                <a:cubicBezTo>
                  <a:pt x="171450" y="157051"/>
                  <a:pt x="157051" y="171450"/>
                  <a:pt x="139303" y="171450"/>
                </a:cubicBezTo>
                <a:lnTo>
                  <a:pt x="46747" y="171450"/>
                </a:lnTo>
                <a:cubicBezTo>
                  <a:pt x="49660" y="168135"/>
                  <a:pt x="53210" y="163882"/>
                  <a:pt x="56793" y="159127"/>
                </a:cubicBezTo>
                <a:cubicBezTo>
                  <a:pt x="58902" y="156314"/>
                  <a:pt x="61079" y="153233"/>
                  <a:pt x="63155" y="150019"/>
                </a:cubicBezTo>
                <a:lnTo>
                  <a:pt x="139303" y="150019"/>
                </a:lnTo>
                <a:cubicBezTo>
                  <a:pt x="145230" y="150019"/>
                  <a:pt x="150019" y="145230"/>
                  <a:pt x="150019" y="139303"/>
                </a:cubicBezTo>
                <a:cubicBezTo>
                  <a:pt x="150019" y="133376"/>
                  <a:pt x="145230" y="128588"/>
                  <a:pt x="139303" y="128588"/>
                </a:cubicBezTo>
                <a:lnTo>
                  <a:pt x="107156" y="128588"/>
                </a:lnTo>
                <a:cubicBezTo>
                  <a:pt x="89408" y="128588"/>
                  <a:pt x="75009" y="114188"/>
                  <a:pt x="75009" y="96441"/>
                </a:cubicBezTo>
                <a:cubicBezTo>
                  <a:pt x="75009" y="78693"/>
                  <a:pt x="89408" y="64294"/>
                  <a:pt x="107156" y="64294"/>
                </a:cubicBezTo>
                <a:lnTo>
                  <a:pt x="120484" y="64294"/>
                </a:lnTo>
                <a:cubicBezTo>
                  <a:pt x="113452" y="53746"/>
                  <a:pt x="107156" y="41624"/>
                  <a:pt x="107156" y="32147"/>
                </a:cubicBezTo>
                <a:cubicBezTo>
                  <a:pt x="107156" y="14399"/>
                  <a:pt x="121555" y="0"/>
                  <a:pt x="139303" y="0"/>
                </a:cubicBezTo>
                <a:cubicBezTo>
                  <a:pt x="157051" y="0"/>
                  <a:pt x="171450" y="14399"/>
                  <a:pt x="171450" y="32147"/>
                </a:cubicBezTo>
                <a:close/>
                <a:moveTo>
                  <a:pt x="39212" y="163782"/>
                </a:moveTo>
                <a:cubicBezTo>
                  <a:pt x="37940" y="165222"/>
                  <a:pt x="36801" y="166494"/>
                  <a:pt x="35830" y="167566"/>
                </a:cubicBezTo>
                <a:lnTo>
                  <a:pt x="35228" y="168235"/>
                </a:lnTo>
                <a:lnTo>
                  <a:pt x="35161" y="168168"/>
                </a:lnTo>
                <a:cubicBezTo>
                  <a:pt x="33151" y="169709"/>
                  <a:pt x="30272" y="169508"/>
                  <a:pt x="28463" y="167566"/>
                </a:cubicBezTo>
                <a:cubicBezTo>
                  <a:pt x="20025" y="158390"/>
                  <a:pt x="0" y="134782"/>
                  <a:pt x="0" y="117872"/>
                </a:cubicBezTo>
                <a:cubicBezTo>
                  <a:pt x="0" y="100124"/>
                  <a:pt x="14399" y="85725"/>
                  <a:pt x="32147" y="85725"/>
                </a:cubicBezTo>
                <a:cubicBezTo>
                  <a:pt x="49895" y="85725"/>
                  <a:pt x="64294" y="100124"/>
                  <a:pt x="64294" y="117872"/>
                </a:cubicBezTo>
                <a:cubicBezTo>
                  <a:pt x="64294" y="127918"/>
                  <a:pt x="57228" y="140308"/>
                  <a:pt x="49727" y="150655"/>
                </a:cubicBezTo>
                <a:cubicBezTo>
                  <a:pt x="46144" y="155577"/>
                  <a:pt x="42461" y="160031"/>
                  <a:pt x="39413" y="163547"/>
                </a:cubicBezTo>
                <a:lnTo>
                  <a:pt x="39212" y="163782"/>
                </a:lnTo>
                <a:close/>
                <a:moveTo>
                  <a:pt x="42863" y="117872"/>
                </a:moveTo>
                <a:cubicBezTo>
                  <a:pt x="42863" y="111958"/>
                  <a:pt x="38061" y="107156"/>
                  <a:pt x="32147" y="107156"/>
                </a:cubicBezTo>
                <a:cubicBezTo>
                  <a:pt x="26233" y="107156"/>
                  <a:pt x="21431" y="111958"/>
                  <a:pt x="21431" y="117872"/>
                </a:cubicBezTo>
                <a:cubicBezTo>
                  <a:pt x="21431" y="123786"/>
                  <a:pt x="26233" y="128588"/>
                  <a:pt x="32147" y="128588"/>
                </a:cubicBezTo>
                <a:cubicBezTo>
                  <a:pt x="38061" y="128588"/>
                  <a:pt x="42863" y="123786"/>
                  <a:pt x="42863" y="117872"/>
                </a:cubicBezTo>
                <a:close/>
                <a:moveTo>
                  <a:pt x="139303" y="42863"/>
                </a:moveTo>
                <a:cubicBezTo>
                  <a:pt x="145217" y="42863"/>
                  <a:pt x="150019" y="38061"/>
                  <a:pt x="150019" y="32147"/>
                </a:cubicBezTo>
                <a:cubicBezTo>
                  <a:pt x="150019" y="26233"/>
                  <a:pt x="145217" y="21431"/>
                  <a:pt x="139303" y="21431"/>
                </a:cubicBezTo>
                <a:cubicBezTo>
                  <a:pt x="133389" y="21431"/>
                  <a:pt x="128588" y="26233"/>
                  <a:pt x="128588" y="32147"/>
                </a:cubicBezTo>
                <a:cubicBezTo>
                  <a:pt x="128588" y="38061"/>
                  <a:pt x="133389" y="42863"/>
                  <a:pt x="139303" y="42863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95338" y="2257425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Cache Aware 策略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4825" y="3571875"/>
            <a:ext cx="5391150" cy="552450"/>
          </a:xfrm>
          <a:custGeom>
            <a:avLst/>
            <a:gdLst/>
            <a:ahLst/>
            <a:cxnLst/>
            <a:rect l="l" t="t" r="r" b="b"/>
            <a:pathLst>
              <a:path w="5391150" h="552450">
                <a:moveTo>
                  <a:pt x="38102" y="0"/>
                </a:moveTo>
                <a:lnTo>
                  <a:pt x="5353048" y="0"/>
                </a:lnTo>
                <a:cubicBezTo>
                  <a:pt x="5374091" y="0"/>
                  <a:pt x="5391150" y="17059"/>
                  <a:pt x="5391150" y="38102"/>
                </a:cubicBezTo>
                <a:lnTo>
                  <a:pt x="5391150" y="514348"/>
                </a:lnTo>
                <a:cubicBezTo>
                  <a:pt x="5391150" y="535391"/>
                  <a:pt x="5374091" y="552450"/>
                  <a:pt x="5353048" y="552450"/>
                </a:cubicBezTo>
                <a:lnTo>
                  <a:pt x="38102" y="552450"/>
                </a:lnTo>
                <a:cubicBezTo>
                  <a:pt x="17059" y="552450"/>
                  <a:pt x="0" y="535391"/>
                  <a:pt x="0" y="5143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81025" y="3648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52450" y="3648075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7725" y="3667125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维护近似 Radix Tree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7725" y="3857625"/>
            <a:ext cx="504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为每个 Worker 维护一棵近似 Radix Tree，追踪已缓存的请求前缀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4825" y="4200525"/>
            <a:ext cx="5391150" cy="552450"/>
          </a:xfrm>
          <a:custGeom>
            <a:avLst/>
            <a:gdLst/>
            <a:ahLst/>
            <a:cxnLst/>
            <a:rect l="l" t="t" r="r" b="b"/>
            <a:pathLst>
              <a:path w="5391150" h="552450">
                <a:moveTo>
                  <a:pt x="38102" y="0"/>
                </a:moveTo>
                <a:lnTo>
                  <a:pt x="5353048" y="0"/>
                </a:lnTo>
                <a:cubicBezTo>
                  <a:pt x="5374091" y="0"/>
                  <a:pt x="5391150" y="17059"/>
                  <a:pt x="5391150" y="38102"/>
                </a:cubicBezTo>
                <a:lnTo>
                  <a:pt x="5391150" y="514348"/>
                </a:lnTo>
                <a:cubicBezTo>
                  <a:pt x="5391150" y="535391"/>
                  <a:pt x="5374091" y="552450"/>
                  <a:pt x="5353048" y="552450"/>
                </a:cubicBezTo>
                <a:lnTo>
                  <a:pt x="38102" y="552450"/>
                </a:lnTo>
                <a:cubicBezTo>
                  <a:pt x="17059" y="552450"/>
                  <a:pt x="0" y="535391"/>
                  <a:pt x="0" y="5143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81025" y="4276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52450" y="4276725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7725" y="4295775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计算前缀匹配率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7725" y="4486275"/>
            <a:ext cx="504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新请求到达时，计算其与各 Worker Radix Tree 的前缀匹配率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4825" y="4829175"/>
            <a:ext cx="5391150" cy="552450"/>
          </a:xfrm>
          <a:custGeom>
            <a:avLst/>
            <a:gdLst/>
            <a:ahLst/>
            <a:cxnLst/>
            <a:rect l="l" t="t" r="r" b="b"/>
            <a:pathLst>
              <a:path w="5391150" h="552450">
                <a:moveTo>
                  <a:pt x="38102" y="0"/>
                </a:moveTo>
                <a:lnTo>
                  <a:pt x="5353048" y="0"/>
                </a:lnTo>
                <a:cubicBezTo>
                  <a:pt x="5374091" y="0"/>
                  <a:pt x="5391150" y="17059"/>
                  <a:pt x="5391150" y="38102"/>
                </a:cubicBezTo>
                <a:lnTo>
                  <a:pt x="5391150" y="514348"/>
                </a:lnTo>
                <a:cubicBezTo>
                  <a:pt x="5391150" y="535391"/>
                  <a:pt x="5374091" y="552450"/>
                  <a:pt x="5353048" y="552450"/>
                </a:cubicBezTo>
                <a:lnTo>
                  <a:pt x="38102" y="552450"/>
                </a:lnTo>
                <a:cubicBezTo>
                  <a:pt x="17059" y="552450"/>
                  <a:pt x="0" y="535391"/>
                  <a:pt x="0" y="5143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81025" y="4905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52450" y="4905375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7725" y="4924425"/>
            <a:ext cx="1866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优先路由到高匹配 Worker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7725" y="5114925"/>
            <a:ext cx="504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优先将请求路由到匹配率最高的 Worker，最大化缓存复用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81725" y="1076325"/>
            <a:ext cx="5619750" cy="3600450"/>
          </a:xfrm>
          <a:custGeom>
            <a:avLst/>
            <a:gdLst/>
            <a:ahLst/>
            <a:cxnLst/>
            <a:rect l="l" t="t" r="r" b="b"/>
            <a:pathLst>
              <a:path w="5619750" h="3600450">
                <a:moveTo>
                  <a:pt x="76186" y="0"/>
                </a:moveTo>
                <a:lnTo>
                  <a:pt x="5543564" y="0"/>
                </a:lnTo>
                <a:cubicBezTo>
                  <a:pt x="5585641" y="0"/>
                  <a:pt x="5619750" y="34109"/>
                  <a:pt x="5619750" y="76186"/>
                </a:cubicBezTo>
                <a:lnTo>
                  <a:pt x="5619750" y="3524264"/>
                </a:lnTo>
                <a:cubicBezTo>
                  <a:pt x="5619750" y="3566341"/>
                  <a:pt x="5585641" y="3600450"/>
                  <a:pt x="5543564" y="3600450"/>
                </a:cubicBezTo>
                <a:lnTo>
                  <a:pt x="76186" y="3600450"/>
                </a:lnTo>
                <a:cubicBezTo>
                  <a:pt x="34109" y="3600450"/>
                  <a:pt x="0" y="3566341"/>
                  <a:pt x="0" y="352426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329363" y="1247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596063" y="1200150"/>
            <a:ext cx="2371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Router 中的 Radix Tree 示例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05550" y="1543050"/>
            <a:ext cx="5372100" cy="1676400"/>
          </a:xfrm>
          <a:custGeom>
            <a:avLst/>
            <a:gdLst/>
            <a:ahLst/>
            <a:cxnLst/>
            <a:rect l="l" t="t" r="r" b="b"/>
            <a:pathLst>
              <a:path w="5372100" h="1676400">
                <a:moveTo>
                  <a:pt x="38105" y="0"/>
                </a:moveTo>
                <a:lnTo>
                  <a:pt x="5333995" y="0"/>
                </a:lnTo>
                <a:cubicBezTo>
                  <a:pt x="5355040" y="0"/>
                  <a:pt x="5372100" y="17060"/>
                  <a:pt x="5372100" y="38105"/>
                </a:cubicBezTo>
                <a:lnTo>
                  <a:pt x="5372100" y="1638295"/>
                </a:lnTo>
                <a:cubicBezTo>
                  <a:pt x="5372100" y="1659340"/>
                  <a:pt x="5355040" y="1676400"/>
                  <a:pt x="5333995" y="1676400"/>
                </a:cubicBezTo>
                <a:lnTo>
                  <a:pt x="38105" y="1676400"/>
                </a:lnTo>
                <a:cubicBezTo>
                  <a:pt x="17060" y="1676400"/>
                  <a:pt x="0" y="1659340"/>
                  <a:pt x="0" y="1638295"/>
                </a:cubicBezTo>
                <a:lnTo>
                  <a:pt x="0" y="38105"/>
                </a:lnTo>
                <a:cubicBezTo>
                  <a:pt x="0" y="17074"/>
                  <a:pt x="17074" y="0"/>
                  <a:pt x="3810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381750" y="161925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Worker A: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57950" y="188595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root → "You are a helpful"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10350" y="2076450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" assistant" → " for coding"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10350" y="2266950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" chatbot"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81750" y="249555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Worker B: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57950" y="276225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root → "You are a helpful"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10350" y="2952750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" translator"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24600" y="3981450"/>
            <a:ext cx="5353050" cy="571500"/>
          </a:xfrm>
          <a:custGeom>
            <a:avLst/>
            <a:gdLst/>
            <a:ahLst/>
            <a:cxnLst/>
            <a:rect l="l" t="t" r="r" b="b"/>
            <a:pathLst>
              <a:path w="5353050" h="571500">
                <a:moveTo>
                  <a:pt x="38100" y="0"/>
                </a:moveTo>
                <a:lnTo>
                  <a:pt x="5314948" y="0"/>
                </a:lnTo>
                <a:cubicBezTo>
                  <a:pt x="5335991" y="0"/>
                  <a:pt x="5353050" y="17059"/>
                  <a:pt x="5353050" y="38102"/>
                </a:cubicBezTo>
                <a:lnTo>
                  <a:pt x="5353050" y="533398"/>
                </a:lnTo>
                <a:cubicBezTo>
                  <a:pt x="5353050" y="554441"/>
                  <a:pt x="5335991" y="571500"/>
                  <a:pt x="53149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324600" y="39814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419850" y="4057650"/>
            <a:ext cx="525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新请求：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"You are a helpful assistant for Python"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19850" y="4286250"/>
            <a:ext cx="525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与 Worker A 匹配更长前缀 → </a:t>
            </a: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路由到 Worker 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6963" y="4805363"/>
            <a:ext cx="5629275" cy="1666875"/>
          </a:xfrm>
          <a:custGeom>
            <a:avLst/>
            <a:gdLst/>
            <a:ahLst/>
            <a:cxnLst/>
            <a:rect l="l" t="t" r="r" b="b"/>
            <a:pathLst>
              <a:path w="5629275" h="1666875">
                <a:moveTo>
                  <a:pt x="76193" y="0"/>
                </a:moveTo>
                <a:lnTo>
                  <a:pt x="5553082" y="0"/>
                </a:lnTo>
                <a:cubicBezTo>
                  <a:pt x="5595134" y="0"/>
                  <a:pt x="5629275" y="34141"/>
                  <a:pt x="5629275" y="76193"/>
                </a:cubicBezTo>
                <a:lnTo>
                  <a:pt x="5629275" y="1590682"/>
                </a:lnTo>
                <a:cubicBezTo>
                  <a:pt x="5629275" y="1632734"/>
                  <a:pt x="5595134" y="1666875"/>
                  <a:pt x="5553082" y="1666875"/>
                </a:cubicBezTo>
                <a:lnTo>
                  <a:pt x="76193" y="1666875"/>
                </a:lnTo>
                <a:cubicBezTo>
                  <a:pt x="34141" y="1666875"/>
                  <a:pt x="0" y="1632734"/>
                  <a:pt x="0" y="15906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298406" y="495300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586538" y="49244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动态平衡机制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96025" y="5191125"/>
            <a:ext cx="5467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Cache Aware 策略并非总是选择匹配率最高的 Worker，还会考虑负载均衡：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96025" y="5438775"/>
            <a:ext cx="5391150" cy="914400"/>
          </a:xfrm>
          <a:custGeom>
            <a:avLst/>
            <a:gdLst/>
            <a:ahLst/>
            <a:cxnLst/>
            <a:rect l="l" t="t" r="r" b="b"/>
            <a:pathLst>
              <a:path w="5391150" h="914400">
                <a:moveTo>
                  <a:pt x="38103" y="0"/>
                </a:moveTo>
                <a:lnTo>
                  <a:pt x="5353047" y="0"/>
                </a:lnTo>
                <a:cubicBezTo>
                  <a:pt x="5374091" y="0"/>
                  <a:pt x="5391150" y="17059"/>
                  <a:pt x="5391150" y="38103"/>
                </a:cubicBezTo>
                <a:lnTo>
                  <a:pt x="5391150" y="876297"/>
                </a:lnTo>
                <a:cubicBezTo>
                  <a:pt x="5391150" y="897341"/>
                  <a:pt x="5374091" y="914400"/>
                  <a:pt x="5353047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372225" y="5514975"/>
            <a:ext cx="530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max(load) - min(load) &gt; threshold: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48425" y="5705475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worker_with_min_load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72225" y="5895975"/>
            <a:ext cx="530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else: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48425" y="6086475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worker_with_max_match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85763" y="2085975"/>
            <a:ext cx="1352550" cy="390525"/>
          </a:xfrm>
          <a:custGeom>
            <a:avLst/>
            <a:gdLst/>
            <a:ahLst/>
            <a:cxnLst/>
            <a:rect l="l" t="t" r="r" b="b"/>
            <a:pathLst>
              <a:path w="1352550" h="390525">
                <a:moveTo>
                  <a:pt x="76199" y="0"/>
                </a:moveTo>
                <a:lnTo>
                  <a:pt x="1276351" y="0"/>
                </a:lnTo>
                <a:cubicBezTo>
                  <a:pt x="1318434" y="0"/>
                  <a:pt x="1352550" y="34116"/>
                  <a:pt x="1352550" y="76199"/>
                </a:cubicBezTo>
                <a:lnTo>
                  <a:pt x="1352550" y="314326"/>
                </a:lnTo>
                <a:cubicBezTo>
                  <a:pt x="1352550" y="356409"/>
                  <a:pt x="1318434" y="390525"/>
                  <a:pt x="12763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270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2166938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09863"/>
            <a:ext cx="3543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进阶主题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795713"/>
            <a:ext cx="3314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多租户、分布式场景与技术协同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4343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524000" y="4548188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4个进阶方向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MULTI-TENANT &amp; DISTRIBUTED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多租户与跨实例共享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066800"/>
            <a:ext cx="5619750" cy="952500"/>
          </a:xfrm>
          <a:custGeom>
            <a:avLst/>
            <a:gdLst/>
            <a:ahLst/>
            <a:cxnLst/>
            <a:rect l="l" t="t" r="r" b="b"/>
            <a:pathLst>
              <a:path w="5619750" h="9525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876300"/>
                </a:lnTo>
                <a:cubicBezTo>
                  <a:pt x="5619750" y="918356"/>
                  <a:pt x="5585606" y="952500"/>
                  <a:pt x="55435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0668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5781" y="12287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52475" y="118110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多租户支持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400" y="1485900"/>
            <a:ext cx="5448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在多租户场景中，不同租户可能对同一前缀有不同的访问模式。RadixAttention 通过在节点中维护 </a:t>
            </a: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per-tenant 访问时间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来支持细粒度的淘汰策略。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2138363"/>
            <a:ext cx="5629275" cy="3057525"/>
          </a:xfrm>
          <a:custGeom>
            <a:avLst/>
            <a:gdLst/>
            <a:ahLst/>
            <a:cxnLst/>
            <a:rect l="l" t="t" r="r" b="b"/>
            <a:pathLst>
              <a:path w="5629275" h="3057525">
                <a:moveTo>
                  <a:pt x="76194" y="0"/>
                </a:moveTo>
                <a:lnTo>
                  <a:pt x="5553081" y="0"/>
                </a:lnTo>
                <a:cubicBezTo>
                  <a:pt x="5595162" y="0"/>
                  <a:pt x="5629275" y="34113"/>
                  <a:pt x="5629275" y="76194"/>
                </a:cubicBezTo>
                <a:lnTo>
                  <a:pt x="5629275" y="2981331"/>
                </a:lnTo>
                <a:cubicBezTo>
                  <a:pt x="5629275" y="3023412"/>
                  <a:pt x="5595162" y="3057525"/>
                  <a:pt x="5553081" y="3057525"/>
                </a:cubicBezTo>
                <a:lnTo>
                  <a:pt x="76194" y="3057525"/>
                </a:lnTo>
                <a:cubicBezTo>
                  <a:pt x="34113" y="3057525"/>
                  <a:pt x="0" y="3023412"/>
                  <a:pt x="0" y="2981331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17922" y="23050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95338" y="2257425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多租户节点结构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4825" y="2600325"/>
            <a:ext cx="5391150" cy="2476500"/>
          </a:xfrm>
          <a:custGeom>
            <a:avLst/>
            <a:gdLst/>
            <a:ahLst/>
            <a:cxnLst/>
            <a:rect l="l" t="t" r="r" b="b"/>
            <a:pathLst>
              <a:path w="5391150" h="2476500">
                <a:moveTo>
                  <a:pt x="38089" y="0"/>
                </a:moveTo>
                <a:lnTo>
                  <a:pt x="5353061" y="0"/>
                </a:lnTo>
                <a:cubicBezTo>
                  <a:pt x="5374097" y="0"/>
                  <a:pt x="5391150" y="17053"/>
                  <a:pt x="5391150" y="38089"/>
                </a:cubicBezTo>
                <a:lnTo>
                  <a:pt x="5391150" y="2438411"/>
                </a:lnTo>
                <a:cubicBezTo>
                  <a:pt x="5391150" y="2459447"/>
                  <a:pt x="5374097" y="2476500"/>
                  <a:pt x="5353061" y="2476500"/>
                </a:cubicBezTo>
                <a:lnTo>
                  <a:pt x="38089" y="2476500"/>
                </a:lnTo>
                <a:cubicBezTo>
                  <a:pt x="17053" y="2476500"/>
                  <a:pt x="0" y="2459447"/>
                  <a:pt x="0" y="2438411"/>
                </a:cubicBezTo>
                <a:lnTo>
                  <a:pt x="0" y="38089"/>
                </a:lnTo>
                <a:cubicBezTo>
                  <a:pt x="0" y="17067"/>
                  <a:pt x="17067" y="0"/>
                  <a:pt x="3808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81025" y="2676525"/>
            <a:ext cx="530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 TreeNode: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225" y="2881313"/>
            <a:ext cx="169411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每个租户的最后访问时间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7225" y="3057525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tenant_last_access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Dict[str, float]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7225" y="3286125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update_access(self, tenant_id):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3425" y="3476625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self.tenant_last_access[tenant_id] = time.time()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63" y="5319713"/>
            <a:ext cx="5629275" cy="1152525"/>
          </a:xfrm>
          <a:custGeom>
            <a:avLst/>
            <a:gdLst/>
            <a:ahLst/>
            <a:cxnLst/>
            <a:rect l="l" t="t" r="r" b="b"/>
            <a:pathLst>
              <a:path w="5629275" h="1152525">
                <a:moveTo>
                  <a:pt x="76205" y="0"/>
                </a:moveTo>
                <a:lnTo>
                  <a:pt x="5553070" y="0"/>
                </a:lnTo>
                <a:cubicBezTo>
                  <a:pt x="5595157" y="0"/>
                  <a:pt x="5629275" y="34118"/>
                  <a:pt x="5629275" y="76205"/>
                </a:cubicBezTo>
                <a:lnTo>
                  <a:pt x="5629275" y="1076320"/>
                </a:lnTo>
                <a:cubicBezTo>
                  <a:pt x="5629275" y="1118407"/>
                  <a:pt x="5595157" y="1152525"/>
                  <a:pt x="555307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28638" y="54673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95338" y="54387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租户隔离保证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2209" y="57435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47713" y="5705475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每个租户独立的访问时间追踪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2209" y="59721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47713" y="5934075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支持按租户优先级淘汰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2209" y="62007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47713" y="6162675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防止租户间缓存污染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81725" y="1076325"/>
            <a:ext cx="5619750" cy="3886200"/>
          </a:xfrm>
          <a:custGeom>
            <a:avLst/>
            <a:gdLst/>
            <a:ahLst/>
            <a:cxnLst/>
            <a:rect l="l" t="t" r="r" b="b"/>
            <a:pathLst>
              <a:path w="5619750" h="3886200">
                <a:moveTo>
                  <a:pt x="76208" y="0"/>
                </a:moveTo>
                <a:lnTo>
                  <a:pt x="5543542" y="0"/>
                </a:lnTo>
                <a:cubicBezTo>
                  <a:pt x="5585630" y="0"/>
                  <a:pt x="5619750" y="34120"/>
                  <a:pt x="5619750" y="76208"/>
                </a:cubicBezTo>
                <a:lnTo>
                  <a:pt x="5619750" y="3809992"/>
                </a:lnTo>
                <a:cubicBezTo>
                  <a:pt x="5619750" y="3852080"/>
                  <a:pt x="5585630" y="3886200"/>
                  <a:pt x="5543542" y="3886200"/>
                </a:cubicBezTo>
                <a:lnTo>
                  <a:pt x="76208" y="3886200"/>
                </a:lnTo>
                <a:cubicBezTo>
                  <a:pt x="34120" y="3886200"/>
                  <a:pt x="0" y="3852080"/>
                  <a:pt x="0" y="38099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318647" y="12477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83046" y="29468"/>
                </a:moveTo>
                <a:lnTo>
                  <a:pt x="109835" y="29468"/>
                </a:lnTo>
                <a:lnTo>
                  <a:pt x="109835" y="45541"/>
                </a:lnTo>
                <a:lnTo>
                  <a:pt x="83046" y="45541"/>
                </a:lnTo>
                <a:lnTo>
                  <a:pt x="83046" y="29468"/>
                </a:lnTo>
                <a:close/>
                <a:moveTo>
                  <a:pt x="80367" y="10716"/>
                </a:moveTo>
                <a:cubicBezTo>
                  <a:pt x="71493" y="10716"/>
                  <a:pt x="64294" y="17915"/>
                  <a:pt x="64294" y="26789"/>
                </a:cubicBezTo>
                <a:lnTo>
                  <a:pt x="64294" y="48220"/>
                </a:lnTo>
                <a:cubicBezTo>
                  <a:pt x="64294" y="57094"/>
                  <a:pt x="71493" y="64294"/>
                  <a:pt x="80367" y="64294"/>
                </a:cubicBezTo>
                <a:lnTo>
                  <a:pt x="85725" y="64294"/>
                </a:lnTo>
                <a:lnTo>
                  <a:pt x="85725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42863" y="96441"/>
                </a:lnTo>
                <a:lnTo>
                  <a:pt x="42863" y="107156"/>
                </a:lnTo>
                <a:lnTo>
                  <a:pt x="37505" y="107156"/>
                </a:lnTo>
                <a:cubicBezTo>
                  <a:pt x="28631" y="107156"/>
                  <a:pt x="21431" y="114356"/>
                  <a:pt x="21431" y="123230"/>
                </a:cubicBezTo>
                <a:lnTo>
                  <a:pt x="21431" y="144661"/>
                </a:lnTo>
                <a:cubicBezTo>
                  <a:pt x="21431" y="153535"/>
                  <a:pt x="28631" y="160734"/>
                  <a:pt x="37505" y="160734"/>
                </a:cubicBezTo>
                <a:lnTo>
                  <a:pt x="69652" y="160734"/>
                </a:lnTo>
                <a:cubicBezTo>
                  <a:pt x="78525" y="160734"/>
                  <a:pt x="85725" y="153535"/>
                  <a:pt x="85725" y="144661"/>
                </a:cubicBezTo>
                <a:lnTo>
                  <a:pt x="85725" y="123230"/>
                </a:lnTo>
                <a:cubicBezTo>
                  <a:pt x="85725" y="114356"/>
                  <a:pt x="78525" y="107156"/>
                  <a:pt x="69652" y="107156"/>
                </a:cubicBezTo>
                <a:lnTo>
                  <a:pt x="64294" y="107156"/>
                </a:lnTo>
                <a:lnTo>
                  <a:pt x="64294" y="96441"/>
                </a:lnTo>
                <a:lnTo>
                  <a:pt x="128588" y="96441"/>
                </a:lnTo>
                <a:lnTo>
                  <a:pt x="128588" y="107156"/>
                </a:lnTo>
                <a:lnTo>
                  <a:pt x="123230" y="107156"/>
                </a:lnTo>
                <a:cubicBezTo>
                  <a:pt x="114356" y="107156"/>
                  <a:pt x="107156" y="114356"/>
                  <a:pt x="107156" y="123230"/>
                </a:cubicBezTo>
                <a:lnTo>
                  <a:pt x="107156" y="144661"/>
                </a:lnTo>
                <a:cubicBezTo>
                  <a:pt x="107156" y="153535"/>
                  <a:pt x="114356" y="160734"/>
                  <a:pt x="123230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123230"/>
                </a:lnTo>
                <a:cubicBezTo>
                  <a:pt x="171450" y="114356"/>
                  <a:pt x="164250" y="107156"/>
                  <a:pt x="155377" y="107156"/>
                </a:cubicBezTo>
                <a:lnTo>
                  <a:pt x="150019" y="107156"/>
                </a:lnTo>
                <a:lnTo>
                  <a:pt x="150019" y="96441"/>
                </a:lnTo>
                <a:lnTo>
                  <a:pt x="182166" y="96441"/>
                </a:lnTo>
                <a:cubicBezTo>
                  <a:pt x="188093" y="96441"/>
                  <a:pt x="192881" y="91652"/>
                  <a:pt x="192881" y="85725"/>
                </a:cubicBezTo>
                <a:cubicBezTo>
                  <a:pt x="192881" y="79798"/>
                  <a:pt x="188093" y="75009"/>
                  <a:pt x="182166" y="75009"/>
                </a:cubicBezTo>
                <a:lnTo>
                  <a:pt x="107156" y="75009"/>
                </a:lnTo>
                <a:lnTo>
                  <a:pt x="107156" y="64294"/>
                </a:lnTo>
                <a:lnTo>
                  <a:pt x="112514" y="64294"/>
                </a:lnTo>
                <a:cubicBezTo>
                  <a:pt x="121388" y="64294"/>
                  <a:pt x="128588" y="57094"/>
                  <a:pt x="128588" y="48220"/>
                </a:cubicBezTo>
                <a:lnTo>
                  <a:pt x="128588" y="26789"/>
                </a:lnTo>
                <a:cubicBezTo>
                  <a:pt x="128588" y="17915"/>
                  <a:pt x="121388" y="10716"/>
                  <a:pt x="112514" y="10716"/>
                </a:cubicBezTo>
                <a:lnTo>
                  <a:pt x="80367" y="10716"/>
                </a:lnTo>
                <a:close/>
                <a:moveTo>
                  <a:pt x="150019" y="125909"/>
                </a:moveTo>
                <a:lnTo>
                  <a:pt x="152698" y="125909"/>
                </a:lnTo>
                <a:lnTo>
                  <a:pt x="152698" y="141982"/>
                </a:lnTo>
                <a:lnTo>
                  <a:pt x="125909" y="141982"/>
                </a:lnTo>
                <a:lnTo>
                  <a:pt x="125909" y="125909"/>
                </a:lnTo>
                <a:lnTo>
                  <a:pt x="150019" y="125909"/>
                </a:lnTo>
                <a:close/>
                <a:moveTo>
                  <a:pt x="64294" y="125909"/>
                </a:moveTo>
                <a:lnTo>
                  <a:pt x="66973" y="125909"/>
                </a:lnTo>
                <a:lnTo>
                  <a:pt x="66973" y="141982"/>
                </a:lnTo>
                <a:lnTo>
                  <a:pt x="40184" y="141982"/>
                </a:lnTo>
                <a:lnTo>
                  <a:pt x="40184" y="125909"/>
                </a:lnTo>
                <a:lnTo>
                  <a:pt x="64294" y="125909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596063" y="1200150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跨实例 KV Cache 共享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05550" y="1543050"/>
            <a:ext cx="5448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在分布式推理系统中，跨实例共享 KV Cache 是一个重要优化方向，但也面临挑战：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05550" y="2590800"/>
            <a:ext cx="5372100" cy="514350"/>
          </a:xfrm>
          <a:custGeom>
            <a:avLst/>
            <a:gdLst/>
            <a:ahLst/>
            <a:cxnLst/>
            <a:rect l="l" t="t" r="r" b="b"/>
            <a:pathLst>
              <a:path w="5372100" h="514350">
                <a:moveTo>
                  <a:pt x="38098" y="0"/>
                </a:moveTo>
                <a:lnTo>
                  <a:pt x="5334002" y="0"/>
                </a:lnTo>
                <a:cubicBezTo>
                  <a:pt x="5355043" y="0"/>
                  <a:pt x="5372100" y="17057"/>
                  <a:pt x="5372100" y="38098"/>
                </a:cubicBezTo>
                <a:lnTo>
                  <a:pt x="5372100" y="476252"/>
                </a:lnTo>
                <a:cubicBezTo>
                  <a:pt x="5372100" y="497293"/>
                  <a:pt x="5355043" y="514350"/>
                  <a:pt x="5334002" y="514350"/>
                </a:cubicBezTo>
                <a:lnTo>
                  <a:pt x="38098" y="514350"/>
                </a:lnTo>
                <a:cubicBezTo>
                  <a:pt x="17057" y="514350"/>
                  <a:pt x="0" y="497293"/>
                  <a:pt x="0" y="47625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400800" y="26765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624638" y="2667000"/>
            <a:ext cx="83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一致性挑战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81750" y="2838450"/>
            <a:ext cx="529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如何保证不同实例看到一致的缓存状态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05550" y="3181350"/>
            <a:ext cx="5372100" cy="514350"/>
          </a:xfrm>
          <a:custGeom>
            <a:avLst/>
            <a:gdLst/>
            <a:ahLst/>
            <a:cxnLst/>
            <a:rect l="l" t="t" r="r" b="b"/>
            <a:pathLst>
              <a:path w="5372100" h="514350">
                <a:moveTo>
                  <a:pt x="38098" y="0"/>
                </a:moveTo>
                <a:lnTo>
                  <a:pt x="5334002" y="0"/>
                </a:lnTo>
                <a:cubicBezTo>
                  <a:pt x="5355043" y="0"/>
                  <a:pt x="5372100" y="17057"/>
                  <a:pt x="5372100" y="38098"/>
                </a:cubicBezTo>
                <a:lnTo>
                  <a:pt x="5372100" y="476252"/>
                </a:lnTo>
                <a:cubicBezTo>
                  <a:pt x="5372100" y="497293"/>
                  <a:pt x="5355043" y="514350"/>
                  <a:pt x="5334002" y="514350"/>
                </a:cubicBezTo>
                <a:lnTo>
                  <a:pt x="38098" y="514350"/>
                </a:lnTo>
                <a:cubicBezTo>
                  <a:pt x="17057" y="514350"/>
                  <a:pt x="0" y="497293"/>
                  <a:pt x="0" y="47625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400800" y="3267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624638" y="3257550"/>
            <a:ext cx="685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传输开销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81750" y="3429000"/>
            <a:ext cx="529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KV Cache 数据量大，网络传输成本高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05550" y="3771900"/>
            <a:ext cx="5372100" cy="514350"/>
          </a:xfrm>
          <a:custGeom>
            <a:avLst/>
            <a:gdLst/>
            <a:ahLst/>
            <a:cxnLst/>
            <a:rect l="l" t="t" r="r" b="b"/>
            <a:pathLst>
              <a:path w="5372100" h="514350">
                <a:moveTo>
                  <a:pt x="38098" y="0"/>
                </a:moveTo>
                <a:lnTo>
                  <a:pt x="5334002" y="0"/>
                </a:lnTo>
                <a:cubicBezTo>
                  <a:pt x="5355043" y="0"/>
                  <a:pt x="5372100" y="17057"/>
                  <a:pt x="5372100" y="38098"/>
                </a:cubicBezTo>
                <a:lnTo>
                  <a:pt x="5372100" y="476252"/>
                </a:lnTo>
                <a:cubicBezTo>
                  <a:pt x="5372100" y="497293"/>
                  <a:pt x="5355043" y="514350"/>
                  <a:pt x="5334002" y="514350"/>
                </a:cubicBezTo>
                <a:lnTo>
                  <a:pt x="38098" y="514350"/>
                </a:lnTo>
                <a:cubicBezTo>
                  <a:pt x="17057" y="514350"/>
                  <a:pt x="0" y="497293"/>
                  <a:pt x="0" y="47625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400800" y="38576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624638" y="3848100"/>
            <a:ext cx="685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索引同步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81750" y="4019550"/>
            <a:ext cx="529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Radix Tree 结构需要在多实例间同步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76963" y="5091113"/>
            <a:ext cx="5629275" cy="1381125"/>
          </a:xfrm>
          <a:custGeom>
            <a:avLst/>
            <a:gdLst/>
            <a:ahLst/>
            <a:cxnLst/>
            <a:rect l="l" t="t" r="r" b="b"/>
            <a:pathLst>
              <a:path w="5629275" h="1381125">
                <a:moveTo>
                  <a:pt x="76197" y="0"/>
                </a:moveTo>
                <a:lnTo>
                  <a:pt x="5553078" y="0"/>
                </a:lnTo>
                <a:cubicBezTo>
                  <a:pt x="5595161" y="0"/>
                  <a:pt x="5629275" y="34114"/>
                  <a:pt x="5629275" y="76197"/>
                </a:cubicBezTo>
                <a:lnTo>
                  <a:pt x="5629275" y="1304928"/>
                </a:lnTo>
                <a:cubicBezTo>
                  <a:pt x="5629275" y="1347011"/>
                  <a:pt x="5595161" y="1381125"/>
                  <a:pt x="5553078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341269" y="52387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586538" y="52101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现有解决方案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96025" y="5476875"/>
            <a:ext cx="5391150" cy="419100"/>
          </a:xfrm>
          <a:custGeom>
            <a:avLst/>
            <a:gdLst/>
            <a:ahLst/>
            <a:cxnLst/>
            <a:rect l="l" t="t" r="r" b="b"/>
            <a:pathLst>
              <a:path w="5391150" h="419100">
                <a:moveTo>
                  <a:pt x="38100" y="0"/>
                </a:moveTo>
                <a:lnTo>
                  <a:pt x="5353050" y="0"/>
                </a:lnTo>
                <a:cubicBezTo>
                  <a:pt x="5374092" y="0"/>
                  <a:pt x="5391150" y="17058"/>
                  <a:pt x="5391150" y="38100"/>
                </a:cubicBezTo>
                <a:lnTo>
                  <a:pt x="5391150" y="381000"/>
                </a:lnTo>
                <a:cubicBezTo>
                  <a:pt x="5391150" y="402042"/>
                  <a:pt x="5374092" y="419100"/>
                  <a:pt x="53530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353175" y="5534025"/>
            <a:ext cx="535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Mooncake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53175" y="5686425"/>
            <a:ext cx="535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全局 Conductor + 分布式存储池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96025" y="5934075"/>
            <a:ext cx="5391150" cy="419100"/>
          </a:xfrm>
          <a:custGeom>
            <a:avLst/>
            <a:gdLst/>
            <a:ahLst/>
            <a:cxnLst/>
            <a:rect l="l" t="t" r="r" b="b"/>
            <a:pathLst>
              <a:path w="5391150" h="419100">
                <a:moveTo>
                  <a:pt x="38100" y="0"/>
                </a:moveTo>
                <a:lnTo>
                  <a:pt x="5353050" y="0"/>
                </a:lnTo>
                <a:cubicBezTo>
                  <a:pt x="5374092" y="0"/>
                  <a:pt x="5391150" y="17058"/>
                  <a:pt x="5391150" y="38100"/>
                </a:cubicBezTo>
                <a:lnTo>
                  <a:pt x="5391150" y="381000"/>
                </a:lnTo>
                <a:cubicBezTo>
                  <a:pt x="5391150" y="402042"/>
                  <a:pt x="5374092" y="419100"/>
                  <a:pt x="53530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6353175" y="5991225"/>
            <a:ext cx="535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LMCache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53175" y="6143625"/>
            <a:ext cx="535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P2P 模式 + Cache Controller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SYNERGY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与其他优化技术的协同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071563"/>
            <a:ext cx="5629275" cy="2638425"/>
          </a:xfrm>
          <a:custGeom>
            <a:avLst/>
            <a:gdLst/>
            <a:ahLst/>
            <a:cxnLst/>
            <a:rect l="l" t="t" r="r" b="b"/>
            <a:pathLst>
              <a:path w="5629275" h="2638425">
                <a:moveTo>
                  <a:pt x="76198" y="0"/>
                </a:moveTo>
                <a:lnTo>
                  <a:pt x="5553077" y="0"/>
                </a:lnTo>
                <a:cubicBezTo>
                  <a:pt x="5595132" y="0"/>
                  <a:pt x="5629275" y="34143"/>
                  <a:pt x="5629275" y="76198"/>
                </a:cubicBezTo>
                <a:lnTo>
                  <a:pt x="5629275" y="2562227"/>
                </a:lnTo>
                <a:cubicBezTo>
                  <a:pt x="5629275" y="2604282"/>
                  <a:pt x="5595132" y="2638425"/>
                  <a:pt x="5553077" y="2638425"/>
                </a:cubicBezTo>
                <a:lnTo>
                  <a:pt x="76198" y="2638425"/>
                </a:lnTo>
                <a:cubicBezTo>
                  <a:pt x="34143" y="2638425"/>
                  <a:pt x="0" y="2604282"/>
                  <a:pt x="0" y="256222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8638" y="1238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009" y="0"/>
                </a:moveTo>
                <a:cubicBezTo>
                  <a:pt x="86830" y="0"/>
                  <a:pt x="96441" y="7200"/>
                  <a:pt x="96441" y="16073"/>
                </a:cubicBezTo>
                <a:cubicBezTo>
                  <a:pt x="96441" y="19556"/>
                  <a:pt x="94967" y="22771"/>
                  <a:pt x="92422" y="25416"/>
                </a:cubicBezTo>
                <a:cubicBezTo>
                  <a:pt x="90212" y="27727"/>
                  <a:pt x="88404" y="30540"/>
                  <a:pt x="88404" y="33754"/>
                </a:cubicBezTo>
                <a:cubicBezTo>
                  <a:pt x="88404" y="38777"/>
                  <a:pt x="92489" y="42863"/>
                  <a:pt x="97512" y="42863"/>
                </a:cubicBezTo>
                <a:lnTo>
                  <a:pt x="112514" y="42863"/>
                </a:lnTo>
                <a:cubicBezTo>
                  <a:pt x="121388" y="42863"/>
                  <a:pt x="128588" y="50062"/>
                  <a:pt x="128588" y="58936"/>
                </a:cubicBezTo>
                <a:lnTo>
                  <a:pt x="128588" y="73938"/>
                </a:lnTo>
                <a:cubicBezTo>
                  <a:pt x="128588" y="78961"/>
                  <a:pt x="132673" y="83046"/>
                  <a:pt x="137696" y="83046"/>
                </a:cubicBezTo>
                <a:cubicBezTo>
                  <a:pt x="140877" y="83046"/>
                  <a:pt x="143723" y="81238"/>
                  <a:pt x="146034" y="79028"/>
                </a:cubicBezTo>
                <a:cubicBezTo>
                  <a:pt x="148679" y="76516"/>
                  <a:pt x="151894" y="75009"/>
                  <a:pt x="155377" y="75009"/>
                </a:cubicBezTo>
                <a:cubicBezTo>
                  <a:pt x="164250" y="75009"/>
                  <a:pt x="171450" y="84620"/>
                  <a:pt x="171450" y="96441"/>
                </a:cubicBezTo>
                <a:cubicBezTo>
                  <a:pt x="171450" y="108261"/>
                  <a:pt x="164250" y="117872"/>
                  <a:pt x="155377" y="117872"/>
                </a:cubicBezTo>
                <a:cubicBezTo>
                  <a:pt x="151894" y="117872"/>
                  <a:pt x="148646" y="116398"/>
                  <a:pt x="146034" y="113854"/>
                </a:cubicBezTo>
                <a:cubicBezTo>
                  <a:pt x="143723" y="111643"/>
                  <a:pt x="140910" y="109835"/>
                  <a:pt x="137696" y="109835"/>
                </a:cubicBezTo>
                <a:cubicBezTo>
                  <a:pt x="132673" y="109835"/>
                  <a:pt x="128588" y="113920"/>
                  <a:pt x="128588" y="118943"/>
                </a:cubicBezTo>
                <a:lnTo>
                  <a:pt x="128588" y="155377"/>
                </a:lnTo>
                <a:cubicBezTo>
                  <a:pt x="128588" y="164250"/>
                  <a:pt x="121388" y="171450"/>
                  <a:pt x="112514" y="171450"/>
                </a:cubicBezTo>
                <a:lnTo>
                  <a:pt x="93494" y="171450"/>
                </a:lnTo>
                <a:cubicBezTo>
                  <a:pt x="89208" y="171450"/>
                  <a:pt x="85725" y="167967"/>
                  <a:pt x="85725" y="163681"/>
                </a:cubicBezTo>
                <a:cubicBezTo>
                  <a:pt x="85725" y="160600"/>
                  <a:pt x="87667" y="157888"/>
                  <a:pt x="90145" y="156046"/>
                </a:cubicBezTo>
                <a:cubicBezTo>
                  <a:pt x="94030" y="153133"/>
                  <a:pt x="96441" y="149115"/>
                  <a:pt x="96441" y="144661"/>
                </a:cubicBezTo>
                <a:cubicBezTo>
                  <a:pt x="96441" y="135787"/>
                  <a:pt x="86830" y="128588"/>
                  <a:pt x="75009" y="128588"/>
                </a:cubicBezTo>
                <a:cubicBezTo>
                  <a:pt x="63189" y="128588"/>
                  <a:pt x="53578" y="135787"/>
                  <a:pt x="53578" y="144661"/>
                </a:cubicBezTo>
                <a:cubicBezTo>
                  <a:pt x="53578" y="149115"/>
                  <a:pt x="55989" y="153133"/>
                  <a:pt x="59874" y="156046"/>
                </a:cubicBezTo>
                <a:cubicBezTo>
                  <a:pt x="62352" y="157888"/>
                  <a:pt x="64294" y="160567"/>
                  <a:pt x="64294" y="163681"/>
                </a:cubicBezTo>
                <a:cubicBezTo>
                  <a:pt x="64294" y="167967"/>
                  <a:pt x="60811" y="171450"/>
                  <a:pt x="56525" y="171450"/>
                </a:cubicBezTo>
                <a:lnTo>
                  <a:pt x="16073" y="171450"/>
                </a:lnTo>
                <a:cubicBezTo>
                  <a:pt x="7200" y="171450"/>
                  <a:pt x="0" y="164250"/>
                  <a:pt x="0" y="155377"/>
                </a:cubicBezTo>
                <a:lnTo>
                  <a:pt x="0" y="114925"/>
                </a:lnTo>
                <a:cubicBezTo>
                  <a:pt x="0" y="110639"/>
                  <a:pt x="3483" y="107156"/>
                  <a:pt x="7769" y="107156"/>
                </a:cubicBezTo>
                <a:cubicBezTo>
                  <a:pt x="10850" y="107156"/>
                  <a:pt x="13562" y="109098"/>
                  <a:pt x="15404" y="111576"/>
                </a:cubicBezTo>
                <a:cubicBezTo>
                  <a:pt x="18317" y="115461"/>
                  <a:pt x="22335" y="117872"/>
                  <a:pt x="26789" y="117872"/>
                </a:cubicBezTo>
                <a:cubicBezTo>
                  <a:pt x="35663" y="117872"/>
                  <a:pt x="42863" y="108261"/>
                  <a:pt x="42863" y="96441"/>
                </a:cubicBezTo>
                <a:cubicBezTo>
                  <a:pt x="42863" y="84620"/>
                  <a:pt x="35663" y="75009"/>
                  <a:pt x="26789" y="75009"/>
                </a:cubicBezTo>
                <a:cubicBezTo>
                  <a:pt x="22335" y="75009"/>
                  <a:pt x="18317" y="77420"/>
                  <a:pt x="15404" y="81305"/>
                </a:cubicBezTo>
                <a:cubicBezTo>
                  <a:pt x="13562" y="83783"/>
                  <a:pt x="10883" y="85725"/>
                  <a:pt x="7769" y="85725"/>
                </a:cubicBezTo>
                <a:cubicBezTo>
                  <a:pt x="3483" y="85725"/>
                  <a:pt x="0" y="82242"/>
                  <a:pt x="0" y="77956"/>
                </a:cubicBezTo>
                <a:lnTo>
                  <a:pt x="0" y="58936"/>
                </a:lnTo>
                <a:cubicBezTo>
                  <a:pt x="0" y="50062"/>
                  <a:pt x="7200" y="42863"/>
                  <a:pt x="16073" y="42863"/>
                </a:cubicBezTo>
                <a:lnTo>
                  <a:pt x="52507" y="42863"/>
                </a:lnTo>
                <a:cubicBezTo>
                  <a:pt x="57530" y="42863"/>
                  <a:pt x="61615" y="38777"/>
                  <a:pt x="61615" y="33754"/>
                </a:cubicBezTo>
                <a:cubicBezTo>
                  <a:pt x="61615" y="30573"/>
                  <a:pt x="59807" y="27727"/>
                  <a:pt x="57596" y="25416"/>
                </a:cubicBezTo>
                <a:cubicBezTo>
                  <a:pt x="55085" y="22771"/>
                  <a:pt x="53578" y="19556"/>
                  <a:pt x="53578" y="16073"/>
                </a:cubicBezTo>
                <a:cubicBezTo>
                  <a:pt x="53578" y="7200"/>
                  <a:pt x="63189" y="0"/>
                  <a:pt x="75009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95338" y="1190625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Chunked Prefill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4825" y="1533525"/>
            <a:ext cx="5467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Chunked Prefill 将长 Prefill 拆分为多个小批次执行，与 Decode 请求交替调度。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4825" y="2257425"/>
            <a:ext cx="5391150" cy="342900"/>
          </a:xfrm>
          <a:custGeom>
            <a:avLst/>
            <a:gdLst/>
            <a:ahLst/>
            <a:cxnLst/>
            <a:rect l="l" t="t" r="r" b="b"/>
            <a:pathLst>
              <a:path w="5391150" h="342900">
                <a:moveTo>
                  <a:pt x="38100" y="0"/>
                </a:moveTo>
                <a:lnTo>
                  <a:pt x="5353050" y="0"/>
                </a:lnTo>
                <a:cubicBezTo>
                  <a:pt x="5374092" y="0"/>
                  <a:pt x="5391150" y="17058"/>
                  <a:pt x="5391150" y="38100"/>
                </a:cubicBezTo>
                <a:lnTo>
                  <a:pt x="5391150" y="304800"/>
                </a:lnTo>
                <a:cubicBezTo>
                  <a:pt x="5391150" y="325842"/>
                  <a:pt x="5374092" y="342900"/>
                  <a:pt x="53530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08409" y="2362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23913" y="2333625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缓存命中的 Chunk 完全跳过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4825" y="2638425"/>
            <a:ext cx="5391150" cy="342900"/>
          </a:xfrm>
          <a:custGeom>
            <a:avLst/>
            <a:gdLst/>
            <a:ahLst/>
            <a:cxnLst/>
            <a:rect l="l" t="t" r="r" b="b"/>
            <a:pathLst>
              <a:path w="5391150" h="342900">
                <a:moveTo>
                  <a:pt x="38100" y="0"/>
                </a:moveTo>
                <a:lnTo>
                  <a:pt x="5353050" y="0"/>
                </a:lnTo>
                <a:cubicBezTo>
                  <a:pt x="5374092" y="0"/>
                  <a:pt x="5391150" y="17058"/>
                  <a:pt x="5391150" y="38100"/>
                </a:cubicBezTo>
                <a:lnTo>
                  <a:pt x="5391150" y="304800"/>
                </a:lnTo>
                <a:cubicBezTo>
                  <a:pt x="5391150" y="325842"/>
                  <a:pt x="5374092" y="342900"/>
                  <a:pt x="53530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08409" y="2743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23913" y="2714625"/>
            <a:ext cx="2600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仅对未命中的 Chunk 执行分块 Prefill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4825" y="3019425"/>
            <a:ext cx="5391150" cy="342900"/>
          </a:xfrm>
          <a:custGeom>
            <a:avLst/>
            <a:gdLst/>
            <a:ahLst/>
            <a:cxnLst/>
            <a:rect l="l" t="t" r="r" b="b"/>
            <a:pathLst>
              <a:path w="5391150" h="342900">
                <a:moveTo>
                  <a:pt x="38100" y="0"/>
                </a:moveTo>
                <a:lnTo>
                  <a:pt x="5353050" y="0"/>
                </a:lnTo>
                <a:cubicBezTo>
                  <a:pt x="5374092" y="0"/>
                  <a:pt x="5391150" y="17058"/>
                  <a:pt x="5391150" y="38100"/>
                </a:cubicBezTo>
                <a:lnTo>
                  <a:pt x="5391150" y="304800"/>
                </a:lnTo>
                <a:cubicBezTo>
                  <a:pt x="5391150" y="325842"/>
                  <a:pt x="5374092" y="342900"/>
                  <a:pt x="53530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08409" y="3124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23913" y="309562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进一步降低长前缀场景的调度延迟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3833812"/>
            <a:ext cx="5629275" cy="2638425"/>
          </a:xfrm>
          <a:custGeom>
            <a:avLst/>
            <a:gdLst/>
            <a:ahLst/>
            <a:cxnLst/>
            <a:rect l="l" t="t" r="r" b="b"/>
            <a:pathLst>
              <a:path w="5629275" h="2638425">
                <a:moveTo>
                  <a:pt x="76198" y="0"/>
                </a:moveTo>
                <a:lnTo>
                  <a:pt x="5553077" y="0"/>
                </a:lnTo>
                <a:cubicBezTo>
                  <a:pt x="5595132" y="0"/>
                  <a:pt x="5629275" y="34143"/>
                  <a:pt x="5629275" y="76198"/>
                </a:cubicBezTo>
                <a:lnTo>
                  <a:pt x="5629275" y="2562227"/>
                </a:lnTo>
                <a:cubicBezTo>
                  <a:pt x="5629275" y="2604282"/>
                  <a:pt x="5595132" y="2638425"/>
                  <a:pt x="5553077" y="2638425"/>
                </a:cubicBezTo>
                <a:lnTo>
                  <a:pt x="76198" y="2638425"/>
                </a:lnTo>
                <a:cubicBezTo>
                  <a:pt x="34143" y="2638425"/>
                  <a:pt x="0" y="2604282"/>
                  <a:pt x="0" y="256222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39353" y="40005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95338" y="3952875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Prefill-Decode 分离架构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4825" y="4295775"/>
            <a:ext cx="5467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PD 分离将 Prefill 和 Decode 分配到不同节点执行，提升系统整体吞吐量。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4825" y="4972050"/>
            <a:ext cx="5391150" cy="476250"/>
          </a:xfrm>
          <a:custGeom>
            <a:avLst/>
            <a:gdLst/>
            <a:ahLst/>
            <a:cxnLst/>
            <a:rect l="l" t="t" r="r" b="b"/>
            <a:pathLst>
              <a:path w="5391150" h="476250">
                <a:moveTo>
                  <a:pt x="38100" y="0"/>
                </a:moveTo>
                <a:lnTo>
                  <a:pt x="5353050" y="0"/>
                </a:lnTo>
                <a:cubicBezTo>
                  <a:pt x="5374078" y="0"/>
                  <a:pt x="5391150" y="17072"/>
                  <a:pt x="5391150" y="38100"/>
                </a:cubicBezTo>
                <a:lnTo>
                  <a:pt x="5391150" y="438150"/>
                </a:lnTo>
                <a:cubicBezTo>
                  <a:pt x="5391150" y="459178"/>
                  <a:pt x="5374078" y="476250"/>
                  <a:pt x="5353050" y="476250"/>
                </a:cubicBezTo>
                <a:lnTo>
                  <a:pt x="38100" y="476250"/>
                </a:lnTo>
                <a:cubicBezTo>
                  <a:pt x="17072" y="476250"/>
                  <a:pt x="0" y="459178"/>
                  <a:pt x="0" y="438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81025" y="5048250"/>
            <a:ext cx="5314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Prefill 节点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1025" y="5219700"/>
            <a:ext cx="5314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维护热门前缀的 RadixCache，专注于 Prefill 计算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4825" y="5486400"/>
            <a:ext cx="5391150" cy="476250"/>
          </a:xfrm>
          <a:custGeom>
            <a:avLst/>
            <a:gdLst/>
            <a:ahLst/>
            <a:cxnLst/>
            <a:rect l="l" t="t" r="r" b="b"/>
            <a:pathLst>
              <a:path w="5391150" h="476250">
                <a:moveTo>
                  <a:pt x="38100" y="0"/>
                </a:moveTo>
                <a:lnTo>
                  <a:pt x="5353050" y="0"/>
                </a:lnTo>
                <a:cubicBezTo>
                  <a:pt x="5374078" y="0"/>
                  <a:pt x="5391150" y="17072"/>
                  <a:pt x="5391150" y="38100"/>
                </a:cubicBezTo>
                <a:lnTo>
                  <a:pt x="5391150" y="438150"/>
                </a:lnTo>
                <a:cubicBezTo>
                  <a:pt x="5391150" y="459178"/>
                  <a:pt x="5374078" y="476250"/>
                  <a:pt x="5353050" y="476250"/>
                </a:cubicBezTo>
                <a:lnTo>
                  <a:pt x="38100" y="476250"/>
                </a:lnTo>
                <a:cubicBezTo>
                  <a:pt x="17072" y="476250"/>
                  <a:pt x="0" y="459178"/>
                  <a:pt x="0" y="438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81025" y="5562600"/>
            <a:ext cx="5314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Decode 节点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1025" y="5734050"/>
            <a:ext cx="5314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接收 KV Cache，专注于 Decode 生成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81725" y="1076325"/>
            <a:ext cx="5619750" cy="4210050"/>
          </a:xfrm>
          <a:custGeom>
            <a:avLst/>
            <a:gdLst/>
            <a:ahLst/>
            <a:cxnLst/>
            <a:rect l="l" t="t" r="r" b="b"/>
            <a:pathLst>
              <a:path w="5619750" h="4210050">
                <a:moveTo>
                  <a:pt x="76202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4133848"/>
                </a:lnTo>
                <a:cubicBezTo>
                  <a:pt x="5619750" y="4175933"/>
                  <a:pt x="5585633" y="4210050"/>
                  <a:pt x="5543548" y="4210050"/>
                </a:cubicBezTo>
                <a:lnTo>
                  <a:pt x="76202" y="4210050"/>
                </a:lnTo>
                <a:cubicBezTo>
                  <a:pt x="34117" y="4210050"/>
                  <a:pt x="0" y="4175933"/>
                  <a:pt x="0" y="41338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340078" y="12477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596063" y="1200150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Speculative Decoding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05550" y="1543050"/>
            <a:ext cx="5448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推测执行需要为多个候选 token 序列准备 KV Cache，RadixAttention 可以：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24600" y="2590800"/>
            <a:ext cx="5353050" cy="552450"/>
          </a:xfrm>
          <a:custGeom>
            <a:avLst/>
            <a:gdLst/>
            <a:ahLst/>
            <a:cxnLst/>
            <a:rect l="l" t="t" r="r" b="b"/>
            <a:pathLst>
              <a:path w="5353050" h="552450">
                <a:moveTo>
                  <a:pt x="38100" y="0"/>
                </a:moveTo>
                <a:lnTo>
                  <a:pt x="5314948" y="0"/>
                </a:lnTo>
                <a:cubicBezTo>
                  <a:pt x="5335991" y="0"/>
                  <a:pt x="5353050" y="17059"/>
                  <a:pt x="5353050" y="38102"/>
                </a:cubicBezTo>
                <a:lnTo>
                  <a:pt x="5353050" y="514348"/>
                </a:lnTo>
                <a:cubicBezTo>
                  <a:pt x="5353050" y="535391"/>
                  <a:pt x="5335991" y="552450"/>
                  <a:pt x="5314948" y="552450"/>
                </a:cubicBez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324600" y="2590800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457950" y="2724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429375" y="272415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24650" y="2705100"/>
            <a:ext cx="2066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缓存高概率分支的 KV Cache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24650" y="2876550"/>
            <a:ext cx="2066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优先缓存最可能的候选序列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24600" y="3219450"/>
            <a:ext cx="5353050" cy="552450"/>
          </a:xfrm>
          <a:custGeom>
            <a:avLst/>
            <a:gdLst/>
            <a:ahLst/>
            <a:cxnLst/>
            <a:rect l="l" t="t" r="r" b="b"/>
            <a:pathLst>
              <a:path w="5353050" h="552450">
                <a:moveTo>
                  <a:pt x="38100" y="0"/>
                </a:moveTo>
                <a:lnTo>
                  <a:pt x="5314948" y="0"/>
                </a:lnTo>
                <a:cubicBezTo>
                  <a:pt x="5335991" y="0"/>
                  <a:pt x="5353050" y="17059"/>
                  <a:pt x="5353050" y="38102"/>
                </a:cubicBezTo>
                <a:lnTo>
                  <a:pt x="5353050" y="514348"/>
                </a:lnTo>
                <a:cubicBezTo>
                  <a:pt x="5353050" y="535391"/>
                  <a:pt x="5335991" y="552450"/>
                  <a:pt x="5314948" y="552450"/>
                </a:cubicBez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324600" y="3219450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457950" y="3352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429375" y="335280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24650" y="3333750"/>
            <a:ext cx="2809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验证阶段快速复用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24650" y="3505200"/>
            <a:ext cx="2809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在验证阶段快速复用已计算的 KV Cache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24600" y="3848100"/>
            <a:ext cx="5353050" cy="552450"/>
          </a:xfrm>
          <a:custGeom>
            <a:avLst/>
            <a:gdLst/>
            <a:ahLst/>
            <a:cxnLst/>
            <a:rect l="l" t="t" r="r" b="b"/>
            <a:pathLst>
              <a:path w="5353050" h="552450">
                <a:moveTo>
                  <a:pt x="38100" y="0"/>
                </a:moveTo>
                <a:lnTo>
                  <a:pt x="5314948" y="0"/>
                </a:lnTo>
                <a:cubicBezTo>
                  <a:pt x="5335991" y="0"/>
                  <a:pt x="5353050" y="17059"/>
                  <a:pt x="5353050" y="38102"/>
                </a:cubicBezTo>
                <a:lnTo>
                  <a:pt x="5353050" y="514348"/>
                </a:lnTo>
                <a:cubicBezTo>
                  <a:pt x="5353050" y="535391"/>
                  <a:pt x="5335991" y="552450"/>
                  <a:pt x="5314948" y="552450"/>
                </a:cubicBez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324600" y="3848100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6457950" y="3981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429375" y="398145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24650" y="3962400"/>
            <a:ext cx="2209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降低重算成本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24650" y="4133850"/>
            <a:ext cx="2209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推测失败时的重算成本显著降低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76963" y="5414963"/>
            <a:ext cx="5629275" cy="1057275"/>
          </a:xfrm>
          <a:custGeom>
            <a:avLst/>
            <a:gdLst/>
            <a:ahLst/>
            <a:cxnLst/>
            <a:rect l="l" t="t" r="r" b="b"/>
            <a:pathLst>
              <a:path w="5629275" h="1057275">
                <a:moveTo>
                  <a:pt x="76198" y="0"/>
                </a:moveTo>
                <a:lnTo>
                  <a:pt x="5553077" y="0"/>
                </a:lnTo>
                <a:cubicBezTo>
                  <a:pt x="5595160" y="0"/>
                  <a:pt x="5629275" y="34115"/>
                  <a:pt x="5629275" y="76198"/>
                </a:cubicBezTo>
                <a:lnTo>
                  <a:pt x="5629275" y="981077"/>
                </a:lnTo>
                <a:cubicBezTo>
                  <a:pt x="5629275" y="1023160"/>
                  <a:pt x="5595160" y="1057275"/>
                  <a:pt x="5553077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6319838" y="5562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586538" y="553402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协同效果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96025" y="5800725"/>
            <a:ext cx="1743075" cy="552450"/>
          </a:xfrm>
          <a:custGeom>
            <a:avLst/>
            <a:gdLst/>
            <a:ahLst/>
            <a:cxnLst/>
            <a:rect l="l" t="t" r="r" b="b"/>
            <a:pathLst>
              <a:path w="1743075" h="552450">
                <a:moveTo>
                  <a:pt x="38102" y="0"/>
                </a:moveTo>
                <a:lnTo>
                  <a:pt x="1704973" y="0"/>
                </a:lnTo>
                <a:cubicBezTo>
                  <a:pt x="1726016" y="0"/>
                  <a:pt x="1743075" y="17059"/>
                  <a:pt x="1743075" y="38102"/>
                </a:cubicBezTo>
                <a:lnTo>
                  <a:pt x="1743075" y="514348"/>
                </a:lnTo>
                <a:cubicBezTo>
                  <a:pt x="1743075" y="535391"/>
                  <a:pt x="1726016" y="552450"/>
                  <a:pt x="1704973" y="552450"/>
                </a:cubicBezTo>
                <a:lnTo>
                  <a:pt x="38102" y="552450"/>
                </a:lnTo>
                <a:cubicBezTo>
                  <a:pt x="17059" y="552450"/>
                  <a:pt x="0" y="535391"/>
                  <a:pt x="0" y="5143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305550" y="5857875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2-3x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15075" y="6143625"/>
            <a:ext cx="1704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额外加速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18425" y="5800725"/>
            <a:ext cx="1743075" cy="552450"/>
          </a:xfrm>
          <a:custGeom>
            <a:avLst/>
            <a:gdLst/>
            <a:ahLst/>
            <a:cxnLst/>
            <a:rect l="l" t="t" r="r" b="b"/>
            <a:pathLst>
              <a:path w="1743075" h="552450">
                <a:moveTo>
                  <a:pt x="38102" y="0"/>
                </a:moveTo>
                <a:lnTo>
                  <a:pt x="1704973" y="0"/>
                </a:lnTo>
                <a:cubicBezTo>
                  <a:pt x="1726016" y="0"/>
                  <a:pt x="1743075" y="17059"/>
                  <a:pt x="1743075" y="38102"/>
                </a:cubicBezTo>
                <a:lnTo>
                  <a:pt x="1743075" y="514348"/>
                </a:lnTo>
                <a:cubicBezTo>
                  <a:pt x="1743075" y="535391"/>
                  <a:pt x="1726016" y="552450"/>
                  <a:pt x="1704973" y="552450"/>
                </a:cubicBezTo>
                <a:lnTo>
                  <a:pt x="38102" y="552450"/>
                </a:lnTo>
                <a:cubicBezTo>
                  <a:pt x="17059" y="552450"/>
                  <a:pt x="0" y="535391"/>
                  <a:pt x="0" y="5143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127950" y="5857875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&lt;10%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137475" y="6143625"/>
            <a:ext cx="1704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开销增加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940900" y="5800725"/>
            <a:ext cx="1743075" cy="552450"/>
          </a:xfrm>
          <a:custGeom>
            <a:avLst/>
            <a:gdLst/>
            <a:ahLst/>
            <a:cxnLst/>
            <a:rect l="l" t="t" r="r" b="b"/>
            <a:pathLst>
              <a:path w="1743075" h="552450">
                <a:moveTo>
                  <a:pt x="38102" y="0"/>
                </a:moveTo>
                <a:lnTo>
                  <a:pt x="1704973" y="0"/>
                </a:lnTo>
                <a:cubicBezTo>
                  <a:pt x="1726016" y="0"/>
                  <a:pt x="1743075" y="17059"/>
                  <a:pt x="1743075" y="38102"/>
                </a:cubicBezTo>
                <a:lnTo>
                  <a:pt x="1743075" y="514348"/>
                </a:lnTo>
                <a:cubicBezTo>
                  <a:pt x="1743075" y="535391"/>
                  <a:pt x="1726016" y="552450"/>
                  <a:pt x="1704973" y="552450"/>
                </a:cubicBezTo>
                <a:lnTo>
                  <a:pt x="38102" y="552450"/>
                </a:lnTo>
                <a:cubicBezTo>
                  <a:pt x="17059" y="552450"/>
                  <a:pt x="0" y="535391"/>
                  <a:pt x="0" y="5143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9950425" y="5857875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95%+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959950" y="6143625"/>
            <a:ext cx="1704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命中率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CHALLENGES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非前缀复用场景与树结构优化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5610225" cy="3933825"/>
          </a:xfrm>
          <a:custGeom>
            <a:avLst/>
            <a:gdLst/>
            <a:ahLst/>
            <a:cxnLst/>
            <a:rect l="l" t="t" r="r" b="b"/>
            <a:pathLst>
              <a:path w="5610225" h="3933825">
                <a:moveTo>
                  <a:pt x="76198" y="0"/>
                </a:moveTo>
                <a:lnTo>
                  <a:pt x="5534027" y="0"/>
                </a:lnTo>
                <a:cubicBezTo>
                  <a:pt x="5576110" y="0"/>
                  <a:pt x="5610225" y="34115"/>
                  <a:pt x="5610225" y="76198"/>
                </a:cubicBezTo>
                <a:lnTo>
                  <a:pt x="5610225" y="3857627"/>
                </a:lnTo>
                <a:cubicBezTo>
                  <a:pt x="5610225" y="3899710"/>
                  <a:pt x="5576110" y="3933825"/>
                  <a:pt x="5534027" y="3933825"/>
                </a:cubicBezTo>
                <a:lnTo>
                  <a:pt x="76198" y="3933825"/>
                </a:lnTo>
                <a:cubicBezTo>
                  <a:pt x="34115" y="3933825"/>
                  <a:pt x="0" y="3899710"/>
                  <a:pt x="0" y="3857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09600" y="1438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81075" y="1419225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场景的挑战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1025" y="1838325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RAG（检索增强生成）场景中，检索到的文档片段顺序可能不固定，导致无法直接复用 KV Cache。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1025" y="2447925"/>
            <a:ext cx="5219700" cy="1295400"/>
          </a:xfrm>
          <a:custGeom>
            <a:avLst/>
            <a:gdLst/>
            <a:ahLst/>
            <a:cxnLst/>
            <a:rect l="l" t="t" r="r" b="b"/>
            <a:pathLst>
              <a:path w="5219700" h="1295400">
                <a:moveTo>
                  <a:pt x="38098" y="0"/>
                </a:moveTo>
                <a:lnTo>
                  <a:pt x="5181602" y="0"/>
                </a:lnTo>
                <a:cubicBezTo>
                  <a:pt x="5202629" y="0"/>
                  <a:pt x="5219700" y="17071"/>
                  <a:pt x="5219700" y="38098"/>
                </a:cubicBezTo>
                <a:lnTo>
                  <a:pt x="5219700" y="1257302"/>
                </a:lnTo>
                <a:cubicBezTo>
                  <a:pt x="5219700" y="1278343"/>
                  <a:pt x="5202643" y="1295400"/>
                  <a:pt x="5181602" y="1295400"/>
                </a:cubicBezTo>
                <a:lnTo>
                  <a:pt x="38098" y="1295400"/>
                </a:lnTo>
                <a:cubicBezTo>
                  <a:pt x="17071" y="1295400"/>
                  <a:pt x="0" y="1278329"/>
                  <a:pt x="0" y="12573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95325" y="2562225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 A: [System] + [Doc1] + [Doc2] + [Query]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5325" y="2867025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 B: [System] + [Doc2] + [Doc1] + [Query]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5325" y="3171825"/>
            <a:ext cx="5067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由于 Transformer 的因果注意力，即使内容相同，位置不同导致无法直接复用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0075" y="3857625"/>
            <a:ext cx="5200650" cy="476250"/>
          </a:xfrm>
          <a:custGeom>
            <a:avLst/>
            <a:gdLst/>
            <a:ahLst/>
            <a:cxnLst/>
            <a:rect l="l" t="t" r="r" b="b"/>
            <a:pathLst>
              <a:path w="5200650" h="476250">
                <a:moveTo>
                  <a:pt x="38100" y="0"/>
                </a:moveTo>
                <a:lnTo>
                  <a:pt x="5162550" y="0"/>
                </a:lnTo>
                <a:cubicBezTo>
                  <a:pt x="5183578" y="0"/>
                  <a:pt x="5200650" y="17072"/>
                  <a:pt x="5200650" y="38100"/>
                </a:cubicBezTo>
                <a:lnTo>
                  <a:pt x="5200650" y="438150"/>
                </a:lnTo>
                <a:cubicBezTo>
                  <a:pt x="5200650" y="459178"/>
                  <a:pt x="5183578" y="476250"/>
                  <a:pt x="5162550" y="476250"/>
                </a:cubicBezTo>
                <a:lnTo>
                  <a:pt x="38100" y="476250"/>
                </a:lnTo>
                <a:cubicBezTo>
                  <a:pt x="17072" y="476250"/>
                  <a:pt x="0" y="459178"/>
                  <a:pt x="0" y="438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00075" y="3857625"/>
            <a:ext cx="38100" cy="476250"/>
          </a:xfrm>
          <a:custGeom>
            <a:avLst/>
            <a:gdLst/>
            <a:ahLst/>
            <a:cxnLst/>
            <a:rect l="l" t="t" r="r" b="b"/>
            <a:pathLst>
              <a:path w="38100" h="476250">
                <a:moveTo>
                  <a:pt x="38100" y="0"/>
                </a:moveTo>
                <a:lnTo>
                  <a:pt x="38100" y="0"/>
                </a:lnTo>
                <a:lnTo>
                  <a:pt x="38100" y="476250"/>
                </a:lnTo>
                <a:lnTo>
                  <a:pt x="38100" y="476250"/>
                </a:lnTo>
                <a:cubicBezTo>
                  <a:pt x="17072" y="476250"/>
                  <a:pt x="0" y="459178"/>
                  <a:pt x="0" y="438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33425" y="3971925"/>
            <a:ext cx="5029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核心问题：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Doc1 在位置 2 和位置 3 的 KV Cache 是不同的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00775" y="1228725"/>
            <a:ext cx="5600700" cy="3924300"/>
          </a:xfrm>
          <a:custGeom>
            <a:avLst/>
            <a:gdLst/>
            <a:ahLst/>
            <a:cxnLst/>
            <a:rect l="l" t="t" r="r" b="b"/>
            <a:pathLst>
              <a:path w="5600700" h="3924300">
                <a:moveTo>
                  <a:pt x="76210" y="0"/>
                </a:moveTo>
                <a:lnTo>
                  <a:pt x="5524490" y="0"/>
                </a:lnTo>
                <a:cubicBezTo>
                  <a:pt x="5566580" y="0"/>
                  <a:pt x="5600700" y="34120"/>
                  <a:pt x="5600700" y="76210"/>
                </a:cubicBezTo>
                <a:lnTo>
                  <a:pt x="5600700" y="3848090"/>
                </a:lnTo>
                <a:cubicBezTo>
                  <a:pt x="5600700" y="3890180"/>
                  <a:pt x="5566580" y="3924300"/>
                  <a:pt x="5524490" y="3924300"/>
                </a:cubicBezTo>
                <a:lnTo>
                  <a:pt x="76210" y="3924300"/>
                </a:lnTo>
                <a:cubicBezTo>
                  <a:pt x="34120" y="3924300"/>
                  <a:pt x="0" y="3890180"/>
                  <a:pt x="0" y="3848090"/>
                </a:cubicBezTo>
                <a:lnTo>
                  <a:pt x="0" y="76210"/>
                </a:lnTo>
                <a:cubicBezTo>
                  <a:pt x="0" y="34149"/>
                  <a:pt x="34149" y="0"/>
                  <a:pt x="7621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429375" y="144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800850" y="1428750"/>
            <a:ext cx="2324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CacheBlend：选择性重算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1847850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LMCache 提出的 </a:t>
            </a: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CacheBlend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技术提供了一种解决方案（注：属于非精确复用）：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0" y="2457450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3" y="0"/>
                </a:moveTo>
                <a:lnTo>
                  <a:pt x="5162547" y="0"/>
                </a:lnTo>
                <a:cubicBezTo>
                  <a:pt x="5183591" y="0"/>
                  <a:pt x="5200650" y="17059"/>
                  <a:pt x="5200650" y="38103"/>
                </a:cubicBezTo>
                <a:lnTo>
                  <a:pt x="5200650" y="647697"/>
                </a:lnTo>
                <a:cubicBezTo>
                  <a:pt x="5200650" y="668741"/>
                  <a:pt x="5183591" y="685800"/>
                  <a:pt x="51625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515100" y="2571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481763" y="257175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9900" y="2571750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允许复用非前缀位置的 KV Cache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9900" y="2838450"/>
            <a:ext cx="473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存在位置不匹配，属于有损或近似复用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3219450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3" y="0"/>
                </a:moveTo>
                <a:lnTo>
                  <a:pt x="5162547" y="0"/>
                </a:lnTo>
                <a:cubicBezTo>
                  <a:pt x="5183591" y="0"/>
                  <a:pt x="5200650" y="17059"/>
                  <a:pt x="5200650" y="38103"/>
                </a:cubicBezTo>
                <a:lnTo>
                  <a:pt x="5200650" y="647697"/>
                </a:lnTo>
                <a:cubicBezTo>
                  <a:pt x="5200650" y="668741"/>
                  <a:pt x="5183591" y="685800"/>
                  <a:pt x="51625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515100" y="3333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481763" y="333375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9900" y="3333750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选择性重算关键位置的 Attention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19900" y="3600450"/>
            <a:ext cx="473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修正位置编码偏差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0" y="3981450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38103" y="0"/>
                </a:moveTo>
                <a:lnTo>
                  <a:pt x="5162547" y="0"/>
                </a:lnTo>
                <a:cubicBezTo>
                  <a:pt x="5183591" y="0"/>
                  <a:pt x="5200650" y="17059"/>
                  <a:pt x="5200650" y="38103"/>
                </a:cubicBezTo>
                <a:lnTo>
                  <a:pt x="5200650" y="647697"/>
                </a:lnTo>
                <a:cubicBezTo>
                  <a:pt x="5200650" y="668741"/>
                  <a:pt x="5183591" y="685800"/>
                  <a:pt x="51625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515100" y="4095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81763" y="409575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19900" y="409575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在复用率和计算开销之间动态平衡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19900" y="4362450"/>
            <a:ext cx="473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根据精度要求调整重算范围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763" y="5319713"/>
            <a:ext cx="11420475" cy="1152525"/>
          </a:xfrm>
          <a:custGeom>
            <a:avLst/>
            <a:gdLst/>
            <a:ahLst/>
            <a:cxnLst/>
            <a:rect l="l" t="t" r="r" b="b"/>
            <a:pathLst>
              <a:path w="11420475" h="1152525">
                <a:moveTo>
                  <a:pt x="76205" y="0"/>
                </a:moveTo>
                <a:lnTo>
                  <a:pt x="11344270" y="0"/>
                </a:lnTo>
                <a:cubicBezTo>
                  <a:pt x="11386357" y="0"/>
                  <a:pt x="11420475" y="34118"/>
                  <a:pt x="11420475" y="76205"/>
                </a:cubicBezTo>
                <a:lnTo>
                  <a:pt x="11420475" y="1076320"/>
                </a:lnTo>
                <a:cubicBezTo>
                  <a:pt x="11420475" y="1118407"/>
                  <a:pt x="11386357" y="1152525"/>
                  <a:pt x="1134427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78644" y="58007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-11906"/>
                </a:moveTo>
                <a:cubicBezTo>
                  <a:pt x="85948" y="-11906"/>
                  <a:pt x="88441" y="-10753"/>
                  <a:pt x="90153" y="-8744"/>
                </a:cubicBezTo>
                <a:lnTo>
                  <a:pt x="140754" y="50788"/>
                </a:lnTo>
                <a:cubicBezTo>
                  <a:pt x="143024" y="53429"/>
                  <a:pt x="143508" y="57150"/>
                  <a:pt x="142056" y="60313"/>
                </a:cubicBezTo>
                <a:cubicBezTo>
                  <a:pt x="140605" y="63475"/>
                  <a:pt x="137443" y="65484"/>
                  <a:pt x="133945" y="65484"/>
                </a:cubicBezTo>
                <a:lnTo>
                  <a:pt x="124681" y="65484"/>
                </a:lnTo>
                <a:lnTo>
                  <a:pt x="152660" y="98413"/>
                </a:lnTo>
                <a:cubicBezTo>
                  <a:pt x="154930" y="101054"/>
                  <a:pt x="155414" y="104775"/>
                  <a:pt x="153963" y="107938"/>
                </a:cubicBezTo>
                <a:cubicBezTo>
                  <a:pt x="152512" y="111100"/>
                  <a:pt x="149349" y="113109"/>
                  <a:pt x="145852" y="113109"/>
                </a:cubicBezTo>
                <a:lnTo>
                  <a:pt x="131527" y="113109"/>
                </a:lnTo>
                <a:lnTo>
                  <a:pt x="164567" y="151991"/>
                </a:lnTo>
                <a:cubicBezTo>
                  <a:pt x="166836" y="154632"/>
                  <a:pt x="167320" y="158353"/>
                  <a:pt x="165869" y="161516"/>
                </a:cubicBezTo>
                <a:cubicBezTo>
                  <a:pt x="164418" y="164678"/>
                  <a:pt x="161255" y="166688"/>
                  <a:pt x="157758" y="166688"/>
                </a:cubicBezTo>
                <a:lnTo>
                  <a:pt x="95250" y="166688"/>
                </a:lnTo>
                <a:lnTo>
                  <a:pt x="95250" y="190500"/>
                </a:lnTo>
                <a:cubicBezTo>
                  <a:pt x="95250" y="197086"/>
                  <a:pt x="89929" y="202406"/>
                  <a:pt x="83344" y="202406"/>
                </a:cubicBezTo>
                <a:cubicBezTo>
                  <a:pt x="76758" y="202406"/>
                  <a:pt x="71438" y="197086"/>
                  <a:pt x="71438" y="190500"/>
                </a:cubicBezTo>
                <a:lnTo>
                  <a:pt x="71438" y="166688"/>
                </a:lnTo>
                <a:lnTo>
                  <a:pt x="8930" y="166688"/>
                </a:lnTo>
                <a:cubicBezTo>
                  <a:pt x="5432" y="166688"/>
                  <a:pt x="2270" y="164678"/>
                  <a:pt x="819" y="161516"/>
                </a:cubicBezTo>
                <a:cubicBezTo>
                  <a:pt x="-633" y="158353"/>
                  <a:pt x="-149" y="154632"/>
                  <a:pt x="2121" y="151991"/>
                </a:cubicBezTo>
                <a:lnTo>
                  <a:pt x="35161" y="113109"/>
                </a:lnTo>
                <a:lnTo>
                  <a:pt x="20836" y="113109"/>
                </a:lnTo>
                <a:cubicBezTo>
                  <a:pt x="17338" y="113109"/>
                  <a:pt x="14176" y="111100"/>
                  <a:pt x="12725" y="107938"/>
                </a:cubicBezTo>
                <a:cubicBezTo>
                  <a:pt x="11274" y="104775"/>
                  <a:pt x="11757" y="101054"/>
                  <a:pt x="14027" y="98413"/>
                </a:cubicBezTo>
                <a:lnTo>
                  <a:pt x="42007" y="65484"/>
                </a:lnTo>
                <a:lnTo>
                  <a:pt x="32742" y="65484"/>
                </a:lnTo>
                <a:cubicBezTo>
                  <a:pt x="29245" y="65484"/>
                  <a:pt x="26082" y="63475"/>
                  <a:pt x="24631" y="60313"/>
                </a:cubicBezTo>
                <a:cubicBezTo>
                  <a:pt x="23180" y="57150"/>
                  <a:pt x="23664" y="53429"/>
                  <a:pt x="25933" y="50788"/>
                </a:cubicBezTo>
                <a:lnTo>
                  <a:pt x="76535" y="-8744"/>
                </a:lnTo>
                <a:cubicBezTo>
                  <a:pt x="78246" y="-10753"/>
                  <a:pt x="80739" y="-11906"/>
                  <a:pt x="83344" y="-11906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95350" y="5476875"/>
            <a:ext cx="1083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树结构的幽灵依赖与内存碎片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95350" y="5819775"/>
            <a:ext cx="108299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如果子节点被 LRU 淘汰，父节点失去一个分支，但如果父节点仍有其他活跃子节点，它不能被淘汰。这会导致</a:t>
            </a: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"幽灵前缀"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现象：根路径很长但只有极少叶子在用，却占用了中间节点的内存。在实际工程中，需要结合引用计数与内存碎片整理机制以缓解这一限制。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85763" y="1657350"/>
            <a:ext cx="1352550" cy="390525"/>
          </a:xfrm>
          <a:custGeom>
            <a:avLst/>
            <a:gdLst/>
            <a:ahLst/>
            <a:cxnLst/>
            <a:rect l="l" t="t" r="r" b="b"/>
            <a:pathLst>
              <a:path w="1352550" h="390525">
                <a:moveTo>
                  <a:pt x="76199" y="0"/>
                </a:moveTo>
                <a:lnTo>
                  <a:pt x="1276351" y="0"/>
                </a:lnTo>
                <a:cubicBezTo>
                  <a:pt x="1318434" y="0"/>
                  <a:pt x="1352550" y="34116"/>
                  <a:pt x="1352550" y="76199"/>
                </a:cubicBezTo>
                <a:lnTo>
                  <a:pt x="1352550" y="314326"/>
                </a:lnTo>
                <a:cubicBezTo>
                  <a:pt x="1352550" y="356409"/>
                  <a:pt x="1318434" y="390525"/>
                  <a:pt x="12763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 w="127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1738313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81238"/>
            <a:ext cx="4457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性能分析与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最佳实践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24338"/>
            <a:ext cx="4229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理论模型、实测数据与生产环境优化建议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07206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524000" y="4976813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3个核心主题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THEORETICAL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理论性能分析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066800"/>
            <a:ext cx="5619750" cy="1733550"/>
          </a:xfrm>
          <a:custGeom>
            <a:avLst/>
            <a:gdLst/>
            <a:ahLst/>
            <a:cxnLst/>
            <a:rect l="l" t="t" r="r" b="b"/>
            <a:pathLst>
              <a:path w="5619750" h="1733550">
                <a:moveTo>
                  <a:pt x="38100" y="0"/>
                </a:moveTo>
                <a:lnTo>
                  <a:pt x="5543543" y="0"/>
                </a:lnTo>
                <a:cubicBezTo>
                  <a:pt x="5585631" y="0"/>
                  <a:pt x="5619750" y="34119"/>
                  <a:pt x="5619750" y="76207"/>
                </a:cubicBezTo>
                <a:lnTo>
                  <a:pt x="5619750" y="1657343"/>
                </a:lnTo>
                <a:cubicBezTo>
                  <a:pt x="5619750" y="1699431"/>
                  <a:pt x="5585631" y="1733550"/>
                  <a:pt x="5543543" y="1733550"/>
                </a:cubicBezTo>
                <a:lnTo>
                  <a:pt x="38100" y="1733550"/>
                </a:lnTo>
                <a:cubicBezTo>
                  <a:pt x="17072" y="1733550"/>
                  <a:pt x="0" y="1716478"/>
                  <a:pt x="0" y="1695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00050" y="1066800"/>
            <a:ext cx="38100" cy="1733550"/>
          </a:xfrm>
          <a:custGeom>
            <a:avLst/>
            <a:gdLst/>
            <a:ahLst/>
            <a:cxnLst/>
            <a:rect l="l" t="t" r="r" b="b"/>
            <a:pathLst>
              <a:path w="38100" h="1733550">
                <a:moveTo>
                  <a:pt x="38100" y="0"/>
                </a:moveTo>
                <a:lnTo>
                  <a:pt x="38100" y="0"/>
                </a:lnTo>
                <a:lnTo>
                  <a:pt x="38100" y="1733550"/>
                </a:lnTo>
                <a:lnTo>
                  <a:pt x="38100" y="1733550"/>
                </a:lnTo>
                <a:cubicBezTo>
                  <a:pt x="17072" y="1733550"/>
                  <a:pt x="0" y="1716478"/>
                  <a:pt x="0" y="1695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78644" y="12287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52475" y="118110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加速比公式推导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400" y="1485900"/>
            <a:ext cx="5448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 </a:t>
            </a:r>
            <a:r>
              <a:rPr lang="en-US" sz="1050" dirty="0">
                <a:solidFill>
                  <a:srgbClr val="E8E8E8"/>
                </a:solidFill>
                <a:highlight>
                  <a:srgbClr val="D4A26A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P 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为前缀长度， </a:t>
            </a:r>
            <a:r>
              <a:rPr lang="en-US" sz="1050" dirty="0">
                <a:solidFill>
                  <a:srgbClr val="E8E8E8"/>
                </a:solidFill>
                <a:highlight>
                  <a:srgbClr val="D4A26A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Q 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为查询长度，Prefill 计算复杂度为 </a:t>
            </a:r>
            <a:r>
              <a:rPr lang="en-US" sz="1050" dirty="0">
                <a:solidFill>
                  <a:srgbClr val="E8E8E8"/>
                </a:solidFill>
                <a:highlight>
                  <a:srgbClr val="D4A26A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O(N²)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3400" y="1771650"/>
            <a:ext cx="5372100" cy="914400"/>
          </a:xfrm>
          <a:custGeom>
            <a:avLst/>
            <a:gdLst/>
            <a:ahLst/>
            <a:cxnLst/>
            <a:rect l="l" t="t" r="r" b="b"/>
            <a:pathLst>
              <a:path w="5372100" h="914400">
                <a:moveTo>
                  <a:pt x="38103" y="0"/>
                </a:moveTo>
                <a:lnTo>
                  <a:pt x="5333997" y="0"/>
                </a:lnTo>
                <a:cubicBezTo>
                  <a:pt x="5355041" y="0"/>
                  <a:pt x="5372100" y="17059"/>
                  <a:pt x="5372100" y="38103"/>
                </a:cubicBezTo>
                <a:lnTo>
                  <a:pt x="5372100" y="876297"/>
                </a:lnTo>
                <a:cubicBezTo>
                  <a:pt x="5372100" y="897341"/>
                  <a:pt x="5355041" y="914400"/>
                  <a:pt x="5333997" y="914400"/>
                </a:cubicBezTo>
                <a:lnTo>
                  <a:pt x="38103" y="914400"/>
                </a:lnTo>
                <a:cubicBezTo>
                  <a:pt x="17059" y="914400"/>
                  <a:pt x="0" y="897341"/>
                  <a:pt x="0" y="876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09600" y="184785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无缓存: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Cost = (P+Q)² /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11455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完全命中: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Cost = Q × (P+Q)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405063"/>
            <a:ext cx="6251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加速比: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50305" y="2405063"/>
            <a:ext cx="20947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Speedup = (P+Q) / (2Q)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2919413"/>
            <a:ext cx="5629275" cy="3552825"/>
          </a:xfrm>
          <a:custGeom>
            <a:avLst/>
            <a:gdLst/>
            <a:ahLst/>
            <a:cxnLst/>
            <a:rect l="l" t="t" r="r" b="b"/>
            <a:pathLst>
              <a:path w="5629275" h="3552825">
                <a:moveTo>
                  <a:pt x="76208" y="0"/>
                </a:moveTo>
                <a:lnTo>
                  <a:pt x="5553067" y="0"/>
                </a:lnTo>
                <a:cubicBezTo>
                  <a:pt x="5595155" y="0"/>
                  <a:pt x="5629275" y="34120"/>
                  <a:pt x="5629275" y="76208"/>
                </a:cubicBezTo>
                <a:lnTo>
                  <a:pt x="5629275" y="3476617"/>
                </a:lnTo>
                <a:cubicBezTo>
                  <a:pt x="5629275" y="3518705"/>
                  <a:pt x="5595155" y="3552825"/>
                  <a:pt x="5553067" y="3552825"/>
                </a:cubicBezTo>
                <a:lnTo>
                  <a:pt x="76208" y="3552825"/>
                </a:lnTo>
                <a:cubicBezTo>
                  <a:pt x="34120" y="3552825"/>
                  <a:pt x="0" y="3518705"/>
                  <a:pt x="0" y="3476617"/>
                </a:cubicBezTo>
                <a:lnTo>
                  <a:pt x="0" y="76208"/>
                </a:lnTo>
                <a:cubicBezTo>
                  <a:pt x="0" y="34120"/>
                  <a:pt x="34120" y="0"/>
                  <a:pt x="7620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28638" y="30861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95338" y="3038475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典型场景理论加速比</a:t>
            </a:r>
            <a:endParaRPr lang="en-US" sz="1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25" y="3833812"/>
          <a:ext cx="5391150" cy="2066928"/>
        </p:xfrm>
        <a:graphic>
          <a:graphicData uri="http://schemas.openxmlformats.org/drawingml/2006/table">
            <a:tbl>
              <a:tblPr/>
              <a:tblGrid>
                <a:gridCol w="2766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3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488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场景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加速比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短 System Prompt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~2.5x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4A6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标准 System Prompt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~8.5x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 System Prompt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~16.5x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多轮对话（5轮）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~8.5x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RAG（长文档）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512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~16x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181725" y="1076325"/>
            <a:ext cx="5619750" cy="3810000"/>
          </a:xfrm>
          <a:custGeom>
            <a:avLst/>
            <a:gdLst/>
            <a:ahLst/>
            <a:cxnLst/>
            <a:rect l="l" t="t" r="r" b="b"/>
            <a:pathLst>
              <a:path w="5619750" h="3810000">
                <a:moveTo>
                  <a:pt x="762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3733800"/>
                </a:lnTo>
                <a:cubicBezTo>
                  <a:pt x="5619750" y="3775856"/>
                  <a:pt x="5585606" y="3810000"/>
                  <a:pt x="5543550" y="3810000"/>
                </a:cubicBezTo>
                <a:lnTo>
                  <a:pt x="76200" y="3810000"/>
                </a:lnTo>
                <a:cubicBezTo>
                  <a:pt x="34144" y="3810000"/>
                  <a:pt x="0" y="3775856"/>
                  <a:pt x="0" y="3733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6329363" y="1247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6596063" y="1200150"/>
            <a:ext cx="181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SGLang 官方基准测试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305550" y="2009775"/>
            <a:ext cx="5372100" cy="514350"/>
          </a:xfrm>
          <a:custGeom>
            <a:avLst/>
            <a:gdLst/>
            <a:ahLst/>
            <a:cxnLst/>
            <a:rect l="l" t="t" r="r" b="b"/>
            <a:pathLst>
              <a:path w="5372100" h="514350">
                <a:moveTo>
                  <a:pt x="38098" y="0"/>
                </a:moveTo>
                <a:lnTo>
                  <a:pt x="5334002" y="0"/>
                </a:lnTo>
                <a:cubicBezTo>
                  <a:pt x="5355043" y="0"/>
                  <a:pt x="5372100" y="17057"/>
                  <a:pt x="5372100" y="38098"/>
                </a:cubicBezTo>
                <a:lnTo>
                  <a:pt x="5372100" y="476252"/>
                </a:lnTo>
                <a:cubicBezTo>
                  <a:pt x="5372100" y="497293"/>
                  <a:pt x="5355043" y="514350"/>
                  <a:pt x="5334002" y="514350"/>
                </a:cubicBezTo>
                <a:lnTo>
                  <a:pt x="38098" y="514350"/>
                </a:lnTo>
                <a:cubicBezTo>
                  <a:pt x="17057" y="514350"/>
                  <a:pt x="0" y="497293"/>
                  <a:pt x="0" y="47625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6381750" y="2105025"/>
            <a:ext cx="685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多轮对话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800383" y="2085975"/>
            <a:ext cx="800100" cy="190500"/>
          </a:xfrm>
          <a:custGeom>
            <a:avLst/>
            <a:gdLst/>
            <a:ahLst/>
            <a:cxnLst/>
            <a:rect l="l" t="t" r="r" b="b"/>
            <a:pathLst>
              <a:path w="800100" h="190500">
                <a:moveTo>
                  <a:pt x="38100" y="0"/>
                </a:moveTo>
                <a:lnTo>
                  <a:pt x="762000" y="0"/>
                </a:lnTo>
                <a:cubicBezTo>
                  <a:pt x="783028" y="0"/>
                  <a:pt x="800100" y="17072"/>
                  <a:pt x="800100" y="38100"/>
                </a:cubicBezTo>
                <a:lnTo>
                  <a:pt x="800100" y="152400"/>
                </a:lnTo>
                <a:cubicBezTo>
                  <a:pt x="800100" y="173428"/>
                  <a:pt x="783028" y="190500"/>
                  <a:pt x="7620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10800383" y="2085975"/>
            <a:ext cx="8572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2-3x 吞吐量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81750" y="2295525"/>
            <a:ext cx="5295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TTFT 降低 60-80%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05550" y="2600325"/>
            <a:ext cx="5372100" cy="514350"/>
          </a:xfrm>
          <a:custGeom>
            <a:avLst/>
            <a:gdLst/>
            <a:ahLst/>
            <a:cxnLst/>
            <a:rect l="l" t="t" r="r" b="b"/>
            <a:pathLst>
              <a:path w="5372100" h="514350">
                <a:moveTo>
                  <a:pt x="38098" y="0"/>
                </a:moveTo>
                <a:lnTo>
                  <a:pt x="5334002" y="0"/>
                </a:lnTo>
                <a:cubicBezTo>
                  <a:pt x="5355043" y="0"/>
                  <a:pt x="5372100" y="17057"/>
                  <a:pt x="5372100" y="38098"/>
                </a:cubicBezTo>
                <a:lnTo>
                  <a:pt x="5372100" y="476252"/>
                </a:lnTo>
                <a:cubicBezTo>
                  <a:pt x="5372100" y="497293"/>
                  <a:pt x="5355043" y="514350"/>
                  <a:pt x="5334002" y="514350"/>
                </a:cubicBezTo>
                <a:lnTo>
                  <a:pt x="38098" y="514350"/>
                </a:lnTo>
                <a:cubicBezTo>
                  <a:pt x="17057" y="514350"/>
                  <a:pt x="0" y="497293"/>
                  <a:pt x="0" y="47625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6381750" y="2695575"/>
            <a:ext cx="1133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Few-shot 学习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800383" y="2676525"/>
            <a:ext cx="800100" cy="190500"/>
          </a:xfrm>
          <a:custGeom>
            <a:avLst/>
            <a:gdLst/>
            <a:ahLst/>
            <a:cxnLst/>
            <a:rect l="l" t="t" r="r" b="b"/>
            <a:pathLst>
              <a:path w="800100" h="190500">
                <a:moveTo>
                  <a:pt x="38100" y="0"/>
                </a:moveTo>
                <a:lnTo>
                  <a:pt x="762000" y="0"/>
                </a:lnTo>
                <a:cubicBezTo>
                  <a:pt x="783028" y="0"/>
                  <a:pt x="800100" y="17072"/>
                  <a:pt x="800100" y="38100"/>
                </a:cubicBezTo>
                <a:lnTo>
                  <a:pt x="800100" y="152400"/>
                </a:lnTo>
                <a:cubicBezTo>
                  <a:pt x="800100" y="173428"/>
                  <a:pt x="783028" y="190500"/>
                  <a:pt x="7620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10800383" y="2676525"/>
            <a:ext cx="8572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3-5x 吞吐量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381750" y="2886075"/>
            <a:ext cx="5295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TTFT 降低 70-85%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05550" y="3190875"/>
            <a:ext cx="5372100" cy="514350"/>
          </a:xfrm>
          <a:custGeom>
            <a:avLst/>
            <a:gdLst/>
            <a:ahLst/>
            <a:cxnLst/>
            <a:rect l="l" t="t" r="r" b="b"/>
            <a:pathLst>
              <a:path w="5372100" h="514350">
                <a:moveTo>
                  <a:pt x="38098" y="0"/>
                </a:moveTo>
                <a:lnTo>
                  <a:pt x="5334002" y="0"/>
                </a:lnTo>
                <a:cubicBezTo>
                  <a:pt x="5355043" y="0"/>
                  <a:pt x="5372100" y="17057"/>
                  <a:pt x="5372100" y="38098"/>
                </a:cubicBezTo>
                <a:lnTo>
                  <a:pt x="5372100" y="476252"/>
                </a:lnTo>
                <a:cubicBezTo>
                  <a:pt x="5372100" y="497293"/>
                  <a:pt x="5355043" y="514350"/>
                  <a:pt x="5334002" y="514350"/>
                </a:cubicBezTo>
                <a:lnTo>
                  <a:pt x="38098" y="514350"/>
                </a:lnTo>
                <a:cubicBezTo>
                  <a:pt x="17057" y="514350"/>
                  <a:pt x="0" y="497293"/>
                  <a:pt x="0" y="47625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9"/>
          <p:cNvSpPr/>
          <p:nvPr/>
        </p:nvSpPr>
        <p:spPr>
          <a:xfrm>
            <a:off x="6381750" y="3286125"/>
            <a:ext cx="83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结构化生成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0800383" y="3267075"/>
            <a:ext cx="800100" cy="190500"/>
          </a:xfrm>
          <a:custGeom>
            <a:avLst/>
            <a:gdLst/>
            <a:ahLst/>
            <a:cxnLst/>
            <a:rect l="l" t="t" r="r" b="b"/>
            <a:pathLst>
              <a:path w="800100" h="190500">
                <a:moveTo>
                  <a:pt x="38100" y="0"/>
                </a:moveTo>
                <a:lnTo>
                  <a:pt x="762000" y="0"/>
                </a:lnTo>
                <a:cubicBezTo>
                  <a:pt x="783028" y="0"/>
                  <a:pt x="800100" y="17072"/>
                  <a:pt x="800100" y="38100"/>
                </a:cubicBezTo>
                <a:lnTo>
                  <a:pt x="800100" y="152400"/>
                </a:lnTo>
                <a:cubicBezTo>
                  <a:pt x="800100" y="173428"/>
                  <a:pt x="783028" y="190500"/>
                  <a:pt x="7620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10800383" y="3267075"/>
            <a:ext cx="8572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4-6x 吞吐量</a:t>
            </a:r>
            <a:endParaRPr lang="en-US" sz="1600" dirty="0"/>
          </a:p>
        </p:txBody>
      </p:sp>
      <p:sp>
        <p:nvSpPr>
          <p:cNvPr id="17" name="Text 32"/>
          <p:cNvSpPr/>
          <p:nvPr/>
        </p:nvSpPr>
        <p:spPr>
          <a:xfrm>
            <a:off x="6381750" y="3476625"/>
            <a:ext cx="5295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TTFT 降低 75-90%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305550" y="3781425"/>
            <a:ext cx="5372100" cy="514350"/>
          </a:xfrm>
          <a:custGeom>
            <a:avLst/>
            <a:gdLst/>
            <a:ahLst/>
            <a:cxnLst/>
            <a:rect l="l" t="t" r="r" b="b"/>
            <a:pathLst>
              <a:path w="5372100" h="514350">
                <a:moveTo>
                  <a:pt x="38098" y="0"/>
                </a:moveTo>
                <a:lnTo>
                  <a:pt x="5334002" y="0"/>
                </a:lnTo>
                <a:cubicBezTo>
                  <a:pt x="5355043" y="0"/>
                  <a:pt x="5372100" y="17057"/>
                  <a:pt x="5372100" y="38098"/>
                </a:cubicBezTo>
                <a:lnTo>
                  <a:pt x="5372100" y="476252"/>
                </a:lnTo>
                <a:cubicBezTo>
                  <a:pt x="5372100" y="497293"/>
                  <a:pt x="5355043" y="514350"/>
                  <a:pt x="5334002" y="514350"/>
                </a:cubicBezTo>
                <a:lnTo>
                  <a:pt x="38098" y="514350"/>
                </a:lnTo>
                <a:cubicBezTo>
                  <a:pt x="17057" y="514350"/>
                  <a:pt x="0" y="497293"/>
                  <a:pt x="0" y="47625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4"/>
          <p:cNvSpPr/>
          <p:nvPr/>
        </p:nvSpPr>
        <p:spPr>
          <a:xfrm>
            <a:off x="6381750" y="3876675"/>
            <a:ext cx="1323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Tree of Thoughts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10800383" y="3857625"/>
            <a:ext cx="800100" cy="190500"/>
          </a:xfrm>
          <a:custGeom>
            <a:avLst/>
            <a:gdLst/>
            <a:ahLst/>
            <a:cxnLst/>
            <a:rect l="l" t="t" r="r" b="b"/>
            <a:pathLst>
              <a:path w="800100" h="190500">
                <a:moveTo>
                  <a:pt x="38100" y="0"/>
                </a:moveTo>
                <a:lnTo>
                  <a:pt x="762000" y="0"/>
                </a:lnTo>
                <a:cubicBezTo>
                  <a:pt x="783028" y="0"/>
                  <a:pt x="800100" y="17072"/>
                  <a:pt x="800100" y="38100"/>
                </a:cubicBezTo>
                <a:lnTo>
                  <a:pt x="800100" y="152400"/>
                </a:lnTo>
                <a:cubicBezTo>
                  <a:pt x="800100" y="173428"/>
                  <a:pt x="783028" y="190500"/>
                  <a:pt x="7620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6"/>
          <p:cNvSpPr/>
          <p:nvPr/>
        </p:nvSpPr>
        <p:spPr>
          <a:xfrm>
            <a:off x="10800383" y="3857625"/>
            <a:ext cx="8572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5-8x 吞吐量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381750" y="4067175"/>
            <a:ext cx="5295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TTFT 降低 80-95%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176963" y="5014913"/>
            <a:ext cx="5629275" cy="1457325"/>
          </a:xfrm>
          <a:custGeom>
            <a:avLst/>
            <a:gdLst/>
            <a:ahLst/>
            <a:cxnLst/>
            <a:rect l="l" t="t" r="r" b="b"/>
            <a:pathLst>
              <a:path w="5629275" h="1457325">
                <a:moveTo>
                  <a:pt x="76204" y="0"/>
                </a:moveTo>
                <a:lnTo>
                  <a:pt x="5553071" y="0"/>
                </a:lnTo>
                <a:cubicBezTo>
                  <a:pt x="5595158" y="0"/>
                  <a:pt x="5629275" y="34117"/>
                  <a:pt x="5629275" y="76204"/>
                </a:cubicBezTo>
                <a:lnTo>
                  <a:pt x="5629275" y="1381121"/>
                </a:lnTo>
                <a:cubicBezTo>
                  <a:pt x="5629275" y="1423208"/>
                  <a:pt x="5595158" y="1457325"/>
                  <a:pt x="5553071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9"/>
          <p:cNvSpPr/>
          <p:nvPr/>
        </p:nvSpPr>
        <p:spPr>
          <a:xfrm>
            <a:off x="6298406" y="51625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0"/>
          <p:cNvSpPr/>
          <p:nvPr/>
        </p:nvSpPr>
        <p:spPr>
          <a:xfrm>
            <a:off x="6586538" y="5133975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RadixAttention vs APC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296025" y="5400675"/>
            <a:ext cx="2657475" cy="438150"/>
          </a:xfrm>
          <a:custGeom>
            <a:avLst/>
            <a:gdLst/>
            <a:ahLst/>
            <a:cxnLst/>
            <a:rect l="l" t="t" r="r" b="b"/>
            <a:pathLst>
              <a:path w="2657475" h="438150">
                <a:moveTo>
                  <a:pt x="38102" y="0"/>
                </a:moveTo>
                <a:lnTo>
                  <a:pt x="2619373" y="0"/>
                </a:lnTo>
                <a:cubicBezTo>
                  <a:pt x="2640416" y="0"/>
                  <a:pt x="2657475" y="17059"/>
                  <a:pt x="2657475" y="38102"/>
                </a:cubicBezTo>
                <a:lnTo>
                  <a:pt x="2657475" y="400048"/>
                </a:lnTo>
                <a:cubicBezTo>
                  <a:pt x="2657475" y="421091"/>
                  <a:pt x="2640416" y="438150"/>
                  <a:pt x="2619373" y="438150"/>
                </a:cubicBezTo>
                <a:lnTo>
                  <a:pt x="38102" y="438150"/>
                </a:lnTo>
                <a:cubicBezTo>
                  <a:pt x="17059" y="438150"/>
                  <a:pt x="0" y="421091"/>
                  <a:pt x="0" y="4000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2"/>
          <p:cNvSpPr/>
          <p:nvPr/>
        </p:nvSpPr>
        <p:spPr>
          <a:xfrm>
            <a:off x="6353175" y="5457825"/>
            <a:ext cx="261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前缀命中率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353175" y="5629275"/>
            <a:ext cx="261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85-95%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vs 80-90%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9029700" y="5400675"/>
            <a:ext cx="2657475" cy="438150"/>
          </a:xfrm>
          <a:custGeom>
            <a:avLst/>
            <a:gdLst/>
            <a:ahLst/>
            <a:cxnLst/>
            <a:rect l="l" t="t" r="r" b="b"/>
            <a:pathLst>
              <a:path w="2657475" h="438150">
                <a:moveTo>
                  <a:pt x="38102" y="0"/>
                </a:moveTo>
                <a:lnTo>
                  <a:pt x="2619373" y="0"/>
                </a:lnTo>
                <a:cubicBezTo>
                  <a:pt x="2640416" y="0"/>
                  <a:pt x="2657475" y="17059"/>
                  <a:pt x="2657475" y="38102"/>
                </a:cubicBezTo>
                <a:lnTo>
                  <a:pt x="2657475" y="400048"/>
                </a:lnTo>
                <a:cubicBezTo>
                  <a:pt x="2657475" y="421091"/>
                  <a:pt x="2640416" y="438150"/>
                  <a:pt x="2619373" y="438150"/>
                </a:cubicBezTo>
                <a:lnTo>
                  <a:pt x="38102" y="438150"/>
                </a:lnTo>
                <a:cubicBezTo>
                  <a:pt x="17059" y="438150"/>
                  <a:pt x="0" y="421091"/>
                  <a:pt x="0" y="4000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5"/>
          <p:cNvSpPr/>
          <p:nvPr/>
        </p:nvSpPr>
        <p:spPr>
          <a:xfrm>
            <a:off x="9086850" y="5457825"/>
            <a:ext cx="261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内存开销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9086850" y="5629275"/>
            <a:ext cx="261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+5-10%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vs +2-5%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296025" y="5915025"/>
            <a:ext cx="2657475" cy="438150"/>
          </a:xfrm>
          <a:custGeom>
            <a:avLst/>
            <a:gdLst/>
            <a:ahLst/>
            <a:cxnLst/>
            <a:rect l="l" t="t" r="r" b="b"/>
            <a:pathLst>
              <a:path w="2657475" h="438150">
                <a:moveTo>
                  <a:pt x="38102" y="0"/>
                </a:moveTo>
                <a:lnTo>
                  <a:pt x="2619373" y="0"/>
                </a:lnTo>
                <a:cubicBezTo>
                  <a:pt x="2640416" y="0"/>
                  <a:pt x="2657475" y="17059"/>
                  <a:pt x="2657475" y="38102"/>
                </a:cubicBezTo>
                <a:lnTo>
                  <a:pt x="2657475" y="400048"/>
                </a:lnTo>
                <a:cubicBezTo>
                  <a:pt x="2657475" y="421091"/>
                  <a:pt x="2640416" y="438150"/>
                  <a:pt x="2619373" y="438150"/>
                </a:cubicBezTo>
                <a:lnTo>
                  <a:pt x="38102" y="438150"/>
                </a:lnTo>
                <a:cubicBezTo>
                  <a:pt x="17059" y="438150"/>
                  <a:pt x="0" y="421091"/>
                  <a:pt x="0" y="4000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8"/>
          <p:cNvSpPr/>
          <p:nvPr/>
        </p:nvSpPr>
        <p:spPr>
          <a:xfrm>
            <a:off x="6353175" y="5972175"/>
            <a:ext cx="261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动态前缀支持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353175" y="6143625"/>
            <a:ext cx="261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优秀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vs 良好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029700" y="5915025"/>
            <a:ext cx="2657475" cy="438150"/>
          </a:xfrm>
          <a:custGeom>
            <a:avLst/>
            <a:gdLst/>
            <a:ahLst/>
            <a:cxnLst/>
            <a:rect l="l" t="t" r="r" b="b"/>
            <a:pathLst>
              <a:path w="2657475" h="438150">
                <a:moveTo>
                  <a:pt x="38102" y="0"/>
                </a:moveTo>
                <a:lnTo>
                  <a:pt x="2619373" y="0"/>
                </a:lnTo>
                <a:cubicBezTo>
                  <a:pt x="2640416" y="0"/>
                  <a:pt x="2657475" y="17059"/>
                  <a:pt x="2657475" y="38102"/>
                </a:cubicBezTo>
                <a:lnTo>
                  <a:pt x="2657475" y="400048"/>
                </a:lnTo>
                <a:cubicBezTo>
                  <a:pt x="2657475" y="421091"/>
                  <a:pt x="2640416" y="438150"/>
                  <a:pt x="2619373" y="438150"/>
                </a:cubicBezTo>
                <a:lnTo>
                  <a:pt x="38102" y="438150"/>
                </a:lnTo>
                <a:cubicBezTo>
                  <a:pt x="17059" y="438150"/>
                  <a:pt x="0" y="421091"/>
                  <a:pt x="0" y="40004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1"/>
          <p:cNvSpPr/>
          <p:nvPr/>
        </p:nvSpPr>
        <p:spPr>
          <a:xfrm>
            <a:off x="9086850" y="5972175"/>
            <a:ext cx="261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实现复杂度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9086850" y="6143625"/>
            <a:ext cx="261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</a:t>
            </a: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vs 中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最佳实践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071563"/>
            <a:ext cx="5629275" cy="3590925"/>
          </a:xfrm>
          <a:custGeom>
            <a:avLst/>
            <a:gdLst/>
            <a:ahLst/>
            <a:cxnLst/>
            <a:rect l="l" t="t" r="r" b="b"/>
            <a:pathLst>
              <a:path w="5629275" h="3590925">
                <a:moveTo>
                  <a:pt x="76199" y="0"/>
                </a:moveTo>
                <a:lnTo>
                  <a:pt x="5553076" y="0"/>
                </a:lnTo>
                <a:cubicBezTo>
                  <a:pt x="5595159" y="0"/>
                  <a:pt x="5629275" y="34116"/>
                  <a:pt x="5629275" y="76199"/>
                </a:cubicBezTo>
                <a:lnTo>
                  <a:pt x="5629275" y="3514726"/>
                </a:lnTo>
                <a:cubicBezTo>
                  <a:pt x="5629275" y="3556809"/>
                  <a:pt x="5595159" y="3590925"/>
                  <a:pt x="5553076" y="3590925"/>
                </a:cubicBezTo>
                <a:lnTo>
                  <a:pt x="76199" y="3590925"/>
                </a:lnTo>
                <a:cubicBezTo>
                  <a:pt x="34116" y="3590925"/>
                  <a:pt x="0" y="3556809"/>
                  <a:pt x="0" y="3514726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8638" y="1238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25071" y="9075"/>
                </a:moveTo>
                <a:cubicBezTo>
                  <a:pt x="130094" y="3315"/>
                  <a:pt x="137361" y="0"/>
                  <a:pt x="145029" y="0"/>
                </a:cubicBezTo>
                <a:cubicBezTo>
                  <a:pt x="159629" y="0"/>
                  <a:pt x="171483" y="11854"/>
                  <a:pt x="171483" y="26454"/>
                </a:cubicBezTo>
                <a:cubicBezTo>
                  <a:pt x="171483" y="34089"/>
                  <a:pt x="168168" y="41389"/>
                  <a:pt x="162409" y="46412"/>
                </a:cubicBezTo>
                <a:lnTo>
                  <a:pt x="95001" y="105080"/>
                </a:lnTo>
                <a:lnTo>
                  <a:pt x="91418" y="101464"/>
                </a:lnTo>
                <a:lnTo>
                  <a:pt x="69986" y="80032"/>
                </a:lnTo>
                <a:lnTo>
                  <a:pt x="66370" y="76449"/>
                </a:lnTo>
                <a:lnTo>
                  <a:pt x="125071" y="9075"/>
                </a:lnTo>
                <a:close/>
                <a:moveTo>
                  <a:pt x="53946" y="86730"/>
                </a:moveTo>
                <a:cubicBezTo>
                  <a:pt x="54248" y="87064"/>
                  <a:pt x="62954" y="95771"/>
                  <a:pt x="80032" y="112849"/>
                </a:cubicBezTo>
                <a:lnTo>
                  <a:pt x="84687" y="117504"/>
                </a:lnTo>
                <a:lnTo>
                  <a:pt x="78961" y="142350"/>
                </a:lnTo>
                <a:cubicBezTo>
                  <a:pt x="77655" y="148077"/>
                  <a:pt x="73302" y="152631"/>
                  <a:pt x="67642" y="154205"/>
                </a:cubicBezTo>
                <a:lnTo>
                  <a:pt x="10783" y="170111"/>
                </a:lnTo>
                <a:lnTo>
                  <a:pt x="41690" y="139203"/>
                </a:lnTo>
                <a:cubicBezTo>
                  <a:pt x="42092" y="139236"/>
                  <a:pt x="42461" y="139270"/>
                  <a:pt x="42863" y="139270"/>
                </a:cubicBezTo>
                <a:cubicBezTo>
                  <a:pt x="48790" y="139270"/>
                  <a:pt x="53578" y="134481"/>
                  <a:pt x="53578" y="128554"/>
                </a:cubicBezTo>
                <a:cubicBezTo>
                  <a:pt x="53578" y="122627"/>
                  <a:pt x="48790" y="117838"/>
                  <a:pt x="42863" y="117838"/>
                </a:cubicBezTo>
                <a:cubicBezTo>
                  <a:pt x="36935" y="117838"/>
                  <a:pt x="32147" y="122627"/>
                  <a:pt x="32147" y="128554"/>
                </a:cubicBezTo>
                <a:cubicBezTo>
                  <a:pt x="32147" y="128956"/>
                  <a:pt x="32180" y="129358"/>
                  <a:pt x="32214" y="129726"/>
                </a:cubicBezTo>
                <a:lnTo>
                  <a:pt x="1306" y="160667"/>
                </a:lnTo>
                <a:lnTo>
                  <a:pt x="17245" y="103808"/>
                </a:lnTo>
                <a:cubicBezTo>
                  <a:pt x="18819" y="98148"/>
                  <a:pt x="23373" y="93795"/>
                  <a:pt x="29100" y="92489"/>
                </a:cubicBezTo>
                <a:lnTo>
                  <a:pt x="53946" y="8673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95338" y="1190625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Prompt 设计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4825" y="1533525"/>
            <a:ext cx="5467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为了最大化前缀缓存的命中率，建议遵循"稳定内容在前，动态内容在后"的原则：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4825" y="2028825"/>
            <a:ext cx="5391150" cy="2514600"/>
          </a:xfrm>
          <a:custGeom>
            <a:avLst/>
            <a:gdLst/>
            <a:ahLst/>
            <a:cxnLst/>
            <a:rect l="l" t="t" r="r" b="b"/>
            <a:pathLst>
              <a:path w="5391150" h="2514600">
                <a:moveTo>
                  <a:pt x="38096" y="0"/>
                </a:moveTo>
                <a:lnTo>
                  <a:pt x="5353054" y="0"/>
                </a:lnTo>
                <a:cubicBezTo>
                  <a:pt x="5374094" y="0"/>
                  <a:pt x="5391150" y="17056"/>
                  <a:pt x="5391150" y="38096"/>
                </a:cubicBezTo>
                <a:lnTo>
                  <a:pt x="5391150" y="2476504"/>
                </a:lnTo>
                <a:cubicBezTo>
                  <a:pt x="5391150" y="2497544"/>
                  <a:pt x="5374094" y="2514600"/>
                  <a:pt x="5353054" y="2514600"/>
                </a:cubicBezTo>
                <a:lnTo>
                  <a:pt x="38096" y="2514600"/>
                </a:lnTo>
                <a:cubicBezTo>
                  <a:pt x="17056" y="2514600"/>
                  <a:pt x="0" y="2497544"/>
                  <a:pt x="0" y="24765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38175" y="2647950"/>
            <a:ext cx="38100" cy="400050"/>
          </a:xfrm>
          <a:custGeom>
            <a:avLst/>
            <a:gdLst/>
            <a:ahLst/>
            <a:cxnLst/>
            <a:rect l="l" t="t" r="r" b="b"/>
            <a:pathLst>
              <a:path w="38100" h="400050">
                <a:moveTo>
                  <a:pt x="0" y="0"/>
                </a:moveTo>
                <a:lnTo>
                  <a:pt x="38100" y="0"/>
                </a:lnTo>
                <a:lnTo>
                  <a:pt x="3810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33425" y="268605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固定部分（最前面）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3425" y="285750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角色定义、通用指令、输出格式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8175" y="3086100"/>
            <a:ext cx="38100" cy="400050"/>
          </a:xfrm>
          <a:custGeom>
            <a:avLst/>
            <a:gdLst/>
            <a:ahLst/>
            <a:cxnLst/>
            <a:rect l="l" t="t" r="r" b="b"/>
            <a:pathLst>
              <a:path w="38100" h="400050">
                <a:moveTo>
                  <a:pt x="0" y="0"/>
                </a:moveTo>
                <a:lnTo>
                  <a:pt x="38100" y="0"/>
                </a:lnTo>
                <a:lnTo>
                  <a:pt x="3810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solidFill>
            <a:srgbClr val="788A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33425" y="312420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半动态部分（中间）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3425" y="329565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Few-shot 示例、常用工具说明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8175" y="3524250"/>
            <a:ext cx="38100" cy="400050"/>
          </a:xfrm>
          <a:custGeom>
            <a:avLst/>
            <a:gdLst/>
            <a:ahLst/>
            <a:cxnLst/>
            <a:rect l="l" t="t" r="r" b="b"/>
            <a:pathLst>
              <a:path w="38100" h="400050">
                <a:moveTo>
                  <a:pt x="0" y="0"/>
                </a:moveTo>
                <a:lnTo>
                  <a:pt x="38100" y="0"/>
                </a:lnTo>
                <a:lnTo>
                  <a:pt x="3810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33425" y="356235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动态部分（最后）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3425" y="373380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用户名、时间戳、会话上下文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63" y="4786313"/>
            <a:ext cx="5629275" cy="1685925"/>
          </a:xfrm>
          <a:custGeom>
            <a:avLst/>
            <a:gdLst/>
            <a:ahLst/>
            <a:cxnLst/>
            <a:rect l="l" t="t" r="r" b="b"/>
            <a:pathLst>
              <a:path w="5629275" h="1685925">
                <a:moveTo>
                  <a:pt x="76204" y="0"/>
                </a:moveTo>
                <a:lnTo>
                  <a:pt x="5553071" y="0"/>
                </a:lnTo>
                <a:cubicBezTo>
                  <a:pt x="5595157" y="0"/>
                  <a:pt x="5629275" y="34118"/>
                  <a:pt x="5629275" y="76204"/>
                </a:cubicBezTo>
                <a:lnTo>
                  <a:pt x="5629275" y="1609721"/>
                </a:lnTo>
                <a:cubicBezTo>
                  <a:pt x="5629275" y="1651807"/>
                  <a:pt x="5595157" y="1685925"/>
                  <a:pt x="5553071" y="1685925"/>
                </a:cubicBezTo>
                <a:lnTo>
                  <a:pt x="76204" y="1685925"/>
                </a:lnTo>
                <a:cubicBezTo>
                  <a:pt x="34118" y="1685925"/>
                  <a:pt x="0" y="1651807"/>
                  <a:pt x="0" y="1609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28638" y="49339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110" y="-837"/>
                </a:moveTo>
                <a:cubicBezTo>
                  <a:pt x="81740" y="-4655"/>
                  <a:pt x="89911" y="-4655"/>
                  <a:pt x="96541" y="-837"/>
                </a:cubicBezTo>
                <a:lnTo>
                  <a:pt x="155444" y="33151"/>
                </a:lnTo>
                <a:cubicBezTo>
                  <a:pt x="162074" y="36969"/>
                  <a:pt x="166159" y="44068"/>
                  <a:pt x="166159" y="51703"/>
                </a:cubicBezTo>
                <a:lnTo>
                  <a:pt x="166159" y="119680"/>
                </a:lnTo>
                <a:cubicBezTo>
                  <a:pt x="166159" y="127349"/>
                  <a:pt x="162074" y="134414"/>
                  <a:pt x="155444" y="138232"/>
                </a:cubicBezTo>
                <a:lnTo>
                  <a:pt x="96541" y="172287"/>
                </a:lnTo>
                <a:cubicBezTo>
                  <a:pt x="89911" y="176105"/>
                  <a:pt x="81740" y="176105"/>
                  <a:pt x="75110" y="172287"/>
                </a:cubicBezTo>
                <a:lnTo>
                  <a:pt x="16241" y="138299"/>
                </a:lnTo>
                <a:cubicBezTo>
                  <a:pt x="9611" y="134481"/>
                  <a:pt x="5525" y="127382"/>
                  <a:pt x="5525" y="119747"/>
                </a:cubicBezTo>
                <a:lnTo>
                  <a:pt x="5525" y="51770"/>
                </a:lnTo>
                <a:cubicBezTo>
                  <a:pt x="5525" y="44101"/>
                  <a:pt x="9611" y="37036"/>
                  <a:pt x="16241" y="33218"/>
                </a:cubicBezTo>
                <a:lnTo>
                  <a:pt x="75110" y="-837"/>
                </a:lnTo>
                <a:close/>
                <a:moveTo>
                  <a:pt x="144694" y="119714"/>
                </a:moveTo>
                <a:lnTo>
                  <a:pt x="144694" y="64093"/>
                </a:lnTo>
                <a:lnTo>
                  <a:pt x="96541" y="91886"/>
                </a:lnTo>
                <a:lnTo>
                  <a:pt x="96541" y="147507"/>
                </a:lnTo>
                <a:lnTo>
                  <a:pt x="144694" y="119714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95338" y="4905375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 Size 选择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4825" y="5210175"/>
            <a:ext cx="5391150" cy="342900"/>
          </a:xfrm>
          <a:custGeom>
            <a:avLst/>
            <a:gdLst/>
            <a:ahLst/>
            <a:cxnLst/>
            <a:rect l="l" t="t" r="r" b="b"/>
            <a:pathLst>
              <a:path w="5391150" h="342900">
                <a:moveTo>
                  <a:pt x="38100" y="0"/>
                </a:moveTo>
                <a:lnTo>
                  <a:pt x="5353050" y="0"/>
                </a:lnTo>
                <a:cubicBezTo>
                  <a:pt x="5374092" y="0"/>
                  <a:pt x="5391150" y="17058"/>
                  <a:pt x="5391150" y="38100"/>
                </a:cubicBezTo>
                <a:lnTo>
                  <a:pt x="5391150" y="304800"/>
                </a:lnTo>
                <a:cubicBezTo>
                  <a:pt x="5391150" y="325842"/>
                  <a:pt x="5374092" y="342900"/>
                  <a:pt x="53530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61975" y="5267325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64 tokens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62425" y="5267325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细粒度匹配，哈希开销大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4350" y="5600700"/>
            <a:ext cx="5372100" cy="361950"/>
          </a:xfrm>
          <a:custGeom>
            <a:avLst/>
            <a:gdLst/>
            <a:ahLst/>
            <a:cxnLst/>
            <a:rect l="l" t="t" r="r" b="b"/>
            <a:pathLst>
              <a:path w="5372100" h="361950">
                <a:moveTo>
                  <a:pt x="38099" y="0"/>
                </a:moveTo>
                <a:lnTo>
                  <a:pt x="5334001" y="0"/>
                </a:lnTo>
                <a:cubicBezTo>
                  <a:pt x="5355028" y="0"/>
                  <a:pt x="5372100" y="17072"/>
                  <a:pt x="5372100" y="38099"/>
                </a:cubicBezTo>
                <a:lnTo>
                  <a:pt x="5372100" y="323851"/>
                </a:lnTo>
                <a:cubicBezTo>
                  <a:pt x="5372100" y="344878"/>
                  <a:pt x="5355028" y="361950"/>
                  <a:pt x="5334001" y="361950"/>
                </a:cubicBezTo>
                <a:lnTo>
                  <a:pt x="38099" y="361950"/>
                </a:lnTo>
                <a:cubicBezTo>
                  <a:pt x="17072" y="361950"/>
                  <a:pt x="0" y="344878"/>
                  <a:pt x="0" y="32385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1"/>
          </a:soli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81025" y="5667375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256 tokens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0175" y="566737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通用推荐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4825" y="6010275"/>
            <a:ext cx="5391150" cy="342900"/>
          </a:xfrm>
          <a:custGeom>
            <a:avLst/>
            <a:gdLst/>
            <a:ahLst/>
            <a:cxnLst/>
            <a:rect l="l" t="t" r="r" b="b"/>
            <a:pathLst>
              <a:path w="5391150" h="342900">
                <a:moveTo>
                  <a:pt x="38100" y="0"/>
                </a:moveTo>
                <a:lnTo>
                  <a:pt x="5353050" y="0"/>
                </a:lnTo>
                <a:cubicBezTo>
                  <a:pt x="5374092" y="0"/>
                  <a:pt x="5391150" y="17058"/>
                  <a:pt x="5391150" y="38100"/>
                </a:cubicBezTo>
                <a:lnTo>
                  <a:pt x="5391150" y="304800"/>
                </a:lnTo>
                <a:cubicBezTo>
                  <a:pt x="5391150" y="325842"/>
                  <a:pt x="5374092" y="342900"/>
                  <a:pt x="53530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61975" y="6067425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512 tokens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72025" y="606742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低开销，粒度粗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81725" y="1076325"/>
            <a:ext cx="5619750" cy="3848100"/>
          </a:xfrm>
          <a:custGeom>
            <a:avLst/>
            <a:gdLst/>
            <a:ahLst/>
            <a:cxnLst/>
            <a:rect l="l" t="t" r="r" b="b"/>
            <a:pathLst>
              <a:path w="5619750" h="3848100">
                <a:moveTo>
                  <a:pt x="76192" y="0"/>
                </a:moveTo>
                <a:lnTo>
                  <a:pt x="5543558" y="0"/>
                </a:lnTo>
                <a:cubicBezTo>
                  <a:pt x="5585638" y="0"/>
                  <a:pt x="5619750" y="34112"/>
                  <a:pt x="5619750" y="76192"/>
                </a:cubicBezTo>
                <a:lnTo>
                  <a:pt x="5619750" y="3771908"/>
                </a:lnTo>
                <a:cubicBezTo>
                  <a:pt x="5619750" y="3813988"/>
                  <a:pt x="5585638" y="3848100"/>
                  <a:pt x="5543558" y="3848100"/>
                </a:cubicBezTo>
                <a:lnTo>
                  <a:pt x="76192" y="3848100"/>
                </a:lnTo>
                <a:cubicBezTo>
                  <a:pt x="34112" y="3848100"/>
                  <a:pt x="0" y="3813988"/>
                  <a:pt x="0" y="37719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340078" y="12477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53746" y="-8840"/>
                </a:moveTo>
                <a:cubicBezTo>
                  <a:pt x="56860" y="-11452"/>
                  <a:pt x="61447" y="-11352"/>
                  <a:pt x="64428" y="-8539"/>
                </a:cubicBezTo>
                <a:cubicBezTo>
                  <a:pt x="68547" y="-4655"/>
                  <a:pt x="72230" y="-368"/>
                  <a:pt x="75780" y="3985"/>
                </a:cubicBezTo>
                <a:cubicBezTo>
                  <a:pt x="80300" y="9510"/>
                  <a:pt x="85725" y="16810"/>
                  <a:pt x="90949" y="25483"/>
                </a:cubicBezTo>
                <a:cubicBezTo>
                  <a:pt x="92690" y="23206"/>
                  <a:pt x="94298" y="21197"/>
                  <a:pt x="95704" y="19489"/>
                </a:cubicBezTo>
                <a:cubicBezTo>
                  <a:pt x="96072" y="19054"/>
                  <a:pt x="96441" y="18585"/>
                  <a:pt x="96809" y="18116"/>
                </a:cubicBezTo>
                <a:cubicBezTo>
                  <a:pt x="99454" y="14834"/>
                  <a:pt x="102736" y="10716"/>
                  <a:pt x="107123" y="10716"/>
                </a:cubicBezTo>
                <a:cubicBezTo>
                  <a:pt x="111610" y="10716"/>
                  <a:pt x="114758" y="14700"/>
                  <a:pt x="117437" y="18116"/>
                </a:cubicBezTo>
                <a:cubicBezTo>
                  <a:pt x="117872" y="18685"/>
                  <a:pt x="118307" y="19221"/>
                  <a:pt x="118743" y="19723"/>
                </a:cubicBezTo>
                <a:cubicBezTo>
                  <a:pt x="122192" y="23876"/>
                  <a:pt x="126779" y="29870"/>
                  <a:pt x="131367" y="37270"/>
                </a:cubicBezTo>
                <a:cubicBezTo>
                  <a:pt x="140475" y="51971"/>
                  <a:pt x="149985" y="72900"/>
                  <a:pt x="149985" y="96407"/>
                </a:cubicBezTo>
                <a:cubicBezTo>
                  <a:pt x="149985" y="137830"/>
                  <a:pt x="116398" y="171417"/>
                  <a:pt x="74976" y="171417"/>
                </a:cubicBezTo>
                <a:cubicBezTo>
                  <a:pt x="33553" y="171417"/>
                  <a:pt x="0" y="137863"/>
                  <a:pt x="0" y="96441"/>
                </a:cubicBezTo>
                <a:cubicBezTo>
                  <a:pt x="0" y="65935"/>
                  <a:pt x="13763" y="39514"/>
                  <a:pt x="26956" y="21096"/>
                </a:cubicBezTo>
                <a:cubicBezTo>
                  <a:pt x="33620" y="11821"/>
                  <a:pt x="40251" y="4387"/>
                  <a:pt x="45240" y="-703"/>
                </a:cubicBezTo>
                <a:cubicBezTo>
                  <a:pt x="47986" y="-3516"/>
                  <a:pt x="50765" y="-6295"/>
                  <a:pt x="53779" y="-8807"/>
                </a:cubicBezTo>
                <a:close/>
                <a:moveTo>
                  <a:pt x="75579" y="139303"/>
                </a:moveTo>
                <a:cubicBezTo>
                  <a:pt x="84051" y="139303"/>
                  <a:pt x="91552" y="136959"/>
                  <a:pt x="98617" y="132271"/>
                </a:cubicBezTo>
                <a:cubicBezTo>
                  <a:pt x="112715" y="122426"/>
                  <a:pt x="116499" y="102736"/>
                  <a:pt x="108027" y="87265"/>
                </a:cubicBezTo>
                <a:cubicBezTo>
                  <a:pt x="106520" y="84252"/>
                  <a:pt x="102669" y="84051"/>
                  <a:pt x="100492" y="86596"/>
                </a:cubicBezTo>
                <a:lnTo>
                  <a:pt x="92054" y="96407"/>
                </a:lnTo>
                <a:cubicBezTo>
                  <a:pt x="89844" y="98952"/>
                  <a:pt x="85859" y="98885"/>
                  <a:pt x="83783" y="96240"/>
                </a:cubicBezTo>
                <a:cubicBezTo>
                  <a:pt x="77990" y="88839"/>
                  <a:pt x="67341" y="75344"/>
                  <a:pt x="61916" y="68446"/>
                </a:cubicBezTo>
                <a:cubicBezTo>
                  <a:pt x="60108" y="66135"/>
                  <a:pt x="56826" y="65767"/>
                  <a:pt x="54717" y="67810"/>
                </a:cubicBezTo>
                <a:cubicBezTo>
                  <a:pt x="48589" y="73770"/>
                  <a:pt x="37471" y="86830"/>
                  <a:pt x="37471" y="102736"/>
                </a:cubicBezTo>
                <a:cubicBezTo>
                  <a:pt x="37471" y="125708"/>
                  <a:pt x="54415" y="139303"/>
                  <a:pt x="75545" y="139303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596063" y="120015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缓存预热策略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05550" y="1543050"/>
            <a:ext cx="5448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在服务启动或更新时，预热高频使用的 System Prompt 或上下文，避免冷启动延迟：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05550" y="2038350"/>
            <a:ext cx="5372100" cy="2762250"/>
          </a:xfrm>
          <a:custGeom>
            <a:avLst/>
            <a:gdLst/>
            <a:ahLst/>
            <a:cxnLst/>
            <a:rect l="l" t="t" r="r" b="b"/>
            <a:pathLst>
              <a:path w="5372100" h="2762250">
                <a:moveTo>
                  <a:pt x="38091" y="0"/>
                </a:moveTo>
                <a:lnTo>
                  <a:pt x="5334009" y="0"/>
                </a:lnTo>
                <a:cubicBezTo>
                  <a:pt x="5355032" y="0"/>
                  <a:pt x="5372100" y="17068"/>
                  <a:pt x="5372100" y="38091"/>
                </a:cubicBezTo>
                <a:lnTo>
                  <a:pt x="5372100" y="2724159"/>
                </a:lnTo>
                <a:cubicBezTo>
                  <a:pt x="5372100" y="2745196"/>
                  <a:pt x="5355046" y="2762250"/>
                  <a:pt x="5334009" y="2762250"/>
                </a:cubicBezTo>
                <a:lnTo>
                  <a:pt x="38091" y="2762250"/>
                </a:lnTo>
                <a:cubicBezTo>
                  <a:pt x="17068" y="2762250"/>
                  <a:pt x="0" y="2745182"/>
                  <a:pt x="0" y="2724159"/>
                </a:cubicBezTo>
                <a:lnTo>
                  <a:pt x="0" y="38091"/>
                </a:lnTo>
                <a:cubicBezTo>
                  <a:pt x="0" y="17068"/>
                  <a:pt x="17068" y="0"/>
                  <a:pt x="38091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381750" y="2114550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warmup_cache(prompts):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57950" y="230505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prompt in prompts: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34150" y="2495550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tokens = tokenizer.encode(prompt)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34150" y="2686050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model.generate(tokens, max_new_tokens=1)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57950" y="291465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warmup_cache([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34150" y="3105150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SYSTEM_PROMPT,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34150" y="3295650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SYSTEM_PROMPT + FEW_SHOT,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34150" y="3486150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COMMON_RAG_CONTEXT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57950" y="367665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6963" y="5053013"/>
            <a:ext cx="5629275" cy="1419225"/>
          </a:xfrm>
          <a:custGeom>
            <a:avLst/>
            <a:gdLst/>
            <a:ahLst/>
            <a:cxnLst/>
            <a:rect l="l" t="t" r="r" b="b"/>
            <a:pathLst>
              <a:path w="5629275" h="1419225">
                <a:moveTo>
                  <a:pt x="76198" y="0"/>
                </a:moveTo>
                <a:lnTo>
                  <a:pt x="5553077" y="0"/>
                </a:lnTo>
                <a:cubicBezTo>
                  <a:pt x="5595160" y="0"/>
                  <a:pt x="5629275" y="34115"/>
                  <a:pt x="5629275" y="76198"/>
                </a:cubicBezTo>
                <a:lnTo>
                  <a:pt x="5629275" y="1343027"/>
                </a:lnTo>
                <a:cubicBezTo>
                  <a:pt x="5629275" y="1385110"/>
                  <a:pt x="5595160" y="1419225"/>
                  <a:pt x="5553077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6341269" y="52006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83682" y="22369"/>
                </a:moveTo>
                <a:cubicBezTo>
                  <a:pt x="87165" y="17580"/>
                  <a:pt x="86093" y="10883"/>
                  <a:pt x="81305" y="7400"/>
                </a:cubicBezTo>
                <a:cubicBezTo>
                  <a:pt x="76516" y="3918"/>
                  <a:pt x="69819" y="4989"/>
                  <a:pt x="66336" y="9778"/>
                </a:cubicBezTo>
                <a:lnTo>
                  <a:pt x="30841" y="58568"/>
                </a:lnTo>
                <a:lnTo>
                  <a:pt x="18284" y="46010"/>
                </a:lnTo>
                <a:cubicBezTo>
                  <a:pt x="14098" y="41824"/>
                  <a:pt x="7300" y="41824"/>
                  <a:pt x="3114" y="46010"/>
                </a:cubicBezTo>
                <a:cubicBezTo>
                  <a:pt x="-1072" y="50196"/>
                  <a:pt x="-1072" y="56994"/>
                  <a:pt x="3114" y="61180"/>
                </a:cubicBezTo>
                <a:lnTo>
                  <a:pt x="24545" y="82611"/>
                </a:lnTo>
                <a:cubicBezTo>
                  <a:pt x="26756" y="84821"/>
                  <a:pt x="29836" y="85959"/>
                  <a:pt x="32951" y="85725"/>
                </a:cubicBezTo>
                <a:cubicBezTo>
                  <a:pt x="36065" y="85491"/>
                  <a:pt x="38945" y="83883"/>
                  <a:pt x="40786" y="81338"/>
                </a:cubicBezTo>
                <a:lnTo>
                  <a:pt x="83649" y="22402"/>
                </a:lnTo>
                <a:close/>
                <a:moveTo>
                  <a:pt x="126545" y="67910"/>
                </a:moveTo>
                <a:cubicBezTo>
                  <a:pt x="130027" y="63122"/>
                  <a:pt x="128956" y="56424"/>
                  <a:pt x="124167" y="52942"/>
                </a:cubicBezTo>
                <a:cubicBezTo>
                  <a:pt x="119379" y="49459"/>
                  <a:pt x="112681" y="50531"/>
                  <a:pt x="109199" y="55319"/>
                </a:cubicBezTo>
                <a:lnTo>
                  <a:pt x="52272" y="133577"/>
                </a:lnTo>
                <a:lnTo>
                  <a:pt x="28999" y="110304"/>
                </a:lnTo>
                <a:cubicBezTo>
                  <a:pt x="24813" y="106118"/>
                  <a:pt x="18016" y="106118"/>
                  <a:pt x="13830" y="110304"/>
                </a:cubicBezTo>
                <a:cubicBezTo>
                  <a:pt x="9644" y="114490"/>
                  <a:pt x="9644" y="121287"/>
                  <a:pt x="13830" y="125473"/>
                </a:cubicBezTo>
                <a:lnTo>
                  <a:pt x="45977" y="157620"/>
                </a:lnTo>
                <a:cubicBezTo>
                  <a:pt x="48187" y="159830"/>
                  <a:pt x="51268" y="160969"/>
                  <a:pt x="54382" y="160734"/>
                </a:cubicBezTo>
                <a:cubicBezTo>
                  <a:pt x="57496" y="160500"/>
                  <a:pt x="60376" y="158893"/>
                  <a:pt x="62218" y="156348"/>
                </a:cubicBezTo>
                <a:lnTo>
                  <a:pt x="126511" y="67944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586538" y="51720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关键优化建议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06741" y="55149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0609" y="-4922"/>
                </a:moveTo>
                <a:cubicBezTo>
                  <a:pt x="79541" y="-7006"/>
                  <a:pt x="77379" y="-8334"/>
                  <a:pt x="75035" y="-8334"/>
                </a:cubicBezTo>
                <a:cubicBezTo>
                  <a:pt x="72691" y="-8334"/>
                  <a:pt x="70530" y="-7006"/>
                  <a:pt x="69462" y="-4922"/>
                </a:cubicBezTo>
                <a:lnTo>
                  <a:pt x="50293" y="32634"/>
                </a:lnTo>
                <a:lnTo>
                  <a:pt x="8647" y="39250"/>
                </a:lnTo>
                <a:cubicBezTo>
                  <a:pt x="6329" y="39614"/>
                  <a:pt x="4402" y="41255"/>
                  <a:pt x="3672" y="43495"/>
                </a:cubicBezTo>
                <a:cubicBezTo>
                  <a:pt x="2943" y="45735"/>
                  <a:pt x="3542" y="48183"/>
                  <a:pt x="5183" y="49850"/>
                </a:cubicBezTo>
                <a:lnTo>
                  <a:pt x="34978" y="79671"/>
                </a:lnTo>
                <a:lnTo>
                  <a:pt x="28415" y="121317"/>
                </a:lnTo>
                <a:cubicBezTo>
                  <a:pt x="28050" y="123635"/>
                  <a:pt x="29014" y="125979"/>
                  <a:pt x="30915" y="127360"/>
                </a:cubicBezTo>
                <a:cubicBezTo>
                  <a:pt x="32817" y="128740"/>
                  <a:pt x="35317" y="128948"/>
                  <a:pt x="37427" y="127881"/>
                </a:cubicBezTo>
                <a:lnTo>
                  <a:pt x="75035" y="108764"/>
                </a:lnTo>
                <a:lnTo>
                  <a:pt x="112618" y="127881"/>
                </a:lnTo>
                <a:cubicBezTo>
                  <a:pt x="114702" y="128948"/>
                  <a:pt x="117228" y="128740"/>
                  <a:pt x="119129" y="127360"/>
                </a:cubicBezTo>
                <a:cubicBezTo>
                  <a:pt x="121031" y="125979"/>
                  <a:pt x="121994" y="123661"/>
                  <a:pt x="121630" y="121317"/>
                </a:cubicBezTo>
                <a:lnTo>
                  <a:pt x="115040" y="79671"/>
                </a:lnTo>
                <a:lnTo>
                  <a:pt x="144836" y="49850"/>
                </a:lnTo>
                <a:cubicBezTo>
                  <a:pt x="146503" y="48183"/>
                  <a:pt x="147076" y="45735"/>
                  <a:pt x="146346" y="43495"/>
                </a:cubicBezTo>
                <a:cubicBezTo>
                  <a:pt x="145617" y="41255"/>
                  <a:pt x="143716" y="39614"/>
                  <a:pt x="141372" y="39250"/>
                </a:cubicBezTo>
                <a:lnTo>
                  <a:pt x="99752" y="32634"/>
                </a:lnTo>
                <a:lnTo>
                  <a:pt x="80609" y="-492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538913" y="5476875"/>
            <a:ext cx="263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稳定内容放在 System Prompt 最前面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06741" y="57435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0609" y="-4922"/>
                </a:moveTo>
                <a:cubicBezTo>
                  <a:pt x="79541" y="-7006"/>
                  <a:pt x="77379" y="-8334"/>
                  <a:pt x="75035" y="-8334"/>
                </a:cubicBezTo>
                <a:cubicBezTo>
                  <a:pt x="72691" y="-8334"/>
                  <a:pt x="70530" y="-7006"/>
                  <a:pt x="69462" y="-4922"/>
                </a:cubicBezTo>
                <a:lnTo>
                  <a:pt x="50293" y="32634"/>
                </a:lnTo>
                <a:lnTo>
                  <a:pt x="8647" y="39250"/>
                </a:lnTo>
                <a:cubicBezTo>
                  <a:pt x="6329" y="39614"/>
                  <a:pt x="4402" y="41255"/>
                  <a:pt x="3672" y="43495"/>
                </a:cubicBezTo>
                <a:cubicBezTo>
                  <a:pt x="2943" y="45735"/>
                  <a:pt x="3542" y="48183"/>
                  <a:pt x="5183" y="49850"/>
                </a:cubicBezTo>
                <a:lnTo>
                  <a:pt x="34978" y="79671"/>
                </a:lnTo>
                <a:lnTo>
                  <a:pt x="28415" y="121317"/>
                </a:lnTo>
                <a:cubicBezTo>
                  <a:pt x="28050" y="123635"/>
                  <a:pt x="29014" y="125979"/>
                  <a:pt x="30915" y="127360"/>
                </a:cubicBezTo>
                <a:cubicBezTo>
                  <a:pt x="32817" y="128740"/>
                  <a:pt x="35317" y="128948"/>
                  <a:pt x="37427" y="127881"/>
                </a:cubicBezTo>
                <a:lnTo>
                  <a:pt x="75035" y="108764"/>
                </a:lnTo>
                <a:lnTo>
                  <a:pt x="112618" y="127881"/>
                </a:lnTo>
                <a:cubicBezTo>
                  <a:pt x="114702" y="128948"/>
                  <a:pt x="117228" y="128740"/>
                  <a:pt x="119129" y="127360"/>
                </a:cubicBezTo>
                <a:cubicBezTo>
                  <a:pt x="121031" y="125979"/>
                  <a:pt x="121994" y="123661"/>
                  <a:pt x="121630" y="121317"/>
                </a:cubicBezTo>
                <a:lnTo>
                  <a:pt x="115040" y="79671"/>
                </a:lnTo>
                <a:lnTo>
                  <a:pt x="144836" y="49850"/>
                </a:lnTo>
                <a:cubicBezTo>
                  <a:pt x="146503" y="48183"/>
                  <a:pt x="147076" y="45735"/>
                  <a:pt x="146346" y="43495"/>
                </a:cubicBezTo>
                <a:cubicBezTo>
                  <a:pt x="145617" y="41255"/>
                  <a:pt x="143716" y="39614"/>
                  <a:pt x="141372" y="39250"/>
                </a:cubicBezTo>
                <a:lnTo>
                  <a:pt x="99752" y="32634"/>
                </a:lnTo>
                <a:lnTo>
                  <a:pt x="80609" y="-492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6538913" y="5705475"/>
            <a:ext cx="3409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 vLLM Block Size 的整数倍作为 Chunk Size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06741" y="59721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0609" y="-4922"/>
                </a:moveTo>
                <a:cubicBezTo>
                  <a:pt x="79541" y="-7006"/>
                  <a:pt x="77379" y="-8334"/>
                  <a:pt x="75035" y="-8334"/>
                </a:cubicBezTo>
                <a:cubicBezTo>
                  <a:pt x="72691" y="-8334"/>
                  <a:pt x="70530" y="-7006"/>
                  <a:pt x="69462" y="-4922"/>
                </a:cubicBezTo>
                <a:lnTo>
                  <a:pt x="50293" y="32634"/>
                </a:lnTo>
                <a:lnTo>
                  <a:pt x="8647" y="39250"/>
                </a:lnTo>
                <a:cubicBezTo>
                  <a:pt x="6329" y="39614"/>
                  <a:pt x="4402" y="41255"/>
                  <a:pt x="3672" y="43495"/>
                </a:cubicBezTo>
                <a:cubicBezTo>
                  <a:pt x="2943" y="45735"/>
                  <a:pt x="3542" y="48183"/>
                  <a:pt x="5183" y="49850"/>
                </a:cubicBezTo>
                <a:lnTo>
                  <a:pt x="34978" y="79671"/>
                </a:lnTo>
                <a:lnTo>
                  <a:pt x="28415" y="121317"/>
                </a:lnTo>
                <a:cubicBezTo>
                  <a:pt x="28050" y="123635"/>
                  <a:pt x="29014" y="125979"/>
                  <a:pt x="30915" y="127360"/>
                </a:cubicBezTo>
                <a:cubicBezTo>
                  <a:pt x="32817" y="128740"/>
                  <a:pt x="35317" y="128948"/>
                  <a:pt x="37427" y="127881"/>
                </a:cubicBezTo>
                <a:lnTo>
                  <a:pt x="75035" y="108764"/>
                </a:lnTo>
                <a:lnTo>
                  <a:pt x="112618" y="127881"/>
                </a:lnTo>
                <a:cubicBezTo>
                  <a:pt x="114702" y="128948"/>
                  <a:pt x="117228" y="128740"/>
                  <a:pt x="119129" y="127360"/>
                </a:cubicBezTo>
                <a:cubicBezTo>
                  <a:pt x="121031" y="125979"/>
                  <a:pt x="121994" y="123661"/>
                  <a:pt x="121630" y="121317"/>
                </a:cubicBezTo>
                <a:lnTo>
                  <a:pt x="115040" y="79671"/>
                </a:lnTo>
                <a:lnTo>
                  <a:pt x="144836" y="49850"/>
                </a:lnTo>
                <a:cubicBezTo>
                  <a:pt x="146503" y="48183"/>
                  <a:pt x="147076" y="45735"/>
                  <a:pt x="146346" y="43495"/>
                </a:cubicBezTo>
                <a:cubicBezTo>
                  <a:pt x="145617" y="41255"/>
                  <a:pt x="143716" y="39614"/>
                  <a:pt x="141372" y="39250"/>
                </a:cubicBezTo>
                <a:lnTo>
                  <a:pt x="99752" y="32634"/>
                </a:lnTo>
                <a:lnTo>
                  <a:pt x="80609" y="-492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6538913" y="5934075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服务启动时预热高频前缀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06741" y="62007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0609" y="-4922"/>
                </a:moveTo>
                <a:cubicBezTo>
                  <a:pt x="79541" y="-7006"/>
                  <a:pt x="77379" y="-8334"/>
                  <a:pt x="75035" y="-8334"/>
                </a:cubicBezTo>
                <a:cubicBezTo>
                  <a:pt x="72691" y="-8334"/>
                  <a:pt x="70530" y="-7006"/>
                  <a:pt x="69462" y="-4922"/>
                </a:cubicBezTo>
                <a:lnTo>
                  <a:pt x="50293" y="32634"/>
                </a:lnTo>
                <a:lnTo>
                  <a:pt x="8647" y="39250"/>
                </a:lnTo>
                <a:cubicBezTo>
                  <a:pt x="6329" y="39614"/>
                  <a:pt x="4402" y="41255"/>
                  <a:pt x="3672" y="43495"/>
                </a:cubicBezTo>
                <a:cubicBezTo>
                  <a:pt x="2943" y="45735"/>
                  <a:pt x="3542" y="48183"/>
                  <a:pt x="5183" y="49850"/>
                </a:cubicBezTo>
                <a:lnTo>
                  <a:pt x="34978" y="79671"/>
                </a:lnTo>
                <a:lnTo>
                  <a:pt x="28415" y="121317"/>
                </a:lnTo>
                <a:cubicBezTo>
                  <a:pt x="28050" y="123635"/>
                  <a:pt x="29014" y="125979"/>
                  <a:pt x="30915" y="127360"/>
                </a:cubicBezTo>
                <a:cubicBezTo>
                  <a:pt x="32817" y="128740"/>
                  <a:pt x="35317" y="128948"/>
                  <a:pt x="37427" y="127881"/>
                </a:cubicBezTo>
                <a:lnTo>
                  <a:pt x="75035" y="108764"/>
                </a:lnTo>
                <a:lnTo>
                  <a:pt x="112618" y="127881"/>
                </a:lnTo>
                <a:cubicBezTo>
                  <a:pt x="114702" y="128948"/>
                  <a:pt x="117228" y="128740"/>
                  <a:pt x="119129" y="127360"/>
                </a:cubicBezTo>
                <a:cubicBezTo>
                  <a:pt x="121031" y="125979"/>
                  <a:pt x="121994" y="123661"/>
                  <a:pt x="121630" y="121317"/>
                </a:cubicBezTo>
                <a:lnTo>
                  <a:pt x="115040" y="79671"/>
                </a:lnTo>
                <a:lnTo>
                  <a:pt x="144836" y="49850"/>
                </a:lnTo>
                <a:cubicBezTo>
                  <a:pt x="146503" y="48183"/>
                  <a:pt x="147076" y="45735"/>
                  <a:pt x="146346" y="43495"/>
                </a:cubicBezTo>
                <a:cubicBezTo>
                  <a:pt x="145617" y="41255"/>
                  <a:pt x="143716" y="39614"/>
                  <a:pt x="141372" y="39250"/>
                </a:cubicBezTo>
                <a:lnTo>
                  <a:pt x="99752" y="32634"/>
                </a:lnTo>
                <a:lnTo>
                  <a:pt x="80609" y="-492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6538913" y="6162675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监控缓存命中率和内存使用情况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385763" y="1094184"/>
            <a:ext cx="2305050" cy="390525"/>
          </a:xfrm>
          <a:custGeom>
            <a:avLst/>
            <a:gdLst/>
            <a:ahLst/>
            <a:cxnLst/>
            <a:rect l="l" t="t" r="r" b="b"/>
            <a:pathLst>
              <a:path w="2305050" h="390525">
                <a:moveTo>
                  <a:pt x="76199" y="0"/>
                </a:moveTo>
                <a:lnTo>
                  <a:pt x="2228851" y="0"/>
                </a:lnTo>
                <a:cubicBezTo>
                  <a:pt x="2270934" y="0"/>
                  <a:pt x="2305050" y="34116"/>
                  <a:pt x="2305050" y="76199"/>
                </a:cubicBezTo>
                <a:lnTo>
                  <a:pt x="2305050" y="314326"/>
                </a:lnTo>
                <a:cubicBezTo>
                  <a:pt x="2305050" y="356409"/>
                  <a:pt x="2270934" y="390525"/>
                  <a:pt x="22288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 w="127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1175147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&amp; FUTURE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03772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2332434"/>
            <a:ext cx="5629275" cy="2466975"/>
          </a:xfrm>
          <a:custGeom>
            <a:avLst/>
            <a:gdLst/>
            <a:ahLst/>
            <a:cxnLst/>
            <a:rect l="l" t="t" r="r" b="b"/>
            <a:pathLst>
              <a:path w="5629275" h="2466975">
                <a:moveTo>
                  <a:pt x="76205" y="0"/>
                </a:moveTo>
                <a:lnTo>
                  <a:pt x="5553070" y="0"/>
                </a:lnTo>
                <a:cubicBezTo>
                  <a:pt x="5595129" y="0"/>
                  <a:pt x="5629275" y="34146"/>
                  <a:pt x="5629275" y="76205"/>
                </a:cubicBezTo>
                <a:lnTo>
                  <a:pt x="5629275" y="2390770"/>
                </a:lnTo>
                <a:cubicBezTo>
                  <a:pt x="5629275" y="2432857"/>
                  <a:pt x="5595157" y="2466975"/>
                  <a:pt x="5553070" y="2466975"/>
                </a:cubicBezTo>
                <a:lnTo>
                  <a:pt x="76205" y="2466975"/>
                </a:lnTo>
                <a:cubicBezTo>
                  <a:pt x="34118" y="2466975"/>
                  <a:pt x="0" y="2432857"/>
                  <a:pt x="0" y="23907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566738" y="252769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3421" y="12576"/>
                </a:moveTo>
                <a:cubicBezTo>
                  <a:pt x="45095" y="10306"/>
                  <a:pt x="47774" y="8930"/>
                  <a:pt x="50602" y="8930"/>
                </a:cubicBezTo>
                <a:lnTo>
                  <a:pt x="139898" y="8930"/>
                </a:lnTo>
                <a:cubicBezTo>
                  <a:pt x="142726" y="8930"/>
                  <a:pt x="145405" y="10269"/>
                  <a:pt x="147079" y="12576"/>
                </a:cubicBezTo>
                <a:lnTo>
                  <a:pt x="188751" y="69131"/>
                </a:lnTo>
                <a:cubicBezTo>
                  <a:pt x="191281" y="72554"/>
                  <a:pt x="191021" y="77279"/>
                  <a:pt x="188193" y="80442"/>
                </a:cubicBezTo>
                <a:lnTo>
                  <a:pt x="101873" y="175692"/>
                </a:lnTo>
                <a:cubicBezTo>
                  <a:pt x="100199" y="177552"/>
                  <a:pt x="97780" y="178631"/>
                  <a:pt x="95250" y="178631"/>
                </a:cubicBezTo>
                <a:cubicBezTo>
                  <a:pt x="92720" y="178631"/>
                  <a:pt x="90339" y="177552"/>
                  <a:pt x="88627" y="175692"/>
                </a:cubicBezTo>
                <a:lnTo>
                  <a:pt x="2307" y="80442"/>
                </a:lnTo>
                <a:cubicBezTo>
                  <a:pt x="-558" y="77279"/>
                  <a:pt x="-781" y="72554"/>
                  <a:pt x="1749" y="69131"/>
                </a:cubicBezTo>
                <a:lnTo>
                  <a:pt x="43421" y="12576"/>
                </a:lnTo>
                <a:close/>
                <a:moveTo>
                  <a:pt x="57745" y="27384"/>
                </a:moveTo>
                <a:cubicBezTo>
                  <a:pt x="56517" y="28315"/>
                  <a:pt x="56183" y="29989"/>
                  <a:pt x="56964" y="31291"/>
                </a:cubicBezTo>
                <a:lnTo>
                  <a:pt x="78321" y="66898"/>
                </a:lnTo>
                <a:lnTo>
                  <a:pt x="23552" y="71438"/>
                </a:lnTo>
                <a:cubicBezTo>
                  <a:pt x="22027" y="71549"/>
                  <a:pt x="20836" y="72851"/>
                  <a:pt x="20836" y="74414"/>
                </a:cubicBezTo>
                <a:cubicBezTo>
                  <a:pt x="20836" y="75977"/>
                  <a:pt x="22027" y="77242"/>
                  <a:pt x="23552" y="77391"/>
                </a:cubicBezTo>
                <a:lnTo>
                  <a:pt x="94990" y="83344"/>
                </a:lnTo>
                <a:cubicBezTo>
                  <a:pt x="95138" y="83344"/>
                  <a:pt x="95324" y="83344"/>
                  <a:pt x="95473" y="83344"/>
                </a:cubicBezTo>
                <a:lnTo>
                  <a:pt x="166911" y="77391"/>
                </a:lnTo>
                <a:cubicBezTo>
                  <a:pt x="168436" y="77279"/>
                  <a:pt x="169627" y="75977"/>
                  <a:pt x="169627" y="74414"/>
                </a:cubicBezTo>
                <a:cubicBezTo>
                  <a:pt x="169627" y="72851"/>
                  <a:pt x="168436" y="71586"/>
                  <a:pt x="166911" y="71438"/>
                </a:cubicBezTo>
                <a:lnTo>
                  <a:pt x="112142" y="66861"/>
                </a:lnTo>
                <a:lnTo>
                  <a:pt x="133499" y="31291"/>
                </a:lnTo>
                <a:cubicBezTo>
                  <a:pt x="134280" y="29989"/>
                  <a:pt x="133945" y="28277"/>
                  <a:pt x="132717" y="27384"/>
                </a:cubicBezTo>
                <a:cubicBezTo>
                  <a:pt x="131490" y="26491"/>
                  <a:pt x="129778" y="26640"/>
                  <a:pt x="128736" y="27756"/>
                </a:cubicBezTo>
                <a:lnTo>
                  <a:pt x="95250" y="64071"/>
                </a:lnTo>
                <a:lnTo>
                  <a:pt x="61726" y="27756"/>
                </a:lnTo>
                <a:cubicBezTo>
                  <a:pt x="60685" y="26640"/>
                  <a:pt x="58973" y="26491"/>
                  <a:pt x="57745" y="27384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57250" y="2489597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2925" y="288964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514350" y="2889647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7725" y="2870597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自动前缀识别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47725" y="3061097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无需手动声明，系统自动发现和复用共享前缀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2925" y="334684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14350" y="3346847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7725" y="3327797"/>
            <a:ext cx="2305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高效查找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47725" y="3518297"/>
            <a:ext cx="2305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O(m) 时间复杂度的最长前缀匹配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2925" y="380404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514350" y="3804047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7725" y="3784997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细粒度管理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47725" y="3975497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支持任意位置的前缀分支和复用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2925" y="426124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514350" y="4261247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47725" y="4242197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动态适应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47725" y="4432697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 LRU 淘汰自动适应工作负载变化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81725" y="2337197"/>
            <a:ext cx="5619750" cy="2457450"/>
          </a:xfrm>
          <a:custGeom>
            <a:avLst/>
            <a:gdLst/>
            <a:ahLst/>
            <a:cxnLst/>
            <a:rect l="l" t="t" r="r" b="b"/>
            <a:pathLst>
              <a:path w="5619750" h="2457450">
                <a:moveTo>
                  <a:pt x="76206" y="0"/>
                </a:moveTo>
                <a:lnTo>
                  <a:pt x="5543544" y="0"/>
                </a:lnTo>
                <a:cubicBezTo>
                  <a:pt x="5585632" y="0"/>
                  <a:pt x="5619750" y="34118"/>
                  <a:pt x="5619750" y="76206"/>
                </a:cubicBezTo>
                <a:lnTo>
                  <a:pt x="5619750" y="2381244"/>
                </a:lnTo>
                <a:cubicBezTo>
                  <a:pt x="5619750" y="2423332"/>
                  <a:pt x="5585632" y="2457450"/>
                  <a:pt x="5543544" y="2457450"/>
                </a:cubicBezTo>
                <a:lnTo>
                  <a:pt x="76206" y="2457450"/>
                </a:lnTo>
                <a:cubicBezTo>
                  <a:pt x="34118" y="2457450"/>
                  <a:pt x="0" y="2423332"/>
                  <a:pt x="0" y="238124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D4A2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4"/>
          <p:cNvSpPr/>
          <p:nvPr/>
        </p:nvSpPr>
        <p:spPr>
          <a:xfrm>
            <a:off x="6367463" y="253722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6657975" y="2499122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未来发展方向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62700" y="291822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6586538" y="2880122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跨模态 KV Cache 复用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586538" y="3070622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视觉-语言模型中图像 token 的缓存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62700" y="337542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6586538" y="3337322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语义级缓存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586538" y="3527822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基于语义相似度而非精确匹配的缓存策略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62700" y="383262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6586538" y="3794522"/>
            <a:ext cx="270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分布式 Radix Tree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586538" y="3985022"/>
            <a:ext cx="270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支持多节点协同的全局 KV Cache 管理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362700" y="428982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6"/>
          <p:cNvSpPr/>
          <p:nvPr/>
        </p:nvSpPr>
        <p:spPr>
          <a:xfrm>
            <a:off x="6586538" y="4251722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硬件加速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586538" y="4442222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利用专用硬件加速 Radix Tree 操作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400050" y="4956572"/>
            <a:ext cx="11410950" cy="581025"/>
          </a:xfrm>
          <a:custGeom>
            <a:avLst/>
            <a:gdLst/>
            <a:ahLst/>
            <a:cxnLst/>
            <a:rect l="l" t="t" r="r" b="b"/>
            <a:pathLst>
              <a:path w="11410950" h="581025">
                <a:moveTo>
                  <a:pt x="38100" y="0"/>
                </a:moveTo>
                <a:lnTo>
                  <a:pt x="11334749" y="0"/>
                </a:lnTo>
                <a:cubicBezTo>
                  <a:pt x="11376805" y="0"/>
                  <a:pt x="11410950" y="34145"/>
                  <a:pt x="11410950" y="76201"/>
                </a:cubicBezTo>
                <a:lnTo>
                  <a:pt x="11410950" y="504824"/>
                </a:lnTo>
                <a:cubicBezTo>
                  <a:pt x="11410950" y="546880"/>
                  <a:pt x="11376805" y="581025"/>
                  <a:pt x="11334749" y="581025"/>
                </a:cubicBezTo>
                <a:lnTo>
                  <a:pt x="38100" y="581025"/>
                </a:lnTo>
                <a:cubicBezTo>
                  <a:pt x="17072" y="581025"/>
                  <a:pt x="0" y="563953"/>
                  <a:pt x="0" y="542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9"/>
          <p:cNvSpPr/>
          <p:nvPr/>
        </p:nvSpPr>
        <p:spPr>
          <a:xfrm>
            <a:off x="400050" y="4956572"/>
            <a:ext cx="38100" cy="581025"/>
          </a:xfrm>
          <a:custGeom>
            <a:avLst/>
            <a:gdLst/>
            <a:ahLst/>
            <a:cxnLst/>
            <a:rect l="l" t="t" r="r" b="b"/>
            <a:pathLst>
              <a:path w="38100" h="581025">
                <a:moveTo>
                  <a:pt x="38100" y="0"/>
                </a:moveTo>
                <a:lnTo>
                  <a:pt x="38100" y="0"/>
                </a:lnTo>
                <a:lnTo>
                  <a:pt x="38100" y="581025"/>
                </a:lnTo>
                <a:lnTo>
                  <a:pt x="38100" y="581025"/>
                </a:lnTo>
                <a:cubicBezTo>
                  <a:pt x="17072" y="581025"/>
                  <a:pt x="0" y="563953"/>
                  <a:pt x="0" y="542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0"/>
          <p:cNvSpPr/>
          <p:nvPr/>
        </p:nvSpPr>
        <p:spPr>
          <a:xfrm>
            <a:off x="528638" y="5108972"/>
            <a:ext cx="111728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b="1" dirty="0">
                <a:solidFill>
                  <a:srgbClr val="D4A2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RadixAttention</a:t>
            </a:r>
            <a:r>
              <a:rPr lang="en-US" sz="1350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通过创新性地将 Radix Tree 应用于 KV Cache 管理，为 LLM 推理优化开辟了新的方向，显著提升了系统性能和资源利用效率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4194497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2"/>
          <p:cNvSpPr/>
          <p:nvPr/>
        </p:nvSpPr>
        <p:spPr>
          <a:xfrm>
            <a:off x="4442147" y="6248400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KV Cache 优化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5833244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3813" y="30956"/>
                </a:moveTo>
                <a:cubicBezTo>
                  <a:pt x="27755" y="30956"/>
                  <a:pt x="30956" y="27755"/>
                  <a:pt x="30956" y="23813"/>
                </a:cubicBezTo>
                <a:cubicBezTo>
                  <a:pt x="30956" y="19870"/>
                  <a:pt x="27755" y="16669"/>
                  <a:pt x="23813" y="16669"/>
                </a:cubicBezTo>
                <a:cubicBezTo>
                  <a:pt x="19870" y="16669"/>
                  <a:pt x="16669" y="19870"/>
                  <a:pt x="16669" y="23813"/>
                </a:cubicBezTo>
                <a:cubicBezTo>
                  <a:pt x="16669" y="27755"/>
                  <a:pt x="19870" y="30956"/>
                  <a:pt x="23813" y="30956"/>
                </a:cubicBezTo>
                <a:close/>
                <a:moveTo>
                  <a:pt x="47625" y="23813"/>
                </a:moveTo>
                <a:cubicBezTo>
                  <a:pt x="47625" y="33576"/>
                  <a:pt x="41761" y="41970"/>
                  <a:pt x="33338" y="45631"/>
                </a:cubicBezTo>
                <a:lnTo>
                  <a:pt x="33338" y="66675"/>
                </a:lnTo>
                <a:lnTo>
                  <a:pt x="85725" y="66675"/>
                </a:lnTo>
                <a:cubicBezTo>
                  <a:pt x="93613" y="66675"/>
                  <a:pt x="100013" y="60275"/>
                  <a:pt x="100013" y="52388"/>
                </a:cubicBezTo>
                <a:lnTo>
                  <a:pt x="100013" y="45631"/>
                </a:lnTo>
                <a:cubicBezTo>
                  <a:pt x="91589" y="41970"/>
                  <a:pt x="85725" y="33576"/>
                  <a:pt x="85725" y="23813"/>
                </a:cubicBezTo>
                <a:cubicBezTo>
                  <a:pt x="85725" y="10656"/>
                  <a:pt x="96381" y="0"/>
                  <a:pt x="109537" y="0"/>
                </a:cubicBezTo>
                <a:cubicBezTo>
                  <a:pt x="122694" y="0"/>
                  <a:pt x="133350" y="10656"/>
                  <a:pt x="133350" y="23813"/>
                </a:cubicBezTo>
                <a:cubicBezTo>
                  <a:pt x="133350" y="33576"/>
                  <a:pt x="127486" y="41970"/>
                  <a:pt x="119062" y="45631"/>
                </a:cubicBezTo>
                <a:lnTo>
                  <a:pt x="119062" y="52388"/>
                </a:lnTo>
                <a:cubicBezTo>
                  <a:pt x="119062" y="70812"/>
                  <a:pt x="104150" y="85725"/>
                  <a:pt x="85725" y="85725"/>
                </a:cubicBezTo>
                <a:lnTo>
                  <a:pt x="33338" y="85725"/>
                </a:lnTo>
                <a:lnTo>
                  <a:pt x="33338" y="106769"/>
                </a:lnTo>
                <a:cubicBezTo>
                  <a:pt x="41761" y="110430"/>
                  <a:pt x="47625" y="118824"/>
                  <a:pt x="47625" y="128588"/>
                </a:cubicBezTo>
                <a:cubicBezTo>
                  <a:pt x="47625" y="141744"/>
                  <a:pt x="36969" y="152400"/>
                  <a:pt x="23813" y="152400"/>
                </a:cubicBezTo>
                <a:cubicBezTo>
                  <a:pt x="10656" y="152400"/>
                  <a:pt x="0" y="141744"/>
                  <a:pt x="0" y="128588"/>
                </a:cubicBezTo>
                <a:cubicBezTo>
                  <a:pt x="0" y="118824"/>
                  <a:pt x="5864" y="110430"/>
                  <a:pt x="14288" y="106769"/>
                </a:cubicBezTo>
                <a:lnTo>
                  <a:pt x="14288" y="45660"/>
                </a:lnTo>
                <a:cubicBezTo>
                  <a:pt x="5864" y="41970"/>
                  <a:pt x="0" y="33576"/>
                  <a:pt x="0" y="23813"/>
                </a:cubicBezTo>
                <a:cubicBezTo>
                  <a:pt x="0" y="10656"/>
                  <a:pt x="10656" y="0"/>
                  <a:pt x="23813" y="0"/>
                </a:cubicBezTo>
                <a:cubicBezTo>
                  <a:pt x="36969" y="0"/>
                  <a:pt x="47625" y="10656"/>
                  <a:pt x="47625" y="23813"/>
                </a:cubicBezTo>
                <a:close/>
                <a:moveTo>
                  <a:pt x="116681" y="23813"/>
                </a:moveTo>
                <a:cubicBezTo>
                  <a:pt x="116681" y="19870"/>
                  <a:pt x="113480" y="16669"/>
                  <a:pt x="109537" y="16669"/>
                </a:cubicBezTo>
                <a:cubicBezTo>
                  <a:pt x="105595" y="16669"/>
                  <a:pt x="102394" y="19870"/>
                  <a:pt x="102394" y="23813"/>
                </a:cubicBezTo>
                <a:cubicBezTo>
                  <a:pt x="102394" y="27755"/>
                  <a:pt x="105595" y="30956"/>
                  <a:pt x="109537" y="30956"/>
                </a:cubicBezTo>
                <a:cubicBezTo>
                  <a:pt x="113480" y="30956"/>
                  <a:pt x="116681" y="27755"/>
                  <a:pt x="116681" y="23813"/>
                </a:cubicBezTo>
                <a:close/>
                <a:moveTo>
                  <a:pt x="23813" y="135731"/>
                </a:moveTo>
                <a:cubicBezTo>
                  <a:pt x="27755" y="135731"/>
                  <a:pt x="30956" y="132530"/>
                  <a:pt x="30956" y="128588"/>
                </a:cubicBezTo>
                <a:cubicBezTo>
                  <a:pt x="30956" y="124645"/>
                  <a:pt x="27755" y="121444"/>
                  <a:pt x="23813" y="121444"/>
                </a:cubicBezTo>
                <a:cubicBezTo>
                  <a:pt x="19870" y="121444"/>
                  <a:pt x="16669" y="124645"/>
                  <a:pt x="16669" y="128588"/>
                </a:cubicBezTo>
                <a:cubicBezTo>
                  <a:pt x="16669" y="132530"/>
                  <a:pt x="19870" y="135731"/>
                  <a:pt x="23813" y="13573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4"/>
          <p:cNvSpPr/>
          <p:nvPr/>
        </p:nvSpPr>
        <p:spPr>
          <a:xfrm>
            <a:off x="6071369" y="62484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Radix Tree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168753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6"/>
          <p:cNvSpPr/>
          <p:nvPr/>
        </p:nvSpPr>
        <p:spPr>
          <a:xfrm>
            <a:off x="7406878" y="62484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推理加速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3926</Words>
  <Application>Microsoft Macintosh PowerPoint</Application>
  <PresentationFormat>宽屏</PresentationFormat>
  <Paragraphs>963</Paragraphs>
  <Slides>36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2" baseType="lpstr">
      <vt:lpstr>Arial</vt:lpstr>
      <vt:lpstr>MiSans</vt:lpstr>
      <vt:lpstr>Quattrocento Sans</vt:lpstr>
      <vt:lpstr>微软雅黑</vt:lpstr>
      <vt:lpstr>Noto Sans SC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RadixAttention 技术详解</dc:title>
  <dc:subject>RadixAttention 技术详解</dc:subject>
  <dc:creator>Kimi</dc:creator>
  <cp:lastModifiedBy>王 天青</cp:lastModifiedBy>
  <cp:revision>6</cp:revision>
  <dcterms:created xsi:type="dcterms:W3CDTF">2026-04-08T03:49:20Z</dcterms:created>
  <dcterms:modified xsi:type="dcterms:W3CDTF">2026-04-08T03:55:08Z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{"Label":"RadixAttention 技术详解","ContentProducer":"001191110108MACG2KBH8F10000","ProduceID":"19d6b23c-dfd2-8095-8000-0000e0cffdf1","ReservedCode1":"","ContentPropagator":"001191110108MACG2KBH8F20000","PropagateID":"19d6b23c-dfd2-8095-8000-0000e0cffdf1","ReservedCode2":""}</vt:lpwstr>
  </property>
</Properties>
</file>