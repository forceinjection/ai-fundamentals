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Microsoft YaHei" panose="020B0503020204020204" pitchFamily="34" charset="-122"/>
      <p:regular r:id="rId17"/>
      <p:bold r:id="rId18"/>
    </p:embeddedFont>
    <p:embeddedFont>
      <p:font typeface="Liter" panose="02000503030000020004"/>
      <p:regular r:id="rId19"/>
    </p:embeddedFont>
    <p:embeddedFont>
      <p:font typeface="MiSans"/>
      <p:regular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438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5F7FA"/>
              </a:gs>
              <a:gs pos="100000">
                <a:srgbClr val="E8EDF2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https://kimi-web-img.moonshot.cn/img/images.stockcake.com/df1f89ce0af54f377345517540f9afa7f9840e3b.jpg"/>
          <p:cNvPicPr>
            <a:picLocks noChangeAspect="1"/>
          </p:cNvPicPr>
          <p:nvPr/>
        </p:nvPicPr>
        <p:blipFill>
          <a:blip r:embed="rId3">
            <a:alphaModFix amt="15000"/>
          </a:blip>
          <a:srcRect l="183" r="18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6A4F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527A8A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381000" y="1295400"/>
            <a:ext cx="2171700" cy="342900"/>
          </a:xfrm>
          <a:custGeom>
            <a:avLst/>
            <a:gdLst/>
            <a:ahLst/>
            <a:cxnLst/>
            <a:rect l="l" t="t" r="r" b="b"/>
            <a:pathLst>
              <a:path w="2171700" h="342900">
                <a:moveTo>
                  <a:pt x="171450" y="0"/>
                </a:moveTo>
                <a:lnTo>
                  <a:pt x="2000250" y="0"/>
                </a:lnTo>
                <a:cubicBezTo>
                  <a:pt x="2094876" y="0"/>
                  <a:pt x="2171700" y="76824"/>
                  <a:pt x="2171700" y="171450"/>
                </a:cubicBezTo>
                <a:lnTo>
                  <a:pt x="2171700" y="171450"/>
                </a:lnTo>
                <a:cubicBezTo>
                  <a:pt x="2171700" y="266076"/>
                  <a:pt x="2094876" y="342900"/>
                  <a:pt x="2000250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381000" y="1295400"/>
            <a:ext cx="2238375" cy="3429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5F7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NVIDIA DYNAMO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66900"/>
            <a:ext cx="760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KVBM 构建 LLM 推理的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dirty="0">
                <a:solidFill>
                  <a:srgbClr val="2D6A4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统一内存与分层存储底座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524250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>
                <a:moveTo>
                  <a:pt x="28575" y="0"/>
                </a:moveTo>
                <a:lnTo>
                  <a:pt x="885825" y="0"/>
                </a:lnTo>
                <a:cubicBezTo>
                  <a:pt x="901596" y="0"/>
                  <a:pt x="914400" y="12804"/>
                  <a:pt x="914400" y="28575"/>
                </a:cubicBezTo>
                <a:lnTo>
                  <a:pt x="914400" y="28575"/>
                </a:lnTo>
                <a:cubicBezTo>
                  <a:pt x="914400" y="44346"/>
                  <a:pt x="901596" y="57150"/>
                  <a:pt x="8858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381000" y="3810000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Block Manager (KVBM) 深度架构解析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与源码级全生命周期解构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5763" y="4738688"/>
            <a:ext cx="847725" cy="390525"/>
          </a:xfrm>
          <a:custGeom>
            <a:avLst/>
            <a:gdLst/>
            <a:ahLst/>
            <a:cxnLst/>
            <a:rect l="l" t="t" r="r" b="b"/>
            <a:pathLst>
              <a:path w="847725" h="390525">
                <a:moveTo>
                  <a:pt x="76199" y="0"/>
                </a:moveTo>
                <a:lnTo>
                  <a:pt x="771526" y="0"/>
                </a:lnTo>
                <a:cubicBezTo>
                  <a:pt x="813609" y="0"/>
                  <a:pt x="847725" y="34116"/>
                  <a:pt x="847725" y="76199"/>
                </a:cubicBezTo>
                <a:lnTo>
                  <a:pt x="847725" y="314326"/>
                </a:lnTo>
                <a:cubicBezTo>
                  <a:pt x="847725" y="356409"/>
                  <a:pt x="813609" y="390525"/>
                  <a:pt x="7715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D6A4F">
              <a:alpha val="10196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542925" y="4852988"/>
            <a:ext cx="60007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核心组件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395413" y="4738688"/>
            <a:ext cx="1114425" cy="390525"/>
          </a:xfrm>
          <a:custGeom>
            <a:avLst/>
            <a:gdLst/>
            <a:ahLst/>
            <a:cxnLst/>
            <a:rect l="l" t="t" r="r" b="b"/>
            <a:pathLst>
              <a:path w="1114425" h="390525">
                <a:moveTo>
                  <a:pt x="76199" y="0"/>
                </a:moveTo>
                <a:lnTo>
                  <a:pt x="1038226" y="0"/>
                </a:lnTo>
                <a:cubicBezTo>
                  <a:pt x="1080309" y="0"/>
                  <a:pt x="1114425" y="34116"/>
                  <a:pt x="1114425" y="76199"/>
                </a:cubicBezTo>
                <a:lnTo>
                  <a:pt x="1114425" y="314326"/>
                </a:lnTo>
                <a:cubicBezTo>
                  <a:pt x="1114425" y="356409"/>
                  <a:pt x="1080309" y="390525"/>
                  <a:pt x="10382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27A8A">
              <a:alpha val="10196"/>
            </a:srgbClr>
          </a:solidFill>
          <a:ln w="12700">
            <a:solidFill>
              <a:srgbClr val="527A8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552575" y="4852988"/>
            <a:ext cx="86677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架构深度解析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534400" y="2494583"/>
            <a:ext cx="2743200" cy="1438275"/>
          </a:xfrm>
          <a:custGeom>
            <a:avLst/>
            <a:gdLst/>
            <a:ahLst/>
            <a:cxnLst/>
            <a:rect l="l" t="t" r="r" b="b"/>
            <a:pathLst>
              <a:path w="2743200" h="1438275">
                <a:moveTo>
                  <a:pt x="719138" y="0"/>
                </a:moveTo>
                <a:lnTo>
                  <a:pt x="2024062" y="0"/>
                </a:lnTo>
                <a:cubicBezTo>
                  <a:pt x="2420965" y="0"/>
                  <a:pt x="2743200" y="322235"/>
                  <a:pt x="2743200" y="719138"/>
                </a:cubicBezTo>
                <a:lnTo>
                  <a:pt x="2743200" y="719138"/>
                </a:lnTo>
                <a:cubicBezTo>
                  <a:pt x="2743200" y="1116040"/>
                  <a:pt x="2420965" y="1438275"/>
                  <a:pt x="2024062" y="1438275"/>
                </a:cubicBezTo>
                <a:lnTo>
                  <a:pt x="719138" y="1438275"/>
                </a:lnTo>
                <a:cubicBezTo>
                  <a:pt x="322235" y="1438275"/>
                  <a:pt x="0" y="1116040"/>
                  <a:pt x="0" y="719138"/>
                </a:cubicBezTo>
                <a:lnTo>
                  <a:pt x="0" y="719138"/>
                </a:lnTo>
                <a:cubicBezTo>
                  <a:pt x="0" y="322235"/>
                  <a:pt x="322235" y="0"/>
                  <a:pt x="719137" y="0"/>
                </a:cubicBezTo>
                <a:close/>
              </a:path>
            </a:pathLst>
          </a:custGeom>
          <a:solidFill>
            <a:srgbClr val="2D6A4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" descr="https://kimi-web-img.moonshot.cn/img/www.nvidia.com/46311fff2becd58d86e4ce128390f64b2ba430e7.jpg"/>
          <p:cNvPicPr>
            <a:picLocks noChangeAspect="1"/>
          </p:cNvPicPr>
          <p:nvPr/>
        </p:nvPicPr>
        <p:blipFill>
          <a:blip r:embed="rId4"/>
          <a:srcRect t="66" b="66"/>
          <a:stretch/>
        </p:blipFill>
        <p:spPr>
          <a:xfrm>
            <a:off x="8534400" y="2494583"/>
            <a:ext cx="2743200" cy="1438275"/>
          </a:xfrm>
          <a:prstGeom prst="roundRect">
            <a:avLst>
              <a:gd name="adj" fmla="val 0"/>
            </a:avLst>
          </a:prstGeom>
        </p:spPr>
      </p:pic>
      <p:sp>
        <p:nvSpPr>
          <p:cNvPr id="16" name="Shape 12"/>
          <p:cNvSpPr/>
          <p:nvPr/>
        </p:nvSpPr>
        <p:spPr>
          <a:xfrm>
            <a:off x="381000" y="60531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27A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409575" y="6229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781050" y="621030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NVIDIA Dynamo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9852199" y="624840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Architecture Deep Dive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突破大模型推理显存墙的关键组件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00050" y="1143000"/>
            <a:ext cx="5600700" cy="2571750"/>
          </a:xfrm>
          <a:custGeom>
            <a:avLst/>
            <a:gdLst/>
            <a:ahLst/>
            <a:cxnLst/>
            <a:rect l="l" t="t" r="r" b="b"/>
            <a:pathLst>
              <a:path w="5600700" h="2571750">
                <a:moveTo>
                  <a:pt x="38100" y="0"/>
                </a:moveTo>
                <a:lnTo>
                  <a:pt x="5448298" y="0"/>
                </a:lnTo>
                <a:cubicBezTo>
                  <a:pt x="5532467" y="0"/>
                  <a:pt x="5600700" y="68233"/>
                  <a:pt x="5600700" y="152402"/>
                </a:cubicBezTo>
                <a:lnTo>
                  <a:pt x="5600700" y="2419348"/>
                </a:lnTo>
                <a:cubicBezTo>
                  <a:pt x="5600700" y="2503517"/>
                  <a:pt x="5532467" y="2571750"/>
                  <a:pt x="5448298" y="2571750"/>
                </a:cubicBezTo>
                <a:lnTo>
                  <a:pt x="38100" y="2571750"/>
                </a:lnTo>
                <a:cubicBezTo>
                  <a:pt x="17072" y="2571750"/>
                  <a:pt x="0" y="2554678"/>
                  <a:pt x="0" y="2533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143000"/>
            <a:ext cx="38100" cy="2571750"/>
          </a:xfrm>
          <a:custGeom>
            <a:avLst/>
            <a:gdLst/>
            <a:ahLst/>
            <a:cxnLst/>
            <a:rect l="l" t="t" r="r" b="b"/>
            <a:pathLst>
              <a:path w="38100" h="2571750">
                <a:moveTo>
                  <a:pt x="38100" y="0"/>
                </a:moveTo>
                <a:lnTo>
                  <a:pt x="38100" y="0"/>
                </a:lnTo>
                <a:lnTo>
                  <a:pt x="38100" y="2571750"/>
                </a:lnTo>
                <a:lnTo>
                  <a:pt x="38100" y="2571750"/>
                </a:lnTo>
                <a:cubicBezTo>
                  <a:pt x="17072" y="2571750"/>
                  <a:pt x="0" y="2554678"/>
                  <a:pt x="0" y="2533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7700" y="137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12006" y="15335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16018" y="35719"/>
                  <a:pt x="0" y="51736"/>
                  <a:pt x="0" y="71438"/>
                </a:cubicBezTo>
                <a:lnTo>
                  <a:pt x="0" y="75567"/>
                </a:lnTo>
                <a:cubicBezTo>
                  <a:pt x="0" y="79363"/>
                  <a:pt x="2456" y="82600"/>
                  <a:pt x="5637" y="84665"/>
                </a:cubicBezTo>
                <a:cubicBezTo>
                  <a:pt x="13004" y="89464"/>
                  <a:pt x="17859" y="97724"/>
                  <a:pt x="17859" y="107156"/>
                </a:cubicBezTo>
                <a:cubicBezTo>
                  <a:pt x="17859" y="116588"/>
                  <a:pt x="13004" y="124848"/>
                  <a:pt x="5637" y="129648"/>
                </a:cubicBezTo>
                <a:cubicBezTo>
                  <a:pt x="2456" y="131713"/>
                  <a:pt x="0" y="134950"/>
                  <a:pt x="0" y="138745"/>
                </a:cubicBezTo>
                <a:lnTo>
                  <a:pt x="0" y="169664"/>
                </a:lnTo>
                <a:lnTo>
                  <a:pt x="285750" y="169664"/>
                </a:lnTo>
                <a:lnTo>
                  <a:pt x="285750" y="138745"/>
                </a:lnTo>
                <a:cubicBezTo>
                  <a:pt x="285750" y="134950"/>
                  <a:pt x="283294" y="131713"/>
                  <a:pt x="280113" y="129648"/>
                </a:cubicBezTo>
                <a:cubicBezTo>
                  <a:pt x="272746" y="124848"/>
                  <a:pt x="267891" y="116588"/>
                  <a:pt x="267891" y="107156"/>
                </a:cubicBezTo>
                <a:cubicBezTo>
                  <a:pt x="267891" y="97724"/>
                  <a:pt x="272746" y="89464"/>
                  <a:pt x="280113" y="84665"/>
                </a:cubicBezTo>
                <a:cubicBezTo>
                  <a:pt x="283294" y="82600"/>
                  <a:pt x="285750" y="79363"/>
                  <a:pt x="285750" y="75567"/>
                </a:cubicBezTo>
                <a:lnTo>
                  <a:pt x="285750" y="71437"/>
                </a:lnTo>
                <a:cubicBezTo>
                  <a:pt x="285750" y="51736"/>
                  <a:pt x="269732" y="35719"/>
                  <a:pt x="250031" y="35719"/>
                </a:cubicBezTo>
                <a:lnTo>
                  <a:pt x="35719" y="35719"/>
                </a:lnTo>
                <a:close/>
                <a:moveTo>
                  <a:pt x="285750" y="232172"/>
                </a:moveTo>
                <a:lnTo>
                  <a:pt x="285750" y="196453"/>
                </a:lnTo>
                <a:lnTo>
                  <a:pt x="0" y="196453"/>
                </a:lnTo>
                <a:lnTo>
                  <a:pt x="0" y="232172"/>
                </a:lnTo>
                <a:cubicBezTo>
                  <a:pt x="0" y="242050"/>
                  <a:pt x="7981" y="250031"/>
                  <a:pt x="17859" y="250031"/>
                </a:cubicBezTo>
                <a:lnTo>
                  <a:pt x="53578" y="250031"/>
                </a:lnTo>
                <a:lnTo>
                  <a:pt x="53578" y="236637"/>
                </a:lnTo>
                <a:cubicBezTo>
                  <a:pt x="53578" y="229214"/>
                  <a:pt x="59550" y="223242"/>
                  <a:pt x="66973" y="223242"/>
                </a:cubicBezTo>
                <a:cubicBezTo>
                  <a:pt x="74395" y="223242"/>
                  <a:pt x="80367" y="229214"/>
                  <a:pt x="80367" y="236637"/>
                </a:cubicBezTo>
                <a:lnTo>
                  <a:pt x="80367" y="250031"/>
                </a:lnTo>
                <a:lnTo>
                  <a:pt x="129480" y="250031"/>
                </a:lnTo>
                <a:lnTo>
                  <a:pt x="129480" y="236637"/>
                </a:lnTo>
                <a:cubicBezTo>
                  <a:pt x="129480" y="229214"/>
                  <a:pt x="135452" y="223242"/>
                  <a:pt x="142875" y="223242"/>
                </a:cubicBezTo>
                <a:cubicBezTo>
                  <a:pt x="150298" y="223242"/>
                  <a:pt x="156270" y="229214"/>
                  <a:pt x="156270" y="236637"/>
                </a:cubicBezTo>
                <a:lnTo>
                  <a:pt x="156270" y="250031"/>
                </a:lnTo>
                <a:lnTo>
                  <a:pt x="205383" y="250031"/>
                </a:lnTo>
                <a:lnTo>
                  <a:pt x="205383" y="236637"/>
                </a:lnTo>
                <a:cubicBezTo>
                  <a:pt x="205383" y="229214"/>
                  <a:pt x="211355" y="223242"/>
                  <a:pt x="218777" y="223242"/>
                </a:cubicBezTo>
                <a:cubicBezTo>
                  <a:pt x="226200" y="223242"/>
                  <a:pt x="232172" y="229214"/>
                  <a:pt x="232172" y="236637"/>
                </a:cubicBezTo>
                <a:lnTo>
                  <a:pt x="232172" y="250031"/>
                </a:lnTo>
                <a:lnTo>
                  <a:pt x="267891" y="250031"/>
                </a:lnTo>
                <a:cubicBezTo>
                  <a:pt x="277769" y="250031"/>
                  <a:pt x="285750" y="242050"/>
                  <a:pt x="285750" y="232172"/>
                </a:cubicBezTo>
                <a:close/>
                <a:moveTo>
                  <a:pt x="89297" y="89297"/>
                </a:moveTo>
                <a:lnTo>
                  <a:pt x="89297" y="125016"/>
                </a:lnTo>
                <a:cubicBezTo>
                  <a:pt x="89297" y="134894"/>
                  <a:pt x="81316" y="142875"/>
                  <a:pt x="71438" y="142875"/>
                </a:cubicBezTo>
                <a:cubicBezTo>
                  <a:pt x="61559" y="142875"/>
                  <a:pt x="53578" y="134894"/>
                  <a:pt x="53578" y="125016"/>
                </a:cubicBezTo>
                <a:lnTo>
                  <a:pt x="53578" y="89297"/>
                </a:lnTo>
                <a:cubicBezTo>
                  <a:pt x="53578" y="79418"/>
                  <a:pt x="61559" y="71438"/>
                  <a:pt x="71438" y="71438"/>
                </a:cubicBezTo>
                <a:cubicBezTo>
                  <a:pt x="81316" y="71438"/>
                  <a:pt x="89297" y="79418"/>
                  <a:pt x="89297" y="89297"/>
                </a:cubicBezTo>
                <a:close/>
                <a:moveTo>
                  <a:pt x="160734" y="89297"/>
                </a:moveTo>
                <a:lnTo>
                  <a:pt x="160734" y="125016"/>
                </a:lnTo>
                <a:cubicBezTo>
                  <a:pt x="160734" y="134894"/>
                  <a:pt x="152753" y="142875"/>
                  <a:pt x="142875" y="142875"/>
                </a:cubicBezTo>
                <a:cubicBezTo>
                  <a:pt x="132997" y="142875"/>
                  <a:pt x="125016" y="134894"/>
                  <a:pt x="125016" y="125016"/>
                </a:cubicBezTo>
                <a:lnTo>
                  <a:pt x="125016" y="89297"/>
                </a:lnTo>
                <a:cubicBezTo>
                  <a:pt x="125016" y="79418"/>
                  <a:pt x="132997" y="71438"/>
                  <a:pt x="142875" y="71438"/>
                </a:cubicBezTo>
                <a:cubicBezTo>
                  <a:pt x="152753" y="71438"/>
                  <a:pt x="160734" y="79418"/>
                  <a:pt x="160734" y="89297"/>
                </a:cubicBezTo>
                <a:close/>
                <a:moveTo>
                  <a:pt x="232172" y="89297"/>
                </a:moveTo>
                <a:lnTo>
                  <a:pt x="232172" y="125016"/>
                </a:lnTo>
                <a:cubicBezTo>
                  <a:pt x="232172" y="134894"/>
                  <a:pt x="224191" y="142875"/>
                  <a:pt x="214313" y="142875"/>
                </a:cubicBezTo>
                <a:cubicBezTo>
                  <a:pt x="204434" y="142875"/>
                  <a:pt x="196453" y="134894"/>
                  <a:pt x="196453" y="125016"/>
                </a:cubicBezTo>
                <a:lnTo>
                  <a:pt x="196453" y="89297"/>
                </a:lnTo>
                <a:cubicBezTo>
                  <a:pt x="196453" y="79418"/>
                  <a:pt x="204434" y="71438"/>
                  <a:pt x="214313" y="71438"/>
                </a:cubicBezTo>
                <a:cubicBezTo>
                  <a:pt x="224191" y="71438"/>
                  <a:pt x="232172" y="79418"/>
                  <a:pt x="232172" y="892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09700" y="144780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统一内存 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09700" y="1714500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Memory 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2133600"/>
            <a:ext cx="5200650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提供跨越 </a:t>
            </a: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GPU 显存（HBM）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主机内存（Pinned Host Memory）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 SSD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及</a:t>
            </a: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远程存储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的统一访问接口，实现跨层级数据的无缝流转。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0300" y="1143000"/>
            <a:ext cx="5600700" cy="2571750"/>
          </a:xfrm>
          <a:custGeom>
            <a:avLst/>
            <a:gdLst/>
            <a:ahLst/>
            <a:cxnLst/>
            <a:rect l="l" t="t" r="r" b="b"/>
            <a:pathLst>
              <a:path w="5600700" h="2571750">
                <a:moveTo>
                  <a:pt x="38100" y="0"/>
                </a:moveTo>
                <a:lnTo>
                  <a:pt x="5448298" y="0"/>
                </a:lnTo>
                <a:cubicBezTo>
                  <a:pt x="5532467" y="0"/>
                  <a:pt x="5600700" y="68233"/>
                  <a:pt x="5600700" y="152402"/>
                </a:cubicBezTo>
                <a:lnTo>
                  <a:pt x="5600700" y="2419348"/>
                </a:lnTo>
                <a:cubicBezTo>
                  <a:pt x="5600700" y="2503517"/>
                  <a:pt x="5532467" y="2571750"/>
                  <a:pt x="5448298" y="2571750"/>
                </a:cubicBezTo>
                <a:lnTo>
                  <a:pt x="38100" y="2571750"/>
                </a:lnTo>
                <a:cubicBezTo>
                  <a:pt x="17072" y="2571750"/>
                  <a:pt x="0" y="2554678"/>
                  <a:pt x="0" y="2533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10300" y="1143000"/>
            <a:ext cx="38100" cy="2571750"/>
          </a:xfrm>
          <a:custGeom>
            <a:avLst/>
            <a:gdLst/>
            <a:ahLst/>
            <a:cxnLst/>
            <a:rect l="l" t="t" r="r" b="b"/>
            <a:pathLst>
              <a:path w="38100" h="2571750">
                <a:moveTo>
                  <a:pt x="38100" y="0"/>
                </a:moveTo>
                <a:lnTo>
                  <a:pt x="38100" y="0"/>
                </a:lnTo>
                <a:lnTo>
                  <a:pt x="38100" y="2571750"/>
                </a:lnTo>
                <a:lnTo>
                  <a:pt x="38100" y="2571750"/>
                </a:lnTo>
                <a:cubicBezTo>
                  <a:pt x="17072" y="2571750"/>
                  <a:pt x="0" y="2554678"/>
                  <a:pt x="0" y="2533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457950" y="137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27A8A"/>
              </a:gs>
              <a:gs pos="100000">
                <a:srgbClr val="6B8E9F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622256" y="15335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760" y="2902"/>
                </a:moveTo>
                <a:cubicBezTo>
                  <a:pt x="138075" y="-949"/>
                  <a:pt x="147675" y="-949"/>
                  <a:pt x="155990" y="2902"/>
                </a:cubicBezTo>
                <a:lnTo>
                  <a:pt x="277992" y="59271"/>
                </a:lnTo>
                <a:cubicBezTo>
                  <a:pt x="282736" y="61447"/>
                  <a:pt x="285750" y="66191"/>
                  <a:pt x="285750" y="71438"/>
                </a:cubicBezTo>
                <a:cubicBezTo>
                  <a:pt x="285750" y="76684"/>
                  <a:pt x="282736" y="81428"/>
                  <a:pt x="277992" y="83604"/>
                </a:cubicBezTo>
                <a:lnTo>
                  <a:pt x="155990" y="139973"/>
                </a:lnTo>
                <a:cubicBezTo>
                  <a:pt x="147675" y="143824"/>
                  <a:pt x="138075" y="143824"/>
                  <a:pt x="129760" y="139973"/>
                </a:cubicBezTo>
                <a:lnTo>
                  <a:pt x="7758" y="83604"/>
                </a:lnTo>
                <a:cubicBezTo>
                  <a:pt x="3014" y="81372"/>
                  <a:pt x="0" y="76628"/>
                  <a:pt x="0" y="71438"/>
                </a:cubicBezTo>
                <a:cubicBezTo>
                  <a:pt x="0" y="66247"/>
                  <a:pt x="3014" y="61447"/>
                  <a:pt x="7758" y="59271"/>
                </a:cubicBezTo>
                <a:lnTo>
                  <a:pt x="129760" y="2902"/>
                </a:lnTo>
                <a:close/>
                <a:moveTo>
                  <a:pt x="26845" y="121890"/>
                </a:moveTo>
                <a:lnTo>
                  <a:pt x="118542" y="164250"/>
                </a:lnTo>
                <a:cubicBezTo>
                  <a:pt x="134001" y="171394"/>
                  <a:pt x="151805" y="171394"/>
                  <a:pt x="167264" y="164250"/>
                </a:cubicBezTo>
                <a:lnTo>
                  <a:pt x="258961" y="121890"/>
                </a:lnTo>
                <a:lnTo>
                  <a:pt x="277992" y="130708"/>
                </a:lnTo>
                <a:cubicBezTo>
                  <a:pt x="282736" y="132885"/>
                  <a:pt x="285750" y="137629"/>
                  <a:pt x="285750" y="142875"/>
                </a:cubicBezTo>
                <a:cubicBezTo>
                  <a:pt x="285750" y="148121"/>
                  <a:pt x="282736" y="152865"/>
                  <a:pt x="277992" y="155042"/>
                </a:cubicBezTo>
                <a:lnTo>
                  <a:pt x="155990" y="211410"/>
                </a:lnTo>
                <a:cubicBezTo>
                  <a:pt x="147675" y="215261"/>
                  <a:pt x="138075" y="215261"/>
                  <a:pt x="129760" y="211410"/>
                </a:cubicBezTo>
                <a:lnTo>
                  <a:pt x="7758" y="155042"/>
                </a:lnTo>
                <a:cubicBezTo>
                  <a:pt x="3014" y="152809"/>
                  <a:pt x="0" y="148065"/>
                  <a:pt x="0" y="142875"/>
                </a:cubicBezTo>
                <a:cubicBezTo>
                  <a:pt x="0" y="137685"/>
                  <a:pt x="3014" y="132885"/>
                  <a:pt x="7758" y="130708"/>
                </a:cubicBezTo>
                <a:lnTo>
                  <a:pt x="26789" y="121890"/>
                </a:lnTo>
                <a:close/>
                <a:moveTo>
                  <a:pt x="7758" y="202146"/>
                </a:moveTo>
                <a:lnTo>
                  <a:pt x="26789" y="193328"/>
                </a:lnTo>
                <a:lnTo>
                  <a:pt x="118486" y="235688"/>
                </a:lnTo>
                <a:cubicBezTo>
                  <a:pt x="133945" y="242832"/>
                  <a:pt x="151749" y="242832"/>
                  <a:pt x="167208" y="235688"/>
                </a:cubicBezTo>
                <a:lnTo>
                  <a:pt x="258905" y="193328"/>
                </a:lnTo>
                <a:lnTo>
                  <a:pt x="277937" y="202146"/>
                </a:lnTo>
                <a:cubicBezTo>
                  <a:pt x="282680" y="204322"/>
                  <a:pt x="285694" y="209066"/>
                  <a:pt x="285694" y="214313"/>
                </a:cubicBezTo>
                <a:cubicBezTo>
                  <a:pt x="285694" y="219559"/>
                  <a:pt x="282680" y="224303"/>
                  <a:pt x="277937" y="226479"/>
                </a:cubicBezTo>
                <a:lnTo>
                  <a:pt x="155935" y="282848"/>
                </a:lnTo>
                <a:cubicBezTo>
                  <a:pt x="147619" y="286699"/>
                  <a:pt x="138019" y="286699"/>
                  <a:pt x="129704" y="282848"/>
                </a:cubicBezTo>
                <a:lnTo>
                  <a:pt x="7758" y="226479"/>
                </a:lnTo>
                <a:cubicBezTo>
                  <a:pt x="3014" y="224247"/>
                  <a:pt x="0" y="219503"/>
                  <a:pt x="0" y="214313"/>
                </a:cubicBezTo>
                <a:cubicBezTo>
                  <a:pt x="0" y="209122"/>
                  <a:pt x="3014" y="204322"/>
                  <a:pt x="7758" y="20214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219950" y="14478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分层存储管理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19950" y="171450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Tiering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7950" y="2133600"/>
            <a:ext cx="5200650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 </a:t>
            </a:r>
            <a:r>
              <a:rPr lang="en-US" sz="120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G1 到 G4 多级存储层级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，基于策略驱动动态数据迁移，根据访问频率和优先级智能调度数据在不同层级间的流动。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905250"/>
            <a:ext cx="5600700" cy="2571750"/>
          </a:xfrm>
          <a:custGeom>
            <a:avLst/>
            <a:gdLst/>
            <a:ahLst/>
            <a:cxnLst/>
            <a:rect l="l" t="t" r="r" b="b"/>
            <a:pathLst>
              <a:path w="5600700" h="2571750">
                <a:moveTo>
                  <a:pt x="38100" y="0"/>
                </a:moveTo>
                <a:lnTo>
                  <a:pt x="5448298" y="0"/>
                </a:lnTo>
                <a:cubicBezTo>
                  <a:pt x="5532467" y="0"/>
                  <a:pt x="5600700" y="68233"/>
                  <a:pt x="5600700" y="152402"/>
                </a:cubicBezTo>
                <a:lnTo>
                  <a:pt x="5600700" y="2419348"/>
                </a:lnTo>
                <a:cubicBezTo>
                  <a:pt x="5600700" y="2503517"/>
                  <a:pt x="5532467" y="2571750"/>
                  <a:pt x="5448298" y="2571750"/>
                </a:cubicBezTo>
                <a:lnTo>
                  <a:pt x="38100" y="2571750"/>
                </a:lnTo>
                <a:cubicBezTo>
                  <a:pt x="17072" y="2571750"/>
                  <a:pt x="0" y="2554678"/>
                  <a:pt x="0" y="2533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00050" y="3905250"/>
            <a:ext cx="38100" cy="2571750"/>
          </a:xfrm>
          <a:custGeom>
            <a:avLst/>
            <a:gdLst/>
            <a:ahLst/>
            <a:cxnLst/>
            <a:rect l="l" t="t" r="r" b="b"/>
            <a:pathLst>
              <a:path w="38100" h="2571750">
                <a:moveTo>
                  <a:pt x="38100" y="0"/>
                </a:moveTo>
                <a:lnTo>
                  <a:pt x="38100" y="0"/>
                </a:lnTo>
                <a:lnTo>
                  <a:pt x="38100" y="2571750"/>
                </a:lnTo>
                <a:lnTo>
                  <a:pt x="38100" y="2571750"/>
                </a:lnTo>
                <a:cubicBezTo>
                  <a:pt x="17072" y="2571750"/>
                  <a:pt x="0" y="2554678"/>
                  <a:pt x="0" y="2533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7700" y="4133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0916C"/>
              </a:gs>
              <a:gs pos="100000">
                <a:srgbClr val="52B788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12006" y="42957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946" y="107156"/>
                </a:moveTo>
                <a:lnTo>
                  <a:pt x="272355" y="107156"/>
                </a:lnTo>
                <a:cubicBezTo>
                  <a:pt x="279778" y="107156"/>
                  <a:pt x="285750" y="101185"/>
                  <a:pt x="285750" y="93762"/>
                </a:cubicBezTo>
                <a:lnTo>
                  <a:pt x="285750" y="13395"/>
                </a:lnTo>
                <a:cubicBezTo>
                  <a:pt x="285750" y="7981"/>
                  <a:pt x="282513" y="3070"/>
                  <a:pt x="277490" y="1005"/>
                </a:cubicBezTo>
                <a:cubicBezTo>
                  <a:pt x="272467" y="-1060"/>
                  <a:pt x="266719" y="112"/>
                  <a:pt x="262868" y="3907"/>
                </a:cubicBezTo>
                <a:lnTo>
                  <a:pt x="234014" y="32817"/>
                </a:lnTo>
                <a:cubicBezTo>
                  <a:pt x="209290" y="12334"/>
                  <a:pt x="177478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ubicBezTo>
                  <a:pt x="44202" y="75623"/>
                  <a:pt x="88906" y="35719"/>
                  <a:pt x="142875" y="35719"/>
                </a:cubicBezTo>
                <a:cubicBezTo>
                  <a:pt x="167655" y="35719"/>
                  <a:pt x="190426" y="44090"/>
                  <a:pt x="208564" y="58210"/>
                </a:cubicBezTo>
                <a:lnTo>
                  <a:pt x="182500" y="84274"/>
                </a:lnTo>
                <a:cubicBezTo>
                  <a:pt x="178650" y="88125"/>
                  <a:pt x="177533" y="93873"/>
                  <a:pt x="179598" y="98896"/>
                </a:cubicBezTo>
                <a:cubicBezTo>
                  <a:pt x="181663" y="103919"/>
                  <a:pt x="186575" y="107156"/>
                  <a:pt x="191988" y="107156"/>
                </a:cubicBezTo>
                <a:lnTo>
                  <a:pt x="267946" y="107156"/>
                </a:lnTo>
                <a:close/>
                <a:moveTo>
                  <a:pt x="284355" y="163246"/>
                </a:moveTo>
                <a:cubicBezTo>
                  <a:pt x="285750" y="153479"/>
                  <a:pt x="278941" y="144438"/>
                  <a:pt x="269230" y="143042"/>
                </a:cubicBezTo>
                <a:cubicBezTo>
                  <a:pt x="259519" y="141647"/>
                  <a:pt x="250422" y="148456"/>
                  <a:pt x="249027" y="158167"/>
                </a:cubicBezTo>
                <a:cubicBezTo>
                  <a:pt x="241604" y="210071"/>
                  <a:pt x="196900" y="249975"/>
                  <a:pt x="142931" y="249975"/>
                </a:cubicBezTo>
                <a:cubicBezTo>
                  <a:pt x="118151" y="249975"/>
                  <a:pt x="95380" y="241604"/>
                  <a:pt x="77242" y="227484"/>
                </a:cubicBezTo>
                <a:lnTo>
                  <a:pt x="103250" y="201476"/>
                </a:lnTo>
                <a:cubicBezTo>
                  <a:pt x="107100" y="197625"/>
                  <a:pt x="108217" y="191877"/>
                  <a:pt x="106152" y="186854"/>
                </a:cubicBezTo>
                <a:cubicBezTo>
                  <a:pt x="104087" y="181831"/>
                  <a:pt x="99175" y="178594"/>
                  <a:pt x="93762" y="178594"/>
                </a:cubicBezTo>
                <a:lnTo>
                  <a:pt x="13395" y="178594"/>
                </a:lnTo>
                <a:cubicBezTo>
                  <a:pt x="5972" y="178594"/>
                  <a:pt x="0" y="184565"/>
                  <a:pt x="0" y="191988"/>
                </a:cubicBezTo>
                <a:lnTo>
                  <a:pt x="0" y="272355"/>
                </a:lnTo>
                <a:cubicBezTo>
                  <a:pt x="0" y="277769"/>
                  <a:pt x="3237" y="282680"/>
                  <a:pt x="8260" y="284745"/>
                </a:cubicBezTo>
                <a:cubicBezTo>
                  <a:pt x="13283" y="286810"/>
                  <a:pt x="19031" y="285638"/>
                  <a:pt x="22882" y="281843"/>
                </a:cubicBezTo>
                <a:lnTo>
                  <a:pt x="51792" y="252933"/>
                </a:lnTo>
                <a:cubicBezTo>
                  <a:pt x="76460" y="273416"/>
                  <a:pt x="108272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409700" y="42100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块生命周期管理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09700" y="447675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 Lifecycle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700" y="4895850"/>
            <a:ext cx="5200650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依托</a:t>
            </a:r>
            <a:r>
              <a:rPr lang="en-US" sz="1200" b="1" dirty="0">
                <a:solidFill>
                  <a:srgbClr val="4091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严格状态机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 KV Block 的分配、注册与回收，确保极致内存安全，杜绝内存泄漏与状态冲突。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300" y="3905250"/>
            <a:ext cx="5600700" cy="2571750"/>
          </a:xfrm>
          <a:custGeom>
            <a:avLst/>
            <a:gdLst/>
            <a:ahLst/>
            <a:cxnLst/>
            <a:rect l="l" t="t" r="r" b="b"/>
            <a:pathLst>
              <a:path w="5600700" h="2571750">
                <a:moveTo>
                  <a:pt x="38100" y="0"/>
                </a:moveTo>
                <a:lnTo>
                  <a:pt x="5448298" y="0"/>
                </a:lnTo>
                <a:cubicBezTo>
                  <a:pt x="5532467" y="0"/>
                  <a:pt x="5600700" y="68233"/>
                  <a:pt x="5600700" y="152402"/>
                </a:cubicBezTo>
                <a:lnTo>
                  <a:pt x="5600700" y="2419348"/>
                </a:lnTo>
                <a:cubicBezTo>
                  <a:pt x="5600700" y="2503517"/>
                  <a:pt x="5532467" y="2571750"/>
                  <a:pt x="5448298" y="2571750"/>
                </a:cubicBezTo>
                <a:lnTo>
                  <a:pt x="38100" y="2571750"/>
                </a:lnTo>
                <a:cubicBezTo>
                  <a:pt x="17072" y="2571750"/>
                  <a:pt x="0" y="2554678"/>
                  <a:pt x="0" y="2533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210300" y="3905250"/>
            <a:ext cx="38100" cy="2571750"/>
          </a:xfrm>
          <a:custGeom>
            <a:avLst/>
            <a:gdLst/>
            <a:ahLst/>
            <a:cxnLst/>
            <a:rect l="l" t="t" r="r" b="b"/>
            <a:pathLst>
              <a:path w="38100" h="2571750">
                <a:moveTo>
                  <a:pt x="38100" y="0"/>
                </a:moveTo>
                <a:lnTo>
                  <a:pt x="38100" y="0"/>
                </a:lnTo>
                <a:lnTo>
                  <a:pt x="38100" y="2571750"/>
                </a:lnTo>
                <a:lnTo>
                  <a:pt x="38100" y="2571750"/>
                </a:lnTo>
                <a:cubicBezTo>
                  <a:pt x="17072" y="2571750"/>
                  <a:pt x="0" y="2554678"/>
                  <a:pt x="0" y="2533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57950" y="4133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527A8A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604397" y="42957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38410" y="49113"/>
                </a:moveTo>
                <a:lnTo>
                  <a:pt x="183059" y="49113"/>
                </a:lnTo>
                <a:lnTo>
                  <a:pt x="183059" y="75902"/>
                </a:lnTo>
                <a:lnTo>
                  <a:pt x="138410" y="75902"/>
                </a:lnTo>
                <a:lnTo>
                  <a:pt x="138410" y="49113"/>
                </a:lnTo>
                <a:close/>
                <a:moveTo>
                  <a:pt x="133945" y="17859"/>
                </a:moveTo>
                <a:cubicBezTo>
                  <a:pt x="119156" y="17859"/>
                  <a:pt x="107156" y="29859"/>
                  <a:pt x="107156" y="44648"/>
                </a:cubicBezTo>
                <a:lnTo>
                  <a:pt x="107156" y="80367"/>
                </a:lnTo>
                <a:cubicBezTo>
                  <a:pt x="107156" y="95157"/>
                  <a:pt x="119156" y="107156"/>
                  <a:pt x="133945" y="107156"/>
                </a:cubicBezTo>
                <a:lnTo>
                  <a:pt x="142875" y="107156"/>
                </a:lnTo>
                <a:lnTo>
                  <a:pt x="142875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71438" y="160734"/>
                </a:lnTo>
                <a:lnTo>
                  <a:pt x="71438" y="178594"/>
                </a:lnTo>
                <a:lnTo>
                  <a:pt x="62508" y="178594"/>
                </a:lnTo>
                <a:cubicBezTo>
                  <a:pt x="47718" y="178594"/>
                  <a:pt x="35719" y="190593"/>
                  <a:pt x="35719" y="205383"/>
                </a:cubicBezTo>
                <a:lnTo>
                  <a:pt x="35719" y="241102"/>
                </a:lnTo>
                <a:cubicBezTo>
                  <a:pt x="35719" y="255891"/>
                  <a:pt x="47718" y="267891"/>
                  <a:pt x="62508" y="267891"/>
                </a:cubicBezTo>
                <a:lnTo>
                  <a:pt x="116086" y="267891"/>
                </a:lnTo>
                <a:cubicBezTo>
                  <a:pt x="130876" y="267891"/>
                  <a:pt x="142875" y="255891"/>
                  <a:pt x="142875" y="241102"/>
                </a:cubicBezTo>
                <a:lnTo>
                  <a:pt x="142875" y="205383"/>
                </a:lnTo>
                <a:cubicBezTo>
                  <a:pt x="142875" y="190593"/>
                  <a:pt x="130876" y="178594"/>
                  <a:pt x="116086" y="178594"/>
                </a:cubicBezTo>
                <a:lnTo>
                  <a:pt x="107156" y="178594"/>
                </a:lnTo>
                <a:lnTo>
                  <a:pt x="107156" y="160734"/>
                </a:lnTo>
                <a:lnTo>
                  <a:pt x="214313" y="160734"/>
                </a:lnTo>
                <a:lnTo>
                  <a:pt x="214313" y="178594"/>
                </a:lnTo>
                <a:lnTo>
                  <a:pt x="205383" y="178594"/>
                </a:lnTo>
                <a:cubicBezTo>
                  <a:pt x="190593" y="178594"/>
                  <a:pt x="178594" y="190593"/>
                  <a:pt x="178594" y="205383"/>
                </a:cubicBezTo>
                <a:lnTo>
                  <a:pt x="178594" y="241102"/>
                </a:lnTo>
                <a:cubicBezTo>
                  <a:pt x="178594" y="255891"/>
                  <a:pt x="190593" y="267891"/>
                  <a:pt x="205383" y="267891"/>
                </a:cubicBezTo>
                <a:lnTo>
                  <a:pt x="258961" y="267891"/>
                </a:lnTo>
                <a:cubicBezTo>
                  <a:pt x="273751" y="267891"/>
                  <a:pt x="285750" y="255891"/>
                  <a:pt x="285750" y="241102"/>
                </a:cubicBezTo>
                <a:lnTo>
                  <a:pt x="285750" y="205383"/>
                </a:lnTo>
                <a:cubicBezTo>
                  <a:pt x="285750" y="190593"/>
                  <a:pt x="273751" y="178594"/>
                  <a:pt x="258961" y="178594"/>
                </a:cubicBezTo>
                <a:lnTo>
                  <a:pt x="250031" y="178594"/>
                </a:lnTo>
                <a:lnTo>
                  <a:pt x="250031" y="160734"/>
                </a:lnTo>
                <a:lnTo>
                  <a:pt x="303609" y="160734"/>
                </a:lnTo>
                <a:cubicBezTo>
                  <a:pt x="313488" y="160734"/>
                  <a:pt x="321469" y="152753"/>
                  <a:pt x="321469" y="142875"/>
                </a:cubicBezTo>
                <a:cubicBezTo>
                  <a:pt x="321469" y="132997"/>
                  <a:pt x="313488" y="125016"/>
                  <a:pt x="303609" y="125016"/>
                </a:cubicBezTo>
                <a:lnTo>
                  <a:pt x="178594" y="125016"/>
                </a:lnTo>
                <a:lnTo>
                  <a:pt x="178594" y="107156"/>
                </a:lnTo>
                <a:lnTo>
                  <a:pt x="187523" y="107156"/>
                </a:lnTo>
                <a:cubicBezTo>
                  <a:pt x="202313" y="107156"/>
                  <a:pt x="214313" y="95157"/>
                  <a:pt x="214313" y="80367"/>
                </a:cubicBezTo>
                <a:lnTo>
                  <a:pt x="214313" y="44648"/>
                </a:lnTo>
                <a:cubicBezTo>
                  <a:pt x="214313" y="29859"/>
                  <a:pt x="202313" y="17859"/>
                  <a:pt x="187523" y="17859"/>
                </a:cubicBezTo>
                <a:lnTo>
                  <a:pt x="133945" y="17859"/>
                </a:lnTo>
                <a:close/>
                <a:moveTo>
                  <a:pt x="250031" y="209848"/>
                </a:moveTo>
                <a:lnTo>
                  <a:pt x="254496" y="209848"/>
                </a:lnTo>
                <a:lnTo>
                  <a:pt x="254496" y="236637"/>
                </a:lnTo>
                <a:lnTo>
                  <a:pt x="209848" y="236637"/>
                </a:lnTo>
                <a:lnTo>
                  <a:pt x="209848" y="209848"/>
                </a:lnTo>
                <a:lnTo>
                  <a:pt x="250031" y="209848"/>
                </a:lnTo>
                <a:close/>
                <a:moveTo>
                  <a:pt x="107156" y="209848"/>
                </a:moveTo>
                <a:lnTo>
                  <a:pt x="111621" y="209848"/>
                </a:lnTo>
                <a:lnTo>
                  <a:pt x="111621" y="236637"/>
                </a:lnTo>
                <a:lnTo>
                  <a:pt x="66973" y="236637"/>
                </a:lnTo>
                <a:lnTo>
                  <a:pt x="66973" y="209848"/>
                </a:lnTo>
                <a:lnTo>
                  <a:pt x="107156" y="20984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219950" y="4210050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NIXL 集成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19950" y="447675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NIXL Integration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57950" y="4895850"/>
            <a:ext cx="5200650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 </a:t>
            </a: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NVIDIA Inference Transfer Library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 </a:t>
            </a: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GPU Direct Storage (GDS)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与 </a:t>
            </a: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RDMA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跨节点底层加速。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KVBM 构建了严格解耦的三层内存架构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00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00050" y="990600"/>
            <a:ext cx="3714750" cy="1724025"/>
          </a:xfrm>
          <a:custGeom>
            <a:avLst/>
            <a:gdLst/>
            <a:ahLst/>
            <a:cxnLst/>
            <a:rect l="l" t="t" r="r" b="b"/>
            <a:pathLst>
              <a:path w="3714750" h="1724025">
                <a:moveTo>
                  <a:pt x="38100" y="0"/>
                </a:moveTo>
                <a:lnTo>
                  <a:pt x="3600447" y="0"/>
                </a:lnTo>
                <a:cubicBezTo>
                  <a:pt x="3663533" y="0"/>
                  <a:pt x="3714750" y="51217"/>
                  <a:pt x="3714750" y="114303"/>
                </a:cubicBezTo>
                <a:lnTo>
                  <a:pt x="3714750" y="1609722"/>
                </a:lnTo>
                <a:cubicBezTo>
                  <a:pt x="3714750" y="1672808"/>
                  <a:pt x="3663533" y="1724025"/>
                  <a:pt x="3600447" y="1724025"/>
                </a:cubicBezTo>
                <a:lnTo>
                  <a:pt x="38100" y="1724025"/>
                </a:lnTo>
                <a:cubicBezTo>
                  <a:pt x="17058" y="1724025"/>
                  <a:pt x="0" y="1706967"/>
                  <a:pt x="0" y="1685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990600"/>
            <a:ext cx="38100" cy="1724025"/>
          </a:xfrm>
          <a:custGeom>
            <a:avLst/>
            <a:gdLst/>
            <a:ahLst/>
            <a:cxnLst/>
            <a:rect l="l" t="t" r="r" b="b"/>
            <a:pathLst>
              <a:path w="38100" h="1724025">
                <a:moveTo>
                  <a:pt x="38100" y="0"/>
                </a:moveTo>
                <a:lnTo>
                  <a:pt x="38100" y="0"/>
                </a:lnTo>
                <a:lnTo>
                  <a:pt x="38100" y="1724025"/>
                </a:lnTo>
                <a:lnTo>
                  <a:pt x="38100" y="1724025"/>
                </a:lnTo>
                <a:cubicBezTo>
                  <a:pt x="17072" y="1724025"/>
                  <a:pt x="0" y="1706953"/>
                  <a:pt x="0" y="1685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71500" y="114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8163" y="114300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116205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顶层 Runtime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524000"/>
            <a:ext cx="3467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将推理运行时的请求转换为底层 KVBM 的块操作，提供与上层推理框架的无缝集成接口。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870150"/>
            <a:ext cx="3714750" cy="1724025"/>
          </a:xfrm>
          <a:custGeom>
            <a:avLst/>
            <a:gdLst/>
            <a:ahLst/>
            <a:cxnLst/>
            <a:rect l="l" t="t" r="r" b="b"/>
            <a:pathLst>
              <a:path w="3714750" h="1724025">
                <a:moveTo>
                  <a:pt x="38100" y="0"/>
                </a:moveTo>
                <a:lnTo>
                  <a:pt x="3600447" y="0"/>
                </a:lnTo>
                <a:cubicBezTo>
                  <a:pt x="3663533" y="0"/>
                  <a:pt x="3714750" y="51217"/>
                  <a:pt x="3714750" y="114303"/>
                </a:cubicBezTo>
                <a:lnTo>
                  <a:pt x="3714750" y="1609722"/>
                </a:lnTo>
                <a:cubicBezTo>
                  <a:pt x="3714750" y="1672808"/>
                  <a:pt x="3663533" y="1724025"/>
                  <a:pt x="3600447" y="1724025"/>
                </a:cubicBezTo>
                <a:lnTo>
                  <a:pt x="38100" y="1724025"/>
                </a:lnTo>
                <a:cubicBezTo>
                  <a:pt x="17058" y="1724025"/>
                  <a:pt x="0" y="1706967"/>
                  <a:pt x="0" y="1685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00050" y="2870150"/>
            <a:ext cx="38100" cy="1724025"/>
          </a:xfrm>
          <a:custGeom>
            <a:avLst/>
            <a:gdLst/>
            <a:ahLst/>
            <a:cxnLst/>
            <a:rect l="l" t="t" r="r" b="b"/>
            <a:pathLst>
              <a:path w="38100" h="1724025">
                <a:moveTo>
                  <a:pt x="38100" y="0"/>
                </a:moveTo>
                <a:lnTo>
                  <a:pt x="38100" y="0"/>
                </a:lnTo>
                <a:lnTo>
                  <a:pt x="38100" y="1724025"/>
                </a:lnTo>
                <a:lnTo>
                  <a:pt x="38100" y="1724025"/>
                </a:lnTo>
                <a:cubicBezTo>
                  <a:pt x="17072" y="1724025"/>
                  <a:pt x="0" y="1706953"/>
                  <a:pt x="0" y="1685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71500" y="30225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38163" y="30225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" y="304160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核心大脑 Logic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403550"/>
            <a:ext cx="3467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系统控制中枢。</a:t>
            </a:r>
            <a:r>
              <a:rPr lang="en-US" sz="120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lib/llm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处理介质池与异步传输，</a:t>
            </a:r>
            <a:r>
              <a:rPr lang="en-US" sz="120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kvbm-logical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编排块的逻辑生命周期与全局索引。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749775"/>
            <a:ext cx="3714750" cy="1724025"/>
          </a:xfrm>
          <a:custGeom>
            <a:avLst/>
            <a:gdLst/>
            <a:ahLst/>
            <a:cxnLst/>
            <a:rect l="l" t="t" r="r" b="b"/>
            <a:pathLst>
              <a:path w="3714750" h="1724025">
                <a:moveTo>
                  <a:pt x="38100" y="0"/>
                </a:moveTo>
                <a:lnTo>
                  <a:pt x="3600447" y="0"/>
                </a:lnTo>
                <a:cubicBezTo>
                  <a:pt x="3663533" y="0"/>
                  <a:pt x="3714750" y="51217"/>
                  <a:pt x="3714750" y="114303"/>
                </a:cubicBezTo>
                <a:lnTo>
                  <a:pt x="3714750" y="1609722"/>
                </a:lnTo>
                <a:cubicBezTo>
                  <a:pt x="3714750" y="1672808"/>
                  <a:pt x="3663533" y="1724025"/>
                  <a:pt x="3600447" y="1724025"/>
                </a:cubicBezTo>
                <a:lnTo>
                  <a:pt x="38100" y="1724025"/>
                </a:lnTo>
                <a:cubicBezTo>
                  <a:pt x="17058" y="1724025"/>
                  <a:pt x="0" y="1706967"/>
                  <a:pt x="0" y="1685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00050" y="4749775"/>
            <a:ext cx="38100" cy="1724025"/>
          </a:xfrm>
          <a:custGeom>
            <a:avLst/>
            <a:gdLst/>
            <a:ahLst/>
            <a:cxnLst/>
            <a:rect l="l" t="t" r="r" b="b"/>
            <a:pathLst>
              <a:path w="38100" h="1724025">
                <a:moveTo>
                  <a:pt x="38100" y="0"/>
                </a:moveTo>
                <a:lnTo>
                  <a:pt x="38100" y="0"/>
                </a:lnTo>
                <a:lnTo>
                  <a:pt x="38100" y="1724025"/>
                </a:lnTo>
                <a:lnTo>
                  <a:pt x="38100" y="1724025"/>
                </a:lnTo>
                <a:cubicBezTo>
                  <a:pt x="17072" y="1724025"/>
                  <a:pt x="0" y="1706953"/>
                  <a:pt x="0" y="1685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71500" y="49021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38163" y="490217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500" y="4921225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底层抽象 NIXL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5283175"/>
            <a:ext cx="3467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剥离物理传输细节，处理实际的内存存拷贝与 I/O 操作，实现硬件加速的数据传输。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43400" y="990600"/>
            <a:ext cx="7467600" cy="1143000"/>
          </a:xfrm>
          <a:custGeom>
            <a:avLst/>
            <a:gdLst/>
            <a:ahLst/>
            <a:cxnLst/>
            <a:rect l="l" t="t" r="r" b="b"/>
            <a:pathLst>
              <a:path w="7467600" h="1143000">
                <a:moveTo>
                  <a:pt x="114300" y="0"/>
                </a:moveTo>
                <a:lnTo>
                  <a:pt x="7353300" y="0"/>
                </a:lnTo>
                <a:cubicBezTo>
                  <a:pt x="7416384" y="0"/>
                  <a:pt x="7467600" y="51216"/>
                  <a:pt x="7467600" y="114300"/>
                </a:cubicBezTo>
                <a:lnTo>
                  <a:pt x="7467600" y="1028700"/>
                </a:lnTo>
                <a:cubicBezTo>
                  <a:pt x="7467600" y="1091784"/>
                  <a:pt x="7416384" y="1143000"/>
                  <a:pt x="7353300" y="1143000"/>
                </a:cubicBezTo>
                <a:lnTo>
                  <a:pt x="114300" y="1143000"/>
                </a:lnTo>
                <a:cubicBezTo>
                  <a:pt x="51216" y="1143000"/>
                  <a:pt x="0" y="1091784"/>
                  <a:pt x="0" y="1028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495800" y="1143000"/>
            <a:ext cx="2962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顶层: LLM Inference Runtime Layer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456194" y="11811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495800" y="1485900"/>
            <a:ext cx="723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vLLM / TensorRT-LLM Connector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31519" y="18192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44120" y="130902"/>
                </a:moveTo>
                <a:cubicBezTo>
                  <a:pt x="47376" y="134157"/>
                  <a:pt x="52663" y="134157"/>
                  <a:pt x="55918" y="130902"/>
                </a:cubicBezTo>
                <a:lnTo>
                  <a:pt x="97590" y="89230"/>
                </a:lnTo>
                <a:cubicBezTo>
                  <a:pt x="100846" y="85974"/>
                  <a:pt x="100846" y="80687"/>
                  <a:pt x="97590" y="77432"/>
                </a:cubicBezTo>
                <a:cubicBezTo>
                  <a:pt x="94335" y="74176"/>
                  <a:pt x="89048" y="74176"/>
                  <a:pt x="85792" y="77432"/>
                </a:cubicBezTo>
                <a:lnTo>
                  <a:pt x="58341" y="104883"/>
                </a:lnTo>
                <a:lnTo>
                  <a:pt x="58341" y="8334"/>
                </a:lnTo>
                <a:cubicBezTo>
                  <a:pt x="58341" y="3724"/>
                  <a:pt x="54616" y="0"/>
                  <a:pt x="50006" y="0"/>
                </a:cubicBezTo>
                <a:cubicBezTo>
                  <a:pt x="45396" y="0"/>
                  <a:pt x="41672" y="3724"/>
                  <a:pt x="41672" y="8334"/>
                </a:cubicBezTo>
                <a:lnTo>
                  <a:pt x="41672" y="104883"/>
                </a:lnTo>
                <a:lnTo>
                  <a:pt x="14221" y="77432"/>
                </a:lnTo>
                <a:cubicBezTo>
                  <a:pt x="10965" y="74176"/>
                  <a:pt x="5678" y="74176"/>
                  <a:pt x="2422" y="77432"/>
                </a:cubicBezTo>
                <a:cubicBezTo>
                  <a:pt x="-833" y="80687"/>
                  <a:pt x="-833" y="85974"/>
                  <a:pt x="2422" y="89230"/>
                </a:cubicBezTo>
                <a:lnTo>
                  <a:pt x="44094" y="13090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738688" y="179070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请求转换 → 块操作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43400" y="2247900"/>
            <a:ext cx="7467600" cy="1600200"/>
          </a:xfrm>
          <a:custGeom>
            <a:avLst/>
            <a:gdLst/>
            <a:ahLst/>
            <a:cxnLst/>
            <a:rect l="l" t="t" r="r" b="b"/>
            <a:pathLst>
              <a:path w="7467600" h="1600200">
                <a:moveTo>
                  <a:pt x="114302" y="0"/>
                </a:moveTo>
                <a:lnTo>
                  <a:pt x="7353298" y="0"/>
                </a:lnTo>
                <a:cubicBezTo>
                  <a:pt x="7416383" y="0"/>
                  <a:pt x="7467600" y="51217"/>
                  <a:pt x="7467600" y="114302"/>
                </a:cubicBezTo>
                <a:lnTo>
                  <a:pt x="7467600" y="1485898"/>
                </a:lnTo>
                <a:cubicBezTo>
                  <a:pt x="7467600" y="1548983"/>
                  <a:pt x="7416383" y="1600200"/>
                  <a:pt x="7353298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527A8A"/>
              </a:gs>
              <a:gs pos="100000">
                <a:srgbClr val="6B8E9F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495800" y="2400300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中层: KVBM Logic Layer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444288" y="2438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495800" y="2743200"/>
            <a:ext cx="7162800" cy="304800"/>
          </a:xfrm>
          <a:custGeom>
            <a:avLst/>
            <a:gdLst/>
            <a:ahLst/>
            <a:cxnLst/>
            <a:rect l="l" t="t" r="r" b="b"/>
            <a:pathLst>
              <a:path w="7162800" h="304800">
                <a:moveTo>
                  <a:pt x="76200" y="0"/>
                </a:moveTo>
                <a:lnTo>
                  <a:pt x="7086600" y="0"/>
                </a:lnTo>
                <a:cubicBezTo>
                  <a:pt x="7128656" y="0"/>
                  <a:pt x="7162800" y="34144"/>
                  <a:pt x="7162800" y="76200"/>
                </a:cubicBezTo>
                <a:lnTo>
                  <a:pt x="7162800" y="228600"/>
                </a:lnTo>
                <a:cubicBezTo>
                  <a:pt x="7162800" y="270656"/>
                  <a:pt x="7128656" y="304800"/>
                  <a:pt x="7086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495800" y="2743200"/>
            <a:ext cx="722947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lib/llm (Runtime Integration)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95800" y="3124200"/>
            <a:ext cx="7162800" cy="304800"/>
          </a:xfrm>
          <a:custGeom>
            <a:avLst/>
            <a:gdLst/>
            <a:ahLst/>
            <a:cxnLst/>
            <a:rect l="l" t="t" r="r" b="b"/>
            <a:pathLst>
              <a:path w="7162800" h="304800">
                <a:moveTo>
                  <a:pt x="76200" y="0"/>
                </a:moveTo>
                <a:lnTo>
                  <a:pt x="7086600" y="0"/>
                </a:lnTo>
                <a:cubicBezTo>
                  <a:pt x="7128656" y="0"/>
                  <a:pt x="7162800" y="34144"/>
                  <a:pt x="7162800" y="76200"/>
                </a:cubicBezTo>
                <a:lnTo>
                  <a:pt x="7162800" y="228600"/>
                </a:lnTo>
                <a:cubicBezTo>
                  <a:pt x="7162800" y="270656"/>
                  <a:pt x="7128656" y="304800"/>
                  <a:pt x="7086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495800" y="3124200"/>
            <a:ext cx="722947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kvbm-logical (Pure Logic)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31519" y="35337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44120" y="130902"/>
                </a:moveTo>
                <a:cubicBezTo>
                  <a:pt x="47376" y="134157"/>
                  <a:pt x="52663" y="134157"/>
                  <a:pt x="55918" y="130902"/>
                </a:cubicBezTo>
                <a:lnTo>
                  <a:pt x="97590" y="89230"/>
                </a:lnTo>
                <a:cubicBezTo>
                  <a:pt x="100846" y="85974"/>
                  <a:pt x="100846" y="80687"/>
                  <a:pt x="97590" y="77432"/>
                </a:cubicBezTo>
                <a:cubicBezTo>
                  <a:pt x="94335" y="74176"/>
                  <a:pt x="89048" y="74176"/>
                  <a:pt x="85792" y="77432"/>
                </a:cubicBezTo>
                <a:lnTo>
                  <a:pt x="58341" y="104883"/>
                </a:lnTo>
                <a:lnTo>
                  <a:pt x="58341" y="8334"/>
                </a:lnTo>
                <a:cubicBezTo>
                  <a:pt x="58341" y="3724"/>
                  <a:pt x="54616" y="0"/>
                  <a:pt x="50006" y="0"/>
                </a:cubicBezTo>
                <a:cubicBezTo>
                  <a:pt x="45396" y="0"/>
                  <a:pt x="41672" y="3724"/>
                  <a:pt x="41672" y="8334"/>
                </a:cubicBezTo>
                <a:lnTo>
                  <a:pt x="41672" y="104883"/>
                </a:lnTo>
                <a:lnTo>
                  <a:pt x="14221" y="77432"/>
                </a:lnTo>
                <a:cubicBezTo>
                  <a:pt x="10965" y="74176"/>
                  <a:pt x="5678" y="74176"/>
                  <a:pt x="2422" y="77432"/>
                </a:cubicBezTo>
                <a:cubicBezTo>
                  <a:pt x="-833" y="80687"/>
                  <a:pt x="-833" y="85974"/>
                  <a:pt x="2422" y="89230"/>
                </a:cubicBezTo>
                <a:lnTo>
                  <a:pt x="44094" y="13090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738688" y="350520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逻辑编排 → 物理抽象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43400" y="3962400"/>
            <a:ext cx="7467600" cy="1257300"/>
          </a:xfrm>
          <a:custGeom>
            <a:avLst/>
            <a:gdLst/>
            <a:ahLst/>
            <a:cxnLst/>
            <a:rect l="l" t="t" r="r" b="b"/>
            <a:pathLst>
              <a:path w="7467600" h="1257300">
                <a:moveTo>
                  <a:pt x="114301" y="0"/>
                </a:moveTo>
                <a:lnTo>
                  <a:pt x="7353299" y="0"/>
                </a:lnTo>
                <a:cubicBezTo>
                  <a:pt x="7416383" y="0"/>
                  <a:pt x="7467600" y="51217"/>
                  <a:pt x="7467600" y="114301"/>
                </a:cubicBezTo>
                <a:lnTo>
                  <a:pt x="7467600" y="1142999"/>
                </a:lnTo>
                <a:cubicBezTo>
                  <a:pt x="7467600" y="1206083"/>
                  <a:pt x="7416383" y="1257300"/>
                  <a:pt x="7353299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0916C"/>
              </a:gs>
              <a:gs pos="100000">
                <a:srgbClr val="52B788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4495800" y="4114800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底层: NIXL Layer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444288" y="4152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495800" y="4457700"/>
            <a:ext cx="723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 Transfer Library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95800" y="4762500"/>
            <a:ext cx="1057275" cy="304800"/>
          </a:xfrm>
          <a:custGeom>
            <a:avLst/>
            <a:gdLst/>
            <a:ahLst/>
            <a:cxnLst/>
            <a:rect l="l" t="t" r="r" b="b"/>
            <a:pathLst>
              <a:path w="1057275" h="304800">
                <a:moveTo>
                  <a:pt x="76200" y="0"/>
                </a:moveTo>
                <a:lnTo>
                  <a:pt x="981075" y="0"/>
                </a:lnTo>
                <a:cubicBezTo>
                  <a:pt x="1023131" y="0"/>
                  <a:pt x="1057275" y="34144"/>
                  <a:pt x="1057275" y="76200"/>
                </a:cubicBezTo>
                <a:lnTo>
                  <a:pt x="1057275" y="228600"/>
                </a:lnTo>
                <a:cubicBezTo>
                  <a:pt x="1057275" y="270656"/>
                  <a:pt x="1023131" y="304800"/>
                  <a:pt x="98107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4637484" y="4848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852988" y="481965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GDS 加速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663952" y="4762500"/>
            <a:ext cx="1162050" cy="304800"/>
          </a:xfrm>
          <a:custGeom>
            <a:avLst/>
            <a:gdLst/>
            <a:ahLst/>
            <a:cxnLst/>
            <a:rect l="l" t="t" r="r" b="b"/>
            <a:pathLst>
              <a:path w="1162050" h="304800">
                <a:moveTo>
                  <a:pt x="76200" y="0"/>
                </a:moveTo>
                <a:lnTo>
                  <a:pt x="1085850" y="0"/>
                </a:lnTo>
                <a:cubicBezTo>
                  <a:pt x="1127906" y="0"/>
                  <a:pt x="1162050" y="34144"/>
                  <a:pt x="1162050" y="76200"/>
                </a:cubicBezTo>
                <a:lnTo>
                  <a:pt x="1162050" y="228600"/>
                </a:lnTo>
                <a:cubicBezTo>
                  <a:pt x="1162050" y="270656"/>
                  <a:pt x="1127906" y="304800"/>
                  <a:pt x="10858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5788968" y="48482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021139" y="48196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RDMA 传输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跨越物理边界的多级存储流转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00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866900" y="1943100"/>
            <a:ext cx="1657350" cy="1047750"/>
          </a:xfrm>
          <a:custGeom>
            <a:avLst/>
            <a:gdLst/>
            <a:ahLst/>
            <a:cxnLst/>
            <a:rect l="l" t="t" r="r" b="b"/>
            <a:pathLst>
              <a:path w="1657350" h="1047750">
                <a:moveTo>
                  <a:pt x="114299" y="0"/>
                </a:moveTo>
                <a:lnTo>
                  <a:pt x="1543051" y="0"/>
                </a:lnTo>
                <a:cubicBezTo>
                  <a:pt x="1606177" y="0"/>
                  <a:pt x="1657350" y="51173"/>
                  <a:pt x="1657350" y="114299"/>
                </a:cubicBezTo>
                <a:lnTo>
                  <a:pt x="1657350" y="933451"/>
                </a:lnTo>
                <a:cubicBezTo>
                  <a:pt x="1657350" y="996577"/>
                  <a:pt x="1606177" y="1047750"/>
                  <a:pt x="154305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2700000" scaled="1"/>
          </a:gradFill>
          <a:ln w="25400">
            <a:solidFill>
              <a:srgbClr val="2D6A4F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555081" y="20574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291879" y="2419350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G1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01404" y="2686050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Device/GPU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90750" y="3076575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显存 HBM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5513" y="3305175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最高速但最稀缺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14750" y="2600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133850" y="1943100"/>
            <a:ext cx="1657350" cy="1047750"/>
          </a:xfrm>
          <a:custGeom>
            <a:avLst/>
            <a:gdLst/>
            <a:ahLst/>
            <a:cxnLst/>
            <a:rect l="l" t="t" r="r" b="b"/>
            <a:pathLst>
              <a:path w="1657350" h="1047750">
                <a:moveTo>
                  <a:pt x="114299" y="0"/>
                </a:moveTo>
                <a:lnTo>
                  <a:pt x="1543051" y="0"/>
                </a:lnTo>
                <a:cubicBezTo>
                  <a:pt x="1606177" y="0"/>
                  <a:pt x="1657350" y="51173"/>
                  <a:pt x="1657350" y="114299"/>
                </a:cubicBezTo>
                <a:lnTo>
                  <a:pt x="1657350" y="933451"/>
                </a:lnTo>
                <a:cubicBezTo>
                  <a:pt x="1657350" y="996577"/>
                  <a:pt x="1606177" y="1047750"/>
                  <a:pt x="154305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527A8A"/>
              </a:gs>
              <a:gs pos="100000">
                <a:srgbClr val="6B8E9F"/>
              </a:gs>
            </a:gsLst>
            <a:lin ang="2700000" scaled="1"/>
          </a:gradFill>
          <a:ln w="25400">
            <a:solidFill>
              <a:srgbClr val="527A8A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822031" y="20574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16018" y="35719"/>
                  <a:pt x="0" y="51736"/>
                  <a:pt x="0" y="71438"/>
                </a:cubicBezTo>
                <a:lnTo>
                  <a:pt x="0" y="75567"/>
                </a:lnTo>
                <a:cubicBezTo>
                  <a:pt x="0" y="79363"/>
                  <a:pt x="2456" y="82600"/>
                  <a:pt x="5637" y="84665"/>
                </a:cubicBezTo>
                <a:cubicBezTo>
                  <a:pt x="13004" y="89464"/>
                  <a:pt x="17859" y="97724"/>
                  <a:pt x="17859" y="107156"/>
                </a:cubicBezTo>
                <a:cubicBezTo>
                  <a:pt x="17859" y="116588"/>
                  <a:pt x="13004" y="124848"/>
                  <a:pt x="5637" y="129648"/>
                </a:cubicBezTo>
                <a:cubicBezTo>
                  <a:pt x="2456" y="131713"/>
                  <a:pt x="0" y="134950"/>
                  <a:pt x="0" y="138745"/>
                </a:cubicBezTo>
                <a:lnTo>
                  <a:pt x="0" y="169664"/>
                </a:lnTo>
                <a:lnTo>
                  <a:pt x="285750" y="169664"/>
                </a:lnTo>
                <a:lnTo>
                  <a:pt x="285750" y="138745"/>
                </a:lnTo>
                <a:cubicBezTo>
                  <a:pt x="285750" y="134950"/>
                  <a:pt x="283294" y="131713"/>
                  <a:pt x="280113" y="129648"/>
                </a:cubicBezTo>
                <a:cubicBezTo>
                  <a:pt x="272746" y="124848"/>
                  <a:pt x="267891" y="116588"/>
                  <a:pt x="267891" y="107156"/>
                </a:cubicBezTo>
                <a:cubicBezTo>
                  <a:pt x="267891" y="97724"/>
                  <a:pt x="272746" y="89464"/>
                  <a:pt x="280113" y="84665"/>
                </a:cubicBezTo>
                <a:cubicBezTo>
                  <a:pt x="283294" y="82600"/>
                  <a:pt x="285750" y="79363"/>
                  <a:pt x="285750" y="75567"/>
                </a:cubicBezTo>
                <a:lnTo>
                  <a:pt x="285750" y="71437"/>
                </a:lnTo>
                <a:cubicBezTo>
                  <a:pt x="285750" y="51736"/>
                  <a:pt x="269732" y="35719"/>
                  <a:pt x="250031" y="35719"/>
                </a:cubicBezTo>
                <a:lnTo>
                  <a:pt x="35719" y="35719"/>
                </a:lnTo>
                <a:close/>
                <a:moveTo>
                  <a:pt x="285750" y="232172"/>
                </a:moveTo>
                <a:lnTo>
                  <a:pt x="285750" y="196453"/>
                </a:lnTo>
                <a:lnTo>
                  <a:pt x="0" y="196453"/>
                </a:lnTo>
                <a:lnTo>
                  <a:pt x="0" y="232172"/>
                </a:lnTo>
                <a:cubicBezTo>
                  <a:pt x="0" y="242050"/>
                  <a:pt x="7981" y="250031"/>
                  <a:pt x="17859" y="250031"/>
                </a:cubicBezTo>
                <a:lnTo>
                  <a:pt x="53578" y="250031"/>
                </a:lnTo>
                <a:lnTo>
                  <a:pt x="53578" y="236637"/>
                </a:lnTo>
                <a:cubicBezTo>
                  <a:pt x="53578" y="229214"/>
                  <a:pt x="59550" y="223242"/>
                  <a:pt x="66973" y="223242"/>
                </a:cubicBezTo>
                <a:cubicBezTo>
                  <a:pt x="74395" y="223242"/>
                  <a:pt x="80367" y="229214"/>
                  <a:pt x="80367" y="236637"/>
                </a:cubicBezTo>
                <a:lnTo>
                  <a:pt x="80367" y="250031"/>
                </a:lnTo>
                <a:lnTo>
                  <a:pt x="129480" y="250031"/>
                </a:lnTo>
                <a:lnTo>
                  <a:pt x="129480" y="236637"/>
                </a:lnTo>
                <a:cubicBezTo>
                  <a:pt x="129480" y="229214"/>
                  <a:pt x="135452" y="223242"/>
                  <a:pt x="142875" y="223242"/>
                </a:cubicBezTo>
                <a:cubicBezTo>
                  <a:pt x="150298" y="223242"/>
                  <a:pt x="156270" y="229214"/>
                  <a:pt x="156270" y="236637"/>
                </a:cubicBezTo>
                <a:lnTo>
                  <a:pt x="156270" y="250031"/>
                </a:lnTo>
                <a:lnTo>
                  <a:pt x="205383" y="250031"/>
                </a:lnTo>
                <a:lnTo>
                  <a:pt x="205383" y="236637"/>
                </a:lnTo>
                <a:cubicBezTo>
                  <a:pt x="205383" y="229214"/>
                  <a:pt x="211355" y="223242"/>
                  <a:pt x="218777" y="223242"/>
                </a:cubicBezTo>
                <a:cubicBezTo>
                  <a:pt x="226200" y="223242"/>
                  <a:pt x="232172" y="229214"/>
                  <a:pt x="232172" y="236637"/>
                </a:cubicBezTo>
                <a:lnTo>
                  <a:pt x="232172" y="250031"/>
                </a:lnTo>
                <a:lnTo>
                  <a:pt x="267891" y="250031"/>
                </a:lnTo>
                <a:cubicBezTo>
                  <a:pt x="277769" y="250031"/>
                  <a:pt x="285750" y="242050"/>
                  <a:pt x="285750" y="232172"/>
                </a:cubicBezTo>
                <a:close/>
                <a:moveTo>
                  <a:pt x="89297" y="89297"/>
                </a:moveTo>
                <a:lnTo>
                  <a:pt x="89297" y="125016"/>
                </a:lnTo>
                <a:cubicBezTo>
                  <a:pt x="89297" y="134894"/>
                  <a:pt x="81316" y="142875"/>
                  <a:pt x="71438" y="142875"/>
                </a:cubicBezTo>
                <a:cubicBezTo>
                  <a:pt x="61559" y="142875"/>
                  <a:pt x="53578" y="134894"/>
                  <a:pt x="53578" y="125016"/>
                </a:cubicBezTo>
                <a:lnTo>
                  <a:pt x="53578" y="89297"/>
                </a:lnTo>
                <a:cubicBezTo>
                  <a:pt x="53578" y="79418"/>
                  <a:pt x="61559" y="71438"/>
                  <a:pt x="71438" y="71438"/>
                </a:cubicBezTo>
                <a:cubicBezTo>
                  <a:pt x="81316" y="71438"/>
                  <a:pt x="89297" y="79418"/>
                  <a:pt x="89297" y="89297"/>
                </a:cubicBezTo>
                <a:close/>
                <a:moveTo>
                  <a:pt x="160734" y="89297"/>
                </a:moveTo>
                <a:lnTo>
                  <a:pt x="160734" y="125016"/>
                </a:lnTo>
                <a:cubicBezTo>
                  <a:pt x="160734" y="134894"/>
                  <a:pt x="152753" y="142875"/>
                  <a:pt x="142875" y="142875"/>
                </a:cubicBezTo>
                <a:cubicBezTo>
                  <a:pt x="132997" y="142875"/>
                  <a:pt x="125016" y="134894"/>
                  <a:pt x="125016" y="125016"/>
                </a:cubicBezTo>
                <a:lnTo>
                  <a:pt x="125016" y="89297"/>
                </a:lnTo>
                <a:cubicBezTo>
                  <a:pt x="125016" y="79418"/>
                  <a:pt x="132997" y="71438"/>
                  <a:pt x="142875" y="71438"/>
                </a:cubicBezTo>
                <a:cubicBezTo>
                  <a:pt x="152753" y="71438"/>
                  <a:pt x="160734" y="79418"/>
                  <a:pt x="160734" y="89297"/>
                </a:cubicBezTo>
                <a:close/>
                <a:moveTo>
                  <a:pt x="232172" y="89297"/>
                </a:moveTo>
                <a:lnTo>
                  <a:pt x="232172" y="125016"/>
                </a:lnTo>
                <a:cubicBezTo>
                  <a:pt x="232172" y="134894"/>
                  <a:pt x="224191" y="142875"/>
                  <a:pt x="214313" y="142875"/>
                </a:cubicBezTo>
                <a:cubicBezTo>
                  <a:pt x="204434" y="142875"/>
                  <a:pt x="196453" y="134894"/>
                  <a:pt x="196453" y="125016"/>
                </a:cubicBezTo>
                <a:lnTo>
                  <a:pt x="196453" y="89297"/>
                </a:lnTo>
                <a:cubicBezTo>
                  <a:pt x="196453" y="79418"/>
                  <a:pt x="204434" y="71438"/>
                  <a:pt x="214313" y="71438"/>
                </a:cubicBezTo>
                <a:cubicBezTo>
                  <a:pt x="224191" y="71438"/>
                  <a:pt x="232172" y="79418"/>
                  <a:pt x="232172" y="892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620444" y="2419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G2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29969" y="268605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Host/CPU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91446" y="3076575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Pinned Host Memory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96209" y="3305175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低延迟中转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81700" y="2600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400800" y="1943100"/>
            <a:ext cx="1657350" cy="1047750"/>
          </a:xfrm>
          <a:custGeom>
            <a:avLst/>
            <a:gdLst/>
            <a:ahLst/>
            <a:cxnLst/>
            <a:rect l="l" t="t" r="r" b="b"/>
            <a:pathLst>
              <a:path w="1657350" h="1047750">
                <a:moveTo>
                  <a:pt x="114299" y="0"/>
                </a:moveTo>
                <a:lnTo>
                  <a:pt x="1543051" y="0"/>
                </a:lnTo>
                <a:cubicBezTo>
                  <a:pt x="1606177" y="0"/>
                  <a:pt x="1657350" y="51173"/>
                  <a:pt x="1657350" y="114299"/>
                </a:cubicBezTo>
                <a:lnTo>
                  <a:pt x="1657350" y="933451"/>
                </a:lnTo>
                <a:cubicBezTo>
                  <a:pt x="1657350" y="996577"/>
                  <a:pt x="1606177" y="1047750"/>
                  <a:pt x="154305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6B8E9F"/>
              </a:gs>
              <a:gs pos="100000">
                <a:srgbClr val="8BA5B5"/>
              </a:gs>
            </a:gsLst>
            <a:lin ang="2700000" scaled="1"/>
          </a:gradFill>
          <a:ln w="25400">
            <a:solidFill>
              <a:srgbClr val="6B8E9F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106841" y="20574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45163"/>
                </a:lnTo>
                <a:cubicBezTo>
                  <a:pt x="10102" y="138075"/>
                  <a:pt x="22436" y="133945"/>
                  <a:pt x="35719" y="133945"/>
                </a:cubicBezTo>
                <a:lnTo>
                  <a:pt x="214313" y="133945"/>
                </a:lnTo>
                <a:cubicBezTo>
                  <a:pt x="227595" y="133945"/>
                  <a:pt x="239930" y="138075"/>
                  <a:pt x="250031" y="145163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250031" y="196453"/>
                </a:move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lose/>
                <a:moveTo>
                  <a:pt x="125016" y="214313"/>
                </a:moveTo>
                <a:cubicBezTo>
                  <a:pt x="125016" y="204456"/>
                  <a:pt x="133018" y="196453"/>
                  <a:pt x="142875" y="196453"/>
                </a:cubicBezTo>
                <a:cubicBezTo>
                  <a:pt x="152732" y="196453"/>
                  <a:pt x="160734" y="204456"/>
                  <a:pt x="160734" y="214313"/>
                </a:cubicBezTo>
                <a:cubicBezTo>
                  <a:pt x="160734" y="224169"/>
                  <a:pt x="152732" y="232172"/>
                  <a:pt x="142875" y="232172"/>
                </a:cubicBezTo>
                <a:cubicBezTo>
                  <a:pt x="133018" y="232172"/>
                  <a:pt x="125016" y="224169"/>
                  <a:pt x="125016" y="214313"/>
                </a:cubicBezTo>
                <a:close/>
                <a:moveTo>
                  <a:pt x="196453" y="196453"/>
                </a:moveTo>
                <a:cubicBezTo>
                  <a:pt x="206310" y="196453"/>
                  <a:pt x="214313" y="204456"/>
                  <a:pt x="214313" y="214313"/>
                </a:cubicBezTo>
                <a:cubicBezTo>
                  <a:pt x="214313" y="224169"/>
                  <a:pt x="206310" y="232172"/>
                  <a:pt x="196453" y="232172"/>
                </a:cubicBezTo>
                <a:cubicBezTo>
                  <a:pt x="186596" y="232172"/>
                  <a:pt x="178594" y="224169"/>
                  <a:pt x="178594" y="214313"/>
                </a:cubicBezTo>
                <a:cubicBezTo>
                  <a:pt x="178594" y="204456"/>
                  <a:pt x="186596" y="196453"/>
                  <a:pt x="196453" y="19645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845573" y="24193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G3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5098" y="2686050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Disk/NVMe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34175" y="30765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6B8E9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本地高速固态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38938" y="3305175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极低成本扩展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48650" y="2600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667750" y="1943100"/>
            <a:ext cx="1657350" cy="1047750"/>
          </a:xfrm>
          <a:custGeom>
            <a:avLst/>
            <a:gdLst/>
            <a:ahLst/>
            <a:cxnLst/>
            <a:rect l="l" t="t" r="r" b="b"/>
            <a:pathLst>
              <a:path w="1657350" h="1047750">
                <a:moveTo>
                  <a:pt x="114299" y="0"/>
                </a:moveTo>
                <a:lnTo>
                  <a:pt x="1543051" y="0"/>
                </a:lnTo>
                <a:cubicBezTo>
                  <a:pt x="1606177" y="0"/>
                  <a:pt x="1657350" y="51173"/>
                  <a:pt x="1657350" y="114299"/>
                </a:cubicBezTo>
                <a:lnTo>
                  <a:pt x="1657350" y="933451"/>
                </a:lnTo>
                <a:cubicBezTo>
                  <a:pt x="1657350" y="996577"/>
                  <a:pt x="1606177" y="1047750"/>
                  <a:pt x="154305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8BA5B5"/>
              </a:gs>
              <a:gs pos="100000">
                <a:srgbClr val="ABC5D5"/>
              </a:gs>
            </a:gsLst>
            <a:lin ang="2700000" scaled="1"/>
          </a:gradFill>
          <a:ln w="25400">
            <a:solidFill>
              <a:srgbClr val="8BA5B5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9338072" y="205740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187523"/>
                </a:moveTo>
                <a:cubicBezTo>
                  <a:pt x="0" y="231893"/>
                  <a:pt x="35998" y="267891"/>
                  <a:pt x="80367" y="267891"/>
                </a:cubicBezTo>
                <a:lnTo>
                  <a:pt x="250031" y="267891"/>
                </a:lnTo>
                <a:cubicBezTo>
                  <a:pt x="289489" y="267891"/>
                  <a:pt x="321469" y="235911"/>
                  <a:pt x="321469" y="196453"/>
                </a:cubicBezTo>
                <a:cubicBezTo>
                  <a:pt x="321469" y="167655"/>
                  <a:pt x="304447" y="142819"/>
                  <a:pt x="279890" y="131545"/>
                </a:cubicBezTo>
                <a:cubicBezTo>
                  <a:pt x="283629" y="124234"/>
                  <a:pt x="285750" y="115919"/>
                  <a:pt x="285750" y="107156"/>
                </a:cubicBezTo>
                <a:cubicBezTo>
                  <a:pt x="285750" y="77577"/>
                  <a:pt x="261751" y="53578"/>
                  <a:pt x="232172" y="53578"/>
                </a:cubicBezTo>
                <a:cubicBezTo>
                  <a:pt x="222293" y="53578"/>
                  <a:pt x="213085" y="56257"/>
                  <a:pt x="205160" y="60889"/>
                </a:cubicBezTo>
                <a:cubicBezTo>
                  <a:pt x="191709" y="35328"/>
                  <a:pt x="164864" y="17859"/>
                  <a:pt x="133945" y="17859"/>
                </a:cubicBezTo>
                <a:cubicBezTo>
                  <a:pt x="89576" y="17859"/>
                  <a:pt x="53578" y="53857"/>
                  <a:pt x="53578" y="98227"/>
                </a:cubicBezTo>
                <a:cubicBezTo>
                  <a:pt x="53578" y="102691"/>
                  <a:pt x="53969" y="107100"/>
                  <a:pt x="54639" y="111342"/>
                </a:cubicBezTo>
                <a:cubicBezTo>
                  <a:pt x="22882" y="122058"/>
                  <a:pt x="0" y="152140"/>
                  <a:pt x="0" y="18752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224665" y="2419350"/>
            <a:ext cx="54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G4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4190" y="2686050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48725" y="3076575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BA5B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跨节点分布式存储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53488" y="3305175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无限容量扩展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5763" y="4029077"/>
            <a:ext cx="11420475" cy="2443162"/>
          </a:xfrm>
          <a:custGeom>
            <a:avLst/>
            <a:gdLst/>
            <a:ahLst/>
            <a:cxnLst/>
            <a:rect l="l" t="t" r="r" b="b"/>
            <a:pathLst>
              <a:path w="11420475" h="1876425">
                <a:moveTo>
                  <a:pt x="114293" y="0"/>
                </a:moveTo>
                <a:lnTo>
                  <a:pt x="11306182" y="0"/>
                </a:lnTo>
                <a:cubicBezTo>
                  <a:pt x="11369304" y="0"/>
                  <a:pt x="11420475" y="51171"/>
                  <a:pt x="11420475" y="114293"/>
                </a:cubicBezTo>
                <a:lnTo>
                  <a:pt x="11420475" y="1762132"/>
                </a:lnTo>
                <a:cubicBezTo>
                  <a:pt x="11420475" y="1825254"/>
                  <a:pt x="11369304" y="1876425"/>
                  <a:pt x="11306182" y="1876425"/>
                </a:cubicBezTo>
                <a:lnTo>
                  <a:pt x="114293" y="1876425"/>
                </a:lnTo>
                <a:cubicBezTo>
                  <a:pt x="51171" y="1876425"/>
                  <a:pt x="0" y="1825254"/>
                  <a:pt x="0" y="1762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527A8A">
                <a:alpha val="20000"/>
              </a:srgbClr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2" name="Shape 30"/>
          <p:cNvSpPr/>
          <p:nvPr/>
        </p:nvSpPr>
        <p:spPr>
          <a:xfrm>
            <a:off x="604838" y="423009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19150" y="4191990"/>
            <a:ext cx="1088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Compute-Copy Overlap 机制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1025" y="4562475"/>
            <a:ext cx="7829550" cy="1352550"/>
          </a:xfrm>
          <a:custGeom>
            <a:avLst/>
            <a:gdLst/>
            <a:ahLst/>
            <a:cxnLst/>
            <a:rect l="l" t="t" r="r" b="b"/>
            <a:pathLst>
              <a:path w="7829550" h="609600">
                <a:moveTo>
                  <a:pt x="76200" y="0"/>
                </a:moveTo>
                <a:lnTo>
                  <a:pt x="7753350" y="0"/>
                </a:lnTo>
                <a:cubicBezTo>
                  <a:pt x="7795406" y="0"/>
                  <a:pt x="7829550" y="34144"/>
                  <a:pt x="7829550" y="76200"/>
                </a:cubicBezTo>
                <a:lnTo>
                  <a:pt x="7829550" y="533400"/>
                </a:lnTo>
                <a:cubicBezTo>
                  <a:pt x="7829550" y="575456"/>
                  <a:pt x="7795406" y="609600"/>
                  <a:pt x="77533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19150" y="5097845"/>
            <a:ext cx="50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 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78885" y="6222453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异步流水线完美掩盖 I/O 延迟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67738" y="5214938"/>
            <a:ext cx="3038475" cy="1057275"/>
          </a:xfrm>
          <a:custGeom>
            <a:avLst/>
            <a:gdLst/>
            <a:ahLst/>
            <a:cxnLst/>
            <a:rect l="l" t="t" r="r" b="b"/>
            <a:pathLst>
              <a:path w="3038475" h="1057275">
                <a:moveTo>
                  <a:pt x="76198" y="0"/>
                </a:moveTo>
                <a:lnTo>
                  <a:pt x="2962277" y="0"/>
                </a:lnTo>
                <a:cubicBezTo>
                  <a:pt x="3004360" y="0"/>
                  <a:pt x="3038475" y="34115"/>
                  <a:pt x="3038475" y="76198"/>
                </a:cubicBezTo>
                <a:lnTo>
                  <a:pt x="3038475" y="981077"/>
                </a:lnTo>
                <a:cubicBezTo>
                  <a:pt x="3038475" y="1023160"/>
                  <a:pt x="3004360" y="1057275"/>
                  <a:pt x="2962277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D6A4F">
              <a:alpha val="10196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743950" y="54244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A39520F9-E15E-9344-9EFD-C846A56FEDEC}"/>
              </a:ext>
            </a:extLst>
          </p:cNvPr>
          <p:cNvSpPr/>
          <p:nvPr/>
        </p:nvSpPr>
        <p:spPr>
          <a:xfrm>
            <a:off x="2695575" y="4771697"/>
            <a:ext cx="1934394" cy="134335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3" name="Text 41"/>
          <p:cNvSpPr/>
          <p:nvPr/>
        </p:nvSpPr>
        <p:spPr>
          <a:xfrm>
            <a:off x="8972550" y="5372100"/>
            <a:ext cx="2552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数据传输</a:t>
            </a: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并非同步阻塞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，在计算阶段前预先启动异步流水线，完美掩盖 I/O 延迟。</a:t>
            </a:r>
            <a:endParaRPr lang="en-US" sz="1600" dirty="0"/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2325D048-7FA8-180A-499E-45CCA96732D7}"/>
              </a:ext>
            </a:extLst>
          </p:cNvPr>
          <p:cNvCxnSpPr/>
          <p:nvPr/>
        </p:nvCxnSpPr>
        <p:spPr>
          <a:xfrm>
            <a:off x="819150" y="5393120"/>
            <a:ext cx="759142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CB4E82C-7F40-825C-30A5-84976E2EAE34}"/>
              </a:ext>
            </a:extLst>
          </p:cNvPr>
          <p:cNvGrpSpPr/>
          <p:nvPr/>
        </p:nvGrpSpPr>
        <p:grpSpPr>
          <a:xfrm>
            <a:off x="2695575" y="4944788"/>
            <a:ext cx="5553075" cy="381000"/>
            <a:chOff x="3081633" y="4476751"/>
            <a:chExt cx="5553075" cy="381000"/>
          </a:xfrm>
        </p:grpSpPr>
        <p:sp>
          <p:nvSpPr>
            <p:cNvPr id="35" name="Shape 33"/>
            <p:cNvSpPr/>
            <p:nvPr/>
          </p:nvSpPr>
          <p:spPr>
            <a:xfrm>
              <a:off x="3081633" y="4476751"/>
              <a:ext cx="5476875" cy="381000"/>
            </a:xfrm>
            <a:custGeom>
              <a:avLst/>
              <a:gdLst/>
              <a:ahLst/>
              <a:cxnLst/>
              <a:rect l="l" t="t" r="r" b="b"/>
              <a:pathLst>
                <a:path w="5476875" h="381000">
                  <a:moveTo>
                    <a:pt x="38100" y="0"/>
                  </a:moveTo>
                  <a:lnTo>
                    <a:pt x="5438775" y="0"/>
                  </a:lnTo>
                  <a:cubicBezTo>
                    <a:pt x="5459803" y="0"/>
                    <a:pt x="5476875" y="17072"/>
                    <a:pt x="5476875" y="38100"/>
                  </a:cubicBezTo>
                  <a:lnTo>
                    <a:pt x="5476875" y="342900"/>
                  </a:lnTo>
                  <a:cubicBezTo>
                    <a:pt x="5476875" y="363928"/>
                    <a:pt x="5459803" y="381000"/>
                    <a:pt x="5438775" y="381000"/>
                  </a:cubicBezTo>
                  <a:lnTo>
                    <a:pt x="38100" y="381000"/>
                  </a:lnTo>
                  <a:cubicBezTo>
                    <a:pt x="17072" y="381000"/>
                    <a:pt x="0" y="363928"/>
                    <a:pt x="0" y="3429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D6A4F"/>
                </a:gs>
                <a:gs pos="100000">
                  <a:srgbClr val="40916C"/>
                </a:gs>
              </a:gsLst>
              <a:lin ang="0" scaled="1"/>
            </a:gradFill>
            <a:ln/>
          </p:spPr>
          <p:txBody>
            <a:bodyPr/>
            <a:lstStyle/>
            <a:p>
              <a:pPr algn="ctr"/>
              <a:endParaRPr lang="zh-CN" altLang="en-US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3081633" y="4476751"/>
              <a:ext cx="5553075" cy="381000"/>
            </a:xfrm>
            <a:prstGeom prst="rect">
              <a:avLst/>
            </a:prstGeom>
            <a:noFill/>
            <a:ln/>
          </p:spPr>
          <p:txBody>
            <a:bodyPr wrap="square" lIns="152400" tIns="0" rIns="15240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GPU Compute (Prefill/Decode)</a:t>
              </a:r>
              <a:endParaRPr lang="en-US" sz="1600" dirty="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D7265574-DC38-FCEE-0995-9FA96E4D335A}"/>
              </a:ext>
            </a:extLst>
          </p:cNvPr>
          <p:cNvGrpSpPr/>
          <p:nvPr/>
        </p:nvGrpSpPr>
        <p:grpSpPr>
          <a:xfrm>
            <a:off x="700088" y="5479502"/>
            <a:ext cx="3990975" cy="381000"/>
            <a:chOff x="604838" y="4845434"/>
            <a:chExt cx="3990975" cy="381000"/>
          </a:xfrm>
        </p:grpSpPr>
        <p:sp>
          <p:nvSpPr>
            <p:cNvPr id="37" name="Shape 35"/>
            <p:cNvSpPr/>
            <p:nvPr/>
          </p:nvSpPr>
          <p:spPr>
            <a:xfrm>
              <a:off x="604838" y="4845434"/>
              <a:ext cx="3914775" cy="381000"/>
            </a:xfrm>
            <a:custGeom>
              <a:avLst/>
              <a:gdLst/>
              <a:ahLst/>
              <a:cxnLst/>
              <a:rect l="l" t="t" r="r" b="b"/>
              <a:pathLst>
                <a:path w="3914775" h="381000">
                  <a:moveTo>
                    <a:pt x="38100" y="0"/>
                  </a:moveTo>
                  <a:lnTo>
                    <a:pt x="3876675" y="0"/>
                  </a:lnTo>
                  <a:cubicBezTo>
                    <a:pt x="3897703" y="0"/>
                    <a:pt x="3914775" y="17072"/>
                    <a:pt x="3914775" y="38100"/>
                  </a:cubicBezTo>
                  <a:lnTo>
                    <a:pt x="3914775" y="342900"/>
                  </a:lnTo>
                  <a:cubicBezTo>
                    <a:pt x="3914775" y="363928"/>
                    <a:pt x="3897703" y="381000"/>
                    <a:pt x="3876675" y="381000"/>
                  </a:cubicBezTo>
                  <a:lnTo>
                    <a:pt x="38100" y="381000"/>
                  </a:lnTo>
                  <a:cubicBezTo>
                    <a:pt x="17072" y="381000"/>
                    <a:pt x="0" y="363928"/>
                    <a:pt x="0" y="3429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527A8A"/>
                </a:gs>
                <a:gs pos="100000">
                  <a:srgbClr val="6B8E9F"/>
                </a:gs>
              </a:gsLst>
              <a:lin ang="0" scaled="1"/>
            </a:gra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36"/>
            <p:cNvSpPr/>
            <p:nvPr/>
          </p:nvSpPr>
          <p:spPr>
            <a:xfrm>
              <a:off x="604838" y="4845434"/>
              <a:ext cx="3990975" cy="381000"/>
            </a:xfrm>
            <a:prstGeom prst="rect">
              <a:avLst/>
            </a:prstGeom>
            <a:noFill/>
            <a:ln/>
          </p:spPr>
          <p:txBody>
            <a:bodyPr wrap="square" lIns="152400" tIns="0" rIns="15240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FFFFFF">
                      <a:alpha val="9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PCIe/NVMe Copy (I/O)</a:t>
              </a:r>
              <a:endParaRPr lang="en-US" sz="1600" dirty="0"/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872DA2FF-B642-32C8-9CA7-5519CB727074}"/>
              </a:ext>
            </a:extLst>
          </p:cNvPr>
          <p:cNvSpPr txBox="1"/>
          <p:nvPr/>
        </p:nvSpPr>
        <p:spPr>
          <a:xfrm>
            <a:off x="3075111" y="5873089"/>
            <a:ext cx="1175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计算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拷贝重叠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异步数据迁移中枢 OffloadManager 的双向调度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00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1000" y="990600"/>
            <a:ext cx="5600700" cy="5486400"/>
          </a:xfrm>
          <a:custGeom>
            <a:avLst/>
            <a:gdLst/>
            <a:ahLst/>
            <a:cxnLst/>
            <a:rect l="l" t="t" r="r" b="b"/>
            <a:pathLst>
              <a:path w="5600700" h="5486400">
                <a:moveTo>
                  <a:pt x="152412" y="0"/>
                </a:moveTo>
                <a:lnTo>
                  <a:pt x="5448288" y="0"/>
                </a:lnTo>
                <a:cubicBezTo>
                  <a:pt x="5532463" y="0"/>
                  <a:pt x="5600700" y="68237"/>
                  <a:pt x="5600700" y="152412"/>
                </a:cubicBezTo>
                <a:lnTo>
                  <a:pt x="5600700" y="5333988"/>
                </a:lnTo>
                <a:cubicBezTo>
                  <a:pt x="5600700" y="5418163"/>
                  <a:pt x="5532463" y="5486400"/>
                  <a:pt x="5448288" y="5486400"/>
                </a:cubicBezTo>
                <a:lnTo>
                  <a:pt x="152412" y="5486400"/>
                </a:lnTo>
                <a:cubicBezTo>
                  <a:pt x="68237" y="5486400"/>
                  <a:pt x="0" y="5418163"/>
                  <a:pt x="0" y="53339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1000" y="990600"/>
            <a:ext cx="5600700" cy="800100"/>
          </a:xfrm>
          <a:custGeom>
            <a:avLst/>
            <a:gdLst/>
            <a:ahLst/>
            <a:cxnLst/>
            <a:rect l="l" t="t" r="r" b="b"/>
            <a:pathLst>
              <a:path w="5600700" h="800100">
                <a:moveTo>
                  <a:pt x="0" y="0"/>
                </a:moveTo>
                <a:lnTo>
                  <a:pt x="5600700" y="0"/>
                </a:lnTo>
                <a:lnTo>
                  <a:pt x="56007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52463" y="1276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14288"/>
                </a:moveTo>
                <a:cubicBezTo>
                  <a:pt x="114300" y="6385"/>
                  <a:pt x="107915" y="0"/>
                  <a:pt x="100013" y="0"/>
                </a:cubicBezTo>
                <a:cubicBezTo>
                  <a:pt x="92110" y="0"/>
                  <a:pt x="85725" y="6385"/>
                  <a:pt x="85725" y="14288"/>
                </a:cubicBezTo>
                <a:lnTo>
                  <a:pt x="85725" y="108362"/>
                </a:lnTo>
                <a:lnTo>
                  <a:pt x="67241" y="89877"/>
                </a:lnTo>
                <a:cubicBezTo>
                  <a:pt x="61659" y="84296"/>
                  <a:pt x="52596" y="84296"/>
                  <a:pt x="47015" y="89877"/>
                </a:cubicBezTo>
                <a:cubicBezTo>
                  <a:pt x="41434" y="95458"/>
                  <a:pt x="41434" y="104522"/>
                  <a:pt x="47015" y="110103"/>
                </a:cubicBezTo>
                <a:lnTo>
                  <a:pt x="89877" y="152966"/>
                </a:lnTo>
                <a:cubicBezTo>
                  <a:pt x="95458" y="158547"/>
                  <a:pt x="104522" y="158547"/>
                  <a:pt x="110103" y="152966"/>
                </a:cubicBezTo>
                <a:lnTo>
                  <a:pt x="152966" y="110103"/>
                </a:lnTo>
                <a:cubicBezTo>
                  <a:pt x="158547" y="104522"/>
                  <a:pt x="158547" y="95458"/>
                  <a:pt x="152966" y="89877"/>
                </a:cubicBezTo>
                <a:cubicBezTo>
                  <a:pt x="147384" y="84296"/>
                  <a:pt x="138321" y="84296"/>
                  <a:pt x="132740" y="89877"/>
                </a:cubicBezTo>
                <a:lnTo>
                  <a:pt x="114300" y="108362"/>
                </a:lnTo>
                <a:lnTo>
                  <a:pt x="114300" y="14288"/>
                </a:lnTo>
                <a:close/>
                <a:moveTo>
                  <a:pt x="28575" y="142875"/>
                </a:moveTo>
                <a:cubicBezTo>
                  <a:pt x="12814" y="142875"/>
                  <a:pt x="0" y="155689"/>
                  <a:pt x="0" y="171450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71450"/>
                </a:lnTo>
                <a:cubicBezTo>
                  <a:pt x="200025" y="155689"/>
                  <a:pt x="187211" y="142875"/>
                  <a:pt x="171450" y="142875"/>
                </a:cubicBezTo>
                <a:lnTo>
                  <a:pt x="150510" y="142875"/>
                </a:lnTo>
                <a:lnTo>
                  <a:pt x="125239" y="168146"/>
                </a:lnTo>
                <a:cubicBezTo>
                  <a:pt x="111309" y="182076"/>
                  <a:pt x="88672" y="182076"/>
                  <a:pt x="74741" y="168146"/>
                </a:cubicBezTo>
                <a:lnTo>
                  <a:pt x="49515" y="142875"/>
                </a:lnTo>
                <a:lnTo>
                  <a:pt x="28575" y="142875"/>
                </a:lnTo>
                <a:close/>
                <a:moveTo>
                  <a:pt x="164306" y="167878"/>
                </a:moveTo>
                <a:cubicBezTo>
                  <a:pt x="170220" y="167878"/>
                  <a:pt x="175022" y="172680"/>
                  <a:pt x="175022" y="178594"/>
                </a:cubicBezTo>
                <a:cubicBezTo>
                  <a:pt x="175022" y="184508"/>
                  <a:pt x="170220" y="189309"/>
                  <a:pt x="164306" y="189309"/>
                </a:cubicBezTo>
                <a:cubicBezTo>
                  <a:pt x="158392" y="189309"/>
                  <a:pt x="153591" y="184508"/>
                  <a:pt x="153591" y="178594"/>
                </a:cubicBezTo>
                <a:cubicBezTo>
                  <a:pt x="153591" y="172680"/>
                  <a:pt x="158392" y="167878"/>
                  <a:pt x="164306" y="16787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09650" y="1143000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卸载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9650" y="1447800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Offload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1981200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380998"/>
                </a:lnTo>
                <a:cubicBezTo>
                  <a:pt x="5219700" y="423083"/>
                  <a:pt x="5185583" y="457200"/>
                  <a:pt x="51434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33400" y="1981200"/>
            <a:ext cx="529590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G1 (GPU HBM)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95625" y="25527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71500" y="2895600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380998"/>
                </a:lnTo>
                <a:cubicBezTo>
                  <a:pt x="5219700" y="423083"/>
                  <a:pt x="5185583" y="457200"/>
                  <a:pt x="51434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33400" y="2895600"/>
            <a:ext cx="529590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G2 (Host Memory)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95625" y="34671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71500" y="3810000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380998"/>
                </a:lnTo>
                <a:cubicBezTo>
                  <a:pt x="5219700" y="423083"/>
                  <a:pt x="5185583" y="457200"/>
                  <a:pt x="51434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B8E9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33400" y="3810000"/>
            <a:ext cx="529590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G3 (NVMe Disk)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0550" y="4800600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90550" y="48006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42950" y="4953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1431"/>
                </a:moveTo>
                <a:cubicBezTo>
                  <a:pt x="0" y="17502"/>
                  <a:pt x="3185" y="14288"/>
                  <a:pt x="7144" y="14288"/>
                </a:cubicBezTo>
                <a:lnTo>
                  <a:pt x="21431" y="14288"/>
                </a:lnTo>
                <a:cubicBezTo>
                  <a:pt x="25390" y="14288"/>
                  <a:pt x="28575" y="17472"/>
                  <a:pt x="28575" y="21431"/>
                </a:cubicBezTo>
                <a:lnTo>
                  <a:pt x="28575" y="52388"/>
                </a:lnTo>
                <a:lnTo>
                  <a:pt x="35719" y="52388"/>
                </a:lnTo>
                <a:cubicBezTo>
                  <a:pt x="39678" y="52388"/>
                  <a:pt x="42863" y="55572"/>
                  <a:pt x="42863" y="59531"/>
                </a:cubicBezTo>
                <a:cubicBezTo>
                  <a:pt x="42863" y="63490"/>
                  <a:pt x="39678" y="66675"/>
                  <a:pt x="35719" y="66675"/>
                </a:cubicBezTo>
                <a:lnTo>
                  <a:pt x="7144" y="66675"/>
                </a:lnTo>
                <a:cubicBezTo>
                  <a:pt x="3185" y="66675"/>
                  <a:pt x="0" y="63490"/>
                  <a:pt x="0" y="59531"/>
                </a:cubicBezTo>
                <a:cubicBezTo>
                  <a:pt x="0" y="55572"/>
                  <a:pt x="3185" y="52388"/>
                  <a:pt x="7144" y="52388"/>
                </a:cubicBezTo>
                <a:lnTo>
                  <a:pt x="14288" y="52388"/>
                </a:lnTo>
                <a:lnTo>
                  <a:pt x="14288" y="28575"/>
                </a:lnTo>
                <a:lnTo>
                  <a:pt x="7144" y="28575"/>
                </a:lnTo>
                <a:cubicBezTo>
                  <a:pt x="3185" y="28575"/>
                  <a:pt x="0" y="25390"/>
                  <a:pt x="0" y="21431"/>
                </a:cubicBezTo>
                <a:close/>
                <a:moveTo>
                  <a:pt x="9049" y="89654"/>
                </a:moveTo>
                <a:cubicBezTo>
                  <a:pt x="12442" y="87094"/>
                  <a:pt x="16579" y="85725"/>
                  <a:pt x="20836" y="85725"/>
                </a:cubicBezTo>
                <a:lnTo>
                  <a:pt x="22294" y="85725"/>
                </a:lnTo>
                <a:cubicBezTo>
                  <a:pt x="32325" y="85725"/>
                  <a:pt x="40481" y="93881"/>
                  <a:pt x="40481" y="103912"/>
                </a:cubicBezTo>
                <a:cubicBezTo>
                  <a:pt x="40481" y="109746"/>
                  <a:pt x="37683" y="115193"/>
                  <a:pt x="32980" y="118616"/>
                </a:cubicBezTo>
                <a:lnTo>
                  <a:pt x="25837" y="123825"/>
                </a:lnTo>
                <a:lnTo>
                  <a:pt x="35719" y="123825"/>
                </a:lnTo>
                <a:cubicBezTo>
                  <a:pt x="39678" y="123825"/>
                  <a:pt x="42863" y="127010"/>
                  <a:pt x="42863" y="130969"/>
                </a:cubicBezTo>
                <a:cubicBezTo>
                  <a:pt x="42863" y="134928"/>
                  <a:pt x="39678" y="138113"/>
                  <a:pt x="35719" y="138113"/>
                </a:cubicBezTo>
                <a:lnTo>
                  <a:pt x="8721" y="138113"/>
                </a:lnTo>
                <a:cubicBezTo>
                  <a:pt x="3899" y="138113"/>
                  <a:pt x="0" y="134213"/>
                  <a:pt x="0" y="129391"/>
                </a:cubicBezTo>
                <a:cubicBezTo>
                  <a:pt x="0" y="126593"/>
                  <a:pt x="1339" y="123974"/>
                  <a:pt x="3602" y="122337"/>
                </a:cubicBezTo>
                <a:lnTo>
                  <a:pt x="24586" y="107067"/>
                </a:lnTo>
                <a:cubicBezTo>
                  <a:pt x="25598" y="106323"/>
                  <a:pt x="26194" y="105162"/>
                  <a:pt x="26194" y="103912"/>
                </a:cubicBezTo>
                <a:cubicBezTo>
                  <a:pt x="26194" y="101769"/>
                  <a:pt x="24438" y="100012"/>
                  <a:pt x="22294" y="100012"/>
                </a:cubicBezTo>
                <a:lnTo>
                  <a:pt x="20836" y="100013"/>
                </a:lnTo>
                <a:cubicBezTo>
                  <a:pt x="19675" y="100013"/>
                  <a:pt x="18544" y="100399"/>
                  <a:pt x="17621" y="101084"/>
                </a:cubicBezTo>
                <a:lnTo>
                  <a:pt x="11430" y="105728"/>
                </a:lnTo>
                <a:cubicBezTo>
                  <a:pt x="8275" y="108109"/>
                  <a:pt x="3810" y="107454"/>
                  <a:pt x="1429" y="104299"/>
                </a:cubicBezTo>
                <a:cubicBezTo>
                  <a:pt x="-953" y="101144"/>
                  <a:pt x="-298" y="96679"/>
                  <a:pt x="2858" y="94298"/>
                </a:cubicBezTo>
                <a:lnTo>
                  <a:pt x="9049" y="89654"/>
                </a:lnTo>
                <a:close/>
                <a:moveTo>
                  <a:pt x="66675" y="19050"/>
                </a:move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66675" y="38100"/>
                </a:lnTo>
                <a:cubicBezTo>
                  <a:pt x="61406" y="38100"/>
                  <a:pt x="57150" y="33844"/>
                  <a:pt x="57150" y="28575"/>
                </a:cubicBezTo>
                <a:cubicBezTo>
                  <a:pt x="57150" y="23306"/>
                  <a:pt x="61406" y="19050"/>
                  <a:pt x="66675" y="19050"/>
                </a:cubicBezTo>
                <a:close/>
                <a:moveTo>
                  <a:pt x="66675" y="66675"/>
                </a:move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66675" y="85725"/>
                </a:lnTo>
                <a:cubicBezTo>
                  <a:pt x="61406" y="85725"/>
                  <a:pt x="57150" y="81469"/>
                  <a:pt x="57150" y="76200"/>
                </a:cubicBezTo>
                <a:cubicBezTo>
                  <a:pt x="57150" y="70931"/>
                  <a:pt x="61406" y="66675"/>
                  <a:pt x="66675" y="66675"/>
                </a:cubicBezTo>
                <a:close/>
                <a:moveTo>
                  <a:pt x="66675" y="114300"/>
                </a:move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66675" y="133350"/>
                </a:lnTo>
                <a:cubicBezTo>
                  <a:pt x="61406" y="133350"/>
                  <a:pt x="57150" y="129094"/>
                  <a:pt x="57150" y="123825"/>
                </a:cubicBezTo>
                <a:cubicBezTo>
                  <a:pt x="57150" y="118556"/>
                  <a:pt x="61406" y="114300"/>
                  <a:pt x="66675" y="11430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90600" y="4914900"/>
            <a:ext cx="394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卸载策略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5181600"/>
            <a:ext cx="393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基于优先级队列调度，优先卸载极低频访问块或响应紧急空间释放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0550" y="5600700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90550" y="56007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52475" y="5753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90600" y="57150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零拷贝加速 (CPU Bypass)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0600" y="59817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数据从 GPU 绕过主机内存直达 NVMe，释放 CPU 带宽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0300" y="990600"/>
            <a:ext cx="5600700" cy="5486400"/>
          </a:xfrm>
          <a:custGeom>
            <a:avLst/>
            <a:gdLst/>
            <a:ahLst/>
            <a:cxnLst/>
            <a:rect l="l" t="t" r="r" b="b"/>
            <a:pathLst>
              <a:path w="5600700" h="5486400">
                <a:moveTo>
                  <a:pt x="152412" y="0"/>
                </a:moveTo>
                <a:lnTo>
                  <a:pt x="5448288" y="0"/>
                </a:lnTo>
                <a:cubicBezTo>
                  <a:pt x="5532463" y="0"/>
                  <a:pt x="5600700" y="68237"/>
                  <a:pt x="5600700" y="152412"/>
                </a:cubicBezTo>
                <a:lnTo>
                  <a:pt x="5600700" y="5333988"/>
                </a:lnTo>
                <a:cubicBezTo>
                  <a:pt x="5600700" y="5418163"/>
                  <a:pt x="5532463" y="5486400"/>
                  <a:pt x="5448288" y="5486400"/>
                </a:cubicBezTo>
                <a:lnTo>
                  <a:pt x="152412" y="5486400"/>
                </a:lnTo>
                <a:cubicBezTo>
                  <a:pt x="68237" y="5486400"/>
                  <a:pt x="0" y="5418163"/>
                  <a:pt x="0" y="53339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210300" y="990600"/>
            <a:ext cx="5600700" cy="800100"/>
          </a:xfrm>
          <a:custGeom>
            <a:avLst/>
            <a:gdLst/>
            <a:ahLst/>
            <a:cxnLst/>
            <a:rect l="l" t="t" r="r" b="b"/>
            <a:pathLst>
              <a:path w="5600700" h="800100">
                <a:moveTo>
                  <a:pt x="0" y="0"/>
                </a:moveTo>
                <a:lnTo>
                  <a:pt x="5600700" y="0"/>
                </a:lnTo>
                <a:lnTo>
                  <a:pt x="56007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27A8A"/>
              </a:gs>
              <a:gs pos="100000">
                <a:srgbClr val="6B8E9F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481763" y="1276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48801"/>
                </a:moveTo>
                <a:lnTo>
                  <a:pt x="114300" y="142875"/>
                </a:lnTo>
                <a:cubicBezTo>
                  <a:pt x="114300" y="150778"/>
                  <a:pt x="107915" y="157163"/>
                  <a:pt x="100013" y="157163"/>
                </a:cubicBezTo>
                <a:cubicBezTo>
                  <a:pt x="92110" y="157163"/>
                  <a:pt x="85725" y="150778"/>
                  <a:pt x="85725" y="142875"/>
                </a:cubicBezTo>
                <a:lnTo>
                  <a:pt x="85725" y="48801"/>
                </a:lnTo>
                <a:lnTo>
                  <a:pt x="67241" y="67285"/>
                </a:lnTo>
                <a:cubicBezTo>
                  <a:pt x="61659" y="72866"/>
                  <a:pt x="52596" y="72866"/>
                  <a:pt x="47015" y="67285"/>
                </a:cubicBezTo>
                <a:cubicBezTo>
                  <a:pt x="41434" y="61704"/>
                  <a:pt x="41434" y="52641"/>
                  <a:pt x="47015" y="47059"/>
                </a:cubicBezTo>
                <a:lnTo>
                  <a:pt x="89877" y="4197"/>
                </a:lnTo>
                <a:cubicBezTo>
                  <a:pt x="95458" y="-1384"/>
                  <a:pt x="104522" y="-1384"/>
                  <a:pt x="110103" y="4197"/>
                </a:cubicBezTo>
                <a:lnTo>
                  <a:pt x="152966" y="47059"/>
                </a:lnTo>
                <a:cubicBezTo>
                  <a:pt x="158547" y="52641"/>
                  <a:pt x="158547" y="61704"/>
                  <a:pt x="152966" y="67285"/>
                </a:cubicBezTo>
                <a:cubicBezTo>
                  <a:pt x="147384" y="72866"/>
                  <a:pt x="138321" y="72866"/>
                  <a:pt x="132740" y="67285"/>
                </a:cubicBezTo>
                <a:lnTo>
                  <a:pt x="114300" y="48801"/>
                </a:lnTo>
                <a:close/>
                <a:moveTo>
                  <a:pt x="100013" y="178594"/>
                </a:moveTo>
                <a:cubicBezTo>
                  <a:pt x="119747" y="178594"/>
                  <a:pt x="135731" y="162610"/>
                  <a:pt x="135731" y="142875"/>
                </a:cubicBezTo>
                <a:lnTo>
                  <a:pt x="171450" y="142875"/>
                </a:lnTo>
                <a:cubicBezTo>
                  <a:pt x="187211" y="142875"/>
                  <a:pt x="200025" y="155689"/>
                  <a:pt x="200025" y="1714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171450"/>
                </a:lnTo>
                <a:cubicBezTo>
                  <a:pt x="0" y="155689"/>
                  <a:pt x="12814" y="142875"/>
                  <a:pt x="28575" y="142875"/>
                </a:cubicBezTo>
                <a:lnTo>
                  <a:pt x="64294" y="142875"/>
                </a:lnTo>
                <a:cubicBezTo>
                  <a:pt x="64294" y="162610"/>
                  <a:pt x="80278" y="178594"/>
                  <a:pt x="100013" y="178594"/>
                </a:cubicBezTo>
                <a:close/>
                <a:moveTo>
                  <a:pt x="164306" y="189309"/>
                </a:moveTo>
                <a:cubicBezTo>
                  <a:pt x="170220" y="189309"/>
                  <a:pt x="175022" y="184508"/>
                  <a:pt x="175022" y="178594"/>
                </a:cubicBezTo>
                <a:cubicBezTo>
                  <a:pt x="175022" y="172680"/>
                  <a:pt x="170220" y="167878"/>
                  <a:pt x="164306" y="167878"/>
                </a:cubicBezTo>
                <a:cubicBezTo>
                  <a:pt x="158392" y="167878"/>
                  <a:pt x="153591" y="172680"/>
                  <a:pt x="153591" y="178594"/>
                </a:cubicBezTo>
                <a:cubicBezTo>
                  <a:pt x="153591" y="184508"/>
                  <a:pt x="158392" y="189309"/>
                  <a:pt x="164306" y="18930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838950" y="1143000"/>
            <a:ext cx="628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加载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38950" y="1447800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Onboard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0" y="1981200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380998"/>
                </a:lnTo>
                <a:cubicBezTo>
                  <a:pt x="5219700" y="423083"/>
                  <a:pt x="5185583" y="457200"/>
                  <a:pt x="51434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B8E9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62700" y="1981200"/>
            <a:ext cx="529590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G3 (NVMe Disk)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924925" y="25527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95816" y="7769"/>
                </a:moveTo>
                <a:cubicBezTo>
                  <a:pt x="90234" y="2188"/>
                  <a:pt x="81171" y="2188"/>
                  <a:pt x="75590" y="7769"/>
                </a:cubicBezTo>
                <a:lnTo>
                  <a:pt x="4152" y="79206"/>
                </a:lnTo>
                <a:cubicBezTo>
                  <a:pt x="-1429" y="84787"/>
                  <a:pt x="-1429" y="93851"/>
                  <a:pt x="4152" y="99432"/>
                </a:cubicBezTo>
                <a:cubicBezTo>
                  <a:pt x="9733" y="105013"/>
                  <a:pt x="18797" y="105013"/>
                  <a:pt x="24378" y="99432"/>
                </a:cubicBezTo>
                <a:lnTo>
                  <a:pt x="71438" y="52373"/>
                </a:lnTo>
                <a:lnTo>
                  <a:pt x="71438" y="217884"/>
                </a:lnTo>
                <a:cubicBezTo>
                  <a:pt x="71438" y="225787"/>
                  <a:pt x="77822" y="232172"/>
                  <a:pt x="85725" y="232172"/>
                </a:cubicBezTo>
                <a:cubicBezTo>
                  <a:pt x="93628" y="232172"/>
                  <a:pt x="100013" y="225787"/>
                  <a:pt x="100013" y="217884"/>
                </a:cubicBezTo>
                <a:lnTo>
                  <a:pt x="100013" y="52373"/>
                </a:lnTo>
                <a:lnTo>
                  <a:pt x="147072" y="99432"/>
                </a:lnTo>
                <a:cubicBezTo>
                  <a:pt x="152653" y="105013"/>
                  <a:pt x="161717" y="105013"/>
                  <a:pt x="167298" y="99432"/>
                </a:cubicBezTo>
                <a:cubicBezTo>
                  <a:pt x="172879" y="93851"/>
                  <a:pt x="172879" y="84787"/>
                  <a:pt x="167298" y="79206"/>
                </a:cubicBezTo>
                <a:lnTo>
                  <a:pt x="95860" y="7769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400800" y="2895600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380998"/>
                </a:lnTo>
                <a:cubicBezTo>
                  <a:pt x="5219700" y="423083"/>
                  <a:pt x="5185583" y="457200"/>
                  <a:pt x="51434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362700" y="2895600"/>
            <a:ext cx="529590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G2 (Host Memory)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24925" y="34671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95816" y="7769"/>
                </a:moveTo>
                <a:cubicBezTo>
                  <a:pt x="90234" y="2188"/>
                  <a:pt x="81171" y="2188"/>
                  <a:pt x="75590" y="7769"/>
                </a:cubicBezTo>
                <a:lnTo>
                  <a:pt x="4152" y="79206"/>
                </a:lnTo>
                <a:cubicBezTo>
                  <a:pt x="-1429" y="84787"/>
                  <a:pt x="-1429" y="93851"/>
                  <a:pt x="4152" y="99432"/>
                </a:cubicBezTo>
                <a:cubicBezTo>
                  <a:pt x="9733" y="105013"/>
                  <a:pt x="18797" y="105013"/>
                  <a:pt x="24378" y="99432"/>
                </a:cubicBezTo>
                <a:lnTo>
                  <a:pt x="71438" y="52373"/>
                </a:lnTo>
                <a:lnTo>
                  <a:pt x="71438" y="217884"/>
                </a:lnTo>
                <a:cubicBezTo>
                  <a:pt x="71438" y="225787"/>
                  <a:pt x="77822" y="232172"/>
                  <a:pt x="85725" y="232172"/>
                </a:cubicBezTo>
                <a:cubicBezTo>
                  <a:pt x="93628" y="232172"/>
                  <a:pt x="100013" y="225787"/>
                  <a:pt x="100013" y="217884"/>
                </a:cubicBezTo>
                <a:lnTo>
                  <a:pt x="100013" y="52373"/>
                </a:lnTo>
                <a:lnTo>
                  <a:pt x="147072" y="99432"/>
                </a:lnTo>
                <a:cubicBezTo>
                  <a:pt x="152653" y="105013"/>
                  <a:pt x="161717" y="105013"/>
                  <a:pt x="167298" y="99432"/>
                </a:cubicBezTo>
                <a:cubicBezTo>
                  <a:pt x="172879" y="93851"/>
                  <a:pt x="172879" y="84787"/>
                  <a:pt x="167298" y="79206"/>
                </a:cubicBezTo>
                <a:lnTo>
                  <a:pt x="95860" y="7769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400800" y="3810000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380998"/>
                </a:lnTo>
                <a:cubicBezTo>
                  <a:pt x="5219700" y="423083"/>
                  <a:pt x="5185583" y="457200"/>
                  <a:pt x="51434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362700" y="3810000"/>
            <a:ext cx="529590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G1 (GPU HBM)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19850" y="4800600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419850" y="48006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572250" y="4953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819900" y="4914900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加载触发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19900" y="5181600"/>
            <a:ext cx="402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推理请求发生 Cache Hit 时，命中 G2/G3 的 Block 触发预加载机制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19850" y="5600700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419850" y="56007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591300" y="57531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56138"/>
                </a:moveTo>
                <a:cubicBezTo>
                  <a:pt x="0" y="25122"/>
                  <a:pt x="25598" y="0"/>
                  <a:pt x="57150" y="0"/>
                </a:cubicBezTo>
                <a:cubicBezTo>
                  <a:pt x="88702" y="0"/>
                  <a:pt x="114300" y="25122"/>
                  <a:pt x="114300" y="56138"/>
                </a:cubicBezTo>
                <a:cubicBezTo>
                  <a:pt x="114300" y="91648"/>
                  <a:pt x="78522" y="134213"/>
                  <a:pt x="63579" y="150435"/>
                </a:cubicBezTo>
                <a:cubicBezTo>
                  <a:pt x="60067" y="154245"/>
                  <a:pt x="54203" y="154245"/>
                  <a:pt x="50691" y="150435"/>
                </a:cubicBezTo>
                <a:cubicBezTo>
                  <a:pt x="35749" y="134213"/>
                  <a:pt x="-30" y="91648"/>
                  <a:pt x="-30" y="56138"/>
                </a:cubicBezTo>
                <a:close/>
                <a:moveTo>
                  <a:pt x="57150" y="76200"/>
                </a:moveTo>
                <a:cubicBezTo>
                  <a:pt x="67664" y="76200"/>
                  <a:pt x="76200" y="67664"/>
                  <a:pt x="76200" y="57150"/>
                </a:cubicBezTo>
                <a:cubicBezTo>
                  <a:pt x="76200" y="46636"/>
                  <a:pt x="67664" y="38100"/>
                  <a:pt x="57150" y="38100"/>
                </a:cubicBezTo>
                <a:cubicBezTo>
                  <a:pt x="46636" y="38100"/>
                  <a:pt x="38100" y="46636"/>
                  <a:pt x="38100" y="57150"/>
                </a:cubicBezTo>
                <a:cubicBezTo>
                  <a:pt x="38100" y="67664"/>
                  <a:pt x="46636" y="76200"/>
                  <a:pt x="57150" y="7620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819900" y="571500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重新映射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19900" y="5981700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预加载完成后，数据重新映射回 G1，供 GPU 直接使用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隔离运行时与逻辑状态的控制大脑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00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1000" y="990600"/>
            <a:ext cx="6724650" cy="5486400"/>
          </a:xfrm>
          <a:custGeom>
            <a:avLst/>
            <a:gdLst/>
            <a:ahLst/>
            <a:cxnLst/>
            <a:rect l="l" t="t" r="r" b="b"/>
            <a:pathLst>
              <a:path w="6724650" h="5486400">
                <a:moveTo>
                  <a:pt x="152412" y="0"/>
                </a:moveTo>
                <a:lnTo>
                  <a:pt x="6572238" y="0"/>
                </a:lnTo>
                <a:cubicBezTo>
                  <a:pt x="6656413" y="0"/>
                  <a:pt x="6724650" y="68237"/>
                  <a:pt x="6724650" y="152412"/>
                </a:cubicBezTo>
                <a:lnTo>
                  <a:pt x="6724650" y="5333988"/>
                </a:lnTo>
                <a:cubicBezTo>
                  <a:pt x="6724650" y="5418163"/>
                  <a:pt x="6656413" y="5486400"/>
                  <a:pt x="6572238" y="5486400"/>
                </a:cubicBezTo>
                <a:lnTo>
                  <a:pt x="152412" y="5486400"/>
                </a:lnTo>
                <a:cubicBezTo>
                  <a:pt x="68237" y="5486400"/>
                  <a:pt x="0" y="5418163"/>
                  <a:pt x="0" y="53339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09600" y="1219200"/>
            <a:ext cx="6267450" cy="1028700"/>
          </a:xfrm>
          <a:custGeom>
            <a:avLst/>
            <a:gdLst/>
            <a:ahLst/>
            <a:cxnLst/>
            <a:rect l="l" t="t" r="r" b="b"/>
            <a:pathLst>
              <a:path w="6267450" h="1028700">
                <a:moveTo>
                  <a:pt x="114299" y="0"/>
                </a:moveTo>
                <a:lnTo>
                  <a:pt x="6153151" y="0"/>
                </a:lnTo>
                <a:cubicBezTo>
                  <a:pt x="6216277" y="0"/>
                  <a:pt x="6267450" y="51173"/>
                  <a:pt x="6267450" y="114299"/>
                </a:cubicBezTo>
                <a:lnTo>
                  <a:pt x="6267450" y="914401"/>
                </a:lnTo>
                <a:cubicBezTo>
                  <a:pt x="6267450" y="977527"/>
                  <a:pt x="6216277" y="1028700"/>
                  <a:pt x="615315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62000" y="1371600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KvBlockManager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63830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Facade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23422" y="14573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60734" y="35719"/>
                </a:moveTo>
                <a:lnTo>
                  <a:pt x="196453" y="35719"/>
                </a:lnTo>
                <a:lnTo>
                  <a:pt x="196453" y="267891"/>
                </a:lnTo>
                <a:cubicBezTo>
                  <a:pt x="196453" y="277769"/>
                  <a:pt x="204434" y="285750"/>
                  <a:pt x="214313" y="285750"/>
                </a:cubicBezTo>
                <a:lnTo>
                  <a:pt x="232172" y="285750"/>
                </a:lnTo>
                <a:cubicBezTo>
                  <a:pt x="242050" y="285750"/>
                  <a:pt x="250031" y="277769"/>
                  <a:pt x="250031" y="267891"/>
                </a:cubicBezTo>
                <a:cubicBezTo>
                  <a:pt x="250031" y="258012"/>
                  <a:pt x="242050" y="250031"/>
                  <a:pt x="232172" y="250031"/>
                </a:cubicBezTo>
                <a:lnTo>
                  <a:pt x="232172" y="35719"/>
                </a:lnTo>
                <a:cubicBezTo>
                  <a:pt x="232172" y="16018"/>
                  <a:pt x="216154" y="0"/>
                  <a:pt x="196453" y="0"/>
                </a:cubicBezTo>
                <a:lnTo>
                  <a:pt x="142875" y="0"/>
                </a:lnTo>
                <a:lnTo>
                  <a:pt x="142875" y="0"/>
                </a:lnTo>
                <a:lnTo>
                  <a:pt x="53578" y="0"/>
                </a:lnTo>
                <a:cubicBezTo>
                  <a:pt x="33877" y="0"/>
                  <a:pt x="17859" y="16018"/>
                  <a:pt x="17859" y="35719"/>
                </a:cubicBezTo>
                <a:lnTo>
                  <a:pt x="17859" y="250031"/>
                </a:lnTo>
                <a:cubicBezTo>
                  <a:pt x="7981" y="250031"/>
                  <a:pt x="0" y="258012"/>
                  <a:pt x="0" y="267891"/>
                </a:cubicBezTo>
                <a:cubicBezTo>
                  <a:pt x="0" y="277769"/>
                  <a:pt x="7981" y="285750"/>
                  <a:pt x="17859" y="285750"/>
                </a:cubicBezTo>
                <a:lnTo>
                  <a:pt x="142875" y="285750"/>
                </a:lnTo>
                <a:cubicBezTo>
                  <a:pt x="152753" y="285750"/>
                  <a:pt x="160734" y="277769"/>
                  <a:pt x="160734" y="267891"/>
                </a:cubicBezTo>
                <a:lnTo>
                  <a:pt x="160734" y="35719"/>
                </a:lnTo>
                <a:close/>
                <a:moveTo>
                  <a:pt x="89297" y="142875"/>
                </a:moveTo>
                <a:cubicBezTo>
                  <a:pt x="89297" y="133018"/>
                  <a:pt x="97299" y="125016"/>
                  <a:pt x="107156" y="125016"/>
                </a:cubicBezTo>
                <a:cubicBezTo>
                  <a:pt x="117013" y="125016"/>
                  <a:pt x="125016" y="133018"/>
                  <a:pt x="125016" y="142875"/>
                </a:cubicBezTo>
                <a:cubicBezTo>
                  <a:pt x="125016" y="152732"/>
                  <a:pt x="117013" y="160734"/>
                  <a:pt x="107156" y="160734"/>
                </a:cubicBezTo>
                <a:cubicBezTo>
                  <a:pt x="97299" y="160734"/>
                  <a:pt x="89297" y="152732"/>
                  <a:pt x="89297" y="142875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62000" y="1905000"/>
            <a:ext cx="602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Arc 指针持有状态，确保跨线程并发安全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38550" y="24765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19125" y="2847975"/>
            <a:ext cx="6248400" cy="3390900"/>
          </a:xfrm>
          <a:custGeom>
            <a:avLst/>
            <a:gdLst/>
            <a:ahLst/>
            <a:cxnLst/>
            <a:rect l="l" t="t" r="r" b="b"/>
            <a:pathLst>
              <a:path w="6248400" h="3390900">
                <a:moveTo>
                  <a:pt x="114307" y="0"/>
                </a:moveTo>
                <a:lnTo>
                  <a:pt x="6134093" y="0"/>
                </a:lnTo>
                <a:cubicBezTo>
                  <a:pt x="6197223" y="0"/>
                  <a:pt x="6248400" y="51177"/>
                  <a:pt x="6248400" y="114307"/>
                </a:cubicBezTo>
                <a:lnTo>
                  <a:pt x="6248400" y="3276593"/>
                </a:lnTo>
                <a:cubicBezTo>
                  <a:pt x="6248400" y="3339723"/>
                  <a:pt x="6197223" y="3390900"/>
                  <a:pt x="6134093" y="3390900"/>
                </a:cubicBezTo>
                <a:lnTo>
                  <a:pt x="114307" y="3390900"/>
                </a:lnTo>
                <a:cubicBezTo>
                  <a:pt x="51177" y="3390900"/>
                  <a:pt x="0" y="3339723"/>
                  <a:pt x="0" y="327659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5F7FA"/>
          </a:solidFill>
          <a:ln w="25400">
            <a:solidFill>
              <a:srgbClr val="527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38188" y="3009900"/>
            <a:ext cx="601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KvBlockManagerState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7713" y="3276600"/>
            <a:ext cx="5991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状态管理核心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0100" y="3581400"/>
            <a:ext cx="2886075" cy="2609850"/>
          </a:xfrm>
          <a:custGeom>
            <a:avLst/>
            <a:gdLst/>
            <a:ahLst/>
            <a:cxnLst/>
            <a:rect l="l" t="t" r="r" b="b"/>
            <a:pathLst>
              <a:path w="2886075" h="2609850">
                <a:moveTo>
                  <a:pt x="38100" y="0"/>
                </a:moveTo>
                <a:lnTo>
                  <a:pt x="2809867" y="0"/>
                </a:lnTo>
                <a:cubicBezTo>
                  <a:pt x="2851956" y="0"/>
                  <a:pt x="2886075" y="34119"/>
                  <a:pt x="2886075" y="76208"/>
                </a:cubicBezTo>
                <a:lnTo>
                  <a:pt x="2886075" y="2533642"/>
                </a:lnTo>
                <a:cubicBezTo>
                  <a:pt x="2886075" y="2575731"/>
                  <a:pt x="2851956" y="2609850"/>
                  <a:pt x="2809867" y="2609850"/>
                </a:cubicBez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00100" y="3581400"/>
            <a:ext cx="38100" cy="2609850"/>
          </a:xfrm>
          <a:custGeom>
            <a:avLst/>
            <a:gdLst/>
            <a:ahLst/>
            <a:cxnLst/>
            <a:rect l="l" t="t" r="r" b="b"/>
            <a:pathLst>
              <a:path w="38100" h="2609850">
                <a:moveTo>
                  <a:pt x="38100" y="0"/>
                </a:moveTo>
                <a:lnTo>
                  <a:pt x="38100" y="0"/>
                </a:lnTo>
                <a:lnTo>
                  <a:pt x="38100" y="2609850"/>
                </a:ln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52500" y="3733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4534" y="-387"/>
                </a:moveTo>
                <a:cubicBezTo>
                  <a:pt x="79385" y="-3364"/>
                  <a:pt x="73015" y="-3364"/>
                  <a:pt x="67866" y="-387"/>
                </a:cubicBezTo>
                <a:lnTo>
                  <a:pt x="42803" y="14079"/>
                </a:lnTo>
                <a:cubicBezTo>
                  <a:pt x="37654" y="17056"/>
                  <a:pt x="34469" y="22562"/>
                  <a:pt x="34469" y="28515"/>
                </a:cubicBezTo>
                <a:lnTo>
                  <a:pt x="34469" y="58847"/>
                </a:lnTo>
                <a:lnTo>
                  <a:pt x="8186" y="74027"/>
                </a:lnTo>
                <a:cubicBezTo>
                  <a:pt x="3036" y="77004"/>
                  <a:pt x="-149" y="82510"/>
                  <a:pt x="-149" y="88463"/>
                </a:cubicBezTo>
                <a:lnTo>
                  <a:pt x="-149" y="117425"/>
                </a:lnTo>
                <a:cubicBezTo>
                  <a:pt x="-149" y="123379"/>
                  <a:pt x="3036" y="128885"/>
                  <a:pt x="8186" y="131862"/>
                </a:cubicBezTo>
                <a:lnTo>
                  <a:pt x="33278" y="146328"/>
                </a:lnTo>
                <a:cubicBezTo>
                  <a:pt x="38427" y="149304"/>
                  <a:pt x="44797" y="149304"/>
                  <a:pt x="49947" y="146328"/>
                </a:cubicBezTo>
                <a:lnTo>
                  <a:pt x="76230" y="131147"/>
                </a:lnTo>
                <a:lnTo>
                  <a:pt x="102513" y="146328"/>
                </a:lnTo>
                <a:cubicBezTo>
                  <a:pt x="107662" y="149304"/>
                  <a:pt x="114032" y="149304"/>
                  <a:pt x="119182" y="146328"/>
                </a:cubicBezTo>
                <a:lnTo>
                  <a:pt x="144214" y="131862"/>
                </a:lnTo>
                <a:cubicBezTo>
                  <a:pt x="149364" y="128885"/>
                  <a:pt x="152549" y="123379"/>
                  <a:pt x="152549" y="117425"/>
                </a:cubicBezTo>
                <a:lnTo>
                  <a:pt x="152549" y="88463"/>
                </a:lnTo>
                <a:cubicBezTo>
                  <a:pt x="152549" y="82510"/>
                  <a:pt x="149364" y="77004"/>
                  <a:pt x="144214" y="74027"/>
                </a:cubicBezTo>
                <a:lnTo>
                  <a:pt x="117931" y="58847"/>
                </a:lnTo>
                <a:lnTo>
                  <a:pt x="117931" y="28515"/>
                </a:lnTo>
                <a:cubicBezTo>
                  <a:pt x="117931" y="22562"/>
                  <a:pt x="114746" y="17056"/>
                  <a:pt x="109597" y="14079"/>
                </a:cubicBezTo>
                <a:lnTo>
                  <a:pt x="84534" y="-387"/>
                </a:lnTo>
                <a:close/>
                <a:moveTo>
                  <a:pt x="69056" y="87094"/>
                </a:moveTo>
                <a:lnTo>
                  <a:pt x="69056" y="118795"/>
                </a:lnTo>
                <a:lnTo>
                  <a:pt x="42773" y="133975"/>
                </a:lnTo>
                <a:cubicBezTo>
                  <a:pt x="42416" y="134183"/>
                  <a:pt x="41999" y="134303"/>
                  <a:pt x="41583" y="134303"/>
                </a:cubicBezTo>
                <a:lnTo>
                  <a:pt x="41583" y="102959"/>
                </a:lnTo>
                <a:lnTo>
                  <a:pt x="69056" y="87094"/>
                </a:lnTo>
                <a:close/>
                <a:moveTo>
                  <a:pt x="137934" y="87273"/>
                </a:moveTo>
                <a:cubicBezTo>
                  <a:pt x="138142" y="87630"/>
                  <a:pt x="138261" y="88047"/>
                  <a:pt x="138261" y="88463"/>
                </a:cubicBezTo>
                <a:lnTo>
                  <a:pt x="138261" y="117425"/>
                </a:lnTo>
                <a:cubicBezTo>
                  <a:pt x="138261" y="118289"/>
                  <a:pt x="137815" y="119063"/>
                  <a:pt x="137071" y="119479"/>
                </a:cubicBezTo>
                <a:lnTo>
                  <a:pt x="111978" y="133945"/>
                </a:lnTo>
                <a:cubicBezTo>
                  <a:pt x="111621" y="134154"/>
                  <a:pt x="111204" y="134273"/>
                  <a:pt x="110788" y="134273"/>
                </a:cubicBezTo>
                <a:lnTo>
                  <a:pt x="110788" y="102930"/>
                </a:lnTo>
                <a:lnTo>
                  <a:pt x="137934" y="87273"/>
                </a:lnTo>
                <a:close/>
                <a:moveTo>
                  <a:pt x="103674" y="28515"/>
                </a:moveTo>
                <a:lnTo>
                  <a:pt x="103674" y="58847"/>
                </a:lnTo>
                <a:lnTo>
                  <a:pt x="76200" y="74712"/>
                </a:lnTo>
                <a:lnTo>
                  <a:pt x="76200" y="43011"/>
                </a:lnTo>
                <a:lnTo>
                  <a:pt x="103346" y="27355"/>
                </a:lnTo>
                <a:cubicBezTo>
                  <a:pt x="103555" y="27712"/>
                  <a:pt x="103674" y="28129"/>
                  <a:pt x="103674" y="28545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23950" y="3695700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ManagedBlockPool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3450" y="4000500"/>
            <a:ext cx="2638425" cy="495300"/>
          </a:xfrm>
          <a:custGeom>
            <a:avLst/>
            <a:gdLst/>
            <a:ahLst/>
            <a:cxnLst/>
            <a:rect l="l" t="t" r="r" b="b"/>
            <a:pathLst>
              <a:path w="2638425" h="495300">
                <a:moveTo>
                  <a:pt x="38098" y="0"/>
                </a:moveTo>
                <a:lnTo>
                  <a:pt x="2600327" y="0"/>
                </a:lnTo>
                <a:cubicBezTo>
                  <a:pt x="2621368" y="0"/>
                  <a:pt x="2638425" y="17057"/>
                  <a:pt x="2638425" y="38098"/>
                </a:cubicBezTo>
                <a:lnTo>
                  <a:pt x="2638425" y="457202"/>
                </a:lnTo>
                <a:cubicBezTo>
                  <a:pt x="2638425" y="478243"/>
                  <a:pt x="2621368" y="495300"/>
                  <a:pt x="260032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2D6A4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09650" y="4076700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ActiveBlockPool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9650" y="4267200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 正在使用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33450" y="4572000"/>
            <a:ext cx="2638425" cy="495300"/>
          </a:xfrm>
          <a:custGeom>
            <a:avLst/>
            <a:gdLst/>
            <a:ahLst/>
            <a:cxnLst/>
            <a:rect l="l" t="t" r="r" b="b"/>
            <a:pathLst>
              <a:path w="2638425" h="495300">
                <a:moveTo>
                  <a:pt x="38098" y="0"/>
                </a:moveTo>
                <a:lnTo>
                  <a:pt x="2600327" y="0"/>
                </a:lnTo>
                <a:cubicBezTo>
                  <a:pt x="2621368" y="0"/>
                  <a:pt x="2638425" y="17057"/>
                  <a:pt x="2638425" y="38098"/>
                </a:cubicBezTo>
                <a:lnTo>
                  <a:pt x="2638425" y="457202"/>
                </a:lnTo>
                <a:cubicBezTo>
                  <a:pt x="2638425" y="478243"/>
                  <a:pt x="2621368" y="495300"/>
                  <a:pt x="260032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527A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09650" y="4648200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InactiveBlockPool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9650" y="4838700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空闲/可复用/待驱逐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9525" y="3581400"/>
            <a:ext cx="2886075" cy="2609850"/>
          </a:xfrm>
          <a:custGeom>
            <a:avLst/>
            <a:gdLst/>
            <a:ahLst/>
            <a:cxnLst/>
            <a:rect l="l" t="t" r="r" b="b"/>
            <a:pathLst>
              <a:path w="2886075" h="2609850">
                <a:moveTo>
                  <a:pt x="38100" y="0"/>
                </a:moveTo>
                <a:lnTo>
                  <a:pt x="2809867" y="0"/>
                </a:lnTo>
                <a:cubicBezTo>
                  <a:pt x="2851956" y="0"/>
                  <a:pt x="2886075" y="34119"/>
                  <a:pt x="2886075" y="76208"/>
                </a:cubicBezTo>
                <a:lnTo>
                  <a:pt x="2886075" y="2533642"/>
                </a:lnTo>
                <a:cubicBezTo>
                  <a:pt x="2886075" y="2575731"/>
                  <a:pt x="2851956" y="2609850"/>
                  <a:pt x="2809867" y="2609850"/>
                </a:cubicBez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819525" y="3581400"/>
            <a:ext cx="38100" cy="2609850"/>
          </a:xfrm>
          <a:custGeom>
            <a:avLst/>
            <a:gdLst/>
            <a:ahLst/>
            <a:cxnLst/>
            <a:rect l="l" t="t" r="r" b="b"/>
            <a:pathLst>
              <a:path w="38100" h="2609850">
                <a:moveTo>
                  <a:pt x="38100" y="0"/>
                </a:moveTo>
                <a:lnTo>
                  <a:pt x="38100" y="0"/>
                </a:lnTo>
                <a:lnTo>
                  <a:pt x="38100" y="2609850"/>
                </a:ln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971925" y="3733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143375" y="3695700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OffloadManager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52875" y="4000500"/>
            <a:ext cx="2638425" cy="2076450"/>
          </a:xfrm>
          <a:custGeom>
            <a:avLst/>
            <a:gdLst/>
            <a:ahLst/>
            <a:cxnLst/>
            <a:rect l="l" t="t" r="r" b="b"/>
            <a:pathLst>
              <a:path w="2638425" h="2076450">
                <a:moveTo>
                  <a:pt x="38103" y="0"/>
                </a:moveTo>
                <a:lnTo>
                  <a:pt x="2600322" y="0"/>
                </a:lnTo>
                <a:cubicBezTo>
                  <a:pt x="2621352" y="0"/>
                  <a:pt x="2638425" y="17073"/>
                  <a:pt x="2638425" y="38103"/>
                </a:cubicBezTo>
                <a:lnTo>
                  <a:pt x="2638425" y="2038347"/>
                </a:lnTo>
                <a:cubicBezTo>
                  <a:pt x="2638425" y="2059391"/>
                  <a:pt x="2621366" y="2076450"/>
                  <a:pt x="2600322" y="2076450"/>
                </a:cubicBezTo>
                <a:lnTo>
                  <a:pt x="38103" y="2076450"/>
                </a:lnTo>
                <a:cubicBezTo>
                  <a:pt x="17059" y="2076450"/>
                  <a:pt x="0" y="2059391"/>
                  <a:pt x="0" y="203834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527A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838700" y="484822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异步传输任务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3463" y="5076825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双向调度队列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53300" y="990600"/>
            <a:ext cx="4457700" cy="1724025"/>
          </a:xfrm>
          <a:custGeom>
            <a:avLst/>
            <a:gdLst/>
            <a:ahLst/>
            <a:cxnLst/>
            <a:rect l="l" t="t" r="r" b="b"/>
            <a:pathLst>
              <a:path w="4457700" h="1724025">
                <a:moveTo>
                  <a:pt x="38100" y="0"/>
                </a:moveTo>
                <a:lnTo>
                  <a:pt x="4343397" y="0"/>
                </a:lnTo>
                <a:cubicBezTo>
                  <a:pt x="4406483" y="0"/>
                  <a:pt x="4457700" y="51217"/>
                  <a:pt x="4457700" y="114303"/>
                </a:cubicBezTo>
                <a:lnTo>
                  <a:pt x="4457700" y="1609722"/>
                </a:lnTo>
                <a:cubicBezTo>
                  <a:pt x="4457700" y="1672808"/>
                  <a:pt x="4406483" y="1724025"/>
                  <a:pt x="4343397" y="1724025"/>
                </a:cubicBezTo>
                <a:lnTo>
                  <a:pt x="38100" y="1724025"/>
                </a:lnTo>
                <a:cubicBezTo>
                  <a:pt x="17058" y="1724025"/>
                  <a:pt x="0" y="1706967"/>
                  <a:pt x="0" y="1685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7353300" y="990600"/>
            <a:ext cx="38100" cy="1724025"/>
          </a:xfrm>
          <a:custGeom>
            <a:avLst/>
            <a:gdLst/>
            <a:ahLst/>
            <a:cxnLst/>
            <a:rect l="l" t="t" r="r" b="b"/>
            <a:pathLst>
              <a:path w="38100" h="1724025">
                <a:moveTo>
                  <a:pt x="38100" y="0"/>
                </a:moveTo>
                <a:lnTo>
                  <a:pt x="38100" y="0"/>
                </a:lnTo>
                <a:lnTo>
                  <a:pt x="38100" y="1724025"/>
                </a:lnTo>
                <a:lnTo>
                  <a:pt x="38100" y="1724025"/>
                </a:lnTo>
                <a:cubicBezTo>
                  <a:pt x="17072" y="1724025"/>
                  <a:pt x="0" y="1706953"/>
                  <a:pt x="0" y="1685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562850" y="1181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670006" y="1285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058150" y="123825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KvBlockManager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62850" y="1676400"/>
            <a:ext cx="4133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KVBM 顶级对外入口。通过 </a:t>
            </a: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 指针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持有状态，确保跨线程并发下的绝对访问安全。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53300" y="2870150"/>
            <a:ext cx="4457700" cy="1724025"/>
          </a:xfrm>
          <a:custGeom>
            <a:avLst/>
            <a:gdLst/>
            <a:ahLst/>
            <a:cxnLst/>
            <a:rect l="l" t="t" r="r" b="b"/>
            <a:pathLst>
              <a:path w="4457700" h="1724025">
                <a:moveTo>
                  <a:pt x="38100" y="0"/>
                </a:moveTo>
                <a:lnTo>
                  <a:pt x="4343397" y="0"/>
                </a:lnTo>
                <a:cubicBezTo>
                  <a:pt x="4406483" y="0"/>
                  <a:pt x="4457700" y="51217"/>
                  <a:pt x="4457700" y="114303"/>
                </a:cubicBezTo>
                <a:lnTo>
                  <a:pt x="4457700" y="1609722"/>
                </a:lnTo>
                <a:cubicBezTo>
                  <a:pt x="4457700" y="1672808"/>
                  <a:pt x="4406483" y="1724025"/>
                  <a:pt x="4343397" y="1724025"/>
                </a:cubicBezTo>
                <a:lnTo>
                  <a:pt x="38100" y="1724025"/>
                </a:lnTo>
                <a:cubicBezTo>
                  <a:pt x="17058" y="1724025"/>
                  <a:pt x="0" y="1706967"/>
                  <a:pt x="0" y="1685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7353300" y="2870150"/>
            <a:ext cx="38100" cy="1724025"/>
          </a:xfrm>
          <a:custGeom>
            <a:avLst/>
            <a:gdLst/>
            <a:ahLst/>
            <a:cxnLst/>
            <a:rect l="l" t="t" r="r" b="b"/>
            <a:pathLst>
              <a:path w="38100" h="1724025">
                <a:moveTo>
                  <a:pt x="38100" y="0"/>
                </a:moveTo>
                <a:lnTo>
                  <a:pt x="38100" y="0"/>
                </a:lnTo>
                <a:lnTo>
                  <a:pt x="38100" y="1724025"/>
                </a:lnTo>
                <a:lnTo>
                  <a:pt x="38100" y="1724025"/>
                </a:lnTo>
                <a:cubicBezTo>
                  <a:pt x="17072" y="1724025"/>
                  <a:pt x="0" y="1706953"/>
                  <a:pt x="0" y="1685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562850" y="3060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670006" y="3165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058150" y="31178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ManagedBlockPool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562850" y="3555950"/>
            <a:ext cx="4133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lib/llm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层通用模板。不直接触碰物理内存，通过异步消息通道，精准转发设备分配请求。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53300" y="4749775"/>
            <a:ext cx="4457700" cy="1724025"/>
          </a:xfrm>
          <a:custGeom>
            <a:avLst/>
            <a:gdLst/>
            <a:ahLst/>
            <a:cxnLst/>
            <a:rect l="l" t="t" r="r" b="b"/>
            <a:pathLst>
              <a:path w="4457700" h="1724025">
                <a:moveTo>
                  <a:pt x="38100" y="0"/>
                </a:moveTo>
                <a:lnTo>
                  <a:pt x="4343397" y="0"/>
                </a:lnTo>
                <a:cubicBezTo>
                  <a:pt x="4406483" y="0"/>
                  <a:pt x="4457700" y="51217"/>
                  <a:pt x="4457700" y="114303"/>
                </a:cubicBezTo>
                <a:lnTo>
                  <a:pt x="4457700" y="1609722"/>
                </a:lnTo>
                <a:cubicBezTo>
                  <a:pt x="4457700" y="1672808"/>
                  <a:pt x="4406483" y="1724025"/>
                  <a:pt x="4343397" y="1724025"/>
                </a:cubicBezTo>
                <a:lnTo>
                  <a:pt x="38100" y="1724025"/>
                </a:lnTo>
                <a:cubicBezTo>
                  <a:pt x="17058" y="1724025"/>
                  <a:pt x="0" y="1706967"/>
                  <a:pt x="0" y="1685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353300" y="4749775"/>
            <a:ext cx="38100" cy="1724025"/>
          </a:xfrm>
          <a:custGeom>
            <a:avLst/>
            <a:gdLst/>
            <a:ahLst/>
            <a:cxnLst/>
            <a:rect l="l" t="t" r="r" b="b"/>
            <a:pathLst>
              <a:path w="38100" h="1724025">
                <a:moveTo>
                  <a:pt x="38100" y="0"/>
                </a:moveTo>
                <a:lnTo>
                  <a:pt x="38100" y="0"/>
                </a:lnTo>
                <a:lnTo>
                  <a:pt x="38100" y="1724025"/>
                </a:lnTo>
                <a:lnTo>
                  <a:pt x="38100" y="1724025"/>
                </a:lnTo>
                <a:cubicBezTo>
                  <a:pt x="17072" y="1724025"/>
                  <a:pt x="0" y="1706953"/>
                  <a:pt x="0" y="1685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562850" y="49402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659291" y="50450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1584" y="80367"/>
                </a:moveTo>
                <a:lnTo>
                  <a:pt x="112648" y="80367"/>
                </a:lnTo>
                <a:cubicBezTo>
                  <a:pt x="106721" y="80367"/>
                  <a:pt x="101932" y="75579"/>
                  <a:pt x="101932" y="69652"/>
                </a:cubicBezTo>
                <a:lnTo>
                  <a:pt x="101932" y="10716"/>
                </a:lnTo>
                <a:cubicBezTo>
                  <a:pt x="101932" y="4789"/>
                  <a:pt x="106754" y="-67"/>
                  <a:pt x="112615" y="703"/>
                </a:cubicBezTo>
                <a:cubicBezTo>
                  <a:pt x="148445" y="5458"/>
                  <a:pt x="176841" y="33855"/>
                  <a:pt x="181596" y="69685"/>
                </a:cubicBezTo>
                <a:cubicBezTo>
                  <a:pt x="182367" y="75545"/>
                  <a:pt x="177511" y="80367"/>
                  <a:pt x="171584" y="80367"/>
                </a:cubicBezTo>
                <a:close/>
                <a:moveTo>
                  <a:pt x="74541" y="12457"/>
                </a:moveTo>
                <a:cubicBezTo>
                  <a:pt x="80602" y="11184"/>
                  <a:pt x="85859" y="16140"/>
                  <a:pt x="85859" y="22335"/>
                </a:cubicBezTo>
                <a:lnTo>
                  <a:pt x="85859" y="88404"/>
                </a:lnTo>
                <a:cubicBezTo>
                  <a:pt x="85859" y="90279"/>
                  <a:pt x="86529" y="92087"/>
                  <a:pt x="87701" y="93527"/>
                </a:cubicBezTo>
                <a:lnTo>
                  <a:pt x="131936" y="146905"/>
                </a:lnTo>
                <a:cubicBezTo>
                  <a:pt x="135854" y="151626"/>
                  <a:pt x="135017" y="158759"/>
                  <a:pt x="129626" y="161672"/>
                </a:cubicBezTo>
                <a:cubicBezTo>
                  <a:pt x="118207" y="167900"/>
                  <a:pt x="105114" y="171450"/>
                  <a:pt x="91217" y="171450"/>
                </a:cubicBezTo>
                <a:cubicBezTo>
                  <a:pt x="46847" y="171450"/>
                  <a:pt x="10850" y="135452"/>
                  <a:pt x="10850" y="91083"/>
                </a:cubicBezTo>
                <a:cubicBezTo>
                  <a:pt x="10850" y="52406"/>
                  <a:pt x="38141" y="20125"/>
                  <a:pt x="74541" y="12457"/>
                </a:cubicBezTo>
                <a:close/>
                <a:moveTo>
                  <a:pt x="159998" y="96441"/>
                </a:moveTo>
                <a:lnTo>
                  <a:pt x="181429" y="96441"/>
                </a:lnTo>
                <a:cubicBezTo>
                  <a:pt x="187624" y="96441"/>
                  <a:pt x="192580" y="101698"/>
                  <a:pt x="191307" y="107759"/>
                </a:cubicBezTo>
                <a:cubicBezTo>
                  <a:pt x="187892" y="123966"/>
                  <a:pt x="179587" y="138366"/>
                  <a:pt x="168001" y="149349"/>
                </a:cubicBezTo>
                <a:cubicBezTo>
                  <a:pt x="163882" y="153267"/>
                  <a:pt x="157419" y="152430"/>
                  <a:pt x="153803" y="148043"/>
                </a:cubicBezTo>
                <a:lnTo>
                  <a:pt x="125540" y="113987"/>
                </a:lnTo>
                <a:cubicBezTo>
                  <a:pt x="119747" y="106989"/>
                  <a:pt x="124737" y="96441"/>
                  <a:pt x="133778" y="96441"/>
                </a:cubicBezTo>
                <a:lnTo>
                  <a:pt x="159964" y="9644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058150" y="499742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状态追踪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562850" y="5435575"/>
            <a:ext cx="4133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内部精准分离</a:t>
            </a:r>
            <a:r>
              <a:rPr lang="en-US" sz="1200" b="1" dirty="0">
                <a:solidFill>
                  <a:srgbClr val="4091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活跃池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200" b="1" dirty="0">
                <a:solidFill>
                  <a:srgbClr val="4091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非活跃池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，实现零碎片化管理。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基于前缀树的全局索引与极微频次追踪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00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1000" y="990600"/>
            <a:ext cx="5600700" cy="5486400"/>
          </a:xfrm>
          <a:custGeom>
            <a:avLst/>
            <a:gdLst/>
            <a:ahLst/>
            <a:cxnLst/>
            <a:rect l="l" t="t" r="r" b="b"/>
            <a:pathLst>
              <a:path w="5600700" h="5486400">
                <a:moveTo>
                  <a:pt x="152412" y="0"/>
                </a:moveTo>
                <a:lnTo>
                  <a:pt x="5448288" y="0"/>
                </a:lnTo>
                <a:cubicBezTo>
                  <a:pt x="5532463" y="0"/>
                  <a:pt x="5600700" y="68237"/>
                  <a:pt x="5600700" y="152412"/>
                </a:cubicBezTo>
                <a:lnTo>
                  <a:pt x="5600700" y="5333988"/>
                </a:lnTo>
                <a:cubicBezTo>
                  <a:pt x="5600700" y="5418163"/>
                  <a:pt x="5532463" y="5486400"/>
                  <a:pt x="5448288" y="5486400"/>
                </a:cubicBezTo>
                <a:lnTo>
                  <a:pt x="152412" y="5486400"/>
                </a:lnTo>
                <a:cubicBezTo>
                  <a:pt x="68237" y="5486400"/>
                  <a:pt x="0" y="5418163"/>
                  <a:pt x="0" y="53339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5313" y="1219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9625" y="118110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BlockRegistry 前缀树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77691" y="2019300"/>
            <a:ext cx="1409700" cy="457200"/>
          </a:xfrm>
          <a:custGeom>
            <a:avLst/>
            <a:gdLst/>
            <a:ahLst/>
            <a:cxnLst/>
            <a:rect l="l" t="t" r="r" b="b"/>
            <a:pathLst>
              <a:path w="1409700" h="457200">
                <a:moveTo>
                  <a:pt x="76202" y="0"/>
                </a:moveTo>
                <a:lnTo>
                  <a:pt x="1333498" y="0"/>
                </a:lnTo>
                <a:cubicBezTo>
                  <a:pt x="1375583" y="0"/>
                  <a:pt x="1409700" y="34117"/>
                  <a:pt x="1409700" y="76202"/>
                </a:cubicBezTo>
                <a:lnTo>
                  <a:pt x="1409700" y="380998"/>
                </a:lnTo>
                <a:cubicBezTo>
                  <a:pt x="1409700" y="423083"/>
                  <a:pt x="1375583" y="457200"/>
                  <a:pt x="13334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439591" y="2019300"/>
            <a:ext cx="1485900" cy="4572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BlockRegistry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25897" y="2628900"/>
            <a:ext cx="1076325" cy="342900"/>
          </a:xfrm>
          <a:custGeom>
            <a:avLst/>
            <a:gdLst/>
            <a:ahLst/>
            <a:cxnLst/>
            <a:rect l="l" t="t" r="r" b="b"/>
            <a:pathLst>
              <a:path w="1076325" h="342900">
                <a:moveTo>
                  <a:pt x="76199" y="0"/>
                </a:moveTo>
                <a:lnTo>
                  <a:pt x="1000126" y="0"/>
                </a:lnTo>
                <a:cubicBezTo>
                  <a:pt x="1042209" y="0"/>
                  <a:pt x="1076325" y="34116"/>
                  <a:pt x="1076325" y="76199"/>
                </a:cubicBezTo>
                <a:lnTo>
                  <a:pt x="1076325" y="266701"/>
                </a:lnTo>
                <a:cubicBezTo>
                  <a:pt x="1076325" y="308784"/>
                  <a:pt x="1042209" y="342900"/>
                  <a:pt x="10001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27A8A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25897" y="2628900"/>
            <a:ext cx="114300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WeakHandle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758255" y="2971800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0" y="0"/>
                </a:moveTo>
                <a:lnTo>
                  <a:pt x="9525" y="0"/>
                </a:lnTo>
                <a:lnTo>
                  <a:pt x="9525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206252" y="3124200"/>
            <a:ext cx="1114425" cy="228600"/>
          </a:xfrm>
          <a:custGeom>
            <a:avLst/>
            <a:gdLst/>
            <a:ahLst/>
            <a:cxnLst/>
            <a:rect l="l" t="t" r="r" b="b"/>
            <a:pathLst>
              <a:path w="1114425" h="228600">
                <a:moveTo>
                  <a:pt x="38101" y="0"/>
                </a:moveTo>
                <a:lnTo>
                  <a:pt x="1076324" y="0"/>
                </a:lnTo>
                <a:cubicBezTo>
                  <a:pt x="1097367" y="0"/>
                  <a:pt x="1114425" y="17058"/>
                  <a:pt x="1114425" y="38101"/>
                </a:cubicBezTo>
                <a:lnTo>
                  <a:pt x="1114425" y="190499"/>
                </a:lnTo>
                <a:cubicBezTo>
                  <a:pt x="1114425" y="211542"/>
                  <a:pt x="1097367" y="228600"/>
                  <a:pt x="10763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27A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06252" y="3124200"/>
            <a:ext cx="117157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Presence Marker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44229" y="2628900"/>
            <a:ext cx="1076325" cy="342900"/>
          </a:xfrm>
          <a:custGeom>
            <a:avLst/>
            <a:gdLst/>
            <a:ahLst/>
            <a:cxnLst/>
            <a:rect l="l" t="t" r="r" b="b"/>
            <a:pathLst>
              <a:path w="1076325" h="342900">
                <a:moveTo>
                  <a:pt x="76199" y="0"/>
                </a:moveTo>
                <a:lnTo>
                  <a:pt x="1000126" y="0"/>
                </a:lnTo>
                <a:cubicBezTo>
                  <a:pt x="1042209" y="0"/>
                  <a:pt x="1076325" y="34116"/>
                  <a:pt x="1076325" y="76199"/>
                </a:cubicBezTo>
                <a:lnTo>
                  <a:pt x="1076325" y="266701"/>
                </a:lnTo>
                <a:cubicBezTo>
                  <a:pt x="1076325" y="308784"/>
                  <a:pt x="1042209" y="342900"/>
                  <a:pt x="10001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27A8A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644229" y="2628900"/>
            <a:ext cx="114300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WeakHandle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76588" y="2971800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0" y="0"/>
                </a:moveTo>
                <a:lnTo>
                  <a:pt x="9525" y="0"/>
                </a:lnTo>
                <a:lnTo>
                  <a:pt x="9525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624584" y="3124200"/>
            <a:ext cx="1114425" cy="228600"/>
          </a:xfrm>
          <a:custGeom>
            <a:avLst/>
            <a:gdLst/>
            <a:ahLst/>
            <a:cxnLst/>
            <a:rect l="l" t="t" r="r" b="b"/>
            <a:pathLst>
              <a:path w="1114425" h="228600">
                <a:moveTo>
                  <a:pt x="38101" y="0"/>
                </a:moveTo>
                <a:lnTo>
                  <a:pt x="1076324" y="0"/>
                </a:lnTo>
                <a:cubicBezTo>
                  <a:pt x="1097367" y="0"/>
                  <a:pt x="1114425" y="17058"/>
                  <a:pt x="1114425" y="38101"/>
                </a:cubicBezTo>
                <a:lnTo>
                  <a:pt x="1114425" y="190499"/>
                </a:lnTo>
                <a:cubicBezTo>
                  <a:pt x="1114425" y="211542"/>
                  <a:pt x="1097367" y="228600"/>
                  <a:pt x="10763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27A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624584" y="3124200"/>
            <a:ext cx="117157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Presence Marker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62561" y="2628900"/>
            <a:ext cx="1076325" cy="342900"/>
          </a:xfrm>
          <a:custGeom>
            <a:avLst/>
            <a:gdLst/>
            <a:ahLst/>
            <a:cxnLst/>
            <a:rect l="l" t="t" r="r" b="b"/>
            <a:pathLst>
              <a:path w="1076325" h="342900">
                <a:moveTo>
                  <a:pt x="76199" y="0"/>
                </a:moveTo>
                <a:lnTo>
                  <a:pt x="1000126" y="0"/>
                </a:lnTo>
                <a:cubicBezTo>
                  <a:pt x="1042209" y="0"/>
                  <a:pt x="1076325" y="34116"/>
                  <a:pt x="1076325" y="76199"/>
                </a:cubicBezTo>
                <a:lnTo>
                  <a:pt x="1076325" y="266701"/>
                </a:lnTo>
                <a:cubicBezTo>
                  <a:pt x="1076325" y="308784"/>
                  <a:pt x="1042209" y="342900"/>
                  <a:pt x="10001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27A8A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062561" y="2628900"/>
            <a:ext cx="114300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WeakHandle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94920" y="2971800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0" y="0"/>
                </a:moveTo>
                <a:lnTo>
                  <a:pt x="9525" y="0"/>
                </a:lnTo>
                <a:lnTo>
                  <a:pt x="9525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042916" y="3124200"/>
            <a:ext cx="1114425" cy="228600"/>
          </a:xfrm>
          <a:custGeom>
            <a:avLst/>
            <a:gdLst/>
            <a:ahLst/>
            <a:cxnLst/>
            <a:rect l="l" t="t" r="r" b="b"/>
            <a:pathLst>
              <a:path w="1114425" h="228600">
                <a:moveTo>
                  <a:pt x="38101" y="0"/>
                </a:moveTo>
                <a:lnTo>
                  <a:pt x="1076324" y="0"/>
                </a:lnTo>
                <a:cubicBezTo>
                  <a:pt x="1097367" y="0"/>
                  <a:pt x="1114425" y="17058"/>
                  <a:pt x="1114425" y="38101"/>
                </a:cubicBezTo>
                <a:lnTo>
                  <a:pt x="1114425" y="190499"/>
                </a:lnTo>
                <a:cubicBezTo>
                  <a:pt x="1114425" y="211542"/>
                  <a:pt x="1097367" y="228600"/>
                  <a:pt x="10763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27A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042916" y="3124200"/>
            <a:ext cx="117157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Presence Marker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332137" y="3505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76202" y="0"/>
                </a:moveTo>
                <a:lnTo>
                  <a:pt x="438148" y="0"/>
                </a:lnTo>
                <a:cubicBezTo>
                  <a:pt x="480233" y="0"/>
                  <a:pt x="514350" y="34117"/>
                  <a:pt x="514350" y="76202"/>
                </a:cubicBezTo>
                <a:lnTo>
                  <a:pt x="514350" y="380998"/>
                </a:lnTo>
                <a:cubicBezTo>
                  <a:pt x="514350" y="423083"/>
                  <a:pt x="480233" y="457200"/>
                  <a:pt x="4381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0916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2532608" y="3581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2417862" y="3733800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923654" y="3505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76202" y="0"/>
                </a:moveTo>
                <a:lnTo>
                  <a:pt x="438148" y="0"/>
                </a:lnTo>
                <a:cubicBezTo>
                  <a:pt x="480233" y="0"/>
                  <a:pt x="514350" y="34117"/>
                  <a:pt x="514350" y="76202"/>
                </a:cubicBezTo>
                <a:lnTo>
                  <a:pt x="514350" y="380998"/>
                </a:lnTo>
                <a:cubicBezTo>
                  <a:pt x="514350" y="423083"/>
                  <a:pt x="480233" y="457200"/>
                  <a:pt x="4381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0916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3124126" y="3581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009379" y="3733800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15171" y="3505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76202" y="0"/>
                </a:moveTo>
                <a:lnTo>
                  <a:pt x="438148" y="0"/>
                </a:lnTo>
                <a:cubicBezTo>
                  <a:pt x="480233" y="0"/>
                  <a:pt x="514350" y="34117"/>
                  <a:pt x="514350" y="76202"/>
                </a:cubicBezTo>
                <a:lnTo>
                  <a:pt x="514350" y="380998"/>
                </a:lnTo>
                <a:cubicBezTo>
                  <a:pt x="514350" y="423083"/>
                  <a:pt x="480233" y="457200"/>
                  <a:pt x="4381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0916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3715643" y="3581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600896" y="3733800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332137" y="4038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76202" y="0"/>
                </a:moveTo>
                <a:lnTo>
                  <a:pt x="438148" y="0"/>
                </a:lnTo>
                <a:cubicBezTo>
                  <a:pt x="480233" y="0"/>
                  <a:pt x="514350" y="34117"/>
                  <a:pt x="514350" y="76202"/>
                </a:cubicBezTo>
                <a:lnTo>
                  <a:pt x="514350" y="380998"/>
                </a:lnTo>
                <a:cubicBezTo>
                  <a:pt x="514350" y="423083"/>
                  <a:pt x="480233" y="457200"/>
                  <a:pt x="4381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0916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2532608" y="4114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2417862" y="4267200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923654" y="4038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76202" y="0"/>
                </a:moveTo>
                <a:lnTo>
                  <a:pt x="438148" y="0"/>
                </a:lnTo>
                <a:cubicBezTo>
                  <a:pt x="480233" y="0"/>
                  <a:pt x="514350" y="34117"/>
                  <a:pt x="514350" y="76202"/>
                </a:cubicBezTo>
                <a:lnTo>
                  <a:pt x="514350" y="380998"/>
                </a:lnTo>
                <a:cubicBezTo>
                  <a:pt x="514350" y="423083"/>
                  <a:pt x="480233" y="457200"/>
                  <a:pt x="4381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0916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3124126" y="4114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3009379" y="4267200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515171" y="4038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76202" y="0"/>
                </a:moveTo>
                <a:lnTo>
                  <a:pt x="438148" y="0"/>
                </a:lnTo>
                <a:cubicBezTo>
                  <a:pt x="480233" y="0"/>
                  <a:pt x="514350" y="34117"/>
                  <a:pt x="514350" y="76202"/>
                </a:cubicBezTo>
                <a:lnTo>
                  <a:pt x="514350" y="380998"/>
                </a:lnTo>
                <a:cubicBezTo>
                  <a:pt x="514350" y="423083"/>
                  <a:pt x="480233" y="457200"/>
                  <a:pt x="4381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0916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3715643" y="4114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3600896" y="4267200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90550" y="5067300"/>
            <a:ext cx="5200650" cy="571500"/>
          </a:xfrm>
          <a:custGeom>
            <a:avLst/>
            <a:gdLst/>
            <a:ahLst/>
            <a:cxnLst/>
            <a:rect l="l" t="t" r="r" b="b"/>
            <a:pathLst>
              <a:path w="5200650" h="571500">
                <a:moveTo>
                  <a:pt x="38100" y="0"/>
                </a:moveTo>
                <a:lnTo>
                  <a:pt x="5124452" y="0"/>
                </a:lnTo>
                <a:cubicBezTo>
                  <a:pt x="5166535" y="0"/>
                  <a:pt x="5200650" y="34115"/>
                  <a:pt x="5200650" y="76198"/>
                </a:cubicBezTo>
                <a:lnTo>
                  <a:pt x="5200650" y="495302"/>
                </a:lnTo>
                <a:cubicBezTo>
                  <a:pt x="5200650" y="537385"/>
                  <a:pt x="5166535" y="571500"/>
                  <a:pt x="5124452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90550" y="50673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33425" y="52197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68652" y="16252"/>
                </a:moveTo>
                <a:cubicBezTo>
                  <a:pt x="172373" y="12531"/>
                  <a:pt x="172373" y="6489"/>
                  <a:pt x="168652" y="2768"/>
                </a:cubicBezTo>
                <a:cubicBezTo>
                  <a:pt x="164931" y="-952"/>
                  <a:pt x="158889" y="-952"/>
                  <a:pt x="155168" y="2768"/>
                </a:cubicBezTo>
                <a:lnTo>
                  <a:pt x="98018" y="59918"/>
                </a:lnTo>
                <a:lnTo>
                  <a:pt x="87690" y="49590"/>
                </a:lnTo>
                <a:cubicBezTo>
                  <a:pt x="86439" y="48339"/>
                  <a:pt x="84713" y="47625"/>
                  <a:pt x="82927" y="47625"/>
                </a:cubicBezTo>
                <a:cubicBezTo>
                  <a:pt x="79206" y="47625"/>
                  <a:pt x="76200" y="50631"/>
                  <a:pt x="76200" y="54352"/>
                </a:cubicBezTo>
                <a:lnTo>
                  <a:pt x="76200" y="63014"/>
                </a:lnTo>
                <a:lnTo>
                  <a:pt x="108436" y="95250"/>
                </a:lnTo>
                <a:lnTo>
                  <a:pt x="117098" y="95250"/>
                </a:lnTo>
                <a:cubicBezTo>
                  <a:pt x="120819" y="95250"/>
                  <a:pt x="123825" y="92244"/>
                  <a:pt x="123825" y="88523"/>
                </a:cubicBezTo>
                <a:cubicBezTo>
                  <a:pt x="123825" y="86737"/>
                  <a:pt x="123111" y="85011"/>
                  <a:pt x="121860" y="83760"/>
                </a:cubicBezTo>
                <a:lnTo>
                  <a:pt x="111532" y="73432"/>
                </a:lnTo>
                <a:lnTo>
                  <a:pt x="168682" y="16282"/>
                </a:lnTo>
                <a:close/>
                <a:moveTo>
                  <a:pt x="101531" y="105192"/>
                </a:moveTo>
                <a:lnTo>
                  <a:pt x="66258" y="69919"/>
                </a:lnTo>
                <a:cubicBezTo>
                  <a:pt x="53548" y="68818"/>
                  <a:pt x="40898" y="73402"/>
                  <a:pt x="31790" y="82510"/>
                </a:cubicBezTo>
                <a:lnTo>
                  <a:pt x="29408" y="84892"/>
                </a:lnTo>
                <a:cubicBezTo>
                  <a:pt x="22771" y="91529"/>
                  <a:pt x="19050" y="100519"/>
                  <a:pt x="19050" y="109895"/>
                </a:cubicBezTo>
                <a:cubicBezTo>
                  <a:pt x="19050" y="111919"/>
                  <a:pt x="21163" y="113228"/>
                  <a:pt x="22979" y="112335"/>
                </a:cubicBezTo>
                <a:lnTo>
                  <a:pt x="38189" y="104745"/>
                </a:lnTo>
                <a:cubicBezTo>
                  <a:pt x="39678" y="104001"/>
                  <a:pt x="41017" y="105966"/>
                  <a:pt x="39797" y="107097"/>
                </a:cubicBezTo>
                <a:lnTo>
                  <a:pt x="2173" y="140910"/>
                </a:lnTo>
                <a:cubicBezTo>
                  <a:pt x="804" y="142161"/>
                  <a:pt x="0" y="143947"/>
                  <a:pt x="0" y="145822"/>
                </a:cubicBezTo>
                <a:cubicBezTo>
                  <a:pt x="0" y="149453"/>
                  <a:pt x="2947" y="152400"/>
                  <a:pt x="6578" y="152400"/>
                </a:cubicBezTo>
                <a:lnTo>
                  <a:pt x="58162" y="152400"/>
                </a:lnTo>
                <a:cubicBezTo>
                  <a:pt x="69711" y="152400"/>
                  <a:pt x="80754" y="147816"/>
                  <a:pt x="88940" y="139660"/>
                </a:cubicBezTo>
                <a:cubicBezTo>
                  <a:pt x="98048" y="130552"/>
                  <a:pt x="102602" y="117902"/>
                  <a:pt x="101531" y="105192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90600" y="5181600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弱引用自清理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90600" y="5372100"/>
            <a:ext cx="2552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所有强引用 Drop 时自动清理，消除后台 GC 开销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90550" y="5715000"/>
            <a:ext cx="5200650" cy="571500"/>
          </a:xfrm>
          <a:custGeom>
            <a:avLst/>
            <a:gdLst/>
            <a:ahLst/>
            <a:cxnLst/>
            <a:rect l="l" t="t" r="r" b="b"/>
            <a:pathLst>
              <a:path w="5200650" h="571500">
                <a:moveTo>
                  <a:pt x="38100" y="0"/>
                </a:moveTo>
                <a:lnTo>
                  <a:pt x="5124452" y="0"/>
                </a:lnTo>
                <a:cubicBezTo>
                  <a:pt x="5166535" y="0"/>
                  <a:pt x="5200650" y="34115"/>
                  <a:pt x="5200650" y="76198"/>
                </a:cubicBezTo>
                <a:lnTo>
                  <a:pt x="5200650" y="495302"/>
                </a:lnTo>
                <a:cubicBezTo>
                  <a:pt x="5200650" y="537385"/>
                  <a:pt x="5166535" y="571500"/>
                  <a:pt x="5124452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590550" y="57150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74295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854" y="3810"/>
                </a:moveTo>
                <a:cubicBezTo>
                  <a:pt x="83582" y="-12918"/>
                  <a:pt x="110728" y="-12918"/>
                  <a:pt x="127456" y="3810"/>
                </a:cubicBezTo>
                <a:cubicBezTo>
                  <a:pt x="144185" y="20538"/>
                  <a:pt x="144185" y="47685"/>
                  <a:pt x="127456" y="64413"/>
                </a:cubicBezTo>
                <a:lnTo>
                  <a:pt x="78641" y="113228"/>
                </a:lnTo>
                <a:cubicBezTo>
                  <a:pt x="68401" y="123468"/>
                  <a:pt x="51822" y="123468"/>
                  <a:pt x="41583" y="113228"/>
                </a:cubicBezTo>
                <a:cubicBezTo>
                  <a:pt x="31343" y="102989"/>
                  <a:pt x="31343" y="86410"/>
                  <a:pt x="41583" y="76170"/>
                </a:cubicBezTo>
                <a:lnTo>
                  <a:pt x="87064" y="30748"/>
                </a:lnTo>
                <a:cubicBezTo>
                  <a:pt x="90785" y="27027"/>
                  <a:pt x="96828" y="27027"/>
                  <a:pt x="100548" y="30748"/>
                </a:cubicBezTo>
                <a:cubicBezTo>
                  <a:pt x="104269" y="34469"/>
                  <a:pt x="104269" y="40511"/>
                  <a:pt x="100548" y="44232"/>
                </a:cubicBezTo>
                <a:lnTo>
                  <a:pt x="55066" y="89684"/>
                </a:lnTo>
                <a:cubicBezTo>
                  <a:pt x="52268" y="92482"/>
                  <a:pt x="52268" y="97006"/>
                  <a:pt x="55066" y="99774"/>
                </a:cubicBezTo>
                <a:cubicBezTo>
                  <a:pt x="57864" y="102543"/>
                  <a:pt x="62389" y="102572"/>
                  <a:pt x="65157" y="99774"/>
                </a:cubicBezTo>
                <a:lnTo>
                  <a:pt x="113973" y="50959"/>
                </a:lnTo>
                <a:cubicBezTo>
                  <a:pt x="123259" y="41672"/>
                  <a:pt x="123259" y="26581"/>
                  <a:pt x="113973" y="17294"/>
                </a:cubicBezTo>
                <a:cubicBezTo>
                  <a:pt x="104686" y="8007"/>
                  <a:pt x="89595" y="8007"/>
                  <a:pt x="80308" y="17294"/>
                </a:cubicBezTo>
                <a:lnTo>
                  <a:pt x="31492" y="66109"/>
                </a:lnTo>
                <a:cubicBezTo>
                  <a:pt x="15686" y="81915"/>
                  <a:pt x="15686" y="107543"/>
                  <a:pt x="31492" y="123349"/>
                </a:cubicBezTo>
                <a:cubicBezTo>
                  <a:pt x="47298" y="139154"/>
                  <a:pt x="72926" y="139154"/>
                  <a:pt x="88731" y="123349"/>
                </a:cubicBezTo>
                <a:lnTo>
                  <a:pt x="127486" y="84624"/>
                </a:lnTo>
                <a:cubicBezTo>
                  <a:pt x="131207" y="80903"/>
                  <a:pt x="137249" y="80903"/>
                  <a:pt x="140970" y="84624"/>
                </a:cubicBezTo>
                <a:cubicBezTo>
                  <a:pt x="144691" y="88344"/>
                  <a:pt x="144691" y="94387"/>
                  <a:pt x="140970" y="98108"/>
                </a:cubicBezTo>
                <a:lnTo>
                  <a:pt x="102215" y="136803"/>
                </a:lnTo>
                <a:cubicBezTo>
                  <a:pt x="78968" y="160050"/>
                  <a:pt x="41285" y="160050"/>
                  <a:pt x="18038" y="136803"/>
                </a:cubicBezTo>
                <a:cubicBezTo>
                  <a:pt x="-5209" y="113556"/>
                  <a:pt x="-5209" y="75873"/>
                  <a:pt x="18038" y="52626"/>
                </a:cubicBezTo>
                <a:lnTo>
                  <a:pt x="66854" y="3810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90600" y="58293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Typed Attachment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90600" y="6019800"/>
            <a:ext cx="2066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任意元数据无缝挂载，跨 Pool 共享状态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10300" y="990600"/>
            <a:ext cx="5600700" cy="5486400"/>
          </a:xfrm>
          <a:custGeom>
            <a:avLst/>
            <a:gdLst/>
            <a:ahLst/>
            <a:cxnLst/>
            <a:rect l="l" t="t" r="r" b="b"/>
            <a:pathLst>
              <a:path w="5600700" h="5486400">
                <a:moveTo>
                  <a:pt x="152412" y="0"/>
                </a:moveTo>
                <a:lnTo>
                  <a:pt x="5448288" y="0"/>
                </a:lnTo>
                <a:cubicBezTo>
                  <a:pt x="5532463" y="0"/>
                  <a:pt x="5600700" y="68237"/>
                  <a:pt x="5600700" y="152412"/>
                </a:cubicBezTo>
                <a:lnTo>
                  <a:pt x="5600700" y="5333988"/>
                </a:lnTo>
                <a:cubicBezTo>
                  <a:pt x="5600700" y="5418163"/>
                  <a:pt x="5532463" y="5486400"/>
                  <a:pt x="5448288" y="5486400"/>
                </a:cubicBezTo>
                <a:lnTo>
                  <a:pt x="152412" y="5486400"/>
                </a:lnTo>
                <a:cubicBezTo>
                  <a:pt x="68237" y="5486400"/>
                  <a:pt x="0" y="5418163"/>
                  <a:pt x="0" y="53339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6424613" y="1219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6638925" y="118110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TinyLFU 频次追踪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00800" y="2412206"/>
            <a:ext cx="5219700" cy="1828800"/>
          </a:xfrm>
          <a:custGeom>
            <a:avLst/>
            <a:gdLst/>
            <a:ahLst/>
            <a:cxnLst/>
            <a:rect l="l" t="t" r="r" b="b"/>
            <a:pathLst>
              <a:path w="5219700" h="18288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1714500"/>
                </a:lnTo>
                <a:cubicBezTo>
                  <a:pt x="5219700" y="1777584"/>
                  <a:pt x="5168484" y="1828800"/>
                  <a:pt x="5105400" y="1828800"/>
                </a:cubicBezTo>
                <a:lnTo>
                  <a:pt x="114300" y="1828800"/>
                </a:lnTo>
                <a:cubicBezTo>
                  <a:pt x="51216" y="1828800"/>
                  <a:pt x="0" y="1777584"/>
                  <a:pt x="0" y="17145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6591300" y="26027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6553200" y="2602706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562725" y="3136106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 1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051825" y="26027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8013725" y="2602706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H2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023250" y="3136106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 2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512275" y="26027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B8E9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9474175" y="2602706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H3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483700" y="3136106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 3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972800" y="26027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A5B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0934700" y="2602706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H4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944225" y="3136106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 4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600825" y="3450431"/>
            <a:ext cx="4819650" cy="590550"/>
          </a:xfrm>
          <a:custGeom>
            <a:avLst/>
            <a:gdLst/>
            <a:ahLst/>
            <a:cxnLst/>
            <a:rect l="l" t="t" r="r" b="b"/>
            <a:pathLst>
              <a:path w="4819650" h="590550">
                <a:moveTo>
                  <a:pt x="76199" y="0"/>
                </a:moveTo>
                <a:lnTo>
                  <a:pt x="4743451" y="0"/>
                </a:lnTo>
                <a:cubicBezTo>
                  <a:pt x="4785535" y="0"/>
                  <a:pt x="4819650" y="34115"/>
                  <a:pt x="4819650" y="76199"/>
                </a:cubicBezTo>
                <a:lnTo>
                  <a:pt x="4819650" y="514351"/>
                </a:lnTo>
                <a:cubicBezTo>
                  <a:pt x="4819650" y="556435"/>
                  <a:pt x="4785535" y="590550"/>
                  <a:pt x="4743451" y="590550"/>
                </a:cubicBezTo>
                <a:lnTo>
                  <a:pt x="76199" y="590550"/>
                </a:lnTo>
                <a:cubicBezTo>
                  <a:pt x="34115" y="590550"/>
                  <a:pt x="0" y="556435"/>
                  <a:pt x="0" y="514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527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6724650" y="3574256"/>
            <a:ext cx="1085850" cy="342900"/>
          </a:xfrm>
          <a:custGeom>
            <a:avLst/>
            <a:gdLst/>
            <a:ahLst/>
            <a:cxnLst/>
            <a:rect l="l" t="t" r="r" b="b"/>
            <a:pathLst>
              <a:path w="1085850" h="342900">
                <a:moveTo>
                  <a:pt x="38100" y="0"/>
                </a:moveTo>
                <a:lnTo>
                  <a:pt x="1047750" y="0"/>
                </a:lnTo>
                <a:cubicBezTo>
                  <a:pt x="1068792" y="0"/>
                  <a:pt x="1085850" y="17058"/>
                  <a:pt x="1085850" y="38100"/>
                </a:cubicBezTo>
                <a:lnTo>
                  <a:pt x="1085850" y="304800"/>
                </a:lnTo>
                <a:cubicBezTo>
                  <a:pt x="1085850" y="325842"/>
                  <a:pt x="1068792" y="342900"/>
                  <a:pt x="10477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6691313" y="3574256"/>
            <a:ext cx="115252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4-bit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886700" y="3574256"/>
            <a:ext cx="1085850" cy="342900"/>
          </a:xfrm>
          <a:custGeom>
            <a:avLst/>
            <a:gdLst/>
            <a:ahLst/>
            <a:cxnLst/>
            <a:rect l="l" t="t" r="r" b="b"/>
            <a:pathLst>
              <a:path w="1085850" h="342900">
                <a:moveTo>
                  <a:pt x="38100" y="0"/>
                </a:moveTo>
                <a:lnTo>
                  <a:pt x="1047750" y="0"/>
                </a:lnTo>
                <a:cubicBezTo>
                  <a:pt x="1068792" y="0"/>
                  <a:pt x="1085850" y="17058"/>
                  <a:pt x="1085850" y="38100"/>
                </a:cubicBezTo>
                <a:lnTo>
                  <a:pt x="1085850" y="304800"/>
                </a:lnTo>
                <a:cubicBezTo>
                  <a:pt x="1085850" y="325842"/>
                  <a:pt x="1068792" y="342900"/>
                  <a:pt x="10477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7853362" y="3574256"/>
            <a:ext cx="115252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4-bit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048750" y="3574256"/>
            <a:ext cx="1085850" cy="342900"/>
          </a:xfrm>
          <a:custGeom>
            <a:avLst/>
            <a:gdLst/>
            <a:ahLst/>
            <a:cxnLst/>
            <a:rect l="l" t="t" r="r" b="b"/>
            <a:pathLst>
              <a:path w="1085850" h="342900">
                <a:moveTo>
                  <a:pt x="38100" y="0"/>
                </a:moveTo>
                <a:lnTo>
                  <a:pt x="1047750" y="0"/>
                </a:lnTo>
                <a:cubicBezTo>
                  <a:pt x="1068792" y="0"/>
                  <a:pt x="1085850" y="17058"/>
                  <a:pt x="1085850" y="38100"/>
                </a:cubicBezTo>
                <a:lnTo>
                  <a:pt x="1085850" y="304800"/>
                </a:lnTo>
                <a:cubicBezTo>
                  <a:pt x="1085850" y="325842"/>
                  <a:pt x="1068792" y="342900"/>
                  <a:pt x="10477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8E9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9015413" y="3574256"/>
            <a:ext cx="115252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4-bit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0210800" y="3574256"/>
            <a:ext cx="1085850" cy="342900"/>
          </a:xfrm>
          <a:custGeom>
            <a:avLst/>
            <a:gdLst/>
            <a:ahLst/>
            <a:cxnLst/>
            <a:rect l="l" t="t" r="r" b="b"/>
            <a:pathLst>
              <a:path w="1085850" h="342900">
                <a:moveTo>
                  <a:pt x="38100" y="0"/>
                </a:moveTo>
                <a:lnTo>
                  <a:pt x="1047750" y="0"/>
                </a:lnTo>
                <a:cubicBezTo>
                  <a:pt x="1068792" y="0"/>
                  <a:pt x="1085850" y="17058"/>
                  <a:pt x="1085850" y="38100"/>
                </a:cubicBezTo>
                <a:lnTo>
                  <a:pt x="1085850" y="304800"/>
                </a:lnTo>
                <a:cubicBezTo>
                  <a:pt x="1085850" y="325842"/>
                  <a:pt x="1068792" y="342900"/>
                  <a:pt x="10477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A5B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10177463" y="3574256"/>
            <a:ext cx="115252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4-bit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400800" y="4393406"/>
            <a:ext cx="5219700" cy="1085850"/>
          </a:xfrm>
          <a:custGeom>
            <a:avLst/>
            <a:gdLst/>
            <a:ahLst/>
            <a:cxnLst/>
            <a:rect l="l" t="t" r="r" b="b"/>
            <a:pathLst>
              <a:path w="5219700" h="1085850">
                <a:moveTo>
                  <a:pt x="114297" y="0"/>
                </a:moveTo>
                <a:lnTo>
                  <a:pt x="5105403" y="0"/>
                </a:lnTo>
                <a:cubicBezTo>
                  <a:pt x="5168528" y="0"/>
                  <a:pt x="5219700" y="51172"/>
                  <a:pt x="5219700" y="114297"/>
                </a:cubicBezTo>
                <a:lnTo>
                  <a:pt x="5219700" y="971553"/>
                </a:lnTo>
                <a:cubicBezTo>
                  <a:pt x="5219700" y="1034678"/>
                  <a:pt x="5168528" y="1085850"/>
                  <a:pt x="5105403" y="1085850"/>
                </a:cubicBezTo>
                <a:lnTo>
                  <a:pt x="114297" y="1085850"/>
                </a:lnTo>
                <a:cubicBezTo>
                  <a:pt x="51172" y="1085850"/>
                  <a:pt x="0" y="1034678"/>
                  <a:pt x="0" y="971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6600825" y="4583906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/>
          <p:nvPr/>
        </p:nvSpPr>
        <p:spPr>
          <a:xfrm>
            <a:off x="6905625" y="4545806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TinyLFU 算法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553200" y="4888706"/>
            <a:ext cx="4981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个哈希函数</a:t>
            </a:r>
            <a:r>
              <a:rPr lang="en-US" sz="1050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 </a:t>
            </a:r>
            <a:r>
              <a:rPr lang="en-US" sz="1050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4-bit 计数器</a:t>
            </a:r>
            <a:r>
              <a:rPr lang="en-US" sz="1050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，极低内存占用实现精准的频率追踪，为驱逐策略提供数据支撑。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驱动物理内存高效复用的三级池循环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00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00050" y="2519363"/>
            <a:ext cx="3714750" cy="2428875"/>
          </a:xfrm>
          <a:custGeom>
            <a:avLst/>
            <a:gdLst/>
            <a:ahLst/>
            <a:cxnLst/>
            <a:rect l="l" t="t" r="r" b="b"/>
            <a:pathLst>
              <a:path w="3714750" h="2428875">
                <a:moveTo>
                  <a:pt x="38100" y="0"/>
                </a:moveTo>
                <a:lnTo>
                  <a:pt x="3600447" y="0"/>
                </a:lnTo>
                <a:cubicBezTo>
                  <a:pt x="3663533" y="0"/>
                  <a:pt x="3714750" y="51217"/>
                  <a:pt x="3714750" y="114303"/>
                </a:cubicBezTo>
                <a:lnTo>
                  <a:pt x="3714750" y="2314572"/>
                </a:lnTo>
                <a:cubicBezTo>
                  <a:pt x="3714750" y="2377658"/>
                  <a:pt x="3663533" y="2428875"/>
                  <a:pt x="3600447" y="2428875"/>
                </a:cubicBezTo>
                <a:lnTo>
                  <a:pt x="38100" y="2428875"/>
                </a:lnTo>
                <a:cubicBezTo>
                  <a:pt x="17072" y="2428875"/>
                  <a:pt x="0" y="2411803"/>
                  <a:pt x="0" y="2390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2519363"/>
            <a:ext cx="38100" cy="2428875"/>
          </a:xfrm>
          <a:custGeom>
            <a:avLst/>
            <a:gdLst/>
            <a:ahLst/>
            <a:cxnLst/>
            <a:rect l="l" t="t" r="r" b="b"/>
            <a:pathLst>
              <a:path w="38100" h="2428875">
                <a:moveTo>
                  <a:pt x="38100" y="0"/>
                </a:moveTo>
                <a:lnTo>
                  <a:pt x="38100" y="0"/>
                </a:lnTo>
                <a:lnTo>
                  <a:pt x="38100" y="2428875"/>
                </a:lnTo>
                <a:lnTo>
                  <a:pt x="38100" y="2428875"/>
                </a:lnTo>
                <a:cubicBezTo>
                  <a:pt x="17072" y="2428875"/>
                  <a:pt x="0" y="2411803"/>
                  <a:pt x="0" y="2390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09600" y="2709863"/>
            <a:ext cx="3390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kvbm-logical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层完整编排了块资源的物理循环：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31099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76263" y="310991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" y="3109913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ResetPool 提供空闲块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35290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76263" y="352901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8700" y="3529013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ActivePool 追踪活跃块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" y="394811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76263" y="3948112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8700" y="3948112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InactivePool 管理待复用块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4410075"/>
            <a:ext cx="3314700" cy="9525"/>
          </a:xfrm>
          <a:custGeom>
            <a:avLst/>
            <a:gdLst/>
            <a:ahLst/>
            <a:cxnLst/>
            <a:rect l="l" t="t" r="r" b="b"/>
            <a:pathLst>
              <a:path w="3314700" h="9525">
                <a:moveTo>
                  <a:pt x="0" y="0"/>
                </a:moveTo>
                <a:lnTo>
                  <a:pt x="3314700" y="0"/>
                </a:lnTo>
                <a:lnTo>
                  <a:pt x="3314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27A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28650" y="459581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9666" y="15627"/>
                </a:moveTo>
                <a:cubicBezTo>
                  <a:pt x="51699" y="-5209"/>
                  <a:pt x="81781" y="-5209"/>
                  <a:pt x="93814" y="15627"/>
                </a:cubicBezTo>
                <a:lnTo>
                  <a:pt x="103529" y="32452"/>
                </a:lnTo>
                <a:lnTo>
                  <a:pt x="110743" y="28285"/>
                </a:lnTo>
                <a:cubicBezTo>
                  <a:pt x="112931" y="27009"/>
                  <a:pt x="115665" y="27191"/>
                  <a:pt x="117671" y="28728"/>
                </a:cubicBezTo>
                <a:cubicBezTo>
                  <a:pt x="119676" y="30264"/>
                  <a:pt x="120562" y="32869"/>
                  <a:pt x="119911" y="35317"/>
                </a:cubicBezTo>
                <a:lnTo>
                  <a:pt x="113790" y="58080"/>
                </a:lnTo>
                <a:cubicBezTo>
                  <a:pt x="112905" y="61414"/>
                  <a:pt x="109467" y="63393"/>
                  <a:pt x="106133" y="62508"/>
                </a:cubicBezTo>
                <a:lnTo>
                  <a:pt x="83370" y="56413"/>
                </a:lnTo>
                <a:cubicBezTo>
                  <a:pt x="80922" y="55762"/>
                  <a:pt x="79124" y="53705"/>
                  <a:pt x="78786" y="51204"/>
                </a:cubicBezTo>
                <a:cubicBezTo>
                  <a:pt x="78447" y="48704"/>
                  <a:pt x="79671" y="46230"/>
                  <a:pt x="81859" y="44980"/>
                </a:cubicBezTo>
                <a:lnTo>
                  <a:pt x="89074" y="40812"/>
                </a:lnTo>
                <a:lnTo>
                  <a:pt x="79359" y="23987"/>
                </a:lnTo>
                <a:cubicBezTo>
                  <a:pt x="73733" y="14273"/>
                  <a:pt x="59721" y="14273"/>
                  <a:pt x="54095" y="23987"/>
                </a:cubicBezTo>
                <a:lnTo>
                  <a:pt x="52715" y="26357"/>
                </a:lnTo>
                <a:cubicBezTo>
                  <a:pt x="50423" y="30342"/>
                  <a:pt x="45318" y="31697"/>
                  <a:pt x="41333" y="29405"/>
                </a:cubicBezTo>
                <a:cubicBezTo>
                  <a:pt x="37348" y="27113"/>
                  <a:pt x="35994" y="22008"/>
                  <a:pt x="38286" y="17997"/>
                </a:cubicBezTo>
                <a:lnTo>
                  <a:pt x="39666" y="15627"/>
                </a:lnTo>
                <a:close/>
                <a:moveTo>
                  <a:pt x="117124" y="72691"/>
                </a:moveTo>
                <a:cubicBezTo>
                  <a:pt x="121109" y="70399"/>
                  <a:pt x="126214" y="71754"/>
                  <a:pt x="128506" y="75739"/>
                </a:cubicBezTo>
                <a:lnTo>
                  <a:pt x="129886" y="78109"/>
                </a:lnTo>
                <a:cubicBezTo>
                  <a:pt x="141919" y="98945"/>
                  <a:pt x="126891" y="124990"/>
                  <a:pt x="102825" y="124990"/>
                </a:cubicBezTo>
                <a:lnTo>
                  <a:pt x="83396" y="124990"/>
                </a:lnTo>
                <a:lnTo>
                  <a:pt x="83396" y="133324"/>
                </a:lnTo>
                <a:cubicBezTo>
                  <a:pt x="83396" y="135850"/>
                  <a:pt x="81885" y="138142"/>
                  <a:pt x="79541" y="139106"/>
                </a:cubicBezTo>
                <a:cubicBezTo>
                  <a:pt x="77197" y="140070"/>
                  <a:pt x="74515" y="139549"/>
                  <a:pt x="72717" y="137752"/>
                </a:cubicBezTo>
                <a:lnTo>
                  <a:pt x="56049" y="121083"/>
                </a:lnTo>
                <a:cubicBezTo>
                  <a:pt x="53600" y="118635"/>
                  <a:pt x="53600" y="114676"/>
                  <a:pt x="56049" y="112254"/>
                </a:cubicBezTo>
                <a:lnTo>
                  <a:pt x="72717" y="95585"/>
                </a:lnTo>
                <a:cubicBezTo>
                  <a:pt x="74515" y="93788"/>
                  <a:pt x="77197" y="93267"/>
                  <a:pt x="79541" y="94231"/>
                </a:cubicBezTo>
                <a:cubicBezTo>
                  <a:pt x="81885" y="95194"/>
                  <a:pt x="83396" y="97486"/>
                  <a:pt x="83396" y="100013"/>
                </a:cubicBezTo>
                <a:lnTo>
                  <a:pt x="83396" y="108347"/>
                </a:lnTo>
                <a:lnTo>
                  <a:pt x="102825" y="108347"/>
                </a:lnTo>
                <a:cubicBezTo>
                  <a:pt x="114051" y="108347"/>
                  <a:pt x="121083" y="96184"/>
                  <a:pt x="115457" y="86469"/>
                </a:cubicBezTo>
                <a:lnTo>
                  <a:pt x="114077" y="84099"/>
                </a:lnTo>
                <a:cubicBezTo>
                  <a:pt x="111785" y="80114"/>
                  <a:pt x="113139" y="75009"/>
                  <a:pt x="117124" y="72717"/>
                </a:cubicBezTo>
                <a:close/>
                <a:moveTo>
                  <a:pt x="13283" y="61310"/>
                </a:moveTo>
                <a:lnTo>
                  <a:pt x="6068" y="57143"/>
                </a:lnTo>
                <a:cubicBezTo>
                  <a:pt x="3881" y="55866"/>
                  <a:pt x="2657" y="53418"/>
                  <a:pt x="2995" y="50918"/>
                </a:cubicBezTo>
                <a:cubicBezTo>
                  <a:pt x="3334" y="48418"/>
                  <a:pt x="5131" y="46360"/>
                  <a:pt x="7579" y="45709"/>
                </a:cubicBezTo>
                <a:lnTo>
                  <a:pt x="30342" y="39588"/>
                </a:lnTo>
                <a:cubicBezTo>
                  <a:pt x="33676" y="38703"/>
                  <a:pt x="37114" y="40682"/>
                  <a:pt x="38000" y="44016"/>
                </a:cubicBezTo>
                <a:lnTo>
                  <a:pt x="44094" y="66779"/>
                </a:lnTo>
                <a:cubicBezTo>
                  <a:pt x="44745" y="69227"/>
                  <a:pt x="43860" y="71806"/>
                  <a:pt x="41854" y="73369"/>
                </a:cubicBezTo>
                <a:cubicBezTo>
                  <a:pt x="39849" y="74931"/>
                  <a:pt x="37114" y="75088"/>
                  <a:pt x="34926" y="73811"/>
                </a:cubicBezTo>
                <a:lnTo>
                  <a:pt x="27712" y="69644"/>
                </a:lnTo>
                <a:lnTo>
                  <a:pt x="17997" y="86469"/>
                </a:lnTo>
                <a:cubicBezTo>
                  <a:pt x="12371" y="96184"/>
                  <a:pt x="19403" y="108347"/>
                  <a:pt x="30629" y="108347"/>
                </a:cubicBezTo>
                <a:lnTo>
                  <a:pt x="33390" y="108347"/>
                </a:lnTo>
                <a:cubicBezTo>
                  <a:pt x="38000" y="108347"/>
                  <a:pt x="41724" y="112071"/>
                  <a:pt x="41724" y="116681"/>
                </a:cubicBezTo>
                <a:cubicBezTo>
                  <a:pt x="41724" y="121291"/>
                  <a:pt x="38000" y="125016"/>
                  <a:pt x="33390" y="125016"/>
                </a:cubicBezTo>
                <a:lnTo>
                  <a:pt x="30629" y="125016"/>
                </a:lnTo>
                <a:cubicBezTo>
                  <a:pt x="6589" y="125016"/>
                  <a:pt x="-8439" y="98971"/>
                  <a:pt x="3594" y="78135"/>
                </a:cubicBezTo>
                <a:lnTo>
                  <a:pt x="13283" y="61310"/>
                </a:ln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38200" y="4567238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循环流转实现内存高效复用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34250" y="1371600"/>
            <a:ext cx="1485900" cy="1485900"/>
          </a:xfrm>
          <a:custGeom>
            <a:avLst/>
            <a:gdLst/>
            <a:ahLst/>
            <a:cxnLst/>
            <a:rect l="l" t="t" r="r" b="b"/>
            <a:pathLst>
              <a:path w="1485900" h="1485900">
                <a:moveTo>
                  <a:pt x="742950" y="0"/>
                </a:moveTo>
                <a:lnTo>
                  <a:pt x="742950" y="0"/>
                </a:lnTo>
                <a:cubicBezTo>
                  <a:pt x="1152995" y="0"/>
                  <a:pt x="1485900" y="332905"/>
                  <a:pt x="1485900" y="742950"/>
                </a:cubicBezTo>
                <a:lnTo>
                  <a:pt x="1485900" y="742950"/>
                </a:lnTo>
                <a:cubicBezTo>
                  <a:pt x="1485900" y="1152995"/>
                  <a:pt x="1152995" y="1485900"/>
                  <a:pt x="742950" y="1485900"/>
                </a:cubicBezTo>
                <a:lnTo>
                  <a:pt x="742950" y="1485900"/>
                </a:lnTo>
                <a:cubicBezTo>
                  <a:pt x="332905" y="1485900"/>
                  <a:pt x="0" y="1152995"/>
                  <a:pt x="0" y="742950"/>
                </a:cubicBezTo>
                <a:lnTo>
                  <a:pt x="0" y="742950"/>
                </a:lnTo>
                <a:cubicBezTo>
                  <a:pt x="0" y="332905"/>
                  <a:pt x="332905" y="0"/>
                  <a:pt x="742950" y="0"/>
                </a:cubicBezTo>
                <a:close/>
              </a:path>
            </a:pathLst>
          </a:custGeom>
          <a:gradFill flip="none" rotWithShape="1">
            <a:gsLst>
              <a:gs pos="0">
                <a:srgbClr val="6B8E9F"/>
              </a:gs>
              <a:gs pos="100000">
                <a:srgbClr val="8BA5B5"/>
              </a:gs>
            </a:gsLst>
            <a:lin ang="2700000" scaled="1"/>
          </a:gradFill>
          <a:ln w="50800">
            <a:solidFill>
              <a:srgbClr val="FFFFFF"/>
            </a:solidFill>
            <a:prstDash val="solid"/>
          </a:ln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Shape 18"/>
          <p:cNvSpPr/>
          <p:nvPr/>
        </p:nvSpPr>
        <p:spPr>
          <a:xfrm>
            <a:off x="7936706" y="16287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35719"/>
                </a:moveTo>
                <a:cubicBezTo>
                  <a:pt x="111175" y="35719"/>
                  <a:pt x="82655" y="49504"/>
                  <a:pt x="63010" y="71438"/>
                </a:cubicBezTo>
                <a:lnTo>
                  <a:pt x="89297" y="71438"/>
                </a:lnTo>
                <a:cubicBezTo>
                  <a:pt x="99175" y="71438"/>
                  <a:pt x="107156" y="79418"/>
                  <a:pt x="107156" y="89297"/>
                </a:cubicBezTo>
                <a:cubicBezTo>
                  <a:pt x="107156" y="99175"/>
                  <a:pt x="99175" y="107156"/>
                  <a:pt x="89297" y="107156"/>
                </a:cubicBezTo>
                <a:lnTo>
                  <a:pt x="17859" y="107156"/>
                </a:lnTo>
                <a:cubicBezTo>
                  <a:pt x="7981" y="107156"/>
                  <a:pt x="0" y="99175"/>
                  <a:pt x="0" y="89297"/>
                </a:cubicBezTo>
                <a:lnTo>
                  <a:pt x="0" y="17859"/>
                </a:lnTo>
                <a:cubicBezTo>
                  <a:pt x="0" y="7981"/>
                  <a:pt x="7981" y="0"/>
                  <a:pt x="17859" y="0"/>
                </a:cubicBezTo>
                <a:cubicBezTo>
                  <a:pt x="27738" y="0"/>
                  <a:pt x="35719" y="7981"/>
                  <a:pt x="35719" y="17859"/>
                </a:cubicBezTo>
                <a:lnTo>
                  <a:pt x="35719" y="48388"/>
                </a:lnTo>
                <a:cubicBezTo>
                  <a:pt x="61894" y="18752"/>
                  <a:pt x="100180" y="0"/>
                  <a:pt x="142875" y="0"/>
                </a:cubicBezTo>
                <a:cubicBezTo>
                  <a:pt x="221791" y="0"/>
                  <a:pt x="285750" y="63959"/>
                  <a:pt x="285750" y="142875"/>
                </a:cubicBezTo>
                <a:cubicBezTo>
                  <a:pt x="285750" y="221791"/>
                  <a:pt x="221791" y="285750"/>
                  <a:pt x="142875" y="285750"/>
                </a:cubicBezTo>
                <a:cubicBezTo>
                  <a:pt x="94320" y="285750"/>
                  <a:pt x="51402" y="261528"/>
                  <a:pt x="25617" y="224526"/>
                </a:cubicBezTo>
                <a:cubicBezTo>
                  <a:pt x="19980" y="216433"/>
                  <a:pt x="21934" y="205327"/>
                  <a:pt x="30026" y="199634"/>
                </a:cubicBezTo>
                <a:cubicBezTo>
                  <a:pt x="38119" y="193942"/>
                  <a:pt x="49225" y="195951"/>
                  <a:pt x="54918" y="204043"/>
                </a:cubicBezTo>
                <a:cubicBezTo>
                  <a:pt x="74340" y="231837"/>
                  <a:pt x="106487" y="249975"/>
                  <a:pt x="142875" y="249975"/>
                </a:cubicBezTo>
                <a:cubicBezTo>
                  <a:pt x="202034" y="249975"/>
                  <a:pt x="250031" y="201978"/>
                  <a:pt x="250031" y="142819"/>
                </a:cubicBezTo>
                <a:cubicBezTo>
                  <a:pt x="250031" y="83660"/>
                  <a:pt x="202034" y="35719"/>
                  <a:pt x="142875" y="3571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605415" y="1990725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ResetPool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30331" y="2295525"/>
            <a:ext cx="1095375" cy="30480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空闲块 FIFO 队列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分配时优先取用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01100" y="4152900"/>
            <a:ext cx="1638300" cy="1638300"/>
          </a:xfrm>
          <a:custGeom>
            <a:avLst/>
            <a:gdLst/>
            <a:ahLst/>
            <a:cxnLst/>
            <a:rect l="l" t="t" r="r" b="b"/>
            <a:pathLst>
              <a:path w="1638300" h="1638300">
                <a:moveTo>
                  <a:pt x="819150" y="0"/>
                </a:moveTo>
                <a:lnTo>
                  <a:pt x="819150" y="0"/>
                </a:lnTo>
                <a:cubicBezTo>
                  <a:pt x="1271251" y="0"/>
                  <a:pt x="1638300" y="367049"/>
                  <a:pt x="1638300" y="819150"/>
                </a:cubicBezTo>
                <a:lnTo>
                  <a:pt x="1638300" y="819150"/>
                </a:lnTo>
                <a:cubicBezTo>
                  <a:pt x="1638300" y="1271251"/>
                  <a:pt x="1271251" y="1638300"/>
                  <a:pt x="819150" y="1638300"/>
                </a:cubicBezTo>
                <a:lnTo>
                  <a:pt x="819150" y="1638300"/>
                </a:lnTo>
                <a:cubicBezTo>
                  <a:pt x="367049" y="1638300"/>
                  <a:pt x="0" y="1271251"/>
                  <a:pt x="0" y="819150"/>
                </a:cubicBezTo>
                <a:lnTo>
                  <a:pt x="0" y="819150"/>
                </a:lnTo>
                <a:cubicBezTo>
                  <a:pt x="0" y="367049"/>
                  <a:pt x="367049" y="0"/>
                  <a:pt x="819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2700000" scaled="1"/>
          </a:gradFill>
          <a:ln w="50800">
            <a:solidFill>
              <a:srgbClr val="FFFFFF"/>
            </a:solidFill>
            <a:prstDash val="solid"/>
          </a:ln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9479756" y="44862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05091" y="82097"/>
                </a:moveTo>
                <a:cubicBezTo>
                  <a:pt x="100850" y="84441"/>
                  <a:pt x="98227" y="88962"/>
                  <a:pt x="98227" y="93762"/>
                </a:cubicBezTo>
                <a:lnTo>
                  <a:pt x="98227" y="191988"/>
                </a:lnTo>
                <a:cubicBezTo>
                  <a:pt x="98227" y="196844"/>
                  <a:pt x="100850" y="201309"/>
                  <a:pt x="105091" y="203653"/>
                </a:cubicBezTo>
                <a:cubicBezTo>
                  <a:pt x="109333" y="205997"/>
                  <a:pt x="114467" y="205941"/>
                  <a:pt x="118653" y="203374"/>
                </a:cubicBezTo>
                <a:lnTo>
                  <a:pt x="199020" y="154260"/>
                </a:lnTo>
                <a:cubicBezTo>
                  <a:pt x="202983" y="151805"/>
                  <a:pt x="205439" y="147507"/>
                  <a:pt x="205439" y="142819"/>
                </a:cubicBezTo>
                <a:cubicBezTo>
                  <a:pt x="205439" y="138131"/>
                  <a:pt x="202983" y="133834"/>
                  <a:pt x="199020" y="131378"/>
                </a:cubicBezTo>
                <a:lnTo>
                  <a:pt x="118653" y="82265"/>
                </a:lnTo>
                <a:cubicBezTo>
                  <a:pt x="114523" y="79753"/>
                  <a:pt x="109333" y="79642"/>
                  <a:pt x="105091" y="8198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111109" y="4848225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ActivePool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15425" y="5153025"/>
            <a:ext cx="1009650" cy="30480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追踪当前活跃块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首次未命中停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15000" y="4152900"/>
            <a:ext cx="1638300" cy="1638300"/>
          </a:xfrm>
          <a:custGeom>
            <a:avLst/>
            <a:gdLst/>
            <a:ahLst/>
            <a:cxnLst/>
            <a:rect l="l" t="t" r="r" b="b"/>
            <a:pathLst>
              <a:path w="1638300" h="1638300">
                <a:moveTo>
                  <a:pt x="819150" y="0"/>
                </a:moveTo>
                <a:lnTo>
                  <a:pt x="819150" y="0"/>
                </a:lnTo>
                <a:cubicBezTo>
                  <a:pt x="1271251" y="0"/>
                  <a:pt x="1638300" y="367049"/>
                  <a:pt x="1638300" y="819150"/>
                </a:cubicBezTo>
                <a:lnTo>
                  <a:pt x="1638300" y="819150"/>
                </a:lnTo>
                <a:cubicBezTo>
                  <a:pt x="1638300" y="1271251"/>
                  <a:pt x="1271251" y="1638300"/>
                  <a:pt x="819150" y="1638300"/>
                </a:cubicBezTo>
                <a:lnTo>
                  <a:pt x="819150" y="1638300"/>
                </a:lnTo>
                <a:cubicBezTo>
                  <a:pt x="367049" y="1638300"/>
                  <a:pt x="0" y="1271251"/>
                  <a:pt x="0" y="819150"/>
                </a:cubicBezTo>
                <a:lnTo>
                  <a:pt x="0" y="819150"/>
                </a:lnTo>
                <a:cubicBezTo>
                  <a:pt x="0" y="367049"/>
                  <a:pt x="367049" y="0"/>
                  <a:pt x="819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27A8A"/>
              </a:gs>
              <a:gs pos="100000">
                <a:srgbClr val="6B8E9F"/>
              </a:gs>
            </a:gsLst>
            <a:lin ang="2700000" scaled="1"/>
          </a:gradFill>
          <a:ln w="50800">
            <a:solidFill>
              <a:srgbClr val="FFFFFF"/>
            </a:solidFill>
            <a:prstDash val="solid"/>
          </a:ln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  <p:txBody>
          <a:bodyPr/>
          <a:lstStyle/>
          <a:p>
            <a:r>
              <a:rPr lang="zh-CN" altLang="en-US" dirty="0"/>
              <a:t> </a:t>
            </a:r>
          </a:p>
        </p:txBody>
      </p:sp>
      <p:sp>
        <p:nvSpPr>
          <p:cNvPr id="28" name="Shape 26"/>
          <p:cNvSpPr/>
          <p:nvPr/>
        </p:nvSpPr>
        <p:spPr>
          <a:xfrm>
            <a:off x="6393656" y="44862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25016" y="107156"/>
                </a:moveTo>
                <a:lnTo>
                  <a:pt x="125016" y="178594"/>
                </a:lnTo>
                <a:cubicBezTo>
                  <a:pt x="125016" y="188472"/>
                  <a:pt x="117035" y="196453"/>
                  <a:pt x="107156" y="196453"/>
                </a:cubicBezTo>
                <a:cubicBezTo>
                  <a:pt x="97278" y="196453"/>
                  <a:pt x="89297" y="188472"/>
                  <a:pt x="89297" y="178594"/>
                </a:cubicBezTo>
                <a:lnTo>
                  <a:pt x="89297" y="107156"/>
                </a:lnTo>
                <a:cubicBezTo>
                  <a:pt x="89297" y="97278"/>
                  <a:pt x="97278" y="89297"/>
                  <a:pt x="107156" y="89297"/>
                </a:cubicBezTo>
                <a:cubicBezTo>
                  <a:pt x="117035" y="89297"/>
                  <a:pt x="125016" y="97278"/>
                  <a:pt x="125016" y="107156"/>
                </a:cubicBezTo>
                <a:close/>
                <a:moveTo>
                  <a:pt x="196453" y="107156"/>
                </a:moveTo>
                <a:lnTo>
                  <a:pt x="196453" y="178594"/>
                </a:lnTo>
                <a:cubicBezTo>
                  <a:pt x="196453" y="188472"/>
                  <a:pt x="188472" y="196453"/>
                  <a:pt x="178594" y="196453"/>
                </a:cubicBezTo>
                <a:cubicBezTo>
                  <a:pt x="168715" y="196453"/>
                  <a:pt x="160734" y="188472"/>
                  <a:pt x="160734" y="178594"/>
                </a:cubicBezTo>
                <a:lnTo>
                  <a:pt x="160734" y="107156"/>
                </a:lnTo>
                <a:cubicBezTo>
                  <a:pt x="160734" y="97278"/>
                  <a:pt x="168715" y="89297"/>
                  <a:pt x="178594" y="89297"/>
                </a:cubicBezTo>
                <a:cubicBezTo>
                  <a:pt x="188472" y="89297"/>
                  <a:pt x="196453" y="97278"/>
                  <a:pt x="196453" y="10715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949553" y="4848225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InactivePool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15025" y="5153025"/>
            <a:ext cx="1238250" cy="30480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已注册但无活跃引用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随时待命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01050" y="3172976"/>
            <a:ext cx="838200" cy="390525"/>
          </a:xfrm>
          <a:custGeom>
            <a:avLst/>
            <a:gdLst/>
            <a:ahLst/>
            <a:cxnLst/>
            <a:rect l="l" t="t" r="r" b="b"/>
            <a:pathLst>
              <a:path w="838200" h="390525">
                <a:moveTo>
                  <a:pt x="76199" y="0"/>
                </a:moveTo>
                <a:lnTo>
                  <a:pt x="762001" y="0"/>
                </a:lnTo>
                <a:cubicBezTo>
                  <a:pt x="804084" y="0"/>
                  <a:pt x="838200" y="34116"/>
                  <a:pt x="838200" y="76199"/>
                </a:cubicBezTo>
                <a:lnTo>
                  <a:pt x="838200" y="314326"/>
                </a:lnTo>
                <a:cubicBezTo>
                  <a:pt x="838200" y="356409"/>
                  <a:pt x="804084" y="390525"/>
                  <a:pt x="7620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527A8A">
                <a:alpha val="20000"/>
              </a:srgbClr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520113" y="3215838"/>
            <a:ext cx="65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分配 &amp; 填充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20113" y="3368238"/>
            <a:ext cx="65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Allocate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86100" y="4162918"/>
            <a:ext cx="809625" cy="390525"/>
          </a:xfrm>
          <a:custGeom>
            <a:avLst/>
            <a:gdLst/>
            <a:ahLst/>
            <a:cxnLst/>
            <a:rect l="l" t="t" r="r" b="b"/>
            <a:pathLst>
              <a:path w="809625" h="390525">
                <a:moveTo>
                  <a:pt x="76199" y="0"/>
                </a:moveTo>
                <a:lnTo>
                  <a:pt x="733426" y="0"/>
                </a:lnTo>
                <a:cubicBezTo>
                  <a:pt x="775509" y="0"/>
                  <a:pt x="809625" y="34116"/>
                  <a:pt x="809625" y="76199"/>
                </a:cubicBezTo>
                <a:lnTo>
                  <a:pt x="809625" y="314326"/>
                </a:lnTo>
                <a:cubicBezTo>
                  <a:pt x="809625" y="356409"/>
                  <a:pt x="775509" y="390525"/>
                  <a:pt x="7334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527A8A">
                <a:alpha val="20000"/>
              </a:srgbClr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805163" y="4205780"/>
            <a:ext cx="628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释放强引用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05163" y="4358180"/>
            <a:ext cx="628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Retire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00850" y="3172976"/>
            <a:ext cx="904875" cy="390525"/>
          </a:xfrm>
          <a:custGeom>
            <a:avLst/>
            <a:gdLst/>
            <a:ahLst/>
            <a:cxnLst/>
            <a:rect l="l" t="t" r="r" b="b"/>
            <a:pathLst>
              <a:path w="904875" h="390525">
                <a:moveTo>
                  <a:pt x="76199" y="0"/>
                </a:moveTo>
                <a:lnTo>
                  <a:pt x="828676" y="0"/>
                </a:lnTo>
                <a:cubicBezTo>
                  <a:pt x="870759" y="0"/>
                  <a:pt x="904875" y="34116"/>
                  <a:pt x="904875" y="76199"/>
                </a:cubicBezTo>
                <a:lnTo>
                  <a:pt x="904875" y="314326"/>
                </a:lnTo>
                <a:cubicBezTo>
                  <a:pt x="904875" y="356409"/>
                  <a:pt x="870759" y="390525"/>
                  <a:pt x="8286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527A8A">
                <a:alpha val="20000"/>
              </a:srgbClr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919912" y="3215838"/>
            <a:ext cx="723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091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驱逐回收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19912" y="3368238"/>
            <a:ext cx="723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Evict &amp; Reset</a:t>
            </a:r>
            <a:endParaRPr lang="en-US" sz="1600" dirty="0"/>
          </a:p>
        </p:txBody>
      </p:sp>
      <p:sp>
        <p:nvSpPr>
          <p:cNvPr id="46" name="圆角右箭头 45">
            <a:extLst>
              <a:ext uri="{FF2B5EF4-FFF2-40B4-BE49-F238E27FC236}">
                <a16:creationId xmlns:a16="http://schemas.microsoft.com/office/drawing/2014/main" id="{FA17A50F-726B-6F2B-51F4-2E5FF159BBB5}"/>
              </a:ext>
            </a:extLst>
          </p:cNvPr>
          <p:cNvSpPr/>
          <p:nvPr/>
        </p:nvSpPr>
        <p:spPr>
          <a:xfrm>
            <a:off x="6433180" y="1883421"/>
            <a:ext cx="838201" cy="220599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381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7" name="圆角右箭头 46">
            <a:extLst>
              <a:ext uri="{FF2B5EF4-FFF2-40B4-BE49-F238E27FC236}">
                <a16:creationId xmlns:a16="http://schemas.microsoft.com/office/drawing/2014/main" id="{4DCAA185-A4AC-ADFC-284C-DEFBC6170569}"/>
              </a:ext>
            </a:extLst>
          </p:cNvPr>
          <p:cNvSpPr/>
          <p:nvPr/>
        </p:nvSpPr>
        <p:spPr>
          <a:xfrm rot="5400000">
            <a:off x="8347833" y="2502669"/>
            <a:ext cx="2121927" cy="105155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8" name="左箭头 47">
            <a:extLst>
              <a:ext uri="{FF2B5EF4-FFF2-40B4-BE49-F238E27FC236}">
                <a16:creationId xmlns:a16="http://schemas.microsoft.com/office/drawing/2014/main" id="{71F8740C-8AEE-2980-E9C6-4473C9DC905A}"/>
              </a:ext>
            </a:extLst>
          </p:cNvPr>
          <p:cNvSpPr/>
          <p:nvPr/>
        </p:nvSpPr>
        <p:spPr>
          <a:xfrm>
            <a:off x="7387828" y="4705843"/>
            <a:ext cx="1331121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应对复杂推理负载的可插拔驱逐后端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001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KVBM 提供四种由 BlockManager::builder() 动态指定的策略，专治不同推理场景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00150"/>
            <a:ext cx="2743200" cy="5276850"/>
          </a:xfrm>
          <a:custGeom>
            <a:avLst/>
            <a:gdLst/>
            <a:ahLst/>
            <a:cxnLst/>
            <a:rect l="l" t="t" r="r" b="b"/>
            <a:pathLst>
              <a:path w="2743200" h="52768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5124438"/>
                </a:lnTo>
                <a:cubicBezTo>
                  <a:pt x="2743200" y="5208613"/>
                  <a:pt x="2674963" y="5276850"/>
                  <a:pt x="2590788" y="5276850"/>
                </a:cubicBezTo>
                <a:lnTo>
                  <a:pt x="152412" y="5276850"/>
                </a:lnTo>
                <a:cubicBezTo>
                  <a:pt x="68237" y="5276850"/>
                  <a:pt x="0" y="5208613"/>
                  <a:pt x="0" y="5124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1000" y="1200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8E9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715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B8E9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04850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7859"/>
                </a:moveTo>
                <a:cubicBezTo>
                  <a:pt x="190500" y="13729"/>
                  <a:pt x="188379" y="9897"/>
                  <a:pt x="184845" y="7739"/>
                </a:cubicBezTo>
                <a:cubicBezTo>
                  <a:pt x="181310" y="5581"/>
                  <a:pt x="176957" y="5358"/>
                  <a:pt x="173273" y="7218"/>
                </a:cubicBezTo>
                <a:lnTo>
                  <a:pt x="130039" y="28835"/>
                </a:lnTo>
                <a:lnTo>
                  <a:pt x="63289" y="6548"/>
                </a:lnTo>
                <a:cubicBezTo>
                  <a:pt x="60275" y="5544"/>
                  <a:pt x="57038" y="5767"/>
                  <a:pt x="54211" y="7181"/>
                </a:cubicBezTo>
                <a:lnTo>
                  <a:pt x="6586" y="30993"/>
                </a:lnTo>
                <a:cubicBezTo>
                  <a:pt x="2530" y="33040"/>
                  <a:pt x="0" y="37170"/>
                  <a:pt x="0" y="41672"/>
                </a:cubicBezTo>
                <a:lnTo>
                  <a:pt x="0" y="172641"/>
                </a:lnTo>
                <a:cubicBezTo>
                  <a:pt x="0" y="176771"/>
                  <a:pt x="2121" y="180603"/>
                  <a:pt x="5655" y="182761"/>
                </a:cubicBezTo>
                <a:cubicBezTo>
                  <a:pt x="9190" y="184919"/>
                  <a:pt x="13543" y="185142"/>
                  <a:pt x="17227" y="183282"/>
                </a:cubicBezTo>
                <a:lnTo>
                  <a:pt x="60424" y="161665"/>
                </a:lnTo>
                <a:lnTo>
                  <a:pt x="127174" y="183914"/>
                </a:lnTo>
                <a:cubicBezTo>
                  <a:pt x="130187" y="184919"/>
                  <a:pt x="133424" y="184696"/>
                  <a:pt x="136252" y="183282"/>
                </a:cubicBezTo>
                <a:lnTo>
                  <a:pt x="183877" y="159469"/>
                </a:lnTo>
                <a:cubicBezTo>
                  <a:pt x="187896" y="157460"/>
                  <a:pt x="190463" y="153330"/>
                  <a:pt x="190463" y="148828"/>
                </a:cubicBezTo>
                <a:lnTo>
                  <a:pt x="190463" y="17859"/>
                </a:lnTo>
                <a:close/>
                <a:moveTo>
                  <a:pt x="71438" y="140233"/>
                </a:moveTo>
                <a:lnTo>
                  <a:pt x="71438" y="34379"/>
                </a:lnTo>
                <a:lnTo>
                  <a:pt x="119063" y="50267"/>
                </a:lnTo>
                <a:lnTo>
                  <a:pt x="119063" y="156121"/>
                </a:lnTo>
                <a:lnTo>
                  <a:pt x="71438" y="14023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43000" y="1504950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HashMap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019300"/>
            <a:ext cx="2438400" cy="3762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基础自定义策略，依赖外置的 </a:t>
            </a:r>
            <a:r>
              <a:rPr lang="en-US" sz="1200" b="1" dirty="0">
                <a:solidFill>
                  <a:srgbClr val="6B8E9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ReusePolicy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。提供最大化的定制自由度。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5938838"/>
            <a:ext cx="2362200" cy="9525"/>
          </a:xfrm>
          <a:custGeom>
            <a:avLst/>
            <a:gdLst/>
            <a:ahLst/>
            <a:cxnLst/>
            <a:rect l="l" t="t" r="r" b="b"/>
            <a:pathLst>
              <a:path w="2362200" h="9525">
                <a:moveTo>
                  <a:pt x="0" y="0"/>
                </a:moveTo>
                <a:lnTo>
                  <a:pt x="2362200" y="0"/>
                </a:lnTo>
                <a:lnTo>
                  <a:pt x="2362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27A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90550" y="6124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16669"/>
                </a:moveTo>
                <a:cubicBezTo>
                  <a:pt x="3724" y="16669"/>
                  <a:pt x="0" y="20393"/>
                  <a:pt x="0" y="25003"/>
                </a:cubicBezTo>
                <a:cubicBezTo>
                  <a:pt x="0" y="29613"/>
                  <a:pt x="3724" y="33337"/>
                  <a:pt x="8334" y="33337"/>
                </a:cubicBezTo>
                <a:lnTo>
                  <a:pt x="30915" y="33337"/>
                </a:lnTo>
                <a:cubicBezTo>
                  <a:pt x="34119" y="40708"/>
                  <a:pt x="41464" y="45839"/>
                  <a:pt x="50006" y="45839"/>
                </a:cubicBezTo>
                <a:cubicBezTo>
                  <a:pt x="58549" y="45839"/>
                  <a:pt x="65894" y="40708"/>
                  <a:pt x="69097" y="33337"/>
                </a:cubicBezTo>
                <a:lnTo>
                  <a:pt x="125016" y="33337"/>
                </a:lnTo>
                <a:cubicBezTo>
                  <a:pt x="129626" y="33337"/>
                  <a:pt x="133350" y="29613"/>
                  <a:pt x="133350" y="25003"/>
                </a:cubicBezTo>
                <a:cubicBezTo>
                  <a:pt x="133350" y="20393"/>
                  <a:pt x="129626" y="16669"/>
                  <a:pt x="125016" y="16669"/>
                </a:cubicBezTo>
                <a:lnTo>
                  <a:pt x="69097" y="16669"/>
                </a:lnTo>
                <a:cubicBezTo>
                  <a:pt x="65894" y="9298"/>
                  <a:pt x="58549" y="4167"/>
                  <a:pt x="50006" y="4167"/>
                </a:cubicBezTo>
                <a:cubicBezTo>
                  <a:pt x="41464" y="4167"/>
                  <a:pt x="34119" y="9298"/>
                  <a:pt x="30915" y="16669"/>
                </a:cubicBezTo>
                <a:lnTo>
                  <a:pt x="8334" y="16669"/>
                </a:lnTo>
                <a:close/>
                <a:moveTo>
                  <a:pt x="8334" y="58341"/>
                </a:move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72587" y="75009"/>
                </a:lnTo>
                <a:cubicBezTo>
                  <a:pt x="75791" y="82380"/>
                  <a:pt x="83135" y="87511"/>
                  <a:pt x="91678" y="87511"/>
                </a:cubicBezTo>
                <a:cubicBezTo>
                  <a:pt x="100221" y="87511"/>
                  <a:pt x="107566" y="82380"/>
                  <a:pt x="110769" y="75009"/>
                </a:cubicBez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110769" y="58341"/>
                </a:lnTo>
                <a:cubicBezTo>
                  <a:pt x="107566" y="50970"/>
                  <a:pt x="100221" y="45839"/>
                  <a:pt x="91678" y="45839"/>
                </a:cubicBezTo>
                <a:cubicBezTo>
                  <a:pt x="83135" y="45839"/>
                  <a:pt x="75791" y="50970"/>
                  <a:pt x="72587" y="58341"/>
                </a:cubicBezTo>
                <a:lnTo>
                  <a:pt x="8334" y="58341"/>
                </a:lnTo>
                <a:close/>
                <a:moveTo>
                  <a:pt x="8334" y="100013"/>
                </a:moveTo>
                <a:cubicBezTo>
                  <a:pt x="3724" y="100013"/>
                  <a:pt x="0" y="103737"/>
                  <a:pt x="0" y="108347"/>
                </a:cubicBezTo>
                <a:cubicBezTo>
                  <a:pt x="0" y="112957"/>
                  <a:pt x="3724" y="116681"/>
                  <a:pt x="8334" y="116681"/>
                </a:cubicBezTo>
                <a:lnTo>
                  <a:pt x="22581" y="116681"/>
                </a:lnTo>
                <a:cubicBezTo>
                  <a:pt x="25784" y="124052"/>
                  <a:pt x="33129" y="129183"/>
                  <a:pt x="41672" y="129183"/>
                </a:cubicBezTo>
                <a:cubicBezTo>
                  <a:pt x="50215" y="129183"/>
                  <a:pt x="57559" y="124052"/>
                  <a:pt x="60763" y="116681"/>
                </a:cubicBezTo>
                <a:lnTo>
                  <a:pt x="125016" y="116681"/>
                </a:lnTo>
                <a:cubicBezTo>
                  <a:pt x="129626" y="116681"/>
                  <a:pt x="133350" y="112957"/>
                  <a:pt x="133350" y="108347"/>
                </a:cubicBezTo>
                <a:cubicBezTo>
                  <a:pt x="133350" y="103737"/>
                  <a:pt x="129626" y="100013"/>
                  <a:pt x="125016" y="100013"/>
                </a:cubicBezTo>
                <a:lnTo>
                  <a:pt x="60763" y="100013"/>
                </a:lnTo>
                <a:cubicBezTo>
                  <a:pt x="57559" y="92642"/>
                  <a:pt x="50215" y="87511"/>
                  <a:pt x="41672" y="87511"/>
                </a:cubicBezTo>
                <a:cubicBezTo>
                  <a:pt x="33129" y="87511"/>
                  <a:pt x="25784" y="92642"/>
                  <a:pt x="22581" y="100013"/>
                </a:cubicBezTo>
                <a:lnTo>
                  <a:pt x="8334" y="100013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14388" y="609600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高度可定制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76600" y="1200150"/>
            <a:ext cx="2743200" cy="5276850"/>
          </a:xfrm>
          <a:custGeom>
            <a:avLst/>
            <a:gdLst/>
            <a:ahLst/>
            <a:cxnLst/>
            <a:rect l="l" t="t" r="r" b="b"/>
            <a:pathLst>
              <a:path w="2743200" h="52768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5124438"/>
                </a:lnTo>
                <a:cubicBezTo>
                  <a:pt x="2743200" y="5208613"/>
                  <a:pt x="2674963" y="5276850"/>
                  <a:pt x="2590788" y="5276850"/>
                </a:cubicBezTo>
                <a:lnTo>
                  <a:pt x="152412" y="5276850"/>
                </a:lnTo>
                <a:cubicBezTo>
                  <a:pt x="68237" y="5276850"/>
                  <a:pt x="0" y="5208613"/>
                  <a:pt x="0" y="5124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276600" y="1200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4671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27A8A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588544" y="15430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038600" y="1504950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LRU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67100" y="2019300"/>
            <a:ext cx="2438400" cy="3762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经典</a:t>
            </a:r>
            <a:r>
              <a:rPr lang="en-US" sz="120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最近最少使用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。适用于简单的通用推理场景，低开销。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67100" y="5938838"/>
            <a:ext cx="2362200" cy="9525"/>
          </a:xfrm>
          <a:custGeom>
            <a:avLst/>
            <a:gdLst/>
            <a:ahLst/>
            <a:cxnLst/>
            <a:rect l="l" t="t" r="r" b="b"/>
            <a:pathLst>
              <a:path w="2362200" h="9525">
                <a:moveTo>
                  <a:pt x="0" y="0"/>
                </a:moveTo>
                <a:lnTo>
                  <a:pt x="2362200" y="0"/>
                </a:lnTo>
                <a:lnTo>
                  <a:pt x="2362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27A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486150" y="6124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3792" y="26"/>
                </a:moveTo>
                <a:cubicBezTo>
                  <a:pt x="126370" y="-182"/>
                  <a:pt x="128896" y="807"/>
                  <a:pt x="130719" y="2631"/>
                </a:cubicBezTo>
                <a:cubicBezTo>
                  <a:pt x="132543" y="4454"/>
                  <a:pt x="133532" y="6980"/>
                  <a:pt x="133324" y="9558"/>
                </a:cubicBezTo>
                <a:cubicBezTo>
                  <a:pt x="132282" y="22399"/>
                  <a:pt x="128792" y="42427"/>
                  <a:pt x="121265" y="61570"/>
                </a:cubicBezTo>
                <a:cubicBezTo>
                  <a:pt x="120796" y="62742"/>
                  <a:pt x="119833" y="63628"/>
                  <a:pt x="118609" y="63992"/>
                </a:cubicBezTo>
                <a:lnTo>
                  <a:pt x="97538" y="70321"/>
                </a:lnTo>
                <a:cubicBezTo>
                  <a:pt x="96522" y="70634"/>
                  <a:pt x="95845" y="71545"/>
                  <a:pt x="95845" y="72613"/>
                </a:cubicBezTo>
                <a:cubicBezTo>
                  <a:pt x="95845" y="73942"/>
                  <a:pt x="96913" y="75009"/>
                  <a:pt x="98241" y="75009"/>
                </a:cubicBezTo>
                <a:lnTo>
                  <a:pt x="108295" y="75009"/>
                </a:lnTo>
                <a:cubicBezTo>
                  <a:pt x="111420" y="75009"/>
                  <a:pt x="113426" y="78343"/>
                  <a:pt x="111811" y="81026"/>
                </a:cubicBezTo>
                <a:cubicBezTo>
                  <a:pt x="110769" y="82771"/>
                  <a:pt x="109649" y="84464"/>
                  <a:pt x="108503" y="86131"/>
                </a:cubicBezTo>
                <a:cubicBezTo>
                  <a:pt x="107982" y="86886"/>
                  <a:pt x="107201" y="87433"/>
                  <a:pt x="106315" y="87719"/>
                </a:cubicBezTo>
                <a:lnTo>
                  <a:pt x="80869" y="95324"/>
                </a:lnTo>
                <a:cubicBezTo>
                  <a:pt x="79854" y="95637"/>
                  <a:pt x="79177" y="96549"/>
                  <a:pt x="79177" y="97616"/>
                </a:cubicBezTo>
                <a:cubicBezTo>
                  <a:pt x="79177" y="98945"/>
                  <a:pt x="80244" y="100013"/>
                  <a:pt x="81573" y="100013"/>
                </a:cubicBezTo>
                <a:lnTo>
                  <a:pt x="85740" y="100013"/>
                </a:lnTo>
                <a:cubicBezTo>
                  <a:pt x="89542" y="100013"/>
                  <a:pt x="91209" y="104544"/>
                  <a:pt x="88032" y="106628"/>
                </a:cubicBezTo>
                <a:cubicBezTo>
                  <a:pt x="70321" y="118348"/>
                  <a:pt x="52168" y="117905"/>
                  <a:pt x="40526" y="114780"/>
                </a:cubicBezTo>
                <a:cubicBezTo>
                  <a:pt x="37218" y="113894"/>
                  <a:pt x="34275" y="112202"/>
                  <a:pt x="31566" y="110118"/>
                </a:cubicBezTo>
                <a:lnTo>
                  <a:pt x="12502" y="129183"/>
                </a:lnTo>
                <a:cubicBezTo>
                  <a:pt x="10210" y="131475"/>
                  <a:pt x="6459" y="131475"/>
                  <a:pt x="4167" y="129183"/>
                </a:cubicBezTo>
                <a:cubicBezTo>
                  <a:pt x="1875" y="126891"/>
                  <a:pt x="1875" y="123140"/>
                  <a:pt x="4167" y="120848"/>
                </a:cubicBezTo>
                <a:lnTo>
                  <a:pt x="25003" y="100013"/>
                </a:lnTo>
                <a:lnTo>
                  <a:pt x="25133" y="100143"/>
                </a:lnTo>
                <a:cubicBezTo>
                  <a:pt x="25316" y="99804"/>
                  <a:pt x="25550" y="99492"/>
                  <a:pt x="25837" y="99205"/>
                </a:cubicBezTo>
                <a:lnTo>
                  <a:pt x="66675" y="58341"/>
                </a:lnTo>
                <a:cubicBezTo>
                  <a:pt x="68967" y="56049"/>
                  <a:pt x="68967" y="52298"/>
                  <a:pt x="66675" y="50006"/>
                </a:cubicBezTo>
                <a:cubicBezTo>
                  <a:pt x="64383" y="47714"/>
                  <a:pt x="60633" y="47714"/>
                  <a:pt x="58341" y="50006"/>
                </a:cubicBezTo>
                <a:lnTo>
                  <a:pt x="23362" y="84959"/>
                </a:lnTo>
                <a:cubicBezTo>
                  <a:pt x="21044" y="87277"/>
                  <a:pt x="17112" y="86105"/>
                  <a:pt x="16851" y="82823"/>
                </a:cubicBezTo>
                <a:cubicBezTo>
                  <a:pt x="15731" y="68967"/>
                  <a:pt x="19273" y="50762"/>
                  <a:pt x="35760" y="34275"/>
                </a:cubicBezTo>
                <a:cubicBezTo>
                  <a:pt x="59487" y="10548"/>
                  <a:pt x="101966" y="1797"/>
                  <a:pt x="123765" y="26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709988" y="60960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轻量高效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0" y="1200150"/>
            <a:ext cx="2743200" cy="5276850"/>
          </a:xfrm>
          <a:custGeom>
            <a:avLst/>
            <a:gdLst/>
            <a:ahLst/>
            <a:cxnLst/>
            <a:rect l="l" t="t" r="r" b="b"/>
            <a:pathLst>
              <a:path w="2743200" h="52768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5124438"/>
                </a:lnTo>
                <a:cubicBezTo>
                  <a:pt x="2743200" y="5208613"/>
                  <a:pt x="2674963" y="5276850"/>
                  <a:pt x="2590788" y="5276850"/>
                </a:cubicBezTo>
                <a:lnTo>
                  <a:pt x="152412" y="5276850"/>
                </a:lnTo>
                <a:cubicBezTo>
                  <a:pt x="68237" y="5276850"/>
                  <a:pt x="0" y="5208613"/>
                  <a:pt x="0" y="5124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172200" y="1200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3627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0916C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496050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934200" y="1504950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Lineage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62700" y="2019300"/>
            <a:ext cx="2438400" cy="3762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依托 </a:t>
            </a:r>
            <a:r>
              <a:rPr lang="en-US" sz="1200" b="1" dirty="0">
                <a:solidFill>
                  <a:srgbClr val="4091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Sequence Hash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血缘关系的专属策略。专为高频前缀复用和树状生成场景优化。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2700" y="5938838"/>
            <a:ext cx="2362200" cy="9525"/>
          </a:xfrm>
          <a:custGeom>
            <a:avLst/>
            <a:gdLst/>
            <a:ahLst/>
            <a:cxnLst/>
            <a:rect l="l" t="t" r="r" b="b"/>
            <a:pathLst>
              <a:path w="2362200" h="9525">
                <a:moveTo>
                  <a:pt x="0" y="0"/>
                </a:moveTo>
                <a:lnTo>
                  <a:pt x="2362200" y="0"/>
                </a:lnTo>
                <a:lnTo>
                  <a:pt x="2362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27A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390084" y="61245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20836" y="27087"/>
                </a:moveTo>
                <a:cubicBezTo>
                  <a:pt x="24286" y="27087"/>
                  <a:pt x="27087" y="24286"/>
                  <a:pt x="27087" y="20836"/>
                </a:cubicBezTo>
                <a:cubicBezTo>
                  <a:pt x="27087" y="17386"/>
                  <a:pt x="24286" y="14585"/>
                  <a:pt x="20836" y="14585"/>
                </a:cubicBezTo>
                <a:cubicBezTo>
                  <a:pt x="17386" y="14585"/>
                  <a:pt x="14585" y="17386"/>
                  <a:pt x="14585" y="20836"/>
                </a:cubicBezTo>
                <a:cubicBezTo>
                  <a:pt x="14585" y="24286"/>
                  <a:pt x="17386" y="27087"/>
                  <a:pt x="20836" y="27087"/>
                </a:cubicBezTo>
                <a:close/>
                <a:moveTo>
                  <a:pt x="41672" y="20836"/>
                </a:moveTo>
                <a:cubicBezTo>
                  <a:pt x="41672" y="29379"/>
                  <a:pt x="36541" y="36723"/>
                  <a:pt x="29170" y="39927"/>
                </a:cubicBezTo>
                <a:lnTo>
                  <a:pt x="29170" y="58341"/>
                </a:lnTo>
                <a:lnTo>
                  <a:pt x="75009" y="58341"/>
                </a:lnTo>
                <a:cubicBezTo>
                  <a:pt x="81911" y="58341"/>
                  <a:pt x="87511" y="52741"/>
                  <a:pt x="87511" y="45839"/>
                </a:cubicBezTo>
                <a:lnTo>
                  <a:pt x="87511" y="39927"/>
                </a:lnTo>
                <a:cubicBezTo>
                  <a:pt x="80140" y="36723"/>
                  <a:pt x="75009" y="29379"/>
                  <a:pt x="75009" y="20836"/>
                </a:cubicBezTo>
                <a:cubicBezTo>
                  <a:pt x="75009" y="9324"/>
                  <a:pt x="84333" y="0"/>
                  <a:pt x="95845" y="0"/>
                </a:cubicBezTo>
                <a:cubicBezTo>
                  <a:pt x="107357" y="0"/>
                  <a:pt x="116681" y="9324"/>
                  <a:pt x="116681" y="20836"/>
                </a:cubicBezTo>
                <a:cubicBezTo>
                  <a:pt x="116681" y="29379"/>
                  <a:pt x="111550" y="36723"/>
                  <a:pt x="104180" y="39927"/>
                </a:cubicBezTo>
                <a:lnTo>
                  <a:pt x="104180" y="45839"/>
                </a:lnTo>
                <a:cubicBezTo>
                  <a:pt x="104180" y="61961"/>
                  <a:pt x="91131" y="75009"/>
                  <a:pt x="75009" y="75009"/>
                </a:cubicBezTo>
                <a:lnTo>
                  <a:pt x="29170" y="75009"/>
                </a:lnTo>
                <a:lnTo>
                  <a:pt x="29170" y="93423"/>
                </a:lnTo>
                <a:cubicBezTo>
                  <a:pt x="36541" y="96627"/>
                  <a:pt x="41672" y="103971"/>
                  <a:pt x="41672" y="112514"/>
                </a:cubicBezTo>
                <a:cubicBezTo>
                  <a:pt x="41672" y="124026"/>
                  <a:pt x="32348" y="133350"/>
                  <a:pt x="20836" y="133350"/>
                </a:cubicBezTo>
                <a:cubicBezTo>
                  <a:pt x="9324" y="133350"/>
                  <a:pt x="0" y="124026"/>
                  <a:pt x="0" y="112514"/>
                </a:cubicBezTo>
                <a:cubicBezTo>
                  <a:pt x="0" y="103971"/>
                  <a:pt x="5131" y="96627"/>
                  <a:pt x="12502" y="93423"/>
                </a:cubicBezTo>
                <a:lnTo>
                  <a:pt x="12502" y="39953"/>
                </a:lnTo>
                <a:cubicBezTo>
                  <a:pt x="5131" y="36723"/>
                  <a:pt x="0" y="29379"/>
                  <a:pt x="0" y="20836"/>
                </a:cubicBezTo>
                <a:cubicBezTo>
                  <a:pt x="0" y="9324"/>
                  <a:pt x="9324" y="0"/>
                  <a:pt x="20836" y="0"/>
                </a:cubicBezTo>
                <a:cubicBezTo>
                  <a:pt x="32348" y="0"/>
                  <a:pt x="41672" y="9324"/>
                  <a:pt x="41672" y="20836"/>
                </a:cubicBezTo>
                <a:close/>
                <a:moveTo>
                  <a:pt x="102096" y="20836"/>
                </a:moveTo>
                <a:cubicBezTo>
                  <a:pt x="102096" y="17386"/>
                  <a:pt x="99295" y="14585"/>
                  <a:pt x="95845" y="14585"/>
                </a:cubicBezTo>
                <a:cubicBezTo>
                  <a:pt x="92395" y="14585"/>
                  <a:pt x="89595" y="17386"/>
                  <a:pt x="89595" y="20836"/>
                </a:cubicBezTo>
                <a:cubicBezTo>
                  <a:pt x="89595" y="24286"/>
                  <a:pt x="92395" y="27087"/>
                  <a:pt x="95845" y="27087"/>
                </a:cubicBezTo>
                <a:cubicBezTo>
                  <a:pt x="99295" y="27087"/>
                  <a:pt x="102096" y="24286"/>
                  <a:pt x="102096" y="20836"/>
                </a:cubicBezTo>
                <a:close/>
                <a:moveTo>
                  <a:pt x="20836" y="118765"/>
                </a:moveTo>
                <a:cubicBezTo>
                  <a:pt x="24286" y="118765"/>
                  <a:pt x="27087" y="115964"/>
                  <a:pt x="27087" y="112514"/>
                </a:cubicBezTo>
                <a:cubicBezTo>
                  <a:pt x="27087" y="109064"/>
                  <a:pt x="24286" y="106263"/>
                  <a:pt x="20836" y="106263"/>
                </a:cubicBezTo>
                <a:cubicBezTo>
                  <a:pt x="17386" y="106263"/>
                  <a:pt x="14585" y="109064"/>
                  <a:pt x="14585" y="112514"/>
                </a:cubicBezTo>
                <a:cubicBezTo>
                  <a:pt x="14585" y="115964"/>
                  <a:pt x="17386" y="118765"/>
                  <a:pt x="20836" y="118765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605588" y="609600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前缀复用优化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67800" y="1200150"/>
            <a:ext cx="2743200" cy="5276850"/>
          </a:xfrm>
          <a:custGeom>
            <a:avLst/>
            <a:gdLst/>
            <a:ahLst/>
            <a:cxnLst/>
            <a:rect l="l" t="t" r="r" b="b"/>
            <a:pathLst>
              <a:path w="2743200" h="52768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5124438"/>
                </a:lnTo>
                <a:cubicBezTo>
                  <a:pt x="2743200" y="5208613"/>
                  <a:pt x="2674963" y="5276850"/>
                  <a:pt x="2590788" y="5276850"/>
                </a:cubicBezTo>
                <a:lnTo>
                  <a:pt x="152412" y="5276850"/>
                </a:lnTo>
                <a:cubicBezTo>
                  <a:pt x="68237" y="5276850"/>
                  <a:pt x="0" y="5208613"/>
                  <a:pt x="0" y="5124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9067800" y="1200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067800" y="1219200"/>
            <a:ext cx="2743200" cy="342900"/>
          </a:xfrm>
          <a:custGeom>
            <a:avLst/>
            <a:gdLst/>
            <a:ahLst/>
            <a:cxnLst/>
            <a:rect l="l" t="t" r="r" b="b"/>
            <a:pathLst>
              <a:path w="2743200" h="342900">
                <a:moveTo>
                  <a:pt x="0" y="0"/>
                </a:moveTo>
                <a:lnTo>
                  <a:pt x="2743200" y="0"/>
                </a:lnTo>
                <a:lnTo>
                  <a:pt x="27432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0048875" y="13144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0272713" y="12954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核心推荐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2583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9391650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829800" y="1847850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MultiLRU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58300" y="2362200"/>
            <a:ext cx="2438400" cy="3419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四级频率分层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。深度联动 TinyLFU 统计数据，强制优先驱逐最冷层，在复杂负载下保障极高缓存命中率。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258300" y="5938838"/>
            <a:ext cx="2362200" cy="9525"/>
          </a:xfrm>
          <a:custGeom>
            <a:avLst/>
            <a:gdLst/>
            <a:ahLst/>
            <a:cxnLst/>
            <a:rect l="l" t="t" r="r" b="b"/>
            <a:pathLst>
              <a:path w="2362200" h="9525">
                <a:moveTo>
                  <a:pt x="0" y="0"/>
                </a:moveTo>
                <a:lnTo>
                  <a:pt x="2362200" y="0"/>
                </a:lnTo>
                <a:lnTo>
                  <a:pt x="2362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27A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9258300" y="6134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9410700" y="60960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Very Hot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064055" y="6134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0216455" y="6096000"/>
            <a:ext cx="28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551542" y="6134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0703942" y="6096000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Warm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186443" y="6134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6B8E9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338843" y="6096000"/>
            <a:ext cx="35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依托 Rust 构建编译期安全的生命周期状态机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00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1000" y="2295525"/>
            <a:ext cx="2276475" cy="1771650"/>
          </a:xfrm>
          <a:custGeom>
            <a:avLst/>
            <a:gdLst/>
            <a:ahLst/>
            <a:cxnLst/>
            <a:rect l="l" t="t" r="r" b="b"/>
            <a:pathLst>
              <a:path w="2276475" h="1771650">
                <a:moveTo>
                  <a:pt x="38100" y="0"/>
                </a:moveTo>
                <a:lnTo>
                  <a:pt x="2238375" y="0"/>
                </a:lnTo>
                <a:cubicBezTo>
                  <a:pt x="2259403" y="0"/>
                  <a:pt x="2276475" y="17072"/>
                  <a:pt x="2276475" y="38100"/>
                </a:cubicBezTo>
                <a:lnTo>
                  <a:pt x="2276475" y="1619253"/>
                </a:lnTo>
                <a:cubicBezTo>
                  <a:pt x="2276475" y="1703419"/>
                  <a:pt x="2208244" y="1771650"/>
                  <a:pt x="2124078" y="1771650"/>
                </a:cubicBezTo>
                <a:lnTo>
                  <a:pt x="152397" y="1771650"/>
                </a:lnTo>
                <a:cubicBezTo>
                  <a:pt x="68231" y="1771650"/>
                  <a:pt x="0" y="1703419"/>
                  <a:pt x="0" y="16192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1000" y="2295525"/>
            <a:ext cx="2276475" cy="38100"/>
          </a:xfrm>
          <a:custGeom>
            <a:avLst/>
            <a:gdLst/>
            <a:ahLst/>
            <a:cxnLst/>
            <a:rect l="l" t="t" r="r" b="b"/>
            <a:pathLst>
              <a:path w="2276475" h="38100">
                <a:moveTo>
                  <a:pt x="38100" y="0"/>
                </a:moveTo>
                <a:lnTo>
                  <a:pt x="2238375" y="0"/>
                </a:lnTo>
                <a:cubicBezTo>
                  <a:pt x="2259403" y="0"/>
                  <a:pt x="2276475" y="17072"/>
                  <a:pt x="2276475" y="38100"/>
                </a:cubicBezTo>
                <a:lnTo>
                  <a:pt x="22764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8E9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71500" y="2505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B8E9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04850" y="2638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468" y="8074"/>
                </a:moveTo>
                <a:cubicBezTo>
                  <a:pt x="167320" y="-74"/>
                  <a:pt x="154149" y="-74"/>
                  <a:pt x="146000" y="8074"/>
                </a:cubicBezTo>
                <a:lnTo>
                  <a:pt x="136922" y="17152"/>
                </a:lnTo>
                <a:lnTo>
                  <a:pt x="173348" y="53578"/>
                </a:lnTo>
                <a:lnTo>
                  <a:pt x="182426" y="44500"/>
                </a:lnTo>
                <a:cubicBezTo>
                  <a:pt x="190574" y="36351"/>
                  <a:pt x="190574" y="23180"/>
                  <a:pt x="182426" y="15032"/>
                </a:cubicBezTo>
                <a:lnTo>
                  <a:pt x="175468" y="8074"/>
                </a:lnTo>
                <a:close/>
                <a:moveTo>
                  <a:pt x="64145" y="89929"/>
                </a:moveTo>
                <a:cubicBezTo>
                  <a:pt x="61875" y="92199"/>
                  <a:pt x="60127" y="94990"/>
                  <a:pt x="59122" y="98078"/>
                </a:cubicBezTo>
                <a:lnTo>
                  <a:pt x="48109" y="131118"/>
                </a:lnTo>
                <a:cubicBezTo>
                  <a:pt x="47030" y="134317"/>
                  <a:pt x="47885" y="137852"/>
                  <a:pt x="50267" y="140271"/>
                </a:cubicBezTo>
                <a:cubicBezTo>
                  <a:pt x="52648" y="142689"/>
                  <a:pt x="56183" y="143508"/>
                  <a:pt x="59420" y="142429"/>
                </a:cubicBezTo>
                <a:lnTo>
                  <a:pt x="92459" y="131415"/>
                </a:lnTo>
                <a:cubicBezTo>
                  <a:pt x="95510" y="130411"/>
                  <a:pt x="98301" y="128662"/>
                  <a:pt x="100608" y="126392"/>
                </a:cubicBezTo>
                <a:lnTo>
                  <a:pt x="160734" y="66191"/>
                </a:lnTo>
                <a:lnTo>
                  <a:pt x="124309" y="29766"/>
                </a:lnTo>
                <a:lnTo>
                  <a:pt x="64145" y="89929"/>
                </a:lnTo>
                <a:close/>
                <a:moveTo>
                  <a:pt x="35719" y="23812"/>
                </a:moveTo>
                <a:cubicBezTo>
                  <a:pt x="15999" y="23812"/>
                  <a:pt x="0" y="39812"/>
                  <a:pt x="0" y="59531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130969" y="190500"/>
                </a:lnTo>
                <a:cubicBezTo>
                  <a:pt x="150688" y="190500"/>
                  <a:pt x="166688" y="174501"/>
                  <a:pt x="166688" y="154781"/>
                </a:cubicBezTo>
                <a:lnTo>
                  <a:pt x="166688" y="119063"/>
                </a:lnTo>
                <a:cubicBezTo>
                  <a:pt x="166688" y="112477"/>
                  <a:pt x="161367" y="107156"/>
                  <a:pt x="154781" y="107156"/>
                </a:cubicBezTo>
                <a:cubicBezTo>
                  <a:pt x="148196" y="107156"/>
                  <a:pt x="142875" y="112477"/>
                  <a:pt x="142875" y="119063"/>
                </a:cubicBezTo>
                <a:lnTo>
                  <a:pt x="142875" y="154781"/>
                </a:lnTo>
                <a:cubicBezTo>
                  <a:pt x="142875" y="161367"/>
                  <a:pt x="137554" y="166688"/>
                  <a:pt x="130969" y="166688"/>
                </a:cubicBezTo>
                <a:lnTo>
                  <a:pt x="35719" y="166688"/>
                </a:lnTo>
                <a:cubicBezTo>
                  <a:pt x="29133" y="166688"/>
                  <a:pt x="23812" y="161367"/>
                  <a:pt x="23812" y="154781"/>
                </a:cubicBezTo>
                <a:lnTo>
                  <a:pt x="23812" y="59531"/>
                </a:lnTo>
                <a:cubicBezTo>
                  <a:pt x="23812" y="52946"/>
                  <a:pt x="29133" y="47625"/>
                  <a:pt x="35719" y="47625"/>
                </a:cubicBezTo>
                <a:lnTo>
                  <a:pt x="71438" y="47625"/>
                </a:lnTo>
                <a:cubicBezTo>
                  <a:pt x="78023" y="47625"/>
                  <a:pt x="83344" y="42304"/>
                  <a:pt x="83344" y="35719"/>
                </a:cubicBezTo>
                <a:cubicBezTo>
                  <a:pt x="83344" y="29133"/>
                  <a:pt x="78023" y="23812"/>
                  <a:pt x="71438" y="23812"/>
                </a:cubicBezTo>
                <a:lnTo>
                  <a:pt x="35719" y="2381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43000" y="250507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MutableBlock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771775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Reset 状态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3076575"/>
            <a:ext cx="1971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独占可变访问权，用于</a:t>
            </a:r>
            <a:r>
              <a:rPr lang="en-US" sz="1200" b="1" dirty="0">
                <a:solidFill>
                  <a:srgbClr val="6B8E9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填充 KV 数据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2216" y="37147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0013" y="25003"/>
                </a:moveTo>
                <a:cubicBezTo>
                  <a:pt x="100013" y="15809"/>
                  <a:pt x="107487" y="8334"/>
                  <a:pt x="116681" y="8334"/>
                </a:cubicBezTo>
                <a:cubicBezTo>
                  <a:pt x="125875" y="8334"/>
                  <a:pt x="133350" y="15809"/>
                  <a:pt x="133350" y="25003"/>
                </a:cubicBezTo>
                <a:lnTo>
                  <a:pt x="133350" y="33337"/>
                </a:lnTo>
                <a:cubicBezTo>
                  <a:pt x="133350" y="37947"/>
                  <a:pt x="137074" y="41672"/>
                  <a:pt x="141684" y="41672"/>
                </a:cubicBezTo>
                <a:cubicBezTo>
                  <a:pt x="146294" y="41672"/>
                  <a:pt x="150019" y="37947"/>
                  <a:pt x="150019" y="33337"/>
                </a:cubicBezTo>
                <a:lnTo>
                  <a:pt x="150019" y="25003"/>
                </a:lnTo>
                <a:cubicBezTo>
                  <a:pt x="150019" y="6589"/>
                  <a:pt x="135095" y="-8334"/>
                  <a:pt x="116681" y="-8334"/>
                </a:cubicBezTo>
                <a:cubicBezTo>
                  <a:pt x="98267" y="-8334"/>
                  <a:pt x="83344" y="6589"/>
                  <a:pt x="83344" y="25003"/>
                </a:cubicBezTo>
                <a:lnTo>
                  <a:pt x="83344" y="41672"/>
                </a:lnTo>
                <a:lnTo>
                  <a:pt x="41672" y="41672"/>
                </a:lnTo>
                <a:cubicBezTo>
                  <a:pt x="32478" y="41672"/>
                  <a:pt x="25003" y="49147"/>
                  <a:pt x="25003" y="58341"/>
                </a:cubicBezTo>
                <a:lnTo>
                  <a:pt x="25003" y="116681"/>
                </a:lnTo>
                <a:cubicBezTo>
                  <a:pt x="25003" y="125875"/>
                  <a:pt x="32478" y="133350"/>
                  <a:pt x="41672" y="133350"/>
                </a:cubicBezTo>
                <a:lnTo>
                  <a:pt x="108347" y="133350"/>
                </a:lnTo>
                <a:cubicBezTo>
                  <a:pt x="117541" y="133350"/>
                  <a:pt x="125016" y="125875"/>
                  <a:pt x="125016" y="116681"/>
                </a:cubicBezTo>
                <a:lnTo>
                  <a:pt x="125016" y="58341"/>
                </a:lnTo>
                <a:cubicBezTo>
                  <a:pt x="125016" y="49147"/>
                  <a:pt x="117541" y="41672"/>
                  <a:pt x="108347" y="41672"/>
                </a:cubicBezTo>
                <a:lnTo>
                  <a:pt x="100013" y="41672"/>
                </a:lnTo>
                <a:lnTo>
                  <a:pt x="100013" y="25003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14388" y="36861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可写状态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50505" y="30289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321993" y="2295525"/>
            <a:ext cx="2276475" cy="1771650"/>
          </a:xfrm>
          <a:custGeom>
            <a:avLst/>
            <a:gdLst/>
            <a:ahLst/>
            <a:cxnLst/>
            <a:rect l="l" t="t" r="r" b="b"/>
            <a:pathLst>
              <a:path w="2276475" h="1771650">
                <a:moveTo>
                  <a:pt x="38100" y="0"/>
                </a:moveTo>
                <a:lnTo>
                  <a:pt x="2238375" y="0"/>
                </a:lnTo>
                <a:cubicBezTo>
                  <a:pt x="2259403" y="0"/>
                  <a:pt x="2276475" y="17072"/>
                  <a:pt x="2276475" y="38100"/>
                </a:cubicBezTo>
                <a:lnTo>
                  <a:pt x="2276475" y="1619253"/>
                </a:lnTo>
                <a:cubicBezTo>
                  <a:pt x="2276475" y="1703419"/>
                  <a:pt x="2208244" y="1771650"/>
                  <a:pt x="2124078" y="1771650"/>
                </a:cubicBezTo>
                <a:lnTo>
                  <a:pt x="152397" y="1771650"/>
                </a:lnTo>
                <a:cubicBezTo>
                  <a:pt x="68231" y="1771650"/>
                  <a:pt x="0" y="1703419"/>
                  <a:pt x="0" y="16192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321993" y="2295525"/>
            <a:ext cx="2276475" cy="38100"/>
          </a:xfrm>
          <a:custGeom>
            <a:avLst/>
            <a:gdLst/>
            <a:ahLst/>
            <a:cxnLst/>
            <a:rect l="l" t="t" r="r" b="b"/>
            <a:pathLst>
              <a:path w="2276475" h="38100">
                <a:moveTo>
                  <a:pt x="38100" y="0"/>
                </a:moveTo>
                <a:lnTo>
                  <a:pt x="2238375" y="0"/>
                </a:lnTo>
                <a:cubicBezTo>
                  <a:pt x="2259403" y="0"/>
                  <a:pt x="2276475" y="17072"/>
                  <a:pt x="2276475" y="38100"/>
                </a:cubicBezTo>
                <a:lnTo>
                  <a:pt x="22764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512493" y="2505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27A8A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645843" y="2638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083993" y="2505075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CompleteBlock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83993" y="2771775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Staged 状态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12493" y="3076575"/>
            <a:ext cx="1971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数据就绪，提取 </a:t>
            </a:r>
            <a:r>
              <a:rPr lang="en-US" sz="120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Sequence Hash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等待注册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48211" y="37147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8334" y="0"/>
                </a:moveTo>
                <a:cubicBezTo>
                  <a:pt x="3724" y="0"/>
                  <a:pt x="0" y="3724"/>
                  <a:pt x="0" y="8334"/>
                </a:cubicBezTo>
                <a:cubicBezTo>
                  <a:pt x="0" y="12944"/>
                  <a:pt x="3724" y="16669"/>
                  <a:pt x="8334" y="16669"/>
                </a:cubicBezTo>
                <a:lnTo>
                  <a:pt x="8334" y="19534"/>
                </a:lnTo>
                <a:cubicBezTo>
                  <a:pt x="8334" y="30577"/>
                  <a:pt x="12736" y="41177"/>
                  <a:pt x="20549" y="48990"/>
                </a:cubicBezTo>
                <a:lnTo>
                  <a:pt x="38234" y="66675"/>
                </a:lnTo>
                <a:lnTo>
                  <a:pt x="20549" y="84360"/>
                </a:lnTo>
                <a:cubicBezTo>
                  <a:pt x="12736" y="92173"/>
                  <a:pt x="8334" y="102773"/>
                  <a:pt x="8334" y="113816"/>
                </a:cubicBezTo>
                <a:lnTo>
                  <a:pt x="8334" y="116681"/>
                </a:lnTo>
                <a:cubicBezTo>
                  <a:pt x="3724" y="116681"/>
                  <a:pt x="0" y="120406"/>
                  <a:pt x="0" y="125016"/>
                </a:cubicBezTo>
                <a:cubicBezTo>
                  <a:pt x="0" y="129626"/>
                  <a:pt x="3724" y="133350"/>
                  <a:pt x="8334" y="133350"/>
                </a:cubicBezTo>
                <a:lnTo>
                  <a:pt x="91678" y="133350"/>
                </a:lnTo>
                <a:cubicBezTo>
                  <a:pt x="96288" y="133350"/>
                  <a:pt x="100013" y="129626"/>
                  <a:pt x="100013" y="125016"/>
                </a:cubicBezTo>
                <a:cubicBezTo>
                  <a:pt x="100013" y="120406"/>
                  <a:pt x="96288" y="116681"/>
                  <a:pt x="91678" y="116681"/>
                </a:cubicBezTo>
                <a:lnTo>
                  <a:pt x="91678" y="113816"/>
                </a:lnTo>
                <a:cubicBezTo>
                  <a:pt x="91678" y="102773"/>
                  <a:pt x="87277" y="92173"/>
                  <a:pt x="79463" y="84360"/>
                </a:cubicBezTo>
                <a:lnTo>
                  <a:pt x="61779" y="66675"/>
                </a:lnTo>
                <a:lnTo>
                  <a:pt x="79463" y="48990"/>
                </a:lnTo>
                <a:cubicBezTo>
                  <a:pt x="87277" y="41177"/>
                  <a:pt x="91678" y="30577"/>
                  <a:pt x="91678" y="19534"/>
                </a:cubicBezTo>
                <a:lnTo>
                  <a:pt x="91678" y="16669"/>
                </a:lnTo>
                <a:cubicBezTo>
                  <a:pt x="96288" y="16669"/>
                  <a:pt x="100013" y="12944"/>
                  <a:pt x="100013" y="8334"/>
                </a:cubicBezTo>
                <a:cubicBezTo>
                  <a:pt x="100013" y="3724"/>
                  <a:pt x="96288" y="0"/>
                  <a:pt x="91678" y="0"/>
                </a:cubicBezTo>
                <a:lnTo>
                  <a:pt x="8334" y="0"/>
                </a:lnTo>
                <a:close/>
                <a:moveTo>
                  <a:pt x="25003" y="19534"/>
                </a:moveTo>
                <a:lnTo>
                  <a:pt x="25003" y="16669"/>
                </a:lnTo>
                <a:lnTo>
                  <a:pt x="75009" y="16669"/>
                </a:lnTo>
                <a:lnTo>
                  <a:pt x="75009" y="19534"/>
                </a:lnTo>
                <a:cubicBezTo>
                  <a:pt x="75009" y="24482"/>
                  <a:pt x="73551" y="29274"/>
                  <a:pt x="70842" y="33337"/>
                </a:cubicBezTo>
                <a:lnTo>
                  <a:pt x="29170" y="33337"/>
                </a:lnTo>
                <a:cubicBezTo>
                  <a:pt x="26488" y="29274"/>
                  <a:pt x="25003" y="24482"/>
                  <a:pt x="25003" y="19534"/>
                </a:cubicBezTo>
                <a:close/>
                <a:moveTo>
                  <a:pt x="29170" y="100013"/>
                </a:moveTo>
                <a:cubicBezTo>
                  <a:pt x="30082" y="98632"/>
                  <a:pt x="31150" y="97330"/>
                  <a:pt x="32322" y="96132"/>
                </a:cubicBezTo>
                <a:lnTo>
                  <a:pt x="50006" y="78447"/>
                </a:lnTo>
                <a:lnTo>
                  <a:pt x="67691" y="96132"/>
                </a:lnTo>
                <a:cubicBezTo>
                  <a:pt x="68889" y="97330"/>
                  <a:pt x="69931" y="98632"/>
                  <a:pt x="70868" y="100013"/>
                </a:cubicBezTo>
                <a:lnTo>
                  <a:pt x="29170" y="100013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755380" y="3686175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待注册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91498" y="30289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262985" y="2171700"/>
            <a:ext cx="2305050" cy="2019300"/>
          </a:xfrm>
          <a:custGeom>
            <a:avLst/>
            <a:gdLst/>
            <a:ahLst/>
            <a:cxnLst/>
            <a:rect l="l" t="t" r="r" b="b"/>
            <a:pathLst>
              <a:path w="2305050" h="2019300">
                <a:moveTo>
                  <a:pt x="38100" y="0"/>
                </a:moveTo>
                <a:lnTo>
                  <a:pt x="2266950" y="0"/>
                </a:lnTo>
                <a:cubicBezTo>
                  <a:pt x="2287978" y="0"/>
                  <a:pt x="2305050" y="17072"/>
                  <a:pt x="2305050" y="38100"/>
                </a:cubicBezTo>
                <a:lnTo>
                  <a:pt x="2305050" y="1866903"/>
                </a:lnTo>
                <a:cubicBezTo>
                  <a:pt x="2305050" y="1951070"/>
                  <a:pt x="2236820" y="2019300"/>
                  <a:pt x="2152653" y="2019300"/>
                </a:cubicBezTo>
                <a:lnTo>
                  <a:pt x="152397" y="2019300"/>
                </a:lnTo>
                <a:cubicBezTo>
                  <a:pt x="68230" y="2019300"/>
                  <a:pt x="0" y="1951070"/>
                  <a:pt x="0" y="18669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262985" y="2171700"/>
            <a:ext cx="2305050" cy="38100"/>
          </a:xfrm>
          <a:custGeom>
            <a:avLst/>
            <a:gdLst/>
            <a:ahLst/>
            <a:cxnLst/>
            <a:rect l="l" t="t" r="r" b="b"/>
            <a:pathLst>
              <a:path w="2305050" h="38100">
                <a:moveTo>
                  <a:pt x="38100" y="0"/>
                </a:moveTo>
                <a:lnTo>
                  <a:pt x="2266950" y="0"/>
                </a:lnTo>
                <a:cubicBezTo>
                  <a:pt x="2287978" y="0"/>
                  <a:pt x="2305050" y="17072"/>
                  <a:pt x="2305050" y="38100"/>
                </a:cubicBezTo>
                <a:lnTo>
                  <a:pt x="23050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453485" y="2381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0916C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610648" y="2514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024985" y="238125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ImmutableBlock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24985" y="264795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Registered 状态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3485" y="2952750"/>
            <a:ext cx="2000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091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只读状态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。进入全局索引，通过 Arc 安全跨 Sequence 共享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72535" y="3838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696373" y="38100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只读共享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936459" y="2676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721998" y="2981325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downgrade()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936459" y="3209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4197" y="104209"/>
                </a:moveTo>
                <a:cubicBezTo>
                  <a:pt x="-1384" y="109791"/>
                  <a:pt x="-1384" y="118854"/>
                  <a:pt x="4197" y="124435"/>
                </a:cubicBezTo>
                <a:lnTo>
                  <a:pt x="75634" y="195873"/>
                </a:lnTo>
                <a:cubicBezTo>
                  <a:pt x="81216" y="201454"/>
                  <a:pt x="90279" y="201454"/>
                  <a:pt x="95860" y="195873"/>
                </a:cubicBezTo>
                <a:cubicBezTo>
                  <a:pt x="101441" y="190292"/>
                  <a:pt x="101441" y="181228"/>
                  <a:pt x="95860" y="175647"/>
                </a:cubicBezTo>
                <a:lnTo>
                  <a:pt x="48801" y="128588"/>
                </a:ln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48801" y="100013"/>
                </a:lnTo>
                <a:lnTo>
                  <a:pt x="95860" y="52953"/>
                </a:lnTo>
                <a:cubicBezTo>
                  <a:pt x="101441" y="47372"/>
                  <a:pt x="101441" y="38308"/>
                  <a:pt x="95860" y="32727"/>
                </a:cubicBezTo>
                <a:cubicBezTo>
                  <a:pt x="90279" y="27146"/>
                  <a:pt x="81216" y="27146"/>
                  <a:pt x="75634" y="32727"/>
                </a:cubicBezTo>
                <a:lnTo>
                  <a:pt x="4197" y="104165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797230" y="351472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upgrade()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531995" y="2295525"/>
            <a:ext cx="2276475" cy="1771650"/>
          </a:xfrm>
          <a:custGeom>
            <a:avLst/>
            <a:gdLst/>
            <a:ahLst/>
            <a:cxnLst/>
            <a:rect l="l" t="t" r="r" b="b"/>
            <a:pathLst>
              <a:path w="2276475" h="1771650">
                <a:moveTo>
                  <a:pt x="38100" y="0"/>
                </a:moveTo>
                <a:lnTo>
                  <a:pt x="2238375" y="0"/>
                </a:lnTo>
                <a:cubicBezTo>
                  <a:pt x="2259403" y="0"/>
                  <a:pt x="2276475" y="17072"/>
                  <a:pt x="2276475" y="38100"/>
                </a:cubicBezTo>
                <a:lnTo>
                  <a:pt x="2276475" y="1619253"/>
                </a:lnTo>
                <a:cubicBezTo>
                  <a:pt x="2276475" y="1703419"/>
                  <a:pt x="2208244" y="1771650"/>
                  <a:pt x="2124078" y="1771650"/>
                </a:cubicBezTo>
                <a:lnTo>
                  <a:pt x="152397" y="1771650"/>
                </a:lnTo>
                <a:cubicBezTo>
                  <a:pt x="68231" y="1771650"/>
                  <a:pt x="0" y="1703419"/>
                  <a:pt x="0" y="16192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9531995" y="2295525"/>
            <a:ext cx="2276475" cy="38100"/>
          </a:xfrm>
          <a:custGeom>
            <a:avLst/>
            <a:gdLst/>
            <a:ahLst/>
            <a:cxnLst/>
            <a:rect l="l" t="t" r="r" b="b"/>
            <a:pathLst>
              <a:path w="2276475" h="38100">
                <a:moveTo>
                  <a:pt x="38100" y="0"/>
                </a:moveTo>
                <a:lnTo>
                  <a:pt x="2238375" y="0"/>
                </a:lnTo>
                <a:cubicBezTo>
                  <a:pt x="2259403" y="0"/>
                  <a:pt x="2276475" y="17072"/>
                  <a:pt x="2276475" y="38100"/>
                </a:cubicBezTo>
                <a:lnTo>
                  <a:pt x="22764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9722495" y="2505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D6A4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9879657" y="26384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4920" y="173794"/>
                </a:moveTo>
                <a:lnTo>
                  <a:pt x="10753" y="177143"/>
                </a:lnTo>
                <a:cubicBezTo>
                  <a:pt x="9562" y="178073"/>
                  <a:pt x="8111" y="178594"/>
                  <a:pt x="6623" y="178594"/>
                </a:cubicBezTo>
                <a:cubicBezTo>
                  <a:pt x="2977" y="178594"/>
                  <a:pt x="0" y="175617"/>
                  <a:pt x="0" y="171971"/>
                </a:cubicBezTo>
                <a:lnTo>
                  <a:pt x="0" y="71438"/>
                </a:lnTo>
                <a:cubicBezTo>
                  <a:pt x="0" y="31998"/>
                  <a:pt x="31998" y="0"/>
                  <a:pt x="71438" y="0"/>
                </a:cubicBezTo>
                <a:cubicBezTo>
                  <a:pt x="110877" y="0"/>
                  <a:pt x="142875" y="31998"/>
                  <a:pt x="142875" y="71438"/>
                </a:cubicBezTo>
                <a:lnTo>
                  <a:pt x="142875" y="171971"/>
                </a:lnTo>
                <a:cubicBezTo>
                  <a:pt x="142875" y="175617"/>
                  <a:pt x="139898" y="178594"/>
                  <a:pt x="136252" y="178594"/>
                </a:cubicBezTo>
                <a:cubicBezTo>
                  <a:pt x="134764" y="178594"/>
                  <a:pt x="133313" y="178073"/>
                  <a:pt x="132122" y="177143"/>
                </a:cubicBezTo>
                <a:lnTo>
                  <a:pt x="127955" y="173794"/>
                </a:lnTo>
                <a:cubicBezTo>
                  <a:pt x="122969" y="169813"/>
                  <a:pt x="115751" y="170445"/>
                  <a:pt x="111547" y="175245"/>
                </a:cubicBezTo>
                <a:lnTo>
                  <a:pt x="100199" y="188268"/>
                </a:lnTo>
                <a:cubicBezTo>
                  <a:pt x="98971" y="189681"/>
                  <a:pt x="97148" y="190500"/>
                  <a:pt x="95250" y="190500"/>
                </a:cubicBezTo>
                <a:cubicBezTo>
                  <a:pt x="93352" y="190500"/>
                  <a:pt x="91567" y="189681"/>
                  <a:pt x="90301" y="188268"/>
                </a:cubicBezTo>
                <a:lnTo>
                  <a:pt x="80404" y="176919"/>
                </a:lnTo>
                <a:cubicBezTo>
                  <a:pt x="75679" y="171487"/>
                  <a:pt x="67233" y="171487"/>
                  <a:pt x="62471" y="176919"/>
                </a:cubicBezTo>
                <a:lnTo>
                  <a:pt x="52574" y="188268"/>
                </a:lnTo>
                <a:cubicBezTo>
                  <a:pt x="51346" y="189681"/>
                  <a:pt x="49523" y="190500"/>
                  <a:pt x="47625" y="190500"/>
                </a:cubicBezTo>
                <a:cubicBezTo>
                  <a:pt x="45727" y="190500"/>
                  <a:pt x="43942" y="189681"/>
                  <a:pt x="42676" y="188268"/>
                </a:cubicBezTo>
                <a:lnTo>
                  <a:pt x="31328" y="175245"/>
                </a:lnTo>
                <a:cubicBezTo>
                  <a:pt x="27124" y="170445"/>
                  <a:pt x="19906" y="169813"/>
                  <a:pt x="14920" y="173794"/>
                </a:cubicBezTo>
                <a:close/>
                <a:moveTo>
                  <a:pt x="59531" y="71438"/>
                </a:moveTo>
                <a:cubicBezTo>
                  <a:pt x="59531" y="64866"/>
                  <a:pt x="54196" y="59531"/>
                  <a:pt x="47625" y="59531"/>
                </a:cubicBezTo>
                <a:cubicBezTo>
                  <a:pt x="41054" y="59531"/>
                  <a:pt x="35719" y="64866"/>
                  <a:pt x="35719" y="71438"/>
                </a:cubicBezTo>
                <a:cubicBezTo>
                  <a:pt x="35719" y="78009"/>
                  <a:pt x="41054" y="83344"/>
                  <a:pt x="47625" y="83344"/>
                </a:cubicBezTo>
                <a:cubicBezTo>
                  <a:pt x="54196" y="83344"/>
                  <a:pt x="59531" y="78009"/>
                  <a:pt x="59531" y="71438"/>
                </a:cubicBezTo>
                <a:close/>
                <a:moveTo>
                  <a:pt x="95250" y="83344"/>
                </a:moveTo>
                <a:cubicBezTo>
                  <a:pt x="101821" y="83344"/>
                  <a:pt x="107156" y="78009"/>
                  <a:pt x="107156" y="71438"/>
                </a:cubicBezTo>
                <a:cubicBezTo>
                  <a:pt x="107156" y="64866"/>
                  <a:pt x="101821" y="59531"/>
                  <a:pt x="95250" y="59531"/>
                </a:cubicBezTo>
                <a:cubicBezTo>
                  <a:pt x="88679" y="59531"/>
                  <a:pt x="83344" y="64866"/>
                  <a:pt x="83344" y="71438"/>
                </a:cubicBezTo>
                <a:cubicBezTo>
                  <a:pt x="83344" y="78009"/>
                  <a:pt x="88679" y="83344"/>
                  <a:pt x="95250" y="8334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0293995" y="2505075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WeakBlock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93995" y="2771775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非拥有权引用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722495" y="3076575"/>
            <a:ext cx="1971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降级状态</a:t>
            </a:r>
            <a:r>
              <a:rPr lang="en-US" sz="120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，不阻止回收，用于实现 Cache Hit 探测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741545" y="3714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965382" y="36861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探测引用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1000" y="5505450"/>
            <a:ext cx="11430000" cy="971550"/>
          </a:xfrm>
          <a:custGeom>
            <a:avLst/>
            <a:gdLst/>
            <a:ahLst/>
            <a:cxnLst/>
            <a:rect l="l" t="t" r="r" b="b"/>
            <a:pathLst>
              <a:path w="11430000" h="971550">
                <a:moveTo>
                  <a:pt x="114303" y="0"/>
                </a:moveTo>
                <a:lnTo>
                  <a:pt x="11315697" y="0"/>
                </a:lnTo>
                <a:cubicBezTo>
                  <a:pt x="11378783" y="0"/>
                  <a:pt x="11430000" y="51217"/>
                  <a:pt x="11430000" y="114303"/>
                </a:cubicBezTo>
                <a:lnTo>
                  <a:pt x="11430000" y="857247"/>
                </a:lnTo>
                <a:cubicBezTo>
                  <a:pt x="11430000" y="920333"/>
                  <a:pt x="11378783" y="971550"/>
                  <a:pt x="11315697" y="971550"/>
                </a:cubicBezTo>
                <a:lnTo>
                  <a:pt x="114303" y="971550"/>
                </a:lnTo>
                <a:cubicBezTo>
                  <a:pt x="51217" y="971550"/>
                  <a:pt x="0" y="920333"/>
                  <a:pt x="0" y="8572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14363" y="58197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4135" y="153033"/>
                </a:moveTo>
                <a:cubicBezTo>
                  <a:pt x="53042" y="90748"/>
                  <a:pt x="106687" y="42863"/>
                  <a:pt x="171450" y="42863"/>
                </a:cubicBezTo>
                <a:cubicBezTo>
                  <a:pt x="206946" y="42863"/>
                  <a:pt x="239092" y="57262"/>
                  <a:pt x="262399" y="80501"/>
                </a:cubicBezTo>
                <a:cubicBezTo>
                  <a:pt x="262533" y="80635"/>
                  <a:pt x="262667" y="80769"/>
                  <a:pt x="262801" y="80903"/>
                </a:cubicBezTo>
                <a:lnTo>
                  <a:pt x="267891" y="85725"/>
                </a:lnTo>
                <a:lnTo>
                  <a:pt x="235811" y="85725"/>
                </a:lnTo>
                <a:cubicBezTo>
                  <a:pt x="223957" y="85725"/>
                  <a:pt x="214379" y="95302"/>
                  <a:pt x="214379" y="107156"/>
                </a:cubicBezTo>
                <a:cubicBezTo>
                  <a:pt x="214379" y="119010"/>
                  <a:pt x="223957" y="128588"/>
                  <a:pt x="235811" y="128588"/>
                </a:cubicBezTo>
                <a:lnTo>
                  <a:pt x="321536" y="128588"/>
                </a:lnTo>
                <a:cubicBezTo>
                  <a:pt x="333390" y="128588"/>
                  <a:pt x="342967" y="119010"/>
                  <a:pt x="342967" y="107156"/>
                </a:cubicBezTo>
                <a:lnTo>
                  <a:pt x="342967" y="21431"/>
                </a:lnTo>
                <a:cubicBezTo>
                  <a:pt x="342967" y="9577"/>
                  <a:pt x="333390" y="0"/>
                  <a:pt x="321536" y="0"/>
                </a:cubicBezTo>
                <a:cubicBezTo>
                  <a:pt x="309682" y="0"/>
                  <a:pt x="300104" y="9577"/>
                  <a:pt x="300104" y="21431"/>
                </a:cubicBezTo>
                <a:lnTo>
                  <a:pt x="300104" y="57195"/>
                </a:lnTo>
                <a:lnTo>
                  <a:pt x="292537" y="50029"/>
                </a:lnTo>
                <a:cubicBezTo>
                  <a:pt x="261528" y="19154"/>
                  <a:pt x="218666" y="0"/>
                  <a:pt x="171450" y="0"/>
                </a:cubicBezTo>
                <a:cubicBezTo>
                  <a:pt x="85055" y="0"/>
                  <a:pt x="13595" y="63892"/>
                  <a:pt x="1741" y="147005"/>
                </a:cubicBezTo>
                <a:cubicBezTo>
                  <a:pt x="67" y="158725"/>
                  <a:pt x="8171" y="169575"/>
                  <a:pt x="19891" y="171249"/>
                </a:cubicBezTo>
                <a:cubicBezTo>
                  <a:pt x="31611" y="172923"/>
                  <a:pt x="42461" y="164753"/>
                  <a:pt x="44135" y="153099"/>
                </a:cubicBezTo>
                <a:close/>
                <a:moveTo>
                  <a:pt x="341159" y="195895"/>
                </a:moveTo>
                <a:cubicBezTo>
                  <a:pt x="342833" y="184175"/>
                  <a:pt x="334662" y="173325"/>
                  <a:pt x="323009" y="171651"/>
                </a:cubicBezTo>
                <a:cubicBezTo>
                  <a:pt x="311356" y="169977"/>
                  <a:pt x="300439" y="178147"/>
                  <a:pt x="298765" y="189801"/>
                </a:cubicBezTo>
                <a:cubicBezTo>
                  <a:pt x="289858" y="252085"/>
                  <a:pt x="236213" y="299971"/>
                  <a:pt x="171450" y="299971"/>
                </a:cubicBezTo>
                <a:cubicBezTo>
                  <a:pt x="135954" y="299971"/>
                  <a:pt x="103808" y="285571"/>
                  <a:pt x="80501" y="262332"/>
                </a:cubicBezTo>
                <a:cubicBezTo>
                  <a:pt x="80367" y="262198"/>
                  <a:pt x="80233" y="262064"/>
                  <a:pt x="80099" y="261930"/>
                </a:cubicBezTo>
                <a:lnTo>
                  <a:pt x="75009" y="257108"/>
                </a:lnTo>
                <a:lnTo>
                  <a:pt x="107089" y="257108"/>
                </a:lnTo>
                <a:cubicBezTo>
                  <a:pt x="118943" y="257108"/>
                  <a:pt x="128521" y="247531"/>
                  <a:pt x="128521" y="235677"/>
                </a:cubicBezTo>
                <a:cubicBezTo>
                  <a:pt x="128521" y="223823"/>
                  <a:pt x="118943" y="214246"/>
                  <a:pt x="107089" y="214246"/>
                </a:cubicBezTo>
                <a:lnTo>
                  <a:pt x="21431" y="214313"/>
                </a:lnTo>
                <a:cubicBezTo>
                  <a:pt x="15739" y="214313"/>
                  <a:pt x="10247" y="216590"/>
                  <a:pt x="6228" y="220675"/>
                </a:cubicBezTo>
                <a:cubicBezTo>
                  <a:pt x="2210" y="224760"/>
                  <a:pt x="-67" y="230185"/>
                  <a:pt x="0" y="235945"/>
                </a:cubicBezTo>
                <a:lnTo>
                  <a:pt x="670" y="321000"/>
                </a:lnTo>
                <a:cubicBezTo>
                  <a:pt x="737" y="332854"/>
                  <a:pt x="10448" y="342364"/>
                  <a:pt x="22302" y="342230"/>
                </a:cubicBezTo>
                <a:cubicBezTo>
                  <a:pt x="34156" y="342096"/>
                  <a:pt x="43666" y="332452"/>
                  <a:pt x="43532" y="320598"/>
                </a:cubicBezTo>
                <a:lnTo>
                  <a:pt x="43264" y="286107"/>
                </a:lnTo>
                <a:lnTo>
                  <a:pt x="50430" y="292871"/>
                </a:lnTo>
                <a:cubicBezTo>
                  <a:pt x="81439" y="323746"/>
                  <a:pt x="124234" y="342900"/>
                  <a:pt x="171450" y="342900"/>
                </a:cubicBezTo>
                <a:cubicBezTo>
                  <a:pt x="257845" y="342900"/>
                  <a:pt x="329305" y="279008"/>
                  <a:pt x="341159" y="195895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52525" y="5695950"/>
            <a:ext cx="10563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Rust Type State Pattern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52525" y="6038850"/>
            <a:ext cx="105441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将生命周期</a:t>
            </a:r>
            <a:r>
              <a:rPr lang="en-US" sz="1200" b="1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固化在类型系统中</a:t>
            </a:r>
            <a:r>
              <a:rPr lang="en-US" sz="1200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，彻底杜绝未初始化读取、并发读写冲突与重复释放。编译期保证内存安全。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极高并发下的竞态处理与零冗余控制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00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1000" y="990600"/>
            <a:ext cx="11430000" cy="2743200"/>
          </a:xfrm>
          <a:custGeom>
            <a:avLst/>
            <a:gdLst/>
            <a:ahLst/>
            <a:cxnLst/>
            <a:rect l="l" t="t" r="r" b="b"/>
            <a:pathLst>
              <a:path w="11430000" h="2743200">
                <a:moveTo>
                  <a:pt x="152412" y="0"/>
                </a:moveTo>
                <a:lnTo>
                  <a:pt x="11277588" y="0"/>
                </a:lnTo>
                <a:cubicBezTo>
                  <a:pt x="11361763" y="0"/>
                  <a:pt x="11430000" y="68237"/>
                  <a:pt x="11430000" y="152412"/>
                </a:cubicBezTo>
                <a:lnTo>
                  <a:pt x="11430000" y="2590788"/>
                </a:lnTo>
                <a:cubicBezTo>
                  <a:pt x="11430000" y="2674963"/>
                  <a:pt x="11361763" y="2743200"/>
                  <a:pt x="11277588" y="2743200"/>
                </a:cubicBezTo>
                <a:lnTo>
                  <a:pt x="152412" y="2743200"/>
                </a:lnTo>
                <a:cubicBezTo>
                  <a:pt x="68237" y="2743200"/>
                  <a:pt x="0" y="2674963"/>
                  <a:pt x="0" y="25907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5313" y="1219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7107" y="23812"/>
                  <a:pt x="2753" y="26715"/>
                  <a:pt x="893" y="31179"/>
                </a:cubicBezTo>
                <a:cubicBezTo>
                  <a:pt x="-967" y="35644"/>
                  <a:pt x="74" y="40742"/>
                  <a:pt x="3497" y="44128"/>
                </a:cubicBezTo>
                <a:lnTo>
                  <a:pt x="71438" y="112105"/>
                </a:lnTo>
                <a:lnTo>
                  <a:pt x="71438" y="154781"/>
                </a:lnTo>
                <a:cubicBezTo>
                  <a:pt x="71438" y="157944"/>
                  <a:pt x="72703" y="160958"/>
                  <a:pt x="74935" y="163190"/>
                </a:cubicBezTo>
                <a:lnTo>
                  <a:pt x="98747" y="187003"/>
                </a:lnTo>
                <a:cubicBezTo>
                  <a:pt x="102171" y="190426"/>
                  <a:pt x="107268" y="191430"/>
                  <a:pt x="111733" y="189570"/>
                </a:cubicBezTo>
                <a:cubicBezTo>
                  <a:pt x="116198" y="187709"/>
                  <a:pt x="119063" y="183393"/>
                  <a:pt x="119063" y="178594"/>
                </a:cubicBezTo>
                <a:lnTo>
                  <a:pt x="119063" y="112105"/>
                </a:lnTo>
                <a:lnTo>
                  <a:pt x="187003" y="44165"/>
                </a:lnTo>
                <a:cubicBezTo>
                  <a:pt x="190426" y="40742"/>
                  <a:pt x="191430" y="35644"/>
                  <a:pt x="189570" y="31179"/>
                </a:cubicBezTo>
                <a:cubicBezTo>
                  <a:pt x="187709" y="26715"/>
                  <a:pt x="183393" y="23812"/>
                  <a:pt x="178594" y="23812"/>
                </a:cubicBezTo>
                <a:lnTo>
                  <a:pt x="11906" y="23812"/>
                </a:ln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9625" y="1181100"/>
            <a:ext cx="1090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并发去重策略 (Primary/Duplicate Resolution)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" y="1990725"/>
            <a:ext cx="1828800" cy="1123950"/>
          </a:xfrm>
          <a:custGeom>
            <a:avLst/>
            <a:gdLst/>
            <a:ahLst/>
            <a:cxnLst/>
            <a:rect l="l" t="t" r="r" b="b"/>
            <a:pathLst>
              <a:path w="1828800" h="1123950">
                <a:moveTo>
                  <a:pt x="114294" y="0"/>
                </a:moveTo>
                <a:lnTo>
                  <a:pt x="1714506" y="0"/>
                </a:lnTo>
                <a:cubicBezTo>
                  <a:pt x="1777629" y="0"/>
                  <a:pt x="1828800" y="51171"/>
                  <a:pt x="1828800" y="114294"/>
                </a:cubicBezTo>
                <a:lnTo>
                  <a:pt x="1828800" y="1009656"/>
                </a:lnTo>
                <a:cubicBezTo>
                  <a:pt x="1828800" y="1072779"/>
                  <a:pt x="1777629" y="1123950"/>
                  <a:pt x="1714506" y="1123950"/>
                </a:cubicBezTo>
                <a:lnTo>
                  <a:pt x="114294" y="1123950"/>
                </a:lnTo>
                <a:cubicBezTo>
                  <a:pt x="51171" y="1123950"/>
                  <a:pt x="0" y="1072779"/>
                  <a:pt x="0" y="100965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45406" y="21431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32172" y="116086"/>
                </a:moveTo>
                <a:cubicBezTo>
                  <a:pt x="232172" y="141703"/>
                  <a:pt x="223856" y="165367"/>
                  <a:pt x="209848" y="184565"/>
                </a:cubicBezTo>
                <a:lnTo>
                  <a:pt x="280504" y="255277"/>
                </a:lnTo>
                <a:cubicBezTo>
                  <a:pt x="287480" y="262254"/>
                  <a:pt x="287480" y="273583"/>
                  <a:pt x="280504" y="280560"/>
                </a:cubicBezTo>
                <a:cubicBezTo>
                  <a:pt x="273527" y="287536"/>
                  <a:pt x="262198" y="287536"/>
                  <a:pt x="255222" y="280560"/>
                </a:cubicBezTo>
                <a:lnTo>
                  <a:pt x="184565" y="209848"/>
                </a:lnTo>
                <a:cubicBezTo>
                  <a:pt x="165367" y="223856"/>
                  <a:pt x="141703" y="232172"/>
                  <a:pt x="116086" y="232172"/>
                </a:cubicBezTo>
                <a:cubicBezTo>
                  <a:pt x="51960" y="232172"/>
                  <a:pt x="0" y="180212"/>
                  <a:pt x="0" y="116086"/>
                </a:cubicBezTo>
                <a:cubicBezTo>
                  <a:pt x="0" y="51960"/>
                  <a:pt x="51960" y="0"/>
                  <a:pt x="116086" y="0"/>
                </a:cubicBezTo>
                <a:cubicBezTo>
                  <a:pt x="180212" y="0"/>
                  <a:pt x="232172" y="51960"/>
                  <a:pt x="232172" y="116086"/>
                </a:cubicBezTo>
                <a:close/>
                <a:moveTo>
                  <a:pt x="116086" y="196453"/>
                </a:moveTo>
                <a:cubicBezTo>
                  <a:pt x="160442" y="196453"/>
                  <a:pt x="196453" y="160442"/>
                  <a:pt x="196453" y="116086"/>
                </a:cubicBezTo>
                <a:cubicBezTo>
                  <a:pt x="196453" y="71730"/>
                  <a:pt x="160442" y="35719"/>
                  <a:pt x="116086" y="35719"/>
                </a:cubicBezTo>
                <a:cubicBezTo>
                  <a:pt x="71730" y="35719"/>
                  <a:pt x="35719" y="71730"/>
                  <a:pt x="35719" y="116086"/>
                </a:cubicBezTo>
                <a:cubicBezTo>
                  <a:pt x="35719" y="160442"/>
                  <a:pt x="71730" y="196453"/>
                  <a:pt x="116086" y="19645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1038" y="2505075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检测到相同 Hash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563" y="2771775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并发生成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81275" y="2266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581275" y="2609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000375" y="1590675"/>
            <a:ext cx="4219575" cy="1924050"/>
          </a:xfrm>
          <a:custGeom>
            <a:avLst/>
            <a:gdLst/>
            <a:ahLst/>
            <a:cxnLst/>
            <a:rect l="l" t="t" r="r" b="b"/>
            <a:pathLst>
              <a:path w="4219575" h="1924050">
                <a:moveTo>
                  <a:pt x="114308" y="0"/>
                </a:moveTo>
                <a:lnTo>
                  <a:pt x="4105267" y="0"/>
                </a:lnTo>
                <a:cubicBezTo>
                  <a:pt x="4168398" y="0"/>
                  <a:pt x="4219575" y="51177"/>
                  <a:pt x="4219575" y="114308"/>
                </a:cubicBezTo>
                <a:lnTo>
                  <a:pt x="4219575" y="1809742"/>
                </a:lnTo>
                <a:cubicBezTo>
                  <a:pt x="4219575" y="1872873"/>
                  <a:pt x="4168398" y="1924050"/>
                  <a:pt x="4105267" y="1924050"/>
                </a:cubicBezTo>
                <a:lnTo>
                  <a:pt x="114308" y="1924050"/>
                </a:lnTo>
                <a:cubicBezTo>
                  <a:pt x="51177" y="1924050"/>
                  <a:pt x="0" y="1872873"/>
                  <a:pt x="0" y="18097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5F7FA"/>
          </a:solidFill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162300" y="175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276600" y="1866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619500" y="1809750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Reject 策略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62300" y="2247900"/>
            <a:ext cx="3895725" cy="419100"/>
          </a:xfrm>
          <a:custGeom>
            <a:avLst/>
            <a:gdLst/>
            <a:ahLst/>
            <a:cxnLst/>
            <a:rect l="l" t="t" r="r" b="b"/>
            <a:pathLst>
              <a:path w="3895725" h="419100">
                <a:moveTo>
                  <a:pt x="76201" y="0"/>
                </a:moveTo>
                <a:lnTo>
                  <a:pt x="3819524" y="0"/>
                </a:lnTo>
                <a:cubicBezTo>
                  <a:pt x="3861609" y="0"/>
                  <a:pt x="3895725" y="34116"/>
                  <a:pt x="3895725" y="76201"/>
                </a:cubicBezTo>
                <a:lnTo>
                  <a:pt x="3895725" y="342899"/>
                </a:lnTo>
                <a:cubicBezTo>
                  <a:pt x="3895725" y="384984"/>
                  <a:pt x="3861609" y="419100"/>
                  <a:pt x="38195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303984" y="23907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519488" y="2362200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直接复用已有 Primary Block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62300" y="2743200"/>
            <a:ext cx="3895725" cy="609600"/>
          </a:xfrm>
          <a:custGeom>
            <a:avLst/>
            <a:gdLst/>
            <a:ahLst/>
            <a:cxnLst/>
            <a:rect l="l" t="t" r="r" b="b"/>
            <a:pathLst>
              <a:path w="3895725" h="609600">
                <a:moveTo>
                  <a:pt x="76200" y="0"/>
                </a:moveTo>
                <a:lnTo>
                  <a:pt x="3819525" y="0"/>
                </a:lnTo>
                <a:cubicBezTo>
                  <a:pt x="3861581" y="0"/>
                  <a:pt x="3895725" y="34144"/>
                  <a:pt x="3895725" y="76200"/>
                </a:cubicBezTo>
                <a:lnTo>
                  <a:pt x="3895725" y="533400"/>
                </a:lnTo>
                <a:cubicBezTo>
                  <a:pt x="3895725" y="575456"/>
                  <a:pt x="3861581" y="609600"/>
                  <a:pt x="38195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295650" y="2886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9666" y="15627"/>
                </a:moveTo>
                <a:cubicBezTo>
                  <a:pt x="51699" y="-5209"/>
                  <a:pt x="81781" y="-5209"/>
                  <a:pt x="93814" y="15627"/>
                </a:cubicBezTo>
                <a:lnTo>
                  <a:pt x="103529" y="32452"/>
                </a:lnTo>
                <a:lnTo>
                  <a:pt x="110743" y="28285"/>
                </a:lnTo>
                <a:cubicBezTo>
                  <a:pt x="112931" y="27009"/>
                  <a:pt x="115665" y="27191"/>
                  <a:pt x="117671" y="28728"/>
                </a:cubicBezTo>
                <a:cubicBezTo>
                  <a:pt x="119676" y="30264"/>
                  <a:pt x="120562" y="32869"/>
                  <a:pt x="119911" y="35317"/>
                </a:cubicBezTo>
                <a:lnTo>
                  <a:pt x="113790" y="58080"/>
                </a:lnTo>
                <a:cubicBezTo>
                  <a:pt x="112905" y="61414"/>
                  <a:pt x="109467" y="63393"/>
                  <a:pt x="106133" y="62508"/>
                </a:cubicBezTo>
                <a:lnTo>
                  <a:pt x="83370" y="56413"/>
                </a:lnTo>
                <a:cubicBezTo>
                  <a:pt x="80922" y="55762"/>
                  <a:pt x="79124" y="53705"/>
                  <a:pt x="78786" y="51204"/>
                </a:cubicBezTo>
                <a:cubicBezTo>
                  <a:pt x="78447" y="48704"/>
                  <a:pt x="79671" y="46230"/>
                  <a:pt x="81859" y="44980"/>
                </a:cubicBezTo>
                <a:lnTo>
                  <a:pt x="89074" y="40812"/>
                </a:lnTo>
                <a:lnTo>
                  <a:pt x="79359" y="23987"/>
                </a:lnTo>
                <a:cubicBezTo>
                  <a:pt x="73733" y="14273"/>
                  <a:pt x="59721" y="14273"/>
                  <a:pt x="54095" y="23987"/>
                </a:cubicBezTo>
                <a:lnTo>
                  <a:pt x="52715" y="26357"/>
                </a:lnTo>
                <a:cubicBezTo>
                  <a:pt x="50423" y="30342"/>
                  <a:pt x="45318" y="31697"/>
                  <a:pt x="41333" y="29405"/>
                </a:cubicBezTo>
                <a:cubicBezTo>
                  <a:pt x="37348" y="27113"/>
                  <a:pt x="35994" y="22008"/>
                  <a:pt x="38286" y="17997"/>
                </a:cubicBezTo>
                <a:lnTo>
                  <a:pt x="39666" y="15627"/>
                </a:lnTo>
                <a:close/>
                <a:moveTo>
                  <a:pt x="117124" y="72691"/>
                </a:moveTo>
                <a:cubicBezTo>
                  <a:pt x="121109" y="70399"/>
                  <a:pt x="126214" y="71754"/>
                  <a:pt x="128506" y="75739"/>
                </a:cubicBezTo>
                <a:lnTo>
                  <a:pt x="129886" y="78109"/>
                </a:lnTo>
                <a:cubicBezTo>
                  <a:pt x="141919" y="98945"/>
                  <a:pt x="126891" y="124990"/>
                  <a:pt x="102825" y="124990"/>
                </a:cubicBezTo>
                <a:lnTo>
                  <a:pt x="83396" y="124990"/>
                </a:lnTo>
                <a:lnTo>
                  <a:pt x="83396" y="133324"/>
                </a:lnTo>
                <a:cubicBezTo>
                  <a:pt x="83396" y="135850"/>
                  <a:pt x="81885" y="138142"/>
                  <a:pt x="79541" y="139106"/>
                </a:cubicBezTo>
                <a:cubicBezTo>
                  <a:pt x="77197" y="140070"/>
                  <a:pt x="74515" y="139549"/>
                  <a:pt x="72717" y="137752"/>
                </a:cubicBezTo>
                <a:lnTo>
                  <a:pt x="56049" y="121083"/>
                </a:lnTo>
                <a:cubicBezTo>
                  <a:pt x="53600" y="118635"/>
                  <a:pt x="53600" y="114676"/>
                  <a:pt x="56049" y="112254"/>
                </a:cubicBezTo>
                <a:lnTo>
                  <a:pt x="72717" y="95585"/>
                </a:lnTo>
                <a:cubicBezTo>
                  <a:pt x="74515" y="93788"/>
                  <a:pt x="77197" y="93267"/>
                  <a:pt x="79541" y="94231"/>
                </a:cubicBezTo>
                <a:cubicBezTo>
                  <a:pt x="81885" y="95194"/>
                  <a:pt x="83396" y="97486"/>
                  <a:pt x="83396" y="100013"/>
                </a:cubicBezTo>
                <a:lnTo>
                  <a:pt x="83396" y="108347"/>
                </a:lnTo>
                <a:lnTo>
                  <a:pt x="102825" y="108347"/>
                </a:lnTo>
                <a:cubicBezTo>
                  <a:pt x="114051" y="108347"/>
                  <a:pt x="121083" y="96184"/>
                  <a:pt x="115457" y="86469"/>
                </a:cubicBezTo>
                <a:lnTo>
                  <a:pt x="114077" y="84099"/>
                </a:lnTo>
                <a:cubicBezTo>
                  <a:pt x="111785" y="80114"/>
                  <a:pt x="113139" y="75009"/>
                  <a:pt x="117124" y="72717"/>
                </a:cubicBezTo>
                <a:close/>
                <a:moveTo>
                  <a:pt x="13283" y="61310"/>
                </a:moveTo>
                <a:lnTo>
                  <a:pt x="6068" y="57143"/>
                </a:lnTo>
                <a:cubicBezTo>
                  <a:pt x="3881" y="55866"/>
                  <a:pt x="2657" y="53418"/>
                  <a:pt x="2995" y="50918"/>
                </a:cubicBezTo>
                <a:cubicBezTo>
                  <a:pt x="3334" y="48418"/>
                  <a:pt x="5131" y="46360"/>
                  <a:pt x="7579" y="45709"/>
                </a:cubicBezTo>
                <a:lnTo>
                  <a:pt x="30342" y="39588"/>
                </a:lnTo>
                <a:cubicBezTo>
                  <a:pt x="33676" y="38703"/>
                  <a:pt x="37114" y="40682"/>
                  <a:pt x="38000" y="44016"/>
                </a:cubicBezTo>
                <a:lnTo>
                  <a:pt x="44094" y="66779"/>
                </a:lnTo>
                <a:cubicBezTo>
                  <a:pt x="44745" y="69227"/>
                  <a:pt x="43860" y="71806"/>
                  <a:pt x="41854" y="73369"/>
                </a:cubicBezTo>
                <a:cubicBezTo>
                  <a:pt x="39849" y="74931"/>
                  <a:pt x="37114" y="75088"/>
                  <a:pt x="34926" y="73811"/>
                </a:cubicBezTo>
                <a:lnTo>
                  <a:pt x="27712" y="69644"/>
                </a:lnTo>
                <a:lnTo>
                  <a:pt x="17997" y="86469"/>
                </a:lnTo>
                <a:cubicBezTo>
                  <a:pt x="12371" y="96184"/>
                  <a:pt x="19403" y="108347"/>
                  <a:pt x="30629" y="108347"/>
                </a:cubicBezTo>
                <a:lnTo>
                  <a:pt x="33390" y="108347"/>
                </a:lnTo>
                <a:cubicBezTo>
                  <a:pt x="38000" y="108347"/>
                  <a:pt x="41724" y="112071"/>
                  <a:pt x="41724" y="116681"/>
                </a:cubicBezTo>
                <a:cubicBezTo>
                  <a:pt x="41724" y="121291"/>
                  <a:pt x="38000" y="125016"/>
                  <a:pt x="33390" y="125016"/>
                </a:cubicBezTo>
                <a:lnTo>
                  <a:pt x="30629" y="125016"/>
                </a:lnTo>
                <a:cubicBezTo>
                  <a:pt x="6589" y="125016"/>
                  <a:pt x="-8439" y="98971"/>
                  <a:pt x="3594" y="78135"/>
                </a:cubicBezTo>
                <a:lnTo>
                  <a:pt x="13283" y="61310"/>
                </a:ln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519488" y="285750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 Block 回归 ResetPool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05200" y="3086100"/>
            <a:ext cx="3495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实现零冗余物理内存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91400" y="1590675"/>
            <a:ext cx="4219575" cy="1924050"/>
          </a:xfrm>
          <a:custGeom>
            <a:avLst/>
            <a:gdLst/>
            <a:ahLst/>
            <a:cxnLst/>
            <a:rect l="l" t="t" r="r" b="b"/>
            <a:pathLst>
              <a:path w="4219575" h="1924050">
                <a:moveTo>
                  <a:pt x="114308" y="0"/>
                </a:moveTo>
                <a:lnTo>
                  <a:pt x="4105267" y="0"/>
                </a:lnTo>
                <a:cubicBezTo>
                  <a:pt x="4168398" y="0"/>
                  <a:pt x="4219575" y="51177"/>
                  <a:pt x="4219575" y="114308"/>
                </a:cubicBezTo>
                <a:lnTo>
                  <a:pt x="4219575" y="1809742"/>
                </a:lnTo>
                <a:cubicBezTo>
                  <a:pt x="4219575" y="1872873"/>
                  <a:pt x="4168398" y="1924050"/>
                  <a:pt x="4105267" y="1924050"/>
                </a:cubicBezTo>
                <a:lnTo>
                  <a:pt x="114308" y="1924050"/>
                </a:lnTo>
                <a:cubicBezTo>
                  <a:pt x="51177" y="1924050"/>
                  <a:pt x="0" y="1872873"/>
                  <a:pt x="0" y="180974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5F7FA"/>
          </a:solidFill>
          <a:ln w="25400">
            <a:solidFill>
              <a:srgbClr val="527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553325" y="175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686675" y="18669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010525" y="1809750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Allow 策略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53325" y="2247900"/>
            <a:ext cx="3895725" cy="419100"/>
          </a:xfrm>
          <a:custGeom>
            <a:avLst/>
            <a:gdLst/>
            <a:ahLst/>
            <a:cxnLst/>
            <a:rect l="l" t="t" r="r" b="b"/>
            <a:pathLst>
              <a:path w="3895725" h="419100">
                <a:moveTo>
                  <a:pt x="76201" y="0"/>
                </a:moveTo>
                <a:lnTo>
                  <a:pt x="3819524" y="0"/>
                </a:lnTo>
                <a:cubicBezTo>
                  <a:pt x="3861609" y="0"/>
                  <a:pt x="3895725" y="34116"/>
                  <a:pt x="3895725" y="76201"/>
                </a:cubicBezTo>
                <a:lnTo>
                  <a:pt x="3895725" y="342899"/>
                </a:lnTo>
                <a:cubicBezTo>
                  <a:pt x="3895725" y="384984"/>
                  <a:pt x="3861609" y="419100"/>
                  <a:pt x="38195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686675" y="2390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75009" y="116681"/>
                </a:moveTo>
                <a:lnTo>
                  <a:pt x="16669" y="116681"/>
                </a:lnTo>
                <a:lnTo>
                  <a:pt x="16669" y="58341"/>
                </a:lnTo>
                <a:lnTo>
                  <a:pt x="29170" y="58341"/>
                </a:lnTo>
                <a:lnTo>
                  <a:pt x="29170" y="41672"/>
                </a:lnTo>
                <a:lnTo>
                  <a:pt x="16669" y="41672"/>
                </a:lnTo>
                <a:cubicBezTo>
                  <a:pt x="7475" y="41672"/>
                  <a:pt x="0" y="49147"/>
                  <a:pt x="0" y="58341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75009" y="133350"/>
                </a:lnTo>
                <a:cubicBezTo>
                  <a:pt x="84203" y="133350"/>
                  <a:pt x="91678" y="125875"/>
                  <a:pt x="91678" y="116681"/>
                </a:cubicBezTo>
                <a:lnTo>
                  <a:pt x="91678" y="104180"/>
                </a:lnTo>
                <a:lnTo>
                  <a:pt x="75009" y="104180"/>
                </a:lnTo>
                <a:lnTo>
                  <a:pt x="75009" y="116681"/>
                </a:lnTo>
                <a:close/>
                <a:moveTo>
                  <a:pt x="58341" y="91678"/>
                </a:moveTo>
                <a:lnTo>
                  <a:pt x="116681" y="91678"/>
                </a:lnTo>
                <a:cubicBezTo>
                  <a:pt x="125875" y="91678"/>
                  <a:pt x="133350" y="84203"/>
                  <a:pt x="133350" y="75009"/>
                </a:cubicBezTo>
                <a:lnTo>
                  <a:pt x="133350" y="16669"/>
                </a:lnTo>
                <a:cubicBezTo>
                  <a:pt x="133350" y="7475"/>
                  <a:pt x="125875" y="0"/>
                  <a:pt x="116681" y="0"/>
                </a:cubicBezTo>
                <a:lnTo>
                  <a:pt x="58341" y="0"/>
                </a:lnTo>
                <a:cubicBezTo>
                  <a:pt x="49147" y="0"/>
                  <a:pt x="41672" y="7475"/>
                  <a:pt x="41672" y="16669"/>
                </a:cubicBezTo>
                <a:lnTo>
                  <a:pt x="41672" y="75009"/>
                </a:lnTo>
                <a:cubicBezTo>
                  <a:pt x="41672" y="84203"/>
                  <a:pt x="49147" y="91678"/>
                  <a:pt x="58341" y="91678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910512" y="2362200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允许 Duplicate Block 共存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53325" y="2743200"/>
            <a:ext cx="3895725" cy="609600"/>
          </a:xfrm>
          <a:custGeom>
            <a:avLst/>
            <a:gdLst/>
            <a:ahLst/>
            <a:cxnLst/>
            <a:rect l="l" t="t" r="r" b="b"/>
            <a:pathLst>
              <a:path w="3895725" h="609600">
                <a:moveTo>
                  <a:pt x="76200" y="0"/>
                </a:moveTo>
                <a:lnTo>
                  <a:pt x="3819525" y="0"/>
                </a:lnTo>
                <a:cubicBezTo>
                  <a:pt x="3861581" y="0"/>
                  <a:pt x="3895725" y="34144"/>
                  <a:pt x="3895725" y="76200"/>
                </a:cubicBezTo>
                <a:lnTo>
                  <a:pt x="3895725" y="533400"/>
                </a:lnTo>
                <a:cubicBezTo>
                  <a:pt x="3895725" y="575456"/>
                  <a:pt x="3861581" y="609600"/>
                  <a:pt x="38195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7695009" y="2886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5603" y="1537"/>
                </a:moveTo>
                <a:lnTo>
                  <a:pt x="33337" y="8334"/>
                </a:lnTo>
                <a:lnTo>
                  <a:pt x="8334" y="8334"/>
                </a:lnTo>
                <a:cubicBezTo>
                  <a:pt x="3724" y="8334"/>
                  <a:pt x="0" y="12059"/>
                  <a:pt x="0" y="16669"/>
                </a:cubicBezTo>
                <a:cubicBezTo>
                  <a:pt x="0" y="21279"/>
                  <a:pt x="3724" y="25003"/>
                  <a:pt x="8334" y="25003"/>
                </a:cubicBezTo>
                <a:lnTo>
                  <a:pt x="108347" y="25003"/>
                </a:lnTo>
                <a:cubicBezTo>
                  <a:pt x="112957" y="25003"/>
                  <a:pt x="116681" y="21279"/>
                  <a:pt x="116681" y="16669"/>
                </a:cubicBezTo>
                <a:cubicBezTo>
                  <a:pt x="116681" y="12059"/>
                  <a:pt x="112957" y="8334"/>
                  <a:pt x="108347" y="8334"/>
                </a:cubicBezTo>
                <a:lnTo>
                  <a:pt x="83344" y="8334"/>
                </a:lnTo>
                <a:lnTo>
                  <a:pt x="81078" y="1537"/>
                </a:lnTo>
                <a:cubicBezTo>
                  <a:pt x="79932" y="-1875"/>
                  <a:pt x="76754" y="-4167"/>
                  <a:pt x="73160" y="-4167"/>
                </a:cubicBezTo>
                <a:lnTo>
                  <a:pt x="43521" y="-4167"/>
                </a:lnTo>
                <a:cubicBezTo>
                  <a:pt x="39927" y="-4167"/>
                  <a:pt x="36749" y="-1875"/>
                  <a:pt x="35603" y="1537"/>
                </a:cubicBezTo>
                <a:close/>
                <a:moveTo>
                  <a:pt x="108347" y="37505"/>
                </a:moveTo>
                <a:lnTo>
                  <a:pt x="8334" y="37505"/>
                </a:lnTo>
                <a:lnTo>
                  <a:pt x="13830" y="121656"/>
                </a:lnTo>
                <a:cubicBezTo>
                  <a:pt x="14247" y="128245"/>
                  <a:pt x="19716" y="133350"/>
                  <a:pt x="26305" y="133350"/>
                </a:cubicBezTo>
                <a:lnTo>
                  <a:pt x="90376" y="133350"/>
                </a:lnTo>
                <a:cubicBezTo>
                  <a:pt x="96965" y="133350"/>
                  <a:pt x="102435" y="128245"/>
                  <a:pt x="102851" y="121656"/>
                </a:cubicBezTo>
                <a:lnTo>
                  <a:pt x="108347" y="37505"/>
                </a:lnTo>
                <a:close/>
              </a:path>
            </a:pathLst>
          </a:custGeom>
          <a:solidFill>
            <a:srgbClr val="6B8E9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910512" y="285750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Drop 时直接销毁释放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896225" y="3086100"/>
            <a:ext cx="3495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不污染 InactivePool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3886200"/>
            <a:ext cx="11430000" cy="2590800"/>
          </a:xfrm>
          <a:custGeom>
            <a:avLst/>
            <a:gdLst/>
            <a:ahLst/>
            <a:cxnLst/>
            <a:rect l="l" t="t" r="r" b="b"/>
            <a:pathLst>
              <a:path w="11430000" h="2590800">
                <a:moveTo>
                  <a:pt x="152391" y="0"/>
                </a:moveTo>
                <a:lnTo>
                  <a:pt x="11277609" y="0"/>
                </a:lnTo>
                <a:cubicBezTo>
                  <a:pt x="11361716" y="0"/>
                  <a:pt x="11430000" y="68284"/>
                  <a:pt x="11430000" y="152391"/>
                </a:cubicBezTo>
                <a:lnTo>
                  <a:pt x="11430000" y="2438409"/>
                </a:lnTo>
                <a:cubicBezTo>
                  <a:pt x="11430000" y="2522572"/>
                  <a:pt x="11361772" y="2590800"/>
                  <a:pt x="11277609" y="2590800"/>
                </a:cubicBezTo>
                <a:lnTo>
                  <a:pt x="152391" y="2590800"/>
                </a:lnTo>
                <a:cubicBezTo>
                  <a:pt x="68284" y="2590800"/>
                  <a:pt x="0" y="2522516"/>
                  <a:pt x="0" y="24384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95313" y="4114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09625" y="4076700"/>
            <a:ext cx="1090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双弱引用探测与竞态保护 (Race Handling)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1500" y="4495800"/>
            <a:ext cx="2647950" cy="1752600"/>
          </a:xfrm>
          <a:custGeom>
            <a:avLst/>
            <a:gdLst/>
            <a:ahLst/>
            <a:cxnLst/>
            <a:rect l="l" t="t" r="r" b="b"/>
            <a:pathLst>
              <a:path w="2647950" h="1752600">
                <a:moveTo>
                  <a:pt x="114305" y="0"/>
                </a:moveTo>
                <a:lnTo>
                  <a:pt x="2533645" y="0"/>
                </a:lnTo>
                <a:cubicBezTo>
                  <a:pt x="2596774" y="0"/>
                  <a:pt x="2647950" y="51176"/>
                  <a:pt x="2647950" y="114305"/>
                </a:cubicBezTo>
                <a:lnTo>
                  <a:pt x="2647950" y="1638295"/>
                </a:lnTo>
                <a:cubicBezTo>
                  <a:pt x="2647950" y="1701424"/>
                  <a:pt x="2596774" y="1752600"/>
                  <a:pt x="253364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527A8A"/>
              </a:gs>
              <a:gs pos="100000">
                <a:srgbClr val="6B8E9F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52475" y="4667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85850" y="4648200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spin_loop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3900" y="5029200"/>
            <a:ext cx="240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有界重试机制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23900" y="5486400"/>
            <a:ext cx="2343150" cy="609600"/>
          </a:xfrm>
          <a:custGeom>
            <a:avLst/>
            <a:gdLst/>
            <a:ahLst/>
            <a:cxnLst/>
            <a:rect l="l" t="t" r="r" b="b"/>
            <a:pathLst>
              <a:path w="2343150" h="609600">
                <a:moveTo>
                  <a:pt x="76200" y="0"/>
                </a:moveTo>
                <a:lnTo>
                  <a:pt x="2266950" y="0"/>
                </a:lnTo>
                <a:cubicBezTo>
                  <a:pt x="2309006" y="0"/>
                  <a:pt x="2343150" y="34144"/>
                  <a:pt x="2343150" y="76200"/>
                </a:cubicBezTo>
                <a:lnTo>
                  <a:pt x="2343150" y="533400"/>
                </a:lnTo>
                <a:cubicBezTo>
                  <a:pt x="2343150" y="575456"/>
                  <a:pt x="2309006" y="609600"/>
                  <a:pt x="22669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81050" y="5562600"/>
            <a:ext cx="2228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09625" y="5867400"/>
            <a:ext cx="2171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MAX_RETRIES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390900" y="4495800"/>
            <a:ext cx="2628900" cy="1752600"/>
          </a:xfrm>
          <a:custGeom>
            <a:avLst/>
            <a:gdLst/>
            <a:ahLst/>
            <a:cxnLst/>
            <a:rect l="l" t="t" r="r" b="b"/>
            <a:pathLst>
              <a:path w="2628900" h="1752600">
                <a:moveTo>
                  <a:pt x="38100" y="0"/>
                </a:moveTo>
                <a:lnTo>
                  <a:pt x="2514595" y="0"/>
                </a:lnTo>
                <a:cubicBezTo>
                  <a:pt x="2577724" y="0"/>
                  <a:pt x="2628900" y="51176"/>
                  <a:pt x="2628900" y="114305"/>
                </a:cubicBezTo>
                <a:lnTo>
                  <a:pt x="2628900" y="1638295"/>
                </a:lnTo>
                <a:cubicBezTo>
                  <a:pt x="2628900" y="1701424"/>
                  <a:pt x="2577724" y="1752600"/>
                  <a:pt x="2514595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3390900" y="44958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3574256" y="4667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3876675" y="4648200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WeakBlockEntry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562350" y="4991100"/>
            <a:ext cx="23717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同时持有</a:t>
            </a:r>
            <a:r>
              <a:rPr lang="en-US" sz="105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原始块</a:t>
            </a:r>
            <a:r>
              <a:rPr lang="en-US" sz="105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05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Primary 块</a:t>
            </a:r>
            <a:r>
              <a:rPr lang="en-US" sz="105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的弱引用，应对微妙的 Pool 转换窗口期。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1250" y="4495800"/>
            <a:ext cx="2628900" cy="1752600"/>
          </a:xfrm>
          <a:custGeom>
            <a:avLst/>
            <a:gdLst/>
            <a:ahLst/>
            <a:cxnLst/>
            <a:rect l="l" t="t" r="r" b="b"/>
            <a:pathLst>
              <a:path w="2628900" h="1752600">
                <a:moveTo>
                  <a:pt x="38100" y="0"/>
                </a:moveTo>
                <a:lnTo>
                  <a:pt x="2514595" y="0"/>
                </a:lnTo>
                <a:cubicBezTo>
                  <a:pt x="2577724" y="0"/>
                  <a:pt x="2628900" y="51176"/>
                  <a:pt x="2628900" y="114305"/>
                </a:cubicBezTo>
                <a:lnTo>
                  <a:pt x="2628900" y="1638295"/>
                </a:lnTo>
                <a:cubicBezTo>
                  <a:pt x="2628900" y="1701424"/>
                  <a:pt x="2577724" y="1752600"/>
                  <a:pt x="2514595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6191250" y="44958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410325" y="4667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70172"/>
                </a:moveTo>
                <a:cubicBezTo>
                  <a:pt x="0" y="31403"/>
                  <a:pt x="31998" y="0"/>
                  <a:pt x="71438" y="0"/>
                </a:cubicBezTo>
                <a:cubicBezTo>
                  <a:pt x="110877" y="0"/>
                  <a:pt x="142875" y="31403"/>
                  <a:pt x="142875" y="70172"/>
                </a:cubicBezTo>
                <a:cubicBezTo>
                  <a:pt x="142875" y="114560"/>
                  <a:pt x="98152" y="167767"/>
                  <a:pt x="79474" y="188044"/>
                </a:cubicBezTo>
                <a:cubicBezTo>
                  <a:pt x="75084" y="192807"/>
                  <a:pt x="67754" y="192807"/>
                  <a:pt x="63364" y="188044"/>
                </a:cubicBezTo>
                <a:cubicBezTo>
                  <a:pt x="44686" y="167767"/>
                  <a:pt x="-37" y="114560"/>
                  <a:pt x="-37" y="70172"/>
                </a:cubicBezTo>
                <a:close/>
                <a:moveTo>
                  <a:pt x="71438" y="95250"/>
                </a:moveTo>
                <a:cubicBezTo>
                  <a:pt x="84580" y="95250"/>
                  <a:pt x="95250" y="84580"/>
                  <a:pt x="95250" y="71438"/>
                </a:cubicBezTo>
                <a:cubicBezTo>
                  <a:pt x="95250" y="58295"/>
                  <a:pt x="84580" y="47625"/>
                  <a:pt x="71438" y="47625"/>
                </a:cubicBezTo>
                <a:cubicBezTo>
                  <a:pt x="58295" y="47625"/>
                  <a:pt x="47625" y="58295"/>
                  <a:pt x="47625" y="71438"/>
                </a:cubicBezTo>
                <a:cubicBezTo>
                  <a:pt x="47625" y="84580"/>
                  <a:pt x="58295" y="95250"/>
                  <a:pt x="71438" y="9525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677025" y="464820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Presence Marker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62700" y="4991100"/>
            <a:ext cx="23717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快速过滤机制，</a:t>
            </a:r>
            <a:r>
              <a:rPr lang="en-US" sz="105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无状态记录时直接跳过</a:t>
            </a:r>
            <a:r>
              <a:rPr lang="en-US" sz="105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，排除无效锁竞争。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991600" y="4495800"/>
            <a:ext cx="2628900" cy="1752600"/>
          </a:xfrm>
          <a:custGeom>
            <a:avLst/>
            <a:gdLst/>
            <a:ahLst/>
            <a:cxnLst/>
            <a:rect l="l" t="t" r="r" b="b"/>
            <a:pathLst>
              <a:path w="2628900" h="1752600">
                <a:moveTo>
                  <a:pt x="38100" y="0"/>
                </a:moveTo>
                <a:lnTo>
                  <a:pt x="2514595" y="0"/>
                </a:lnTo>
                <a:cubicBezTo>
                  <a:pt x="2577724" y="0"/>
                  <a:pt x="2628900" y="51176"/>
                  <a:pt x="2628900" y="114305"/>
                </a:cubicBezTo>
                <a:lnTo>
                  <a:pt x="2628900" y="1638295"/>
                </a:lnTo>
                <a:cubicBezTo>
                  <a:pt x="2628900" y="1701424"/>
                  <a:pt x="2577724" y="1752600"/>
                  <a:pt x="2514595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991600" y="44958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9198769" y="4667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9477375" y="46482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极限并发保障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163050" y="4991100"/>
            <a:ext cx="23717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050" b="1" dirty="0">
                <a:solidFill>
                  <a:srgbClr val="4091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有界自旋</a:t>
            </a:r>
            <a:r>
              <a:rPr lang="en-US" sz="1050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等待状态一致，保障高吞吐流量下的系统绝对确定性。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Dynamo 统一框架下的缓存后端生态抉择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00100"/>
            <a:ext cx="3886200" cy="342900"/>
          </a:xfrm>
          <a:custGeom>
            <a:avLst/>
            <a:gdLst/>
            <a:ahLst/>
            <a:cxnLst/>
            <a:rect l="l" t="t" r="r" b="b"/>
            <a:pathLst>
              <a:path w="3886200" h="342900">
                <a:moveTo>
                  <a:pt x="76199" y="0"/>
                </a:moveTo>
                <a:lnTo>
                  <a:pt x="3810001" y="0"/>
                </a:lnTo>
                <a:cubicBezTo>
                  <a:pt x="3852084" y="0"/>
                  <a:pt x="3886200" y="34116"/>
                  <a:pt x="3886200" y="76199"/>
                </a:cubicBezTo>
                <a:lnTo>
                  <a:pt x="3886200" y="266701"/>
                </a:lnTo>
                <a:cubicBezTo>
                  <a:pt x="3886200" y="308784"/>
                  <a:pt x="3852084" y="342900"/>
                  <a:pt x="38100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52450" y="895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00100" y="876300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互斥性：单实例启动时仅可激活一个主要的 KV 管理后端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0525" y="1304925"/>
            <a:ext cx="5581650" cy="5162550"/>
          </a:xfrm>
          <a:custGeom>
            <a:avLst/>
            <a:gdLst/>
            <a:ahLst/>
            <a:cxnLst/>
            <a:rect l="l" t="t" r="r" b="b"/>
            <a:pathLst>
              <a:path w="5581650" h="5162550">
                <a:moveTo>
                  <a:pt x="152398" y="0"/>
                </a:moveTo>
                <a:lnTo>
                  <a:pt x="5429252" y="0"/>
                </a:lnTo>
                <a:cubicBezTo>
                  <a:pt x="5513419" y="0"/>
                  <a:pt x="5581650" y="68231"/>
                  <a:pt x="5581650" y="152398"/>
                </a:cubicBezTo>
                <a:lnTo>
                  <a:pt x="5581650" y="5010152"/>
                </a:lnTo>
                <a:cubicBezTo>
                  <a:pt x="5581650" y="5094319"/>
                  <a:pt x="5513419" y="5162550"/>
                  <a:pt x="5429252" y="5162550"/>
                </a:cubicBezTo>
                <a:lnTo>
                  <a:pt x="152398" y="5162550"/>
                </a:lnTo>
                <a:cubicBezTo>
                  <a:pt x="68231" y="5162550"/>
                  <a:pt x="0" y="5094319"/>
                  <a:pt x="0" y="501015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2D6A4F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00050" y="1314450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0" y="0"/>
                </a:moveTo>
                <a:lnTo>
                  <a:pt x="5562600" y="0"/>
                </a:lnTo>
                <a:lnTo>
                  <a:pt x="55626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57225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28700" y="1466850"/>
            <a:ext cx="1190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KVBM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8700" y="17716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Dynamo 原生引擎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550" y="2305050"/>
            <a:ext cx="5181600" cy="1047750"/>
          </a:xfrm>
          <a:custGeom>
            <a:avLst/>
            <a:gdLst/>
            <a:ahLst/>
            <a:cxnLst/>
            <a:rect l="l" t="t" r="r" b="b"/>
            <a:pathLst>
              <a:path w="5181600" h="1047750">
                <a:moveTo>
                  <a:pt x="114299" y="0"/>
                </a:moveTo>
                <a:lnTo>
                  <a:pt x="5067301" y="0"/>
                </a:lnTo>
                <a:cubicBezTo>
                  <a:pt x="5130427" y="0"/>
                  <a:pt x="5181600" y="51173"/>
                  <a:pt x="5181600" y="114299"/>
                </a:cubicBezTo>
                <a:lnTo>
                  <a:pt x="5181600" y="933451"/>
                </a:lnTo>
                <a:cubicBezTo>
                  <a:pt x="5181600" y="996577"/>
                  <a:pt x="5130427" y="1047750"/>
                  <a:pt x="506730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62000" y="2495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09650" y="245745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层级架构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2950" y="2762250"/>
            <a:ext cx="49434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GPU &lt;-&gt; CPU &lt;-&gt; Disk &lt;-&gt; Remote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深度集成 NIXL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0550" y="3500438"/>
            <a:ext cx="5181600" cy="828675"/>
          </a:xfrm>
          <a:custGeom>
            <a:avLst/>
            <a:gdLst/>
            <a:ahLst/>
            <a:cxnLst/>
            <a:rect l="l" t="t" r="r" b="b"/>
            <a:pathLst>
              <a:path w="5181600" h="828675">
                <a:moveTo>
                  <a:pt x="114299" y="0"/>
                </a:moveTo>
                <a:lnTo>
                  <a:pt x="5067301" y="0"/>
                </a:lnTo>
                <a:cubicBezTo>
                  <a:pt x="5130427" y="0"/>
                  <a:pt x="5181600" y="51173"/>
                  <a:pt x="5181600" y="114299"/>
                </a:cubicBezTo>
                <a:lnTo>
                  <a:pt x="5181600" y="714376"/>
                </a:lnTo>
                <a:cubicBezTo>
                  <a:pt x="5181600" y="777502"/>
                  <a:pt x="5130427" y="828675"/>
                  <a:pt x="5067301" y="828675"/>
                </a:cubicBezTo>
                <a:lnTo>
                  <a:pt x="114299" y="828675"/>
                </a:lnTo>
                <a:cubicBezTo>
                  <a:pt x="51173" y="828675"/>
                  <a:pt x="0" y="777502"/>
                  <a:pt x="0" y="7143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62000" y="369093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09650" y="365283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2950" y="3957638"/>
            <a:ext cx="49434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极致的单机与集群内 </a:t>
            </a:r>
            <a:r>
              <a:rPr lang="en-US" sz="1050" b="1" dirty="0">
                <a:solidFill>
                  <a:srgbClr val="4091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Tiering 性能</a:t>
            </a: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，基于 Rust 状态机的严格生命周期控制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0550" y="4479131"/>
            <a:ext cx="5181600" cy="828675"/>
          </a:xfrm>
          <a:custGeom>
            <a:avLst/>
            <a:gdLst/>
            <a:ahLst/>
            <a:cxnLst/>
            <a:rect l="l" t="t" r="r" b="b"/>
            <a:pathLst>
              <a:path w="5181600" h="828675">
                <a:moveTo>
                  <a:pt x="114299" y="0"/>
                </a:moveTo>
                <a:lnTo>
                  <a:pt x="5067301" y="0"/>
                </a:lnTo>
                <a:cubicBezTo>
                  <a:pt x="5130427" y="0"/>
                  <a:pt x="5181600" y="51173"/>
                  <a:pt x="5181600" y="114299"/>
                </a:cubicBezTo>
                <a:lnTo>
                  <a:pt x="5181600" y="714376"/>
                </a:lnTo>
                <a:cubicBezTo>
                  <a:pt x="5181600" y="777502"/>
                  <a:pt x="5130427" y="828675"/>
                  <a:pt x="5067301" y="828675"/>
                </a:cubicBezTo>
                <a:lnTo>
                  <a:pt x="114299" y="828675"/>
                </a:lnTo>
                <a:cubicBezTo>
                  <a:pt x="51173" y="828675"/>
                  <a:pt x="0" y="777502"/>
                  <a:pt x="0" y="7143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62000" y="46696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09650" y="463153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2950" y="4936331"/>
            <a:ext cx="49434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追求</a:t>
            </a:r>
            <a:r>
              <a:rPr lang="en-US" sz="105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极限吞吐</a:t>
            </a: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05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极低 TTFT</a:t>
            </a: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的高性能核心计算推理节点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0550" y="5619750"/>
            <a:ext cx="5181600" cy="647700"/>
          </a:xfrm>
          <a:custGeom>
            <a:avLst/>
            <a:gdLst/>
            <a:ahLst/>
            <a:cxnLst/>
            <a:rect l="l" t="t" r="r" b="b"/>
            <a:pathLst>
              <a:path w="5181600" h="647700">
                <a:moveTo>
                  <a:pt x="76202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571498"/>
                </a:lnTo>
                <a:cubicBezTo>
                  <a:pt x="5181600" y="613583"/>
                  <a:pt x="5147483" y="647700"/>
                  <a:pt x="51053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B26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04850" y="5734050"/>
            <a:ext cx="5010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850" y="5957888"/>
            <a:ext cx="160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09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kvbm_backend::State;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9825" y="1304925"/>
            <a:ext cx="5581650" cy="5162550"/>
          </a:xfrm>
          <a:custGeom>
            <a:avLst/>
            <a:gdLst/>
            <a:ahLst/>
            <a:cxnLst/>
            <a:rect l="l" t="t" r="r" b="b"/>
            <a:pathLst>
              <a:path w="5581650" h="5162550">
                <a:moveTo>
                  <a:pt x="152398" y="0"/>
                </a:moveTo>
                <a:lnTo>
                  <a:pt x="5429252" y="0"/>
                </a:lnTo>
                <a:cubicBezTo>
                  <a:pt x="5513419" y="0"/>
                  <a:pt x="5581650" y="68231"/>
                  <a:pt x="5581650" y="152398"/>
                </a:cubicBezTo>
                <a:lnTo>
                  <a:pt x="5581650" y="5010152"/>
                </a:lnTo>
                <a:cubicBezTo>
                  <a:pt x="5581650" y="5094319"/>
                  <a:pt x="5513419" y="5162550"/>
                  <a:pt x="5429252" y="5162550"/>
                </a:cubicBezTo>
                <a:lnTo>
                  <a:pt x="152398" y="5162550"/>
                </a:lnTo>
                <a:cubicBezTo>
                  <a:pt x="68231" y="5162550"/>
                  <a:pt x="0" y="5094319"/>
                  <a:pt x="0" y="501015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527A8A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229350" y="1314450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0" y="0"/>
                </a:moveTo>
                <a:lnTo>
                  <a:pt x="5562600" y="0"/>
                </a:lnTo>
                <a:lnTo>
                  <a:pt x="55626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27A8A"/>
              </a:gs>
              <a:gs pos="100000">
                <a:srgbClr val="6B8E9F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472238" y="1600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150019"/>
                </a:moveTo>
                <a:cubicBezTo>
                  <a:pt x="0" y="185514"/>
                  <a:pt x="28798" y="214313"/>
                  <a:pt x="64294" y="214313"/>
                </a:cubicBezTo>
                <a:lnTo>
                  <a:pt x="200025" y="214313"/>
                </a:lnTo>
                <a:cubicBezTo>
                  <a:pt x="231591" y="214313"/>
                  <a:pt x="257175" y="188729"/>
                  <a:pt x="257175" y="157163"/>
                </a:cubicBezTo>
                <a:cubicBezTo>
                  <a:pt x="257175" y="134124"/>
                  <a:pt x="243557" y="114255"/>
                  <a:pt x="223912" y="105236"/>
                </a:cubicBezTo>
                <a:cubicBezTo>
                  <a:pt x="226903" y="99387"/>
                  <a:pt x="228600" y="92735"/>
                  <a:pt x="228600" y="85725"/>
                </a:cubicBezTo>
                <a:cubicBezTo>
                  <a:pt x="228600" y="62061"/>
                  <a:pt x="209401" y="42863"/>
                  <a:pt x="185738" y="42863"/>
                </a:cubicBezTo>
                <a:cubicBezTo>
                  <a:pt x="177835" y="42863"/>
                  <a:pt x="170468" y="45006"/>
                  <a:pt x="164128" y="48711"/>
                </a:cubicBezTo>
                <a:cubicBezTo>
                  <a:pt x="153367" y="28262"/>
                  <a:pt x="131891" y="14288"/>
                  <a:pt x="107156" y="14288"/>
                </a:cubicBezTo>
                <a:cubicBezTo>
                  <a:pt x="71661" y="14288"/>
                  <a:pt x="42863" y="43086"/>
                  <a:pt x="42863" y="78581"/>
                </a:cubicBezTo>
                <a:cubicBezTo>
                  <a:pt x="42863" y="82153"/>
                  <a:pt x="43175" y="85680"/>
                  <a:pt x="43711" y="89074"/>
                </a:cubicBezTo>
                <a:cubicBezTo>
                  <a:pt x="18306" y="97646"/>
                  <a:pt x="0" y="121712"/>
                  <a:pt x="0" y="15001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858000" y="1466850"/>
            <a:ext cx="1133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LMCache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177165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开源生态集成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9850" y="2305050"/>
            <a:ext cx="5181600" cy="1047750"/>
          </a:xfrm>
          <a:custGeom>
            <a:avLst/>
            <a:gdLst/>
            <a:ahLst/>
            <a:cxnLst/>
            <a:rect l="l" t="t" r="r" b="b"/>
            <a:pathLst>
              <a:path w="5181600" h="1047750">
                <a:moveTo>
                  <a:pt x="114299" y="0"/>
                </a:moveTo>
                <a:lnTo>
                  <a:pt x="5067301" y="0"/>
                </a:lnTo>
                <a:cubicBezTo>
                  <a:pt x="5130427" y="0"/>
                  <a:pt x="5181600" y="51173"/>
                  <a:pt x="5181600" y="114299"/>
                </a:cubicBezTo>
                <a:lnTo>
                  <a:pt x="5181600" y="933451"/>
                </a:lnTo>
                <a:cubicBezTo>
                  <a:pt x="5181600" y="996577"/>
                  <a:pt x="5130427" y="1047750"/>
                  <a:pt x="506730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591300" y="2495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838950" y="245745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层级架构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72250" y="2762250"/>
            <a:ext cx="49434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GPU &lt;-&gt; CPU &lt;-&gt; Disk &lt;-&gt; Redis &lt;-&gt; Cloud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云原生扩展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19850" y="3500438"/>
            <a:ext cx="5181600" cy="828675"/>
          </a:xfrm>
          <a:custGeom>
            <a:avLst/>
            <a:gdLst/>
            <a:ahLst/>
            <a:cxnLst/>
            <a:rect l="l" t="t" r="r" b="b"/>
            <a:pathLst>
              <a:path w="5181600" h="828675">
                <a:moveTo>
                  <a:pt x="114299" y="0"/>
                </a:moveTo>
                <a:lnTo>
                  <a:pt x="5067301" y="0"/>
                </a:lnTo>
                <a:cubicBezTo>
                  <a:pt x="5130427" y="0"/>
                  <a:pt x="5181600" y="51173"/>
                  <a:pt x="5181600" y="114299"/>
                </a:cubicBezTo>
                <a:lnTo>
                  <a:pt x="5181600" y="714376"/>
                </a:lnTo>
                <a:cubicBezTo>
                  <a:pt x="5181600" y="777502"/>
                  <a:pt x="5130427" y="828675"/>
                  <a:pt x="5067301" y="828675"/>
                </a:cubicBezTo>
                <a:lnTo>
                  <a:pt x="114299" y="828675"/>
                </a:lnTo>
                <a:cubicBezTo>
                  <a:pt x="51173" y="828675"/>
                  <a:pt x="0" y="777502"/>
                  <a:pt x="0" y="7143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591300" y="369093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4300" y="57150"/>
                </a:moveTo>
                <a:cubicBezTo>
                  <a:pt x="130076" y="57150"/>
                  <a:pt x="142875" y="44351"/>
                  <a:pt x="142875" y="28575"/>
                </a:cubicBezTo>
                <a:cubicBezTo>
                  <a:pt x="142875" y="12799"/>
                  <a:pt x="130076" y="0"/>
                  <a:pt x="114300" y="0"/>
                </a:cubicBezTo>
                <a:cubicBezTo>
                  <a:pt x="98524" y="0"/>
                  <a:pt x="85725" y="12799"/>
                  <a:pt x="85725" y="28575"/>
                </a:cubicBezTo>
                <a:cubicBezTo>
                  <a:pt x="85725" y="30182"/>
                  <a:pt x="85874" y="31790"/>
                  <a:pt x="86112" y="33338"/>
                </a:cubicBezTo>
                <a:lnTo>
                  <a:pt x="47506" y="54799"/>
                </a:lnTo>
                <a:cubicBezTo>
                  <a:pt x="42476" y="50334"/>
                  <a:pt x="35838" y="47625"/>
                  <a:pt x="28575" y="47625"/>
                </a:cubicBezTo>
                <a:cubicBezTo>
                  <a:pt x="12799" y="47625"/>
                  <a:pt x="0" y="60424"/>
                  <a:pt x="0" y="76200"/>
                </a:cubicBezTo>
                <a:cubicBezTo>
                  <a:pt x="0" y="91976"/>
                  <a:pt x="12799" y="104775"/>
                  <a:pt x="28575" y="104775"/>
                </a:cubicBezTo>
                <a:cubicBezTo>
                  <a:pt x="35838" y="104775"/>
                  <a:pt x="42446" y="102066"/>
                  <a:pt x="47506" y="97601"/>
                </a:cubicBezTo>
                <a:lnTo>
                  <a:pt x="86112" y="119062"/>
                </a:lnTo>
                <a:cubicBezTo>
                  <a:pt x="85844" y="120610"/>
                  <a:pt x="85725" y="122188"/>
                  <a:pt x="85725" y="123825"/>
                </a:cubicBezTo>
                <a:cubicBezTo>
                  <a:pt x="85725" y="139601"/>
                  <a:pt x="98524" y="152400"/>
                  <a:pt x="114300" y="152400"/>
                </a:cubicBezTo>
                <a:cubicBezTo>
                  <a:pt x="130076" y="152400"/>
                  <a:pt x="142875" y="139601"/>
                  <a:pt x="142875" y="123825"/>
                </a:cubicBezTo>
                <a:cubicBezTo>
                  <a:pt x="142875" y="108049"/>
                  <a:pt x="130076" y="95250"/>
                  <a:pt x="114300" y="95250"/>
                </a:cubicBezTo>
                <a:cubicBezTo>
                  <a:pt x="107037" y="95250"/>
                  <a:pt x="100429" y="97959"/>
                  <a:pt x="95369" y="102424"/>
                </a:cubicBezTo>
                <a:lnTo>
                  <a:pt x="56763" y="80962"/>
                </a:lnTo>
                <a:cubicBezTo>
                  <a:pt x="57031" y="79415"/>
                  <a:pt x="57150" y="77837"/>
                  <a:pt x="57150" y="76200"/>
                </a:cubicBezTo>
                <a:cubicBezTo>
                  <a:pt x="57150" y="74563"/>
                  <a:pt x="57001" y="72985"/>
                  <a:pt x="56763" y="71438"/>
                </a:cubicBezTo>
                <a:lnTo>
                  <a:pt x="95369" y="49976"/>
                </a:lnTo>
                <a:cubicBezTo>
                  <a:pt x="100399" y="54441"/>
                  <a:pt x="107037" y="57150"/>
                  <a:pt x="114300" y="57150"/>
                </a:cubicBezTo>
                <a:close/>
              </a:path>
            </a:pathLst>
          </a:custGeom>
          <a:solidFill>
            <a:srgbClr val="6B8E9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838950" y="365283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72250" y="3957638"/>
            <a:ext cx="49434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6B8E9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Prefill-once, reuse-everywhere</a:t>
            </a: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。支持基于 Redis 的跨实例大范围 KV 共享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19850" y="4479131"/>
            <a:ext cx="5181600" cy="828675"/>
          </a:xfrm>
          <a:custGeom>
            <a:avLst/>
            <a:gdLst/>
            <a:ahLst/>
            <a:cxnLst/>
            <a:rect l="l" t="t" r="r" b="b"/>
            <a:pathLst>
              <a:path w="5181600" h="828675">
                <a:moveTo>
                  <a:pt x="114299" y="0"/>
                </a:moveTo>
                <a:lnTo>
                  <a:pt x="5067301" y="0"/>
                </a:lnTo>
                <a:cubicBezTo>
                  <a:pt x="5130427" y="0"/>
                  <a:pt x="5181600" y="51173"/>
                  <a:pt x="5181600" y="114299"/>
                </a:cubicBezTo>
                <a:lnTo>
                  <a:pt x="5181600" y="714376"/>
                </a:lnTo>
                <a:cubicBezTo>
                  <a:pt x="5181600" y="777502"/>
                  <a:pt x="5130427" y="828675"/>
                  <a:pt x="5067301" y="828675"/>
                </a:cubicBezTo>
                <a:lnTo>
                  <a:pt x="114299" y="828675"/>
                </a:lnTo>
                <a:cubicBezTo>
                  <a:pt x="51173" y="828675"/>
                  <a:pt x="0" y="777502"/>
                  <a:pt x="0" y="7143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591300" y="46696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8BA5B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838950" y="463153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72250" y="4936331"/>
            <a:ext cx="49434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8BA5B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 应用</a:t>
            </a: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，多轮长文本对话，需要跨不同系统共享 Context 的业务架构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19850" y="5619750"/>
            <a:ext cx="5181600" cy="647700"/>
          </a:xfrm>
          <a:custGeom>
            <a:avLst/>
            <a:gdLst/>
            <a:ahLst/>
            <a:cxnLst/>
            <a:rect l="l" t="t" r="r" b="b"/>
            <a:pathLst>
              <a:path w="5181600" h="647700">
                <a:moveTo>
                  <a:pt x="76202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571498"/>
                </a:lnTo>
                <a:cubicBezTo>
                  <a:pt x="5181600" y="613583"/>
                  <a:pt x="5147483" y="647700"/>
                  <a:pt x="51053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B26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534150" y="5734050"/>
            <a:ext cx="5010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27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34150" y="5957888"/>
            <a:ext cx="12410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8E9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lmcache::Client;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混合模式部署：PdConnector 与分离式服务协同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00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2219325" y="2097881"/>
            <a:ext cx="2724150" cy="2000250"/>
          </a:xfrm>
          <a:custGeom>
            <a:avLst/>
            <a:gdLst/>
            <a:ahLst/>
            <a:cxnLst/>
            <a:rect l="l" t="t" r="r" b="b"/>
            <a:pathLst>
              <a:path w="2724150" h="2000250">
                <a:moveTo>
                  <a:pt x="152399" y="0"/>
                </a:moveTo>
                <a:lnTo>
                  <a:pt x="2571751" y="0"/>
                </a:lnTo>
                <a:cubicBezTo>
                  <a:pt x="2655919" y="0"/>
                  <a:pt x="2724150" y="68231"/>
                  <a:pt x="2724150" y="152399"/>
                </a:cubicBezTo>
                <a:lnTo>
                  <a:pt x="2724150" y="1847851"/>
                </a:lnTo>
                <a:cubicBezTo>
                  <a:pt x="2724150" y="1932019"/>
                  <a:pt x="2655919" y="2000250"/>
                  <a:pt x="2571751" y="2000250"/>
                </a:cubicBezTo>
                <a:lnTo>
                  <a:pt x="152399" y="2000250"/>
                </a:lnTo>
                <a:cubicBezTo>
                  <a:pt x="68231" y="2000250"/>
                  <a:pt x="0" y="1932019"/>
                  <a:pt x="0" y="1847851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2D6A4F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228850" y="2107406"/>
            <a:ext cx="2705100" cy="495300"/>
          </a:xfrm>
          <a:custGeom>
            <a:avLst/>
            <a:gdLst/>
            <a:ahLst/>
            <a:cxnLst/>
            <a:rect l="l" t="t" r="r" b="b"/>
            <a:pathLst>
              <a:path w="2705100" h="495300">
                <a:moveTo>
                  <a:pt x="0" y="0"/>
                </a:moveTo>
                <a:lnTo>
                  <a:pt x="2705100" y="0"/>
                </a:lnTo>
                <a:lnTo>
                  <a:pt x="2705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443163" y="225980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70061" y="54732"/>
                </a:moveTo>
                <a:cubicBezTo>
                  <a:pt x="67233" y="56294"/>
                  <a:pt x="65484" y="59308"/>
                  <a:pt x="65484" y="62508"/>
                </a:cubicBezTo>
                <a:lnTo>
                  <a:pt x="65484" y="127992"/>
                </a:lnTo>
                <a:cubicBezTo>
                  <a:pt x="65484" y="131229"/>
                  <a:pt x="67233" y="134206"/>
                  <a:pt x="70061" y="135768"/>
                </a:cubicBezTo>
                <a:cubicBezTo>
                  <a:pt x="72889" y="137331"/>
                  <a:pt x="76312" y="137294"/>
                  <a:pt x="79102" y="135582"/>
                </a:cubicBezTo>
                <a:lnTo>
                  <a:pt x="132680" y="102840"/>
                </a:lnTo>
                <a:cubicBezTo>
                  <a:pt x="135322" y="101203"/>
                  <a:pt x="136959" y="98338"/>
                  <a:pt x="136959" y="95213"/>
                </a:cubicBezTo>
                <a:cubicBezTo>
                  <a:pt x="136959" y="92087"/>
                  <a:pt x="135322" y="89222"/>
                  <a:pt x="132680" y="87585"/>
                </a:cubicBezTo>
                <a:lnTo>
                  <a:pt x="79102" y="54843"/>
                </a:lnTo>
                <a:cubicBezTo>
                  <a:pt x="76349" y="53169"/>
                  <a:pt x="72889" y="53094"/>
                  <a:pt x="70061" y="5465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733675" y="2221706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Prefill Worker Node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38400" y="2793206"/>
            <a:ext cx="2305050" cy="1104900"/>
          </a:xfrm>
          <a:custGeom>
            <a:avLst/>
            <a:gdLst/>
            <a:ahLst/>
            <a:cxnLst/>
            <a:rect l="l" t="t" r="r" b="b"/>
            <a:pathLst>
              <a:path w="2305050" h="1104900">
                <a:moveTo>
                  <a:pt x="38100" y="0"/>
                </a:moveTo>
                <a:lnTo>
                  <a:pt x="2190748" y="0"/>
                </a:lnTo>
                <a:cubicBezTo>
                  <a:pt x="2253875" y="0"/>
                  <a:pt x="2305050" y="51175"/>
                  <a:pt x="2305050" y="114302"/>
                </a:cubicBezTo>
                <a:lnTo>
                  <a:pt x="2305050" y="990598"/>
                </a:lnTo>
                <a:cubicBezTo>
                  <a:pt x="2305050" y="1053725"/>
                  <a:pt x="2253875" y="1104900"/>
                  <a:pt x="2190748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438400" y="2793206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628900" y="29837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764" y="-744"/>
                </a:moveTo>
                <a:cubicBezTo>
                  <a:pt x="72658" y="-4137"/>
                  <a:pt x="79921" y="-4137"/>
                  <a:pt x="85814" y="-744"/>
                </a:cubicBezTo>
                <a:lnTo>
                  <a:pt x="138172" y="29468"/>
                </a:lnTo>
                <a:cubicBezTo>
                  <a:pt x="144066" y="32861"/>
                  <a:pt x="147697" y="39172"/>
                  <a:pt x="147697" y="45958"/>
                </a:cubicBezTo>
                <a:lnTo>
                  <a:pt x="147697" y="106382"/>
                </a:lnTo>
                <a:cubicBezTo>
                  <a:pt x="147697" y="113199"/>
                  <a:pt x="144066" y="119479"/>
                  <a:pt x="138172" y="122872"/>
                </a:cubicBezTo>
                <a:lnTo>
                  <a:pt x="85814" y="153144"/>
                </a:lnTo>
                <a:cubicBezTo>
                  <a:pt x="79921" y="156537"/>
                  <a:pt x="72658" y="156537"/>
                  <a:pt x="66764" y="153144"/>
                </a:cubicBezTo>
                <a:lnTo>
                  <a:pt x="14436" y="122932"/>
                </a:lnTo>
                <a:cubicBezTo>
                  <a:pt x="8543" y="119539"/>
                  <a:pt x="4911" y="113228"/>
                  <a:pt x="4911" y="106442"/>
                </a:cubicBezTo>
                <a:lnTo>
                  <a:pt x="4911" y="46018"/>
                </a:lnTo>
                <a:cubicBezTo>
                  <a:pt x="4911" y="39201"/>
                  <a:pt x="8543" y="32921"/>
                  <a:pt x="14436" y="29528"/>
                </a:cubicBezTo>
                <a:lnTo>
                  <a:pt x="66764" y="-744"/>
                </a:lnTo>
                <a:close/>
                <a:moveTo>
                  <a:pt x="128617" y="106412"/>
                </a:moveTo>
                <a:lnTo>
                  <a:pt x="128617" y="56971"/>
                </a:lnTo>
                <a:lnTo>
                  <a:pt x="85814" y="81677"/>
                </a:lnTo>
                <a:lnTo>
                  <a:pt x="85814" y="131118"/>
                </a:lnTo>
                <a:lnTo>
                  <a:pt x="128617" y="106412"/>
                </a:ln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876550" y="2945606"/>
            <a:ext cx="504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KVBM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9850" y="3250406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本地生命周期管理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09850" y="3517106"/>
            <a:ext cx="619125" cy="228600"/>
          </a:xfrm>
          <a:custGeom>
            <a:avLst/>
            <a:gdLst/>
            <a:ahLst/>
            <a:cxnLst/>
            <a:rect l="l" t="t" r="r" b="b"/>
            <a:pathLst>
              <a:path w="619125" h="228600">
                <a:moveTo>
                  <a:pt x="38101" y="0"/>
                </a:moveTo>
                <a:lnTo>
                  <a:pt x="581024" y="0"/>
                </a:lnTo>
                <a:cubicBezTo>
                  <a:pt x="602067" y="0"/>
                  <a:pt x="619125" y="17058"/>
                  <a:pt x="619125" y="38101"/>
                </a:cubicBezTo>
                <a:lnTo>
                  <a:pt x="619125" y="190499"/>
                </a:lnTo>
                <a:cubicBezTo>
                  <a:pt x="619125" y="211542"/>
                  <a:pt x="602067" y="228600"/>
                  <a:pt x="5810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D6A4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609850" y="3517106"/>
            <a:ext cx="67627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Offload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81600" y="2545556"/>
            <a:ext cx="1828800" cy="762000"/>
          </a:xfrm>
          <a:custGeom>
            <a:avLst/>
            <a:gdLst/>
            <a:ahLst/>
            <a:cxnLst/>
            <a:rect l="l" t="t" r="r" b="b"/>
            <a:pathLst>
              <a:path w="1828800" h="762000">
                <a:moveTo>
                  <a:pt x="114300" y="0"/>
                </a:moveTo>
                <a:lnTo>
                  <a:pt x="1714500" y="0"/>
                </a:lnTo>
                <a:cubicBezTo>
                  <a:pt x="1777584" y="0"/>
                  <a:pt x="1828800" y="51216"/>
                  <a:pt x="1828800" y="114300"/>
                </a:cubicBezTo>
                <a:lnTo>
                  <a:pt x="1828800" y="647700"/>
                </a:lnTo>
                <a:cubicBezTo>
                  <a:pt x="1828800" y="710784"/>
                  <a:pt x="1777584" y="762000"/>
                  <a:pt x="17145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27A8A"/>
              </a:gs>
              <a:gs pos="100000">
                <a:srgbClr val="6B8E9F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476875" y="2717006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NIXL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95925" y="2983706"/>
            <a:ext cx="1200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底层高速网络传输解耦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62625" y="34218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200775" y="34218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4197" y="104209"/>
                </a:moveTo>
                <a:cubicBezTo>
                  <a:pt x="-1384" y="109791"/>
                  <a:pt x="-1384" y="118854"/>
                  <a:pt x="4197" y="124435"/>
                </a:cubicBezTo>
                <a:lnTo>
                  <a:pt x="75634" y="195873"/>
                </a:lnTo>
                <a:cubicBezTo>
                  <a:pt x="81216" y="201454"/>
                  <a:pt x="90279" y="201454"/>
                  <a:pt x="95860" y="195873"/>
                </a:cubicBezTo>
                <a:cubicBezTo>
                  <a:pt x="101441" y="190292"/>
                  <a:pt x="101441" y="181228"/>
                  <a:pt x="95860" y="175647"/>
                </a:cubicBezTo>
                <a:lnTo>
                  <a:pt x="48801" y="128588"/>
                </a:ln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48801" y="100013"/>
                </a:lnTo>
                <a:lnTo>
                  <a:pt x="95860" y="52953"/>
                </a:lnTo>
                <a:cubicBezTo>
                  <a:pt x="101441" y="47372"/>
                  <a:pt x="101441" y="38308"/>
                  <a:pt x="95860" y="32727"/>
                </a:cubicBezTo>
                <a:cubicBezTo>
                  <a:pt x="90279" y="27146"/>
                  <a:pt x="81216" y="27146"/>
                  <a:pt x="75634" y="32727"/>
                </a:cubicBezTo>
                <a:lnTo>
                  <a:pt x="4197" y="104165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248525" y="2097881"/>
            <a:ext cx="2724150" cy="2000250"/>
          </a:xfrm>
          <a:custGeom>
            <a:avLst/>
            <a:gdLst/>
            <a:ahLst/>
            <a:cxnLst/>
            <a:rect l="l" t="t" r="r" b="b"/>
            <a:pathLst>
              <a:path w="2724150" h="2000250">
                <a:moveTo>
                  <a:pt x="152399" y="0"/>
                </a:moveTo>
                <a:lnTo>
                  <a:pt x="2571751" y="0"/>
                </a:lnTo>
                <a:cubicBezTo>
                  <a:pt x="2655919" y="0"/>
                  <a:pt x="2724150" y="68231"/>
                  <a:pt x="2724150" y="152399"/>
                </a:cubicBezTo>
                <a:lnTo>
                  <a:pt x="2724150" y="1847851"/>
                </a:lnTo>
                <a:cubicBezTo>
                  <a:pt x="2724150" y="1932019"/>
                  <a:pt x="2655919" y="2000250"/>
                  <a:pt x="2571751" y="2000250"/>
                </a:cubicBezTo>
                <a:lnTo>
                  <a:pt x="152399" y="2000250"/>
                </a:lnTo>
                <a:cubicBezTo>
                  <a:pt x="68231" y="2000250"/>
                  <a:pt x="0" y="1932019"/>
                  <a:pt x="0" y="1847851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527A8A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258050" y="2107406"/>
            <a:ext cx="2705100" cy="495300"/>
          </a:xfrm>
          <a:custGeom>
            <a:avLst/>
            <a:gdLst/>
            <a:ahLst/>
            <a:cxnLst/>
            <a:rect l="l" t="t" r="r" b="b"/>
            <a:pathLst>
              <a:path w="2705100" h="495300">
                <a:moveTo>
                  <a:pt x="0" y="0"/>
                </a:moveTo>
                <a:lnTo>
                  <a:pt x="2705100" y="0"/>
                </a:lnTo>
                <a:lnTo>
                  <a:pt x="2705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27A8A"/>
              </a:gs>
              <a:gs pos="100000">
                <a:srgbClr val="6B8E9F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472363" y="225980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71438" y="59531"/>
                </a:moveTo>
                <a:lnTo>
                  <a:pt x="119063" y="59531"/>
                </a:lnTo>
                <a:cubicBezTo>
                  <a:pt x="125648" y="59531"/>
                  <a:pt x="130969" y="64852"/>
                  <a:pt x="130969" y="71438"/>
                </a:cubicBezTo>
                <a:lnTo>
                  <a:pt x="130969" y="119063"/>
                </a:lnTo>
                <a:cubicBezTo>
                  <a:pt x="130969" y="125648"/>
                  <a:pt x="125648" y="130969"/>
                  <a:pt x="119063" y="130969"/>
                </a:cubicBezTo>
                <a:lnTo>
                  <a:pt x="71438" y="130969"/>
                </a:lnTo>
                <a:cubicBezTo>
                  <a:pt x="64852" y="130969"/>
                  <a:pt x="59531" y="125648"/>
                  <a:pt x="59531" y="119063"/>
                </a:cubicBezTo>
                <a:lnTo>
                  <a:pt x="59531" y="71438"/>
                </a:lnTo>
                <a:cubicBezTo>
                  <a:pt x="59531" y="64852"/>
                  <a:pt x="64852" y="59531"/>
                  <a:pt x="71438" y="595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762875" y="2221706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Decode Worker Node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67600" y="2793206"/>
            <a:ext cx="2305050" cy="1104900"/>
          </a:xfrm>
          <a:custGeom>
            <a:avLst/>
            <a:gdLst/>
            <a:ahLst/>
            <a:cxnLst/>
            <a:rect l="l" t="t" r="r" b="b"/>
            <a:pathLst>
              <a:path w="2305050" h="1104900">
                <a:moveTo>
                  <a:pt x="38100" y="0"/>
                </a:moveTo>
                <a:lnTo>
                  <a:pt x="2190748" y="0"/>
                </a:lnTo>
                <a:cubicBezTo>
                  <a:pt x="2253875" y="0"/>
                  <a:pt x="2305050" y="51175"/>
                  <a:pt x="2305050" y="114302"/>
                </a:cubicBezTo>
                <a:lnTo>
                  <a:pt x="2305050" y="990598"/>
                </a:lnTo>
                <a:cubicBezTo>
                  <a:pt x="2305050" y="1053725"/>
                  <a:pt x="2253875" y="1104900"/>
                  <a:pt x="2190748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467600" y="2793206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658100" y="29837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764" y="-744"/>
                </a:moveTo>
                <a:cubicBezTo>
                  <a:pt x="72658" y="-4137"/>
                  <a:pt x="79921" y="-4137"/>
                  <a:pt x="85814" y="-744"/>
                </a:cubicBezTo>
                <a:lnTo>
                  <a:pt x="138172" y="29468"/>
                </a:lnTo>
                <a:cubicBezTo>
                  <a:pt x="144066" y="32861"/>
                  <a:pt x="147697" y="39172"/>
                  <a:pt x="147697" y="45958"/>
                </a:cubicBezTo>
                <a:lnTo>
                  <a:pt x="147697" y="106382"/>
                </a:lnTo>
                <a:cubicBezTo>
                  <a:pt x="147697" y="113199"/>
                  <a:pt x="144066" y="119479"/>
                  <a:pt x="138172" y="122872"/>
                </a:cubicBezTo>
                <a:lnTo>
                  <a:pt x="85814" y="153144"/>
                </a:lnTo>
                <a:cubicBezTo>
                  <a:pt x="79921" y="156537"/>
                  <a:pt x="72658" y="156537"/>
                  <a:pt x="66764" y="153144"/>
                </a:cubicBezTo>
                <a:lnTo>
                  <a:pt x="14436" y="122932"/>
                </a:lnTo>
                <a:cubicBezTo>
                  <a:pt x="8543" y="119539"/>
                  <a:pt x="4911" y="113228"/>
                  <a:pt x="4911" y="106442"/>
                </a:cubicBezTo>
                <a:lnTo>
                  <a:pt x="4911" y="46018"/>
                </a:lnTo>
                <a:cubicBezTo>
                  <a:pt x="4911" y="39201"/>
                  <a:pt x="8543" y="32921"/>
                  <a:pt x="14436" y="29528"/>
                </a:cubicBezTo>
                <a:lnTo>
                  <a:pt x="66764" y="-744"/>
                </a:lnTo>
                <a:close/>
                <a:moveTo>
                  <a:pt x="128617" y="106412"/>
                </a:moveTo>
                <a:lnTo>
                  <a:pt x="128617" y="56971"/>
                </a:lnTo>
                <a:lnTo>
                  <a:pt x="85814" y="81677"/>
                </a:lnTo>
                <a:lnTo>
                  <a:pt x="85814" y="131118"/>
                </a:lnTo>
                <a:lnTo>
                  <a:pt x="128617" y="106412"/>
                </a:ln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905750" y="2945606"/>
            <a:ext cx="504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KVBM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39050" y="3250406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本地生命周期管理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39050" y="3517106"/>
            <a:ext cx="685800" cy="228600"/>
          </a:xfrm>
          <a:custGeom>
            <a:avLst/>
            <a:gdLst/>
            <a:ahLst/>
            <a:cxnLst/>
            <a:rect l="l" t="t" r="r" b="b"/>
            <a:pathLst>
              <a:path w="685800" h="228600">
                <a:moveTo>
                  <a:pt x="38101" y="0"/>
                </a:moveTo>
                <a:lnTo>
                  <a:pt x="647699" y="0"/>
                </a:lnTo>
                <a:cubicBezTo>
                  <a:pt x="668742" y="0"/>
                  <a:pt x="685800" y="17058"/>
                  <a:pt x="685800" y="38101"/>
                </a:cubicBezTo>
                <a:lnTo>
                  <a:pt x="685800" y="190499"/>
                </a:lnTo>
                <a:cubicBezTo>
                  <a:pt x="685800" y="211542"/>
                  <a:pt x="668742" y="228600"/>
                  <a:pt x="6476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27A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639050" y="3517106"/>
            <a:ext cx="74295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Onboard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00050" y="5357813"/>
            <a:ext cx="3686175" cy="1123950"/>
          </a:xfrm>
          <a:custGeom>
            <a:avLst/>
            <a:gdLst/>
            <a:ahLst/>
            <a:cxnLst/>
            <a:rect l="l" t="t" r="r" b="b"/>
            <a:pathLst>
              <a:path w="3686175" h="1123950">
                <a:moveTo>
                  <a:pt x="38100" y="0"/>
                </a:moveTo>
                <a:lnTo>
                  <a:pt x="3571881" y="0"/>
                </a:lnTo>
                <a:cubicBezTo>
                  <a:pt x="3635004" y="0"/>
                  <a:pt x="3686175" y="51171"/>
                  <a:pt x="3686175" y="114294"/>
                </a:cubicBezTo>
                <a:lnTo>
                  <a:pt x="3686175" y="1009656"/>
                </a:lnTo>
                <a:cubicBezTo>
                  <a:pt x="3686175" y="1072779"/>
                  <a:pt x="3635004" y="1123950"/>
                  <a:pt x="3571881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00050" y="5357813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71500" y="55102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59606" y="55959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9050" y="9897"/>
                </a:moveTo>
                <a:cubicBezTo>
                  <a:pt x="111212" y="11460"/>
                  <a:pt x="112514" y="13986"/>
                  <a:pt x="112514" y="16669"/>
                </a:cubicBezTo>
                <a:lnTo>
                  <a:pt x="112514" y="41672"/>
                </a:lnTo>
                <a:lnTo>
                  <a:pt x="116681" y="41672"/>
                </a:lnTo>
                <a:cubicBezTo>
                  <a:pt x="121291" y="41672"/>
                  <a:pt x="125016" y="45396"/>
                  <a:pt x="125016" y="50006"/>
                </a:cubicBezTo>
                <a:cubicBezTo>
                  <a:pt x="125016" y="54616"/>
                  <a:pt x="121291" y="58341"/>
                  <a:pt x="116681" y="58341"/>
                </a:cubicBezTo>
                <a:lnTo>
                  <a:pt x="91678" y="58341"/>
                </a:lnTo>
                <a:cubicBezTo>
                  <a:pt x="87068" y="58341"/>
                  <a:pt x="83344" y="54616"/>
                  <a:pt x="83344" y="50006"/>
                </a:cubicBezTo>
                <a:cubicBezTo>
                  <a:pt x="83344" y="45396"/>
                  <a:pt x="87068" y="41672"/>
                  <a:pt x="91678" y="41672"/>
                </a:cubicBezTo>
                <a:lnTo>
                  <a:pt x="95845" y="41672"/>
                </a:lnTo>
                <a:lnTo>
                  <a:pt x="95845" y="28233"/>
                </a:lnTo>
                <a:lnTo>
                  <a:pt x="94309" y="28754"/>
                </a:lnTo>
                <a:cubicBezTo>
                  <a:pt x="89933" y="30212"/>
                  <a:pt x="85219" y="27842"/>
                  <a:pt x="83760" y="23493"/>
                </a:cubicBezTo>
                <a:cubicBezTo>
                  <a:pt x="82302" y="19143"/>
                  <a:pt x="84672" y="14403"/>
                  <a:pt x="89022" y="12944"/>
                </a:cubicBezTo>
                <a:lnTo>
                  <a:pt x="101523" y="8777"/>
                </a:lnTo>
                <a:cubicBezTo>
                  <a:pt x="104076" y="7918"/>
                  <a:pt x="106862" y="8360"/>
                  <a:pt x="109024" y="9923"/>
                </a:cubicBezTo>
                <a:close/>
                <a:moveTo>
                  <a:pt x="95090" y="112149"/>
                </a:moveTo>
                <a:lnTo>
                  <a:pt x="98137" y="107461"/>
                </a:lnTo>
                <a:cubicBezTo>
                  <a:pt x="89568" y="104883"/>
                  <a:pt x="83344" y="96913"/>
                  <a:pt x="83344" y="87511"/>
                </a:cubicBezTo>
                <a:cubicBezTo>
                  <a:pt x="83344" y="75999"/>
                  <a:pt x="92668" y="66675"/>
                  <a:pt x="104180" y="66675"/>
                </a:cubicBezTo>
                <a:cubicBezTo>
                  <a:pt x="115692" y="66675"/>
                  <a:pt x="125016" y="75999"/>
                  <a:pt x="125016" y="87511"/>
                </a:cubicBezTo>
                <a:cubicBezTo>
                  <a:pt x="125016" y="93475"/>
                  <a:pt x="123297" y="99309"/>
                  <a:pt x="120041" y="104310"/>
                </a:cubicBezTo>
                <a:lnTo>
                  <a:pt x="109076" y="121213"/>
                </a:lnTo>
                <a:cubicBezTo>
                  <a:pt x="106576" y="125068"/>
                  <a:pt x="101419" y="126188"/>
                  <a:pt x="97538" y="123661"/>
                </a:cubicBezTo>
                <a:cubicBezTo>
                  <a:pt x="93658" y="121135"/>
                  <a:pt x="92564" y="116004"/>
                  <a:pt x="95090" y="112123"/>
                </a:cubicBezTo>
                <a:close/>
                <a:moveTo>
                  <a:pt x="110430" y="87511"/>
                </a:moveTo>
                <a:cubicBezTo>
                  <a:pt x="110430" y="84061"/>
                  <a:pt x="107630" y="81260"/>
                  <a:pt x="104180" y="81260"/>
                </a:cubicBezTo>
                <a:cubicBezTo>
                  <a:pt x="100730" y="81260"/>
                  <a:pt x="97929" y="84061"/>
                  <a:pt x="97929" y="87511"/>
                </a:cubicBezTo>
                <a:cubicBezTo>
                  <a:pt x="97929" y="90961"/>
                  <a:pt x="100730" y="93762"/>
                  <a:pt x="104180" y="93762"/>
                </a:cubicBezTo>
                <a:cubicBezTo>
                  <a:pt x="107630" y="93762"/>
                  <a:pt x="110430" y="90961"/>
                  <a:pt x="110430" y="87511"/>
                </a:cubicBezTo>
                <a:close/>
                <a:moveTo>
                  <a:pt x="39224" y="122567"/>
                </a:moveTo>
                <a:cubicBezTo>
                  <a:pt x="35968" y="125823"/>
                  <a:pt x="30681" y="125823"/>
                  <a:pt x="27425" y="122567"/>
                </a:cubicBezTo>
                <a:lnTo>
                  <a:pt x="2422" y="97564"/>
                </a:lnTo>
                <a:cubicBezTo>
                  <a:pt x="-833" y="94309"/>
                  <a:pt x="-833" y="89022"/>
                  <a:pt x="2422" y="85766"/>
                </a:cubicBezTo>
                <a:cubicBezTo>
                  <a:pt x="5678" y="82510"/>
                  <a:pt x="10965" y="82510"/>
                  <a:pt x="14221" y="85766"/>
                </a:cubicBezTo>
                <a:lnTo>
                  <a:pt x="25003" y="96549"/>
                </a:lnTo>
                <a:lnTo>
                  <a:pt x="25003" y="16669"/>
                </a:lnTo>
                <a:cubicBezTo>
                  <a:pt x="25003" y="12059"/>
                  <a:pt x="28728" y="8334"/>
                  <a:pt x="33337" y="8334"/>
                </a:cubicBezTo>
                <a:cubicBezTo>
                  <a:pt x="37947" y="8334"/>
                  <a:pt x="41672" y="12059"/>
                  <a:pt x="41672" y="16669"/>
                </a:cubicBezTo>
                <a:lnTo>
                  <a:pt x="41672" y="96549"/>
                </a:lnTo>
                <a:lnTo>
                  <a:pt x="52454" y="85766"/>
                </a:lnTo>
                <a:cubicBezTo>
                  <a:pt x="55710" y="82510"/>
                  <a:pt x="60997" y="82510"/>
                  <a:pt x="64253" y="85766"/>
                </a:cubicBezTo>
                <a:cubicBezTo>
                  <a:pt x="67508" y="89022"/>
                  <a:pt x="67508" y="94309"/>
                  <a:pt x="64253" y="97564"/>
                </a:cubicBezTo>
                <a:lnTo>
                  <a:pt x="39250" y="12256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52500" y="5548313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严格顺序配置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1500" y="5891213"/>
            <a:ext cx="342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PdConnector 必须按序注册连接器，</a:t>
            </a:r>
            <a:r>
              <a:rPr lang="en-US" sz="105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首位处理本地生命周期</a:t>
            </a: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，次位处理底层网络。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60800" y="5357813"/>
            <a:ext cx="3686175" cy="1123950"/>
          </a:xfrm>
          <a:custGeom>
            <a:avLst/>
            <a:gdLst/>
            <a:ahLst/>
            <a:cxnLst/>
            <a:rect l="l" t="t" r="r" b="b"/>
            <a:pathLst>
              <a:path w="3686175" h="1123950">
                <a:moveTo>
                  <a:pt x="38100" y="0"/>
                </a:moveTo>
                <a:lnTo>
                  <a:pt x="3571881" y="0"/>
                </a:lnTo>
                <a:cubicBezTo>
                  <a:pt x="3635004" y="0"/>
                  <a:pt x="3686175" y="51171"/>
                  <a:pt x="3686175" y="114294"/>
                </a:cubicBezTo>
                <a:lnTo>
                  <a:pt x="3686175" y="1009656"/>
                </a:lnTo>
                <a:cubicBezTo>
                  <a:pt x="3686175" y="1072779"/>
                  <a:pt x="3635004" y="1123950"/>
                  <a:pt x="3571881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260800" y="5357813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432250" y="55102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4503688" y="5595938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58341"/>
                </a:moveTo>
                <a:cubicBezTo>
                  <a:pt x="98293" y="58341"/>
                  <a:pt x="110430" y="46203"/>
                  <a:pt x="110430" y="31254"/>
                </a:cubicBezTo>
                <a:cubicBezTo>
                  <a:pt x="110430" y="16304"/>
                  <a:pt x="98293" y="4167"/>
                  <a:pt x="83344" y="4167"/>
                </a:cubicBezTo>
                <a:cubicBezTo>
                  <a:pt x="68394" y="4167"/>
                  <a:pt x="56257" y="16304"/>
                  <a:pt x="56257" y="31254"/>
                </a:cubicBezTo>
                <a:cubicBezTo>
                  <a:pt x="56257" y="46203"/>
                  <a:pt x="68394" y="58341"/>
                  <a:pt x="83344" y="58341"/>
                </a:cubicBezTo>
                <a:close/>
                <a:moveTo>
                  <a:pt x="25003" y="60424"/>
                </a:moveTo>
                <a:cubicBezTo>
                  <a:pt x="35353" y="60424"/>
                  <a:pt x="43755" y="52022"/>
                  <a:pt x="43755" y="41672"/>
                </a:cubicBezTo>
                <a:cubicBezTo>
                  <a:pt x="43755" y="31322"/>
                  <a:pt x="35353" y="22920"/>
                  <a:pt x="25003" y="22920"/>
                </a:cubicBezTo>
                <a:cubicBezTo>
                  <a:pt x="14653" y="22920"/>
                  <a:pt x="6251" y="31322"/>
                  <a:pt x="6251" y="41672"/>
                </a:cubicBezTo>
                <a:cubicBezTo>
                  <a:pt x="6251" y="52022"/>
                  <a:pt x="14653" y="60424"/>
                  <a:pt x="25003" y="60424"/>
                </a:cubicBezTo>
                <a:close/>
                <a:moveTo>
                  <a:pt x="0" y="108347"/>
                </a:moveTo>
                <a:lnTo>
                  <a:pt x="0" y="116681"/>
                </a:lnTo>
                <a:cubicBezTo>
                  <a:pt x="0" y="121291"/>
                  <a:pt x="3724" y="125016"/>
                  <a:pt x="8334" y="125016"/>
                </a:cubicBezTo>
                <a:lnTo>
                  <a:pt x="30915" y="125016"/>
                </a:lnTo>
                <a:cubicBezTo>
                  <a:pt x="29795" y="122463"/>
                  <a:pt x="29170" y="119650"/>
                  <a:pt x="29170" y="116681"/>
                </a:cubicBezTo>
                <a:lnTo>
                  <a:pt x="29170" y="112514"/>
                </a:lnTo>
                <a:cubicBezTo>
                  <a:pt x="29170" y="98658"/>
                  <a:pt x="34379" y="86000"/>
                  <a:pt x="42948" y="76416"/>
                </a:cubicBezTo>
                <a:cubicBezTo>
                  <a:pt x="39901" y="75504"/>
                  <a:pt x="36671" y="75009"/>
                  <a:pt x="33337" y="75009"/>
                </a:cubicBezTo>
                <a:cubicBezTo>
                  <a:pt x="14924" y="75009"/>
                  <a:pt x="0" y="89933"/>
                  <a:pt x="0" y="108347"/>
                </a:cubicBezTo>
                <a:close/>
                <a:moveTo>
                  <a:pt x="160437" y="41672"/>
                </a:moveTo>
                <a:cubicBezTo>
                  <a:pt x="160437" y="31322"/>
                  <a:pt x="152034" y="22920"/>
                  <a:pt x="141684" y="22920"/>
                </a:cubicBezTo>
                <a:cubicBezTo>
                  <a:pt x="131335" y="22920"/>
                  <a:pt x="122932" y="31322"/>
                  <a:pt x="122932" y="41672"/>
                </a:cubicBezTo>
                <a:cubicBezTo>
                  <a:pt x="122932" y="52022"/>
                  <a:pt x="131335" y="60424"/>
                  <a:pt x="141684" y="60424"/>
                </a:cubicBezTo>
                <a:cubicBezTo>
                  <a:pt x="152034" y="60424"/>
                  <a:pt x="160437" y="52022"/>
                  <a:pt x="160437" y="41672"/>
                </a:cubicBezTo>
                <a:close/>
                <a:moveTo>
                  <a:pt x="41672" y="112514"/>
                </a:moveTo>
                <a:lnTo>
                  <a:pt x="41672" y="116681"/>
                </a:lnTo>
                <a:cubicBezTo>
                  <a:pt x="41672" y="121291"/>
                  <a:pt x="45396" y="125016"/>
                  <a:pt x="50006" y="125016"/>
                </a:cubicBezTo>
                <a:lnTo>
                  <a:pt x="90845" y="125016"/>
                </a:lnTo>
                <a:cubicBezTo>
                  <a:pt x="88995" y="119390"/>
                  <a:pt x="89204" y="113452"/>
                  <a:pt x="93631" y="108347"/>
                </a:cubicBezTo>
                <a:cubicBezTo>
                  <a:pt x="89985" y="104128"/>
                  <a:pt x="88292" y="98007"/>
                  <a:pt x="90662" y="91860"/>
                </a:cubicBezTo>
                <a:cubicBezTo>
                  <a:pt x="92381" y="87407"/>
                  <a:pt x="94804" y="83240"/>
                  <a:pt x="97799" y="79541"/>
                </a:cubicBezTo>
                <a:cubicBezTo>
                  <a:pt x="99205" y="77822"/>
                  <a:pt x="100820" y="76494"/>
                  <a:pt x="102565" y="75530"/>
                </a:cubicBezTo>
                <a:cubicBezTo>
                  <a:pt x="96809" y="72535"/>
                  <a:pt x="90272" y="70842"/>
                  <a:pt x="83344" y="70842"/>
                </a:cubicBezTo>
                <a:cubicBezTo>
                  <a:pt x="60320" y="70842"/>
                  <a:pt x="41672" y="89490"/>
                  <a:pt x="41672" y="112514"/>
                </a:cubicBezTo>
                <a:close/>
                <a:moveTo>
                  <a:pt x="162677" y="101028"/>
                </a:moveTo>
                <a:cubicBezTo>
                  <a:pt x="164317" y="100091"/>
                  <a:pt x="165151" y="98137"/>
                  <a:pt x="164448" y="96340"/>
                </a:cubicBezTo>
                <a:cubicBezTo>
                  <a:pt x="163197" y="93111"/>
                  <a:pt x="161452" y="90063"/>
                  <a:pt x="159265" y="87381"/>
                </a:cubicBezTo>
                <a:cubicBezTo>
                  <a:pt x="158067" y="85896"/>
                  <a:pt x="155957" y="85636"/>
                  <a:pt x="154316" y="86599"/>
                </a:cubicBezTo>
                <a:cubicBezTo>
                  <a:pt x="148638" y="89881"/>
                  <a:pt x="141658" y="85870"/>
                  <a:pt x="141658" y="79281"/>
                </a:cubicBezTo>
                <a:cubicBezTo>
                  <a:pt x="141658" y="77379"/>
                  <a:pt x="140382" y="75687"/>
                  <a:pt x="138507" y="75400"/>
                </a:cubicBezTo>
                <a:cubicBezTo>
                  <a:pt x="135147" y="74879"/>
                  <a:pt x="131527" y="74879"/>
                  <a:pt x="128167" y="75400"/>
                </a:cubicBezTo>
                <a:cubicBezTo>
                  <a:pt x="126292" y="75687"/>
                  <a:pt x="125016" y="77379"/>
                  <a:pt x="125016" y="79281"/>
                </a:cubicBezTo>
                <a:cubicBezTo>
                  <a:pt x="125016" y="85844"/>
                  <a:pt x="118036" y="89881"/>
                  <a:pt x="112358" y="86599"/>
                </a:cubicBezTo>
                <a:cubicBezTo>
                  <a:pt x="110717" y="85662"/>
                  <a:pt x="108607" y="85922"/>
                  <a:pt x="107409" y="87381"/>
                </a:cubicBezTo>
                <a:cubicBezTo>
                  <a:pt x="105221" y="90063"/>
                  <a:pt x="103476" y="93111"/>
                  <a:pt x="102226" y="96340"/>
                </a:cubicBezTo>
                <a:cubicBezTo>
                  <a:pt x="101549" y="98111"/>
                  <a:pt x="102357" y="100065"/>
                  <a:pt x="103997" y="101002"/>
                </a:cubicBezTo>
                <a:cubicBezTo>
                  <a:pt x="109701" y="104284"/>
                  <a:pt x="109701" y="112332"/>
                  <a:pt x="103997" y="115639"/>
                </a:cubicBezTo>
                <a:cubicBezTo>
                  <a:pt x="102357" y="116577"/>
                  <a:pt x="101523" y="118530"/>
                  <a:pt x="102226" y="120301"/>
                </a:cubicBezTo>
                <a:cubicBezTo>
                  <a:pt x="103476" y="123531"/>
                  <a:pt x="105221" y="126578"/>
                  <a:pt x="107409" y="129261"/>
                </a:cubicBezTo>
                <a:cubicBezTo>
                  <a:pt x="108607" y="130746"/>
                  <a:pt x="110717" y="131006"/>
                  <a:pt x="112358" y="130042"/>
                </a:cubicBezTo>
                <a:cubicBezTo>
                  <a:pt x="118036" y="126761"/>
                  <a:pt x="125016" y="130798"/>
                  <a:pt x="125016" y="137361"/>
                </a:cubicBezTo>
                <a:cubicBezTo>
                  <a:pt x="125016" y="139262"/>
                  <a:pt x="126292" y="140955"/>
                  <a:pt x="128167" y="141242"/>
                </a:cubicBezTo>
                <a:cubicBezTo>
                  <a:pt x="131527" y="141763"/>
                  <a:pt x="135147" y="141763"/>
                  <a:pt x="138507" y="141242"/>
                </a:cubicBezTo>
                <a:cubicBezTo>
                  <a:pt x="140382" y="140955"/>
                  <a:pt x="141658" y="139262"/>
                  <a:pt x="141658" y="137361"/>
                </a:cubicBezTo>
                <a:cubicBezTo>
                  <a:pt x="141658" y="130798"/>
                  <a:pt x="148638" y="126761"/>
                  <a:pt x="154316" y="130042"/>
                </a:cubicBezTo>
                <a:cubicBezTo>
                  <a:pt x="155957" y="130980"/>
                  <a:pt x="158067" y="130719"/>
                  <a:pt x="159265" y="129261"/>
                </a:cubicBezTo>
                <a:cubicBezTo>
                  <a:pt x="161452" y="126578"/>
                  <a:pt x="163197" y="123531"/>
                  <a:pt x="164448" y="120301"/>
                </a:cubicBezTo>
                <a:cubicBezTo>
                  <a:pt x="165125" y="118530"/>
                  <a:pt x="164317" y="116577"/>
                  <a:pt x="162677" y="115639"/>
                </a:cubicBezTo>
                <a:cubicBezTo>
                  <a:pt x="156973" y="112358"/>
                  <a:pt x="156973" y="104310"/>
                  <a:pt x="162677" y="101002"/>
                </a:cubicBezTo>
                <a:close/>
                <a:moveTo>
                  <a:pt x="122932" y="108347"/>
                </a:moveTo>
                <a:cubicBezTo>
                  <a:pt x="122932" y="102597"/>
                  <a:pt x="127600" y="97929"/>
                  <a:pt x="133350" y="97929"/>
                </a:cubicBezTo>
                <a:cubicBezTo>
                  <a:pt x="139100" y="97929"/>
                  <a:pt x="143768" y="102597"/>
                  <a:pt x="143768" y="108347"/>
                </a:cubicBezTo>
                <a:cubicBezTo>
                  <a:pt x="143768" y="114097"/>
                  <a:pt x="139100" y="118765"/>
                  <a:pt x="133350" y="118765"/>
                </a:cubicBezTo>
                <a:cubicBezTo>
                  <a:pt x="127600" y="118765"/>
                  <a:pt x="122932" y="114097"/>
                  <a:pt x="122932" y="10834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4813250" y="5548313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精准角色分工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32250" y="5891213"/>
            <a:ext cx="342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Prefill 节点</a:t>
            </a: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快速生成并 Offload 缓存；</a:t>
            </a:r>
            <a:r>
              <a:rPr lang="en-US" sz="105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Decode 节点</a:t>
            </a: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NIXL 抓取并持续解码。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21625" y="5357813"/>
            <a:ext cx="3686175" cy="1123950"/>
          </a:xfrm>
          <a:custGeom>
            <a:avLst/>
            <a:gdLst/>
            <a:ahLst/>
            <a:cxnLst/>
            <a:rect l="l" t="t" r="r" b="b"/>
            <a:pathLst>
              <a:path w="3686175" h="1123950">
                <a:moveTo>
                  <a:pt x="38100" y="0"/>
                </a:moveTo>
                <a:lnTo>
                  <a:pt x="3571881" y="0"/>
                </a:lnTo>
                <a:cubicBezTo>
                  <a:pt x="3635004" y="0"/>
                  <a:pt x="3686175" y="51171"/>
                  <a:pt x="3686175" y="114294"/>
                </a:cubicBezTo>
                <a:lnTo>
                  <a:pt x="3686175" y="1009656"/>
                </a:lnTo>
                <a:cubicBezTo>
                  <a:pt x="3686175" y="1072779"/>
                  <a:pt x="3635004" y="1123950"/>
                  <a:pt x="3571881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121625" y="5357813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293075" y="55102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372847" y="5595938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678" y="-6485"/>
                </a:moveTo>
                <a:cubicBezTo>
                  <a:pt x="8230" y="-8933"/>
                  <a:pt x="4271" y="-8933"/>
                  <a:pt x="1849" y="-6485"/>
                </a:cubicBezTo>
                <a:cubicBezTo>
                  <a:pt x="-573" y="-4037"/>
                  <a:pt x="-599" y="-78"/>
                  <a:pt x="1823" y="2370"/>
                </a:cubicBezTo>
                <a:lnTo>
                  <a:pt x="139340" y="139887"/>
                </a:lnTo>
                <a:cubicBezTo>
                  <a:pt x="141789" y="142335"/>
                  <a:pt x="145747" y="142335"/>
                  <a:pt x="148170" y="139887"/>
                </a:cubicBezTo>
                <a:cubicBezTo>
                  <a:pt x="150592" y="137439"/>
                  <a:pt x="150618" y="133480"/>
                  <a:pt x="148170" y="131058"/>
                </a:cubicBezTo>
                <a:lnTo>
                  <a:pt x="116395" y="99283"/>
                </a:lnTo>
                <a:cubicBezTo>
                  <a:pt x="117489" y="98398"/>
                  <a:pt x="118556" y="97434"/>
                  <a:pt x="119546" y="96444"/>
                </a:cubicBezTo>
                <a:lnTo>
                  <a:pt x="138064" y="77926"/>
                </a:lnTo>
                <a:cubicBezTo>
                  <a:pt x="145695" y="70295"/>
                  <a:pt x="149993" y="59929"/>
                  <a:pt x="149993" y="49121"/>
                </a:cubicBezTo>
                <a:cubicBezTo>
                  <a:pt x="149993" y="26618"/>
                  <a:pt x="131761" y="8360"/>
                  <a:pt x="109232" y="8360"/>
                </a:cubicBezTo>
                <a:cubicBezTo>
                  <a:pt x="99518" y="8360"/>
                  <a:pt x="90194" y="11824"/>
                  <a:pt x="82849" y="18049"/>
                </a:cubicBezTo>
                <a:cubicBezTo>
                  <a:pt x="88136" y="20680"/>
                  <a:pt x="92928" y="24170"/>
                  <a:pt x="97043" y="28337"/>
                </a:cubicBezTo>
                <a:cubicBezTo>
                  <a:pt x="100716" y="26175"/>
                  <a:pt x="104909" y="25029"/>
                  <a:pt x="109232" y="25029"/>
                </a:cubicBezTo>
                <a:cubicBezTo>
                  <a:pt x="122541" y="25029"/>
                  <a:pt x="133324" y="35812"/>
                  <a:pt x="133324" y="49121"/>
                </a:cubicBezTo>
                <a:cubicBezTo>
                  <a:pt x="133324" y="55502"/>
                  <a:pt x="130798" y="61622"/>
                  <a:pt x="126266" y="66154"/>
                </a:cubicBezTo>
                <a:lnTo>
                  <a:pt x="107748" y="84672"/>
                </a:lnTo>
                <a:cubicBezTo>
                  <a:pt x="106732" y="85688"/>
                  <a:pt x="105638" y="86599"/>
                  <a:pt x="104466" y="87407"/>
                </a:cubicBezTo>
                <a:lnTo>
                  <a:pt x="92095" y="75035"/>
                </a:lnTo>
                <a:cubicBezTo>
                  <a:pt x="96392" y="74801"/>
                  <a:pt x="99830" y="71285"/>
                  <a:pt x="99960" y="66935"/>
                </a:cubicBezTo>
                <a:cubicBezTo>
                  <a:pt x="99960" y="66597"/>
                  <a:pt x="99960" y="66258"/>
                  <a:pt x="99960" y="65920"/>
                </a:cubicBezTo>
                <a:cubicBezTo>
                  <a:pt x="99960" y="43443"/>
                  <a:pt x="81755" y="25055"/>
                  <a:pt x="59200" y="25055"/>
                </a:cubicBezTo>
                <a:cubicBezTo>
                  <a:pt x="54199" y="25055"/>
                  <a:pt x="49329" y="25967"/>
                  <a:pt x="44745" y="27712"/>
                </a:cubicBezTo>
                <a:lnTo>
                  <a:pt x="10678" y="-6485"/>
                </a:lnTo>
                <a:close/>
                <a:moveTo>
                  <a:pt x="58835" y="41672"/>
                </a:moveTo>
                <a:cubicBezTo>
                  <a:pt x="58992" y="41672"/>
                  <a:pt x="59122" y="41672"/>
                  <a:pt x="59278" y="41672"/>
                </a:cubicBezTo>
                <a:cubicBezTo>
                  <a:pt x="63211" y="41672"/>
                  <a:pt x="66961" y="42636"/>
                  <a:pt x="70243" y="44328"/>
                </a:cubicBezTo>
                <a:cubicBezTo>
                  <a:pt x="70712" y="44641"/>
                  <a:pt x="71181" y="44927"/>
                  <a:pt x="71676" y="45136"/>
                </a:cubicBezTo>
                <a:cubicBezTo>
                  <a:pt x="78656" y="49381"/>
                  <a:pt x="83344" y="57090"/>
                  <a:pt x="83344" y="65868"/>
                </a:cubicBezTo>
                <a:cubicBezTo>
                  <a:pt x="83344" y="65972"/>
                  <a:pt x="83344" y="66076"/>
                  <a:pt x="83344" y="66180"/>
                </a:cubicBezTo>
                <a:lnTo>
                  <a:pt x="58835" y="41672"/>
                </a:lnTo>
                <a:close/>
                <a:moveTo>
                  <a:pt x="90168" y="108347"/>
                </a:moveTo>
                <a:lnTo>
                  <a:pt x="50006" y="68186"/>
                </a:lnTo>
                <a:cubicBezTo>
                  <a:pt x="50319" y="90220"/>
                  <a:pt x="68134" y="108008"/>
                  <a:pt x="90141" y="108321"/>
                </a:cubicBezTo>
                <a:close/>
                <a:moveTo>
                  <a:pt x="36385" y="54564"/>
                </a:moveTo>
                <a:lnTo>
                  <a:pt x="24586" y="42766"/>
                </a:lnTo>
                <a:lnTo>
                  <a:pt x="11929" y="55424"/>
                </a:lnTo>
                <a:cubicBezTo>
                  <a:pt x="4297" y="63055"/>
                  <a:pt x="0" y="73421"/>
                  <a:pt x="0" y="84229"/>
                </a:cubicBezTo>
                <a:cubicBezTo>
                  <a:pt x="0" y="106732"/>
                  <a:pt x="18231" y="124990"/>
                  <a:pt x="40760" y="124990"/>
                </a:cubicBezTo>
                <a:cubicBezTo>
                  <a:pt x="50449" y="124990"/>
                  <a:pt x="59799" y="121526"/>
                  <a:pt x="67144" y="115301"/>
                </a:cubicBezTo>
                <a:cubicBezTo>
                  <a:pt x="61857" y="112670"/>
                  <a:pt x="57038" y="109180"/>
                  <a:pt x="52923" y="105013"/>
                </a:cubicBezTo>
                <a:cubicBezTo>
                  <a:pt x="49277" y="107149"/>
                  <a:pt x="45084" y="108295"/>
                  <a:pt x="40760" y="108295"/>
                </a:cubicBezTo>
                <a:cubicBezTo>
                  <a:pt x="27451" y="108295"/>
                  <a:pt x="16669" y="97512"/>
                  <a:pt x="16669" y="84203"/>
                </a:cubicBezTo>
                <a:cubicBezTo>
                  <a:pt x="16669" y="77822"/>
                  <a:pt x="19195" y="71702"/>
                  <a:pt x="23727" y="67170"/>
                </a:cubicBezTo>
                <a:lnTo>
                  <a:pt x="36385" y="5451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674075" y="5548313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生命周期独立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93075" y="5891213"/>
            <a:ext cx="342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 </a:t>
            </a:r>
            <a:r>
              <a:rPr lang="en-US" sz="1050" b="1" dirty="0">
                <a:solidFill>
                  <a:srgbClr val="4091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PD (Prefill-Decode Disaggregation)</a:t>
            </a:r>
            <a:r>
              <a:rPr lang="en-US" sz="105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架构下，两端独立管理，实现无缝数据穿透。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5F7FA"/>
              </a:gs>
              <a:gs pos="100000">
                <a:srgbClr val="E8EDF2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https://kimi-web-img.moonshot.cn/img/images.stockcake.com/0f4b4731754318ae9515dc0102f44d7c90fd750a.jpg"/>
          <p:cNvPicPr>
            <a:picLocks noChangeAspect="1"/>
          </p:cNvPicPr>
          <p:nvPr/>
        </p:nvPicPr>
        <p:blipFill>
          <a:blip r:embed="rId3">
            <a:alphaModFix amt="10000"/>
          </a:blip>
          <a:srcRect l="183" r="18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6A4F">
                  <a:alpha val="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527A8A">
                  <a:alpha val="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295275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支撑下一代大模型推理的核心价值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8763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381000" y="1162050"/>
            <a:ext cx="2714625" cy="4019550"/>
          </a:xfrm>
          <a:custGeom>
            <a:avLst/>
            <a:gdLst/>
            <a:ahLst/>
            <a:cxnLst/>
            <a:rect l="l" t="t" r="r" b="b"/>
            <a:pathLst>
              <a:path w="2714625" h="401955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67151"/>
                </a:lnTo>
                <a:cubicBezTo>
                  <a:pt x="2714625" y="3951319"/>
                  <a:pt x="2646394" y="4019550"/>
                  <a:pt x="2562226" y="4019550"/>
                </a:cubicBezTo>
                <a:lnTo>
                  <a:pt x="152399" y="4019550"/>
                </a:lnTo>
                <a:cubicBezTo>
                  <a:pt x="68231" y="4019550"/>
                  <a:pt x="0" y="3951319"/>
                  <a:pt x="0" y="38671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381000" y="1162050"/>
            <a:ext cx="2714625" cy="38100"/>
          </a:xfrm>
          <a:custGeom>
            <a:avLst/>
            <a:gdLst/>
            <a:ahLst/>
            <a:cxnLst/>
            <a:rect l="l" t="t" r="r" b="b"/>
            <a:pathLst>
              <a:path w="2714625" h="381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357313" y="1409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1566863" y="16192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174531" y="0"/>
                  <a:pt x="177611" y="670"/>
                  <a:pt x="180424" y="1942"/>
                </a:cubicBezTo>
                <a:lnTo>
                  <a:pt x="306601" y="55453"/>
                </a:lnTo>
                <a:cubicBezTo>
                  <a:pt x="321335" y="61682"/>
                  <a:pt x="332318" y="76215"/>
                  <a:pt x="332251" y="93762"/>
                </a:cubicBezTo>
                <a:cubicBezTo>
                  <a:pt x="331916" y="160199"/>
                  <a:pt x="304592" y="281754"/>
                  <a:pt x="189198" y="337006"/>
                </a:cubicBezTo>
                <a:cubicBezTo>
                  <a:pt x="178013" y="342364"/>
                  <a:pt x="165021" y="342364"/>
                  <a:pt x="153836" y="337006"/>
                </a:cubicBezTo>
                <a:cubicBezTo>
                  <a:pt x="38375" y="281754"/>
                  <a:pt x="11117" y="160199"/>
                  <a:pt x="10783" y="93762"/>
                </a:cubicBezTo>
                <a:cubicBezTo>
                  <a:pt x="10716" y="76215"/>
                  <a:pt x="21699" y="61682"/>
                  <a:pt x="36433" y="55453"/>
                </a:cubicBezTo>
                <a:lnTo>
                  <a:pt x="162543" y="1942"/>
                </a:lnTo>
                <a:cubicBezTo>
                  <a:pt x="165355" y="670"/>
                  <a:pt x="168369" y="0"/>
                  <a:pt x="171450" y="0"/>
                </a:cubicBezTo>
                <a:close/>
                <a:moveTo>
                  <a:pt x="171450" y="44738"/>
                </a:moveTo>
                <a:lnTo>
                  <a:pt x="171450" y="297961"/>
                </a:lnTo>
                <a:cubicBezTo>
                  <a:pt x="263872" y="253224"/>
                  <a:pt x="288719" y="154104"/>
                  <a:pt x="289322" y="94766"/>
                </a:cubicBezTo>
                <a:lnTo>
                  <a:pt x="171450" y="44805"/>
                </a:lnTo>
                <a:lnTo>
                  <a:pt x="171450" y="4480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309688" y="232410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极致安全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1500" y="2705100"/>
            <a:ext cx="2333625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Rust RAII Guard</a:t>
            </a:r>
            <a:r>
              <a:rPr lang="en-US" sz="12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与状态机在编译期杜绝内存泄漏与状态冲突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86125" y="1162050"/>
            <a:ext cx="2714625" cy="4019550"/>
          </a:xfrm>
          <a:custGeom>
            <a:avLst/>
            <a:gdLst/>
            <a:ahLst/>
            <a:cxnLst/>
            <a:rect l="l" t="t" r="r" b="b"/>
            <a:pathLst>
              <a:path w="2714625" h="401955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67151"/>
                </a:lnTo>
                <a:cubicBezTo>
                  <a:pt x="2714625" y="3951319"/>
                  <a:pt x="2646394" y="4019550"/>
                  <a:pt x="2562226" y="4019550"/>
                </a:cubicBezTo>
                <a:lnTo>
                  <a:pt x="152399" y="4019550"/>
                </a:lnTo>
                <a:cubicBezTo>
                  <a:pt x="68231" y="4019550"/>
                  <a:pt x="0" y="3951319"/>
                  <a:pt x="0" y="38671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286125" y="1162050"/>
            <a:ext cx="2714625" cy="38100"/>
          </a:xfrm>
          <a:custGeom>
            <a:avLst/>
            <a:gdLst/>
            <a:ahLst/>
            <a:cxnLst/>
            <a:rect l="l" t="t" r="r" b="b"/>
            <a:pathLst>
              <a:path w="2714625" h="381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27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262438" y="1409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27A8A"/>
              </a:gs>
              <a:gs pos="100000">
                <a:srgbClr val="6B8E9F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471988" y="16192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1431" y="42863"/>
                </a:moveTo>
                <a:cubicBezTo>
                  <a:pt x="9577" y="42863"/>
                  <a:pt x="0" y="52440"/>
                  <a:pt x="0" y="64294"/>
                </a:cubicBezTo>
                <a:cubicBezTo>
                  <a:pt x="0" y="76148"/>
                  <a:pt x="9577" y="85725"/>
                  <a:pt x="21431" y="85725"/>
                </a:cubicBezTo>
                <a:lnTo>
                  <a:pt x="79497" y="85725"/>
                </a:lnTo>
                <a:cubicBezTo>
                  <a:pt x="87734" y="104678"/>
                  <a:pt x="106620" y="117872"/>
                  <a:pt x="128588" y="117872"/>
                </a:cubicBezTo>
                <a:cubicBezTo>
                  <a:pt x="150555" y="117872"/>
                  <a:pt x="169441" y="104678"/>
                  <a:pt x="177678" y="85725"/>
                </a:cubicBezTo>
                <a:lnTo>
                  <a:pt x="321469" y="85725"/>
                </a:lnTo>
                <a:cubicBezTo>
                  <a:pt x="333323" y="85725"/>
                  <a:pt x="342900" y="76148"/>
                  <a:pt x="342900" y="64294"/>
                </a:cubicBezTo>
                <a:cubicBezTo>
                  <a:pt x="342900" y="52440"/>
                  <a:pt x="333323" y="42863"/>
                  <a:pt x="321469" y="42863"/>
                </a:cubicBezTo>
                <a:lnTo>
                  <a:pt x="177678" y="42863"/>
                </a:lnTo>
                <a:cubicBezTo>
                  <a:pt x="169441" y="23909"/>
                  <a:pt x="150555" y="10716"/>
                  <a:pt x="128588" y="10716"/>
                </a:cubicBezTo>
                <a:cubicBezTo>
                  <a:pt x="106620" y="10716"/>
                  <a:pt x="87734" y="23909"/>
                  <a:pt x="79497" y="42863"/>
                </a:cubicBezTo>
                <a:lnTo>
                  <a:pt x="21431" y="42863"/>
                </a:lnTo>
                <a:close/>
                <a:moveTo>
                  <a:pt x="21431" y="150019"/>
                </a:moveTo>
                <a:cubicBezTo>
                  <a:pt x="9577" y="150019"/>
                  <a:pt x="0" y="159596"/>
                  <a:pt x="0" y="171450"/>
                </a:cubicBezTo>
                <a:cubicBezTo>
                  <a:pt x="0" y="183304"/>
                  <a:pt x="9577" y="192881"/>
                  <a:pt x="21431" y="192881"/>
                </a:cubicBezTo>
                <a:lnTo>
                  <a:pt x="186653" y="192881"/>
                </a:lnTo>
                <a:cubicBezTo>
                  <a:pt x="194890" y="211835"/>
                  <a:pt x="213777" y="225028"/>
                  <a:pt x="235744" y="225028"/>
                </a:cubicBezTo>
                <a:cubicBezTo>
                  <a:pt x="257711" y="225028"/>
                  <a:pt x="276597" y="211835"/>
                  <a:pt x="284835" y="192881"/>
                </a:cubicBezTo>
                <a:lnTo>
                  <a:pt x="321469" y="192881"/>
                </a:lnTo>
                <a:cubicBezTo>
                  <a:pt x="333323" y="192881"/>
                  <a:pt x="342900" y="183304"/>
                  <a:pt x="342900" y="171450"/>
                </a:cubicBezTo>
                <a:cubicBezTo>
                  <a:pt x="342900" y="159596"/>
                  <a:pt x="333323" y="150019"/>
                  <a:pt x="321469" y="150019"/>
                </a:cubicBezTo>
                <a:lnTo>
                  <a:pt x="284835" y="150019"/>
                </a:lnTo>
                <a:cubicBezTo>
                  <a:pt x="276597" y="131065"/>
                  <a:pt x="257711" y="117872"/>
                  <a:pt x="235744" y="117872"/>
                </a:cubicBezTo>
                <a:cubicBezTo>
                  <a:pt x="213777" y="117872"/>
                  <a:pt x="194890" y="131065"/>
                  <a:pt x="186653" y="150019"/>
                </a:cubicBezTo>
                <a:lnTo>
                  <a:pt x="21431" y="150019"/>
                </a:lnTo>
                <a:close/>
                <a:moveTo>
                  <a:pt x="21431" y="257175"/>
                </a:moveTo>
                <a:cubicBezTo>
                  <a:pt x="9577" y="257175"/>
                  <a:pt x="0" y="266752"/>
                  <a:pt x="0" y="278606"/>
                </a:cubicBezTo>
                <a:cubicBezTo>
                  <a:pt x="0" y="290460"/>
                  <a:pt x="9577" y="300038"/>
                  <a:pt x="21431" y="300038"/>
                </a:cubicBezTo>
                <a:lnTo>
                  <a:pt x="58065" y="300038"/>
                </a:lnTo>
                <a:cubicBezTo>
                  <a:pt x="66303" y="318991"/>
                  <a:pt x="85189" y="332184"/>
                  <a:pt x="107156" y="332184"/>
                </a:cubicBezTo>
                <a:cubicBezTo>
                  <a:pt x="129123" y="332184"/>
                  <a:pt x="148010" y="318991"/>
                  <a:pt x="156247" y="300038"/>
                </a:cubicBezTo>
                <a:lnTo>
                  <a:pt x="321469" y="300038"/>
                </a:lnTo>
                <a:cubicBezTo>
                  <a:pt x="333323" y="300038"/>
                  <a:pt x="342900" y="290460"/>
                  <a:pt x="342900" y="278606"/>
                </a:cubicBezTo>
                <a:cubicBezTo>
                  <a:pt x="342900" y="266752"/>
                  <a:pt x="333323" y="257175"/>
                  <a:pt x="321469" y="257175"/>
                </a:cubicBezTo>
                <a:lnTo>
                  <a:pt x="156247" y="257175"/>
                </a:lnTo>
                <a:cubicBezTo>
                  <a:pt x="148010" y="238222"/>
                  <a:pt x="129123" y="225028"/>
                  <a:pt x="107156" y="225028"/>
                </a:cubicBezTo>
                <a:cubicBezTo>
                  <a:pt x="85189" y="225028"/>
                  <a:pt x="66303" y="238222"/>
                  <a:pt x="58065" y="257175"/>
                </a:cubicBezTo>
                <a:lnTo>
                  <a:pt x="21431" y="25717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214813" y="232410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高度灵活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76625" y="2705100"/>
            <a:ext cx="2333625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可插拔驱逐后端、灵活缓存层级支持</a:t>
            </a:r>
            <a:r>
              <a:rPr lang="en-US" sz="1200" b="1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异构硬件的任意组合适配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91250" y="1162050"/>
            <a:ext cx="2714625" cy="4019550"/>
          </a:xfrm>
          <a:custGeom>
            <a:avLst/>
            <a:gdLst/>
            <a:ahLst/>
            <a:cxnLst/>
            <a:rect l="l" t="t" r="r" b="b"/>
            <a:pathLst>
              <a:path w="2714625" h="401955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67151"/>
                </a:lnTo>
                <a:cubicBezTo>
                  <a:pt x="2714625" y="3951319"/>
                  <a:pt x="2646394" y="4019550"/>
                  <a:pt x="2562226" y="4019550"/>
                </a:cubicBezTo>
                <a:lnTo>
                  <a:pt x="152399" y="4019550"/>
                </a:lnTo>
                <a:cubicBezTo>
                  <a:pt x="68231" y="4019550"/>
                  <a:pt x="0" y="3951319"/>
                  <a:pt x="0" y="38671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6191250" y="1162050"/>
            <a:ext cx="2714625" cy="38100"/>
          </a:xfrm>
          <a:custGeom>
            <a:avLst/>
            <a:gdLst/>
            <a:ahLst/>
            <a:cxnLst/>
            <a:rect l="l" t="t" r="r" b="b"/>
            <a:pathLst>
              <a:path w="2714625" h="381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0916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7167563" y="1409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0916C"/>
              </a:gs>
              <a:gs pos="100000">
                <a:srgbClr val="52B788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7377113" y="16192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192881" y="64294"/>
                </a:moveTo>
                <a:cubicBezTo>
                  <a:pt x="192881" y="52466"/>
                  <a:pt x="183278" y="42863"/>
                  <a:pt x="171450" y="42863"/>
                </a:cubicBezTo>
                <a:cubicBezTo>
                  <a:pt x="159622" y="42863"/>
                  <a:pt x="150019" y="52466"/>
                  <a:pt x="150019" y="64294"/>
                </a:cubicBezTo>
                <a:cubicBezTo>
                  <a:pt x="150019" y="76122"/>
                  <a:pt x="159622" y="85725"/>
                  <a:pt x="171450" y="85725"/>
                </a:cubicBezTo>
                <a:cubicBezTo>
                  <a:pt x="183278" y="85725"/>
                  <a:pt x="192881" y="76122"/>
                  <a:pt x="192881" y="64294"/>
                </a:cubicBezTo>
                <a:close/>
                <a:moveTo>
                  <a:pt x="171450" y="278606"/>
                </a:moveTo>
                <a:cubicBezTo>
                  <a:pt x="195091" y="278606"/>
                  <a:pt x="214313" y="259385"/>
                  <a:pt x="214313" y="235744"/>
                </a:cubicBezTo>
                <a:cubicBezTo>
                  <a:pt x="214313" y="224894"/>
                  <a:pt x="210294" y="214915"/>
                  <a:pt x="203597" y="207414"/>
                </a:cubicBezTo>
                <a:lnTo>
                  <a:pt x="250143" y="114389"/>
                </a:lnTo>
                <a:cubicBezTo>
                  <a:pt x="254094" y="106420"/>
                  <a:pt x="250880" y="96775"/>
                  <a:pt x="242977" y="92824"/>
                </a:cubicBezTo>
                <a:cubicBezTo>
                  <a:pt x="235074" y="88873"/>
                  <a:pt x="225363" y="92087"/>
                  <a:pt x="221412" y="99990"/>
                </a:cubicBezTo>
                <a:lnTo>
                  <a:pt x="174866" y="193015"/>
                </a:lnTo>
                <a:cubicBezTo>
                  <a:pt x="173727" y="192948"/>
                  <a:pt x="172589" y="192881"/>
                  <a:pt x="171450" y="192881"/>
                </a:cubicBezTo>
                <a:cubicBezTo>
                  <a:pt x="147809" y="192881"/>
                  <a:pt x="128588" y="212102"/>
                  <a:pt x="128588" y="235744"/>
                </a:cubicBezTo>
                <a:cubicBezTo>
                  <a:pt x="128588" y="259385"/>
                  <a:pt x="147809" y="278606"/>
                  <a:pt x="171450" y="278606"/>
                </a:cubicBezTo>
                <a:close/>
                <a:moveTo>
                  <a:pt x="117872" y="96441"/>
                </a:moveTo>
                <a:cubicBezTo>
                  <a:pt x="117872" y="84612"/>
                  <a:pt x="108269" y="75009"/>
                  <a:pt x="96441" y="75009"/>
                </a:cubicBezTo>
                <a:cubicBezTo>
                  <a:pt x="84612" y="75009"/>
                  <a:pt x="75009" y="84612"/>
                  <a:pt x="75009" y="96441"/>
                </a:cubicBezTo>
                <a:cubicBezTo>
                  <a:pt x="75009" y="108269"/>
                  <a:pt x="84612" y="117872"/>
                  <a:pt x="96441" y="117872"/>
                </a:cubicBezTo>
                <a:cubicBezTo>
                  <a:pt x="108269" y="117872"/>
                  <a:pt x="117872" y="108269"/>
                  <a:pt x="117872" y="96441"/>
                </a:cubicBezTo>
                <a:close/>
                <a:moveTo>
                  <a:pt x="64294" y="192881"/>
                </a:moveTo>
                <a:cubicBezTo>
                  <a:pt x="76122" y="192881"/>
                  <a:pt x="85725" y="183278"/>
                  <a:pt x="85725" y="171450"/>
                </a:cubicBezTo>
                <a:cubicBezTo>
                  <a:pt x="85725" y="159622"/>
                  <a:pt x="76122" y="150019"/>
                  <a:pt x="64294" y="150019"/>
                </a:cubicBezTo>
                <a:cubicBezTo>
                  <a:pt x="52466" y="150019"/>
                  <a:pt x="42863" y="159622"/>
                  <a:pt x="42863" y="171450"/>
                </a:cubicBezTo>
                <a:cubicBezTo>
                  <a:pt x="42863" y="183278"/>
                  <a:pt x="52466" y="192881"/>
                  <a:pt x="64294" y="192881"/>
                </a:cubicBezTo>
                <a:close/>
                <a:moveTo>
                  <a:pt x="300038" y="171450"/>
                </a:moveTo>
                <a:cubicBezTo>
                  <a:pt x="300038" y="159622"/>
                  <a:pt x="290434" y="150019"/>
                  <a:pt x="278606" y="150019"/>
                </a:cubicBezTo>
                <a:cubicBezTo>
                  <a:pt x="266778" y="150019"/>
                  <a:pt x="257175" y="159622"/>
                  <a:pt x="257175" y="171450"/>
                </a:cubicBezTo>
                <a:cubicBezTo>
                  <a:pt x="257175" y="183278"/>
                  <a:pt x="266778" y="192881"/>
                  <a:pt x="278606" y="192881"/>
                </a:cubicBezTo>
                <a:cubicBezTo>
                  <a:pt x="290434" y="192881"/>
                  <a:pt x="300038" y="183278"/>
                  <a:pt x="300038" y="1714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6848921" y="2324100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I/O 性能最大化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81750" y="2705100"/>
            <a:ext cx="2333625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异步传输流水线与 </a:t>
            </a:r>
            <a:r>
              <a:rPr lang="en-US" sz="1200" b="1" dirty="0">
                <a:solidFill>
                  <a:srgbClr val="4091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Compute-Copy Overlap</a:t>
            </a:r>
            <a:r>
              <a:rPr lang="en-US" sz="12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让硬件带宽不留死角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096375" y="1162050"/>
            <a:ext cx="2714625" cy="4019550"/>
          </a:xfrm>
          <a:custGeom>
            <a:avLst/>
            <a:gdLst/>
            <a:ahLst/>
            <a:cxnLst/>
            <a:rect l="l" t="t" r="r" b="b"/>
            <a:pathLst>
              <a:path w="2714625" h="401955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67151"/>
                </a:lnTo>
                <a:cubicBezTo>
                  <a:pt x="2714625" y="3951319"/>
                  <a:pt x="2646394" y="4019550"/>
                  <a:pt x="2562226" y="4019550"/>
                </a:cubicBezTo>
                <a:lnTo>
                  <a:pt x="152399" y="4019550"/>
                </a:lnTo>
                <a:cubicBezTo>
                  <a:pt x="68231" y="4019550"/>
                  <a:pt x="0" y="3951319"/>
                  <a:pt x="0" y="38671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9096375" y="1162050"/>
            <a:ext cx="2714625" cy="38100"/>
          </a:xfrm>
          <a:custGeom>
            <a:avLst/>
            <a:gdLst/>
            <a:ahLst/>
            <a:cxnLst/>
            <a:rect l="l" t="t" r="r" b="b"/>
            <a:pathLst>
              <a:path w="2714625" h="381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10072688" y="1409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527A8A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10260806" y="161925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66092" y="58936"/>
                </a:moveTo>
                <a:lnTo>
                  <a:pt x="219670" y="58936"/>
                </a:lnTo>
                <a:lnTo>
                  <a:pt x="219670" y="91083"/>
                </a:lnTo>
                <a:lnTo>
                  <a:pt x="166092" y="91083"/>
                </a:lnTo>
                <a:lnTo>
                  <a:pt x="166092" y="58936"/>
                </a:lnTo>
                <a:close/>
                <a:moveTo>
                  <a:pt x="160734" y="21431"/>
                </a:moveTo>
                <a:cubicBezTo>
                  <a:pt x="142987" y="21431"/>
                  <a:pt x="128588" y="35830"/>
                  <a:pt x="128588" y="53578"/>
                </a:cubicBezTo>
                <a:lnTo>
                  <a:pt x="128588" y="96441"/>
                </a:lnTo>
                <a:cubicBezTo>
                  <a:pt x="128588" y="114188"/>
                  <a:pt x="142987" y="128588"/>
                  <a:pt x="160734" y="128588"/>
                </a:cubicBezTo>
                <a:lnTo>
                  <a:pt x="171450" y="128588"/>
                </a:lnTo>
                <a:lnTo>
                  <a:pt x="171450" y="150019"/>
                </a:lnTo>
                <a:lnTo>
                  <a:pt x="21431" y="150019"/>
                </a:lnTo>
                <a:cubicBezTo>
                  <a:pt x="9577" y="150019"/>
                  <a:pt x="0" y="159596"/>
                  <a:pt x="0" y="171450"/>
                </a:cubicBezTo>
                <a:cubicBezTo>
                  <a:pt x="0" y="183304"/>
                  <a:pt x="9577" y="192881"/>
                  <a:pt x="21431" y="192881"/>
                </a:cubicBezTo>
                <a:lnTo>
                  <a:pt x="85725" y="192881"/>
                </a:lnTo>
                <a:lnTo>
                  <a:pt x="85725" y="214313"/>
                </a:lnTo>
                <a:lnTo>
                  <a:pt x="75009" y="214313"/>
                </a:lnTo>
                <a:cubicBezTo>
                  <a:pt x="57262" y="214313"/>
                  <a:pt x="42863" y="228712"/>
                  <a:pt x="42863" y="246459"/>
                </a:cubicBezTo>
                <a:lnTo>
                  <a:pt x="42863" y="289322"/>
                </a:lnTo>
                <a:cubicBezTo>
                  <a:pt x="42863" y="307070"/>
                  <a:pt x="57262" y="321469"/>
                  <a:pt x="75009" y="321469"/>
                </a:cubicBezTo>
                <a:lnTo>
                  <a:pt x="139303" y="321469"/>
                </a:lnTo>
                <a:cubicBezTo>
                  <a:pt x="157051" y="321469"/>
                  <a:pt x="171450" y="307070"/>
                  <a:pt x="171450" y="289322"/>
                </a:cubicBezTo>
                <a:lnTo>
                  <a:pt x="171450" y="246459"/>
                </a:lnTo>
                <a:cubicBezTo>
                  <a:pt x="171450" y="228712"/>
                  <a:pt x="157051" y="214313"/>
                  <a:pt x="139303" y="214313"/>
                </a:cubicBezTo>
                <a:lnTo>
                  <a:pt x="128588" y="214313"/>
                </a:lnTo>
                <a:lnTo>
                  <a:pt x="128588" y="192881"/>
                </a:lnTo>
                <a:lnTo>
                  <a:pt x="257175" y="192881"/>
                </a:lnTo>
                <a:lnTo>
                  <a:pt x="257175" y="214313"/>
                </a:lnTo>
                <a:lnTo>
                  <a:pt x="246459" y="214313"/>
                </a:lnTo>
                <a:cubicBezTo>
                  <a:pt x="228712" y="214313"/>
                  <a:pt x="214313" y="228712"/>
                  <a:pt x="214313" y="246459"/>
                </a:cubicBezTo>
                <a:lnTo>
                  <a:pt x="214313" y="289322"/>
                </a:lnTo>
                <a:cubicBezTo>
                  <a:pt x="214313" y="307070"/>
                  <a:pt x="228712" y="321469"/>
                  <a:pt x="246459" y="321469"/>
                </a:cubicBezTo>
                <a:lnTo>
                  <a:pt x="310753" y="321469"/>
                </a:lnTo>
                <a:cubicBezTo>
                  <a:pt x="328501" y="321469"/>
                  <a:pt x="342900" y="307070"/>
                  <a:pt x="342900" y="289322"/>
                </a:cubicBezTo>
                <a:lnTo>
                  <a:pt x="342900" y="246459"/>
                </a:lnTo>
                <a:cubicBezTo>
                  <a:pt x="342900" y="228712"/>
                  <a:pt x="328501" y="214313"/>
                  <a:pt x="310753" y="214313"/>
                </a:cubicBezTo>
                <a:lnTo>
                  <a:pt x="300038" y="214313"/>
                </a:lnTo>
                <a:lnTo>
                  <a:pt x="300038" y="192881"/>
                </a:lnTo>
                <a:lnTo>
                  <a:pt x="364331" y="192881"/>
                </a:lnTo>
                <a:cubicBezTo>
                  <a:pt x="376185" y="192881"/>
                  <a:pt x="385763" y="183304"/>
                  <a:pt x="385763" y="171450"/>
                </a:cubicBezTo>
                <a:cubicBezTo>
                  <a:pt x="385763" y="159596"/>
                  <a:pt x="376185" y="150019"/>
                  <a:pt x="364331" y="150019"/>
                </a:cubicBezTo>
                <a:lnTo>
                  <a:pt x="214313" y="150019"/>
                </a:lnTo>
                <a:lnTo>
                  <a:pt x="214313" y="128588"/>
                </a:lnTo>
                <a:lnTo>
                  <a:pt x="225028" y="128588"/>
                </a:lnTo>
                <a:cubicBezTo>
                  <a:pt x="242776" y="128588"/>
                  <a:pt x="257175" y="114188"/>
                  <a:pt x="257175" y="96441"/>
                </a:cubicBezTo>
                <a:lnTo>
                  <a:pt x="257175" y="53578"/>
                </a:lnTo>
                <a:cubicBezTo>
                  <a:pt x="257175" y="35830"/>
                  <a:pt x="242776" y="21431"/>
                  <a:pt x="225028" y="21431"/>
                </a:cubicBezTo>
                <a:lnTo>
                  <a:pt x="160734" y="21431"/>
                </a:lnTo>
                <a:close/>
                <a:moveTo>
                  <a:pt x="300038" y="251817"/>
                </a:moveTo>
                <a:lnTo>
                  <a:pt x="305395" y="251817"/>
                </a:lnTo>
                <a:lnTo>
                  <a:pt x="305395" y="283964"/>
                </a:lnTo>
                <a:lnTo>
                  <a:pt x="251817" y="283964"/>
                </a:lnTo>
                <a:lnTo>
                  <a:pt x="251817" y="251817"/>
                </a:lnTo>
                <a:lnTo>
                  <a:pt x="300038" y="251817"/>
                </a:lnTo>
                <a:close/>
                <a:moveTo>
                  <a:pt x="128588" y="251817"/>
                </a:moveTo>
                <a:lnTo>
                  <a:pt x="133945" y="251817"/>
                </a:lnTo>
                <a:lnTo>
                  <a:pt x="133945" y="283964"/>
                </a:lnTo>
                <a:lnTo>
                  <a:pt x="80367" y="283964"/>
                </a:lnTo>
                <a:lnTo>
                  <a:pt x="80367" y="251817"/>
                </a:lnTo>
                <a:lnTo>
                  <a:pt x="128588" y="25181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9834563" y="23241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高并发可靠性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286875" y="2705100"/>
            <a:ext cx="2333625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精巧的弱引用探测与去重机制，确保</a:t>
            </a:r>
            <a:r>
              <a:rPr lang="en-US" sz="1200" b="1" dirty="0">
                <a:solidFill>
                  <a:srgbClr val="2D6A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高吞吐流量下的系统确定性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2838004" y="5410200"/>
            <a:ext cx="6515100" cy="647700"/>
          </a:xfrm>
          <a:custGeom>
            <a:avLst/>
            <a:gdLst/>
            <a:ahLst/>
            <a:cxnLst/>
            <a:rect l="l" t="t" r="r" b="b"/>
            <a:pathLst>
              <a:path w="6515100" h="647700">
                <a:moveTo>
                  <a:pt x="152397" y="0"/>
                </a:moveTo>
                <a:lnTo>
                  <a:pt x="6362703" y="0"/>
                </a:lnTo>
                <a:cubicBezTo>
                  <a:pt x="6446869" y="0"/>
                  <a:pt x="6515100" y="68231"/>
                  <a:pt x="6515100" y="152397"/>
                </a:cubicBezTo>
                <a:lnTo>
                  <a:pt x="6515100" y="495303"/>
                </a:lnTo>
                <a:cubicBezTo>
                  <a:pt x="6515100" y="579469"/>
                  <a:pt x="6446869" y="647700"/>
                  <a:pt x="6362703" y="647700"/>
                </a:cubicBezTo>
                <a:lnTo>
                  <a:pt x="152397" y="647700"/>
                </a:lnTo>
                <a:cubicBezTo>
                  <a:pt x="68231" y="647700"/>
                  <a:pt x="0" y="579469"/>
                  <a:pt x="0" y="4953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2D6A4F"/>
              </a:gs>
              <a:gs pos="100000">
                <a:srgbClr val="40916C"/>
              </a:gs>
            </a:gsLst>
            <a:lin ang="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9"/>
          <p:cNvSpPr/>
          <p:nvPr/>
        </p:nvSpPr>
        <p:spPr>
          <a:xfrm>
            <a:off x="3254722" y="5657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3495229" y="5600700"/>
            <a:ext cx="552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Alimama ShuHeiTi" pitchFamily="34" charset="-122"/>
                <a:cs typeface="Calibri" panose="020F0502020204030204" pitchFamily="34" charset="0"/>
              </a:rPr>
              <a:t>在显存受限的物理极点，用架构智慧无限延展上下文的边界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548783" y="6229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4920258" y="621030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B26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NVIDIA Dynamo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297513" y="6229350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27A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445374" y="622935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27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KV Block Manager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831</Words>
  <Application>Microsoft Macintosh PowerPoint</Application>
  <PresentationFormat>宽屏</PresentationFormat>
  <Paragraphs>295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Arial</vt:lpstr>
      <vt:lpstr>Liter</vt:lpstr>
      <vt:lpstr>Calibri</vt:lpstr>
      <vt:lpstr>MiSans</vt:lpstr>
      <vt:lpstr>Microsoft YaHei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NVIDIA Dynamo KVBM 架构解析</dc:title>
  <dc:subject>NVIDIA Dynamo KVBM 架构解析</dc:subject>
  <dc:creator>Kimi</dc:creator>
  <cp:lastModifiedBy>王 天青</cp:lastModifiedBy>
  <cp:revision>5</cp:revision>
  <dcterms:created xsi:type="dcterms:W3CDTF">2026-03-25T05:27:00Z</dcterms:created>
  <dcterms:modified xsi:type="dcterms:W3CDTF">2026-03-25T05:40:39Z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{"Label":"NVIDIA Dynamo KVBM 架构解析","ContentProducer":"001191110108MACG2KBH8F10000","ProduceID":"19d2349e-1022-8fa7-8000-000094be9d50","ReservedCode1":"","ContentPropagator":"001191110108MACG2KBH8F20000","PropagateID":"19d2349e-1022-8fa7-8000-000094be9d50","ReservedCode2":""}</vt:lpwstr>
  </property>
</Properties>
</file>