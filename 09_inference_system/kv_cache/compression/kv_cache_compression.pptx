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embeddedFontLst>
    <p:embeddedFont>
      <p:font typeface="微软雅黑" panose="020B0503020204020204" pitchFamily="34" charset="-122"/>
      <p:regular r:id="rId38"/>
      <p:bold r:id="rId39"/>
    </p:embeddedFont>
    <p:embeddedFont>
      <p:font typeface="MiSans" pitchFamily="2" charset="-122"/>
      <p:regular r:id="rId40"/>
    </p:embeddedFont>
    <p:embeddedFont>
      <p:font typeface="Noto Sans SC" panose="020B0200000000000000" pitchFamily="34" charset="-128"/>
      <p:regular r:id="rId4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3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8853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400050" y="946845"/>
            <a:ext cx="2981325" cy="419100"/>
          </a:xfrm>
          <a:custGeom>
            <a:avLst/>
            <a:gdLst/>
            <a:ahLst/>
            <a:cxnLst/>
            <a:rect l="l" t="t" r="r" b="b"/>
            <a:pathLst>
              <a:path w="2981325" h="419100">
                <a:moveTo>
                  <a:pt x="0" y="0"/>
                </a:moveTo>
                <a:lnTo>
                  <a:pt x="2981325" y="0"/>
                </a:lnTo>
                <a:lnTo>
                  <a:pt x="2981325" y="419100"/>
                </a:lnTo>
                <a:lnTo>
                  <a:pt x="0" y="419100"/>
                </a:lnTo>
                <a:lnTo>
                  <a:pt x="0" y="0"/>
                </a:lnTo>
                <a:close/>
              </a:path>
            </a:pathLst>
          </a:custGeom>
          <a:solidFill>
            <a:srgbClr val="3D8B75">
              <a:alpha val="20000"/>
            </a:srgbClr>
          </a:solidFill>
          <a:ln/>
        </p:spPr>
        <p:txBody>
          <a:bodyPr/>
          <a:lstStyle/>
          <a:p>
            <a:endParaRPr lang="zh-CN" altLang="en-US"/>
          </a:p>
        </p:txBody>
      </p:sp>
      <p:sp>
        <p:nvSpPr>
          <p:cNvPr id="5" name="Shape 2"/>
          <p:cNvSpPr/>
          <p:nvPr/>
        </p:nvSpPr>
        <p:spPr>
          <a:xfrm>
            <a:off x="400050" y="946845"/>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3D8B75"/>
          </a:solidFill>
          <a:ln/>
        </p:spPr>
        <p:txBody>
          <a:bodyPr/>
          <a:lstStyle/>
          <a:p>
            <a:endParaRPr lang="zh-CN" altLang="en-US"/>
          </a:p>
        </p:txBody>
      </p:sp>
      <p:sp>
        <p:nvSpPr>
          <p:cNvPr id="6" name="Text 3"/>
          <p:cNvSpPr/>
          <p:nvPr/>
        </p:nvSpPr>
        <p:spPr>
          <a:xfrm>
            <a:off x="609600" y="1023045"/>
            <a:ext cx="2667000" cy="266700"/>
          </a:xfrm>
          <a:prstGeom prst="rect">
            <a:avLst/>
          </a:prstGeom>
          <a:noFill/>
          <a:ln/>
        </p:spPr>
        <p:txBody>
          <a:bodyPr wrap="square" lIns="0" tIns="0" rIns="0" bIns="0" rtlCol="0" anchor="ctr"/>
          <a:lstStyle/>
          <a:p>
            <a:pPr>
              <a:lnSpc>
                <a:spcPct val="130000"/>
              </a:lnSpc>
            </a:pPr>
            <a:r>
              <a:rPr lang="en-US" sz="1350" b="1" kern="0" spc="135" dirty="0">
                <a:solidFill>
                  <a:srgbClr val="3D8B75"/>
                </a:solidFill>
                <a:latin typeface="MiSans" pitchFamily="34" charset="0"/>
                <a:ea typeface="MiSans" pitchFamily="34" charset="-122"/>
                <a:cs typeface="MiSans" pitchFamily="34" charset="-120"/>
              </a:rPr>
              <a:t>KV CACHE COMPRESSION</a:t>
            </a:r>
            <a:endParaRPr lang="en-US" sz="1600" dirty="0"/>
          </a:p>
        </p:txBody>
      </p:sp>
      <p:sp>
        <p:nvSpPr>
          <p:cNvPr id="7" name="Text 4"/>
          <p:cNvSpPr/>
          <p:nvPr/>
        </p:nvSpPr>
        <p:spPr>
          <a:xfrm>
            <a:off x="381000" y="1975545"/>
            <a:ext cx="11887200" cy="2009775"/>
          </a:xfrm>
          <a:prstGeom prst="rect">
            <a:avLst/>
          </a:prstGeom>
          <a:noFill/>
          <a:ln/>
        </p:spPr>
        <p:txBody>
          <a:bodyPr wrap="square" lIns="0" tIns="0" rIns="0" bIns="0" rtlCol="0" anchor="ctr"/>
          <a:lstStyle/>
          <a:p>
            <a:pPr>
              <a:lnSpc>
                <a:spcPct val="90000"/>
              </a:lnSpc>
            </a:pPr>
            <a:r>
              <a:rPr lang="en-US" sz="7200" b="1" dirty="0">
                <a:solidFill>
                  <a:srgbClr val="E0E2E5"/>
                </a:solidFill>
                <a:latin typeface="Noto Sans SC" pitchFamily="34" charset="0"/>
                <a:ea typeface="Noto Sans SC" pitchFamily="34" charset="-122"/>
                <a:cs typeface="Noto Sans SC" pitchFamily="34" charset="-120"/>
              </a:rPr>
              <a:t>大模型 KV Cache</a:t>
            </a:r>
            <a:endParaRPr lang="en-US" sz="1600" dirty="0"/>
          </a:p>
          <a:p>
            <a:pPr>
              <a:lnSpc>
                <a:spcPct val="90000"/>
              </a:lnSpc>
            </a:pPr>
            <a:r>
              <a:rPr lang="en-US" sz="7200" b="1" dirty="0">
                <a:solidFill>
                  <a:srgbClr val="E0E2E5"/>
                </a:solidFill>
                <a:latin typeface="Noto Sans SC" pitchFamily="34" charset="0"/>
                <a:ea typeface="Noto Sans SC" pitchFamily="34" charset="-122"/>
                <a:cs typeface="Noto Sans SC" pitchFamily="34" charset="-120"/>
              </a:rPr>
              <a:t>压缩技术详解</a:t>
            </a:r>
            <a:endParaRPr lang="en-US" sz="1600" dirty="0"/>
          </a:p>
        </p:txBody>
      </p:sp>
      <p:sp>
        <p:nvSpPr>
          <p:cNvPr id="8" name="Shape 5"/>
          <p:cNvSpPr/>
          <p:nvPr/>
        </p:nvSpPr>
        <p:spPr>
          <a:xfrm>
            <a:off x="381000" y="4291905"/>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9A86A"/>
          </a:solidFill>
          <a:ln/>
        </p:spPr>
        <p:txBody>
          <a:bodyPr/>
          <a:lstStyle/>
          <a:p>
            <a:endParaRPr lang="zh-CN" altLang="en-US"/>
          </a:p>
        </p:txBody>
      </p:sp>
      <p:sp>
        <p:nvSpPr>
          <p:cNvPr id="9" name="Text 6"/>
          <p:cNvSpPr/>
          <p:nvPr/>
        </p:nvSpPr>
        <p:spPr>
          <a:xfrm>
            <a:off x="381000" y="4653855"/>
            <a:ext cx="11601450" cy="381000"/>
          </a:xfrm>
          <a:prstGeom prst="rect">
            <a:avLst/>
          </a:prstGeom>
          <a:noFill/>
          <a:ln/>
        </p:spPr>
        <p:txBody>
          <a:bodyPr wrap="square" lIns="0" tIns="0" rIns="0" bIns="0" rtlCol="0" anchor="ctr"/>
          <a:lstStyle/>
          <a:p>
            <a:pPr>
              <a:lnSpc>
                <a:spcPct val="90000"/>
              </a:lnSpc>
            </a:pPr>
            <a:r>
              <a:rPr lang="en-US" sz="2700" dirty="0">
                <a:solidFill>
                  <a:srgbClr val="E0E2E5">
                    <a:alpha val="90000"/>
                  </a:srgbClr>
                </a:solidFill>
                <a:latin typeface="Noto Sans SC" pitchFamily="34" charset="0"/>
                <a:ea typeface="Noto Sans SC" pitchFamily="34" charset="-122"/>
                <a:cs typeface="Noto Sans SC" pitchFamily="34" charset="-120"/>
              </a:rPr>
              <a:t>原理、架构与趋势</a:t>
            </a:r>
            <a:endParaRPr lang="en-US" sz="1600" dirty="0"/>
          </a:p>
        </p:txBody>
      </p:sp>
      <p:sp>
        <p:nvSpPr>
          <p:cNvPr id="10" name="Shape 7"/>
          <p:cNvSpPr/>
          <p:nvPr/>
        </p:nvSpPr>
        <p:spPr>
          <a:xfrm>
            <a:off x="381000" y="5730180"/>
            <a:ext cx="95250" cy="95250"/>
          </a:xfrm>
          <a:custGeom>
            <a:avLst/>
            <a:gdLst/>
            <a:ahLst/>
            <a:cxnLst/>
            <a:rect l="l" t="t" r="r" b="b"/>
            <a:pathLst>
              <a:path w="95250" h="95250">
                <a:moveTo>
                  <a:pt x="47625" y="0"/>
                </a:moveTo>
                <a:lnTo>
                  <a:pt x="47625" y="0"/>
                </a:lnTo>
                <a:cubicBezTo>
                  <a:pt x="73910" y="0"/>
                  <a:pt x="95250" y="21340"/>
                  <a:pt x="95250" y="47625"/>
                </a:cubicBezTo>
                <a:lnTo>
                  <a:pt x="95250" y="47625"/>
                </a:lnTo>
                <a:cubicBezTo>
                  <a:pt x="95250" y="73910"/>
                  <a:pt x="73910" y="95250"/>
                  <a:pt x="47625" y="95250"/>
                </a:cubicBezTo>
                <a:lnTo>
                  <a:pt x="47625" y="95250"/>
                </a:lnTo>
                <a:cubicBezTo>
                  <a:pt x="21340" y="95250"/>
                  <a:pt x="0" y="73910"/>
                  <a:pt x="0" y="47625"/>
                </a:cubicBezTo>
                <a:lnTo>
                  <a:pt x="0" y="47625"/>
                </a:lnTo>
                <a:cubicBezTo>
                  <a:pt x="0" y="21340"/>
                  <a:pt x="21340" y="0"/>
                  <a:pt x="47625" y="0"/>
                </a:cubicBezTo>
                <a:close/>
              </a:path>
            </a:pathLst>
          </a:custGeom>
          <a:solidFill>
            <a:srgbClr val="3D8B75"/>
          </a:solidFill>
          <a:ln/>
        </p:spPr>
        <p:txBody>
          <a:bodyPr/>
          <a:lstStyle/>
          <a:p>
            <a:endParaRPr lang="zh-CN" altLang="en-US"/>
          </a:p>
        </p:txBody>
      </p:sp>
      <p:sp>
        <p:nvSpPr>
          <p:cNvPr id="11" name="Text 8"/>
          <p:cNvSpPr/>
          <p:nvPr/>
        </p:nvSpPr>
        <p:spPr>
          <a:xfrm>
            <a:off x="590550" y="5644455"/>
            <a:ext cx="1114425" cy="266700"/>
          </a:xfrm>
          <a:prstGeom prst="rect">
            <a:avLst/>
          </a:prstGeom>
          <a:noFill/>
          <a:ln/>
        </p:spPr>
        <p:txBody>
          <a:bodyPr wrap="square" lIns="0" tIns="0" rIns="0" bIns="0" rtlCol="0" anchor="ctr"/>
          <a:lstStyle/>
          <a:p>
            <a:pPr>
              <a:lnSpc>
                <a:spcPct val="130000"/>
              </a:lnSpc>
            </a:pPr>
            <a:r>
              <a:rPr lang="en-US" sz="1350" dirty="0">
                <a:solidFill>
                  <a:srgbClr val="E0E2E5">
                    <a:alpha val="70000"/>
                  </a:srgbClr>
                </a:solidFill>
                <a:latin typeface="Noto Sans SC" pitchFamily="34" charset="0"/>
                <a:ea typeface="Noto Sans SC" pitchFamily="34" charset="-122"/>
                <a:cs typeface="Noto Sans SC" pitchFamily="34" charset="-120"/>
              </a:rPr>
              <a:t>四维冗余模型</a:t>
            </a:r>
            <a:endParaRPr lang="en-US" sz="1600" dirty="0"/>
          </a:p>
        </p:txBody>
      </p:sp>
      <p:sp>
        <p:nvSpPr>
          <p:cNvPr id="12" name="Shape 9"/>
          <p:cNvSpPr/>
          <p:nvPr/>
        </p:nvSpPr>
        <p:spPr>
          <a:xfrm>
            <a:off x="2076450" y="5730180"/>
            <a:ext cx="95250" cy="95250"/>
          </a:xfrm>
          <a:custGeom>
            <a:avLst/>
            <a:gdLst/>
            <a:ahLst/>
            <a:cxnLst/>
            <a:rect l="l" t="t" r="r" b="b"/>
            <a:pathLst>
              <a:path w="95250" h="95250">
                <a:moveTo>
                  <a:pt x="47625" y="0"/>
                </a:moveTo>
                <a:lnTo>
                  <a:pt x="47625" y="0"/>
                </a:lnTo>
                <a:cubicBezTo>
                  <a:pt x="73910" y="0"/>
                  <a:pt x="95250" y="21340"/>
                  <a:pt x="95250" y="47625"/>
                </a:cubicBezTo>
                <a:lnTo>
                  <a:pt x="95250" y="47625"/>
                </a:lnTo>
                <a:cubicBezTo>
                  <a:pt x="95250" y="73910"/>
                  <a:pt x="73910" y="95250"/>
                  <a:pt x="47625" y="95250"/>
                </a:cubicBezTo>
                <a:lnTo>
                  <a:pt x="47625" y="95250"/>
                </a:lnTo>
                <a:cubicBezTo>
                  <a:pt x="21340" y="95250"/>
                  <a:pt x="0" y="73910"/>
                  <a:pt x="0" y="47625"/>
                </a:cubicBezTo>
                <a:lnTo>
                  <a:pt x="0" y="47625"/>
                </a:lnTo>
                <a:cubicBezTo>
                  <a:pt x="0" y="21340"/>
                  <a:pt x="21340" y="0"/>
                  <a:pt x="47625" y="0"/>
                </a:cubicBezTo>
                <a:close/>
              </a:path>
            </a:pathLst>
          </a:custGeom>
          <a:solidFill>
            <a:srgbClr val="C9A86A"/>
          </a:solidFill>
          <a:ln/>
        </p:spPr>
        <p:txBody>
          <a:bodyPr/>
          <a:lstStyle/>
          <a:p>
            <a:endParaRPr lang="zh-CN" altLang="en-US"/>
          </a:p>
        </p:txBody>
      </p:sp>
      <p:sp>
        <p:nvSpPr>
          <p:cNvPr id="13" name="Text 10"/>
          <p:cNvSpPr/>
          <p:nvPr/>
        </p:nvSpPr>
        <p:spPr>
          <a:xfrm>
            <a:off x="2286000" y="5644455"/>
            <a:ext cx="1114425" cy="266700"/>
          </a:xfrm>
          <a:prstGeom prst="rect">
            <a:avLst/>
          </a:prstGeom>
          <a:noFill/>
          <a:ln/>
        </p:spPr>
        <p:txBody>
          <a:bodyPr wrap="square" lIns="0" tIns="0" rIns="0" bIns="0" rtlCol="0" anchor="ctr"/>
          <a:lstStyle/>
          <a:p>
            <a:pPr>
              <a:lnSpc>
                <a:spcPct val="130000"/>
              </a:lnSpc>
            </a:pPr>
            <a:r>
              <a:rPr lang="en-US" sz="1350" dirty="0">
                <a:solidFill>
                  <a:srgbClr val="E0E2E5">
                    <a:alpha val="70000"/>
                  </a:srgbClr>
                </a:solidFill>
                <a:latin typeface="Noto Sans SC" pitchFamily="34" charset="0"/>
                <a:ea typeface="Noto Sans SC" pitchFamily="34" charset="-122"/>
                <a:cs typeface="Noto Sans SC" pitchFamily="34" charset="-120"/>
              </a:rPr>
              <a:t>六大技术路径</a:t>
            </a:r>
            <a:endParaRPr lang="en-US" sz="1600" dirty="0"/>
          </a:p>
        </p:txBody>
      </p:sp>
      <p:sp>
        <p:nvSpPr>
          <p:cNvPr id="14" name="Shape 11"/>
          <p:cNvSpPr/>
          <p:nvPr/>
        </p:nvSpPr>
        <p:spPr>
          <a:xfrm>
            <a:off x="3771900" y="5730180"/>
            <a:ext cx="95250" cy="95250"/>
          </a:xfrm>
          <a:custGeom>
            <a:avLst/>
            <a:gdLst/>
            <a:ahLst/>
            <a:cxnLst/>
            <a:rect l="l" t="t" r="r" b="b"/>
            <a:pathLst>
              <a:path w="95250" h="95250">
                <a:moveTo>
                  <a:pt x="47625" y="0"/>
                </a:moveTo>
                <a:lnTo>
                  <a:pt x="47625" y="0"/>
                </a:lnTo>
                <a:cubicBezTo>
                  <a:pt x="73910" y="0"/>
                  <a:pt x="95250" y="21340"/>
                  <a:pt x="95250" y="47625"/>
                </a:cubicBezTo>
                <a:lnTo>
                  <a:pt x="95250" y="47625"/>
                </a:lnTo>
                <a:cubicBezTo>
                  <a:pt x="95250" y="73910"/>
                  <a:pt x="73910" y="95250"/>
                  <a:pt x="47625" y="95250"/>
                </a:cubicBezTo>
                <a:lnTo>
                  <a:pt x="47625" y="95250"/>
                </a:lnTo>
                <a:cubicBezTo>
                  <a:pt x="21340" y="95250"/>
                  <a:pt x="0" y="73910"/>
                  <a:pt x="0" y="47625"/>
                </a:cubicBezTo>
                <a:lnTo>
                  <a:pt x="0" y="47625"/>
                </a:lnTo>
                <a:cubicBezTo>
                  <a:pt x="0" y="21340"/>
                  <a:pt x="21340" y="0"/>
                  <a:pt x="47625" y="0"/>
                </a:cubicBezTo>
                <a:close/>
              </a:path>
            </a:pathLst>
          </a:custGeom>
          <a:solidFill>
            <a:srgbClr val="5F6B7A"/>
          </a:solidFill>
          <a:ln/>
        </p:spPr>
        <p:txBody>
          <a:bodyPr/>
          <a:lstStyle/>
          <a:p>
            <a:endParaRPr lang="zh-CN" altLang="en-US"/>
          </a:p>
        </p:txBody>
      </p:sp>
      <p:sp>
        <p:nvSpPr>
          <p:cNvPr id="15" name="Text 12"/>
          <p:cNvSpPr/>
          <p:nvPr/>
        </p:nvSpPr>
        <p:spPr>
          <a:xfrm>
            <a:off x="3981450" y="5644455"/>
            <a:ext cx="1181100" cy="266700"/>
          </a:xfrm>
          <a:prstGeom prst="rect">
            <a:avLst/>
          </a:prstGeom>
          <a:noFill/>
          <a:ln/>
        </p:spPr>
        <p:txBody>
          <a:bodyPr wrap="square" lIns="0" tIns="0" rIns="0" bIns="0" rtlCol="0" anchor="ctr"/>
          <a:lstStyle/>
          <a:p>
            <a:pPr>
              <a:lnSpc>
                <a:spcPct val="130000"/>
              </a:lnSpc>
            </a:pPr>
            <a:r>
              <a:rPr lang="en-US" sz="1350" dirty="0">
                <a:solidFill>
                  <a:srgbClr val="E0E2E5">
                    <a:alpha val="70000"/>
                  </a:srgbClr>
                </a:solidFill>
                <a:latin typeface="Noto Sans SC" pitchFamily="34" charset="0"/>
                <a:ea typeface="Noto Sans SC" pitchFamily="34" charset="-122"/>
                <a:cs typeface="Noto Sans SC" pitchFamily="34" charset="-120"/>
              </a:rPr>
              <a:t>2026趋势预测</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CONTENTS</a:t>
            </a:r>
            <a:endParaRPr lang="en-US" sz="1600" dirty="0"/>
          </a:p>
        </p:txBody>
      </p:sp>
      <p:sp>
        <p:nvSpPr>
          <p:cNvPr id="3" name="Text 1"/>
          <p:cNvSpPr/>
          <p:nvPr/>
        </p:nvSpPr>
        <p:spPr>
          <a:xfrm>
            <a:off x="381000" y="723900"/>
            <a:ext cx="11658600" cy="457200"/>
          </a:xfrm>
          <a:prstGeom prst="rect">
            <a:avLst/>
          </a:prstGeom>
          <a:noFill/>
          <a:ln/>
        </p:spPr>
        <p:txBody>
          <a:bodyPr wrap="square" lIns="0" tIns="0" rIns="0" bIns="0" rtlCol="0" anchor="ctr"/>
          <a:lstStyle/>
          <a:p>
            <a:pPr>
              <a:lnSpc>
                <a:spcPct val="80000"/>
              </a:lnSpc>
            </a:pPr>
            <a:r>
              <a:rPr lang="en-US" sz="3600" b="1" dirty="0">
                <a:solidFill>
                  <a:srgbClr val="E0E2E5"/>
                </a:solidFill>
                <a:latin typeface="Noto Sans SC" pitchFamily="34" charset="0"/>
                <a:ea typeface="Noto Sans SC" pitchFamily="34" charset="-122"/>
                <a:cs typeface="Noto Sans SC" pitchFamily="34" charset="-120"/>
              </a:rPr>
              <a:t>目录</a:t>
            </a:r>
            <a:endParaRPr lang="en-US" sz="1600" dirty="0"/>
          </a:p>
        </p:txBody>
      </p:sp>
      <p:sp>
        <p:nvSpPr>
          <p:cNvPr id="4" name="Shape 2"/>
          <p:cNvSpPr/>
          <p:nvPr/>
        </p:nvSpPr>
        <p:spPr>
          <a:xfrm>
            <a:off x="381000" y="1333500"/>
            <a:ext cx="1219200" cy="57150"/>
          </a:xfrm>
          <a:custGeom>
            <a:avLst/>
            <a:gdLst/>
            <a:ahLst/>
            <a:cxnLst/>
            <a:rect l="l" t="t" r="r" b="b"/>
            <a:pathLst>
              <a:path w="1219200" h="57150">
                <a:moveTo>
                  <a:pt x="0" y="0"/>
                </a:moveTo>
                <a:lnTo>
                  <a:pt x="1219200" y="0"/>
                </a:lnTo>
                <a:lnTo>
                  <a:pt x="1219200" y="57150"/>
                </a:lnTo>
                <a:lnTo>
                  <a:pt x="0" y="57150"/>
                </a:lnTo>
                <a:lnTo>
                  <a:pt x="0" y="0"/>
                </a:lnTo>
                <a:close/>
              </a:path>
            </a:pathLst>
          </a:custGeom>
          <a:solidFill>
            <a:srgbClr val="C9A86A"/>
          </a:solidFill>
          <a:ln/>
        </p:spPr>
        <p:txBody>
          <a:bodyPr/>
          <a:lstStyle/>
          <a:p>
            <a:endParaRPr lang="zh-CN" altLang="en-US"/>
          </a:p>
        </p:txBody>
      </p:sp>
      <p:sp>
        <p:nvSpPr>
          <p:cNvPr id="5" name="Shape 3"/>
          <p:cNvSpPr/>
          <p:nvPr/>
        </p:nvSpPr>
        <p:spPr>
          <a:xfrm>
            <a:off x="400050" y="1619250"/>
            <a:ext cx="5543550" cy="1104900"/>
          </a:xfrm>
          <a:custGeom>
            <a:avLst/>
            <a:gdLst/>
            <a:ahLst/>
            <a:cxnLst/>
            <a:rect l="l" t="t" r="r" b="b"/>
            <a:pathLst>
              <a:path w="5543550" h="1104900">
                <a:moveTo>
                  <a:pt x="38100" y="0"/>
                </a:moveTo>
                <a:lnTo>
                  <a:pt x="5467345" y="0"/>
                </a:lnTo>
                <a:cubicBezTo>
                  <a:pt x="5509432" y="0"/>
                  <a:pt x="5543550" y="34118"/>
                  <a:pt x="5543550" y="76205"/>
                </a:cubicBezTo>
                <a:lnTo>
                  <a:pt x="5543550" y="1028695"/>
                </a:lnTo>
                <a:cubicBezTo>
                  <a:pt x="5543550" y="1070782"/>
                  <a:pt x="5509432" y="1104900"/>
                  <a:pt x="5467345" y="1104900"/>
                </a:cubicBezTo>
                <a:lnTo>
                  <a:pt x="38100" y="1104900"/>
                </a:lnTo>
                <a:cubicBezTo>
                  <a:pt x="17072" y="1104900"/>
                  <a:pt x="0" y="1087828"/>
                  <a:pt x="0" y="10668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619250"/>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Text 5"/>
          <p:cNvSpPr/>
          <p:nvPr/>
        </p:nvSpPr>
        <p:spPr>
          <a:xfrm>
            <a:off x="609600" y="1809750"/>
            <a:ext cx="685800" cy="457200"/>
          </a:xfrm>
          <a:prstGeom prst="rect">
            <a:avLst/>
          </a:prstGeom>
          <a:noFill/>
          <a:ln/>
        </p:spPr>
        <p:txBody>
          <a:bodyPr wrap="square" lIns="0" tIns="0" rIns="0" bIns="0" rtlCol="0" anchor="ctr"/>
          <a:lstStyle/>
          <a:p>
            <a:pPr>
              <a:lnSpc>
                <a:spcPct val="80000"/>
              </a:lnSpc>
            </a:pPr>
            <a:r>
              <a:rPr lang="en-US" sz="3600" b="1" dirty="0">
                <a:solidFill>
                  <a:srgbClr val="3D8B75"/>
                </a:solidFill>
                <a:latin typeface="Noto Sans SC" pitchFamily="34" charset="0"/>
                <a:ea typeface="Noto Sans SC" pitchFamily="34" charset="-122"/>
                <a:cs typeface="Noto Sans SC" pitchFamily="34" charset="-120"/>
              </a:rPr>
              <a:t>01</a:t>
            </a:r>
            <a:endParaRPr lang="en-US" sz="1600" dirty="0"/>
          </a:p>
        </p:txBody>
      </p:sp>
      <p:sp>
        <p:nvSpPr>
          <p:cNvPr id="8" name="Text 6"/>
          <p:cNvSpPr/>
          <p:nvPr/>
        </p:nvSpPr>
        <p:spPr>
          <a:xfrm>
            <a:off x="1223814" y="1847850"/>
            <a:ext cx="46291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引言</a:t>
            </a:r>
            <a:endParaRPr lang="en-US" sz="1600" dirty="0"/>
          </a:p>
        </p:txBody>
      </p:sp>
      <p:sp>
        <p:nvSpPr>
          <p:cNvPr id="9" name="Text 7"/>
          <p:cNvSpPr/>
          <p:nvPr/>
        </p:nvSpPr>
        <p:spPr>
          <a:xfrm>
            <a:off x="1223814" y="2190750"/>
            <a:ext cx="4610100" cy="247650"/>
          </a:xfrm>
          <a:prstGeom prst="rect">
            <a:avLst/>
          </a:prstGeom>
          <a:noFill/>
          <a:ln/>
        </p:spPr>
        <p:txBody>
          <a:bodyPr wrap="square" lIns="0" tIns="0" rIns="0" bIns="0" rtlCol="0" anchor="ctr"/>
          <a:lstStyle/>
          <a:p>
            <a:pP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问题背景与核心观点</a:t>
            </a:r>
            <a:endParaRPr lang="en-US" sz="1600" dirty="0"/>
          </a:p>
        </p:txBody>
      </p:sp>
      <p:sp>
        <p:nvSpPr>
          <p:cNvPr id="10" name="Shape 8"/>
          <p:cNvSpPr/>
          <p:nvPr/>
        </p:nvSpPr>
        <p:spPr>
          <a:xfrm>
            <a:off x="6267450" y="1619250"/>
            <a:ext cx="5543550" cy="1104900"/>
          </a:xfrm>
          <a:custGeom>
            <a:avLst/>
            <a:gdLst/>
            <a:ahLst/>
            <a:cxnLst/>
            <a:rect l="l" t="t" r="r" b="b"/>
            <a:pathLst>
              <a:path w="5543550" h="1104900">
                <a:moveTo>
                  <a:pt x="38100" y="0"/>
                </a:moveTo>
                <a:lnTo>
                  <a:pt x="5467345" y="0"/>
                </a:lnTo>
                <a:cubicBezTo>
                  <a:pt x="5509432" y="0"/>
                  <a:pt x="5543550" y="34118"/>
                  <a:pt x="5543550" y="76205"/>
                </a:cubicBezTo>
                <a:lnTo>
                  <a:pt x="5543550" y="1028695"/>
                </a:lnTo>
                <a:cubicBezTo>
                  <a:pt x="5543550" y="1070782"/>
                  <a:pt x="5509432" y="1104900"/>
                  <a:pt x="5467345" y="1104900"/>
                </a:cubicBezTo>
                <a:lnTo>
                  <a:pt x="38100" y="1104900"/>
                </a:lnTo>
                <a:cubicBezTo>
                  <a:pt x="17072" y="1104900"/>
                  <a:pt x="0" y="1087828"/>
                  <a:pt x="0" y="10668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11" name="Shape 9"/>
          <p:cNvSpPr/>
          <p:nvPr/>
        </p:nvSpPr>
        <p:spPr>
          <a:xfrm>
            <a:off x="6267450" y="1619250"/>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12" name="Text 10"/>
          <p:cNvSpPr/>
          <p:nvPr/>
        </p:nvSpPr>
        <p:spPr>
          <a:xfrm>
            <a:off x="6477000" y="1809750"/>
            <a:ext cx="781050" cy="457200"/>
          </a:xfrm>
          <a:prstGeom prst="rect">
            <a:avLst/>
          </a:prstGeom>
          <a:noFill/>
          <a:ln/>
        </p:spPr>
        <p:txBody>
          <a:bodyPr wrap="square" lIns="0" tIns="0" rIns="0" bIns="0" rtlCol="0" anchor="ctr"/>
          <a:lstStyle/>
          <a:p>
            <a:pPr>
              <a:lnSpc>
                <a:spcPct val="80000"/>
              </a:lnSpc>
            </a:pPr>
            <a:r>
              <a:rPr lang="en-US" sz="3600" b="1" dirty="0">
                <a:solidFill>
                  <a:srgbClr val="3D8B75"/>
                </a:solidFill>
                <a:latin typeface="Noto Sans SC" pitchFamily="34" charset="0"/>
                <a:ea typeface="Noto Sans SC" pitchFamily="34" charset="-122"/>
                <a:cs typeface="Noto Sans SC" pitchFamily="34" charset="-120"/>
              </a:rPr>
              <a:t>02</a:t>
            </a:r>
            <a:endParaRPr lang="en-US" sz="1600" dirty="0"/>
          </a:p>
        </p:txBody>
      </p:sp>
      <p:sp>
        <p:nvSpPr>
          <p:cNvPr id="13" name="Text 11"/>
          <p:cNvSpPr/>
          <p:nvPr/>
        </p:nvSpPr>
        <p:spPr>
          <a:xfrm>
            <a:off x="7178055" y="1847850"/>
            <a:ext cx="45339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规模瓶颈与四维冗余模型</a:t>
            </a:r>
            <a:endParaRPr lang="en-US" sz="1600" dirty="0"/>
          </a:p>
        </p:txBody>
      </p:sp>
      <p:sp>
        <p:nvSpPr>
          <p:cNvPr id="14" name="Text 12"/>
          <p:cNvSpPr/>
          <p:nvPr/>
        </p:nvSpPr>
        <p:spPr>
          <a:xfrm>
            <a:off x="7178055" y="2190750"/>
            <a:ext cx="4514850" cy="247650"/>
          </a:xfrm>
          <a:prstGeom prst="rect">
            <a:avLst/>
          </a:prstGeom>
          <a:noFill/>
          <a:ln/>
        </p:spPr>
        <p:txBody>
          <a:bodyPr wrap="square" lIns="0" tIns="0" rIns="0" bIns="0" rtlCol="0" anchor="ctr"/>
          <a:lstStyle/>
          <a:p>
            <a:pP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理解KV Cache压缩的理论基础</a:t>
            </a:r>
            <a:endParaRPr lang="en-US" sz="1600" dirty="0"/>
          </a:p>
        </p:txBody>
      </p:sp>
      <p:sp>
        <p:nvSpPr>
          <p:cNvPr id="15" name="Shape 13"/>
          <p:cNvSpPr/>
          <p:nvPr/>
        </p:nvSpPr>
        <p:spPr>
          <a:xfrm>
            <a:off x="400050" y="2871788"/>
            <a:ext cx="5543550" cy="1104900"/>
          </a:xfrm>
          <a:custGeom>
            <a:avLst/>
            <a:gdLst/>
            <a:ahLst/>
            <a:cxnLst/>
            <a:rect l="l" t="t" r="r" b="b"/>
            <a:pathLst>
              <a:path w="5543550" h="1104900">
                <a:moveTo>
                  <a:pt x="38100" y="0"/>
                </a:moveTo>
                <a:lnTo>
                  <a:pt x="5467345" y="0"/>
                </a:lnTo>
                <a:cubicBezTo>
                  <a:pt x="5509432" y="0"/>
                  <a:pt x="5543550" y="34118"/>
                  <a:pt x="5543550" y="76205"/>
                </a:cubicBezTo>
                <a:lnTo>
                  <a:pt x="5543550" y="1028695"/>
                </a:lnTo>
                <a:cubicBezTo>
                  <a:pt x="5543550" y="1070782"/>
                  <a:pt x="5509432" y="1104900"/>
                  <a:pt x="5467345" y="1104900"/>
                </a:cubicBezTo>
                <a:lnTo>
                  <a:pt x="38100" y="1104900"/>
                </a:lnTo>
                <a:cubicBezTo>
                  <a:pt x="17072" y="1104900"/>
                  <a:pt x="0" y="1087828"/>
                  <a:pt x="0" y="106680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16" name="Shape 14"/>
          <p:cNvSpPr/>
          <p:nvPr/>
        </p:nvSpPr>
        <p:spPr>
          <a:xfrm>
            <a:off x="400050" y="2871788"/>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17" name="Text 15"/>
          <p:cNvSpPr/>
          <p:nvPr/>
        </p:nvSpPr>
        <p:spPr>
          <a:xfrm>
            <a:off x="609600" y="3062288"/>
            <a:ext cx="781050" cy="457200"/>
          </a:xfrm>
          <a:prstGeom prst="rect">
            <a:avLst/>
          </a:prstGeom>
          <a:noFill/>
          <a:ln/>
        </p:spPr>
        <p:txBody>
          <a:bodyPr wrap="square" lIns="0" tIns="0" rIns="0" bIns="0" rtlCol="0" anchor="ctr"/>
          <a:lstStyle/>
          <a:p>
            <a:pPr>
              <a:lnSpc>
                <a:spcPct val="80000"/>
              </a:lnSpc>
            </a:pPr>
            <a:r>
              <a:rPr lang="en-US" sz="3600" b="1" dirty="0">
                <a:solidFill>
                  <a:srgbClr val="C9A86A"/>
                </a:solidFill>
                <a:latin typeface="Noto Sans SC" pitchFamily="34" charset="0"/>
                <a:ea typeface="Noto Sans SC" pitchFamily="34" charset="-122"/>
                <a:cs typeface="Noto Sans SC" pitchFamily="34" charset="-120"/>
              </a:rPr>
              <a:t>03</a:t>
            </a:r>
            <a:endParaRPr lang="en-US" sz="1600" dirty="0"/>
          </a:p>
        </p:txBody>
      </p:sp>
      <p:sp>
        <p:nvSpPr>
          <p:cNvPr id="18" name="Text 16"/>
          <p:cNvSpPr/>
          <p:nvPr/>
        </p:nvSpPr>
        <p:spPr>
          <a:xfrm>
            <a:off x="1310655" y="3100388"/>
            <a:ext cx="45339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KV Cache 压缩技术全景</a:t>
            </a:r>
            <a:endParaRPr lang="en-US" sz="1600" dirty="0"/>
          </a:p>
        </p:txBody>
      </p:sp>
      <p:sp>
        <p:nvSpPr>
          <p:cNvPr id="19" name="Text 17"/>
          <p:cNvSpPr/>
          <p:nvPr/>
        </p:nvSpPr>
        <p:spPr>
          <a:xfrm>
            <a:off x="1310655" y="3443288"/>
            <a:ext cx="4514850" cy="247650"/>
          </a:xfrm>
          <a:prstGeom prst="rect">
            <a:avLst/>
          </a:prstGeom>
          <a:noFill/>
          <a:ln/>
        </p:spPr>
        <p:txBody>
          <a:bodyPr wrap="square" lIns="0" tIns="0" rIns="0" bIns="0" rtlCol="0" anchor="ctr"/>
          <a:lstStyle/>
          <a:p>
            <a:pP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Token、精度、特征、结构、系统、混合</a:t>
            </a:r>
            <a:endParaRPr lang="en-US" sz="1600" dirty="0"/>
          </a:p>
        </p:txBody>
      </p:sp>
      <p:sp>
        <p:nvSpPr>
          <p:cNvPr id="20" name="Shape 18"/>
          <p:cNvSpPr/>
          <p:nvPr/>
        </p:nvSpPr>
        <p:spPr>
          <a:xfrm>
            <a:off x="6267450" y="2871788"/>
            <a:ext cx="5543550" cy="1104900"/>
          </a:xfrm>
          <a:custGeom>
            <a:avLst/>
            <a:gdLst/>
            <a:ahLst/>
            <a:cxnLst/>
            <a:rect l="l" t="t" r="r" b="b"/>
            <a:pathLst>
              <a:path w="5543550" h="1104900">
                <a:moveTo>
                  <a:pt x="38100" y="0"/>
                </a:moveTo>
                <a:lnTo>
                  <a:pt x="5467345" y="0"/>
                </a:lnTo>
                <a:cubicBezTo>
                  <a:pt x="5509432" y="0"/>
                  <a:pt x="5543550" y="34118"/>
                  <a:pt x="5543550" y="76205"/>
                </a:cubicBezTo>
                <a:lnTo>
                  <a:pt x="5543550" y="1028695"/>
                </a:lnTo>
                <a:cubicBezTo>
                  <a:pt x="5543550" y="1070782"/>
                  <a:pt x="5509432" y="1104900"/>
                  <a:pt x="5467345" y="1104900"/>
                </a:cubicBezTo>
                <a:lnTo>
                  <a:pt x="38100" y="1104900"/>
                </a:lnTo>
                <a:cubicBezTo>
                  <a:pt x="17072" y="1104900"/>
                  <a:pt x="0" y="1087828"/>
                  <a:pt x="0" y="106680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21" name="Shape 19"/>
          <p:cNvSpPr/>
          <p:nvPr/>
        </p:nvSpPr>
        <p:spPr>
          <a:xfrm>
            <a:off x="6267450" y="2871788"/>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22" name="Text 20"/>
          <p:cNvSpPr/>
          <p:nvPr/>
        </p:nvSpPr>
        <p:spPr>
          <a:xfrm>
            <a:off x="6477000" y="3062288"/>
            <a:ext cx="781050" cy="457200"/>
          </a:xfrm>
          <a:prstGeom prst="rect">
            <a:avLst/>
          </a:prstGeom>
          <a:noFill/>
          <a:ln/>
        </p:spPr>
        <p:txBody>
          <a:bodyPr wrap="square" lIns="0" tIns="0" rIns="0" bIns="0" rtlCol="0" anchor="ctr"/>
          <a:lstStyle/>
          <a:p>
            <a:pPr>
              <a:lnSpc>
                <a:spcPct val="80000"/>
              </a:lnSpc>
            </a:pPr>
            <a:r>
              <a:rPr lang="en-US" sz="3600" b="1" dirty="0">
                <a:solidFill>
                  <a:srgbClr val="C9A86A"/>
                </a:solidFill>
                <a:latin typeface="Noto Sans SC" pitchFamily="34" charset="0"/>
                <a:ea typeface="Noto Sans SC" pitchFamily="34" charset="-122"/>
                <a:cs typeface="Noto Sans SC" pitchFamily="34" charset="-120"/>
              </a:rPr>
              <a:t>04</a:t>
            </a:r>
            <a:endParaRPr lang="en-US" sz="1600" dirty="0"/>
          </a:p>
        </p:txBody>
      </p:sp>
      <p:sp>
        <p:nvSpPr>
          <p:cNvPr id="23" name="Text 21"/>
          <p:cNvSpPr/>
          <p:nvPr/>
        </p:nvSpPr>
        <p:spPr>
          <a:xfrm>
            <a:off x="7178055" y="3100388"/>
            <a:ext cx="45339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四层压缩模型</a:t>
            </a:r>
            <a:endParaRPr lang="en-US" sz="1600" dirty="0"/>
          </a:p>
        </p:txBody>
      </p:sp>
      <p:sp>
        <p:nvSpPr>
          <p:cNvPr id="24" name="Text 22"/>
          <p:cNvSpPr/>
          <p:nvPr/>
        </p:nvSpPr>
        <p:spPr>
          <a:xfrm>
            <a:off x="7178055" y="3443288"/>
            <a:ext cx="4514850" cy="247650"/>
          </a:xfrm>
          <a:prstGeom prst="rect">
            <a:avLst/>
          </a:prstGeom>
          <a:noFill/>
          <a:ln/>
        </p:spPr>
        <p:txBody>
          <a:bodyPr wrap="square" lIns="0" tIns="0" rIns="0" bIns="0" rtlCol="0" anchor="ctr"/>
          <a:lstStyle/>
          <a:p>
            <a:pP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统一的自上而下架构</a:t>
            </a:r>
            <a:endParaRPr lang="en-US" sz="1600" dirty="0"/>
          </a:p>
        </p:txBody>
      </p:sp>
      <p:sp>
        <p:nvSpPr>
          <p:cNvPr id="25" name="Shape 23"/>
          <p:cNvSpPr/>
          <p:nvPr/>
        </p:nvSpPr>
        <p:spPr>
          <a:xfrm>
            <a:off x="400050" y="4124325"/>
            <a:ext cx="5543550" cy="1104900"/>
          </a:xfrm>
          <a:custGeom>
            <a:avLst/>
            <a:gdLst/>
            <a:ahLst/>
            <a:cxnLst/>
            <a:rect l="l" t="t" r="r" b="b"/>
            <a:pathLst>
              <a:path w="5543550" h="1104900">
                <a:moveTo>
                  <a:pt x="38100" y="0"/>
                </a:moveTo>
                <a:lnTo>
                  <a:pt x="5467345" y="0"/>
                </a:lnTo>
                <a:cubicBezTo>
                  <a:pt x="5509432" y="0"/>
                  <a:pt x="5543550" y="34118"/>
                  <a:pt x="5543550" y="76205"/>
                </a:cubicBezTo>
                <a:lnTo>
                  <a:pt x="5543550" y="1028695"/>
                </a:lnTo>
                <a:cubicBezTo>
                  <a:pt x="5543550" y="1070782"/>
                  <a:pt x="5509432" y="1104900"/>
                  <a:pt x="5467345" y="1104900"/>
                </a:cubicBezTo>
                <a:lnTo>
                  <a:pt x="38100" y="1104900"/>
                </a:lnTo>
                <a:cubicBezTo>
                  <a:pt x="17072" y="1104900"/>
                  <a:pt x="0" y="1087828"/>
                  <a:pt x="0" y="106680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26" name="Shape 24"/>
          <p:cNvSpPr/>
          <p:nvPr/>
        </p:nvSpPr>
        <p:spPr>
          <a:xfrm>
            <a:off x="400050" y="4124325"/>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27" name="Text 25"/>
          <p:cNvSpPr/>
          <p:nvPr/>
        </p:nvSpPr>
        <p:spPr>
          <a:xfrm>
            <a:off x="609600" y="4314825"/>
            <a:ext cx="781050" cy="457200"/>
          </a:xfrm>
          <a:prstGeom prst="rect">
            <a:avLst/>
          </a:prstGeom>
          <a:noFill/>
          <a:ln/>
        </p:spPr>
        <p:txBody>
          <a:bodyPr wrap="square" lIns="0" tIns="0" rIns="0" bIns="0" rtlCol="0" anchor="ctr"/>
          <a:lstStyle/>
          <a:p>
            <a:pPr>
              <a:lnSpc>
                <a:spcPct val="80000"/>
              </a:lnSpc>
            </a:pPr>
            <a:r>
              <a:rPr lang="en-US" sz="3600" b="1" dirty="0">
                <a:solidFill>
                  <a:srgbClr val="5F6B7A"/>
                </a:solidFill>
                <a:latin typeface="Noto Sans SC" pitchFamily="34" charset="0"/>
                <a:ea typeface="Noto Sans SC" pitchFamily="34" charset="-122"/>
                <a:cs typeface="Noto Sans SC" pitchFamily="34" charset="-120"/>
              </a:rPr>
              <a:t>05</a:t>
            </a:r>
            <a:endParaRPr lang="en-US" sz="1600" dirty="0"/>
          </a:p>
        </p:txBody>
      </p:sp>
      <p:sp>
        <p:nvSpPr>
          <p:cNvPr id="28" name="Text 26"/>
          <p:cNvSpPr/>
          <p:nvPr/>
        </p:nvSpPr>
        <p:spPr>
          <a:xfrm>
            <a:off x="1310655" y="4352925"/>
            <a:ext cx="45339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系统视角：工程落地的现实约束</a:t>
            </a:r>
            <a:endParaRPr lang="en-US" sz="1600" dirty="0"/>
          </a:p>
        </p:txBody>
      </p:sp>
      <p:sp>
        <p:nvSpPr>
          <p:cNvPr id="29" name="Text 27"/>
          <p:cNvSpPr/>
          <p:nvPr/>
        </p:nvSpPr>
        <p:spPr>
          <a:xfrm>
            <a:off x="1310655" y="4695825"/>
            <a:ext cx="4514850" cy="247650"/>
          </a:xfrm>
          <a:prstGeom prst="rect">
            <a:avLst/>
          </a:prstGeom>
          <a:noFill/>
          <a:ln/>
        </p:spPr>
        <p:txBody>
          <a:bodyPr wrap="square" lIns="0" tIns="0" rIns="0" bIns="0" rtlCol="0" anchor="ctr"/>
          <a:lstStyle/>
          <a:p>
            <a:pP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推理框架耦合与集成模式</a:t>
            </a:r>
            <a:endParaRPr lang="en-US" sz="1600" dirty="0"/>
          </a:p>
        </p:txBody>
      </p:sp>
      <p:sp>
        <p:nvSpPr>
          <p:cNvPr id="30" name="Shape 28"/>
          <p:cNvSpPr/>
          <p:nvPr/>
        </p:nvSpPr>
        <p:spPr>
          <a:xfrm>
            <a:off x="6267450" y="4124325"/>
            <a:ext cx="5543550" cy="1104900"/>
          </a:xfrm>
          <a:custGeom>
            <a:avLst/>
            <a:gdLst/>
            <a:ahLst/>
            <a:cxnLst/>
            <a:rect l="l" t="t" r="r" b="b"/>
            <a:pathLst>
              <a:path w="5543550" h="1104900">
                <a:moveTo>
                  <a:pt x="38100" y="0"/>
                </a:moveTo>
                <a:lnTo>
                  <a:pt x="5467345" y="0"/>
                </a:lnTo>
                <a:cubicBezTo>
                  <a:pt x="5509432" y="0"/>
                  <a:pt x="5543550" y="34118"/>
                  <a:pt x="5543550" y="76205"/>
                </a:cubicBezTo>
                <a:lnTo>
                  <a:pt x="5543550" y="1028695"/>
                </a:lnTo>
                <a:cubicBezTo>
                  <a:pt x="5543550" y="1070782"/>
                  <a:pt x="5509432" y="1104900"/>
                  <a:pt x="5467345" y="1104900"/>
                </a:cubicBezTo>
                <a:lnTo>
                  <a:pt x="38100" y="1104900"/>
                </a:lnTo>
                <a:cubicBezTo>
                  <a:pt x="17072" y="1104900"/>
                  <a:pt x="0" y="1087828"/>
                  <a:pt x="0" y="106680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31" name="Shape 29"/>
          <p:cNvSpPr/>
          <p:nvPr/>
        </p:nvSpPr>
        <p:spPr>
          <a:xfrm>
            <a:off x="6267450" y="4124325"/>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32" name="Text 30"/>
          <p:cNvSpPr/>
          <p:nvPr/>
        </p:nvSpPr>
        <p:spPr>
          <a:xfrm>
            <a:off x="6477000" y="4314825"/>
            <a:ext cx="781050" cy="457200"/>
          </a:xfrm>
          <a:prstGeom prst="rect">
            <a:avLst/>
          </a:prstGeom>
          <a:noFill/>
          <a:ln/>
        </p:spPr>
        <p:txBody>
          <a:bodyPr wrap="square" lIns="0" tIns="0" rIns="0" bIns="0" rtlCol="0" anchor="ctr"/>
          <a:lstStyle/>
          <a:p>
            <a:pPr>
              <a:lnSpc>
                <a:spcPct val="80000"/>
              </a:lnSpc>
            </a:pPr>
            <a:r>
              <a:rPr lang="en-US" sz="3600" b="1" dirty="0">
                <a:solidFill>
                  <a:srgbClr val="5F6B7A"/>
                </a:solidFill>
                <a:latin typeface="Noto Sans SC" pitchFamily="34" charset="0"/>
                <a:ea typeface="Noto Sans SC" pitchFamily="34" charset="-122"/>
                <a:cs typeface="Noto Sans SC" pitchFamily="34" charset="-120"/>
              </a:rPr>
              <a:t>06</a:t>
            </a:r>
            <a:endParaRPr lang="en-US" sz="1600" dirty="0"/>
          </a:p>
        </p:txBody>
      </p:sp>
      <p:sp>
        <p:nvSpPr>
          <p:cNvPr id="33" name="Text 31"/>
          <p:cNvSpPr/>
          <p:nvPr/>
        </p:nvSpPr>
        <p:spPr>
          <a:xfrm>
            <a:off x="7178055" y="4352925"/>
            <a:ext cx="45339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2026 技术趋势预测</a:t>
            </a:r>
            <a:endParaRPr lang="en-US" sz="1600" dirty="0"/>
          </a:p>
        </p:txBody>
      </p:sp>
      <p:sp>
        <p:nvSpPr>
          <p:cNvPr id="34" name="Text 32"/>
          <p:cNvSpPr/>
          <p:nvPr/>
        </p:nvSpPr>
        <p:spPr>
          <a:xfrm>
            <a:off x="7178055" y="4695825"/>
            <a:ext cx="4514850" cy="247650"/>
          </a:xfrm>
          <a:prstGeom prst="rect">
            <a:avLst/>
          </a:prstGeom>
          <a:noFill/>
          <a:ln/>
        </p:spPr>
        <p:txBody>
          <a:bodyPr wrap="square" lIns="0" tIns="0" rIns="0" bIns="0" rtlCol="0" anchor="ctr"/>
          <a:lstStyle/>
          <a:p>
            <a:pP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七大核心演进方向</a:t>
            </a:r>
            <a:endParaRPr lang="en-US" sz="1600" dirty="0"/>
          </a:p>
        </p:txBody>
      </p:sp>
      <p:sp>
        <p:nvSpPr>
          <p:cNvPr id="35" name="Shape 33"/>
          <p:cNvSpPr/>
          <p:nvPr/>
        </p:nvSpPr>
        <p:spPr>
          <a:xfrm>
            <a:off x="400050" y="5376863"/>
            <a:ext cx="5543550" cy="1104900"/>
          </a:xfrm>
          <a:custGeom>
            <a:avLst/>
            <a:gdLst/>
            <a:ahLst/>
            <a:cxnLst/>
            <a:rect l="l" t="t" r="r" b="b"/>
            <a:pathLst>
              <a:path w="5543550" h="1104900">
                <a:moveTo>
                  <a:pt x="38100" y="0"/>
                </a:moveTo>
                <a:lnTo>
                  <a:pt x="5467345" y="0"/>
                </a:lnTo>
                <a:cubicBezTo>
                  <a:pt x="5509432" y="0"/>
                  <a:pt x="5543550" y="34118"/>
                  <a:pt x="5543550" y="76205"/>
                </a:cubicBezTo>
                <a:lnTo>
                  <a:pt x="5543550" y="1028695"/>
                </a:lnTo>
                <a:cubicBezTo>
                  <a:pt x="5543550" y="1070782"/>
                  <a:pt x="5509432" y="1104900"/>
                  <a:pt x="5467345" y="1104900"/>
                </a:cubicBezTo>
                <a:lnTo>
                  <a:pt x="38100" y="1104900"/>
                </a:lnTo>
                <a:cubicBezTo>
                  <a:pt x="17072" y="1104900"/>
                  <a:pt x="0" y="1087828"/>
                  <a:pt x="0" y="10668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36" name="Shape 34"/>
          <p:cNvSpPr/>
          <p:nvPr/>
        </p:nvSpPr>
        <p:spPr>
          <a:xfrm>
            <a:off x="400050" y="5376863"/>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37" name="Text 35"/>
          <p:cNvSpPr/>
          <p:nvPr/>
        </p:nvSpPr>
        <p:spPr>
          <a:xfrm>
            <a:off x="609600" y="5567363"/>
            <a:ext cx="752475" cy="457200"/>
          </a:xfrm>
          <a:prstGeom prst="rect">
            <a:avLst/>
          </a:prstGeom>
          <a:noFill/>
          <a:ln/>
        </p:spPr>
        <p:txBody>
          <a:bodyPr wrap="square" lIns="0" tIns="0" rIns="0" bIns="0" rtlCol="0" anchor="ctr"/>
          <a:lstStyle/>
          <a:p>
            <a:pPr>
              <a:lnSpc>
                <a:spcPct val="80000"/>
              </a:lnSpc>
            </a:pPr>
            <a:r>
              <a:rPr lang="en-US" sz="3600" b="1" dirty="0">
                <a:solidFill>
                  <a:srgbClr val="3D8B75"/>
                </a:solidFill>
                <a:latin typeface="Noto Sans SC" pitchFamily="34" charset="0"/>
                <a:ea typeface="Noto Sans SC" pitchFamily="34" charset="-122"/>
                <a:cs typeface="Noto Sans SC" pitchFamily="34" charset="-120"/>
              </a:rPr>
              <a:t>07</a:t>
            </a:r>
            <a:endParaRPr lang="en-US" sz="1600" dirty="0"/>
          </a:p>
        </p:txBody>
      </p:sp>
      <p:sp>
        <p:nvSpPr>
          <p:cNvPr id="38" name="Text 36"/>
          <p:cNvSpPr/>
          <p:nvPr/>
        </p:nvSpPr>
        <p:spPr>
          <a:xfrm>
            <a:off x="1289224" y="5605463"/>
            <a:ext cx="456247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关键挑战与未解决问题</a:t>
            </a:r>
            <a:endParaRPr lang="en-US" sz="1600" dirty="0"/>
          </a:p>
        </p:txBody>
      </p:sp>
      <p:sp>
        <p:nvSpPr>
          <p:cNvPr id="39" name="Text 37"/>
          <p:cNvSpPr/>
          <p:nvPr/>
        </p:nvSpPr>
        <p:spPr>
          <a:xfrm>
            <a:off x="1289224" y="5948363"/>
            <a:ext cx="4543425" cy="247650"/>
          </a:xfrm>
          <a:prstGeom prst="rect">
            <a:avLst/>
          </a:prstGeom>
          <a:noFill/>
          <a:ln/>
        </p:spPr>
        <p:txBody>
          <a:bodyPr wrap="square" lIns="0" tIns="0" rIns="0" bIns="0" rtlCol="0" anchor="ctr"/>
          <a:lstStyle/>
          <a:p>
            <a:pP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五大核心难题</a:t>
            </a:r>
            <a:endParaRPr lang="en-US" sz="1600" dirty="0"/>
          </a:p>
        </p:txBody>
      </p:sp>
      <p:sp>
        <p:nvSpPr>
          <p:cNvPr id="40" name="Shape 38"/>
          <p:cNvSpPr/>
          <p:nvPr/>
        </p:nvSpPr>
        <p:spPr>
          <a:xfrm>
            <a:off x="6267450" y="5376863"/>
            <a:ext cx="5543550" cy="1104900"/>
          </a:xfrm>
          <a:custGeom>
            <a:avLst/>
            <a:gdLst/>
            <a:ahLst/>
            <a:cxnLst/>
            <a:rect l="l" t="t" r="r" b="b"/>
            <a:pathLst>
              <a:path w="5543550" h="1104900">
                <a:moveTo>
                  <a:pt x="38100" y="0"/>
                </a:moveTo>
                <a:lnTo>
                  <a:pt x="5467345" y="0"/>
                </a:lnTo>
                <a:cubicBezTo>
                  <a:pt x="5509432" y="0"/>
                  <a:pt x="5543550" y="34118"/>
                  <a:pt x="5543550" y="76205"/>
                </a:cubicBezTo>
                <a:lnTo>
                  <a:pt x="5543550" y="1028695"/>
                </a:lnTo>
                <a:cubicBezTo>
                  <a:pt x="5543550" y="1070782"/>
                  <a:pt x="5509432" y="1104900"/>
                  <a:pt x="5467345" y="1104900"/>
                </a:cubicBezTo>
                <a:lnTo>
                  <a:pt x="38100" y="1104900"/>
                </a:lnTo>
                <a:cubicBezTo>
                  <a:pt x="17072" y="1104900"/>
                  <a:pt x="0" y="1087828"/>
                  <a:pt x="0" y="106680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41" name="Shape 39"/>
          <p:cNvSpPr/>
          <p:nvPr/>
        </p:nvSpPr>
        <p:spPr>
          <a:xfrm>
            <a:off x="6267450" y="5376863"/>
            <a:ext cx="38100" cy="1104900"/>
          </a:xfrm>
          <a:custGeom>
            <a:avLst/>
            <a:gdLst/>
            <a:ahLst/>
            <a:cxnLst/>
            <a:rect l="l" t="t" r="r" b="b"/>
            <a:pathLst>
              <a:path w="38100" h="1104900">
                <a:moveTo>
                  <a:pt x="38100" y="0"/>
                </a:moveTo>
                <a:lnTo>
                  <a:pt x="38100" y="0"/>
                </a:lnTo>
                <a:lnTo>
                  <a:pt x="38100" y="1104900"/>
                </a:lnTo>
                <a:lnTo>
                  <a:pt x="38100" y="1104900"/>
                </a:lnTo>
                <a:cubicBezTo>
                  <a:pt x="17072" y="1104900"/>
                  <a:pt x="0" y="1087828"/>
                  <a:pt x="0" y="10668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42" name="Text 40"/>
          <p:cNvSpPr/>
          <p:nvPr/>
        </p:nvSpPr>
        <p:spPr>
          <a:xfrm>
            <a:off x="6477000" y="5567363"/>
            <a:ext cx="781050" cy="457200"/>
          </a:xfrm>
          <a:prstGeom prst="rect">
            <a:avLst/>
          </a:prstGeom>
          <a:noFill/>
          <a:ln/>
        </p:spPr>
        <p:txBody>
          <a:bodyPr wrap="square" lIns="0" tIns="0" rIns="0" bIns="0" rtlCol="0" anchor="ctr"/>
          <a:lstStyle/>
          <a:p>
            <a:pPr>
              <a:lnSpc>
                <a:spcPct val="80000"/>
              </a:lnSpc>
            </a:pPr>
            <a:r>
              <a:rPr lang="en-US" sz="3600" b="1" dirty="0">
                <a:solidFill>
                  <a:srgbClr val="C9A86A"/>
                </a:solidFill>
                <a:latin typeface="Noto Sans SC" pitchFamily="34" charset="0"/>
                <a:ea typeface="Noto Sans SC" pitchFamily="34" charset="-122"/>
                <a:cs typeface="Noto Sans SC" pitchFamily="34" charset="-120"/>
              </a:rPr>
              <a:t>08</a:t>
            </a:r>
            <a:endParaRPr lang="en-US" sz="1600" dirty="0"/>
          </a:p>
        </p:txBody>
      </p:sp>
      <p:sp>
        <p:nvSpPr>
          <p:cNvPr id="43" name="Text 41"/>
          <p:cNvSpPr/>
          <p:nvPr/>
        </p:nvSpPr>
        <p:spPr>
          <a:xfrm>
            <a:off x="7178055" y="5605463"/>
            <a:ext cx="45339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总结</a:t>
            </a:r>
            <a:endParaRPr lang="en-US" sz="1600" dirty="0"/>
          </a:p>
        </p:txBody>
      </p:sp>
      <p:sp>
        <p:nvSpPr>
          <p:cNvPr id="44" name="Text 42"/>
          <p:cNvSpPr/>
          <p:nvPr/>
        </p:nvSpPr>
        <p:spPr>
          <a:xfrm>
            <a:off x="7178055" y="5948363"/>
            <a:ext cx="4514850" cy="247650"/>
          </a:xfrm>
          <a:prstGeom prst="rect">
            <a:avLst/>
          </a:prstGeom>
          <a:noFill/>
          <a:ln/>
        </p:spPr>
        <p:txBody>
          <a:bodyPr wrap="square" lIns="0" tIns="0" rIns="0" bIns="0" rtlCol="0" anchor="ctr"/>
          <a:lstStyle/>
          <a:p>
            <a:pP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核心结论与场景推荐</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INTRODUCTION</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引言：KV Cache 为何成为核心瓶颈</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371600"/>
            <a:ext cx="5581650" cy="2638425"/>
          </a:xfrm>
          <a:custGeom>
            <a:avLst/>
            <a:gdLst/>
            <a:ahLst/>
            <a:cxnLst/>
            <a:rect l="l" t="t" r="r" b="b"/>
            <a:pathLst>
              <a:path w="5581650" h="2638425">
                <a:moveTo>
                  <a:pt x="38100" y="0"/>
                </a:moveTo>
                <a:lnTo>
                  <a:pt x="5505452" y="0"/>
                </a:lnTo>
                <a:cubicBezTo>
                  <a:pt x="5547507" y="0"/>
                  <a:pt x="5581650" y="34143"/>
                  <a:pt x="5581650" y="76198"/>
                </a:cubicBezTo>
                <a:lnTo>
                  <a:pt x="5581650" y="2562227"/>
                </a:lnTo>
                <a:cubicBezTo>
                  <a:pt x="5581650" y="2604282"/>
                  <a:pt x="5547507" y="2638425"/>
                  <a:pt x="5505452" y="2638425"/>
                </a:cubicBezTo>
                <a:lnTo>
                  <a:pt x="38100" y="2638425"/>
                </a:lnTo>
                <a:cubicBezTo>
                  <a:pt x="17072" y="2638425"/>
                  <a:pt x="0" y="2621353"/>
                  <a:pt x="0" y="2600325"/>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371600"/>
            <a:ext cx="38100" cy="2638425"/>
          </a:xfrm>
          <a:custGeom>
            <a:avLst/>
            <a:gdLst/>
            <a:ahLst/>
            <a:cxnLst/>
            <a:rect l="l" t="t" r="r" b="b"/>
            <a:pathLst>
              <a:path w="38100" h="2638425">
                <a:moveTo>
                  <a:pt x="38100" y="0"/>
                </a:moveTo>
                <a:lnTo>
                  <a:pt x="38100" y="0"/>
                </a:lnTo>
                <a:lnTo>
                  <a:pt x="38100" y="2638425"/>
                </a:lnTo>
                <a:lnTo>
                  <a:pt x="38100" y="2638425"/>
                </a:lnTo>
                <a:cubicBezTo>
                  <a:pt x="17072" y="2638425"/>
                  <a:pt x="0" y="2621353"/>
                  <a:pt x="0" y="2600325"/>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Shape 5"/>
          <p:cNvSpPr/>
          <p:nvPr/>
        </p:nvSpPr>
        <p:spPr>
          <a:xfrm>
            <a:off x="633413" y="1600200"/>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C9A86A"/>
          </a:solidFill>
          <a:ln/>
        </p:spPr>
        <p:txBody>
          <a:bodyPr/>
          <a:lstStyle/>
          <a:p>
            <a:endParaRPr lang="zh-CN" altLang="en-US"/>
          </a:p>
        </p:txBody>
      </p:sp>
      <p:sp>
        <p:nvSpPr>
          <p:cNvPr id="8" name="Text 6"/>
          <p:cNvSpPr/>
          <p:nvPr/>
        </p:nvSpPr>
        <p:spPr>
          <a:xfrm>
            <a:off x="847725" y="1562100"/>
            <a:ext cx="50387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显存爆炸的严峻现实</a:t>
            </a:r>
            <a:endParaRPr lang="en-US" sz="1600" dirty="0"/>
          </a:p>
        </p:txBody>
      </p:sp>
      <p:sp>
        <p:nvSpPr>
          <p:cNvPr id="9" name="Text 7"/>
          <p:cNvSpPr/>
          <p:nvPr/>
        </p:nvSpPr>
        <p:spPr>
          <a:xfrm>
            <a:off x="609600" y="1943100"/>
            <a:ext cx="5257800"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大语言模型正以前所未有的速度推高上下文窗口的上限，然而 </a:t>
            </a:r>
            <a:r>
              <a:rPr lang="en-US" sz="1200" dirty="0">
                <a:solidFill>
                  <a:srgbClr val="C9A86A"/>
                </a:solidFill>
                <a:highlight>
                  <a:srgbClr val="C9A86A">
                    <a:alpha val="20000"/>
                  </a:srgbClr>
                </a:highlight>
                <a:latin typeface="Noto Sans SC" pitchFamily="34" charset="0"/>
                <a:ea typeface="Noto Sans SC" pitchFamily="34" charset="-122"/>
                <a:cs typeface="Noto Sans SC" pitchFamily="34" charset="-120"/>
              </a:rPr>
              <a:t>上下文每增加一倍，KV Cache 的显存占用也随之线性翻番 </a:t>
            </a:r>
            <a:r>
              <a:rPr lang="en-US" sz="12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10" name="Shape 8"/>
          <p:cNvSpPr/>
          <p:nvPr/>
        </p:nvSpPr>
        <p:spPr>
          <a:xfrm>
            <a:off x="609600" y="2552700"/>
            <a:ext cx="5181600" cy="1266825"/>
          </a:xfrm>
          <a:custGeom>
            <a:avLst/>
            <a:gdLst/>
            <a:ahLst/>
            <a:cxnLst/>
            <a:rect l="l" t="t" r="r" b="b"/>
            <a:pathLst>
              <a:path w="5181600" h="1266825">
                <a:moveTo>
                  <a:pt x="76200" y="0"/>
                </a:moveTo>
                <a:lnTo>
                  <a:pt x="5105400" y="0"/>
                </a:lnTo>
                <a:cubicBezTo>
                  <a:pt x="5147484" y="0"/>
                  <a:pt x="5181600" y="34116"/>
                  <a:pt x="5181600" y="76200"/>
                </a:cubicBezTo>
                <a:lnTo>
                  <a:pt x="5181600" y="1190625"/>
                </a:lnTo>
                <a:cubicBezTo>
                  <a:pt x="5181600" y="1232709"/>
                  <a:pt x="5147484" y="1266825"/>
                  <a:pt x="5105400" y="1266825"/>
                </a:cubicBezTo>
                <a:lnTo>
                  <a:pt x="76200" y="1266825"/>
                </a:lnTo>
                <a:cubicBezTo>
                  <a:pt x="34116" y="1266825"/>
                  <a:pt x="0" y="1232709"/>
                  <a:pt x="0" y="1190625"/>
                </a:cubicBezTo>
                <a:lnTo>
                  <a:pt x="0" y="76200"/>
                </a:lnTo>
                <a:cubicBezTo>
                  <a:pt x="0" y="34144"/>
                  <a:pt x="34144" y="0"/>
                  <a:pt x="76200" y="0"/>
                </a:cubicBezTo>
                <a:close/>
              </a:path>
            </a:pathLst>
          </a:custGeom>
          <a:solidFill>
            <a:srgbClr val="1A1D21">
              <a:alpha val="50196"/>
            </a:srgbClr>
          </a:solidFill>
          <a:ln/>
        </p:spPr>
        <p:txBody>
          <a:bodyPr/>
          <a:lstStyle/>
          <a:p>
            <a:endParaRPr lang="zh-CN" altLang="en-US"/>
          </a:p>
        </p:txBody>
      </p:sp>
      <p:sp>
        <p:nvSpPr>
          <p:cNvPr id="11" name="Text 9"/>
          <p:cNvSpPr/>
          <p:nvPr/>
        </p:nvSpPr>
        <p:spPr>
          <a:xfrm>
            <a:off x="762000" y="2705100"/>
            <a:ext cx="2066925" cy="228600"/>
          </a:xfrm>
          <a:prstGeom prst="rect">
            <a:avLst/>
          </a:prstGeom>
          <a:noFill/>
          <a:ln/>
        </p:spPr>
        <p:txBody>
          <a:bodyPr wrap="square" lIns="0" tIns="0" rIns="0" bIns="0" rtlCol="0" anchor="ctr"/>
          <a:lstStyle/>
          <a:p>
            <a:pPr>
              <a:lnSpc>
                <a:spcPct val="130000"/>
              </a:lnSpc>
            </a:pPr>
            <a:r>
              <a:rPr lang="en-US" sz="1200" dirty="0">
                <a:solidFill>
                  <a:srgbClr val="E0E2E5">
                    <a:alpha val="70000"/>
                  </a:srgbClr>
                </a:solidFill>
                <a:latin typeface="Noto Sans SC" pitchFamily="34" charset="0"/>
                <a:ea typeface="Noto Sans SC" pitchFamily="34" charset="-122"/>
                <a:cs typeface="Noto Sans SC" pitchFamily="34" charset="-120"/>
              </a:rPr>
              <a:t>70B 参数模型 + 128K 上下文</a:t>
            </a:r>
            <a:endParaRPr lang="en-US" sz="1600" dirty="0"/>
          </a:p>
        </p:txBody>
      </p:sp>
      <p:sp>
        <p:nvSpPr>
          <p:cNvPr id="12" name="Text 10"/>
          <p:cNvSpPr/>
          <p:nvPr/>
        </p:nvSpPr>
        <p:spPr>
          <a:xfrm>
            <a:off x="762000" y="3009900"/>
            <a:ext cx="1695450" cy="381000"/>
          </a:xfrm>
          <a:prstGeom prst="rect">
            <a:avLst/>
          </a:prstGeom>
          <a:noFill/>
          <a:ln/>
        </p:spPr>
        <p:txBody>
          <a:bodyPr wrap="square" lIns="0" tIns="0" rIns="0" bIns="0" rtlCol="0" anchor="ctr"/>
          <a:lstStyle/>
          <a:p>
            <a:pPr>
              <a:lnSpc>
                <a:spcPct val="90000"/>
              </a:lnSpc>
            </a:pPr>
            <a:r>
              <a:rPr lang="en-US" sz="2700" b="1" dirty="0">
                <a:solidFill>
                  <a:srgbClr val="C9A86A"/>
                </a:solidFill>
                <a:latin typeface="Noto Sans SC" pitchFamily="34" charset="0"/>
                <a:ea typeface="Noto Sans SC" pitchFamily="34" charset="-122"/>
                <a:cs typeface="Noto Sans SC" pitchFamily="34" charset="-120"/>
              </a:rPr>
              <a:t>50-60GB</a:t>
            </a:r>
            <a:endParaRPr lang="en-US" sz="1600" dirty="0"/>
          </a:p>
        </p:txBody>
      </p:sp>
      <p:sp>
        <p:nvSpPr>
          <p:cNvPr id="13" name="Text 11"/>
          <p:cNvSpPr/>
          <p:nvPr/>
        </p:nvSpPr>
        <p:spPr>
          <a:xfrm>
            <a:off x="2402607" y="3128963"/>
            <a:ext cx="1504950" cy="266700"/>
          </a:xfrm>
          <a:prstGeom prst="rect">
            <a:avLst/>
          </a:prstGeom>
          <a:noFill/>
          <a:ln/>
        </p:spPr>
        <p:txBody>
          <a:bodyPr wrap="square" lIns="0" tIns="0" rIns="0" bIns="0" rtlCol="0" anchor="ctr"/>
          <a:lstStyle/>
          <a:p>
            <a:pPr>
              <a:lnSpc>
                <a:spcPct val="130000"/>
              </a:lnSpc>
            </a:pPr>
            <a:r>
              <a:rPr lang="en-US" sz="1350" dirty="0">
                <a:solidFill>
                  <a:srgbClr val="E0E2E5">
                    <a:alpha val="70000"/>
                  </a:srgbClr>
                </a:solidFill>
                <a:latin typeface="Noto Sans SC" pitchFamily="34" charset="0"/>
                <a:ea typeface="Noto Sans SC" pitchFamily="34" charset="-122"/>
                <a:cs typeface="Noto Sans SC" pitchFamily="34" charset="-120"/>
              </a:rPr>
              <a:t>仅 KV Cache 开销</a:t>
            </a:r>
            <a:endParaRPr lang="en-US" sz="1600" dirty="0"/>
          </a:p>
        </p:txBody>
      </p:sp>
      <p:sp>
        <p:nvSpPr>
          <p:cNvPr id="14" name="Text 12"/>
          <p:cNvSpPr/>
          <p:nvPr/>
        </p:nvSpPr>
        <p:spPr>
          <a:xfrm>
            <a:off x="762000" y="3471863"/>
            <a:ext cx="4943475" cy="190500"/>
          </a:xfrm>
          <a:prstGeom prst="rect">
            <a:avLst/>
          </a:prstGeom>
          <a:noFill/>
          <a:ln/>
        </p:spPr>
        <p:txBody>
          <a:bodyPr wrap="square" lIns="0" tIns="0" rIns="0" bIns="0" rtlCol="0" anchor="ctr"/>
          <a:lstStyle/>
          <a:p>
            <a:pPr>
              <a:lnSpc>
                <a:spcPct val="120000"/>
              </a:lnSpc>
            </a:pPr>
            <a:r>
              <a:rPr lang="en-US" sz="1050" dirty="0">
                <a:solidFill>
                  <a:srgbClr val="E0E2E5">
                    <a:alpha val="60000"/>
                  </a:srgbClr>
                </a:solidFill>
                <a:latin typeface="Noto Sans SC" pitchFamily="34" charset="0"/>
                <a:ea typeface="Noto Sans SC" pitchFamily="34" charset="-122"/>
                <a:cs typeface="Noto Sans SC" pitchFamily="34" charset="-120"/>
              </a:rPr>
              <a:t>已超越模型权重本身</a:t>
            </a:r>
            <a:endParaRPr lang="en-US" sz="1600" dirty="0"/>
          </a:p>
        </p:txBody>
      </p:sp>
      <p:sp>
        <p:nvSpPr>
          <p:cNvPr id="15" name="Shape 13"/>
          <p:cNvSpPr/>
          <p:nvPr/>
        </p:nvSpPr>
        <p:spPr>
          <a:xfrm>
            <a:off x="400050" y="4157663"/>
            <a:ext cx="5581650" cy="2324100"/>
          </a:xfrm>
          <a:custGeom>
            <a:avLst/>
            <a:gdLst/>
            <a:ahLst/>
            <a:cxnLst/>
            <a:rect l="l" t="t" r="r" b="b"/>
            <a:pathLst>
              <a:path w="5581650" h="2324100">
                <a:moveTo>
                  <a:pt x="38100" y="0"/>
                </a:moveTo>
                <a:lnTo>
                  <a:pt x="5505443" y="0"/>
                </a:lnTo>
                <a:cubicBezTo>
                  <a:pt x="5547531" y="0"/>
                  <a:pt x="5581650" y="34119"/>
                  <a:pt x="5581650" y="76207"/>
                </a:cubicBezTo>
                <a:lnTo>
                  <a:pt x="5581650" y="2247893"/>
                </a:lnTo>
                <a:cubicBezTo>
                  <a:pt x="5581650" y="2289981"/>
                  <a:pt x="5547531" y="2324100"/>
                  <a:pt x="5505443" y="2324100"/>
                </a:cubicBezTo>
                <a:lnTo>
                  <a:pt x="38100" y="2324100"/>
                </a:lnTo>
                <a:cubicBezTo>
                  <a:pt x="17072" y="2324100"/>
                  <a:pt x="0" y="2307028"/>
                  <a:pt x="0" y="228600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16" name="Shape 14"/>
          <p:cNvSpPr/>
          <p:nvPr/>
        </p:nvSpPr>
        <p:spPr>
          <a:xfrm>
            <a:off x="400050" y="4157663"/>
            <a:ext cx="38100" cy="2324100"/>
          </a:xfrm>
          <a:custGeom>
            <a:avLst/>
            <a:gdLst/>
            <a:ahLst/>
            <a:cxnLst/>
            <a:rect l="l" t="t" r="r" b="b"/>
            <a:pathLst>
              <a:path w="38100" h="2324100">
                <a:moveTo>
                  <a:pt x="38100" y="0"/>
                </a:moveTo>
                <a:lnTo>
                  <a:pt x="38100" y="0"/>
                </a:lnTo>
                <a:lnTo>
                  <a:pt x="38100" y="2324100"/>
                </a:lnTo>
                <a:lnTo>
                  <a:pt x="38100" y="2324100"/>
                </a:lnTo>
                <a:cubicBezTo>
                  <a:pt x="17072" y="2324100"/>
                  <a:pt x="0" y="2307028"/>
                  <a:pt x="0" y="228600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17" name="Shape 15"/>
          <p:cNvSpPr/>
          <p:nvPr/>
        </p:nvSpPr>
        <p:spPr>
          <a:xfrm>
            <a:off x="645319" y="4917281"/>
            <a:ext cx="166688" cy="190500"/>
          </a:xfrm>
          <a:custGeom>
            <a:avLst/>
            <a:gdLst/>
            <a:ahLst/>
            <a:cxnLst/>
            <a:rect l="l" t="t" r="r" b="b"/>
            <a:pathLst>
              <a:path w="166688" h="190500">
                <a:moveTo>
                  <a:pt x="23812" y="11906"/>
                </a:moveTo>
                <a:cubicBezTo>
                  <a:pt x="10678" y="11906"/>
                  <a:pt x="0" y="22585"/>
                  <a:pt x="0" y="35719"/>
                </a:cubicBezTo>
                <a:lnTo>
                  <a:pt x="0" y="59531"/>
                </a:lnTo>
                <a:cubicBezTo>
                  <a:pt x="0" y="72665"/>
                  <a:pt x="10678" y="83344"/>
                  <a:pt x="23812" y="83344"/>
                </a:cubicBezTo>
                <a:lnTo>
                  <a:pt x="142875" y="83344"/>
                </a:lnTo>
                <a:cubicBezTo>
                  <a:pt x="156009" y="83344"/>
                  <a:pt x="166688" y="72665"/>
                  <a:pt x="166688" y="59531"/>
                </a:cubicBezTo>
                <a:lnTo>
                  <a:pt x="166688" y="35719"/>
                </a:lnTo>
                <a:cubicBezTo>
                  <a:pt x="166688" y="22585"/>
                  <a:pt x="156009" y="11906"/>
                  <a:pt x="142875" y="11906"/>
                </a:cubicBezTo>
                <a:lnTo>
                  <a:pt x="23812" y="11906"/>
                </a:lnTo>
                <a:close/>
                <a:moveTo>
                  <a:pt x="104180" y="38695"/>
                </a:moveTo>
                <a:cubicBezTo>
                  <a:pt x="109108" y="38695"/>
                  <a:pt x="113109" y="42697"/>
                  <a:pt x="113109" y="47625"/>
                </a:cubicBezTo>
                <a:cubicBezTo>
                  <a:pt x="113109" y="52553"/>
                  <a:pt x="109108" y="56555"/>
                  <a:pt x="104180" y="56555"/>
                </a:cubicBezTo>
                <a:cubicBezTo>
                  <a:pt x="99251" y="56555"/>
                  <a:pt x="95250" y="52553"/>
                  <a:pt x="95250" y="47625"/>
                </a:cubicBezTo>
                <a:cubicBezTo>
                  <a:pt x="95250" y="42697"/>
                  <a:pt x="99251" y="38695"/>
                  <a:pt x="104180" y="38695"/>
                </a:cubicBezTo>
                <a:close/>
                <a:moveTo>
                  <a:pt x="125016" y="47625"/>
                </a:moveTo>
                <a:cubicBezTo>
                  <a:pt x="125016" y="42697"/>
                  <a:pt x="129017" y="38695"/>
                  <a:pt x="133945" y="38695"/>
                </a:cubicBezTo>
                <a:cubicBezTo>
                  <a:pt x="138874" y="38695"/>
                  <a:pt x="142875" y="42697"/>
                  <a:pt x="142875" y="47625"/>
                </a:cubicBezTo>
                <a:cubicBezTo>
                  <a:pt x="142875" y="52553"/>
                  <a:pt x="138874" y="56555"/>
                  <a:pt x="133945" y="56555"/>
                </a:cubicBezTo>
                <a:cubicBezTo>
                  <a:pt x="129017" y="56555"/>
                  <a:pt x="125016" y="52553"/>
                  <a:pt x="125016" y="47625"/>
                </a:cubicBezTo>
                <a:close/>
                <a:moveTo>
                  <a:pt x="23812" y="107156"/>
                </a:moveTo>
                <a:cubicBezTo>
                  <a:pt x="10678" y="107156"/>
                  <a:pt x="0" y="117835"/>
                  <a:pt x="0" y="130969"/>
                </a:cubicBezTo>
                <a:lnTo>
                  <a:pt x="0" y="154781"/>
                </a:lnTo>
                <a:cubicBezTo>
                  <a:pt x="0" y="167915"/>
                  <a:pt x="10678" y="178594"/>
                  <a:pt x="23812" y="178594"/>
                </a:cubicBezTo>
                <a:lnTo>
                  <a:pt x="142875" y="178594"/>
                </a:lnTo>
                <a:cubicBezTo>
                  <a:pt x="156009" y="178594"/>
                  <a:pt x="166688" y="167915"/>
                  <a:pt x="166688" y="154781"/>
                </a:cubicBezTo>
                <a:lnTo>
                  <a:pt x="166688" y="130969"/>
                </a:lnTo>
                <a:cubicBezTo>
                  <a:pt x="166688" y="117835"/>
                  <a:pt x="156009" y="107156"/>
                  <a:pt x="142875" y="107156"/>
                </a:cubicBezTo>
                <a:lnTo>
                  <a:pt x="23812" y="107156"/>
                </a:lnTo>
                <a:close/>
                <a:moveTo>
                  <a:pt x="104180" y="133945"/>
                </a:moveTo>
                <a:cubicBezTo>
                  <a:pt x="109108" y="133945"/>
                  <a:pt x="113109" y="137947"/>
                  <a:pt x="113109" y="142875"/>
                </a:cubicBezTo>
                <a:cubicBezTo>
                  <a:pt x="113109" y="147803"/>
                  <a:pt x="109108" y="151805"/>
                  <a:pt x="104180" y="151805"/>
                </a:cubicBezTo>
                <a:cubicBezTo>
                  <a:pt x="99251" y="151805"/>
                  <a:pt x="95250" y="147803"/>
                  <a:pt x="95250" y="142875"/>
                </a:cubicBezTo>
                <a:cubicBezTo>
                  <a:pt x="95250" y="137947"/>
                  <a:pt x="99251" y="133945"/>
                  <a:pt x="104180" y="133945"/>
                </a:cubicBezTo>
                <a:close/>
                <a:moveTo>
                  <a:pt x="125016" y="142875"/>
                </a:moveTo>
                <a:cubicBezTo>
                  <a:pt x="125016" y="137947"/>
                  <a:pt x="129017" y="133945"/>
                  <a:pt x="133945" y="133945"/>
                </a:cubicBezTo>
                <a:cubicBezTo>
                  <a:pt x="138874" y="133945"/>
                  <a:pt x="142875" y="137947"/>
                  <a:pt x="142875" y="142875"/>
                </a:cubicBezTo>
                <a:cubicBezTo>
                  <a:pt x="142875" y="147803"/>
                  <a:pt x="138874" y="151805"/>
                  <a:pt x="133945" y="151805"/>
                </a:cubicBezTo>
                <a:cubicBezTo>
                  <a:pt x="129017" y="151805"/>
                  <a:pt x="125016" y="147803"/>
                  <a:pt x="125016" y="142875"/>
                </a:cubicBezTo>
                <a:close/>
              </a:path>
            </a:pathLst>
          </a:custGeom>
          <a:solidFill>
            <a:srgbClr val="3D8B75"/>
          </a:solidFill>
          <a:ln/>
        </p:spPr>
        <p:txBody>
          <a:bodyPr/>
          <a:lstStyle/>
          <a:p>
            <a:endParaRPr lang="zh-CN" altLang="en-US"/>
          </a:p>
        </p:txBody>
      </p:sp>
      <p:sp>
        <p:nvSpPr>
          <p:cNvPr id="18" name="Text 16"/>
          <p:cNvSpPr/>
          <p:nvPr/>
        </p:nvSpPr>
        <p:spPr>
          <a:xfrm>
            <a:off x="847725" y="4879181"/>
            <a:ext cx="50387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云端推理的三重约束</a:t>
            </a:r>
            <a:endParaRPr lang="en-US" sz="1600" dirty="0"/>
          </a:p>
        </p:txBody>
      </p:sp>
      <p:sp>
        <p:nvSpPr>
          <p:cNvPr id="19" name="Text 17"/>
          <p:cNvSpPr/>
          <p:nvPr/>
        </p:nvSpPr>
        <p:spPr>
          <a:xfrm>
            <a:off x="609600" y="5260181"/>
            <a:ext cx="5257800"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对云端推理服务而言，这意味着 </a:t>
            </a:r>
            <a:r>
              <a:rPr lang="en-US" sz="1200" dirty="0">
                <a:solidFill>
                  <a:srgbClr val="3D8B75"/>
                </a:solidFill>
                <a:highlight>
                  <a:srgbClr val="3D8B75">
                    <a:alpha val="20000"/>
                  </a:srgbClr>
                </a:highlight>
                <a:latin typeface="Noto Sans SC" pitchFamily="34" charset="0"/>
                <a:ea typeface="Noto Sans SC" pitchFamily="34" charset="-122"/>
                <a:cs typeface="Noto Sans SC" pitchFamily="34" charset="-120"/>
              </a:rPr>
              <a:t>每张 GPU 能同时处理的请求数量被严重挤压 </a:t>
            </a:r>
            <a:r>
              <a:rPr lang="en-US" sz="1200" dirty="0">
                <a:solidFill>
                  <a:srgbClr val="E0E2E5">
                    <a:alpha val="80000"/>
                  </a:srgbClr>
                </a:solidFill>
                <a:latin typeface="Noto Sans SC" pitchFamily="34" charset="0"/>
                <a:ea typeface="Noto Sans SC" pitchFamily="34" charset="-122"/>
                <a:cs typeface="Noto Sans SC" pitchFamily="34" charset="-120"/>
              </a:rPr>
              <a:t>，显存、带宽与延迟构成了三重约束。</a:t>
            </a:r>
            <a:endParaRPr lang="en-US" sz="1600" dirty="0"/>
          </a:p>
        </p:txBody>
      </p:sp>
      <p:sp>
        <p:nvSpPr>
          <p:cNvPr id="20" name="Shape 18"/>
          <p:cNvSpPr/>
          <p:nvPr/>
        </p:nvSpPr>
        <p:spPr>
          <a:xfrm>
            <a:off x="6229350" y="1371600"/>
            <a:ext cx="5581650" cy="2552700"/>
          </a:xfrm>
          <a:custGeom>
            <a:avLst/>
            <a:gdLst/>
            <a:ahLst/>
            <a:cxnLst/>
            <a:rect l="l" t="t" r="r" b="b"/>
            <a:pathLst>
              <a:path w="5581650" h="2552700">
                <a:moveTo>
                  <a:pt x="38100" y="0"/>
                </a:moveTo>
                <a:lnTo>
                  <a:pt x="5505452" y="0"/>
                </a:lnTo>
                <a:cubicBezTo>
                  <a:pt x="5547535" y="0"/>
                  <a:pt x="5581650" y="34115"/>
                  <a:pt x="5581650" y="76198"/>
                </a:cubicBezTo>
                <a:lnTo>
                  <a:pt x="5581650" y="2476502"/>
                </a:lnTo>
                <a:cubicBezTo>
                  <a:pt x="5581650" y="2518585"/>
                  <a:pt x="5547535" y="2552700"/>
                  <a:pt x="5505452" y="2552700"/>
                </a:cubicBezTo>
                <a:lnTo>
                  <a:pt x="38100" y="2552700"/>
                </a:lnTo>
                <a:cubicBezTo>
                  <a:pt x="17072" y="2552700"/>
                  <a:pt x="0" y="2535628"/>
                  <a:pt x="0" y="251460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21" name="Shape 19"/>
          <p:cNvSpPr/>
          <p:nvPr/>
        </p:nvSpPr>
        <p:spPr>
          <a:xfrm>
            <a:off x="6229350" y="1371600"/>
            <a:ext cx="38100" cy="2552700"/>
          </a:xfrm>
          <a:custGeom>
            <a:avLst/>
            <a:gdLst/>
            <a:ahLst/>
            <a:cxnLst/>
            <a:rect l="l" t="t" r="r" b="b"/>
            <a:pathLst>
              <a:path w="38100" h="2552700">
                <a:moveTo>
                  <a:pt x="38100" y="0"/>
                </a:moveTo>
                <a:lnTo>
                  <a:pt x="38100" y="0"/>
                </a:lnTo>
                <a:lnTo>
                  <a:pt x="38100" y="2552700"/>
                </a:lnTo>
                <a:lnTo>
                  <a:pt x="38100" y="2552700"/>
                </a:lnTo>
                <a:cubicBezTo>
                  <a:pt x="17072" y="2552700"/>
                  <a:pt x="0" y="2535628"/>
                  <a:pt x="0" y="25146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22" name="Shape 20"/>
          <p:cNvSpPr/>
          <p:nvPr/>
        </p:nvSpPr>
        <p:spPr>
          <a:xfrm>
            <a:off x="6462713" y="160020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C9A86A"/>
          </a:solidFill>
          <a:ln/>
        </p:spPr>
        <p:txBody>
          <a:bodyPr/>
          <a:lstStyle/>
          <a:p>
            <a:endParaRPr lang="zh-CN" altLang="en-US"/>
          </a:p>
        </p:txBody>
      </p:sp>
      <p:sp>
        <p:nvSpPr>
          <p:cNvPr id="23" name="Text 21"/>
          <p:cNvSpPr/>
          <p:nvPr/>
        </p:nvSpPr>
        <p:spPr>
          <a:xfrm>
            <a:off x="6677025" y="1562100"/>
            <a:ext cx="50387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核心命题</a:t>
            </a:r>
            <a:endParaRPr lang="en-US" sz="1600" dirty="0"/>
          </a:p>
        </p:txBody>
      </p:sp>
      <p:sp>
        <p:nvSpPr>
          <p:cNvPr id="24" name="Text 22"/>
          <p:cNvSpPr/>
          <p:nvPr/>
        </p:nvSpPr>
        <p:spPr>
          <a:xfrm>
            <a:off x="6438900" y="1943100"/>
            <a:ext cx="5257800"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KV Cache 的压缩，已不再是可选项，而是 </a:t>
            </a:r>
            <a:r>
              <a:rPr lang="en-US" sz="1200" b="1" dirty="0">
                <a:solidFill>
                  <a:srgbClr val="C9A86A"/>
                </a:solidFill>
                <a:latin typeface="Noto Sans SC" pitchFamily="34" charset="0"/>
                <a:ea typeface="Noto Sans SC" pitchFamily="34" charset="-122"/>
                <a:cs typeface="Noto Sans SC" pitchFamily="34" charset="-120"/>
              </a:rPr>
              <a:t>决定大模型服务成本与可扩展性的核心命题</a:t>
            </a:r>
            <a:r>
              <a:rPr lang="en-US" sz="1200" dirty="0">
                <a:solidFill>
                  <a:srgbClr val="E0E2E5">
                    <a:alpha val="80000"/>
                  </a:srgbClr>
                </a:solidFill>
                <a:latin typeface="Noto Sans SC" pitchFamily="34" charset="0"/>
                <a:ea typeface="Noto Sans SC" pitchFamily="34" charset="-122"/>
                <a:cs typeface="Noto Sans SC" pitchFamily="34" charset="-120"/>
              </a:rPr>
              <a:t> 。</a:t>
            </a:r>
            <a:endParaRPr lang="en-US" sz="1600" dirty="0"/>
          </a:p>
        </p:txBody>
      </p:sp>
      <p:sp>
        <p:nvSpPr>
          <p:cNvPr id="25" name="Shape 23"/>
          <p:cNvSpPr/>
          <p:nvPr/>
        </p:nvSpPr>
        <p:spPr>
          <a:xfrm>
            <a:off x="6438900" y="2933700"/>
            <a:ext cx="5181600" cy="800100"/>
          </a:xfrm>
          <a:custGeom>
            <a:avLst/>
            <a:gdLst/>
            <a:ahLst/>
            <a:cxnLst/>
            <a:rect l="l" t="t" r="r" b="b"/>
            <a:pathLst>
              <a:path w="5181600" h="800100">
                <a:moveTo>
                  <a:pt x="76202" y="0"/>
                </a:moveTo>
                <a:lnTo>
                  <a:pt x="5105398" y="0"/>
                </a:lnTo>
                <a:cubicBezTo>
                  <a:pt x="5147483" y="0"/>
                  <a:pt x="5181600" y="34117"/>
                  <a:pt x="5181600" y="76202"/>
                </a:cubicBezTo>
                <a:lnTo>
                  <a:pt x="5181600" y="723898"/>
                </a:lnTo>
                <a:cubicBezTo>
                  <a:pt x="5181600" y="765983"/>
                  <a:pt x="5147483" y="800100"/>
                  <a:pt x="5105398" y="800100"/>
                </a:cubicBezTo>
                <a:lnTo>
                  <a:pt x="76202" y="800100"/>
                </a:lnTo>
                <a:cubicBezTo>
                  <a:pt x="34117" y="800100"/>
                  <a:pt x="0" y="765983"/>
                  <a:pt x="0" y="723898"/>
                </a:cubicBezTo>
                <a:lnTo>
                  <a:pt x="0" y="76202"/>
                </a:lnTo>
                <a:cubicBezTo>
                  <a:pt x="0" y="34145"/>
                  <a:pt x="34145" y="0"/>
                  <a:pt x="76202" y="0"/>
                </a:cubicBezTo>
                <a:close/>
              </a:path>
            </a:pathLst>
          </a:custGeom>
          <a:solidFill>
            <a:srgbClr val="1A1D21">
              <a:alpha val="50196"/>
            </a:srgbClr>
          </a:solidFill>
          <a:ln/>
        </p:spPr>
        <p:txBody>
          <a:bodyPr/>
          <a:lstStyle/>
          <a:p>
            <a:endParaRPr lang="zh-CN" altLang="en-US"/>
          </a:p>
        </p:txBody>
      </p:sp>
      <p:sp>
        <p:nvSpPr>
          <p:cNvPr id="26" name="Text 24"/>
          <p:cNvSpPr/>
          <p:nvPr/>
        </p:nvSpPr>
        <p:spPr>
          <a:xfrm>
            <a:off x="6591300" y="3086100"/>
            <a:ext cx="4953000" cy="495300"/>
          </a:xfrm>
          <a:prstGeom prst="rect">
            <a:avLst/>
          </a:prstGeom>
          <a:noFill/>
          <a:ln/>
        </p:spPr>
        <p:txBody>
          <a:bodyPr wrap="square" lIns="0" tIns="0" rIns="0" bIns="0" rtlCol="0" anchor="ctr"/>
          <a:lstStyle/>
          <a:p>
            <a:pP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本文系统梳理当前 KV Cache 压缩技术的全貌，分析各类方法的原理、效果与局限，并在此基础上谨慎展望 2026 年的技术趋势。</a:t>
            </a:r>
            <a:endParaRPr lang="en-US" sz="1600" dirty="0"/>
          </a:p>
        </p:txBody>
      </p:sp>
      <p:sp>
        <p:nvSpPr>
          <p:cNvPr id="27" name="Shape 25"/>
          <p:cNvSpPr/>
          <p:nvPr/>
        </p:nvSpPr>
        <p:spPr>
          <a:xfrm>
            <a:off x="6229350" y="4076700"/>
            <a:ext cx="5581650" cy="2400300"/>
          </a:xfrm>
          <a:custGeom>
            <a:avLst/>
            <a:gdLst/>
            <a:ahLst/>
            <a:cxnLst/>
            <a:rect l="l" t="t" r="r" b="b"/>
            <a:pathLst>
              <a:path w="5581650" h="2400300">
                <a:moveTo>
                  <a:pt x="38100" y="0"/>
                </a:moveTo>
                <a:lnTo>
                  <a:pt x="5505440" y="0"/>
                </a:lnTo>
                <a:cubicBezTo>
                  <a:pt x="5547530" y="0"/>
                  <a:pt x="5581650" y="34120"/>
                  <a:pt x="5581650" y="76210"/>
                </a:cubicBezTo>
                <a:lnTo>
                  <a:pt x="5581650" y="2324090"/>
                </a:lnTo>
                <a:cubicBezTo>
                  <a:pt x="5581650" y="2366180"/>
                  <a:pt x="5547530" y="2400300"/>
                  <a:pt x="5505440" y="2400300"/>
                </a:cubicBezTo>
                <a:lnTo>
                  <a:pt x="38100" y="2400300"/>
                </a:lnTo>
                <a:cubicBezTo>
                  <a:pt x="17072" y="2400300"/>
                  <a:pt x="0" y="2383228"/>
                  <a:pt x="0" y="23622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28" name="Shape 26"/>
          <p:cNvSpPr/>
          <p:nvPr/>
        </p:nvSpPr>
        <p:spPr>
          <a:xfrm>
            <a:off x="6229350" y="4076700"/>
            <a:ext cx="38100" cy="2400300"/>
          </a:xfrm>
          <a:custGeom>
            <a:avLst/>
            <a:gdLst/>
            <a:ahLst/>
            <a:cxnLst/>
            <a:rect l="l" t="t" r="r" b="b"/>
            <a:pathLst>
              <a:path w="38100" h="2400300">
                <a:moveTo>
                  <a:pt x="38100" y="0"/>
                </a:moveTo>
                <a:lnTo>
                  <a:pt x="38100" y="0"/>
                </a:lnTo>
                <a:lnTo>
                  <a:pt x="38100" y="2400300"/>
                </a:lnTo>
                <a:lnTo>
                  <a:pt x="38100" y="2400300"/>
                </a:lnTo>
                <a:cubicBezTo>
                  <a:pt x="17072" y="2400300"/>
                  <a:pt x="0" y="2383228"/>
                  <a:pt x="0" y="23622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29" name="Text 27"/>
          <p:cNvSpPr/>
          <p:nvPr/>
        </p:nvSpPr>
        <p:spPr>
          <a:xfrm>
            <a:off x="6438900" y="4267200"/>
            <a:ext cx="52768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关键驱动因素</a:t>
            </a:r>
            <a:endParaRPr lang="en-US" sz="1600" dirty="0"/>
          </a:p>
        </p:txBody>
      </p:sp>
      <p:sp>
        <p:nvSpPr>
          <p:cNvPr id="30" name="Shape 28"/>
          <p:cNvSpPr/>
          <p:nvPr/>
        </p:nvSpPr>
        <p:spPr>
          <a:xfrm>
            <a:off x="6438900" y="4648200"/>
            <a:ext cx="2533650" cy="762000"/>
          </a:xfrm>
          <a:custGeom>
            <a:avLst/>
            <a:gdLst/>
            <a:ahLst/>
            <a:cxnLst/>
            <a:rect l="l" t="t" r="r" b="b"/>
            <a:pathLst>
              <a:path w="2533650" h="762000">
                <a:moveTo>
                  <a:pt x="76200" y="0"/>
                </a:moveTo>
                <a:lnTo>
                  <a:pt x="2457450" y="0"/>
                </a:lnTo>
                <a:cubicBezTo>
                  <a:pt x="2499506" y="0"/>
                  <a:pt x="2533650" y="34144"/>
                  <a:pt x="2533650" y="76200"/>
                </a:cubicBezTo>
                <a:lnTo>
                  <a:pt x="2533650" y="685800"/>
                </a:lnTo>
                <a:cubicBezTo>
                  <a:pt x="2533650" y="727856"/>
                  <a:pt x="2499506" y="762000"/>
                  <a:pt x="2457450" y="762000"/>
                </a:cubicBezTo>
                <a:lnTo>
                  <a:pt x="76200" y="762000"/>
                </a:lnTo>
                <a:cubicBezTo>
                  <a:pt x="34144" y="762000"/>
                  <a:pt x="0" y="727856"/>
                  <a:pt x="0" y="685800"/>
                </a:cubicBezTo>
                <a:lnTo>
                  <a:pt x="0" y="76200"/>
                </a:lnTo>
                <a:cubicBezTo>
                  <a:pt x="0" y="34144"/>
                  <a:pt x="34144" y="0"/>
                  <a:pt x="76200" y="0"/>
                </a:cubicBezTo>
                <a:close/>
              </a:path>
            </a:pathLst>
          </a:custGeom>
          <a:solidFill>
            <a:srgbClr val="1A1D21">
              <a:alpha val="50196"/>
            </a:srgbClr>
          </a:solidFill>
          <a:ln/>
        </p:spPr>
        <p:txBody>
          <a:bodyPr/>
          <a:lstStyle/>
          <a:p>
            <a:endParaRPr lang="zh-CN" altLang="en-US"/>
          </a:p>
        </p:txBody>
      </p:sp>
      <p:sp>
        <p:nvSpPr>
          <p:cNvPr id="31" name="Text 29"/>
          <p:cNvSpPr/>
          <p:nvPr/>
        </p:nvSpPr>
        <p:spPr>
          <a:xfrm>
            <a:off x="6496050" y="4762500"/>
            <a:ext cx="2419350" cy="304800"/>
          </a:xfrm>
          <a:prstGeom prst="rect">
            <a:avLst/>
          </a:prstGeom>
          <a:noFill/>
          <a:ln/>
        </p:spPr>
        <p:txBody>
          <a:bodyPr wrap="square" lIns="0" tIns="0" rIns="0" bIns="0" rtlCol="0" anchor="ctr"/>
          <a:lstStyle/>
          <a:p>
            <a:pPr algn="ctr">
              <a:lnSpc>
                <a:spcPct val="110000"/>
              </a:lnSpc>
            </a:pPr>
            <a:r>
              <a:rPr lang="en-US" sz="1800" b="1" dirty="0">
                <a:solidFill>
                  <a:srgbClr val="3D8B75"/>
                </a:solidFill>
                <a:latin typeface="Noto Sans SC" pitchFamily="34" charset="0"/>
                <a:ea typeface="Noto Sans SC" pitchFamily="34" charset="-122"/>
                <a:cs typeface="Noto Sans SC" pitchFamily="34" charset="-120"/>
              </a:rPr>
              <a:t>更深</a:t>
            </a:r>
            <a:endParaRPr lang="en-US" sz="1600" dirty="0"/>
          </a:p>
        </p:txBody>
      </p:sp>
      <p:sp>
        <p:nvSpPr>
          <p:cNvPr id="32" name="Text 30"/>
          <p:cNvSpPr/>
          <p:nvPr/>
        </p:nvSpPr>
        <p:spPr>
          <a:xfrm>
            <a:off x="6519863" y="5105400"/>
            <a:ext cx="2371725" cy="190500"/>
          </a:xfrm>
          <a:prstGeom prst="rect">
            <a:avLst/>
          </a:prstGeom>
          <a:noFill/>
          <a:ln/>
        </p:spPr>
        <p:txBody>
          <a:bodyPr wrap="square" lIns="0" tIns="0" rIns="0" bIns="0" rtlCol="0" anchor="ctr"/>
          <a:lstStyle/>
          <a:p>
            <a:pPr algn="ct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网络层数</a:t>
            </a:r>
            <a:endParaRPr lang="en-US" sz="1600" dirty="0"/>
          </a:p>
        </p:txBody>
      </p:sp>
      <p:sp>
        <p:nvSpPr>
          <p:cNvPr id="33" name="Shape 31"/>
          <p:cNvSpPr/>
          <p:nvPr/>
        </p:nvSpPr>
        <p:spPr>
          <a:xfrm>
            <a:off x="9086850" y="4648200"/>
            <a:ext cx="2533650" cy="762000"/>
          </a:xfrm>
          <a:custGeom>
            <a:avLst/>
            <a:gdLst/>
            <a:ahLst/>
            <a:cxnLst/>
            <a:rect l="l" t="t" r="r" b="b"/>
            <a:pathLst>
              <a:path w="2533650" h="762000">
                <a:moveTo>
                  <a:pt x="76200" y="0"/>
                </a:moveTo>
                <a:lnTo>
                  <a:pt x="2457450" y="0"/>
                </a:lnTo>
                <a:cubicBezTo>
                  <a:pt x="2499506" y="0"/>
                  <a:pt x="2533650" y="34144"/>
                  <a:pt x="2533650" y="76200"/>
                </a:cubicBezTo>
                <a:lnTo>
                  <a:pt x="2533650" y="685800"/>
                </a:lnTo>
                <a:cubicBezTo>
                  <a:pt x="2533650" y="727856"/>
                  <a:pt x="2499506" y="762000"/>
                  <a:pt x="2457450" y="762000"/>
                </a:cubicBezTo>
                <a:lnTo>
                  <a:pt x="76200" y="762000"/>
                </a:lnTo>
                <a:cubicBezTo>
                  <a:pt x="34144" y="762000"/>
                  <a:pt x="0" y="727856"/>
                  <a:pt x="0" y="685800"/>
                </a:cubicBezTo>
                <a:lnTo>
                  <a:pt x="0" y="76200"/>
                </a:lnTo>
                <a:cubicBezTo>
                  <a:pt x="0" y="34144"/>
                  <a:pt x="34144" y="0"/>
                  <a:pt x="76200" y="0"/>
                </a:cubicBezTo>
                <a:close/>
              </a:path>
            </a:pathLst>
          </a:custGeom>
          <a:solidFill>
            <a:srgbClr val="1A1D21">
              <a:alpha val="50196"/>
            </a:srgbClr>
          </a:solidFill>
          <a:ln/>
        </p:spPr>
        <p:txBody>
          <a:bodyPr/>
          <a:lstStyle/>
          <a:p>
            <a:endParaRPr lang="zh-CN" altLang="en-US"/>
          </a:p>
        </p:txBody>
      </p:sp>
      <p:sp>
        <p:nvSpPr>
          <p:cNvPr id="34" name="Text 32"/>
          <p:cNvSpPr/>
          <p:nvPr/>
        </p:nvSpPr>
        <p:spPr>
          <a:xfrm>
            <a:off x="9144000" y="4762500"/>
            <a:ext cx="2419350" cy="304800"/>
          </a:xfrm>
          <a:prstGeom prst="rect">
            <a:avLst/>
          </a:prstGeom>
          <a:noFill/>
          <a:ln/>
        </p:spPr>
        <p:txBody>
          <a:bodyPr wrap="square" lIns="0" tIns="0" rIns="0" bIns="0" rtlCol="0" anchor="ctr"/>
          <a:lstStyle/>
          <a:p>
            <a:pPr algn="ctr">
              <a:lnSpc>
                <a:spcPct val="110000"/>
              </a:lnSpc>
            </a:pPr>
            <a:r>
              <a:rPr lang="en-US" sz="1800" b="1" dirty="0">
                <a:solidFill>
                  <a:srgbClr val="3D8B75"/>
                </a:solidFill>
                <a:latin typeface="Noto Sans SC" pitchFamily="34" charset="0"/>
                <a:ea typeface="Noto Sans SC" pitchFamily="34" charset="-122"/>
                <a:cs typeface="Noto Sans SC" pitchFamily="34" charset="-120"/>
              </a:rPr>
              <a:t>更宽</a:t>
            </a:r>
            <a:endParaRPr lang="en-US" sz="1600" dirty="0"/>
          </a:p>
        </p:txBody>
      </p:sp>
      <p:sp>
        <p:nvSpPr>
          <p:cNvPr id="35" name="Text 33"/>
          <p:cNvSpPr/>
          <p:nvPr/>
        </p:nvSpPr>
        <p:spPr>
          <a:xfrm>
            <a:off x="9167813" y="5105400"/>
            <a:ext cx="2371725" cy="190500"/>
          </a:xfrm>
          <a:prstGeom prst="rect">
            <a:avLst/>
          </a:prstGeom>
          <a:noFill/>
          <a:ln/>
        </p:spPr>
        <p:txBody>
          <a:bodyPr wrap="square" lIns="0" tIns="0" rIns="0" bIns="0" rtlCol="0" anchor="ctr"/>
          <a:lstStyle/>
          <a:p>
            <a:pPr algn="ct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隐层维度</a:t>
            </a:r>
            <a:endParaRPr lang="en-US" sz="1600" dirty="0"/>
          </a:p>
        </p:txBody>
      </p:sp>
      <p:sp>
        <p:nvSpPr>
          <p:cNvPr id="36" name="Shape 34"/>
          <p:cNvSpPr/>
          <p:nvPr/>
        </p:nvSpPr>
        <p:spPr>
          <a:xfrm>
            <a:off x="6438900" y="5524500"/>
            <a:ext cx="2533650" cy="762000"/>
          </a:xfrm>
          <a:custGeom>
            <a:avLst/>
            <a:gdLst/>
            <a:ahLst/>
            <a:cxnLst/>
            <a:rect l="l" t="t" r="r" b="b"/>
            <a:pathLst>
              <a:path w="2533650" h="762000">
                <a:moveTo>
                  <a:pt x="76200" y="0"/>
                </a:moveTo>
                <a:lnTo>
                  <a:pt x="2457450" y="0"/>
                </a:lnTo>
                <a:cubicBezTo>
                  <a:pt x="2499506" y="0"/>
                  <a:pt x="2533650" y="34144"/>
                  <a:pt x="2533650" y="76200"/>
                </a:cubicBezTo>
                <a:lnTo>
                  <a:pt x="2533650" y="685800"/>
                </a:lnTo>
                <a:cubicBezTo>
                  <a:pt x="2533650" y="727856"/>
                  <a:pt x="2499506" y="762000"/>
                  <a:pt x="2457450" y="762000"/>
                </a:cubicBezTo>
                <a:lnTo>
                  <a:pt x="76200" y="762000"/>
                </a:lnTo>
                <a:cubicBezTo>
                  <a:pt x="34144" y="762000"/>
                  <a:pt x="0" y="727856"/>
                  <a:pt x="0" y="685800"/>
                </a:cubicBezTo>
                <a:lnTo>
                  <a:pt x="0" y="76200"/>
                </a:lnTo>
                <a:cubicBezTo>
                  <a:pt x="0" y="34144"/>
                  <a:pt x="34144" y="0"/>
                  <a:pt x="76200" y="0"/>
                </a:cubicBezTo>
                <a:close/>
              </a:path>
            </a:pathLst>
          </a:custGeom>
          <a:solidFill>
            <a:srgbClr val="1A1D21">
              <a:alpha val="50196"/>
            </a:srgbClr>
          </a:solidFill>
          <a:ln/>
        </p:spPr>
        <p:txBody>
          <a:bodyPr/>
          <a:lstStyle/>
          <a:p>
            <a:endParaRPr lang="zh-CN" altLang="en-US"/>
          </a:p>
        </p:txBody>
      </p:sp>
      <p:sp>
        <p:nvSpPr>
          <p:cNvPr id="37" name="Text 35"/>
          <p:cNvSpPr/>
          <p:nvPr/>
        </p:nvSpPr>
        <p:spPr>
          <a:xfrm>
            <a:off x="6496050" y="5638800"/>
            <a:ext cx="2419350" cy="304800"/>
          </a:xfrm>
          <a:prstGeom prst="rect">
            <a:avLst/>
          </a:prstGeom>
          <a:noFill/>
          <a:ln/>
        </p:spPr>
        <p:txBody>
          <a:bodyPr wrap="square" lIns="0" tIns="0" rIns="0" bIns="0" rtlCol="0" anchor="ctr"/>
          <a:lstStyle/>
          <a:p>
            <a:pPr algn="ctr">
              <a:lnSpc>
                <a:spcPct val="110000"/>
              </a:lnSpc>
            </a:pPr>
            <a:r>
              <a:rPr lang="en-US" sz="1800" b="1" dirty="0">
                <a:solidFill>
                  <a:srgbClr val="C9A86A"/>
                </a:solidFill>
                <a:latin typeface="Noto Sans SC" pitchFamily="34" charset="0"/>
                <a:ea typeface="Noto Sans SC" pitchFamily="34" charset="-122"/>
                <a:cs typeface="Noto Sans SC" pitchFamily="34" charset="-120"/>
              </a:rPr>
              <a:t>更长</a:t>
            </a:r>
            <a:endParaRPr lang="en-US" sz="1600" dirty="0"/>
          </a:p>
        </p:txBody>
      </p:sp>
      <p:sp>
        <p:nvSpPr>
          <p:cNvPr id="38" name="Text 36"/>
          <p:cNvSpPr/>
          <p:nvPr/>
        </p:nvSpPr>
        <p:spPr>
          <a:xfrm>
            <a:off x="6519863" y="5981700"/>
            <a:ext cx="2371725" cy="190500"/>
          </a:xfrm>
          <a:prstGeom prst="rect">
            <a:avLst/>
          </a:prstGeom>
          <a:noFill/>
          <a:ln/>
        </p:spPr>
        <p:txBody>
          <a:bodyPr wrap="square" lIns="0" tIns="0" rIns="0" bIns="0" rtlCol="0" anchor="ctr"/>
          <a:lstStyle/>
          <a:p>
            <a:pPr algn="ct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上下文序列</a:t>
            </a:r>
            <a:endParaRPr lang="en-US" sz="1600" dirty="0"/>
          </a:p>
        </p:txBody>
      </p:sp>
      <p:sp>
        <p:nvSpPr>
          <p:cNvPr id="39" name="Shape 37"/>
          <p:cNvSpPr/>
          <p:nvPr/>
        </p:nvSpPr>
        <p:spPr>
          <a:xfrm>
            <a:off x="9086850" y="5524500"/>
            <a:ext cx="2533650" cy="762000"/>
          </a:xfrm>
          <a:custGeom>
            <a:avLst/>
            <a:gdLst/>
            <a:ahLst/>
            <a:cxnLst/>
            <a:rect l="l" t="t" r="r" b="b"/>
            <a:pathLst>
              <a:path w="2533650" h="762000">
                <a:moveTo>
                  <a:pt x="76200" y="0"/>
                </a:moveTo>
                <a:lnTo>
                  <a:pt x="2457450" y="0"/>
                </a:lnTo>
                <a:cubicBezTo>
                  <a:pt x="2499506" y="0"/>
                  <a:pt x="2533650" y="34144"/>
                  <a:pt x="2533650" y="76200"/>
                </a:cubicBezTo>
                <a:lnTo>
                  <a:pt x="2533650" y="685800"/>
                </a:lnTo>
                <a:cubicBezTo>
                  <a:pt x="2533650" y="727856"/>
                  <a:pt x="2499506" y="762000"/>
                  <a:pt x="2457450" y="762000"/>
                </a:cubicBezTo>
                <a:lnTo>
                  <a:pt x="76200" y="762000"/>
                </a:lnTo>
                <a:cubicBezTo>
                  <a:pt x="34144" y="762000"/>
                  <a:pt x="0" y="727856"/>
                  <a:pt x="0" y="685800"/>
                </a:cubicBezTo>
                <a:lnTo>
                  <a:pt x="0" y="76200"/>
                </a:lnTo>
                <a:cubicBezTo>
                  <a:pt x="0" y="34144"/>
                  <a:pt x="34144" y="0"/>
                  <a:pt x="76200" y="0"/>
                </a:cubicBezTo>
                <a:close/>
              </a:path>
            </a:pathLst>
          </a:custGeom>
          <a:solidFill>
            <a:srgbClr val="1A1D21">
              <a:alpha val="50196"/>
            </a:srgbClr>
          </a:solidFill>
          <a:ln/>
        </p:spPr>
        <p:txBody>
          <a:bodyPr/>
          <a:lstStyle/>
          <a:p>
            <a:endParaRPr lang="zh-CN" altLang="en-US"/>
          </a:p>
        </p:txBody>
      </p:sp>
      <p:sp>
        <p:nvSpPr>
          <p:cNvPr id="40" name="Text 38"/>
          <p:cNvSpPr/>
          <p:nvPr/>
        </p:nvSpPr>
        <p:spPr>
          <a:xfrm>
            <a:off x="9144000" y="5638800"/>
            <a:ext cx="2419350" cy="304800"/>
          </a:xfrm>
          <a:prstGeom prst="rect">
            <a:avLst/>
          </a:prstGeom>
          <a:noFill/>
          <a:ln/>
        </p:spPr>
        <p:txBody>
          <a:bodyPr wrap="square" lIns="0" tIns="0" rIns="0" bIns="0" rtlCol="0" anchor="ctr"/>
          <a:lstStyle/>
          <a:p>
            <a:pPr algn="ctr">
              <a:lnSpc>
                <a:spcPct val="110000"/>
              </a:lnSpc>
            </a:pPr>
            <a:r>
              <a:rPr lang="en-US" sz="1800" b="1" dirty="0">
                <a:solidFill>
                  <a:srgbClr val="C9A86A"/>
                </a:solidFill>
                <a:latin typeface="Noto Sans SC" pitchFamily="34" charset="0"/>
                <a:ea typeface="Noto Sans SC" pitchFamily="34" charset="-122"/>
                <a:cs typeface="Noto Sans SC" pitchFamily="34" charset="-120"/>
              </a:rPr>
              <a:t>更大</a:t>
            </a:r>
            <a:endParaRPr lang="en-US" sz="1600" dirty="0"/>
          </a:p>
        </p:txBody>
      </p:sp>
      <p:sp>
        <p:nvSpPr>
          <p:cNvPr id="41" name="Text 39"/>
          <p:cNvSpPr/>
          <p:nvPr/>
        </p:nvSpPr>
        <p:spPr>
          <a:xfrm>
            <a:off x="9167813" y="5981700"/>
            <a:ext cx="2371725" cy="190500"/>
          </a:xfrm>
          <a:prstGeom prst="rect">
            <a:avLst/>
          </a:prstGeom>
          <a:noFill/>
          <a:ln/>
        </p:spPr>
        <p:txBody>
          <a:bodyPr wrap="square" lIns="0" tIns="0" rIns="0" bIns="0" rtlCol="0" anchor="ctr"/>
          <a:lstStyle/>
          <a:p>
            <a:pPr algn="ct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并发请求数</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CORE VIEWPOINTS</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核心观点：四维冗余与不可能三角</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371600"/>
            <a:ext cx="5619750" cy="3505200"/>
          </a:xfrm>
          <a:custGeom>
            <a:avLst/>
            <a:gdLst/>
            <a:ahLst/>
            <a:cxnLst/>
            <a:rect l="l" t="t" r="r" b="b"/>
            <a:pathLst>
              <a:path w="5619750" h="3505200">
                <a:moveTo>
                  <a:pt x="38100" y="0"/>
                </a:moveTo>
                <a:lnTo>
                  <a:pt x="5543547" y="0"/>
                </a:lnTo>
                <a:cubicBezTo>
                  <a:pt x="5585633" y="0"/>
                  <a:pt x="5619750" y="34117"/>
                  <a:pt x="5619750" y="76203"/>
                </a:cubicBezTo>
                <a:lnTo>
                  <a:pt x="5619750" y="3428997"/>
                </a:lnTo>
                <a:cubicBezTo>
                  <a:pt x="5619750" y="3471083"/>
                  <a:pt x="5585633" y="3505200"/>
                  <a:pt x="5543547" y="3505200"/>
                </a:cubicBezTo>
                <a:lnTo>
                  <a:pt x="38100" y="3505200"/>
                </a:lnTo>
                <a:cubicBezTo>
                  <a:pt x="17072" y="3505200"/>
                  <a:pt x="0" y="3488128"/>
                  <a:pt x="0" y="34671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371600"/>
            <a:ext cx="38100" cy="3505200"/>
          </a:xfrm>
          <a:custGeom>
            <a:avLst/>
            <a:gdLst/>
            <a:ahLst/>
            <a:cxnLst/>
            <a:rect l="l" t="t" r="r" b="b"/>
            <a:pathLst>
              <a:path w="38100" h="3505200">
                <a:moveTo>
                  <a:pt x="38100" y="0"/>
                </a:moveTo>
                <a:lnTo>
                  <a:pt x="38100" y="0"/>
                </a:lnTo>
                <a:lnTo>
                  <a:pt x="38100" y="3505200"/>
                </a:lnTo>
                <a:lnTo>
                  <a:pt x="38100" y="3505200"/>
                </a:lnTo>
                <a:cubicBezTo>
                  <a:pt x="17072" y="3505200"/>
                  <a:pt x="0" y="3488128"/>
                  <a:pt x="0" y="34671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Shape 5"/>
          <p:cNvSpPr/>
          <p:nvPr/>
        </p:nvSpPr>
        <p:spPr>
          <a:xfrm>
            <a:off x="609600"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3D8B75"/>
          </a:solidFill>
          <a:ln/>
        </p:spPr>
        <p:txBody>
          <a:bodyPr/>
          <a:lstStyle/>
          <a:p>
            <a:endParaRPr lang="zh-CN" altLang="en-US"/>
          </a:p>
        </p:txBody>
      </p:sp>
      <p:sp>
        <p:nvSpPr>
          <p:cNvPr id="8" name="Shape 6"/>
          <p:cNvSpPr/>
          <p:nvPr/>
        </p:nvSpPr>
        <p:spPr>
          <a:xfrm>
            <a:off x="742950" y="1695450"/>
            <a:ext cx="190500" cy="190500"/>
          </a:xfrm>
          <a:custGeom>
            <a:avLst/>
            <a:gdLst/>
            <a:ahLst/>
            <a:cxnLst/>
            <a:rect l="l" t="t" r="r" b="b"/>
            <a:pathLst>
              <a:path w="190500" h="190500">
                <a:moveTo>
                  <a:pt x="83455" y="-930"/>
                </a:moveTo>
                <a:cubicBezTo>
                  <a:pt x="90822" y="-5172"/>
                  <a:pt x="99901" y="-5172"/>
                  <a:pt x="107268" y="-930"/>
                </a:cubicBezTo>
                <a:lnTo>
                  <a:pt x="172715" y="36835"/>
                </a:lnTo>
                <a:cubicBezTo>
                  <a:pt x="180082" y="41077"/>
                  <a:pt x="184621" y="48964"/>
                  <a:pt x="184621" y="57448"/>
                </a:cubicBezTo>
                <a:lnTo>
                  <a:pt x="184621" y="132978"/>
                </a:lnTo>
                <a:cubicBezTo>
                  <a:pt x="184621" y="141498"/>
                  <a:pt x="180082" y="149349"/>
                  <a:pt x="172715" y="153591"/>
                </a:cubicBezTo>
                <a:lnTo>
                  <a:pt x="107268" y="191430"/>
                </a:lnTo>
                <a:cubicBezTo>
                  <a:pt x="99901" y="195672"/>
                  <a:pt x="90822" y="195672"/>
                  <a:pt x="83455" y="191430"/>
                </a:cubicBezTo>
                <a:lnTo>
                  <a:pt x="18045" y="153665"/>
                </a:lnTo>
                <a:cubicBezTo>
                  <a:pt x="10678" y="149423"/>
                  <a:pt x="6139" y="141536"/>
                  <a:pt x="6139" y="133052"/>
                </a:cubicBezTo>
                <a:lnTo>
                  <a:pt x="6139" y="57522"/>
                </a:lnTo>
                <a:cubicBezTo>
                  <a:pt x="6139" y="49002"/>
                  <a:pt x="10678" y="41151"/>
                  <a:pt x="18045" y="36909"/>
                </a:cubicBezTo>
                <a:lnTo>
                  <a:pt x="83455" y="-930"/>
                </a:lnTo>
                <a:close/>
                <a:moveTo>
                  <a:pt x="160772" y="133015"/>
                </a:moveTo>
                <a:lnTo>
                  <a:pt x="160772" y="71214"/>
                </a:lnTo>
                <a:lnTo>
                  <a:pt x="107268" y="102096"/>
                </a:lnTo>
                <a:lnTo>
                  <a:pt x="107268" y="163897"/>
                </a:lnTo>
                <a:lnTo>
                  <a:pt x="160772" y="133015"/>
                </a:lnTo>
                <a:close/>
              </a:path>
            </a:pathLst>
          </a:custGeom>
          <a:solidFill>
            <a:srgbClr val="FFFFFF"/>
          </a:solidFill>
          <a:ln/>
        </p:spPr>
        <p:txBody>
          <a:bodyPr/>
          <a:lstStyle/>
          <a:p>
            <a:endParaRPr lang="zh-CN" altLang="en-US"/>
          </a:p>
        </p:txBody>
      </p:sp>
      <p:sp>
        <p:nvSpPr>
          <p:cNvPr id="9" name="Text 7"/>
          <p:cNvSpPr/>
          <p:nvPr/>
        </p:nvSpPr>
        <p:spPr>
          <a:xfrm>
            <a:off x="1181100" y="1657350"/>
            <a:ext cx="12382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四维冗余模型</a:t>
            </a:r>
            <a:endParaRPr lang="en-US" sz="1600" dirty="0"/>
          </a:p>
        </p:txBody>
      </p:sp>
      <p:sp>
        <p:nvSpPr>
          <p:cNvPr id="10" name="Text 8"/>
          <p:cNvSpPr/>
          <p:nvPr/>
        </p:nvSpPr>
        <p:spPr>
          <a:xfrm>
            <a:off x="609600" y="2133600"/>
            <a:ext cx="5295900"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KV Cache 存在 </a:t>
            </a:r>
            <a:r>
              <a:rPr lang="en-US" sz="1200" b="1" dirty="0">
                <a:solidFill>
                  <a:srgbClr val="3D8B75"/>
                </a:solidFill>
                <a:latin typeface="Noto Sans SC" pitchFamily="34" charset="0"/>
                <a:ea typeface="Noto Sans SC" pitchFamily="34" charset="-122"/>
                <a:cs typeface="Noto Sans SC" pitchFamily="34" charset="-120"/>
              </a:rPr>
              <a:t>Token、Feature、Structure、System</a:t>
            </a:r>
            <a:r>
              <a:rPr lang="en-US" sz="1200" dirty="0">
                <a:solidFill>
                  <a:srgbClr val="E0E2E5">
                    <a:alpha val="80000"/>
                  </a:srgbClr>
                </a:solidFill>
                <a:latin typeface="Noto Sans SC" pitchFamily="34" charset="0"/>
                <a:ea typeface="Noto Sans SC" pitchFamily="34" charset="-122"/>
                <a:cs typeface="Noto Sans SC" pitchFamily="34" charset="-120"/>
              </a:rPr>
              <a:t> 四个维度的冗余，构成了所有压缩技术的理论基础。</a:t>
            </a:r>
            <a:endParaRPr lang="en-US" sz="1600" dirty="0"/>
          </a:p>
        </p:txBody>
      </p:sp>
      <p:sp>
        <p:nvSpPr>
          <p:cNvPr id="11" name="Shape 9"/>
          <p:cNvSpPr/>
          <p:nvPr/>
        </p:nvSpPr>
        <p:spPr>
          <a:xfrm>
            <a:off x="609600" y="3314700"/>
            <a:ext cx="2571750" cy="647700"/>
          </a:xfrm>
          <a:custGeom>
            <a:avLst/>
            <a:gdLst/>
            <a:ahLst/>
            <a:cxnLst/>
            <a:rect l="l" t="t" r="r" b="b"/>
            <a:pathLst>
              <a:path w="2571750" h="647700">
                <a:moveTo>
                  <a:pt x="76202" y="0"/>
                </a:moveTo>
                <a:lnTo>
                  <a:pt x="2495548" y="0"/>
                </a:lnTo>
                <a:cubicBezTo>
                  <a:pt x="2537633" y="0"/>
                  <a:pt x="2571750" y="34117"/>
                  <a:pt x="2571750" y="76202"/>
                </a:cubicBezTo>
                <a:lnTo>
                  <a:pt x="2571750" y="571498"/>
                </a:lnTo>
                <a:cubicBezTo>
                  <a:pt x="2571750" y="613583"/>
                  <a:pt x="2537633" y="647700"/>
                  <a:pt x="2495548" y="647700"/>
                </a:cubicBezTo>
                <a:lnTo>
                  <a:pt x="76202" y="647700"/>
                </a:lnTo>
                <a:cubicBezTo>
                  <a:pt x="34117" y="647700"/>
                  <a:pt x="0" y="613583"/>
                  <a:pt x="0" y="57149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12" name="Text 10"/>
          <p:cNvSpPr/>
          <p:nvPr/>
        </p:nvSpPr>
        <p:spPr>
          <a:xfrm>
            <a:off x="723900" y="3429000"/>
            <a:ext cx="2409825" cy="190500"/>
          </a:xfrm>
          <a:prstGeom prst="rect">
            <a:avLst/>
          </a:prstGeom>
          <a:noFill/>
          <a:ln/>
        </p:spPr>
        <p:txBody>
          <a:bodyPr wrap="square" lIns="0" tIns="0" rIns="0" bIns="0" rtlCol="0" anchor="ctr"/>
          <a:lstStyle/>
          <a:p>
            <a:pPr>
              <a:lnSpc>
                <a:spcPct val="120000"/>
              </a:lnSpc>
            </a:pPr>
            <a:r>
              <a:rPr lang="en-US" sz="1050" b="1" dirty="0">
                <a:solidFill>
                  <a:srgbClr val="3D8B75"/>
                </a:solidFill>
                <a:latin typeface="Noto Sans SC" pitchFamily="34" charset="0"/>
                <a:ea typeface="Noto Sans SC" pitchFamily="34" charset="-122"/>
                <a:cs typeface="Noto Sans SC" pitchFamily="34" charset="-120"/>
              </a:rPr>
              <a:t>Token 维</a:t>
            </a:r>
            <a:endParaRPr lang="en-US" sz="1600" dirty="0"/>
          </a:p>
        </p:txBody>
      </p:sp>
      <p:sp>
        <p:nvSpPr>
          <p:cNvPr id="13" name="Text 11"/>
          <p:cNvSpPr/>
          <p:nvPr/>
        </p:nvSpPr>
        <p:spPr>
          <a:xfrm>
            <a:off x="723900" y="3657600"/>
            <a:ext cx="240982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序列长度冗余</a:t>
            </a:r>
            <a:endParaRPr lang="en-US" sz="1600" dirty="0"/>
          </a:p>
        </p:txBody>
      </p:sp>
      <p:sp>
        <p:nvSpPr>
          <p:cNvPr id="14" name="Shape 12"/>
          <p:cNvSpPr/>
          <p:nvPr/>
        </p:nvSpPr>
        <p:spPr>
          <a:xfrm>
            <a:off x="3257550" y="3314700"/>
            <a:ext cx="2571750" cy="647700"/>
          </a:xfrm>
          <a:custGeom>
            <a:avLst/>
            <a:gdLst/>
            <a:ahLst/>
            <a:cxnLst/>
            <a:rect l="l" t="t" r="r" b="b"/>
            <a:pathLst>
              <a:path w="2571750" h="647700">
                <a:moveTo>
                  <a:pt x="76202" y="0"/>
                </a:moveTo>
                <a:lnTo>
                  <a:pt x="2495548" y="0"/>
                </a:lnTo>
                <a:cubicBezTo>
                  <a:pt x="2537633" y="0"/>
                  <a:pt x="2571750" y="34117"/>
                  <a:pt x="2571750" y="76202"/>
                </a:cubicBezTo>
                <a:lnTo>
                  <a:pt x="2571750" y="571498"/>
                </a:lnTo>
                <a:cubicBezTo>
                  <a:pt x="2571750" y="613583"/>
                  <a:pt x="2537633" y="647700"/>
                  <a:pt x="2495548" y="647700"/>
                </a:cubicBezTo>
                <a:lnTo>
                  <a:pt x="76202" y="647700"/>
                </a:lnTo>
                <a:cubicBezTo>
                  <a:pt x="34117" y="647700"/>
                  <a:pt x="0" y="613583"/>
                  <a:pt x="0" y="57149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15" name="Text 13"/>
          <p:cNvSpPr/>
          <p:nvPr/>
        </p:nvSpPr>
        <p:spPr>
          <a:xfrm>
            <a:off x="3371850" y="3429000"/>
            <a:ext cx="2409825" cy="190500"/>
          </a:xfrm>
          <a:prstGeom prst="rect">
            <a:avLst/>
          </a:prstGeom>
          <a:noFill/>
          <a:ln/>
        </p:spPr>
        <p:txBody>
          <a:bodyPr wrap="square" lIns="0" tIns="0" rIns="0" bIns="0" rtlCol="0" anchor="ctr"/>
          <a:lstStyle/>
          <a:p>
            <a:pPr>
              <a:lnSpc>
                <a:spcPct val="120000"/>
              </a:lnSpc>
            </a:pPr>
            <a:r>
              <a:rPr lang="en-US" sz="1050" b="1" dirty="0">
                <a:solidFill>
                  <a:srgbClr val="3D8B75"/>
                </a:solidFill>
                <a:latin typeface="Noto Sans SC" pitchFamily="34" charset="0"/>
                <a:ea typeface="Noto Sans SC" pitchFamily="34" charset="-122"/>
                <a:cs typeface="Noto Sans SC" pitchFamily="34" charset="-120"/>
              </a:rPr>
              <a:t>Feature 维</a:t>
            </a:r>
            <a:endParaRPr lang="en-US" sz="1600" dirty="0"/>
          </a:p>
        </p:txBody>
      </p:sp>
      <p:sp>
        <p:nvSpPr>
          <p:cNvPr id="16" name="Text 14"/>
          <p:cNvSpPr/>
          <p:nvPr/>
        </p:nvSpPr>
        <p:spPr>
          <a:xfrm>
            <a:off x="3371850" y="3657600"/>
            <a:ext cx="240982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隐层维度冗余</a:t>
            </a:r>
            <a:endParaRPr lang="en-US" sz="1600" dirty="0"/>
          </a:p>
        </p:txBody>
      </p:sp>
      <p:sp>
        <p:nvSpPr>
          <p:cNvPr id="17" name="Shape 15"/>
          <p:cNvSpPr/>
          <p:nvPr/>
        </p:nvSpPr>
        <p:spPr>
          <a:xfrm>
            <a:off x="609600" y="4038600"/>
            <a:ext cx="2571750" cy="647700"/>
          </a:xfrm>
          <a:custGeom>
            <a:avLst/>
            <a:gdLst/>
            <a:ahLst/>
            <a:cxnLst/>
            <a:rect l="l" t="t" r="r" b="b"/>
            <a:pathLst>
              <a:path w="2571750" h="647700">
                <a:moveTo>
                  <a:pt x="76202" y="0"/>
                </a:moveTo>
                <a:lnTo>
                  <a:pt x="2495548" y="0"/>
                </a:lnTo>
                <a:cubicBezTo>
                  <a:pt x="2537633" y="0"/>
                  <a:pt x="2571750" y="34117"/>
                  <a:pt x="2571750" y="76202"/>
                </a:cubicBezTo>
                <a:lnTo>
                  <a:pt x="2571750" y="571498"/>
                </a:lnTo>
                <a:cubicBezTo>
                  <a:pt x="2571750" y="613583"/>
                  <a:pt x="2537633" y="647700"/>
                  <a:pt x="2495548" y="647700"/>
                </a:cubicBezTo>
                <a:lnTo>
                  <a:pt x="76202" y="647700"/>
                </a:lnTo>
                <a:cubicBezTo>
                  <a:pt x="34117" y="647700"/>
                  <a:pt x="0" y="613583"/>
                  <a:pt x="0" y="57149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18" name="Text 16"/>
          <p:cNvSpPr/>
          <p:nvPr/>
        </p:nvSpPr>
        <p:spPr>
          <a:xfrm>
            <a:off x="723900" y="4152900"/>
            <a:ext cx="2409825" cy="190500"/>
          </a:xfrm>
          <a:prstGeom prst="rect">
            <a:avLst/>
          </a:prstGeom>
          <a:noFill/>
          <a:ln/>
        </p:spPr>
        <p:txBody>
          <a:bodyPr wrap="square" lIns="0" tIns="0" rIns="0" bIns="0" rtlCol="0" anchor="ctr"/>
          <a:lstStyle/>
          <a:p>
            <a:pPr>
              <a:lnSpc>
                <a:spcPct val="120000"/>
              </a:lnSpc>
            </a:pPr>
            <a:r>
              <a:rPr lang="en-US" sz="1050" b="1" dirty="0">
                <a:solidFill>
                  <a:srgbClr val="3D8B75"/>
                </a:solidFill>
                <a:latin typeface="Noto Sans SC" pitchFamily="34" charset="0"/>
                <a:ea typeface="Noto Sans SC" pitchFamily="34" charset="-122"/>
                <a:cs typeface="Noto Sans SC" pitchFamily="34" charset="-120"/>
              </a:rPr>
              <a:t>Structure 维</a:t>
            </a:r>
            <a:endParaRPr lang="en-US" sz="1600" dirty="0"/>
          </a:p>
        </p:txBody>
      </p:sp>
      <p:sp>
        <p:nvSpPr>
          <p:cNvPr id="19" name="Text 17"/>
          <p:cNvSpPr/>
          <p:nvPr/>
        </p:nvSpPr>
        <p:spPr>
          <a:xfrm>
            <a:off x="723900" y="4381500"/>
            <a:ext cx="240982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层间相似性</a:t>
            </a:r>
            <a:endParaRPr lang="en-US" sz="1600" dirty="0"/>
          </a:p>
        </p:txBody>
      </p:sp>
      <p:sp>
        <p:nvSpPr>
          <p:cNvPr id="20" name="Shape 18"/>
          <p:cNvSpPr/>
          <p:nvPr/>
        </p:nvSpPr>
        <p:spPr>
          <a:xfrm>
            <a:off x="3257550" y="4038600"/>
            <a:ext cx="2571750" cy="647700"/>
          </a:xfrm>
          <a:custGeom>
            <a:avLst/>
            <a:gdLst/>
            <a:ahLst/>
            <a:cxnLst/>
            <a:rect l="l" t="t" r="r" b="b"/>
            <a:pathLst>
              <a:path w="2571750" h="647700">
                <a:moveTo>
                  <a:pt x="76202" y="0"/>
                </a:moveTo>
                <a:lnTo>
                  <a:pt x="2495548" y="0"/>
                </a:lnTo>
                <a:cubicBezTo>
                  <a:pt x="2537633" y="0"/>
                  <a:pt x="2571750" y="34117"/>
                  <a:pt x="2571750" y="76202"/>
                </a:cubicBezTo>
                <a:lnTo>
                  <a:pt x="2571750" y="571498"/>
                </a:lnTo>
                <a:cubicBezTo>
                  <a:pt x="2571750" y="613583"/>
                  <a:pt x="2537633" y="647700"/>
                  <a:pt x="2495548" y="647700"/>
                </a:cubicBezTo>
                <a:lnTo>
                  <a:pt x="76202" y="647700"/>
                </a:lnTo>
                <a:cubicBezTo>
                  <a:pt x="34117" y="647700"/>
                  <a:pt x="0" y="613583"/>
                  <a:pt x="0" y="57149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21" name="Text 19"/>
          <p:cNvSpPr/>
          <p:nvPr/>
        </p:nvSpPr>
        <p:spPr>
          <a:xfrm>
            <a:off x="3371850" y="4152900"/>
            <a:ext cx="2409825" cy="190500"/>
          </a:xfrm>
          <a:prstGeom prst="rect">
            <a:avLst/>
          </a:prstGeom>
          <a:noFill/>
          <a:ln/>
        </p:spPr>
        <p:txBody>
          <a:bodyPr wrap="square" lIns="0" tIns="0" rIns="0" bIns="0" rtlCol="0" anchor="ctr"/>
          <a:lstStyle/>
          <a:p>
            <a:pPr>
              <a:lnSpc>
                <a:spcPct val="120000"/>
              </a:lnSpc>
            </a:pPr>
            <a:r>
              <a:rPr lang="en-US" sz="1050" b="1" dirty="0">
                <a:solidFill>
                  <a:srgbClr val="3D8B75"/>
                </a:solidFill>
                <a:latin typeface="Noto Sans SC" pitchFamily="34" charset="0"/>
                <a:ea typeface="Noto Sans SC" pitchFamily="34" charset="-122"/>
                <a:cs typeface="Noto Sans SC" pitchFamily="34" charset="-120"/>
              </a:rPr>
              <a:t>System 维</a:t>
            </a:r>
            <a:endParaRPr lang="en-US" sz="1600" dirty="0"/>
          </a:p>
        </p:txBody>
      </p:sp>
      <p:sp>
        <p:nvSpPr>
          <p:cNvPr id="22" name="Text 20"/>
          <p:cNvSpPr/>
          <p:nvPr/>
        </p:nvSpPr>
        <p:spPr>
          <a:xfrm>
            <a:off x="3371850" y="4381500"/>
            <a:ext cx="240982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存储布局冗余</a:t>
            </a:r>
            <a:endParaRPr lang="en-US" sz="1600" dirty="0"/>
          </a:p>
        </p:txBody>
      </p:sp>
      <p:sp>
        <p:nvSpPr>
          <p:cNvPr id="23" name="Shape 21"/>
          <p:cNvSpPr/>
          <p:nvPr/>
        </p:nvSpPr>
        <p:spPr>
          <a:xfrm>
            <a:off x="400050" y="5029200"/>
            <a:ext cx="5619750" cy="1447800"/>
          </a:xfrm>
          <a:custGeom>
            <a:avLst/>
            <a:gdLst/>
            <a:ahLst/>
            <a:cxnLst/>
            <a:rect l="l" t="t" r="r" b="b"/>
            <a:pathLst>
              <a:path w="5619750" h="1447800">
                <a:moveTo>
                  <a:pt x="38100" y="0"/>
                </a:moveTo>
                <a:lnTo>
                  <a:pt x="5543552" y="0"/>
                </a:lnTo>
                <a:cubicBezTo>
                  <a:pt x="5585607" y="0"/>
                  <a:pt x="5619750" y="34143"/>
                  <a:pt x="5619750" y="76198"/>
                </a:cubicBezTo>
                <a:lnTo>
                  <a:pt x="5619750" y="1371602"/>
                </a:lnTo>
                <a:cubicBezTo>
                  <a:pt x="5619750" y="1413657"/>
                  <a:pt x="5585607" y="1447800"/>
                  <a:pt x="5543552" y="1447800"/>
                </a:cubicBezTo>
                <a:lnTo>
                  <a:pt x="38100" y="1447800"/>
                </a:lnTo>
                <a:cubicBezTo>
                  <a:pt x="17072" y="1447800"/>
                  <a:pt x="0" y="1430728"/>
                  <a:pt x="0" y="140970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24" name="Shape 22"/>
          <p:cNvSpPr/>
          <p:nvPr/>
        </p:nvSpPr>
        <p:spPr>
          <a:xfrm>
            <a:off x="400050" y="5029200"/>
            <a:ext cx="38100" cy="1447800"/>
          </a:xfrm>
          <a:custGeom>
            <a:avLst/>
            <a:gdLst/>
            <a:ahLst/>
            <a:cxnLst/>
            <a:rect l="l" t="t" r="r" b="b"/>
            <a:pathLst>
              <a:path w="38100" h="1447800">
                <a:moveTo>
                  <a:pt x="38100" y="0"/>
                </a:moveTo>
                <a:lnTo>
                  <a:pt x="38100" y="0"/>
                </a:lnTo>
                <a:lnTo>
                  <a:pt x="38100" y="1447800"/>
                </a:lnTo>
                <a:lnTo>
                  <a:pt x="38100" y="1447800"/>
                </a:lnTo>
                <a:cubicBezTo>
                  <a:pt x="17072" y="1447800"/>
                  <a:pt x="0" y="1430728"/>
                  <a:pt x="0" y="14097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25" name="Shape 23"/>
          <p:cNvSpPr/>
          <p:nvPr/>
        </p:nvSpPr>
        <p:spPr>
          <a:xfrm>
            <a:off x="609600" y="52197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C9A86A"/>
          </a:solidFill>
          <a:ln/>
        </p:spPr>
        <p:txBody>
          <a:bodyPr/>
          <a:lstStyle/>
          <a:p>
            <a:endParaRPr lang="zh-CN" altLang="en-US"/>
          </a:p>
        </p:txBody>
      </p:sp>
      <p:sp>
        <p:nvSpPr>
          <p:cNvPr id="26" name="Shape 24"/>
          <p:cNvSpPr/>
          <p:nvPr/>
        </p:nvSpPr>
        <p:spPr>
          <a:xfrm>
            <a:off x="742950" y="5353050"/>
            <a:ext cx="190500" cy="190500"/>
          </a:xfrm>
          <a:custGeom>
            <a:avLst/>
            <a:gdLst/>
            <a:ahLst/>
            <a:cxnLst/>
            <a:rect l="l" t="t" r="r" b="b"/>
            <a:pathLst>
              <a:path w="190500" h="190500">
                <a:moveTo>
                  <a:pt x="0" y="29766"/>
                </a:moveTo>
                <a:cubicBezTo>
                  <a:pt x="0" y="19906"/>
                  <a:pt x="8000" y="11906"/>
                  <a:pt x="17859" y="11906"/>
                </a:cubicBezTo>
                <a:lnTo>
                  <a:pt x="53578" y="11906"/>
                </a:lnTo>
                <a:cubicBezTo>
                  <a:pt x="63438" y="11906"/>
                  <a:pt x="71438" y="19906"/>
                  <a:pt x="71438" y="29766"/>
                </a:cubicBezTo>
                <a:lnTo>
                  <a:pt x="71438" y="35719"/>
                </a:lnTo>
                <a:lnTo>
                  <a:pt x="119063" y="35719"/>
                </a:lnTo>
                <a:lnTo>
                  <a:pt x="119063" y="29766"/>
                </a:lnTo>
                <a:cubicBezTo>
                  <a:pt x="119063" y="19906"/>
                  <a:pt x="127062" y="11906"/>
                  <a:pt x="136922" y="11906"/>
                </a:cubicBezTo>
                <a:lnTo>
                  <a:pt x="172641" y="11906"/>
                </a:lnTo>
                <a:cubicBezTo>
                  <a:pt x="182500" y="11906"/>
                  <a:pt x="190500" y="19906"/>
                  <a:pt x="190500" y="29766"/>
                </a:cubicBezTo>
                <a:lnTo>
                  <a:pt x="190500" y="65484"/>
                </a:lnTo>
                <a:cubicBezTo>
                  <a:pt x="190500" y="75344"/>
                  <a:pt x="182500" y="83344"/>
                  <a:pt x="172641" y="83344"/>
                </a:cubicBezTo>
                <a:lnTo>
                  <a:pt x="136922" y="83344"/>
                </a:lnTo>
                <a:cubicBezTo>
                  <a:pt x="127062" y="83344"/>
                  <a:pt x="119063" y="75344"/>
                  <a:pt x="119063" y="65484"/>
                </a:cubicBezTo>
                <a:lnTo>
                  <a:pt x="119063" y="59531"/>
                </a:lnTo>
                <a:lnTo>
                  <a:pt x="71438" y="59531"/>
                </a:lnTo>
                <a:lnTo>
                  <a:pt x="71438" y="65484"/>
                </a:lnTo>
                <a:cubicBezTo>
                  <a:pt x="71438" y="68200"/>
                  <a:pt x="70805" y="70805"/>
                  <a:pt x="69726" y="73112"/>
                </a:cubicBezTo>
                <a:lnTo>
                  <a:pt x="95250" y="107156"/>
                </a:lnTo>
                <a:lnTo>
                  <a:pt x="125016" y="107156"/>
                </a:lnTo>
                <a:cubicBezTo>
                  <a:pt x="134875" y="107156"/>
                  <a:pt x="142875" y="115156"/>
                  <a:pt x="142875" y="125016"/>
                </a:cubicBezTo>
                <a:lnTo>
                  <a:pt x="142875" y="160734"/>
                </a:lnTo>
                <a:cubicBezTo>
                  <a:pt x="142875" y="170594"/>
                  <a:pt x="134875" y="178594"/>
                  <a:pt x="125016" y="178594"/>
                </a:cubicBezTo>
                <a:lnTo>
                  <a:pt x="89297" y="178594"/>
                </a:lnTo>
                <a:cubicBezTo>
                  <a:pt x="79437" y="178594"/>
                  <a:pt x="71438" y="170594"/>
                  <a:pt x="71438" y="160734"/>
                </a:cubicBezTo>
                <a:lnTo>
                  <a:pt x="71438" y="125016"/>
                </a:lnTo>
                <a:cubicBezTo>
                  <a:pt x="71438" y="122300"/>
                  <a:pt x="72070" y="119695"/>
                  <a:pt x="73149" y="117388"/>
                </a:cubicBezTo>
                <a:lnTo>
                  <a:pt x="47625" y="83344"/>
                </a:lnTo>
                <a:lnTo>
                  <a:pt x="17859" y="83344"/>
                </a:lnTo>
                <a:cubicBezTo>
                  <a:pt x="8000" y="83344"/>
                  <a:pt x="0" y="75344"/>
                  <a:pt x="0" y="65484"/>
                </a:cubicBezTo>
                <a:lnTo>
                  <a:pt x="0" y="29766"/>
                </a:lnTo>
                <a:close/>
              </a:path>
            </a:pathLst>
          </a:custGeom>
          <a:solidFill>
            <a:srgbClr val="FFFFFF"/>
          </a:solidFill>
          <a:ln/>
        </p:spPr>
        <p:txBody>
          <a:bodyPr/>
          <a:lstStyle/>
          <a:p>
            <a:endParaRPr lang="zh-CN" altLang="en-US"/>
          </a:p>
        </p:txBody>
      </p:sp>
      <p:sp>
        <p:nvSpPr>
          <p:cNvPr id="27" name="Text 25"/>
          <p:cNvSpPr/>
          <p:nvPr/>
        </p:nvSpPr>
        <p:spPr>
          <a:xfrm>
            <a:off x="1181100" y="5314950"/>
            <a:ext cx="10477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不可能三角</a:t>
            </a:r>
            <a:endParaRPr lang="en-US" sz="1600" dirty="0"/>
          </a:p>
        </p:txBody>
      </p:sp>
      <p:sp>
        <p:nvSpPr>
          <p:cNvPr id="28" name="Text 26"/>
          <p:cNvSpPr/>
          <p:nvPr/>
        </p:nvSpPr>
        <p:spPr>
          <a:xfrm>
            <a:off x="609600" y="5791200"/>
            <a:ext cx="5410200"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生产环境中，</a:t>
            </a:r>
            <a:r>
              <a:rPr lang="en-US" sz="1200" dirty="0">
                <a:solidFill>
                  <a:srgbClr val="C9A86A"/>
                </a:solidFill>
                <a:highlight>
                  <a:srgbClr val="C9A86A">
                    <a:alpha val="20000"/>
                  </a:srgbClr>
                </a:highlight>
                <a:latin typeface="Noto Sans SC" pitchFamily="34" charset="0"/>
                <a:ea typeface="Noto Sans SC" pitchFamily="34" charset="-122"/>
                <a:cs typeface="Noto Sans SC" pitchFamily="34" charset="-120"/>
              </a:rPr>
              <a:t> 压缩率、精度与吞吐量难以同时兼顾 </a:t>
            </a:r>
            <a:r>
              <a:rPr lang="en-US" sz="1200" dirty="0">
                <a:solidFill>
                  <a:srgbClr val="E0E2E5">
                    <a:alpha val="80000"/>
                  </a:srgbClr>
                </a:solidFill>
                <a:latin typeface="Noto Sans SC" pitchFamily="34" charset="0"/>
                <a:ea typeface="Noto Sans SC" pitchFamily="34" charset="-122"/>
                <a:cs typeface="Noto Sans SC" pitchFamily="34" charset="-120"/>
              </a:rPr>
              <a:t>，需基于具体任务动态权衡。</a:t>
            </a:r>
            <a:endParaRPr lang="en-US" sz="1600" dirty="0"/>
          </a:p>
        </p:txBody>
      </p:sp>
      <p:sp>
        <p:nvSpPr>
          <p:cNvPr id="29" name="Shape 27"/>
          <p:cNvSpPr/>
          <p:nvPr/>
        </p:nvSpPr>
        <p:spPr>
          <a:xfrm>
            <a:off x="6191250" y="1371600"/>
            <a:ext cx="5619750" cy="1200150"/>
          </a:xfrm>
          <a:custGeom>
            <a:avLst/>
            <a:gdLst/>
            <a:ahLst/>
            <a:cxnLst/>
            <a:rect l="l" t="t" r="r" b="b"/>
            <a:pathLst>
              <a:path w="5619750" h="1200150">
                <a:moveTo>
                  <a:pt x="38100" y="0"/>
                </a:moveTo>
                <a:lnTo>
                  <a:pt x="5543552" y="0"/>
                </a:lnTo>
                <a:cubicBezTo>
                  <a:pt x="5585635" y="0"/>
                  <a:pt x="5619750" y="34115"/>
                  <a:pt x="5619750" y="76198"/>
                </a:cubicBezTo>
                <a:lnTo>
                  <a:pt x="5619750" y="1123952"/>
                </a:lnTo>
                <a:cubicBezTo>
                  <a:pt x="5619750" y="1166035"/>
                  <a:pt x="5585635" y="1200150"/>
                  <a:pt x="5543552" y="1200150"/>
                </a:cubicBezTo>
                <a:lnTo>
                  <a:pt x="38100" y="1200150"/>
                </a:lnTo>
                <a:cubicBezTo>
                  <a:pt x="17072" y="1200150"/>
                  <a:pt x="0" y="1183078"/>
                  <a:pt x="0" y="116205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30" name="Shape 28"/>
          <p:cNvSpPr/>
          <p:nvPr/>
        </p:nvSpPr>
        <p:spPr>
          <a:xfrm>
            <a:off x="6191250" y="1371600"/>
            <a:ext cx="38100" cy="1200150"/>
          </a:xfrm>
          <a:custGeom>
            <a:avLst/>
            <a:gdLst/>
            <a:ahLst/>
            <a:cxnLst/>
            <a:rect l="l" t="t" r="r" b="b"/>
            <a:pathLst>
              <a:path w="38100" h="1200150">
                <a:moveTo>
                  <a:pt x="38100" y="0"/>
                </a:moveTo>
                <a:lnTo>
                  <a:pt x="38100" y="0"/>
                </a:lnTo>
                <a:lnTo>
                  <a:pt x="38100" y="1200150"/>
                </a:lnTo>
                <a:lnTo>
                  <a:pt x="38100" y="1200150"/>
                </a:lnTo>
                <a:cubicBezTo>
                  <a:pt x="17072" y="1200150"/>
                  <a:pt x="0" y="1183078"/>
                  <a:pt x="0" y="116205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31" name="Shape 29"/>
          <p:cNvSpPr/>
          <p:nvPr/>
        </p:nvSpPr>
        <p:spPr>
          <a:xfrm>
            <a:off x="6400800"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5F6B7A"/>
          </a:solidFill>
          <a:ln/>
        </p:spPr>
        <p:txBody>
          <a:bodyPr/>
          <a:lstStyle/>
          <a:p>
            <a:endParaRPr lang="zh-CN" altLang="en-US"/>
          </a:p>
        </p:txBody>
      </p:sp>
      <p:sp>
        <p:nvSpPr>
          <p:cNvPr id="32" name="Shape 30"/>
          <p:cNvSpPr/>
          <p:nvPr/>
        </p:nvSpPr>
        <p:spPr>
          <a:xfrm>
            <a:off x="6510338" y="1695450"/>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FFFFFF"/>
          </a:solidFill>
          <a:ln/>
        </p:spPr>
        <p:txBody>
          <a:bodyPr/>
          <a:lstStyle/>
          <a:p>
            <a:endParaRPr lang="zh-CN" altLang="en-US"/>
          </a:p>
        </p:txBody>
      </p:sp>
      <p:sp>
        <p:nvSpPr>
          <p:cNvPr id="33" name="Text 31"/>
          <p:cNvSpPr/>
          <p:nvPr/>
        </p:nvSpPr>
        <p:spPr>
          <a:xfrm>
            <a:off x="6972300" y="1657350"/>
            <a:ext cx="12382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主流落地方案</a:t>
            </a:r>
            <a:endParaRPr lang="en-US" sz="1600" dirty="0"/>
          </a:p>
        </p:txBody>
      </p:sp>
      <p:sp>
        <p:nvSpPr>
          <p:cNvPr id="34" name="Text 32"/>
          <p:cNvSpPr/>
          <p:nvPr/>
        </p:nvSpPr>
        <p:spPr>
          <a:xfrm>
            <a:off x="6400800" y="2133600"/>
            <a:ext cx="5295900" cy="2476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当前产业界倾向于 </a:t>
            </a:r>
            <a:r>
              <a:rPr lang="en-US" sz="1200" b="1" dirty="0">
                <a:solidFill>
                  <a:srgbClr val="5F6B7A"/>
                </a:solidFill>
                <a:latin typeface="Noto Sans SC" pitchFamily="34" charset="0"/>
                <a:ea typeface="Noto Sans SC" pitchFamily="34" charset="-122"/>
                <a:cs typeface="Noto Sans SC" pitchFamily="34" charset="-120"/>
              </a:rPr>
              <a:t>"Token 剪枝 + 混合量化 + 存储卸载"</a:t>
            </a:r>
            <a:r>
              <a:rPr lang="en-US" sz="1200" dirty="0">
                <a:solidFill>
                  <a:srgbClr val="E0E2E5">
                    <a:alpha val="80000"/>
                  </a:srgbClr>
                </a:solidFill>
                <a:latin typeface="Noto Sans SC" pitchFamily="34" charset="0"/>
                <a:ea typeface="Noto Sans SC" pitchFamily="34" charset="-122"/>
                <a:cs typeface="Noto Sans SC" pitchFamily="34" charset="-120"/>
              </a:rPr>
              <a:t> 的三位一体组合。</a:t>
            </a:r>
            <a:endParaRPr lang="en-US" sz="1600" dirty="0"/>
          </a:p>
        </p:txBody>
      </p:sp>
      <p:sp>
        <p:nvSpPr>
          <p:cNvPr id="35" name="Shape 33"/>
          <p:cNvSpPr/>
          <p:nvPr/>
        </p:nvSpPr>
        <p:spPr>
          <a:xfrm>
            <a:off x="6191250" y="2724150"/>
            <a:ext cx="5619750" cy="3752850"/>
          </a:xfrm>
          <a:custGeom>
            <a:avLst/>
            <a:gdLst/>
            <a:ahLst/>
            <a:cxnLst/>
            <a:rect l="l" t="t" r="r" b="b"/>
            <a:pathLst>
              <a:path w="5619750" h="3752850">
                <a:moveTo>
                  <a:pt x="38100" y="0"/>
                </a:moveTo>
                <a:lnTo>
                  <a:pt x="5543567" y="0"/>
                </a:lnTo>
                <a:cubicBezTo>
                  <a:pt x="5585614" y="0"/>
                  <a:pt x="5619750" y="34136"/>
                  <a:pt x="5619750" y="76183"/>
                </a:cubicBezTo>
                <a:lnTo>
                  <a:pt x="5619750" y="3676667"/>
                </a:lnTo>
                <a:cubicBezTo>
                  <a:pt x="5619750" y="3718742"/>
                  <a:pt x="5585642" y="3752850"/>
                  <a:pt x="5543567" y="3752850"/>
                </a:cubicBezTo>
                <a:lnTo>
                  <a:pt x="38100" y="3752850"/>
                </a:lnTo>
                <a:cubicBezTo>
                  <a:pt x="17058" y="3752850"/>
                  <a:pt x="0" y="3735792"/>
                  <a:pt x="0" y="371475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36" name="Shape 34"/>
          <p:cNvSpPr/>
          <p:nvPr/>
        </p:nvSpPr>
        <p:spPr>
          <a:xfrm>
            <a:off x="6191250" y="2724150"/>
            <a:ext cx="38100" cy="3752850"/>
          </a:xfrm>
          <a:custGeom>
            <a:avLst/>
            <a:gdLst/>
            <a:ahLst/>
            <a:cxnLst/>
            <a:rect l="l" t="t" r="r" b="b"/>
            <a:pathLst>
              <a:path w="38100" h="3752850">
                <a:moveTo>
                  <a:pt x="38100" y="0"/>
                </a:moveTo>
                <a:lnTo>
                  <a:pt x="38100" y="0"/>
                </a:lnTo>
                <a:lnTo>
                  <a:pt x="38100" y="3752850"/>
                </a:lnTo>
                <a:lnTo>
                  <a:pt x="38100" y="3752850"/>
                </a:lnTo>
                <a:cubicBezTo>
                  <a:pt x="17072" y="3752850"/>
                  <a:pt x="0" y="3735778"/>
                  <a:pt x="0" y="371475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37" name="Shape 35"/>
          <p:cNvSpPr/>
          <p:nvPr/>
        </p:nvSpPr>
        <p:spPr>
          <a:xfrm>
            <a:off x="6400800" y="291465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3D8B75"/>
          </a:solidFill>
          <a:ln/>
        </p:spPr>
        <p:txBody>
          <a:bodyPr/>
          <a:lstStyle/>
          <a:p>
            <a:endParaRPr lang="zh-CN" altLang="en-US"/>
          </a:p>
        </p:txBody>
      </p:sp>
      <p:sp>
        <p:nvSpPr>
          <p:cNvPr id="38" name="Shape 36"/>
          <p:cNvSpPr/>
          <p:nvPr/>
        </p:nvSpPr>
        <p:spPr>
          <a:xfrm>
            <a:off x="6534150" y="3048000"/>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FFFFFF"/>
          </a:solidFill>
          <a:ln/>
        </p:spPr>
        <p:txBody>
          <a:bodyPr/>
          <a:lstStyle/>
          <a:p>
            <a:endParaRPr lang="zh-CN" altLang="en-US"/>
          </a:p>
        </p:txBody>
      </p:sp>
      <p:sp>
        <p:nvSpPr>
          <p:cNvPr id="39" name="Text 37"/>
          <p:cNvSpPr/>
          <p:nvPr/>
        </p:nvSpPr>
        <p:spPr>
          <a:xfrm>
            <a:off x="6972300" y="3009900"/>
            <a:ext cx="8572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未来趋势</a:t>
            </a:r>
            <a:endParaRPr lang="en-US" sz="1600" dirty="0"/>
          </a:p>
        </p:txBody>
      </p:sp>
      <p:sp>
        <p:nvSpPr>
          <p:cNvPr id="40" name="Shape 38"/>
          <p:cNvSpPr/>
          <p:nvPr/>
        </p:nvSpPr>
        <p:spPr>
          <a:xfrm>
            <a:off x="6400800" y="3617119"/>
            <a:ext cx="228600" cy="228600"/>
          </a:xfrm>
          <a:custGeom>
            <a:avLst/>
            <a:gdLst/>
            <a:ahLst/>
            <a:cxnLst/>
            <a:rect l="l" t="t" r="r" b="b"/>
            <a:pathLst>
              <a:path w="228600" h="228600">
                <a:moveTo>
                  <a:pt x="38101" y="0"/>
                </a:moveTo>
                <a:lnTo>
                  <a:pt x="190499" y="0"/>
                </a:lnTo>
                <a:cubicBezTo>
                  <a:pt x="211528" y="0"/>
                  <a:pt x="228600" y="17072"/>
                  <a:pt x="228600" y="38101"/>
                </a:cubicBezTo>
                <a:lnTo>
                  <a:pt x="228600" y="190499"/>
                </a:lnTo>
                <a:cubicBezTo>
                  <a:pt x="228600" y="211528"/>
                  <a:pt x="211528" y="228600"/>
                  <a:pt x="190499" y="228600"/>
                </a:cubicBezTo>
                <a:lnTo>
                  <a:pt x="38101" y="228600"/>
                </a:lnTo>
                <a:cubicBezTo>
                  <a:pt x="17072" y="228600"/>
                  <a:pt x="0" y="211528"/>
                  <a:pt x="0" y="190499"/>
                </a:cubicBezTo>
                <a:lnTo>
                  <a:pt x="0" y="38101"/>
                </a:lnTo>
                <a:cubicBezTo>
                  <a:pt x="0" y="17072"/>
                  <a:pt x="17072" y="0"/>
                  <a:pt x="38101" y="0"/>
                </a:cubicBezTo>
                <a:close/>
              </a:path>
            </a:pathLst>
          </a:custGeom>
          <a:solidFill>
            <a:srgbClr val="C9A86A">
              <a:alpha val="20000"/>
            </a:srgbClr>
          </a:solidFill>
          <a:ln/>
        </p:spPr>
        <p:txBody>
          <a:bodyPr/>
          <a:lstStyle/>
          <a:p>
            <a:endParaRPr lang="zh-CN" altLang="en-US"/>
          </a:p>
        </p:txBody>
      </p:sp>
      <p:sp>
        <p:nvSpPr>
          <p:cNvPr id="41" name="Text 39"/>
          <p:cNvSpPr/>
          <p:nvPr/>
        </p:nvSpPr>
        <p:spPr>
          <a:xfrm>
            <a:off x="6487716" y="3636169"/>
            <a:ext cx="123825"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Noto Sans SC" pitchFamily="34" charset="0"/>
                <a:ea typeface="Noto Sans SC" pitchFamily="34" charset="-122"/>
                <a:cs typeface="Noto Sans SC" pitchFamily="34" charset="-120"/>
              </a:rPr>
              <a:t>1</a:t>
            </a:r>
            <a:endParaRPr lang="en-US" sz="1600" dirty="0"/>
          </a:p>
        </p:txBody>
      </p:sp>
      <p:sp>
        <p:nvSpPr>
          <p:cNvPr id="42" name="Text 40"/>
          <p:cNvSpPr/>
          <p:nvPr/>
        </p:nvSpPr>
        <p:spPr>
          <a:xfrm>
            <a:off x="6743700" y="3598069"/>
            <a:ext cx="13716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极低比特量化</a:t>
            </a:r>
            <a:endParaRPr lang="en-US" sz="1600" dirty="0"/>
          </a:p>
        </p:txBody>
      </p:sp>
      <p:sp>
        <p:nvSpPr>
          <p:cNvPr id="43" name="Text 41"/>
          <p:cNvSpPr/>
          <p:nvPr/>
        </p:nvSpPr>
        <p:spPr>
          <a:xfrm>
            <a:off x="6743700" y="3826669"/>
            <a:ext cx="13620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3-bit 及以下量化探索</a:t>
            </a:r>
            <a:endParaRPr lang="en-US" sz="1600" dirty="0"/>
          </a:p>
        </p:txBody>
      </p:sp>
      <p:sp>
        <p:nvSpPr>
          <p:cNvPr id="44" name="Shape 42"/>
          <p:cNvSpPr/>
          <p:nvPr/>
        </p:nvSpPr>
        <p:spPr>
          <a:xfrm>
            <a:off x="6400800" y="4336256"/>
            <a:ext cx="228600" cy="228600"/>
          </a:xfrm>
          <a:custGeom>
            <a:avLst/>
            <a:gdLst/>
            <a:ahLst/>
            <a:cxnLst/>
            <a:rect l="l" t="t" r="r" b="b"/>
            <a:pathLst>
              <a:path w="228600" h="228600">
                <a:moveTo>
                  <a:pt x="38101" y="0"/>
                </a:moveTo>
                <a:lnTo>
                  <a:pt x="190499" y="0"/>
                </a:lnTo>
                <a:cubicBezTo>
                  <a:pt x="211528" y="0"/>
                  <a:pt x="228600" y="17072"/>
                  <a:pt x="228600" y="38101"/>
                </a:cubicBezTo>
                <a:lnTo>
                  <a:pt x="228600" y="190499"/>
                </a:lnTo>
                <a:cubicBezTo>
                  <a:pt x="228600" y="211528"/>
                  <a:pt x="211528" y="228600"/>
                  <a:pt x="190499" y="228600"/>
                </a:cubicBezTo>
                <a:lnTo>
                  <a:pt x="38101" y="228600"/>
                </a:lnTo>
                <a:cubicBezTo>
                  <a:pt x="17072" y="228600"/>
                  <a:pt x="0" y="211528"/>
                  <a:pt x="0" y="190499"/>
                </a:cubicBezTo>
                <a:lnTo>
                  <a:pt x="0" y="38101"/>
                </a:lnTo>
                <a:cubicBezTo>
                  <a:pt x="0" y="17072"/>
                  <a:pt x="17072" y="0"/>
                  <a:pt x="38101" y="0"/>
                </a:cubicBezTo>
                <a:close/>
              </a:path>
            </a:pathLst>
          </a:custGeom>
          <a:solidFill>
            <a:srgbClr val="C9A86A">
              <a:alpha val="20000"/>
            </a:srgbClr>
          </a:solidFill>
          <a:ln/>
        </p:spPr>
        <p:txBody>
          <a:bodyPr/>
          <a:lstStyle/>
          <a:p>
            <a:endParaRPr lang="zh-CN" altLang="en-US"/>
          </a:p>
        </p:txBody>
      </p:sp>
      <p:sp>
        <p:nvSpPr>
          <p:cNvPr id="45" name="Text 43"/>
          <p:cNvSpPr/>
          <p:nvPr/>
        </p:nvSpPr>
        <p:spPr>
          <a:xfrm>
            <a:off x="6475065" y="4355306"/>
            <a:ext cx="142875"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Noto Sans SC" pitchFamily="34" charset="0"/>
                <a:ea typeface="Noto Sans SC" pitchFamily="34" charset="-122"/>
                <a:cs typeface="Noto Sans SC" pitchFamily="34" charset="-120"/>
              </a:rPr>
              <a:t>2</a:t>
            </a:r>
            <a:endParaRPr lang="en-US" sz="1600" dirty="0"/>
          </a:p>
        </p:txBody>
      </p:sp>
      <p:sp>
        <p:nvSpPr>
          <p:cNvPr id="46" name="Text 44"/>
          <p:cNvSpPr/>
          <p:nvPr/>
        </p:nvSpPr>
        <p:spPr>
          <a:xfrm>
            <a:off x="6743700" y="4317206"/>
            <a:ext cx="178117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内核感知压缩</a:t>
            </a:r>
            <a:endParaRPr lang="en-US" sz="1600" dirty="0"/>
          </a:p>
        </p:txBody>
      </p:sp>
      <p:sp>
        <p:nvSpPr>
          <p:cNvPr id="47" name="Text 45"/>
          <p:cNvSpPr/>
          <p:nvPr/>
        </p:nvSpPr>
        <p:spPr>
          <a:xfrm>
            <a:off x="6743700" y="4545806"/>
            <a:ext cx="1771650"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Kernel-aware Compression</a:t>
            </a:r>
            <a:endParaRPr lang="en-US" sz="1600" dirty="0"/>
          </a:p>
        </p:txBody>
      </p:sp>
      <p:sp>
        <p:nvSpPr>
          <p:cNvPr id="48" name="Shape 46"/>
          <p:cNvSpPr/>
          <p:nvPr/>
        </p:nvSpPr>
        <p:spPr>
          <a:xfrm>
            <a:off x="6400800" y="5055394"/>
            <a:ext cx="228600" cy="228600"/>
          </a:xfrm>
          <a:custGeom>
            <a:avLst/>
            <a:gdLst/>
            <a:ahLst/>
            <a:cxnLst/>
            <a:rect l="l" t="t" r="r" b="b"/>
            <a:pathLst>
              <a:path w="228600" h="228600">
                <a:moveTo>
                  <a:pt x="38101" y="0"/>
                </a:moveTo>
                <a:lnTo>
                  <a:pt x="190499" y="0"/>
                </a:lnTo>
                <a:cubicBezTo>
                  <a:pt x="211528" y="0"/>
                  <a:pt x="228600" y="17072"/>
                  <a:pt x="228600" y="38101"/>
                </a:cubicBezTo>
                <a:lnTo>
                  <a:pt x="228600" y="190499"/>
                </a:lnTo>
                <a:cubicBezTo>
                  <a:pt x="228600" y="211528"/>
                  <a:pt x="211528" y="228600"/>
                  <a:pt x="190499" y="228600"/>
                </a:cubicBezTo>
                <a:lnTo>
                  <a:pt x="38101" y="228600"/>
                </a:lnTo>
                <a:cubicBezTo>
                  <a:pt x="17072" y="228600"/>
                  <a:pt x="0" y="211528"/>
                  <a:pt x="0" y="190499"/>
                </a:cubicBezTo>
                <a:lnTo>
                  <a:pt x="0" y="38101"/>
                </a:lnTo>
                <a:cubicBezTo>
                  <a:pt x="0" y="17072"/>
                  <a:pt x="17072" y="0"/>
                  <a:pt x="38101" y="0"/>
                </a:cubicBezTo>
                <a:close/>
              </a:path>
            </a:pathLst>
          </a:custGeom>
          <a:solidFill>
            <a:srgbClr val="C9A86A">
              <a:alpha val="20000"/>
            </a:srgbClr>
          </a:solidFill>
          <a:ln/>
        </p:spPr>
        <p:txBody>
          <a:bodyPr/>
          <a:lstStyle/>
          <a:p>
            <a:endParaRPr lang="zh-CN" altLang="en-US"/>
          </a:p>
        </p:txBody>
      </p:sp>
      <p:sp>
        <p:nvSpPr>
          <p:cNvPr id="49" name="Text 47"/>
          <p:cNvSpPr/>
          <p:nvPr/>
        </p:nvSpPr>
        <p:spPr>
          <a:xfrm>
            <a:off x="6475065" y="5074444"/>
            <a:ext cx="142875"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Noto Sans SC" pitchFamily="34" charset="0"/>
                <a:ea typeface="Noto Sans SC" pitchFamily="34" charset="-122"/>
                <a:cs typeface="Noto Sans SC" pitchFamily="34" charset="-120"/>
              </a:rPr>
              <a:t>3</a:t>
            </a:r>
            <a:endParaRPr lang="en-US" sz="1600" dirty="0"/>
          </a:p>
        </p:txBody>
      </p:sp>
      <p:sp>
        <p:nvSpPr>
          <p:cNvPr id="50" name="Text 48"/>
          <p:cNvSpPr/>
          <p:nvPr/>
        </p:nvSpPr>
        <p:spPr>
          <a:xfrm>
            <a:off x="6743700" y="5036344"/>
            <a:ext cx="1143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评测标准化</a:t>
            </a:r>
            <a:endParaRPr lang="en-US" sz="1600" dirty="0"/>
          </a:p>
        </p:txBody>
      </p:sp>
      <p:sp>
        <p:nvSpPr>
          <p:cNvPr id="51" name="Text 49"/>
          <p:cNvSpPr/>
          <p:nvPr/>
        </p:nvSpPr>
        <p:spPr>
          <a:xfrm>
            <a:off x="6743700" y="5264944"/>
            <a:ext cx="11334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事前评估指标统一</a:t>
            </a:r>
            <a:endParaRPr lang="en-US" sz="1600" dirty="0"/>
          </a:p>
        </p:txBody>
      </p:sp>
      <p:sp>
        <p:nvSpPr>
          <p:cNvPr id="52" name="Shape 50"/>
          <p:cNvSpPr/>
          <p:nvPr/>
        </p:nvSpPr>
        <p:spPr>
          <a:xfrm>
            <a:off x="6400800" y="5774531"/>
            <a:ext cx="228600" cy="228600"/>
          </a:xfrm>
          <a:custGeom>
            <a:avLst/>
            <a:gdLst/>
            <a:ahLst/>
            <a:cxnLst/>
            <a:rect l="l" t="t" r="r" b="b"/>
            <a:pathLst>
              <a:path w="228600" h="228600">
                <a:moveTo>
                  <a:pt x="38101" y="0"/>
                </a:moveTo>
                <a:lnTo>
                  <a:pt x="190499" y="0"/>
                </a:lnTo>
                <a:cubicBezTo>
                  <a:pt x="211528" y="0"/>
                  <a:pt x="228600" y="17072"/>
                  <a:pt x="228600" y="38101"/>
                </a:cubicBezTo>
                <a:lnTo>
                  <a:pt x="228600" y="190499"/>
                </a:lnTo>
                <a:cubicBezTo>
                  <a:pt x="228600" y="211528"/>
                  <a:pt x="211528" y="228600"/>
                  <a:pt x="190499" y="228600"/>
                </a:cubicBezTo>
                <a:lnTo>
                  <a:pt x="38101" y="228600"/>
                </a:lnTo>
                <a:cubicBezTo>
                  <a:pt x="17072" y="228600"/>
                  <a:pt x="0" y="211528"/>
                  <a:pt x="0" y="190499"/>
                </a:cubicBezTo>
                <a:lnTo>
                  <a:pt x="0" y="38101"/>
                </a:lnTo>
                <a:cubicBezTo>
                  <a:pt x="0" y="17072"/>
                  <a:pt x="17072" y="0"/>
                  <a:pt x="38101" y="0"/>
                </a:cubicBezTo>
                <a:close/>
              </a:path>
            </a:pathLst>
          </a:custGeom>
          <a:solidFill>
            <a:srgbClr val="C9A86A">
              <a:alpha val="20000"/>
            </a:srgbClr>
          </a:solidFill>
          <a:ln/>
        </p:spPr>
        <p:txBody>
          <a:bodyPr/>
          <a:lstStyle/>
          <a:p>
            <a:endParaRPr lang="zh-CN" altLang="en-US"/>
          </a:p>
        </p:txBody>
      </p:sp>
      <p:sp>
        <p:nvSpPr>
          <p:cNvPr id="53" name="Text 51"/>
          <p:cNvSpPr/>
          <p:nvPr/>
        </p:nvSpPr>
        <p:spPr>
          <a:xfrm>
            <a:off x="6475065" y="5793581"/>
            <a:ext cx="142875"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Noto Sans SC" pitchFamily="34" charset="0"/>
                <a:ea typeface="Noto Sans SC" pitchFamily="34" charset="-122"/>
                <a:cs typeface="Noto Sans SC" pitchFamily="34" charset="-120"/>
              </a:rPr>
              <a:t>4</a:t>
            </a:r>
            <a:endParaRPr lang="en-US" sz="1600" dirty="0"/>
          </a:p>
        </p:txBody>
      </p:sp>
      <p:sp>
        <p:nvSpPr>
          <p:cNvPr id="54" name="Text 52"/>
          <p:cNvSpPr/>
          <p:nvPr/>
        </p:nvSpPr>
        <p:spPr>
          <a:xfrm>
            <a:off x="6743700" y="5755481"/>
            <a:ext cx="14097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范式演进</a:t>
            </a:r>
            <a:endParaRPr lang="en-US" sz="1600" dirty="0"/>
          </a:p>
        </p:txBody>
      </p:sp>
      <p:sp>
        <p:nvSpPr>
          <p:cNvPr id="55" name="Text 53"/>
          <p:cNvSpPr/>
          <p:nvPr/>
        </p:nvSpPr>
        <p:spPr>
          <a:xfrm>
            <a:off x="6743700" y="5984081"/>
            <a:ext cx="14001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从物理存储到实时预测</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400050" y="1644253"/>
            <a:ext cx="1752600" cy="419100"/>
          </a:xfrm>
          <a:custGeom>
            <a:avLst/>
            <a:gdLst/>
            <a:ahLst/>
            <a:cxnLst/>
            <a:rect l="l" t="t" r="r" b="b"/>
            <a:pathLst>
              <a:path w="1752600" h="419100">
                <a:moveTo>
                  <a:pt x="0" y="0"/>
                </a:moveTo>
                <a:lnTo>
                  <a:pt x="1752600" y="0"/>
                </a:lnTo>
                <a:lnTo>
                  <a:pt x="1752600" y="419100"/>
                </a:lnTo>
                <a:lnTo>
                  <a:pt x="0" y="419100"/>
                </a:lnTo>
                <a:lnTo>
                  <a:pt x="0" y="0"/>
                </a:lnTo>
                <a:close/>
              </a:path>
            </a:pathLst>
          </a:custGeom>
          <a:solidFill>
            <a:srgbClr val="3D8B75">
              <a:alpha val="20000"/>
            </a:srgbClr>
          </a:solidFill>
          <a:ln/>
        </p:spPr>
        <p:txBody>
          <a:bodyPr/>
          <a:lstStyle/>
          <a:p>
            <a:endParaRPr lang="zh-CN" altLang="en-US"/>
          </a:p>
        </p:txBody>
      </p:sp>
      <p:sp>
        <p:nvSpPr>
          <p:cNvPr id="5" name="Shape 2"/>
          <p:cNvSpPr/>
          <p:nvPr/>
        </p:nvSpPr>
        <p:spPr>
          <a:xfrm>
            <a:off x="400050" y="1644253"/>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3D8B75"/>
          </a:solidFill>
          <a:ln/>
        </p:spPr>
        <p:txBody>
          <a:bodyPr/>
          <a:lstStyle/>
          <a:p>
            <a:endParaRPr lang="zh-CN" altLang="en-US"/>
          </a:p>
        </p:txBody>
      </p:sp>
      <p:sp>
        <p:nvSpPr>
          <p:cNvPr id="6" name="Text 3"/>
          <p:cNvSpPr/>
          <p:nvPr/>
        </p:nvSpPr>
        <p:spPr>
          <a:xfrm>
            <a:off x="609600" y="1720453"/>
            <a:ext cx="1447800" cy="266700"/>
          </a:xfrm>
          <a:prstGeom prst="rect">
            <a:avLst/>
          </a:prstGeom>
          <a:noFill/>
          <a:ln/>
        </p:spPr>
        <p:txBody>
          <a:bodyPr wrap="square" lIns="0" tIns="0" rIns="0" bIns="0" rtlCol="0" anchor="ctr"/>
          <a:lstStyle/>
          <a:p>
            <a:pPr>
              <a:lnSpc>
                <a:spcPct val="120000"/>
              </a:lnSpc>
            </a:pPr>
            <a:r>
              <a:rPr lang="en-US" sz="1500" b="1" kern="0" spc="150" dirty="0">
                <a:solidFill>
                  <a:srgbClr val="3D8B75"/>
                </a:solidFill>
                <a:latin typeface="Noto Sans SC" pitchFamily="34" charset="0"/>
                <a:ea typeface="Noto Sans SC" pitchFamily="34" charset="-122"/>
                <a:cs typeface="Noto Sans SC" pitchFamily="34" charset="-120"/>
              </a:rPr>
              <a:t>CHAPTER 01</a:t>
            </a:r>
            <a:endParaRPr lang="en-US" sz="1600" dirty="0"/>
          </a:p>
        </p:txBody>
      </p:sp>
      <p:sp>
        <p:nvSpPr>
          <p:cNvPr id="7" name="Text 4"/>
          <p:cNvSpPr/>
          <p:nvPr/>
        </p:nvSpPr>
        <p:spPr>
          <a:xfrm>
            <a:off x="381000" y="2368153"/>
            <a:ext cx="11772900" cy="1714500"/>
          </a:xfrm>
          <a:prstGeom prst="rect">
            <a:avLst/>
          </a:prstGeom>
          <a:noFill/>
          <a:ln/>
        </p:spPr>
        <p:txBody>
          <a:bodyPr wrap="square" lIns="0" tIns="0" rIns="0" bIns="0" rtlCol="0" anchor="ctr"/>
          <a:lstStyle/>
          <a:p>
            <a:pPr>
              <a:lnSpc>
                <a:spcPct val="100000"/>
              </a:lnSpc>
            </a:pPr>
            <a:r>
              <a:rPr lang="en-US" sz="5400" b="1" dirty="0">
                <a:solidFill>
                  <a:srgbClr val="E0E2E5"/>
                </a:solidFill>
                <a:latin typeface="Noto Sans SC" pitchFamily="34" charset="0"/>
                <a:ea typeface="Noto Sans SC" pitchFamily="34" charset="-122"/>
                <a:cs typeface="Noto Sans SC" pitchFamily="34" charset="-120"/>
              </a:rPr>
              <a:t>规模瓶颈与</a:t>
            </a:r>
            <a:endParaRPr lang="en-US" sz="1600" dirty="0"/>
          </a:p>
          <a:p>
            <a:pPr>
              <a:lnSpc>
                <a:spcPct val="100000"/>
              </a:lnSpc>
            </a:pPr>
            <a:r>
              <a:rPr lang="en-US" sz="5400" b="1" dirty="0">
                <a:solidFill>
                  <a:srgbClr val="E0E2E5"/>
                </a:solidFill>
                <a:latin typeface="Noto Sans SC" pitchFamily="34" charset="0"/>
                <a:ea typeface="Noto Sans SC" pitchFamily="34" charset="-122"/>
                <a:cs typeface="Noto Sans SC" pitchFamily="34" charset="-120"/>
              </a:rPr>
              <a:t>四维冗余模型</a:t>
            </a:r>
            <a:endParaRPr lang="en-US" sz="1600" dirty="0"/>
          </a:p>
        </p:txBody>
      </p:sp>
      <p:sp>
        <p:nvSpPr>
          <p:cNvPr id="8" name="Shape 5"/>
          <p:cNvSpPr/>
          <p:nvPr/>
        </p:nvSpPr>
        <p:spPr>
          <a:xfrm>
            <a:off x="381000" y="4387453"/>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9A86A"/>
          </a:solidFill>
          <a:ln/>
        </p:spPr>
        <p:txBody>
          <a:bodyPr/>
          <a:lstStyle/>
          <a:p>
            <a:endParaRPr lang="zh-CN" altLang="en-US"/>
          </a:p>
        </p:txBody>
      </p:sp>
      <p:sp>
        <p:nvSpPr>
          <p:cNvPr id="9" name="Text 6"/>
          <p:cNvSpPr/>
          <p:nvPr/>
        </p:nvSpPr>
        <p:spPr>
          <a:xfrm>
            <a:off x="381000" y="4749403"/>
            <a:ext cx="8677275" cy="466725"/>
          </a:xfrm>
          <a:prstGeom prst="rect">
            <a:avLst/>
          </a:prstGeom>
          <a:noFill/>
          <a:ln/>
        </p:spPr>
        <p:txBody>
          <a:bodyPr wrap="square" lIns="0" tIns="0" rIns="0" bIns="0" rtlCol="0" anchor="ctr"/>
          <a:lstStyle/>
          <a:p>
            <a:pPr>
              <a:lnSpc>
                <a:spcPct val="140000"/>
              </a:lnSpc>
            </a:pPr>
            <a:r>
              <a:rPr lang="en-US" sz="2250" dirty="0">
                <a:solidFill>
                  <a:srgbClr val="E0E2E5">
                    <a:alpha val="80000"/>
                  </a:srgbClr>
                </a:solidFill>
                <a:latin typeface="Noto Sans SC" pitchFamily="34" charset="0"/>
                <a:ea typeface="Noto Sans SC" pitchFamily="34" charset="-122"/>
                <a:cs typeface="Noto Sans SC" pitchFamily="34" charset="-120"/>
              </a:rPr>
              <a:t>理解 KV Cache 压缩的第一步是解构其成因</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BOTTLENECK ANALYSIS</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KV Cache 显存占用计算公式</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295400"/>
            <a:ext cx="5619750" cy="5181600"/>
          </a:xfrm>
          <a:custGeom>
            <a:avLst/>
            <a:gdLst/>
            <a:ahLst/>
            <a:cxnLst/>
            <a:rect l="l" t="t" r="r" b="b"/>
            <a:pathLst>
              <a:path w="5619750" h="5181600">
                <a:moveTo>
                  <a:pt x="38100" y="0"/>
                </a:moveTo>
                <a:lnTo>
                  <a:pt x="5543529" y="0"/>
                </a:lnTo>
                <a:cubicBezTo>
                  <a:pt x="5585625" y="0"/>
                  <a:pt x="5619750" y="34125"/>
                  <a:pt x="5619750" y="76221"/>
                </a:cubicBezTo>
                <a:lnTo>
                  <a:pt x="5619750" y="5105379"/>
                </a:lnTo>
                <a:cubicBezTo>
                  <a:pt x="5619750" y="5147475"/>
                  <a:pt x="5585625" y="5181600"/>
                  <a:pt x="5543529" y="5181600"/>
                </a:cubicBezTo>
                <a:lnTo>
                  <a:pt x="38100" y="5181600"/>
                </a:lnTo>
                <a:cubicBezTo>
                  <a:pt x="17072" y="5181600"/>
                  <a:pt x="0" y="5164528"/>
                  <a:pt x="0" y="51435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295400"/>
            <a:ext cx="38100" cy="5181600"/>
          </a:xfrm>
          <a:custGeom>
            <a:avLst/>
            <a:gdLst/>
            <a:ahLst/>
            <a:cxnLst/>
            <a:rect l="l" t="t" r="r" b="b"/>
            <a:pathLst>
              <a:path w="38100" h="5181600">
                <a:moveTo>
                  <a:pt x="38100" y="0"/>
                </a:moveTo>
                <a:lnTo>
                  <a:pt x="38100" y="0"/>
                </a:lnTo>
                <a:lnTo>
                  <a:pt x="38100" y="5181600"/>
                </a:lnTo>
                <a:lnTo>
                  <a:pt x="38100" y="5181600"/>
                </a:lnTo>
                <a:cubicBezTo>
                  <a:pt x="17072" y="5181600"/>
                  <a:pt x="0" y="5164528"/>
                  <a:pt x="0" y="51435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Text 5"/>
          <p:cNvSpPr/>
          <p:nvPr/>
        </p:nvSpPr>
        <p:spPr>
          <a:xfrm>
            <a:off x="571500" y="1447800"/>
            <a:ext cx="53911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显存占用公式</a:t>
            </a:r>
            <a:endParaRPr lang="en-US" sz="1600" dirty="0"/>
          </a:p>
        </p:txBody>
      </p:sp>
      <p:sp>
        <p:nvSpPr>
          <p:cNvPr id="8" name="Shape 6"/>
          <p:cNvSpPr/>
          <p:nvPr/>
        </p:nvSpPr>
        <p:spPr>
          <a:xfrm>
            <a:off x="576263" y="1833563"/>
            <a:ext cx="5286375" cy="590550"/>
          </a:xfrm>
          <a:custGeom>
            <a:avLst/>
            <a:gdLst/>
            <a:ahLst/>
            <a:cxnLst/>
            <a:rect l="l" t="t" r="r" b="b"/>
            <a:pathLst>
              <a:path w="5286375" h="590550">
                <a:moveTo>
                  <a:pt x="76199" y="0"/>
                </a:moveTo>
                <a:lnTo>
                  <a:pt x="5210176" y="0"/>
                </a:lnTo>
                <a:cubicBezTo>
                  <a:pt x="5252260" y="0"/>
                  <a:pt x="5286375" y="34115"/>
                  <a:pt x="5286375" y="76199"/>
                </a:cubicBezTo>
                <a:lnTo>
                  <a:pt x="5286375" y="514351"/>
                </a:lnTo>
                <a:cubicBezTo>
                  <a:pt x="5286375" y="556435"/>
                  <a:pt x="5252260" y="590550"/>
                  <a:pt x="5210176" y="590550"/>
                </a:cubicBezTo>
                <a:lnTo>
                  <a:pt x="76199" y="590550"/>
                </a:lnTo>
                <a:cubicBezTo>
                  <a:pt x="34115" y="590550"/>
                  <a:pt x="0" y="556435"/>
                  <a:pt x="0" y="514351"/>
                </a:cubicBezTo>
                <a:lnTo>
                  <a:pt x="0" y="76199"/>
                </a:lnTo>
                <a:cubicBezTo>
                  <a:pt x="0" y="34143"/>
                  <a:pt x="34143" y="0"/>
                  <a:pt x="76199" y="0"/>
                </a:cubicBezTo>
                <a:close/>
              </a:path>
            </a:pathLst>
          </a:custGeom>
          <a:solidFill>
            <a:srgbClr val="1A1D21">
              <a:alpha val="70196"/>
            </a:srgbClr>
          </a:solidFill>
          <a:ln w="12700">
            <a:solidFill>
              <a:srgbClr val="3D8B75">
                <a:alpha val="30196"/>
              </a:srgbClr>
            </a:solidFill>
            <a:prstDash val="solid"/>
          </a:ln>
        </p:spPr>
        <p:txBody>
          <a:bodyPr/>
          <a:lstStyle/>
          <a:p>
            <a:endParaRPr lang="zh-CN" altLang="en-US"/>
          </a:p>
        </p:txBody>
      </p:sp>
      <p:sp>
        <p:nvSpPr>
          <p:cNvPr id="9" name="Text 7"/>
          <p:cNvSpPr/>
          <p:nvPr/>
        </p:nvSpPr>
        <p:spPr>
          <a:xfrm>
            <a:off x="733425" y="1990725"/>
            <a:ext cx="5057775" cy="276225"/>
          </a:xfrm>
          <a:prstGeom prst="rect">
            <a:avLst/>
          </a:prstGeom>
          <a:noFill/>
          <a:ln/>
        </p:spPr>
        <p:txBody>
          <a:bodyPr wrap="square" lIns="0" tIns="0" rIns="0" bIns="0" rtlCol="0" anchor="ctr"/>
          <a:lstStyle/>
          <a:p>
            <a:pPr>
              <a:lnSpc>
                <a:spcPct val="140000"/>
              </a:lnSpc>
            </a:pPr>
            <a:r>
              <a:rPr lang="en-US" sz="1350" dirty="0">
                <a:solidFill>
                  <a:srgbClr val="E0E2E5"/>
                </a:solidFill>
                <a:latin typeface="MiSans" pitchFamily="34" charset="0"/>
                <a:ea typeface="MiSans" pitchFamily="34" charset="-122"/>
                <a:cs typeface="MiSans" pitchFamily="34" charset="-120"/>
              </a:rPr>
              <a:t>Memory</a:t>
            </a:r>
            <a:r>
              <a:rPr lang="en-US" sz="1013" dirty="0">
                <a:solidFill>
                  <a:srgbClr val="E0E2E5"/>
                </a:solidFill>
                <a:latin typeface="MiSans" pitchFamily="34" charset="0"/>
                <a:ea typeface="MiSans" pitchFamily="34" charset="-122"/>
                <a:cs typeface="MiSans" pitchFamily="34" charset="-120"/>
              </a:rPr>
              <a:t>KV</a:t>
            </a:r>
            <a:r>
              <a:rPr lang="en-US" sz="1350" dirty="0">
                <a:solidFill>
                  <a:srgbClr val="E0E2E5"/>
                </a:solidFill>
                <a:latin typeface="MiSans" pitchFamily="34" charset="0"/>
                <a:ea typeface="MiSans" pitchFamily="34" charset="-122"/>
                <a:cs typeface="MiSans" pitchFamily="34" charset="-120"/>
              </a:rPr>
              <a:t> ≈ 2 × b</a:t>
            </a:r>
            <a:r>
              <a:rPr lang="en-US" sz="1013" dirty="0">
                <a:solidFill>
                  <a:srgbClr val="E0E2E5"/>
                </a:solidFill>
                <a:latin typeface="MiSans" pitchFamily="34" charset="0"/>
                <a:ea typeface="MiSans" pitchFamily="34" charset="-122"/>
                <a:cs typeface="MiSans" pitchFamily="34" charset="-120"/>
              </a:rPr>
              <a:t>kv</a:t>
            </a:r>
            <a:r>
              <a:rPr lang="en-US" sz="1350" dirty="0">
                <a:solidFill>
                  <a:srgbClr val="E0E2E5"/>
                </a:solidFill>
                <a:latin typeface="MiSans" pitchFamily="34" charset="0"/>
                <a:ea typeface="MiSans" pitchFamily="34" charset="-122"/>
                <a:cs typeface="MiSans" pitchFamily="34" charset="-120"/>
              </a:rPr>
              <a:t> × L × B × S × N</a:t>
            </a:r>
            <a:r>
              <a:rPr lang="en-US" sz="1013" dirty="0">
                <a:solidFill>
                  <a:srgbClr val="E0E2E5"/>
                </a:solidFill>
                <a:latin typeface="MiSans" pitchFamily="34" charset="0"/>
                <a:ea typeface="MiSans" pitchFamily="34" charset="-122"/>
                <a:cs typeface="MiSans" pitchFamily="34" charset="-120"/>
              </a:rPr>
              <a:t>kv</a:t>
            </a:r>
            <a:r>
              <a:rPr lang="en-US" sz="1350" dirty="0">
                <a:solidFill>
                  <a:srgbClr val="E0E2E5"/>
                </a:solidFill>
                <a:latin typeface="MiSans" pitchFamily="34" charset="0"/>
                <a:ea typeface="MiSans" pitchFamily="34" charset="-122"/>
                <a:cs typeface="MiSans" pitchFamily="34" charset="-120"/>
              </a:rPr>
              <a:t> × d</a:t>
            </a:r>
            <a:r>
              <a:rPr lang="en-US" sz="1013" dirty="0">
                <a:solidFill>
                  <a:srgbClr val="E0E2E5"/>
                </a:solidFill>
                <a:latin typeface="MiSans" pitchFamily="34" charset="0"/>
                <a:ea typeface="MiSans" pitchFamily="34" charset="-122"/>
                <a:cs typeface="MiSans" pitchFamily="34" charset="-120"/>
              </a:rPr>
              <a:t>head</a:t>
            </a:r>
            <a:endParaRPr lang="en-US" sz="1600" dirty="0"/>
          </a:p>
        </p:txBody>
      </p:sp>
      <p:sp>
        <p:nvSpPr>
          <p:cNvPr id="10" name="Shape 8"/>
          <p:cNvSpPr/>
          <p:nvPr/>
        </p:nvSpPr>
        <p:spPr>
          <a:xfrm>
            <a:off x="571500" y="2573238"/>
            <a:ext cx="304800" cy="304800"/>
          </a:xfrm>
          <a:custGeom>
            <a:avLst/>
            <a:gdLst/>
            <a:ahLst/>
            <a:cxnLst/>
            <a:rect l="l" t="t" r="r" b="b"/>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11" name="Text 9"/>
          <p:cNvSpPr/>
          <p:nvPr/>
        </p:nvSpPr>
        <p:spPr>
          <a:xfrm>
            <a:off x="683865" y="2630388"/>
            <a:ext cx="142875" cy="190500"/>
          </a:xfrm>
          <a:prstGeom prst="rect">
            <a:avLst/>
          </a:prstGeom>
          <a:noFill/>
          <a:ln/>
        </p:spPr>
        <p:txBody>
          <a:bodyPr wrap="square" lIns="0" tIns="0" rIns="0" bIns="0" rtlCol="0" anchor="ctr"/>
          <a:lstStyle/>
          <a:p>
            <a:pPr>
              <a:lnSpc>
                <a:spcPct val="120000"/>
              </a:lnSpc>
            </a:pPr>
            <a:r>
              <a:rPr lang="en-US" sz="1050" b="1" dirty="0">
                <a:solidFill>
                  <a:srgbClr val="3D8B75"/>
                </a:solidFill>
                <a:latin typeface="Noto Sans SC" pitchFamily="34" charset="0"/>
                <a:ea typeface="Noto Sans SC" pitchFamily="34" charset="-122"/>
                <a:cs typeface="Noto Sans SC" pitchFamily="34" charset="-120"/>
              </a:rPr>
              <a:t>2</a:t>
            </a:r>
            <a:endParaRPr lang="en-US" sz="1600" dirty="0"/>
          </a:p>
        </p:txBody>
      </p:sp>
      <p:sp>
        <p:nvSpPr>
          <p:cNvPr id="12" name="Text 10"/>
          <p:cNvSpPr/>
          <p:nvPr/>
        </p:nvSpPr>
        <p:spPr>
          <a:xfrm>
            <a:off x="990600" y="2573238"/>
            <a:ext cx="4953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系数 2</a:t>
            </a:r>
            <a:endParaRPr lang="en-US" sz="1600" dirty="0"/>
          </a:p>
        </p:txBody>
      </p:sp>
      <p:sp>
        <p:nvSpPr>
          <p:cNvPr id="13" name="Text 11"/>
          <p:cNvSpPr/>
          <p:nvPr/>
        </p:nvSpPr>
        <p:spPr>
          <a:xfrm>
            <a:off x="990600" y="2801838"/>
            <a:ext cx="49434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同时缓存 Key 和 Value 矩阵</a:t>
            </a:r>
            <a:endParaRPr lang="en-US" sz="1600" dirty="0"/>
          </a:p>
        </p:txBody>
      </p:sp>
      <p:sp>
        <p:nvSpPr>
          <p:cNvPr id="14" name="Shape 12"/>
          <p:cNvSpPr/>
          <p:nvPr/>
        </p:nvSpPr>
        <p:spPr>
          <a:xfrm>
            <a:off x="571500" y="3123977"/>
            <a:ext cx="304800" cy="304800"/>
          </a:xfrm>
          <a:custGeom>
            <a:avLst/>
            <a:gdLst/>
            <a:ahLst/>
            <a:cxnLst/>
            <a:rect l="l" t="t" r="r" b="b"/>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15" name="Text 13"/>
          <p:cNvSpPr/>
          <p:nvPr/>
        </p:nvSpPr>
        <p:spPr>
          <a:xfrm>
            <a:off x="683716" y="3181127"/>
            <a:ext cx="142875" cy="190500"/>
          </a:xfrm>
          <a:prstGeom prst="rect">
            <a:avLst/>
          </a:prstGeom>
          <a:noFill/>
          <a:ln/>
        </p:spPr>
        <p:txBody>
          <a:bodyPr wrap="square" lIns="0" tIns="0" rIns="0" bIns="0" rtlCol="0" anchor="ctr"/>
          <a:lstStyle/>
          <a:p>
            <a:pPr>
              <a:lnSpc>
                <a:spcPct val="120000"/>
              </a:lnSpc>
            </a:pPr>
            <a:r>
              <a:rPr lang="en-US" sz="1050" b="1" dirty="0">
                <a:solidFill>
                  <a:srgbClr val="3D8B75"/>
                </a:solidFill>
                <a:latin typeface="Noto Sans SC" pitchFamily="34" charset="0"/>
                <a:ea typeface="Noto Sans SC" pitchFamily="34" charset="-122"/>
                <a:cs typeface="Noto Sans SC" pitchFamily="34" charset="-120"/>
              </a:rPr>
              <a:t>b</a:t>
            </a:r>
            <a:endParaRPr lang="en-US" sz="1600" dirty="0"/>
          </a:p>
        </p:txBody>
      </p:sp>
      <p:sp>
        <p:nvSpPr>
          <p:cNvPr id="16" name="Text 14"/>
          <p:cNvSpPr/>
          <p:nvPr/>
        </p:nvSpPr>
        <p:spPr>
          <a:xfrm>
            <a:off x="990600" y="3123977"/>
            <a:ext cx="4953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b</a:t>
            </a:r>
            <a:r>
              <a:rPr lang="en-US" sz="900" b="1" dirty="0">
                <a:solidFill>
                  <a:srgbClr val="E0E2E5"/>
                </a:solidFill>
                <a:latin typeface="Noto Sans SC" pitchFamily="34" charset="0"/>
                <a:ea typeface="Noto Sans SC" pitchFamily="34" charset="-122"/>
                <a:cs typeface="Noto Sans SC" pitchFamily="34" charset="-120"/>
              </a:rPr>
              <a:t>kv</a:t>
            </a:r>
            <a:endParaRPr lang="en-US" sz="1600" dirty="0"/>
          </a:p>
        </p:txBody>
      </p:sp>
      <p:sp>
        <p:nvSpPr>
          <p:cNvPr id="17" name="Text 15"/>
          <p:cNvSpPr/>
          <p:nvPr/>
        </p:nvSpPr>
        <p:spPr>
          <a:xfrm>
            <a:off x="990600" y="3352577"/>
            <a:ext cx="49434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单个数值字节数（FP16 为 2）</a:t>
            </a:r>
            <a:endParaRPr lang="en-US" sz="1600" dirty="0"/>
          </a:p>
        </p:txBody>
      </p:sp>
      <p:sp>
        <p:nvSpPr>
          <p:cNvPr id="18" name="Shape 16"/>
          <p:cNvSpPr/>
          <p:nvPr/>
        </p:nvSpPr>
        <p:spPr>
          <a:xfrm>
            <a:off x="571500" y="3674715"/>
            <a:ext cx="304800" cy="304800"/>
          </a:xfrm>
          <a:custGeom>
            <a:avLst/>
            <a:gdLst/>
            <a:ahLst/>
            <a:cxnLst/>
            <a:rect l="l" t="t" r="r" b="b"/>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C9A86A">
              <a:alpha val="20000"/>
            </a:srgbClr>
          </a:solidFill>
          <a:ln/>
        </p:spPr>
        <p:txBody>
          <a:bodyPr/>
          <a:lstStyle/>
          <a:p>
            <a:endParaRPr lang="zh-CN" altLang="en-US"/>
          </a:p>
        </p:txBody>
      </p:sp>
      <p:sp>
        <p:nvSpPr>
          <p:cNvPr id="19" name="Text 17"/>
          <p:cNvSpPr/>
          <p:nvPr/>
        </p:nvSpPr>
        <p:spPr>
          <a:xfrm>
            <a:off x="684386" y="3731865"/>
            <a:ext cx="142875"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Noto Sans SC" pitchFamily="34" charset="0"/>
                <a:ea typeface="Noto Sans SC" pitchFamily="34" charset="-122"/>
                <a:cs typeface="Noto Sans SC" pitchFamily="34" charset="-120"/>
              </a:rPr>
              <a:t>L</a:t>
            </a:r>
            <a:endParaRPr lang="en-US" sz="1600" dirty="0"/>
          </a:p>
        </p:txBody>
      </p:sp>
      <p:sp>
        <p:nvSpPr>
          <p:cNvPr id="20" name="Text 18"/>
          <p:cNvSpPr/>
          <p:nvPr/>
        </p:nvSpPr>
        <p:spPr>
          <a:xfrm>
            <a:off x="990600" y="3674715"/>
            <a:ext cx="4953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L</a:t>
            </a:r>
            <a:endParaRPr lang="en-US" sz="1600" dirty="0"/>
          </a:p>
        </p:txBody>
      </p:sp>
      <p:sp>
        <p:nvSpPr>
          <p:cNvPr id="21" name="Text 19"/>
          <p:cNvSpPr/>
          <p:nvPr/>
        </p:nvSpPr>
        <p:spPr>
          <a:xfrm>
            <a:off x="990600" y="3903315"/>
            <a:ext cx="49434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网络层数</a:t>
            </a:r>
            <a:endParaRPr lang="en-US" sz="1600" dirty="0"/>
          </a:p>
        </p:txBody>
      </p:sp>
      <p:sp>
        <p:nvSpPr>
          <p:cNvPr id="22" name="Shape 20"/>
          <p:cNvSpPr/>
          <p:nvPr/>
        </p:nvSpPr>
        <p:spPr>
          <a:xfrm>
            <a:off x="571500" y="4225454"/>
            <a:ext cx="304800" cy="304800"/>
          </a:xfrm>
          <a:custGeom>
            <a:avLst/>
            <a:gdLst/>
            <a:ahLst/>
            <a:cxnLst/>
            <a:rect l="l" t="t" r="r" b="b"/>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C9A86A">
              <a:alpha val="20000"/>
            </a:srgbClr>
          </a:solidFill>
          <a:ln/>
        </p:spPr>
        <p:txBody>
          <a:bodyPr/>
          <a:lstStyle/>
          <a:p>
            <a:endParaRPr lang="zh-CN" altLang="en-US"/>
          </a:p>
        </p:txBody>
      </p:sp>
      <p:sp>
        <p:nvSpPr>
          <p:cNvPr id="23" name="Text 21"/>
          <p:cNvSpPr/>
          <p:nvPr/>
        </p:nvSpPr>
        <p:spPr>
          <a:xfrm>
            <a:off x="677838" y="4282604"/>
            <a:ext cx="161925"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Noto Sans SC" pitchFamily="34" charset="0"/>
                <a:ea typeface="Noto Sans SC" pitchFamily="34" charset="-122"/>
                <a:cs typeface="Noto Sans SC" pitchFamily="34" charset="-120"/>
              </a:rPr>
              <a:t>B</a:t>
            </a:r>
            <a:endParaRPr lang="en-US" sz="1600" dirty="0"/>
          </a:p>
        </p:txBody>
      </p:sp>
      <p:sp>
        <p:nvSpPr>
          <p:cNvPr id="24" name="Text 22"/>
          <p:cNvSpPr/>
          <p:nvPr/>
        </p:nvSpPr>
        <p:spPr>
          <a:xfrm>
            <a:off x="990600" y="4225454"/>
            <a:ext cx="4953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B</a:t>
            </a:r>
            <a:endParaRPr lang="en-US" sz="1600" dirty="0"/>
          </a:p>
        </p:txBody>
      </p:sp>
      <p:sp>
        <p:nvSpPr>
          <p:cNvPr id="25" name="Text 23"/>
          <p:cNvSpPr/>
          <p:nvPr/>
        </p:nvSpPr>
        <p:spPr>
          <a:xfrm>
            <a:off x="990600" y="4454054"/>
            <a:ext cx="49434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批处理规模（Batch Size）</a:t>
            </a:r>
            <a:endParaRPr lang="en-US" sz="1600" dirty="0"/>
          </a:p>
        </p:txBody>
      </p:sp>
      <p:sp>
        <p:nvSpPr>
          <p:cNvPr id="26" name="Shape 24"/>
          <p:cNvSpPr/>
          <p:nvPr/>
        </p:nvSpPr>
        <p:spPr>
          <a:xfrm>
            <a:off x="571500" y="4776267"/>
            <a:ext cx="304800" cy="304800"/>
          </a:xfrm>
          <a:custGeom>
            <a:avLst/>
            <a:gdLst/>
            <a:ahLst/>
            <a:cxnLst/>
            <a:rect l="l" t="t" r="r" b="b"/>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5F6B7A">
              <a:alpha val="20000"/>
            </a:srgbClr>
          </a:solidFill>
          <a:ln/>
        </p:spPr>
        <p:txBody>
          <a:bodyPr/>
          <a:lstStyle/>
          <a:p>
            <a:endParaRPr lang="zh-CN" altLang="en-US"/>
          </a:p>
        </p:txBody>
      </p:sp>
      <p:sp>
        <p:nvSpPr>
          <p:cNvPr id="27" name="Text 25"/>
          <p:cNvSpPr/>
          <p:nvPr/>
        </p:nvSpPr>
        <p:spPr>
          <a:xfrm>
            <a:off x="680442" y="4833417"/>
            <a:ext cx="152400" cy="190500"/>
          </a:xfrm>
          <a:prstGeom prst="rect">
            <a:avLst/>
          </a:prstGeom>
          <a:noFill/>
          <a:ln/>
        </p:spPr>
        <p:txBody>
          <a:bodyPr wrap="square" lIns="0" tIns="0" rIns="0" bIns="0" rtlCol="0" anchor="ctr"/>
          <a:lstStyle/>
          <a:p>
            <a:pPr>
              <a:lnSpc>
                <a:spcPct val="120000"/>
              </a:lnSpc>
            </a:pPr>
            <a:r>
              <a:rPr lang="en-US" sz="1050" b="1" dirty="0">
                <a:solidFill>
                  <a:srgbClr val="5F6B7A"/>
                </a:solidFill>
                <a:latin typeface="Noto Sans SC" pitchFamily="34" charset="0"/>
                <a:ea typeface="Noto Sans SC" pitchFamily="34" charset="-122"/>
                <a:cs typeface="Noto Sans SC" pitchFamily="34" charset="-120"/>
              </a:rPr>
              <a:t>S</a:t>
            </a:r>
            <a:endParaRPr lang="en-US" sz="1600" dirty="0"/>
          </a:p>
        </p:txBody>
      </p:sp>
      <p:sp>
        <p:nvSpPr>
          <p:cNvPr id="28" name="Text 26"/>
          <p:cNvSpPr/>
          <p:nvPr/>
        </p:nvSpPr>
        <p:spPr>
          <a:xfrm>
            <a:off x="990600" y="4776267"/>
            <a:ext cx="4953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S</a:t>
            </a:r>
            <a:endParaRPr lang="en-US" sz="1600" dirty="0"/>
          </a:p>
        </p:txBody>
      </p:sp>
      <p:sp>
        <p:nvSpPr>
          <p:cNvPr id="29" name="Text 27"/>
          <p:cNvSpPr/>
          <p:nvPr/>
        </p:nvSpPr>
        <p:spPr>
          <a:xfrm>
            <a:off x="990600" y="5004867"/>
            <a:ext cx="49434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上下文序列长度</a:t>
            </a:r>
            <a:endParaRPr lang="en-US" sz="1600" dirty="0"/>
          </a:p>
        </p:txBody>
      </p:sp>
      <p:sp>
        <p:nvSpPr>
          <p:cNvPr id="30" name="Shape 28"/>
          <p:cNvSpPr/>
          <p:nvPr/>
        </p:nvSpPr>
        <p:spPr>
          <a:xfrm>
            <a:off x="571500" y="5327005"/>
            <a:ext cx="304800" cy="304800"/>
          </a:xfrm>
          <a:custGeom>
            <a:avLst/>
            <a:gdLst/>
            <a:ahLst/>
            <a:cxnLst/>
            <a:rect l="l" t="t" r="r" b="b"/>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5F6B7A">
              <a:alpha val="20000"/>
            </a:srgbClr>
          </a:solidFill>
          <a:ln/>
        </p:spPr>
        <p:txBody>
          <a:bodyPr/>
          <a:lstStyle/>
          <a:p>
            <a:endParaRPr lang="zh-CN" altLang="en-US"/>
          </a:p>
        </p:txBody>
      </p:sp>
      <p:sp>
        <p:nvSpPr>
          <p:cNvPr id="31" name="Text 29"/>
          <p:cNvSpPr/>
          <p:nvPr/>
        </p:nvSpPr>
        <p:spPr>
          <a:xfrm>
            <a:off x="675084" y="5384155"/>
            <a:ext cx="161925" cy="190500"/>
          </a:xfrm>
          <a:prstGeom prst="rect">
            <a:avLst/>
          </a:prstGeom>
          <a:noFill/>
          <a:ln/>
        </p:spPr>
        <p:txBody>
          <a:bodyPr wrap="square" lIns="0" tIns="0" rIns="0" bIns="0" rtlCol="0" anchor="ctr"/>
          <a:lstStyle/>
          <a:p>
            <a:pPr>
              <a:lnSpc>
                <a:spcPct val="120000"/>
              </a:lnSpc>
            </a:pPr>
            <a:r>
              <a:rPr lang="en-US" sz="1050" b="1" dirty="0">
                <a:solidFill>
                  <a:srgbClr val="5F6B7A"/>
                </a:solidFill>
                <a:latin typeface="Noto Sans SC" pitchFamily="34" charset="0"/>
                <a:ea typeface="Noto Sans SC" pitchFamily="34" charset="-122"/>
                <a:cs typeface="Noto Sans SC" pitchFamily="34" charset="-120"/>
              </a:rPr>
              <a:t>N</a:t>
            </a:r>
            <a:endParaRPr lang="en-US" sz="1600" dirty="0"/>
          </a:p>
        </p:txBody>
      </p:sp>
      <p:sp>
        <p:nvSpPr>
          <p:cNvPr id="32" name="Text 30"/>
          <p:cNvSpPr/>
          <p:nvPr/>
        </p:nvSpPr>
        <p:spPr>
          <a:xfrm>
            <a:off x="990600" y="5327005"/>
            <a:ext cx="4953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N</a:t>
            </a:r>
            <a:r>
              <a:rPr lang="en-US" sz="900" b="1" dirty="0">
                <a:solidFill>
                  <a:srgbClr val="E0E2E5"/>
                </a:solidFill>
                <a:latin typeface="Noto Sans SC" pitchFamily="34" charset="0"/>
                <a:ea typeface="Noto Sans SC" pitchFamily="34" charset="-122"/>
                <a:cs typeface="Noto Sans SC" pitchFamily="34" charset="-120"/>
              </a:rPr>
              <a:t>kv</a:t>
            </a:r>
            <a:endParaRPr lang="en-US" sz="1600" dirty="0"/>
          </a:p>
        </p:txBody>
      </p:sp>
      <p:sp>
        <p:nvSpPr>
          <p:cNvPr id="33" name="Text 31"/>
          <p:cNvSpPr/>
          <p:nvPr/>
        </p:nvSpPr>
        <p:spPr>
          <a:xfrm>
            <a:off x="990600" y="5555605"/>
            <a:ext cx="49434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KV 头数（GQA/MQA 可缩减）</a:t>
            </a:r>
            <a:endParaRPr lang="en-US" sz="1600" dirty="0"/>
          </a:p>
        </p:txBody>
      </p:sp>
      <p:sp>
        <p:nvSpPr>
          <p:cNvPr id="34" name="Shape 32"/>
          <p:cNvSpPr/>
          <p:nvPr/>
        </p:nvSpPr>
        <p:spPr>
          <a:xfrm>
            <a:off x="571500" y="5877744"/>
            <a:ext cx="304800" cy="304800"/>
          </a:xfrm>
          <a:custGeom>
            <a:avLst/>
            <a:gdLst/>
            <a:ahLst/>
            <a:cxnLst/>
            <a:rect l="l" t="t" r="r" b="b"/>
            <a:pathLst>
              <a:path w="304800" h="304800">
                <a:moveTo>
                  <a:pt x="38100" y="0"/>
                </a:moveTo>
                <a:lnTo>
                  <a:pt x="266700" y="0"/>
                </a:lnTo>
                <a:cubicBezTo>
                  <a:pt x="287728" y="0"/>
                  <a:pt x="304800" y="17072"/>
                  <a:pt x="304800" y="38100"/>
                </a:cubicBezTo>
                <a:lnTo>
                  <a:pt x="304800" y="266700"/>
                </a:lnTo>
                <a:cubicBezTo>
                  <a:pt x="304800" y="287728"/>
                  <a:pt x="287728" y="304800"/>
                  <a:pt x="266700" y="304800"/>
                </a:cubicBezTo>
                <a:lnTo>
                  <a:pt x="38100" y="304800"/>
                </a:lnTo>
                <a:cubicBezTo>
                  <a:pt x="17072" y="304800"/>
                  <a:pt x="0" y="287728"/>
                  <a:pt x="0" y="26670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35" name="Text 33"/>
          <p:cNvSpPr/>
          <p:nvPr/>
        </p:nvSpPr>
        <p:spPr>
          <a:xfrm>
            <a:off x="683716" y="5934894"/>
            <a:ext cx="142875" cy="190500"/>
          </a:xfrm>
          <a:prstGeom prst="rect">
            <a:avLst/>
          </a:prstGeom>
          <a:noFill/>
          <a:ln/>
        </p:spPr>
        <p:txBody>
          <a:bodyPr wrap="square" lIns="0" tIns="0" rIns="0" bIns="0" rtlCol="0" anchor="ctr"/>
          <a:lstStyle/>
          <a:p>
            <a:pPr>
              <a:lnSpc>
                <a:spcPct val="120000"/>
              </a:lnSpc>
            </a:pPr>
            <a:r>
              <a:rPr lang="en-US" sz="1050" b="1" dirty="0">
                <a:solidFill>
                  <a:srgbClr val="3D8B75"/>
                </a:solidFill>
                <a:latin typeface="Noto Sans SC" pitchFamily="34" charset="0"/>
                <a:ea typeface="Noto Sans SC" pitchFamily="34" charset="-122"/>
                <a:cs typeface="Noto Sans SC" pitchFamily="34" charset="-120"/>
              </a:rPr>
              <a:t>d</a:t>
            </a:r>
            <a:endParaRPr lang="en-US" sz="1600" dirty="0"/>
          </a:p>
        </p:txBody>
      </p:sp>
      <p:sp>
        <p:nvSpPr>
          <p:cNvPr id="36" name="Text 34"/>
          <p:cNvSpPr/>
          <p:nvPr/>
        </p:nvSpPr>
        <p:spPr>
          <a:xfrm>
            <a:off x="990600" y="5877744"/>
            <a:ext cx="4953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d</a:t>
            </a:r>
            <a:r>
              <a:rPr lang="en-US" sz="900" b="1" dirty="0">
                <a:solidFill>
                  <a:srgbClr val="E0E2E5"/>
                </a:solidFill>
                <a:latin typeface="Noto Sans SC" pitchFamily="34" charset="0"/>
                <a:ea typeface="Noto Sans SC" pitchFamily="34" charset="-122"/>
                <a:cs typeface="Noto Sans SC" pitchFamily="34" charset="-120"/>
              </a:rPr>
              <a:t>head</a:t>
            </a:r>
            <a:endParaRPr lang="en-US" sz="1600" dirty="0"/>
          </a:p>
        </p:txBody>
      </p:sp>
      <p:sp>
        <p:nvSpPr>
          <p:cNvPr id="37" name="Text 35"/>
          <p:cNvSpPr/>
          <p:nvPr/>
        </p:nvSpPr>
        <p:spPr>
          <a:xfrm>
            <a:off x="990600" y="6106344"/>
            <a:ext cx="494347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每个头的特征维度</a:t>
            </a:r>
            <a:endParaRPr lang="en-US" sz="1600" dirty="0"/>
          </a:p>
        </p:txBody>
      </p:sp>
      <p:sp>
        <p:nvSpPr>
          <p:cNvPr id="38" name="Shape 36"/>
          <p:cNvSpPr/>
          <p:nvPr/>
        </p:nvSpPr>
        <p:spPr>
          <a:xfrm>
            <a:off x="6191250" y="1295400"/>
            <a:ext cx="5619750" cy="2809875"/>
          </a:xfrm>
          <a:custGeom>
            <a:avLst/>
            <a:gdLst/>
            <a:ahLst/>
            <a:cxnLst/>
            <a:rect l="l" t="t" r="r" b="b"/>
            <a:pathLst>
              <a:path w="5619750" h="2809875">
                <a:moveTo>
                  <a:pt x="38100" y="0"/>
                </a:moveTo>
                <a:lnTo>
                  <a:pt x="5543546" y="0"/>
                </a:lnTo>
                <a:cubicBezTo>
                  <a:pt x="5585632" y="0"/>
                  <a:pt x="5619750" y="34118"/>
                  <a:pt x="5619750" y="76204"/>
                </a:cubicBezTo>
                <a:lnTo>
                  <a:pt x="5619750" y="2733671"/>
                </a:lnTo>
                <a:cubicBezTo>
                  <a:pt x="5619750" y="2775757"/>
                  <a:pt x="5585632" y="2809875"/>
                  <a:pt x="5543546" y="2809875"/>
                </a:cubicBezTo>
                <a:lnTo>
                  <a:pt x="38100" y="2809875"/>
                </a:lnTo>
                <a:cubicBezTo>
                  <a:pt x="17072" y="2809875"/>
                  <a:pt x="0" y="2792803"/>
                  <a:pt x="0" y="2771775"/>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39" name="Shape 37"/>
          <p:cNvSpPr/>
          <p:nvPr/>
        </p:nvSpPr>
        <p:spPr>
          <a:xfrm>
            <a:off x="6191250" y="1295400"/>
            <a:ext cx="38100" cy="2809875"/>
          </a:xfrm>
          <a:custGeom>
            <a:avLst/>
            <a:gdLst/>
            <a:ahLst/>
            <a:cxnLst/>
            <a:rect l="l" t="t" r="r" b="b"/>
            <a:pathLst>
              <a:path w="38100" h="2809875">
                <a:moveTo>
                  <a:pt x="38100" y="0"/>
                </a:moveTo>
                <a:lnTo>
                  <a:pt x="38100" y="0"/>
                </a:lnTo>
                <a:lnTo>
                  <a:pt x="38100" y="2809875"/>
                </a:lnTo>
                <a:lnTo>
                  <a:pt x="38100" y="2809875"/>
                </a:lnTo>
                <a:cubicBezTo>
                  <a:pt x="17072" y="2809875"/>
                  <a:pt x="0" y="2792803"/>
                  <a:pt x="0" y="2771775"/>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40" name="Text 38"/>
          <p:cNvSpPr/>
          <p:nvPr/>
        </p:nvSpPr>
        <p:spPr>
          <a:xfrm>
            <a:off x="6362700" y="1447800"/>
            <a:ext cx="53911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最大并发请求数</a:t>
            </a:r>
            <a:endParaRPr lang="en-US" sz="1600" dirty="0"/>
          </a:p>
        </p:txBody>
      </p:sp>
      <p:sp>
        <p:nvSpPr>
          <p:cNvPr id="41" name="Shape 39"/>
          <p:cNvSpPr/>
          <p:nvPr/>
        </p:nvSpPr>
        <p:spPr>
          <a:xfrm>
            <a:off x="6367463" y="1833563"/>
            <a:ext cx="5286375" cy="590550"/>
          </a:xfrm>
          <a:custGeom>
            <a:avLst/>
            <a:gdLst/>
            <a:ahLst/>
            <a:cxnLst/>
            <a:rect l="l" t="t" r="r" b="b"/>
            <a:pathLst>
              <a:path w="5286375" h="590550">
                <a:moveTo>
                  <a:pt x="76199" y="0"/>
                </a:moveTo>
                <a:lnTo>
                  <a:pt x="5210176" y="0"/>
                </a:lnTo>
                <a:cubicBezTo>
                  <a:pt x="5252260" y="0"/>
                  <a:pt x="5286375" y="34115"/>
                  <a:pt x="5286375" y="76199"/>
                </a:cubicBezTo>
                <a:lnTo>
                  <a:pt x="5286375" y="514351"/>
                </a:lnTo>
                <a:cubicBezTo>
                  <a:pt x="5286375" y="556435"/>
                  <a:pt x="5252260" y="590550"/>
                  <a:pt x="5210176" y="590550"/>
                </a:cubicBezTo>
                <a:lnTo>
                  <a:pt x="76199" y="590550"/>
                </a:lnTo>
                <a:cubicBezTo>
                  <a:pt x="34115" y="590550"/>
                  <a:pt x="0" y="556435"/>
                  <a:pt x="0" y="514351"/>
                </a:cubicBezTo>
                <a:lnTo>
                  <a:pt x="0" y="76199"/>
                </a:lnTo>
                <a:cubicBezTo>
                  <a:pt x="0" y="34143"/>
                  <a:pt x="34143" y="0"/>
                  <a:pt x="76199" y="0"/>
                </a:cubicBezTo>
                <a:close/>
              </a:path>
            </a:pathLst>
          </a:custGeom>
          <a:solidFill>
            <a:srgbClr val="1A1D21">
              <a:alpha val="70196"/>
            </a:srgbClr>
          </a:solidFill>
          <a:ln w="12700">
            <a:solidFill>
              <a:srgbClr val="C9A86A">
                <a:alpha val="30196"/>
              </a:srgbClr>
            </a:solidFill>
            <a:prstDash val="solid"/>
          </a:ln>
        </p:spPr>
        <p:txBody>
          <a:bodyPr/>
          <a:lstStyle/>
          <a:p>
            <a:endParaRPr lang="zh-CN" altLang="en-US"/>
          </a:p>
        </p:txBody>
      </p:sp>
      <p:sp>
        <p:nvSpPr>
          <p:cNvPr id="42" name="Text 40"/>
          <p:cNvSpPr/>
          <p:nvPr/>
        </p:nvSpPr>
        <p:spPr>
          <a:xfrm>
            <a:off x="6524625" y="1990725"/>
            <a:ext cx="5057775" cy="276225"/>
          </a:xfrm>
          <a:prstGeom prst="rect">
            <a:avLst/>
          </a:prstGeom>
          <a:noFill/>
          <a:ln/>
        </p:spPr>
        <p:txBody>
          <a:bodyPr wrap="square" lIns="0" tIns="0" rIns="0" bIns="0" rtlCol="0" anchor="ctr"/>
          <a:lstStyle/>
          <a:p>
            <a:pPr>
              <a:lnSpc>
                <a:spcPct val="140000"/>
              </a:lnSpc>
            </a:pPr>
            <a:r>
              <a:rPr lang="en-US" sz="1350" dirty="0">
                <a:solidFill>
                  <a:srgbClr val="E0E2E5"/>
                </a:solidFill>
                <a:latin typeface="MiSans" pitchFamily="34" charset="0"/>
                <a:ea typeface="MiSans" pitchFamily="34" charset="-122"/>
                <a:cs typeface="MiSans" pitchFamily="34" charset="-120"/>
              </a:rPr>
              <a:t>B</a:t>
            </a:r>
            <a:r>
              <a:rPr lang="en-US" sz="1013" dirty="0">
                <a:solidFill>
                  <a:srgbClr val="E0E2E5"/>
                </a:solidFill>
                <a:latin typeface="MiSans" pitchFamily="34" charset="0"/>
                <a:ea typeface="MiSans" pitchFamily="34" charset="-122"/>
                <a:cs typeface="MiSans" pitchFamily="34" charset="-120"/>
              </a:rPr>
              <a:t>max</a:t>
            </a:r>
            <a:r>
              <a:rPr lang="en-US" sz="1350" dirty="0">
                <a:solidFill>
                  <a:srgbClr val="E0E2E5"/>
                </a:solidFill>
                <a:latin typeface="MiSans" pitchFamily="34" charset="0"/>
                <a:ea typeface="MiSans" pitchFamily="34" charset="-122"/>
                <a:cs typeface="MiSans" pitchFamily="34" charset="-120"/>
              </a:rPr>
              <a:t> ≈ (M</a:t>
            </a:r>
            <a:r>
              <a:rPr lang="en-US" sz="1013" dirty="0">
                <a:solidFill>
                  <a:srgbClr val="E0E2E5"/>
                </a:solidFill>
                <a:latin typeface="MiSans" pitchFamily="34" charset="0"/>
                <a:ea typeface="MiSans" pitchFamily="34" charset="-122"/>
                <a:cs typeface="MiSans" pitchFamily="34" charset="-120"/>
              </a:rPr>
              <a:t>GPU</a:t>
            </a:r>
            <a:r>
              <a:rPr lang="en-US" sz="1350" dirty="0">
                <a:solidFill>
                  <a:srgbClr val="E0E2E5"/>
                </a:solidFill>
                <a:latin typeface="MiSans" pitchFamily="34" charset="0"/>
                <a:ea typeface="MiSans" pitchFamily="34" charset="-122"/>
                <a:cs typeface="MiSans" pitchFamily="34" charset="-120"/>
              </a:rPr>
              <a:t> - M</a:t>
            </a:r>
            <a:r>
              <a:rPr lang="en-US" sz="1013" dirty="0">
                <a:solidFill>
                  <a:srgbClr val="E0E2E5"/>
                </a:solidFill>
                <a:latin typeface="MiSans" pitchFamily="34" charset="0"/>
                <a:ea typeface="MiSans" pitchFamily="34" charset="-122"/>
                <a:cs typeface="MiSans" pitchFamily="34" charset="-120"/>
              </a:rPr>
              <a:t>model</a:t>
            </a:r>
            <a:r>
              <a:rPr lang="en-US" sz="1350" dirty="0">
                <a:solidFill>
                  <a:srgbClr val="E0E2E5"/>
                </a:solidFill>
                <a:latin typeface="MiSans" pitchFamily="34" charset="0"/>
                <a:ea typeface="MiSans" pitchFamily="34" charset="-122"/>
                <a:cs typeface="MiSans" pitchFamily="34" charset="-120"/>
              </a:rPr>
              <a:t>) / M</a:t>
            </a:r>
            <a:r>
              <a:rPr lang="en-US" sz="1013" dirty="0">
                <a:solidFill>
                  <a:srgbClr val="E0E2E5"/>
                </a:solidFill>
                <a:latin typeface="MiSans" pitchFamily="34" charset="0"/>
                <a:ea typeface="MiSans" pitchFamily="34" charset="-122"/>
                <a:cs typeface="MiSans" pitchFamily="34" charset="-120"/>
              </a:rPr>
              <a:t>KV_per_sample</a:t>
            </a:r>
            <a:endParaRPr lang="en-US" sz="1600" dirty="0"/>
          </a:p>
        </p:txBody>
      </p:sp>
      <p:sp>
        <p:nvSpPr>
          <p:cNvPr id="43" name="Shape 41"/>
          <p:cNvSpPr/>
          <p:nvPr/>
        </p:nvSpPr>
        <p:spPr>
          <a:xfrm>
            <a:off x="6362700" y="2621756"/>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44" name="Text 42"/>
          <p:cNvSpPr/>
          <p:nvPr/>
        </p:nvSpPr>
        <p:spPr>
          <a:xfrm>
            <a:off x="6553200" y="2545556"/>
            <a:ext cx="143827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MGPU</a:t>
            </a:r>
            <a:r>
              <a:rPr lang="en-US" sz="1200" dirty="0">
                <a:solidFill>
                  <a:srgbClr val="E0E2E5">
                    <a:alpha val="80000"/>
                  </a:srgbClr>
                </a:solidFill>
                <a:latin typeface="Noto Sans SC" pitchFamily="34" charset="0"/>
                <a:ea typeface="Noto Sans SC" pitchFamily="34" charset="-122"/>
                <a:cs typeface="Noto Sans SC" pitchFamily="34" charset="-120"/>
              </a:rPr>
              <a:t>：GPU 总显存</a:t>
            </a:r>
            <a:endParaRPr lang="en-US" sz="1600" dirty="0"/>
          </a:p>
        </p:txBody>
      </p:sp>
      <p:sp>
        <p:nvSpPr>
          <p:cNvPr id="45" name="Shape 43"/>
          <p:cNvSpPr/>
          <p:nvPr/>
        </p:nvSpPr>
        <p:spPr>
          <a:xfrm>
            <a:off x="6362700" y="2926556"/>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46" name="Text 44"/>
          <p:cNvSpPr/>
          <p:nvPr/>
        </p:nvSpPr>
        <p:spPr>
          <a:xfrm>
            <a:off x="6553200" y="2850356"/>
            <a:ext cx="16097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Mmodel</a:t>
            </a:r>
            <a:r>
              <a:rPr lang="en-US" sz="1200" dirty="0">
                <a:solidFill>
                  <a:srgbClr val="E0E2E5">
                    <a:alpha val="80000"/>
                  </a:srgbClr>
                </a:solidFill>
                <a:latin typeface="Noto Sans SC" pitchFamily="34" charset="0"/>
                <a:ea typeface="Noto Sans SC" pitchFamily="34" charset="-122"/>
                <a:cs typeface="Noto Sans SC" pitchFamily="34" charset="-120"/>
              </a:rPr>
              <a:t>：模型权重占用</a:t>
            </a:r>
            <a:endParaRPr lang="en-US" sz="1600" dirty="0"/>
          </a:p>
        </p:txBody>
      </p:sp>
      <p:sp>
        <p:nvSpPr>
          <p:cNvPr id="47" name="Shape 45"/>
          <p:cNvSpPr/>
          <p:nvPr/>
        </p:nvSpPr>
        <p:spPr>
          <a:xfrm>
            <a:off x="6362700" y="3231356"/>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48" name="Text 46"/>
          <p:cNvSpPr/>
          <p:nvPr/>
        </p:nvSpPr>
        <p:spPr>
          <a:xfrm>
            <a:off x="6553200" y="3155156"/>
            <a:ext cx="307657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MKV_per_sample</a:t>
            </a:r>
            <a:r>
              <a:rPr lang="en-US" sz="1200" dirty="0">
                <a:solidFill>
                  <a:srgbClr val="E0E2E5">
                    <a:alpha val="80000"/>
                  </a:srgbClr>
                </a:solidFill>
                <a:latin typeface="Noto Sans SC" pitchFamily="34" charset="0"/>
                <a:ea typeface="Noto Sans SC" pitchFamily="34" charset="-122"/>
                <a:cs typeface="Noto Sans SC" pitchFamily="34" charset="-120"/>
              </a:rPr>
              <a:t>：单个请求的 KV Cache 占用</a:t>
            </a:r>
            <a:endParaRPr lang="en-US" sz="1600" dirty="0"/>
          </a:p>
        </p:txBody>
      </p:sp>
      <p:sp>
        <p:nvSpPr>
          <p:cNvPr id="49" name="Shape 47"/>
          <p:cNvSpPr/>
          <p:nvPr/>
        </p:nvSpPr>
        <p:spPr>
          <a:xfrm>
            <a:off x="6381750" y="3498056"/>
            <a:ext cx="5276850" cy="457200"/>
          </a:xfrm>
          <a:custGeom>
            <a:avLst/>
            <a:gdLst/>
            <a:ahLst/>
            <a:cxnLst/>
            <a:rect l="l" t="t" r="r" b="b"/>
            <a:pathLst>
              <a:path w="5276850" h="457200">
                <a:moveTo>
                  <a:pt x="38100" y="0"/>
                </a:moveTo>
                <a:lnTo>
                  <a:pt x="5200648" y="0"/>
                </a:lnTo>
                <a:cubicBezTo>
                  <a:pt x="5242733" y="0"/>
                  <a:pt x="5276850" y="34117"/>
                  <a:pt x="5276850" y="76202"/>
                </a:cubicBezTo>
                <a:lnTo>
                  <a:pt x="5276850" y="380998"/>
                </a:lnTo>
                <a:cubicBezTo>
                  <a:pt x="5276850" y="423083"/>
                  <a:pt x="5242733" y="457200"/>
                  <a:pt x="5200648" y="457200"/>
                </a:cubicBezTo>
                <a:lnTo>
                  <a:pt x="38100" y="457200"/>
                </a:lnTo>
                <a:cubicBezTo>
                  <a:pt x="17058" y="457200"/>
                  <a:pt x="0" y="440142"/>
                  <a:pt x="0" y="41910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50" name="Shape 48"/>
          <p:cNvSpPr/>
          <p:nvPr/>
        </p:nvSpPr>
        <p:spPr>
          <a:xfrm>
            <a:off x="6381750" y="3498056"/>
            <a:ext cx="38100" cy="457200"/>
          </a:xfrm>
          <a:custGeom>
            <a:avLst/>
            <a:gdLst/>
            <a:ahLst/>
            <a:cxnLst/>
            <a:rect l="l" t="t" r="r" b="b"/>
            <a:pathLst>
              <a:path w="38100" h="457200">
                <a:moveTo>
                  <a:pt x="38100" y="0"/>
                </a:moveTo>
                <a:lnTo>
                  <a:pt x="38100" y="0"/>
                </a:lnTo>
                <a:lnTo>
                  <a:pt x="38100" y="457200"/>
                </a:lnTo>
                <a:lnTo>
                  <a:pt x="38100" y="457200"/>
                </a:lnTo>
                <a:cubicBezTo>
                  <a:pt x="17072" y="457200"/>
                  <a:pt x="0" y="440128"/>
                  <a:pt x="0" y="4191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51" name="Shape 49"/>
          <p:cNvSpPr/>
          <p:nvPr/>
        </p:nvSpPr>
        <p:spPr>
          <a:xfrm>
            <a:off x="6553200" y="3650456"/>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C9A86A"/>
          </a:solidFill>
          <a:ln/>
        </p:spPr>
        <p:txBody>
          <a:bodyPr/>
          <a:lstStyle/>
          <a:p>
            <a:endParaRPr lang="zh-CN" altLang="en-US"/>
          </a:p>
        </p:txBody>
      </p:sp>
      <p:sp>
        <p:nvSpPr>
          <p:cNvPr id="52" name="Text 50"/>
          <p:cNvSpPr/>
          <p:nvPr/>
        </p:nvSpPr>
        <p:spPr>
          <a:xfrm>
            <a:off x="6762750" y="3612356"/>
            <a:ext cx="485775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Noto Sans SC" pitchFamily="34" charset="0"/>
                <a:ea typeface="Noto Sans SC" pitchFamily="34" charset="-122"/>
                <a:cs typeface="Noto Sans SC" pitchFamily="34" charset="-120"/>
              </a:rPr>
              <a:t>压缩 M</a:t>
            </a:r>
            <a:r>
              <a:rPr lang="en-US" sz="900" dirty="0">
                <a:solidFill>
                  <a:srgbClr val="E0E2E5"/>
                </a:solidFill>
                <a:latin typeface="Noto Sans SC" pitchFamily="34" charset="0"/>
                <a:ea typeface="Noto Sans SC" pitchFamily="34" charset="-122"/>
                <a:cs typeface="Noto Sans SC" pitchFamily="34" charset="-120"/>
              </a:rPr>
              <a:t>KV_per_sample</a:t>
            </a:r>
            <a:r>
              <a:rPr lang="en-US" sz="1200" dirty="0">
                <a:solidFill>
                  <a:srgbClr val="E0E2E5"/>
                </a:solidFill>
                <a:latin typeface="Noto Sans SC" pitchFamily="34" charset="0"/>
                <a:ea typeface="Noto Sans SC" pitchFamily="34" charset="-122"/>
                <a:cs typeface="Noto Sans SC" pitchFamily="34" charset="-120"/>
              </a:rPr>
              <a:t> 将</a:t>
            </a:r>
            <a:r>
              <a:rPr lang="en-US" sz="1200" b="1" dirty="0">
                <a:solidFill>
                  <a:srgbClr val="E0E2E5"/>
                </a:solidFill>
                <a:latin typeface="Noto Sans SC" pitchFamily="34" charset="0"/>
                <a:ea typeface="Noto Sans SC" pitchFamily="34" charset="-122"/>
                <a:cs typeface="Noto Sans SC" pitchFamily="34" charset="-120"/>
              </a:rPr>
              <a:t>直接等比例提升</a:t>
            </a:r>
            <a:r>
              <a:rPr lang="en-US" sz="1200" dirty="0">
                <a:solidFill>
                  <a:srgbClr val="E0E2E5"/>
                </a:solidFill>
                <a:latin typeface="Noto Sans SC" pitchFamily="34" charset="0"/>
                <a:ea typeface="Noto Sans SC" pitchFamily="34" charset="-122"/>
                <a:cs typeface="Noto Sans SC" pitchFamily="34" charset="-120"/>
              </a:rPr>
              <a:t> B</a:t>
            </a:r>
            <a:r>
              <a:rPr lang="en-US" sz="900" dirty="0">
                <a:solidFill>
                  <a:srgbClr val="E0E2E5"/>
                </a:solidFill>
                <a:latin typeface="Noto Sans SC" pitchFamily="34" charset="0"/>
                <a:ea typeface="Noto Sans SC" pitchFamily="34" charset="-122"/>
                <a:cs typeface="Noto Sans SC" pitchFamily="34" charset="-120"/>
              </a:rPr>
              <a:t>max</a:t>
            </a:r>
            <a:endParaRPr lang="en-US" sz="1600" dirty="0"/>
          </a:p>
        </p:txBody>
      </p:sp>
      <p:sp>
        <p:nvSpPr>
          <p:cNvPr id="53" name="Shape 51"/>
          <p:cNvSpPr/>
          <p:nvPr/>
        </p:nvSpPr>
        <p:spPr>
          <a:xfrm>
            <a:off x="6191250" y="4260056"/>
            <a:ext cx="5619750" cy="2095500"/>
          </a:xfrm>
          <a:custGeom>
            <a:avLst/>
            <a:gdLst/>
            <a:ahLst/>
            <a:cxnLst/>
            <a:rect l="l" t="t" r="r" b="b"/>
            <a:pathLst>
              <a:path w="5619750" h="2095500">
                <a:moveTo>
                  <a:pt x="38100" y="0"/>
                </a:moveTo>
                <a:lnTo>
                  <a:pt x="5543558" y="0"/>
                </a:lnTo>
                <a:cubicBezTo>
                  <a:pt x="5585638" y="0"/>
                  <a:pt x="5619750" y="34112"/>
                  <a:pt x="5619750" y="76192"/>
                </a:cubicBezTo>
                <a:lnTo>
                  <a:pt x="5619750" y="2019308"/>
                </a:lnTo>
                <a:cubicBezTo>
                  <a:pt x="5619750" y="2061388"/>
                  <a:pt x="5585638" y="2095500"/>
                  <a:pt x="5543558" y="2095500"/>
                </a:cubicBezTo>
                <a:lnTo>
                  <a:pt x="38100" y="2095500"/>
                </a:lnTo>
                <a:cubicBezTo>
                  <a:pt x="17072" y="2095500"/>
                  <a:pt x="0" y="2078428"/>
                  <a:pt x="0" y="205740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54" name="Shape 52"/>
          <p:cNvSpPr/>
          <p:nvPr/>
        </p:nvSpPr>
        <p:spPr>
          <a:xfrm>
            <a:off x="6191250" y="4260056"/>
            <a:ext cx="38100" cy="2095500"/>
          </a:xfrm>
          <a:custGeom>
            <a:avLst/>
            <a:gdLst/>
            <a:ahLst/>
            <a:cxnLst/>
            <a:rect l="l" t="t" r="r" b="b"/>
            <a:pathLst>
              <a:path w="38100" h="2095500">
                <a:moveTo>
                  <a:pt x="38100" y="0"/>
                </a:moveTo>
                <a:lnTo>
                  <a:pt x="38100" y="0"/>
                </a:lnTo>
                <a:lnTo>
                  <a:pt x="38100" y="2095500"/>
                </a:lnTo>
                <a:lnTo>
                  <a:pt x="38100" y="2095500"/>
                </a:lnTo>
                <a:cubicBezTo>
                  <a:pt x="17072" y="2095500"/>
                  <a:pt x="0" y="2078428"/>
                  <a:pt x="0" y="205740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55" name="Text 53"/>
          <p:cNvSpPr/>
          <p:nvPr/>
        </p:nvSpPr>
        <p:spPr>
          <a:xfrm>
            <a:off x="6362700" y="4412456"/>
            <a:ext cx="53911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内存碎片化问题</a:t>
            </a:r>
            <a:endParaRPr lang="en-US" sz="1600" dirty="0"/>
          </a:p>
        </p:txBody>
      </p:sp>
      <p:sp>
        <p:nvSpPr>
          <p:cNvPr id="56" name="Text 54"/>
          <p:cNvSpPr/>
          <p:nvPr/>
        </p:nvSpPr>
        <p:spPr>
          <a:xfrm>
            <a:off x="6362700" y="4793456"/>
            <a:ext cx="5372100"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PagedAttention 论文指出，在未优化的传统连续内存分配方式下，</a:t>
            </a:r>
            <a:r>
              <a:rPr lang="en-US" sz="1200" dirty="0">
                <a:solidFill>
                  <a:srgbClr val="C9A86A"/>
                </a:solidFill>
                <a:highlight>
                  <a:srgbClr val="C9A86A">
                    <a:alpha val="20000"/>
                  </a:srgbClr>
                </a:highlight>
                <a:latin typeface="Noto Sans SC" pitchFamily="34" charset="0"/>
                <a:ea typeface="Noto Sans SC" pitchFamily="34" charset="-122"/>
                <a:cs typeface="Noto Sans SC" pitchFamily="34" charset="-120"/>
              </a:rPr>
              <a:t> 有效利用率仅 20%-38% </a:t>
            </a:r>
            <a:r>
              <a:rPr lang="en-US" sz="12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57" name="Shape 55"/>
          <p:cNvSpPr/>
          <p:nvPr/>
        </p:nvSpPr>
        <p:spPr>
          <a:xfrm>
            <a:off x="6362700" y="5403056"/>
            <a:ext cx="2590800" cy="800100"/>
          </a:xfrm>
          <a:custGeom>
            <a:avLst/>
            <a:gdLst/>
            <a:ahLst/>
            <a:cxnLst/>
            <a:rect l="l" t="t" r="r" b="b"/>
            <a:pathLst>
              <a:path w="2590800" h="800100">
                <a:moveTo>
                  <a:pt x="76202" y="0"/>
                </a:moveTo>
                <a:lnTo>
                  <a:pt x="2514598" y="0"/>
                </a:lnTo>
                <a:cubicBezTo>
                  <a:pt x="2556683" y="0"/>
                  <a:pt x="2590800" y="34117"/>
                  <a:pt x="2590800" y="76202"/>
                </a:cubicBezTo>
                <a:lnTo>
                  <a:pt x="2590800" y="723898"/>
                </a:lnTo>
                <a:cubicBezTo>
                  <a:pt x="2590800" y="765983"/>
                  <a:pt x="2556683" y="800100"/>
                  <a:pt x="2514598" y="800100"/>
                </a:cubicBezTo>
                <a:lnTo>
                  <a:pt x="76202" y="800100"/>
                </a:lnTo>
                <a:cubicBezTo>
                  <a:pt x="34117" y="800100"/>
                  <a:pt x="0" y="765983"/>
                  <a:pt x="0" y="723898"/>
                </a:cubicBezTo>
                <a:lnTo>
                  <a:pt x="0" y="76202"/>
                </a:lnTo>
                <a:cubicBezTo>
                  <a:pt x="0" y="34145"/>
                  <a:pt x="34145" y="0"/>
                  <a:pt x="76202" y="0"/>
                </a:cubicBezTo>
                <a:close/>
              </a:path>
            </a:pathLst>
          </a:custGeom>
          <a:solidFill>
            <a:srgbClr val="1A1D21">
              <a:alpha val="50196"/>
            </a:srgbClr>
          </a:solidFill>
          <a:ln/>
        </p:spPr>
        <p:txBody>
          <a:bodyPr/>
          <a:lstStyle/>
          <a:p>
            <a:endParaRPr lang="zh-CN" altLang="en-US"/>
          </a:p>
        </p:txBody>
      </p:sp>
      <p:sp>
        <p:nvSpPr>
          <p:cNvPr id="58" name="Text 56"/>
          <p:cNvSpPr/>
          <p:nvPr/>
        </p:nvSpPr>
        <p:spPr>
          <a:xfrm>
            <a:off x="6405563" y="5517356"/>
            <a:ext cx="2505075" cy="342900"/>
          </a:xfrm>
          <a:prstGeom prst="rect">
            <a:avLst/>
          </a:prstGeom>
          <a:noFill/>
          <a:ln/>
        </p:spPr>
        <p:txBody>
          <a:bodyPr wrap="square" lIns="0" tIns="0" rIns="0" bIns="0" rtlCol="0" anchor="ctr"/>
          <a:lstStyle/>
          <a:p>
            <a:pPr algn="ctr">
              <a:lnSpc>
                <a:spcPct val="100000"/>
              </a:lnSpc>
            </a:pPr>
            <a:r>
              <a:rPr lang="en-US" sz="2250" b="1" dirty="0">
                <a:solidFill>
                  <a:srgbClr val="5F6B7A"/>
                </a:solidFill>
                <a:latin typeface="Noto Sans SC" pitchFamily="34" charset="0"/>
                <a:ea typeface="Noto Sans SC" pitchFamily="34" charset="-122"/>
                <a:cs typeface="Noto Sans SC" pitchFamily="34" charset="-120"/>
              </a:rPr>
              <a:t>20-38%</a:t>
            </a:r>
            <a:endParaRPr lang="en-US" sz="1600" dirty="0"/>
          </a:p>
        </p:txBody>
      </p:sp>
      <p:sp>
        <p:nvSpPr>
          <p:cNvPr id="59" name="Text 57"/>
          <p:cNvSpPr/>
          <p:nvPr/>
        </p:nvSpPr>
        <p:spPr>
          <a:xfrm>
            <a:off x="6443663" y="5898356"/>
            <a:ext cx="2428875" cy="190500"/>
          </a:xfrm>
          <a:prstGeom prst="rect">
            <a:avLst/>
          </a:prstGeom>
          <a:noFill/>
          <a:ln/>
        </p:spPr>
        <p:txBody>
          <a:bodyPr wrap="square" lIns="0" tIns="0" rIns="0" bIns="0" rtlCol="0" anchor="ctr"/>
          <a:lstStyle/>
          <a:p>
            <a:pPr algn="ct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传统分配利用率</a:t>
            </a:r>
            <a:endParaRPr lang="en-US" sz="1600" dirty="0"/>
          </a:p>
        </p:txBody>
      </p:sp>
      <p:sp>
        <p:nvSpPr>
          <p:cNvPr id="60" name="Shape 58"/>
          <p:cNvSpPr/>
          <p:nvPr/>
        </p:nvSpPr>
        <p:spPr>
          <a:xfrm>
            <a:off x="9067800" y="5403056"/>
            <a:ext cx="2590800" cy="800100"/>
          </a:xfrm>
          <a:custGeom>
            <a:avLst/>
            <a:gdLst/>
            <a:ahLst/>
            <a:cxnLst/>
            <a:rect l="l" t="t" r="r" b="b"/>
            <a:pathLst>
              <a:path w="2590800" h="800100">
                <a:moveTo>
                  <a:pt x="76202" y="0"/>
                </a:moveTo>
                <a:lnTo>
                  <a:pt x="2514598" y="0"/>
                </a:lnTo>
                <a:cubicBezTo>
                  <a:pt x="2556683" y="0"/>
                  <a:pt x="2590800" y="34117"/>
                  <a:pt x="2590800" y="76202"/>
                </a:cubicBezTo>
                <a:lnTo>
                  <a:pt x="2590800" y="723898"/>
                </a:lnTo>
                <a:cubicBezTo>
                  <a:pt x="2590800" y="765983"/>
                  <a:pt x="2556683" y="800100"/>
                  <a:pt x="2514598" y="800100"/>
                </a:cubicBezTo>
                <a:lnTo>
                  <a:pt x="76202" y="800100"/>
                </a:lnTo>
                <a:cubicBezTo>
                  <a:pt x="34117" y="800100"/>
                  <a:pt x="0" y="765983"/>
                  <a:pt x="0" y="723898"/>
                </a:cubicBezTo>
                <a:lnTo>
                  <a:pt x="0" y="76202"/>
                </a:lnTo>
                <a:cubicBezTo>
                  <a:pt x="0" y="34145"/>
                  <a:pt x="34145" y="0"/>
                  <a:pt x="76202" y="0"/>
                </a:cubicBezTo>
                <a:close/>
              </a:path>
            </a:pathLst>
          </a:custGeom>
          <a:solidFill>
            <a:srgbClr val="1A1D21">
              <a:alpha val="50196"/>
            </a:srgbClr>
          </a:solidFill>
          <a:ln/>
        </p:spPr>
        <p:txBody>
          <a:bodyPr/>
          <a:lstStyle/>
          <a:p>
            <a:endParaRPr lang="zh-CN" altLang="en-US"/>
          </a:p>
        </p:txBody>
      </p:sp>
      <p:sp>
        <p:nvSpPr>
          <p:cNvPr id="61" name="Text 59"/>
          <p:cNvSpPr/>
          <p:nvPr/>
        </p:nvSpPr>
        <p:spPr>
          <a:xfrm>
            <a:off x="9110663" y="5517356"/>
            <a:ext cx="2505075" cy="342900"/>
          </a:xfrm>
          <a:prstGeom prst="rect">
            <a:avLst/>
          </a:prstGeom>
          <a:noFill/>
          <a:ln/>
        </p:spPr>
        <p:txBody>
          <a:bodyPr wrap="square" lIns="0" tIns="0" rIns="0" bIns="0" rtlCol="0" anchor="ctr"/>
          <a:lstStyle/>
          <a:p>
            <a:pPr algn="ctr">
              <a:lnSpc>
                <a:spcPct val="100000"/>
              </a:lnSpc>
            </a:pPr>
            <a:r>
              <a:rPr lang="en-US" sz="2250" b="1" dirty="0">
                <a:solidFill>
                  <a:srgbClr val="3D8B75"/>
                </a:solidFill>
                <a:latin typeface="Noto Sans SC" pitchFamily="34" charset="0"/>
                <a:ea typeface="Noto Sans SC" pitchFamily="34" charset="-122"/>
                <a:cs typeface="Noto Sans SC" pitchFamily="34" charset="-120"/>
              </a:rPr>
              <a:t>~100%</a:t>
            </a:r>
            <a:endParaRPr lang="en-US" sz="1600" dirty="0"/>
          </a:p>
        </p:txBody>
      </p:sp>
      <p:sp>
        <p:nvSpPr>
          <p:cNvPr id="62" name="Text 60"/>
          <p:cNvSpPr/>
          <p:nvPr/>
        </p:nvSpPr>
        <p:spPr>
          <a:xfrm>
            <a:off x="9148763" y="5898356"/>
            <a:ext cx="2428875" cy="190500"/>
          </a:xfrm>
          <a:prstGeom prst="rect">
            <a:avLst/>
          </a:prstGeom>
          <a:noFill/>
          <a:ln/>
        </p:spPr>
        <p:txBody>
          <a:bodyPr wrap="square" lIns="0" tIns="0" rIns="0" bIns="0" rtlCol="0" anchor="ctr"/>
          <a:lstStyle/>
          <a:p>
            <a:pPr algn="ct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PagedAttention 利用率</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ASYMMETRIC BOTTLENECK</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Prefill 与 Decode 的非对称瓶颈</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371600"/>
            <a:ext cx="5619750" cy="3771900"/>
          </a:xfrm>
          <a:custGeom>
            <a:avLst/>
            <a:gdLst/>
            <a:ahLst/>
            <a:cxnLst/>
            <a:rect l="l" t="t" r="r" b="b"/>
            <a:pathLst>
              <a:path w="5619750" h="3771900">
                <a:moveTo>
                  <a:pt x="38100" y="0"/>
                </a:moveTo>
                <a:lnTo>
                  <a:pt x="5543558" y="0"/>
                </a:lnTo>
                <a:cubicBezTo>
                  <a:pt x="5585638" y="0"/>
                  <a:pt x="5619750" y="34112"/>
                  <a:pt x="5619750" y="76192"/>
                </a:cubicBezTo>
                <a:lnTo>
                  <a:pt x="5619750" y="3695708"/>
                </a:lnTo>
                <a:cubicBezTo>
                  <a:pt x="5619750" y="3737788"/>
                  <a:pt x="5585638" y="3771900"/>
                  <a:pt x="5543558" y="3771900"/>
                </a:cubicBezTo>
                <a:lnTo>
                  <a:pt x="38100" y="3771900"/>
                </a:lnTo>
                <a:cubicBezTo>
                  <a:pt x="17072" y="3771900"/>
                  <a:pt x="0" y="3754828"/>
                  <a:pt x="0" y="37338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371600"/>
            <a:ext cx="38100" cy="3771900"/>
          </a:xfrm>
          <a:custGeom>
            <a:avLst/>
            <a:gdLst/>
            <a:ahLst/>
            <a:cxnLst/>
            <a:rect l="l" t="t" r="r" b="b"/>
            <a:pathLst>
              <a:path w="38100" h="3771900">
                <a:moveTo>
                  <a:pt x="38100" y="0"/>
                </a:moveTo>
                <a:lnTo>
                  <a:pt x="38100" y="0"/>
                </a:lnTo>
                <a:lnTo>
                  <a:pt x="38100" y="3771900"/>
                </a:lnTo>
                <a:lnTo>
                  <a:pt x="38100" y="3771900"/>
                </a:lnTo>
                <a:cubicBezTo>
                  <a:pt x="17072" y="3771900"/>
                  <a:pt x="0" y="3754828"/>
                  <a:pt x="0" y="37338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Shape 5"/>
          <p:cNvSpPr/>
          <p:nvPr/>
        </p:nvSpPr>
        <p:spPr>
          <a:xfrm>
            <a:off x="609600" y="1562100"/>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3D8B75"/>
          </a:solidFill>
          <a:ln/>
        </p:spPr>
        <p:txBody>
          <a:bodyPr/>
          <a:lstStyle/>
          <a:p>
            <a:endParaRPr lang="zh-CN" altLang="en-US"/>
          </a:p>
        </p:txBody>
      </p:sp>
      <p:sp>
        <p:nvSpPr>
          <p:cNvPr id="8" name="Shape 6"/>
          <p:cNvSpPr/>
          <p:nvPr/>
        </p:nvSpPr>
        <p:spPr>
          <a:xfrm>
            <a:off x="776288" y="1714500"/>
            <a:ext cx="200025" cy="228600"/>
          </a:xfrm>
          <a:custGeom>
            <a:avLst/>
            <a:gdLst/>
            <a:ahLst/>
            <a:cxnLst/>
            <a:rect l="l" t="t" r="r" b="b"/>
            <a:pathLst>
              <a:path w="200025" h="228600">
                <a:moveTo>
                  <a:pt x="151269" y="-4420"/>
                </a:moveTo>
                <a:cubicBezTo>
                  <a:pt x="156582" y="-580"/>
                  <a:pt x="158547" y="6385"/>
                  <a:pt x="156136" y="12457"/>
                </a:cubicBezTo>
                <a:lnTo>
                  <a:pt x="121131" y="100013"/>
                </a:lnTo>
                <a:lnTo>
                  <a:pt x="185738" y="100013"/>
                </a:lnTo>
                <a:cubicBezTo>
                  <a:pt x="191765" y="100013"/>
                  <a:pt x="197123" y="103763"/>
                  <a:pt x="199177" y="109433"/>
                </a:cubicBezTo>
                <a:cubicBezTo>
                  <a:pt x="201231" y="115104"/>
                  <a:pt x="199489" y="121444"/>
                  <a:pt x="194890" y="125284"/>
                </a:cubicBezTo>
                <a:lnTo>
                  <a:pt x="66303" y="232440"/>
                </a:lnTo>
                <a:cubicBezTo>
                  <a:pt x="61258" y="236637"/>
                  <a:pt x="54069" y="236860"/>
                  <a:pt x="48756" y="233020"/>
                </a:cubicBezTo>
                <a:cubicBezTo>
                  <a:pt x="43443" y="229180"/>
                  <a:pt x="41478" y="222215"/>
                  <a:pt x="43889" y="216143"/>
                </a:cubicBezTo>
                <a:lnTo>
                  <a:pt x="78894" y="128588"/>
                </a:lnTo>
                <a:lnTo>
                  <a:pt x="14288" y="128588"/>
                </a:lnTo>
                <a:cubicBezTo>
                  <a:pt x="8260" y="128588"/>
                  <a:pt x="2902" y="124837"/>
                  <a:pt x="848" y="119167"/>
                </a:cubicBezTo>
                <a:cubicBezTo>
                  <a:pt x="-1206" y="113496"/>
                  <a:pt x="536" y="107156"/>
                  <a:pt x="5135" y="103316"/>
                </a:cubicBezTo>
                <a:lnTo>
                  <a:pt x="133722" y="-3840"/>
                </a:lnTo>
                <a:cubicBezTo>
                  <a:pt x="138767" y="-8037"/>
                  <a:pt x="145956" y="-8260"/>
                  <a:pt x="151269" y="-4420"/>
                </a:cubicBezTo>
                <a:close/>
              </a:path>
            </a:pathLst>
          </a:custGeom>
          <a:solidFill>
            <a:srgbClr val="FFFFFF"/>
          </a:solidFill>
          <a:ln/>
        </p:spPr>
        <p:txBody>
          <a:bodyPr/>
          <a:lstStyle/>
          <a:p>
            <a:endParaRPr lang="zh-CN" altLang="en-US"/>
          </a:p>
        </p:txBody>
      </p:sp>
      <p:sp>
        <p:nvSpPr>
          <p:cNvPr id="9" name="Text 7"/>
          <p:cNvSpPr/>
          <p:nvPr/>
        </p:nvSpPr>
        <p:spPr>
          <a:xfrm>
            <a:off x="1257300" y="1676400"/>
            <a:ext cx="1266825"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Noto Sans SC" pitchFamily="34" charset="0"/>
                <a:ea typeface="Noto Sans SC" pitchFamily="34" charset="-122"/>
                <a:cs typeface="Noto Sans SC" pitchFamily="34" charset="-120"/>
              </a:rPr>
              <a:t>Prefill 阶段</a:t>
            </a:r>
            <a:endParaRPr lang="en-US" sz="1600" dirty="0"/>
          </a:p>
        </p:txBody>
      </p:sp>
      <p:sp>
        <p:nvSpPr>
          <p:cNvPr id="10" name="Text 8"/>
          <p:cNvSpPr/>
          <p:nvPr/>
        </p:nvSpPr>
        <p:spPr>
          <a:xfrm>
            <a:off x="609600" y="2352675"/>
            <a:ext cx="5295900" cy="228600"/>
          </a:xfrm>
          <a:prstGeom prst="rect">
            <a:avLst/>
          </a:prstGeom>
          <a:noFill/>
          <a:ln/>
        </p:spPr>
        <p:txBody>
          <a:bodyPr wrap="square" lIns="0" tIns="0" rIns="0" bIns="0" rtlCol="0" anchor="ctr"/>
          <a:lstStyle/>
          <a:p>
            <a:pPr>
              <a:lnSpc>
                <a:spcPct val="130000"/>
              </a:lnSpc>
            </a:pPr>
            <a:r>
              <a:rPr lang="en-US" sz="1200" b="1" dirty="0">
                <a:solidFill>
                  <a:srgbClr val="3D8B75"/>
                </a:solidFill>
                <a:latin typeface="Noto Sans SC" pitchFamily="34" charset="0"/>
                <a:ea typeface="Noto Sans SC" pitchFamily="34" charset="-122"/>
                <a:cs typeface="Noto Sans SC" pitchFamily="34" charset="-120"/>
              </a:rPr>
              <a:t>计算特征</a:t>
            </a:r>
            <a:endParaRPr lang="en-US" sz="1600" dirty="0"/>
          </a:p>
        </p:txBody>
      </p:sp>
      <p:sp>
        <p:nvSpPr>
          <p:cNvPr id="11" name="Text 9"/>
          <p:cNvSpPr/>
          <p:nvPr/>
        </p:nvSpPr>
        <p:spPr>
          <a:xfrm>
            <a:off x="609600" y="2657475"/>
            <a:ext cx="5295900" cy="2476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一次性处理全部输入 token，计算量为 </a:t>
            </a:r>
            <a:r>
              <a:rPr lang="en-US" sz="1200" b="1" dirty="0">
                <a:solidFill>
                  <a:srgbClr val="E0E2E5"/>
                </a:solidFill>
                <a:latin typeface="Noto Sans SC" pitchFamily="34" charset="0"/>
                <a:ea typeface="Noto Sans SC" pitchFamily="34" charset="-122"/>
                <a:cs typeface="Noto Sans SC" pitchFamily="34" charset="-120"/>
              </a:rPr>
              <a:t>O(S²)</a:t>
            </a:r>
            <a:endParaRPr lang="en-US" sz="1600" dirty="0"/>
          </a:p>
        </p:txBody>
      </p:sp>
      <p:sp>
        <p:nvSpPr>
          <p:cNvPr id="12" name="Shape 10"/>
          <p:cNvSpPr/>
          <p:nvPr/>
        </p:nvSpPr>
        <p:spPr>
          <a:xfrm>
            <a:off x="609600" y="3228975"/>
            <a:ext cx="5219700" cy="762000"/>
          </a:xfrm>
          <a:custGeom>
            <a:avLst/>
            <a:gdLst/>
            <a:ahLst/>
            <a:cxnLst/>
            <a:rect l="l" t="t" r="r" b="b"/>
            <a:pathLst>
              <a:path w="5219700" h="762000">
                <a:moveTo>
                  <a:pt x="76200" y="0"/>
                </a:moveTo>
                <a:lnTo>
                  <a:pt x="5143500" y="0"/>
                </a:lnTo>
                <a:cubicBezTo>
                  <a:pt x="5185556" y="0"/>
                  <a:pt x="5219700" y="34144"/>
                  <a:pt x="5219700" y="76200"/>
                </a:cubicBezTo>
                <a:lnTo>
                  <a:pt x="5219700" y="685800"/>
                </a:lnTo>
                <a:cubicBezTo>
                  <a:pt x="5219700" y="727856"/>
                  <a:pt x="5185556" y="762000"/>
                  <a:pt x="5143500" y="762000"/>
                </a:cubicBezTo>
                <a:lnTo>
                  <a:pt x="76200" y="762000"/>
                </a:lnTo>
                <a:cubicBezTo>
                  <a:pt x="34144" y="762000"/>
                  <a:pt x="0" y="727856"/>
                  <a:pt x="0" y="685800"/>
                </a:cubicBezTo>
                <a:lnTo>
                  <a:pt x="0" y="76200"/>
                </a:lnTo>
                <a:cubicBezTo>
                  <a:pt x="0" y="34144"/>
                  <a:pt x="34144" y="0"/>
                  <a:pt x="76200" y="0"/>
                </a:cubicBezTo>
                <a:close/>
              </a:path>
            </a:pathLst>
          </a:custGeom>
          <a:solidFill>
            <a:srgbClr val="1A1D21">
              <a:alpha val="50196"/>
            </a:srgbClr>
          </a:solidFill>
          <a:ln/>
        </p:spPr>
        <p:txBody>
          <a:bodyPr/>
          <a:lstStyle/>
          <a:p>
            <a:endParaRPr lang="zh-CN" altLang="en-US"/>
          </a:p>
        </p:txBody>
      </p:sp>
      <p:sp>
        <p:nvSpPr>
          <p:cNvPr id="13" name="Shape 11"/>
          <p:cNvSpPr/>
          <p:nvPr/>
        </p:nvSpPr>
        <p:spPr>
          <a:xfrm>
            <a:off x="742950" y="3381375"/>
            <a:ext cx="152400" cy="152400"/>
          </a:xfrm>
          <a:custGeom>
            <a:avLst/>
            <a:gdLst/>
            <a:ahLst/>
            <a:cxnLst/>
            <a:rect l="l" t="t" r="r" b="b"/>
            <a:pathLst>
              <a:path w="152400" h="152400">
                <a:moveTo>
                  <a:pt x="52388" y="7144"/>
                </a:moveTo>
                <a:cubicBezTo>
                  <a:pt x="52388" y="3185"/>
                  <a:pt x="49203" y="0"/>
                  <a:pt x="45244" y="0"/>
                </a:cubicBezTo>
                <a:cubicBezTo>
                  <a:pt x="41285" y="0"/>
                  <a:pt x="38100" y="3185"/>
                  <a:pt x="38100" y="7144"/>
                </a:cubicBezTo>
                <a:lnTo>
                  <a:pt x="38100" y="19050"/>
                </a:lnTo>
                <a:cubicBezTo>
                  <a:pt x="27593" y="19050"/>
                  <a:pt x="19050" y="27593"/>
                  <a:pt x="19050" y="38100"/>
                </a:cubicBezTo>
                <a:lnTo>
                  <a:pt x="7144" y="38100"/>
                </a:lnTo>
                <a:cubicBezTo>
                  <a:pt x="3185" y="38100"/>
                  <a:pt x="0" y="41285"/>
                  <a:pt x="0" y="45244"/>
                </a:cubicBezTo>
                <a:cubicBezTo>
                  <a:pt x="0" y="49203"/>
                  <a:pt x="3185" y="52388"/>
                  <a:pt x="7144" y="52388"/>
                </a:cubicBezTo>
                <a:lnTo>
                  <a:pt x="19050" y="52388"/>
                </a:lnTo>
                <a:lnTo>
                  <a:pt x="19050" y="69056"/>
                </a:lnTo>
                <a:lnTo>
                  <a:pt x="7144" y="69056"/>
                </a:lnTo>
                <a:cubicBezTo>
                  <a:pt x="3185" y="69056"/>
                  <a:pt x="0" y="72241"/>
                  <a:pt x="0" y="76200"/>
                </a:cubicBezTo>
                <a:cubicBezTo>
                  <a:pt x="0" y="80159"/>
                  <a:pt x="3185" y="83344"/>
                  <a:pt x="7144" y="83344"/>
                </a:cubicBezTo>
                <a:lnTo>
                  <a:pt x="19050" y="83344"/>
                </a:lnTo>
                <a:lnTo>
                  <a:pt x="19050" y="100013"/>
                </a:lnTo>
                <a:lnTo>
                  <a:pt x="7144" y="100013"/>
                </a:lnTo>
                <a:cubicBezTo>
                  <a:pt x="3185" y="100013"/>
                  <a:pt x="0" y="103197"/>
                  <a:pt x="0" y="107156"/>
                </a:cubicBezTo>
                <a:cubicBezTo>
                  <a:pt x="0" y="111115"/>
                  <a:pt x="3185" y="114300"/>
                  <a:pt x="7144" y="114300"/>
                </a:cubicBezTo>
                <a:lnTo>
                  <a:pt x="19050" y="114300"/>
                </a:lnTo>
                <a:cubicBezTo>
                  <a:pt x="19050" y="124807"/>
                  <a:pt x="27593" y="133350"/>
                  <a:pt x="38100" y="133350"/>
                </a:cubicBezTo>
                <a:lnTo>
                  <a:pt x="38100" y="145256"/>
                </a:lnTo>
                <a:cubicBezTo>
                  <a:pt x="38100" y="149215"/>
                  <a:pt x="41285" y="152400"/>
                  <a:pt x="45244" y="152400"/>
                </a:cubicBezTo>
                <a:cubicBezTo>
                  <a:pt x="49203" y="152400"/>
                  <a:pt x="52388" y="149215"/>
                  <a:pt x="52388" y="145256"/>
                </a:cubicBezTo>
                <a:lnTo>
                  <a:pt x="52388" y="133350"/>
                </a:lnTo>
                <a:lnTo>
                  <a:pt x="69056" y="133350"/>
                </a:lnTo>
                <a:lnTo>
                  <a:pt x="69056" y="145256"/>
                </a:lnTo>
                <a:cubicBezTo>
                  <a:pt x="69056" y="149215"/>
                  <a:pt x="72241" y="152400"/>
                  <a:pt x="76200" y="152400"/>
                </a:cubicBezTo>
                <a:cubicBezTo>
                  <a:pt x="80159" y="152400"/>
                  <a:pt x="83344" y="149215"/>
                  <a:pt x="83344" y="145256"/>
                </a:cubicBezTo>
                <a:lnTo>
                  <a:pt x="83344" y="133350"/>
                </a:lnTo>
                <a:lnTo>
                  <a:pt x="100013" y="133350"/>
                </a:lnTo>
                <a:lnTo>
                  <a:pt x="100013" y="145256"/>
                </a:lnTo>
                <a:cubicBezTo>
                  <a:pt x="100013" y="149215"/>
                  <a:pt x="103197" y="152400"/>
                  <a:pt x="107156" y="152400"/>
                </a:cubicBezTo>
                <a:cubicBezTo>
                  <a:pt x="111115" y="152400"/>
                  <a:pt x="114300" y="149215"/>
                  <a:pt x="114300" y="145256"/>
                </a:cubicBezTo>
                <a:lnTo>
                  <a:pt x="114300" y="133350"/>
                </a:lnTo>
                <a:cubicBezTo>
                  <a:pt x="124807" y="133350"/>
                  <a:pt x="133350" y="124807"/>
                  <a:pt x="133350" y="114300"/>
                </a:cubicBezTo>
                <a:lnTo>
                  <a:pt x="145256" y="114300"/>
                </a:lnTo>
                <a:cubicBezTo>
                  <a:pt x="149215" y="114300"/>
                  <a:pt x="152400" y="111115"/>
                  <a:pt x="152400" y="107156"/>
                </a:cubicBezTo>
                <a:cubicBezTo>
                  <a:pt x="152400" y="103197"/>
                  <a:pt x="149215" y="100013"/>
                  <a:pt x="145256" y="100013"/>
                </a:cubicBezTo>
                <a:lnTo>
                  <a:pt x="133350" y="100013"/>
                </a:lnTo>
                <a:lnTo>
                  <a:pt x="133350" y="83344"/>
                </a:lnTo>
                <a:lnTo>
                  <a:pt x="145256" y="83344"/>
                </a:lnTo>
                <a:cubicBezTo>
                  <a:pt x="149215" y="83344"/>
                  <a:pt x="152400" y="80159"/>
                  <a:pt x="152400" y="76200"/>
                </a:cubicBezTo>
                <a:cubicBezTo>
                  <a:pt x="152400" y="72241"/>
                  <a:pt x="149215" y="69056"/>
                  <a:pt x="145256" y="69056"/>
                </a:cubicBezTo>
                <a:lnTo>
                  <a:pt x="133350" y="69056"/>
                </a:lnTo>
                <a:lnTo>
                  <a:pt x="133350" y="52388"/>
                </a:lnTo>
                <a:lnTo>
                  <a:pt x="145256" y="52388"/>
                </a:lnTo>
                <a:cubicBezTo>
                  <a:pt x="149215" y="52388"/>
                  <a:pt x="152400" y="49203"/>
                  <a:pt x="152400" y="45244"/>
                </a:cubicBezTo>
                <a:cubicBezTo>
                  <a:pt x="152400" y="41285"/>
                  <a:pt x="149215" y="38100"/>
                  <a:pt x="145256" y="38100"/>
                </a:cubicBezTo>
                <a:lnTo>
                  <a:pt x="133350" y="38100"/>
                </a:lnTo>
                <a:cubicBezTo>
                  <a:pt x="133350" y="27593"/>
                  <a:pt x="124807" y="19050"/>
                  <a:pt x="114300" y="19050"/>
                </a:cubicBezTo>
                <a:lnTo>
                  <a:pt x="114300" y="7144"/>
                </a:lnTo>
                <a:cubicBezTo>
                  <a:pt x="114300" y="3185"/>
                  <a:pt x="111115" y="0"/>
                  <a:pt x="107156" y="0"/>
                </a:cubicBezTo>
                <a:cubicBezTo>
                  <a:pt x="103197" y="0"/>
                  <a:pt x="100013" y="3185"/>
                  <a:pt x="100013" y="7144"/>
                </a:cubicBezTo>
                <a:lnTo>
                  <a:pt x="100013" y="19050"/>
                </a:lnTo>
                <a:lnTo>
                  <a:pt x="83344" y="19050"/>
                </a:lnTo>
                <a:lnTo>
                  <a:pt x="83344" y="7144"/>
                </a:lnTo>
                <a:cubicBezTo>
                  <a:pt x="83344" y="3185"/>
                  <a:pt x="80159" y="0"/>
                  <a:pt x="76200" y="0"/>
                </a:cubicBezTo>
                <a:cubicBezTo>
                  <a:pt x="72241" y="0"/>
                  <a:pt x="69056" y="3185"/>
                  <a:pt x="69056" y="7144"/>
                </a:cubicBezTo>
                <a:lnTo>
                  <a:pt x="69056" y="19050"/>
                </a:lnTo>
                <a:lnTo>
                  <a:pt x="52388" y="19050"/>
                </a:lnTo>
                <a:lnTo>
                  <a:pt x="52388" y="7144"/>
                </a:lnTo>
                <a:close/>
                <a:moveTo>
                  <a:pt x="47625" y="38100"/>
                </a:moveTo>
                <a:lnTo>
                  <a:pt x="104775" y="38100"/>
                </a:lnTo>
                <a:cubicBezTo>
                  <a:pt x="110044" y="38100"/>
                  <a:pt x="114300" y="42356"/>
                  <a:pt x="114300" y="47625"/>
                </a:cubicBezTo>
                <a:lnTo>
                  <a:pt x="114300" y="104775"/>
                </a:lnTo>
                <a:cubicBezTo>
                  <a:pt x="114300" y="110044"/>
                  <a:pt x="110044" y="114300"/>
                  <a:pt x="104775" y="114300"/>
                </a:cubicBezTo>
                <a:lnTo>
                  <a:pt x="47625" y="114300"/>
                </a:lnTo>
                <a:cubicBezTo>
                  <a:pt x="42356" y="114300"/>
                  <a:pt x="38100" y="110044"/>
                  <a:pt x="38100" y="104775"/>
                </a:cubicBezTo>
                <a:lnTo>
                  <a:pt x="38100" y="47625"/>
                </a:lnTo>
                <a:cubicBezTo>
                  <a:pt x="38100" y="42356"/>
                  <a:pt x="42356" y="38100"/>
                  <a:pt x="47625" y="38100"/>
                </a:cubicBezTo>
                <a:close/>
                <a:moveTo>
                  <a:pt x="52388" y="52388"/>
                </a:moveTo>
                <a:lnTo>
                  <a:pt x="52388" y="100013"/>
                </a:lnTo>
                <a:lnTo>
                  <a:pt x="100013" y="100013"/>
                </a:lnTo>
                <a:lnTo>
                  <a:pt x="100013" y="52388"/>
                </a:lnTo>
                <a:lnTo>
                  <a:pt x="52388" y="52388"/>
                </a:lnTo>
                <a:close/>
              </a:path>
            </a:pathLst>
          </a:custGeom>
          <a:solidFill>
            <a:srgbClr val="C9A86A"/>
          </a:solidFill>
          <a:ln/>
        </p:spPr>
        <p:txBody>
          <a:bodyPr/>
          <a:lstStyle/>
          <a:p>
            <a:endParaRPr lang="zh-CN" altLang="en-US"/>
          </a:p>
        </p:txBody>
      </p:sp>
      <p:sp>
        <p:nvSpPr>
          <p:cNvPr id="14" name="Text 12"/>
          <p:cNvSpPr/>
          <p:nvPr/>
        </p:nvSpPr>
        <p:spPr>
          <a:xfrm>
            <a:off x="914400" y="3343275"/>
            <a:ext cx="48768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瓶颈类型</a:t>
            </a:r>
            <a:endParaRPr lang="en-US" sz="1600" dirty="0"/>
          </a:p>
        </p:txBody>
      </p:sp>
      <p:sp>
        <p:nvSpPr>
          <p:cNvPr id="15" name="Shape 13"/>
          <p:cNvSpPr/>
          <p:nvPr/>
        </p:nvSpPr>
        <p:spPr>
          <a:xfrm>
            <a:off x="723900" y="3652838"/>
            <a:ext cx="2088952" cy="214313"/>
          </a:xfrm>
          <a:custGeom>
            <a:avLst/>
            <a:gdLst/>
            <a:ahLst/>
            <a:cxnLst/>
            <a:rect l="l" t="t" r="r" b="b"/>
            <a:pathLst>
              <a:path w="2088952" h="214313">
                <a:moveTo>
                  <a:pt x="0" y="0"/>
                </a:moveTo>
                <a:lnTo>
                  <a:pt x="2088952" y="0"/>
                </a:lnTo>
                <a:lnTo>
                  <a:pt x="2088952" y="214313"/>
                </a:lnTo>
                <a:lnTo>
                  <a:pt x="0" y="214313"/>
                </a:lnTo>
                <a:lnTo>
                  <a:pt x="0" y="0"/>
                </a:lnTo>
                <a:close/>
              </a:path>
            </a:pathLst>
          </a:custGeom>
          <a:solidFill>
            <a:srgbClr val="3D8B75">
              <a:alpha val="20000"/>
            </a:srgbClr>
          </a:solidFill>
          <a:ln/>
        </p:spPr>
        <p:txBody>
          <a:bodyPr/>
          <a:lstStyle/>
          <a:p>
            <a:endParaRPr lang="zh-CN" altLang="en-US"/>
          </a:p>
        </p:txBody>
      </p:sp>
      <p:sp>
        <p:nvSpPr>
          <p:cNvPr id="16" name="Text 14"/>
          <p:cNvSpPr/>
          <p:nvPr/>
        </p:nvSpPr>
        <p:spPr>
          <a:xfrm>
            <a:off x="723900" y="3652838"/>
            <a:ext cx="2165152" cy="214313"/>
          </a:xfrm>
          <a:prstGeom prst="rect">
            <a:avLst/>
          </a:prstGeom>
          <a:noFill/>
          <a:ln/>
        </p:spPr>
        <p:txBody>
          <a:bodyPr wrap="square" lIns="0" tIns="0" rIns="0" bIns="0" rtlCol="0" anchor="ctr"/>
          <a:lstStyle/>
          <a:p>
            <a:pPr>
              <a:lnSpc>
                <a:spcPct val="130000"/>
              </a:lnSpc>
            </a:pPr>
            <a:r>
              <a:rPr lang="en-US" sz="1200" dirty="0">
                <a:solidFill>
                  <a:srgbClr val="3D8B75"/>
                </a:solidFill>
                <a:latin typeface="Noto Sans SC" pitchFamily="34" charset="0"/>
                <a:ea typeface="Noto Sans SC" pitchFamily="34" charset="-122"/>
                <a:cs typeface="Noto Sans SC" pitchFamily="34" charset="-120"/>
              </a:rPr>
              <a:t>Compute-bound（计算受限）</a:t>
            </a:r>
            <a:endParaRPr lang="en-US" sz="1600" dirty="0"/>
          </a:p>
        </p:txBody>
      </p:sp>
      <p:sp>
        <p:nvSpPr>
          <p:cNvPr id="17" name="Text 15"/>
          <p:cNvSpPr/>
          <p:nvPr/>
        </p:nvSpPr>
        <p:spPr>
          <a:xfrm>
            <a:off x="609600" y="4314825"/>
            <a:ext cx="52959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核心消耗</a:t>
            </a:r>
            <a:endParaRPr lang="en-US" sz="1600" dirty="0"/>
          </a:p>
        </p:txBody>
      </p:sp>
      <p:sp>
        <p:nvSpPr>
          <p:cNvPr id="18" name="Text 16"/>
          <p:cNvSpPr/>
          <p:nvPr/>
        </p:nvSpPr>
        <p:spPr>
          <a:xfrm>
            <a:off x="609600" y="4619625"/>
            <a:ext cx="5295900" cy="228600"/>
          </a:xfrm>
          <a:prstGeom prst="rect">
            <a:avLst/>
          </a:prstGeom>
          <a:noFill/>
          <a:ln/>
        </p:spPr>
        <p:txBody>
          <a:bodyPr wrap="square" lIns="0" tIns="0" rIns="0" bIns="0" rtlCol="0" anchor="ctr"/>
          <a:lstStyle/>
          <a:p>
            <a:pPr>
              <a:lnSpc>
                <a:spcPct val="130000"/>
              </a:lnSpc>
            </a:pPr>
            <a:r>
              <a:rPr lang="en-US" sz="1200" dirty="0">
                <a:solidFill>
                  <a:srgbClr val="E0E2E5">
                    <a:alpha val="80000"/>
                  </a:srgbClr>
                </a:solidFill>
                <a:latin typeface="Noto Sans SC" pitchFamily="34" charset="0"/>
                <a:ea typeface="Noto Sans SC" pitchFamily="34" charset="-122"/>
                <a:cs typeface="Noto Sans SC" pitchFamily="34" charset="-120"/>
              </a:rPr>
              <a:t>矩阵乘法运算、注意力计算</a:t>
            </a:r>
            <a:endParaRPr lang="en-US" sz="1600" dirty="0"/>
          </a:p>
        </p:txBody>
      </p:sp>
      <p:sp>
        <p:nvSpPr>
          <p:cNvPr id="19" name="Shape 17"/>
          <p:cNvSpPr/>
          <p:nvPr/>
        </p:nvSpPr>
        <p:spPr>
          <a:xfrm>
            <a:off x="6191250" y="1371600"/>
            <a:ext cx="5619750" cy="3771900"/>
          </a:xfrm>
          <a:custGeom>
            <a:avLst/>
            <a:gdLst/>
            <a:ahLst/>
            <a:cxnLst/>
            <a:rect l="l" t="t" r="r" b="b"/>
            <a:pathLst>
              <a:path w="5619750" h="3771900">
                <a:moveTo>
                  <a:pt x="38100" y="0"/>
                </a:moveTo>
                <a:lnTo>
                  <a:pt x="5543558" y="0"/>
                </a:lnTo>
                <a:cubicBezTo>
                  <a:pt x="5585638" y="0"/>
                  <a:pt x="5619750" y="34112"/>
                  <a:pt x="5619750" y="76192"/>
                </a:cubicBezTo>
                <a:lnTo>
                  <a:pt x="5619750" y="3695708"/>
                </a:lnTo>
                <a:cubicBezTo>
                  <a:pt x="5619750" y="3737788"/>
                  <a:pt x="5585638" y="3771900"/>
                  <a:pt x="5543558" y="3771900"/>
                </a:cubicBezTo>
                <a:lnTo>
                  <a:pt x="38100" y="3771900"/>
                </a:lnTo>
                <a:cubicBezTo>
                  <a:pt x="17072" y="3771900"/>
                  <a:pt x="0" y="3754828"/>
                  <a:pt x="0" y="373380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20" name="Shape 18"/>
          <p:cNvSpPr/>
          <p:nvPr/>
        </p:nvSpPr>
        <p:spPr>
          <a:xfrm>
            <a:off x="6191250" y="1371600"/>
            <a:ext cx="38100" cy="3771900"/>
          </a:xfrm>
          <a:custGeom>
            <a:avLst/>
            <a:gdLst/>
            <a:ahLst/>
            <a:cxnLst/>
            <a:rect l="l" t="t" r="r" b="b"/>
            <a:pathLst>
              <a:path w="38100" h="3771900">
                <a:moveTo>
                  <a:pt x="38100" y="0"/>
                </a:moveTo>
                <a:lnTo>
                  <a:pt x="38100" y="0"/>
                </a:lnTo>
                <a:lnTo>
                  <a:pt x="38100" y="3771900"/>
                </a:lnTo>
                <a:lnTo>
                  <a:pt x="38100" y="3771900"/>
                </a:lnTo>
                <a:cubicBezTo>
                  <a:pt x="17072" y="3771900"/>
                  <a:pt x="0" y="3754828"/>
                  <a:pt x="0" y="37338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21" name="Shape 19"/>
          <p:cNvSpPr/>
          <p:nvPr/>
        </p:nvSpPr>
        <p:spPr>
          <a:xfrm>
            <a:off x="6400800" y="1562100"/>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C9A86A"/>
          </a:solidFill>
          <a:ln/>
        </p:spPr>
        <p:txBody>
          <a:bodyPr/>
          <a:lstStyle/>
          <a:p>
            <a:endParaRPr lang="zh-CN" altLang="en-US"/>
          </a:p>
        </p:txBody>
      </p:sp>
      <p:sp>
        <p:nvSpPr>
          <p:cNvPr id="22" name="Shape 20"/>
          <p:cNvSpPr/>
          <p:nvPr/>
        </p:nvSpPr>
        <p:spPr>
          <a:xfrm>
            <a:off x="6553200" y="1714500"/>
            <a:ext cx="228600" cy="228600"/>
          </a:xfrm>
          <a:custGeom>
            <a:avLst/>
            <a:gdLst/>
            <a:ahLst/>
            <a:cxnLst/>
            <a:rect l="l" t="t" r="r" b="b"/>
            <a:pathLst>
              <a:path w="228600" h="228600">
                <a:moveTo>
                  <a:pt x="28575" y="28575"/>
                </a:moveTo>
                <a:cubicBezTo>
                  <a:pt x="12814" y="28575"/>
                  <a:pt x="0" y="41389"/>
                  <a:pt x="0" y="57150"/>
                </a:cubicBezTo>
                <a:lnTo>
                  <a:pt x="0" y="60454"/>
                </a:lnTo>
                <a:cubicBezTo>
                  <a:pt x="0" y="63490"/>
                  <a:pt x="1965" y="66080"/>
                  <a:pt x="4509" y="67732"/>
                </a:cubicBezTo>
                <a:cubicBezTo>
                  <a:pt x="10403" y="71571"/>
                  <a:pt x="14288" y="78179"/>
                  <a:pt x="14288" y="85725"/>
                </a:cubicBezTo>
                <a:cubicBezTo>
                  <a:pt x="14288" y="93271"/>
                  <a:pt x="10403" y="99879"/>
                  <a:pt x="4509" y="103718"/>
                </a:cubicBezTo>
                <a:cubicBezTo>
                  <a:pt x="1965" y="105370"/>
                  <a:pt x="0" y="107960"/>
                  <a:pt x="0" y="110996"/>
                </a:cubicBezTo>
                <a:lnTo>
                  <a:pt x="0" y="135731"/>
                </a:lnTo>
                <a:lnTo>
                  <a:pt x="228600" y="135731"/>
                </a:lnTo>
                <a:lnTo>
                  <a:pt x="228600" y="110996"/>
                </a:lnTo>
                <a:cubicBezTo>
                  <a:pt x="228600" y="107960"/>
                  <a:pt x="226635" y="105370"/>
                  <a:pt x="224091" y="103718"/>
                </a:cubicBezTo>
                <a:cubicBezTo>
                  <a:pt x="218197" y="99879"/>
                  <a:pt x="214313" y="93271"/>
                  <a:pt x="214313" y="85725"/>
                </a:cubicBezTo>
                <a:cubicBezTo>
                  <a:pt x="214313" y="78179"/>
                  <a:pt x="218197" y="71571"/>
                  <a:pt x="224091" y="67732"/>
                </a:cubicBezTo>
                <a:cubicBezTo>
                  <a:pt x="226635" y="66080"/>
                  <a:pt x="228600" y="63490"/>
                  <a:pt x="228600" y="60454"/>
                </a:cubicBezTo>
                <a:lnTo>
                  <a:pt x="228600" y="57150"/>
                </a:lnTo>
                <a:cubicBezTo>
                  <a:pt x="228600" y="41389"/>
                  <a:pt x="215786" y="28575"/>
                  <a:pt x="200025" y="28575"/>
                </a:cubicBezTo>
                <a:lnTo>
                  <a:pt x="28575" y="28575"/>
                </a:lnTo>
                <a:close/>
                <a:moveTo>
                  <a:pt x="228600" y="185738"/>
                </a:moveTo>
                <a:lnTo>
                  <a:pt x="228600" y="157163"/>
                </a:lnTo>
                <a:lnTo>
                  <a:pt x="0" y="157163"/>
                </a:lnTo>
                <a:lnTo>
                  <a:pt x="0" y="185738"/>
                </a:lnTo>
                <a:cubicBezTo>
                  <a:pt x="0" y="193640"/>
                  <a:pt x="6385" y="200025"/>
                  <a:pt x="14288" y="200025"/>
                </a:cubicBezTo>
                <a:lnTo>
                  <a:pt x="42863" y="200025"/>
                </a:lnTo>
                <a:lnTo>
                  <a:pt x="42863" y="189309"/>
                </a:lnTo>
                <a:cubicBezTo>
                  <a:pt x="42863" y="183371"/>
                  <a:pt x="47640" y="178594"/>
                  <a:pt x="53578" y="178594"/>
                </a:cubicBezTo>
                <a:cubicBezTo>
                  <a:pt x="59516" y="178594"/>
                  <a:pt x="64294" y="183371"/>
                  <a:pt x="64294" y="189309"/>
                </a:cubicBezTo>
                <a:lnTo>
                  <a:pt x="64294" y="200025"/>
                </a:lnTo>
                <a:lnTo>
                  <a:pt x="103584" y="200025"/>
                </a:lnTo>
                <a:lnTo>
                  <a:pt x="103584" y="189309"/>
                </a:lnTo>
                <a:cubicBezTo>
                  <a:pt x="103584" y="183371"/>
                  <a:pt x="108362" y="178594"/>
                  <a:pt x="114300" y="178594"/>
                </a:cubicBezTo>
                <a:cubicBezTo>
                  <a:pt x="120238" y="178594"/>
                  <a:pt x="125016" y="183371"/>
                  <a:pt x="125016" y="189309"/>
                </a:cubicBezTo>
                <a:lnTo>
                  <a:pt x="125016" y="200025"/>
                </a:lnTo>
                <a:lnTo>
                  <a:pt x="164306" y="200025"/>
                </a:lnTo>
                <a:lnTo>
                  <a:pt x="164306" y="189309"/>
                </a:lnTo>
                <a:cubicBezTo>
                  <a:pt x="164306" y="183371"/>
                  <a:pt x="169084" y="178594"/>
                  <a:pt x="175022" y="178594"/>
                </a:cubicBezTo>
                <a:cubicBezTo>
                  <a:pt x="180960" y="178594"/>
                  <a:pt x="185738" y="183371"/>
                  <a:pt x="185738" y="189309"/>
                </a:cubicBezTo>
                <a:lnTo>
                  <a:pt x="185738" y="200025"/>
                </a:lnTo>
                <a:lnTo>
                  <a:pt x="214313" y="200025"/>
                </a:lnTo>
                <a:cubicBezTo>
                  <a:pt x="222215" y="200025"/>
                  <a:pt x="228600" y="193640"/>
                  <a:pt x="228600" y="185738"/>
                </a:cubicBezTo>
                <a:close/>
                <a:moveTo>
                  <a:pt x="71438" y="71438"/>
                </a:moveTo>
                <a:lnTo>
                  <a:pt x="71438" y="100013"/>
                </a:lnTo>
                <a:cubicBezTo>
                  <a:pt x="71438" y="107915"/>
                  <a:pt x="65053" y="114300"/>
                  <a:pt x="57150" y="114300"/>
                </a:cubicBezTo>
                <a:cubicBezTo>
                  <a:pt x="49247" y="114300"/>
                  <a:pt x="42863" y="107915"/>
                  <a:pt x="42863" y="100013"/>
                </a:cubicBezTo>
                <a:lnTo>
                  <a:pt x="42863" y="71438"/>
                </a:lnTo>
                <a:cubicBezTo>
                  <a:pt x="42863" y="63535"/>
                  <a:pt x="49247" y="57150"/>
                  <a:pt x="57150" y="57150"/>
                </a:cubicBezTo>
                <a:cubicBezTo>
                  <a:pt x="65053" y="57150"/>
                  <a:pt x="71438" y="63535"/>
                  <a:pt x="71438" y="71438"/>
                </a:cubicBezTo>
                <a:close/>
                <a:moveTo>
                  <a:pt x="128588" y="71438"/>
                </a:moveTo>
                <a:lnTo>
                  <a:pt x="128588" y="100013"/>
                </a:lnTo>
                <a:cubicBezTo>
                  <a:pt x="128588" y="107915"/>
                  <a:pt x="122203" y="114300"/>
                  <a:pt x="114300" y="114300"/>
                </a:cubicBezTo>
                <a:cubicBezTo>
                  <a:pt x="106397" y="114300"/>
                  <a:pt x="100013" y="107915"/>
                  <a:pt x="100013" y="100013"/>
                </a:cubicBezTo>
                <a:lnTo>
                  <a:pt x="100013" y="71438"/>
                </a:lnTo>
                <a:cubicBezTo>
                  <a:pt x="100013" y="63535"/>
                  <a:pt x="106397" y="57150"/>
                  <a:pt x="114300" y="57150"/>
                </a:cubicBezTo>
                <a:cubicBezTo>
                  <a:pt x="122203" y="57150"/>
                  <a:pt x="128588" y="63535"/>
                  <a:pt x="128588" y="71438"/>
                </a:cubicBezTo>
                <a:close/>
                <a:moveTo>
                  <a:pt x="185738" y="71438"/>
                </a:moveTo>
                <a:lnTo>
                  <a:pt x="185738" y="100013"/>
                </a:lnTo>
                <a:cubicBezTo>
                  <a:pt x="185738" y="107915"/>
                  <a:pt x="179353" y="114300"/>
                  <a:pt x="171450" y="114300"/>
                </a:cubicBezTo>
                <a:cubicBezTo>
                  <a:pt x="163547" y="114300"/>
                  <a:pt x="157163" y="107915"/>
                  <a:pt x="157163" y="100013"/>
                </a:cubicBezTo>
                <a:lnTo>
                  <a:pt x="157163" y="71438"/>
                </a:lnTo>
                <a:cubicBezTo>
                  <a:pt x="157163" y="63535"/>
                  <a:pt x="163547" y="57150"/>
                  <a:pt x="171450" y="57150"/>
                </a:cubicBezTo>
                <a:cubicBezTo>
                  <a:pt x="179353" y="57150"/>
                  <a:pt x="185738" y="63535"/>
                  <a:pt x="185738" y="71438"/>
                </a:cubicBezTo>
                <a:close/>
              </a:path>
            </a:pathLst>
          </a:custGeom>
          <a:solidFill>
            <a:srgbClr val="FFFFFF"/>
          </a:solidFill>
          <a:ln/>
        </p:spPr>
        <p:txBody>
          <a:bodyPr/>
          <a:lstStyle/>
          <a:p>
            <a:endParaRPr lang="zh-CN" altLang="en-US"/>
          </a:p>
        </p:txBody>
      </p:sp>
      <p:sp>
        <p:nvSpPr>
          <p:cNvPr id="23" name="Text 21"/>
          <p:cNvSpPr/>
          <p:nvPr/>
        </p:nvSpPr>
        <p:spPr>
          <a:xfrm>
            <a:off x="7048500" y="1676400"/>
            <a:ext cx="1476375"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Noto Sans SC" pitchFamily="34" charset="0"/>
                <a:ea typeface="Noto Sans SC" pitchFamily="34" charset="-122"/>
                <a:cs typeface="Noto Sans SC" pitchFamily="34" charset="-120"/>
              </a:rPr>
              <a:t>Decode 阶段</a:t>
            </a:r>
            <a:endParaRPr lang="en-US" sz="1600" dirty="0"/>
          </a:p>
        </p:txBody>
      </p:sp>
      <p:sp>
        <p:nvSpPr>
          <p:cNvPr id="24" name="Text 22"/>
          <p:cNvSpPr/>
          <p:nvPr/>
        </p:nvSpPr>
        <p:spPr>
          <a:xfrm>
            <a:off x="6400800" y="2352675"/>
            <a:ext cx="5295900" cy="228600"/>
          </a:xfrm>
          <a:prstGeom prst="rect">
            <a:avLst/>
          </a:prstGeom>
          <a:noFill/>
          <a:ln/>
        </p:spPr>
        <p:txBody>
          <a:bodyPr wrap="square" lIns="0" tIns="0" rIns="0" bIns="0" rtlCol="0" anchor="ctr"/>
          <a:lstStyle/>
          <a:p>
            <a:pPr>
              <a:lnSpc>
                <a:spcPct val="130000"/>
              </a:lnSpc>
            </a:pPr>
            <a:r>
              <a:rPr lang="en-US" sz="1200" b="1" dirty="0">
                <a:solidFill>
                  <a:srgbClr val="C9A86A"/>
                </a:solidFill>
                <a:latin typeface="Noto Sans SC" pitchFamily="34" charset="0"/>
                <a:ea typeface="Noto Sans SC" pitchFamily="34" charset="-122"/>
                <a:cs typeface="Noto Sans SC" pitchFamily="34" charset="-120"/>
              </a:rPr>
              <a:t>计算特征</a:t>
            </a:r>
            <a:endParaRPr lang="en-US" sz="1600" dirty="0"/>
          </a:p>
        </p:txBody>
      </p:sp>
      <p:sp>
        <p:nvSpPr>
          <p:cNvPr id="25" name="Text 23"/>
          <p:cNvSpPr/>
          <p:nvPr/>
        </p:nvSpPr>
        <p:spPr>
          <a:xfrm>
            <a:off x="6400800" y="2657475"/>
            <a:ext cx="5295900" cy="2476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每步仅处理一个新 token，计算量为 </a:t>
            </a:r>
            <a:r>
              <a:rPr lang="en-US" sz="1200" b="1" dirty="0">
                <a:solidFill>
                  <a:srgbClr val="E0E2E5"/>
                </a:solidFill>
                <a:latin typeface="Noto Sans SC" pitchFamily="34" charset="0"/>
                <a:ea typeface="Noto Sans SC" pitchFamily="34" charset="-122"/>
                <a:cs typeface="Noto Sans SC" pitchFamily="34" charset="-120"/>
              </a:rPr>
              <a:t>O(S)</a:t>
            </a:r>
            <a:endParaRPr lang="en-US" sz="1600" dirty="0"/>
          </a:p>
        </p:txBody>
      </p:sp>
      <p:sp>
        <p:nvSpPr>
          <p:cNvPr id="26" name="Shape 24"/>
          <p:cNvSpPr/>
          <p:nvPr/>
        </p:nvSpPr>
        <p:spPr>
          <a:xfrm>
            <a:off x="6400800" y="3228975"/>
            <a:ext cx="5219700" cy="762000"/>
          </a:xfrm>
          <a:custGeom>
            <a:avLst/>
            <a:gdLst/>
            <a:ahLst/>
            <a:cxnLst/>
            <a:rect l="l" t="t" r="r" b="b"/>
            <a:pathLst>
              <a:path w="5219700" h="762000">
                <a:moveTo>
                  <a:pt x="76200" y="0"/>
                </a:moveTo>
                <a:lnTo>
                  <a:pt x="5143500" y="0"/>
                </a:lnTo>
                <a:cubicBezTo>
                  <a:pt x="5185556" y="0"/>
                  <a:pt x="5219700" y="34144"/>
                  <a:pt x="5219700" y="76200"/>
                </a:cubicBezTo>
                <a:lnTo>
                  <a:pt x="5219700" y="685800"/>
                </a:lnTo>
                <a:cubicBezTo>
                  <a:pt x="5219700" y="727856"/>
                  <a:pt x="5185556" y="762000"/>
                  <a:pt x="5143500" y="762000"/>
                </a:cubicBezTo>
                <a:lnTo>
                  <a:pt x="76200" y="762000"/>
                </a:lnTo>
                <a:cubicBezTo>
                  <a:pt x="34144" y="762000"/>
                  <a:pt x="0" y="727856"/>
                  <a:pt x="0" y="685800"/>
                </a:cubicBezTo>
                <a:lnTo>
                  <a:pt x="0" y="76200"/>
                </a:lnTo>
                <a:cubicBezTo>
                  <a:pt x="0" y="34144"/>
                  <a:pt x="34144" y="0"/>
                  <a:pt x="76200" y="0"/>
                </a:cubicBezTo>
                <a:close/>
              </a:path>
            </a:pathLst>
          </a:custGeom>
          <a:solidFill>
            <a:srgbClr val="1A1D21">
              <a:alpha val="50196"/>
            </a:srgbClr>
          </a:solidFill>
          <a:ln/>
        </p:spPr>
        <p:txBody>
          <a:bodyPr/>
          <a:lstStyle/>
          <a:p>
            <a:endParaRPr lang="zh-CN" altLang="en-US"/>
          </a:p>
        </p:txBody>
      </p:sp>
      <p:sp>
        <p:nvSpPr>
          <p:cNvPr id="27" name="Shape 25"/>
          <p:cNvSpPr/>
          <p:nvPr/>
        </p:nvSpPr>
        <p:spPr>
          <a:xfrm>
            <a:off x="6543675" y="3381375"/>
            <a:ext cx="133350" cy="152400"/>
          </a:xfrm>
          <a:custGeom>
            <a:avLst/>
            <a:gdLst/>
            <a:ahLst/>
            <a:cxnLst/>
            <a:rect l="l" t="t" r="r" b="b"/>
            <a:pathLst>
              <a:path w="133350" h="152400">
                <a:moveTo>
                  <a:pt x="133350" y="61258"/>
                </a:moveTo>
                <a:cubicBezTo>
                  <a:pt x="128945" y="64175"/>
                  <a:pt x="123885" y="66526"/>
                  <a:pt x="118616" y="68401"/>
                </a:cubicBezTo>
                <a:cubicBezTo>
                  <a:pt x="104626" y="73402"/>
                  <a:pt x="86261" y="76200"/>
                  <a:pt x="66675" y="76200"/>
                </a:cubicBezTo>
                <a:cubicBezTo>
                  <a:pt x="47089" y="76200"/>
                  <a:pt x="28694" y="73372"/>
                  <a:pt x="14734" y="68401"/>
                </a:cubicBezTo>
                <a:cubicBezTo>
                  <a:pt x="9495" y="66526"/>
                  <a:pt x="4405" y="64175"/>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6"/>
                  <a:pt x="103495" y="0"/>
                  <a:pt x="66675" y="0"/>
                </a:cubicBezTo>
                <a:cubicBezTo>
                  <a:pt x="29855" y="0"/>
                  <a:pt x="0" y="10656"/>
                  <a:pt x="0" y="23813"/>
                </a:cubicBezTo>
                <a:lnTo>
                  <a:pt x="0" y="38100"/>
                </a:lnTo>
                <a:cubicBezTo>
                  <a:pt x="0" y="51256"/>
                  <a:pt x="29855" y="61912"/>
                  <a:pt x="66675" y="61912"/>
                </a:cubicBezTo>
                <a:cubicBezTo>
                  <a:pt x="103495" y="61912"/>
                  <a:pt x="133350" y="51256"/>
                  <a:pt x="133350" y="38100"/>
                </a:cubicBezTo>
                <a:close/>
                <a:moveTo>
                  <a:pt x="118616" y="116026"/>
                </a:moveTo>
                <a:cubicBezTo>
                  <a:pt x="104656" y="120997"/>
                  <a:pt x="86291" y="123825"/>
                  <a:pt x="66675" y="123825"/>
                </a:cubicBezTo>
                <a:cubicBezTo>
                  <a:pt x="47059" y="123825"/>
                  <a:pt x="28694" y="120997"/>
                  <a:pt x="14734" y="116026"/>
                </a:cubicBezTo>
                <a:cubicBezTo>
                  <a:pt x="9495" y="114151"/>
                  <a:pt x="4405" y="111800"/>
                  <a:pt x="0" y="108883"/>
                </a:cubicBezTo>
                <a:lnTo>
                  <a:pt x="0" y="128588"/>
                </a:lnTo>
                <a:cubicBezTo>
                  <a:pt x="0" y="141744"/>
                  <a:pt x="29855" y="152400"/>
                  <a:pt x="66675" y="152400"/>
                </a:cubicBezTo>
                <a:cubicBezTo>
                  <a:pt x="103495" y="152400"/>
                  <a:pt x="133350" y="141744"/>
                  <a:pt x="133350" y="128588"/>
                </a:cubicBezTo>
                <a:lnTo>
                  <a:pt x="133350" y="108883"/>
                </a:lnTo>
                <a:cubicBezTo>
                  <a:pt x="128945" y="111800"/>
                  <a:pt x="123885" y="114151"/>
                  <a:pt x="118616" y="116026"/>
                </a:cubicBezTo>
                <a:close/>
              </a:path>
            </a:pathLst>
          </a:custGeom>
          <a:solidFill>
            <a:srgbClr val="3D8B75"/>
          </a:solidFill>
          <a:ln/>
        </p:spPr>
        <p:txBody>
          <a:bodyPr/>
          <a:lstStyle/>
          <a:p>
            <a:endParaRPr lang="zh-CN" altLang="en-US"/>
          </a:p>
        </p:txBody>
      </p:sp>
      <p:sp>
        <p:nvSpPr>
          <p:cNvPr id="28" name="Text 26"/>
          <p:cNvSpPr/>
          <p:nvPr/>
        </p:nvSpPr>
        <p:spPr>
          <a:xfrm>
            <a:off x="6705600" y="3343275"/>
            <a:ext cx="48768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瓶颈类型</a:t>
            </a:r>
            <a:endParaRPr lang="en-US" sz="1600" dirty="0"/>
          </a:p>
        </p:txBody>
      </p:sp>
      <p:sp>
        <p:nvSpPr>
          <p:cNvPr id="29" name="Shape 27"/>
          <p:cNvSpPr/>
          <p:nvPr/>
        </p:nvSpPr>
        <p:spPr>
          <a:xfrm>
            <a:off x="6515100" y="3652838"/>
            <a:ext cx="2014910" cy="214313"/>
          </a:xfrm>
          <a:custGeom>
            <a:avLst/>
            <a:gdLst/>
            <a:ahLst/>
            <a:cxnLst/>
            <a:rect l="l" t="t" r="r" b="b"/>
            <a:pathLst>
              <a:path w="2014910" h="214313">
                <a:moveTo>
                  <a:pt x="0" y="0"/>
                </a:moveTo>
                <a:lnTo>
                  <a:pt x="2014910" y="0"/>
                </a:lnTo>
                <a:lnTo>
                  <a:pt x="2014910" y="214313"/>
                </a:lnTo>
                <a:lnTo>
                  <a:pt x="0" y="214313"/>
                </a:lnTo>
                <a:lnTo>
                  <a:pt x="0" y="0"/>
                </a:lnTo>
                <a:close/>
              </a:path>
            </a:pathLst>
          </a:custGeom>
          <a:solidFill>
            <a:srgbClr val="C9A86A">
              <a:alpha val="20000"/>
            </a:srgbClr>
          </a:solidFill>
          <a:ln/>
        </p:spPr>
        <p:txBody>
          <a:bodyPr/>
          <a:lstStyle/>
          <a:p>
            <a:endParaRPr lang="zh-CN" altLang="en-US"/>
          </a:p>
        </p:txBody>
      </p:sp>
      <p:sp>
        <p:nvSpPr>
          <p:cNvPr id="30" name="Text 28"/>
          <p:cNvSpPr/>
          <p:nvPr/>
        </p:nvSpPr>
        <p:spPr>
          <a:xfrm>
            <a:off x="6515100" y="3652838"/>
            <a:ext cx="2091110" cy="214313"/>
          </a:xfrm>
          <a:prstGeom prst="rect">
            <a:avLst/>
          </a:prstGeom>
          <a:noFill/>
          <a:ln/>
        </p:spPr>
        <p:txBody>
          <a:bodyPr wrap="square" lIns="0" tIns="0" rIns="0" bIns="0" rtlCol="0" anchor="ctr"/>
          <a:lstStyle/>
          <a:p>
            <a:pPr>
              <a:lnSpc>
                <a:spcPct val="130000"/>
              </a:lnSpc>
            </a:pPr>
            <a:r>
              <a:rPr lang="en-US" sz="1200" dirty="0">
                <a:solidFill>
                  <a:srgbClr val="C9A86A"/>
                </a:solidFill>
                <a:latin typeface="Noto Sans SC" pitchFamily="34" charset="0"/>
                <a:ea typeface="Noto Sans SC" pitchFamily="34" charset="-122"/>
                <a:cs typeface="Noto Sans SC" pitchFamily="34" charset="-120"/>
              </a:rPr>
              <a:t>Memory-bound（内存受限）</a:t>
            </a:r>
            <a:endParaRPr lang="en-US" sz="1600" dirty="0"/>
          </a:p>
        </p:txBody>
      </p:sp>
      <p:sp>
        <p:nvSpPr>
          <p:cNvPr id="31" name="Text 29"/>
          <p:cNvSpPr/>
          <p:nvPr/>
        </p:nvSpPr>
        <p:spPr>
          <a:xfrm>
            <a:off x="6400800" y="4314825"/>
            <a:ext cx="52959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核心消耗</a:t>
            </a:r>
            <a:endParaRPr lang="en-US" sz="1600" dirty="0"/>
          </a:p>
        </p:txBody>
      </p:sp>
      <p:sp>
        <p:nvSpPr>
          <p:cNvPr id="32" name="Text 30"/>
          <p:cNvSpPr/>
          <p:nvPr/>
        </p:nvSpPr>
        <p:spPr>
          <a:xfrm>
            <a:off x="6400800" y="4619625"/>
            <a:ext cx="5295900" cy="228600"/>
          </a:xfrm>
          <a:prstGeom prst="rect">
            <a:avLst/>
          </a:prstGeom>
          <a:noFill/>
          <a:ln/>
        </p:spPr>
        <p:txBody>
          <a:bodyPr wrap="square" lIns="0" tIns="0" rIns="0" bIns="0" rtlCol="0" anchor="ctr"/>
          <a:lstStyle/>
          <a:p>
            <a:pPr>
              <a:lnSpc>
                <a:spcPct val="130000"/>
              </a:lnSpc>
            </a:pPr>
            <a:r>
              <a:rPr lang="en-US" sz="1200" dirty="0">
                <a:solidFill>
                  <a:srgbClr val="E0E2E5">
                    <a:alpha val="80000"/>
                  </a:srgbClr>
                </a:solidFill>
                <a:latin typeface="Noto Sans SC" pitchFamily="34" charset="0"/>
                <a:ea typeface="Noto Sans SC" pitchFamily="34" charset="-122"/>
                <a:cs typeface="Noto Sans SC" pitchFamily="34" charset="-120"/>
              </a:rPr>
              <a:t>反复从显存读取完整 KV Cache</a:t>
            </a:r>
            <a:endParaRPr lang="en-US" sz="1600" dirty="0"/>
          </a:p>
        </p:txBody>
      </p:sp>
      <p:sp>
        <p:nvSpPr>
          <p:cNvPr id="33" name="Shape 31"/>
          <p:cNvSpPr/>
          <p:nvPr/>
        </p:nvSpPr>
        <p:spPr>
          <a:xfrm>
            <a:off x="400050" y="5295900"/>
            <a:ext cx="11410950" cy="1181100"/>
          </a:xfrm>
          <a:custGeom>
            <a:avLst/>
            <a:gdLst/>
            <a:ahLst/>
            <a:cxnLst/>
            <a:rect l="l" t="t" r="r" b="b"/>
            <a:pathLst>
              <a:path w="11410950" h="1181100">
                <a:moveTo>
                  <a:pt x="38100" y="0"/>
                </a:moveTo>
                <a:lnTo>
                  <a:pt x="11334745" y="0"/>
                </a:lnTo>
                <a:cubicBezTo>
                  <a:pt x="11376804" y="0"/>
                  <a:pt x="11410950" y="34146"/>
                  <a:pt x="11410950" y="76205"/>
                </a:cubicBezTo>
                <a:lnTo>
                  <a:pt x="11410950" y="1104895"/>
                </a:lnTo>
                <a:cubicBezTo>
                  <a:pt x="11410950" y="1146982"/>
                  <a:pt x="11376832" y="1181100"/>
                  <a:pt x="11334745" y="1181100"/>
                </a:cubicBezTo>
                <a:lnTo>
                  <a:pt x="38100" y="1181100"/>
                </a:lnTo>
                <a:cubicBezTo>
                  <a:pt x="17072" y="1181100"/>
                  <a:pt x="0" y="1164028"/>
                  <a:pt x="0" y="114300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34" name="Shape 32"/>
          <p:cNvSpPr/>
          <p:nvPr/>
        </p:nvSpPr>
        <p:spPr>
          <a:xfrm>
            <a:off x="400050" y="5295900"/>
            <a:ext cx="38100" cy="1181100"/>
          </a:xfrm>
          <a:custGeom>
            <a:avLst/>
            <a:gdLst/>
            <a:ahLst/>
            <a:cxnLst/>
            <a:rect l="l" t="t" r="r" b="b"/>
            <a:pathLst>
              <a:path w="38100" h="1181100">
                <a:moveTo>
                  <a:pt x="38100" y="0"/>
                </a:moveTo>
                <a:lnTo>
                  <a:pt x="38100" y="0"/>
                </a:lnTo>
                <a:lnTo>
                  <a:pt x="38100" y="1181100"/>
                </a:lnTo>
                <a:lnTo>
                  <a:pt x="38100" y="1181100"/>
                </a:lnTo>
                <a:cubicBezTo>
                  <a:pt x="17072" y="1181100"/>
                  <a:pt x="0" y="1164028"/>
                  <a:pt x="0" y="114300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35" name="Shape 33"/>
          <p:cNvSpPr/>
          <p:nvPr/>
        </p:nvSpPr>
        <p:spPr>
          <a:xfrm>
            <a:off x="600075" y="5467350"/>
            <a:ext cx="228600" cy="228600"/>
          </a:xfrm>
          <a:custGeom>
            <a:avLst/>
            <a:gdLst/>
            <a:ahLst/>
            <a:cxnLst/>
            <a:rect l="l" t="t" r="r" b="b"/>
            <a:pathLst>
              <a:path w="228600" h="228600">
                <a:moveTo>
                  <a:pt x="14288" y="14288"/>
                </a:moveTo>
                <a:cubicBezTo>
                  <a:pt x="22190" y="14288"/>
                  <a:pt x="28575" y="20672"/>
                  <a:pt x="28575" y="28575"/>
                </a:cubicBezTo>
                <a:lnTo>
                  <a:pt x="28575" y="178594"/>
                </a:lnTo>
                <a:cubicBezTo>
                  <a:pt x="28575" y="182523"/>
                  <a:pt x="31790" y="185738"/>
                  <a:pt x="35719" y="185738"/>
                </a:cubicBezTo>
                <a:lnTo>
                  <a:pt x="214313" y="185738"/>
                </a:lnTo>
                <a:cubicBezTo>
                  <a:pt x="222215" y="185738"/>
                  <a:pt x="228600" y="192122"/>
                  <a:pt x="228600" y="200025"/>
                </a:cubicBezTo>
                <a:cubicBezTo>
                  <a:pt x="228600" y="207928"/>
                  <a:pt x="222215" y="214313"/>
                  <a:pt x="214313" y="214313"/>
                </a:cubicBezTo>
                <a:lnTo>
                  <a:pt x="35719" y="214313"/>
                </a:lnTo>
                <a:cubicBezTo>
                  <a:pt x="15984" y="214313"/>
                  <a:pt x="0" y="198328"/>
                  <a:pt x="0" y="178594"/>
                </a:cubicBezTo>
                <a:lnTo>
                  <a:pt x="0" y="28575"/>
                </a:lnTo>
                <a:cubicBezTo>
                  <a:pt x="0" y="20672"/>
                  <a:pt x="6385" y="14288"/>
                  <a:pt x="14288" y="14288"/>
                </a:cubicBezTo>
                <a:close/>
                <a:moveTo>
                  <a:pt x="57150" y="42863"/>
                </a:moveTo>
                <a:cubicBezTo>
                  <a:pt x="57150" y="34960"/>
                  <a:pt x="63535" y="28575"/>
                  <a:pt x="71438" y="28575"/>
                </a:cubicBezTo>
                <a:lnTo>
                  <a:pt x="157163" y="28575"/>
                </a:lnTo>
                <a:cubicBezTo>
                  <a:pt x="165065" y="28575"/>
                  <a:pt x="171450" y="34960"/>
                  <a:pt x="171450" y="42863"/>
                </a:cubicBezTo>
                <a:cubicBezTo>
                  <a:pt x="171450" y="50765"/>
                  <a:pt x="165065" y="57150"/>
                  <a:pt x="157163" y="57150"/>
                </a:cubicBezTo>
                <a:lnTo>
                  <a:pt x="71438" y="57150"/>
                </a:lnTo>
                <a:cubicBezTo>
                  <a:pt x="63535" y="57150"/>
                  <a:pt x="57150" y="50765"/>
                  <a:pt x="57150" y="42863"/>
                </a:cubicBezTo>
                <a:close/>
                <a:moveTo>
                  <a:pt x="71438" y="78581"/>
                </a:moveTo>
                <a:lnTo>
                  <a:pt x="128588" y="78581"/>
                </a:lnTo>
                <a:cubicBezTo>
                  <a:pt x="136490" y="78581"/>
                  <a:pt x="142875" y="84966"/>
                  <a:pt x="142875" y="92869"/>
                </a:cubicBezTo>
                <a:cubicBezTo>
                  <a:pt x="142875" y="100772"/>
                  <a:pt x="136490" y="107156"/>
                  <a:pt x="128588" y="107156"/>
                </a:cubicBezTo>
                <a:lnTo>
                  <a:pt x="71438" y="107156"/>
                </a:lnTo>
                <a:cubicBezTo>
                  <a:pt x="63535" y="107156"/>
                  <a:pt x="57150" y="100772"/>
                  <a:pt x="57150" y="92869"/>
                </a:cubicBezTo>
                <a:cubicBezTo>
                  <a:pt x="57150" y="84966"/>
                  <a:pt x="63535" y="78581"/>
                  <a:pt x="71438" y="78581"/>
                </a:cubicBezTo>
                <a:close/>
                <a:moveTo>
                  <a:pt x="71438" y="128588"/>
                </a:moveTo>
                <a:lnTo>
                  <a:pt x="185738" y="128588"/>
                </a:lnTo>
                <a:cubicBezTo>
                  <a:pt x="193640" y="128588"/>
                  <a:pt x="200025" y="134972"/>
                  <a:pt x="200025" y="142875"/>
                </a:cubicBezTo>
                <a:cubicBezTo>
                  <a:pt x="200025" y="150778"/>
                  <a:pt x="193640" y="157163"/>
                  <a:pt x="185738" y="157163"/>
                </a:cubicBezTo>
                <a:lnTo>
                  <a:pt x="71438" y="157163"/>
                </a:lnTo>
                <a:cubicBezTo>
                  <a:pt x="63535" y="157163"/>
                  <a:pt x="57150" y="150778"/>
                  <a:pt x="57150" y="142875"/>
                </a:cubicBezTo>
                <a:cubicBezTo>
                  <a:pt x="57150" y="134972"/>
                  <a:pt x="63535" y="128588"/>
                  <a:pt x="71438" y="128588"/>
                </a:cubicBezTo>
                <a:close/>
              </a:path>
            </a:pathLst>
          </a:custGeom>
          <a:solidFill>
            <a:srgbClr val="3D8B75"/>
          </a:solidFill>
          <a:ln/>
        </p:spPr>
        <p:txBody>
          <a:bodyPr/>
          <a:lstStyle/>
          <a:p>
            <a:endParaRPr lang="zh-CN" altLang="en-US"/>
          </a:p>
        </p:txBody>
      </p:sp>
      <p:sp>
        <p:nvSpPr>
          <p:cNvPr id="36" name="Text 34"/>
          <p:cNvSpPr/>
          <p:nvPr/>
        </p:nvSpPr>
        <p:spPr>
          <a:xfrm>
            <a:off x="971550" y="5448300"/>
            <a:ext cx="8572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关键洞察</a:t>
            </a:r>
            <a:endParaRPr lang="en-US" sz="1600" dirty="0"/>
          </a:p>
        </p:txBody>
      </p:sp>
      <p:sp>
        <p:nvSpPr>
          <p:cNvPr id="37" name="Text 35"/>
          <p:cNvSpPr/>
          <p:nvPr/>
        </p:nvSpPr>
        <p:spPr>
          <a:xfrm>
            <a:off x="571500" y="5829300"/>
            <a:ext cx="11163300"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KV Cache 的压缩对 </a:t>
            </a:r>
            <a:r>
              <a:rPr lang="en-US" sz="1200" b="1" dirty="0">
                <a:solidFill>
                  <a:srgbClr val="C9A86A"/>
                </a:solidFill>
                <a:latin typeface="Noto Sans SC" pitchFamily="34" charset="0"/>
                <a:ea typeface="Noto Sans SC" pitchFamily="34" charset="-122"/>
                <a:cs typeface="Noto Sans SC" pitchFamily="34" charset="-120"/>
              </a:rPr>
              <a:t>Decode 阶段</a:t>
            </a:r>
            <a:r>
              <a:rPr lang="en-US" sz="1200" dirty="0">
                <a:solidFill>
                  <a:srgbClr val="E0E2E5">
                    <a:alpha val="80000"/>
                  </a:srgbClr>
                </a:solidFill>
                <a:latin typeface="Noto Sans SC" pitchFamily="34" charset="0"/>
                <a:ea typeface="Noto Sans SC" pitchFamily="34" charset="-122"/>
                <a:cs typeface="Noto Sans SC" pitchFamily="34" charset="-120"/>
              </a:rPr>
              <a:t>的吞吐与延迟改善最为直接——</a:t>
            </a:r>
            <a:r>
              <a:rPr lang="en-US" sz="1200" dirty="0">
                <a:solidFill>
                  <a:srgbClr val="3D8B75"/>
                </a:solidFill>
                <a:highlight>
                  <a:srgbClr val="3D8B75">
                    <a:alpha val="20000"/>
                  </a:srgbClr>
                </a:highlight>
                <a:latin typeface="Noto Sans SC" pitchFamily="34" charset="0"/>
                <a:ea typeface="Noto Sans SC" pitchFamily="34" charset="-122"/>
                <a:cs typeface="Noto Sans SC" pitchFamily="34" charset="-120"/>
              </a:rPr>
              <a:t> 压缩后的 KV Cache 减少了每步生成的访存量 </a:t>
            </a:r>
            <a:r>
              <a:rPr lang="en-US" sz="1200" dirty="0">
                <a:solidFill>
                  <a:srgbClr val="E0E2E5">
                    <a:alpha val="80000"/>
                  </a:srgbClr>
                </a:solidFill>
                <a:latin typeface="Noto Sans SC" pitchFamily="34" charset="0"/>
                <a:ea typeface="Noto Sans SC" pitchFamily="34" charset="-122"/>
                <a:cs typeface="Noto Sans SC" pitchFamily="34" charset="-120"/>
              </a:rPr>
              <a:t>，直接缓解了内存带宽瓶颈。理解这一差异，是评估各类压缩方法实际工程收益的前提。</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TRADE-OFFS</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不可能三角：压缩率、精度与吞吐量</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371600"/>
            <a:ext cx="4457700" cy="5105400"/>
          </a:xfrm>
          <a:custGeom>
            <a:avLst/>
            <a:gdLst/>
            <a:ahLst/>
            <a:cxnLst/>
            <a:rect l="l" t="t" r="r" b="b"/>
            <a:pathLst>
              <a:path w="4457700" h="5105400">
                <a:moveTo>
                  <a:pt x="38100" y="0"/>
                </a:moveTo>
                <a:lnTo>
                  <a:pt x="4381518" y="0"/>
                </a:lnTo>
                <a:cubicBezTo>
                  <a:pt x="4423592" y="0"/>
                  <a:pt x="4457700" y="34108"/>
                  <a:pt x="4457700" y="76182"/>
                </a:cubicBezTo>
                <a:lnTo>
                  <a:pt x="4457700" y="5029218"/>
                </a:lnTo>
                <a:cubicBezTo>
                  <a:pt x="4457700" y="5071292"/>
                  <a:pt x="4423592" y="5105400"/>
                  <a:pt x="4381518" y="5105400"/>
                </a:cubicBezTo>
                <a:lnTo>
                  <a:pt x="38100" y="5105400"/>
                </a:lnTo>
                <a:cubicBezTo>
                  <a:pt x="17072" y="5105400"/>
                  <a:pt x="0" y="5088328"/>
                  <a:pt x="0" y="50673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371600"/>
            <a:ext cx="38100" cy="5105400"/>
          </a:xfrm>
          <a:custGeom>
            <a:avLst/>
            <a:gdLst/>
            <a:ahLst/>
            <a:cxnLst/>
            <a:rect l="l" t="t" r="r" b="b"/>
            <a:pathLst>
              <a:path w="38100" h="5105400">
                <a:moveTo>
                  <a:pt x="38100" y="0"/>
                </a:moveTo>
                <a:lnTo>
                  <a:pt x="38100" y="0"/>
                </a:lnTo>
                <a:lnTo>
                  <a:pt x="38100" y="5105400"/>
                </a:lnTo>
                <a:lnTo>
                  <a:pt x="38100" y="5105400"/>
                </a:lnTo>
                <a:cubicBezTo>
                  <a:pt x="17072" y="5105400"/>
                  <a:pt x="0" y="5088328"/>
                  <a:pt x="0" y="50673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Text 5"/>
          <p:cNvSpPr/>
          <p:nvPr/>
        </p:nvSpPr>
        <p:spPr>
          <a:xfrm>
            <a:off x="609600" y="1562100"/>
            <a:ext cx="41529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三元约束</a:t>
            </a:r>
            <a:endParaRPr lang="en-US" sz="1600" dirty="0"/>
          </a:p>
        </p:txBody>
      </p:sp>
      <p:sp>
        <p:nvSpPr>
          <p:cNvPr id="8" name="Text 6"/>
          <p:cNvSpPr/>
          <p:nvPr/>
        </p:nvSpPr>
        <p:spPr>
          <a:xfrm>
            <a:off x="609600" y="1981200"/>
            <a:ext cx="4133850" cy="7429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KV Cache 压缩在生产环境中普遍面临 </a:t>
            </a:r>
            <a:r>
              <a:rPr lang="en-US" sz="1200" b="1" dirty="0">
                <a:solidFill>
                  <a:srgbClr val="E0E2E5"/>
                </a:solidFill>
                <a:latin typeface="Noto Sans SC" pitchFamily="34" charset="0"/>
                <a:ea typeface="Noto Sans SC" pitchFamily="34" charset="-122"/>
                <a:cs typeface="Noto Sans SC" pitchFamily="34" charset="-120"/>
              </a:rPr>
              <a:t>内存缩减（压缩率）、精度保持与计算效率</a:t>
            </a:r>
            <a:r>
              <a:rPr lang="en-US" sz="1200" dirty="0">
                <a:solidFill>
                  <a:srgbClr val="E0E2E5">
                    <a:alpha val="80000"/>
                  </a:srgbClr>
                </a:solidFill>
                <a:latin typeface="Noto Sans SC" pitchFamily="34" charset="0"/>
                <a:ea typeface="Noto Sans SC" pitchFamily="34" charset="-122"/>
                <a:cs typeface="Noto Sans SC" pitchFamily="34" charset="-120"/>
              </a:rPr>
              <a:t> 的三元约束，这一约束在高压缩率与长上下文场景下尤为尖锐。</a:t>
            </a:r>
            <a:endParaRPr lang="en-US" sz="1600" dirty="0"/>
          </a:p>
        </p:txBody>
      </p:sp>
      <p:sp>
        <p:nvSpPr>
          <p:cNvPr id="9" name="Shape 7"/>
          <p:cNvSpPr/>
          <p:nvPr/>
        </p:nvSpPr>
        <p:spPr>
          <a:xfrm>
            <a:off x="609600" y="2930500"/>
            <a:ext cx="4057650" cy="952500"/>
          </a:xfrm>
          <a:custGeom>
            <a:avLst/>
            <a:gdLst/>
            <a:ahLst/>
            <a:cxnLst/>
            <a:rect l="l" t="t" r="r" b="b"/>
            <a:pathLst>
              <a:path w="4057650" h="952500">
                <a:moveTo>
                  <a:pt x="76200" y="0"/>
                </a:moveTo>
                <a:lnTo>
                  <a:pt x="3981450" y="0"/>
                </a:lnTo>
                <a:cubicBezTo>
                  <a:pt x="4023506" y="0"/>
                  <a:pt x="4057650" y="34144"/>
                  <a:pt x="4057650" y="76200"/>
                </a:cubicBezTo>
                <a:lnTo>
                  <a:pt x="4057650" y="876300"/>
                </a:lnTo>
                <a:cubicBezTo>
                  <a:pt x="4057650" y="918356"/>
                  <a:pt x="4023506" y="952500"/>
                  <a:pt x="3981450" y="952500"/>
                </a:cubicBezTo>
                <a:lnTo>
                  <a:pt x="76200" y="952500"/>
                </a:lnTo>
                <a:cubicBezTo>
                  <a:pt x="34144" y="952500"/>
                  <a:pt x="0" y="918356"/>
                  <a:pt x="0" y="876300"/>
                </a:cubicBezTo>
                <a:lnTo>
                  <a:pt x="0" y="76200"/>
                </a:lnTo>
                <a:cubicBezTo>
                  <a:pt x="0" y="34144"/>
                  <a:pt x="34144" y="0"/>
                  <a:pt x="76200" y="0"/>
                </a:cubicBezTo>
                <a:close/>
              </a:path>
            </a:pathLst>
          </a:custGeom>
          <a:solidFill>
            <a:srgbClr val="1A1D21">
              <a:alpha val="50196"/>
            </a:srgbClr>
          </a:solidFill>
          <a:ln/>
        </p:spPr>
        <p:txBody>
          <a:bodyPr/>
          <a:lstStyle/>
          <a:p>
            <a:endParaRPr lang="zh-CN" altLang="en-US"/>
          </a:p>
        </p:txBody>
      </p:sp>
      <p:sp>
        <p:nvSpPr>
          <p:cNvPr id="10" name="Shape 8"/>
          <p:cNvSpPr/>
          <p:nvPr/>
        </p:nvSpPr>
        <p:spPr>
          <a:xfrm>
            <a:off x="762000" y="30829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D8B75"/>
          </a:solidFill>
          <a:ln/>
        </p:spPr>
        <p:txBody>
          <a:bodyPr/>
          <a:lstStyle/>
          <a:p>
            <a:endParaRPr lang="zh-CN" altLang="en-US"/>
          </a:p>
        </p:txBody>
      </p:sp>
      <p:sp>
        <p:nvSpPr>
          <p:cNvPr id="11" name="Shape 9"/>
          <p:cNvSpPr/>
          <p:nvPr/>
        </p:nvSpPr>
        <p:spPr>
          <a:xfrm>
            <a:off x="876300" y="3197200"/>
            <a:ext cx="152400" cy="152400"/>
          </a:xfrm>
          <a:custGeom>
            <a:avLst/>
            <a:gdLst/>
            <a:ahLst/>
            <a:cxnLst/>
            <a:rect l="l" t="t" r="r" b="b"/>
            <a:pathLst>
              <a:path w="152400" h="152400">
                <a:moveTo>
                  <a:pt x="135731" y="66675"/>
                </a:moveTo>
                <a:lnTo>
                  <a:pt x="92869" y="66675"/>
                </a:lnTo>
                <a:cubicBezTo>
                  <a:pt x="88910" y="66675"/>
                  <a:pt x="85725" y="63490"/>
                  <a:pt x="85725" y="59531"/>
                </a:cubicBezTo>
                <a:lnTo>
                  <a:pt x="85725" y="16669"/>
                </a:lnTo>
                <a:cubicBezTo>
                  <a:pt x="85725" y="13781"/>
                  <a:pt x="87451" y="11162"/>
                  <a:pt x="90130" y="10061"/>
                </a:cubicBezTo>
                <a:cubicBezTo>
                  <a:pt x="92809" y="8959"/>
                  <a:pt x="95875" y="9585"/>
                  <a:pt x="97929" y="11609"/>
                </a:cubicBezTo>
                <a:lnTo>
                  <a:pt x="109835" y="23515"/>
                </a:lnTo>
                <a:lnTo>
                  <a:pt x="131683" y="1667"/>
                </a:lnTo>
                <a:cubicBezTo>
                  <a:pt x="132755" y="595"/>
                  <a:pt x="134213" y="0"/>
                  <a:pt x="135731" y="0"/>
                </a:cubicBezTo>
                <a:cubicBezTo>
                  <a:pt x="137249" y="0"/>
                  <a:pt x="138708" y="595"/>
                  <a:pt x="139809" y="1697"/>
                </a:cubicBezTo>
                <a:lnTo>
                  <a:pt x="150733" y="12621"/>
                </a:lnTo>
                <a:cubicBezTo>
                  <a:pt x="151805" y="13692"/>
                  <a:pt x="152400" y="15151"/>
                  <a:pt x="152400" y="16669"/>
                </a:cubicBezTo>
                <a:cubicBezTo>
                  <a:pt x="152400" y="18187"/>
                  <a:pt x="151805" y="19645"/>
                  <a:pt x="150703" y="20747"/>
                </a:cubicBezTo>
                <a:lnTo>
                  <a:pt x="128885" y="42565"/>
                </a:lnTo>
                <a:lnTo>
                  <a:pt x="140791" y="54471"/>
                </a:lnTo>
                <a:cubicBezTo>
                  <a:pt x="142845" y="56525"/>
                  <a:pt x="143441" y="59591"/>
                  <a:pt x="142339" y="62270"/>
                </a:cubicBezTo>
                <a:cubicBezTo>
                  <a:pt x="141238" y="64949"/>
                  <a:pt x="138619" y="66675"/>
                  <a:pt x="135731" y="66675"/>
                </a:cubicBezTo>
                <a:close/>
                <a:moveTo>
                  <a:pt x="135731" y="85725"/>
                </a:moveTo>
                <a:cubicBezTo>
                  <a:pt x="138619" y="85725"/>
                  <a:pt x="141238" y="87451"/>
                  <a:pt x="142339" y="90130"/>
                </a:cubicBezTo>
                <a:cubicBezTo>
                  <a:pt x="143441" y="92809"/>
                  <a:pt x="142845" y="95875"/>
                  <a:pt x="140791" y="97929"/>
                </a:cubicBezTo>
                <a:lnTo>
                  <a:pt x="128885" y="109835"/>
                </a:lnTo>
                <a:lnTo>
                  <a:pt x="150733" y="131683"/>
                </a:lnTo>
                <a:cubicBezTo>
                  <a:pt x="151805" y="132755"/>
                  <a:pt x="152430" y="134213"/>
                  <a:pt x="152430" y="135761"/>
                </a:cubicBezTo>
                <a:cubicBezTo>
                  <a:pt x="152430" y="137309"/>
                  <a:pt x="151834" y="138738"/>
                  <a:pt x="150733" y="139839"/>
                </a:cubicBezTo>
                <a:lnTo>
                  <a:pt x="139809" y="150763"/>
                </a:lnTo>
                <a:cubicBezTo>
                  <a:pt x="138708" y="151805"/>
                  <a:pt x="137249" y="152400"/>
                  <a:pt x="135731" y="152400"/>
                </a:cubicBezTo>
                <a:cubicBezTo>
                  <a:pt x="134213" y="152400"/>
                  <a:pt x="132755" y="151805"/>
                  <a:pt x="131653" y="150703"/>
                </a:cubicBezTo>
                <a:lnTo>
                  <a:pt x="109835" y="128885"/>
                </a:lnTo>
                <a:lnTo>
                  <a:pt x="97929" y="140791"/>
                </a:lnTo>
                <a:cubicBezTo>
                  <a:pt x="95875" y="142845"/>
                  <a:pt x="92809" y="143441"/>
                  <a:pt x="90130" y="142339"/>
                </a:cubicBezTo>
                <a:cubicBezTo>
                  <a:pt x="87451" y="141238"/>
                  <a:pt x="85725" y="138619"/>
                  <a:pt x="85725" y="135731"/>
                </a:cubicBezTo>
                <a:lnTo>
                  <a:pt x="85725" y="92869"/>
                </a:lnTo>
                <a:cubicBezTo>
                  <a:pt x="85725" y="88910"/>
                  <a:pt x="88910" y="85725"/>
                  <a:pt x="92869" y="85725"/>
                </a:cubicBezTo>
                <a:lnTo>
                  <a:pt x="135731" y="85725"/>
                </a:lnTo>
                <a:close/>
                <a:moveTo>
                  <a:pt x="59531" y="85725"/>
                </a:moveTo>
                <a:cubicBezTo>
                  <a:pt x="63490" y="85725"/>
                  <a:pt x="66675" y="88910"/>
                  <a:pt x="66675" y="92869"/>
                </a:cubicBezTo>
                <a:lnTo>
                  <a:pt x="66675" y="135731"/>
                </a:lnTo>
                <a:cubicBezTo>
                  <a:pt x="66675" y="138619"/>
                  <a:pt x="64949" y="141238"/>
                  <a:pt x="62270" y="142339"/>
                </a:cubicBezTo>
                <a:cubicBezTo>
                  <a:pt x="59591" y="143441"/>
                  <a:pt x="56525" y="142845"/>
                  <a:pt x="54471" y="140791"/>
                </a:cubicBezTo>
                <a:lnTo>
                  <a:pt x="42565" y="128885"/>
                </a:lnTo>
                <a:lnTo>
                  <a:pt x="20717" y="150733"/>
                </a:lnTo>
                <a:cubicBezTo>
                  <a:pt x="19645" y="151805"/>
                  <a:pt x="18187" y="152400"/>
                  <a:pt x="16669" y="152400"/>
                </a:cubicBezTo>
                <a:cubicBezTo>
                  <a:pt x="15151" y="152400"/>
                  <a:pt x="13692" y="151805"/>
                  <a:pt x="12591" y="150703"/>
                </a:cubicBezTo>
                <a:lnTo>
                  <a:pt x="1697" y="139809"/>
                </a:lnTo>
                <a:cubicBezTo>
                  <a:pt x="595" y="138708"/>
                  <a:pt x="0" y="137249"/>
                  <a:pt x="0" y="135731"/>
                </a:cubicBezTo>
                <a:cubicBezTo>
                  <a:pt x="0" y="134213"/>
                  <a:pt x="595" y="132755"/>
                  <a:pt x="1697" y="131653"/>
                </a:cubicBezTo>
                <a:lnTo>
                  <a:pt x="23515" y="109835"/>
                </a:lnTo>
                <a:lnTo>
                  <a:pt x="11609" y="97929"/>
                </a:lnTo>
                <a:cubicBezTo>
                  <a:pt x="9555" y="95875"/>
                  <a:pt x="8959" y="92809"/>
                  <a:pt x="10061" y="90130"/>
                </a:cubicBezTo>
                <a:cubicBezTo>
                  <a:pt x="11162" y="87451"/>
                  <a:pt x="13781" y="85725"/>
                  <a:pt x="16669" y="85725"/>
                </a:cubicBezTo>
                <a:lnTo>
                  <a:pt x="59531" y="85725"/>
                </a:lnTo>
                <a:close/>
                <a:moveTo>
                  <a:pt x="16669" y="66675"/>
                </a:moveTo>
                <a:cubicBezTo>
                  <a:pt x="13781" y="66675"/>
                  <a:pt x="11162" y="64949"/>
                  <a:pt x="10061" y="62270"/>
                </a:cubicBezTo>
                <a:cubicBezTo>
                  <a:pt x="8959" y="59591"/>
                  <a:pt x="9585" y="56525"/>
                  <a:pt x="11609" y="54471"/>
                </a:cubicBezTo>
                <a:lnTo>
                  <a:pt x="23515" y="42565"/>
                </a:lnTo>
                <a:lnTo>
                  <a:pt x="1697" y="20747"/>
                </a:lnTo>
                <a:cubicBezTo>
                  <a:pt x="595" y="19645"/>
                  <a:pt x="0" y="18187"/>
                  <a:pt x="0" y="16669"/>
                </a:cubicBezTo>
                <a:cubicBezTo>
                  <a:pt x="0" y="15151"/>
                  <a:pt x="595" y="13692"/>
                  <a:pt x="1697" y="12591"/>
                </a:cubicBezTo>
                <a:lnTo>
                  <a:pt x="12591" y="1697"/>
                </a:lnTo>
                <a:cubicBezTo>
                  <a:pt x="13692" y="595"/>
                  <a:pt x="15151" y="0"/>
                  <a:pt x="16669" y="0"/>
                </a:cubicBezTo>
                <a:cubicBezTo>
                  <a:pt x="18187" y="0"/>
                  <a:pt x="19645" y="595"/>
                  <a:pt x="20747" y="1697"/>
                </a:cubicBezTo>
                <a:lnTo>
                  <a:pt x="42565" y="23515"/>
                </a:lnTo>
                <a:lnTo>
                  <a:pt x="54471" y="11609"/>
                </a:lnTo>
                <a:cubicBezTo>
                  <a:pt x="56525" y="9555"/>
                  <a:pt x="59591" y="8959"/>
                  <a:pt x="62270" y="10061"/>
                </a:cubicBezTo>
                <a:cubicBezTo>
                  <a:pt x="64949" y="11162"/>
                  <a:pt x="66675" y="13781"/>
                  <a:pt x="66675" y="16669"/>
                </a:cubicBezTo>
                <a:lnTo>
                  <a:pt x="66675" y="59531"/>
                </a:lnTo>
                <a:cubicBezTo>
                  <a:pt x="66675" y="63490"/>
                  <a:pt x="63490" y="66675"/>
                  <a:pt x="59531" y="66675"/>
                </a:cubicBezTo>
                <a:lnTo>
                  <a:pt x="16669" y="66675"/>
                </a:lnTo>
                <a:close/>
              </a:path>
            </a:pathLst>
          </a:custGeom>
          <a:solidFill>
            <a:srgbClr val="FFFFFF"/>
          </a:solidFill>
          <a:ln/>
        </p:spPr>
        <p:txBody>
          <a:bodyPr/>
          <a:lstStyle/>
          <a:p>
            <a:endParaRPr lang="zh-CN" altLang="en-US"/>
          </a:p>
        </p:txBody>
      </p:sp>
      <p:sp>
        <p:nvSpPr>
          <p:cNvPr id="12" name="Text 10"/>
          <p:cNvSpPr/>
          <p:nvPr/>
        </p:nvSpPr>
        <p:spPr>
          <a:xfrm>
            <a:off x="1257300" y="3140050"/>
            <a:ext cx="60007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Noto Sans SC" pitchFamily="34" charset="0"/>
                <a:ea typeface="Noto Sans SC" pitchFamily="34" charset="-122"/>
                <a:cs typeface="Noto Sans SC" pitchFamily="34" charset="-120"/>
              </a:rPr>
              <a:t>压缩率</a:t>
            </a:r>
            <a:endParaRPr lang="en-US" sz="1600" dirty="0"/>
          </a:p>
        </p:txBody>
      </p:sp>
      <p:sp>
        <p:nvSpPr>
          <p:cNvPr id="13" name="Text 11"/>
          <p:cNvSpPr/>
          <p:nvPr/>
        </p:nvSpPr>
        <p:spPr>
          <a:xfrm>
            <a:off x="762000" y="3540100"/>
            <a:ext cx="381952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显存占用缩减程度</a:t>
            </a:r>
            <a:endParaRPr lang="en-US" sz="1600" dirty="0"/>
          </a:p>
        </p:txBody>
      </p:sp>
      <p:sp>
        <p:nvSpPr>
          <p:cNvPr id="14" name="Shape 12"/>
          <p:cNvSpPr/>
          <p:nvPr/>
        </p:nvSpPr>
        <p:spPr>
          <a:xfrm>
            <a:off x="609600" y="4105275"/>
            <a:ext cx="4057650" cy="952500"/>
          </a:xfrm>
          <a:custGeom>
            <a:avLst/>
            <a:gdLst/>
            <a:ahLst/>
            <a:cxnLst/>
            <a:rect l="l" t="t" r="r" b="b"/>
            <a:pathLst>
              <a:path w="4057650" h="952500">
                <a:moveTo>
                  <a:pt x="76200" y="0"/>
                </a:moveTo>
                <a:lnTo>
                  <a:pt x="3981450" y="0"/>
                </a:lnTo>
                <a:cubicBezTo>
                  <a:pt x="4023506" y="0"/>
                  <a:pt x="4057650" y="34144"/>
                  <a:pt x="4057650" y="76200"/>
                </a:cubicBezTo>
                <a:lnTo>
                  <a:pt x="4057650" y="876300"/>
                </a:lnTo>
                <a:cubicBezTo>
                  <a:pt x="4057650" y="918356"/>
                  <a:pt x="4023506" y="952500"/>
                  <a:pt x="3981450" y="952500"/>
                </a:cubicBezTo>
                <a:lnTo>
                  <a:pt x="76200" y="952500"/>
                </a:lnTo>
                <a:cubicBezTo>
                  <a:pt x="34144" y="952500"/>
                  <a:pt x="0" y="918356"/>
                  <a:pt x="0" y="876300"/>
                </a:cubicBezTo>
                <a:lnTo>
                  <a:pt x="0" y="76200"/>
                </a:lnTo>
                <a:cubicBezTo>
                  <a:pt x="0" y="34144"/>
                  <a:pt x="34144" y="0"/>
                  <a:pt x="76200" y="0"/>
                </a:cubicBezTo>
                <a:close/>
              </a:path>
            </a:pathLst>
          </a:custGeom>
          <a:solidFill>
            <a:srgbClr val="1A1D21">
              <a:alpha val="50196"/>
            </a:srgbClr>
          </a:solidFill>
          <a:ln/>
        </p:spPr>
        <p:txBody>
          <a:bodyPr/>
          <a:lstStyle/>
          <a:p>
            <a:endParaRPr lang="zh-CN" altLang="en-US"/>
          </a:p>
        </p:txBody>
      </p:sp>
      <p:sp>
        <p:nvSpPr>
          <p:cNvPr id="15" name="Shape 13"/>
          <p:cNvSpPr/>
          <p:nvPr/>
        </p:nvSpPr>
        <p:spPr>
          <a:xfrm>
            <a:off x="762000" y="425767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C9A86A"/>
          </a:solidFill>
          <a:ln/>
        </p:spPr>
        <p:txBody>
          <a:bodyPr/>
          <a:lstStyle/>
          <a:p>
            <a:endParaRPr lang="zh-CN" altLang="en-US"/>
          </a:p>
        </p:txBody>
      </p:sp>
      <p:sp>
        <p:nvSpPr>
          <p:cNvPr id="16" name="Shape 14"/>
          <p:cNvSpPr/>
          <p:nvPr/>
        </p:nvSpPr>
        <p:spPr>
          <a:xfrm>
            <a:off x="876300" y="4371975"/>
            <a:ext cx="152400" cy="152400"/>
          </a:xfrm>
          <a:custGeom>
            <a:avLst/>
            <a:gdLst/>
            <a:ahLst/>
            <a:cxnLst/>
            <a:rect l="l" t="t" r="r" b="b"/>
            <a:pathLst>
              <a:path w="152400" h="152400">
                <a:moveTo>
                  <a:pt x="133350" y="76200"/>
                </a:moveTo>
                <a:cubicBezTo>
                  <a:pt x="133350" y="44658"/>
                  <a:pt x="107742" y="19050"/>
                  <a:pt x="76200" y="19050"/>
                </a:cubicBezTo>
                <a:cubicBezTo>
                  <a:pt x="44658" y="19050"/>
                  <a:pt x="19050" y="44658"/>
                  <a:pt x="19050" y="76200"/>
                </a:cubicBezTo>
                <a:cubicBezTo>
                  <a:pt x="19050" y="107742"/>
                  <a:pt x="44658" y="133350"/>
                  <a:pt x="76200" y="133350"/>
                </a:cubicBezTo>
                <a:cubicBezTo>
                  <a:pt x="107742" y="133350"/>
                  <a:pt x="133350" y="107742"/>
                  <a:pt x="133350" y="76200"/>
                </a:cubicBezTo>
                <a:close/>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76200" y="100013"/>
                </a:moveTo>
                <a:cubicBezTo>
                  <a:pt x="89342" y="100013"/>
                  <a:pt x="100013" y="89342"/>
                  <a:pt x="100013" y="76200"/>
                </a:cubicBezTo>
                <a:cubicBezTo>
                  <a:pt x="100013" y="63058"/>
                  <a:pt x="89342" y="52388"/>
                  <a:pt x="76200" y="52388"/>
                </a:cubicBezTo>
                <a:cubicBezTo>
                  <a:pt x="63058" y="52388"/>
                  <a:pt x="52388" y="63058"/>
                  <a:pt x="52388" y="76200"/>
                </a:cubicBezTo>
                <a:cubicBezTo>
                  <a:pt x="52388" y="89342"/>
                  <a:pt x="63058" y="100013"/>
                  <a:pt x="76200" y="100013"/>
                </a:cubicBezTo>
                <a:close/>
                <a:moveTo>
                  <a:pt x="76200" y="33338"/>
                </a:moveTo>
                <a:cubicBezTo>
                  <a:pt x="99856" y="33338"/>
                  <a:pt x="119062" y="52544"/>
                  <a:pt x="119062" y="76200"/>
                </a:cubicBezTo>
                <a:cubicBezTo>
                  <a:pt x="119062" y="99856"/>
                  <a:pt x="99856" y="119062"/>
                  <a:pt x="76200" y="119062"/>
                </a:cubicBezTo>
                <a:cubicBezTo>
                  <a:pt x="52544" y="119062"/>
                  <a:pt x="33338" y="99856"/>
                  <a:pt x="33338" y="76200"/>
                </a:cubicBezTo>
                <a:cubicBezTo>
                  <a:pt x="33338" y="52544"/>
                  <a:pt x="52544" y="33338"/>
                  <a:pt x="76200" y="33338"/>
                </a:cubicBezTo>
                <a:close/>
                <a:moveTo>
                  <a:pt x="66675" y="76200"/>
                </a:moveTo>
                <a:cubicBezTo>
                  <a:pt x="66675" y="70943"/>
                  <a:pt x="70943" y="66675"/>
                  <a:pt x="76200" y="66675"/>
                </a:cubicBezTo>
                <a:cubicBezTo>
                  <a:pt x="81457" y="66675"/>
                  <a:pt x="85725" y="70943"/>
                  <a:pt x="85725" y="76200"/>
                </a:cubicBezTo>
                <a:cubicBezTo>
                  <a:pt x="85725" y="81457"/>
                  <a:pt x="81457" y="85725"/>
                  <a:pt x="76200" y="85725"/>
                </a:cubicBezTo>
                <a:cubicBezTo>
                  <a:pt x="70943" y="85725"/>
                  <a:pt x="66675" y="81457"/>
                  <a:pt x="66675" y="76200"/>
                </a:cubicBezTo>
                <a:close/>
              </a:path>
            </a:pathLst>
          </a:custGeom>
          <a:solidFill>
            <a:srgbClr val="FFFFFF"/>
          </a:solidFill>
          <a:ln/>
        </p:spPr>
        <p:txBody>
          <a:bodyPr/>
          <a:lstStyle/>
          <a:p>
            <a:endParaRPr lang="zh-CN" altLang="en-US"/>
          </a:p>
        </p:txBody>
      </p:sp>
      <p:sp>
        <p:nvSpPr>
          <p:cNvPr id="17" name="Text 15"/>
          <p:cNvSpPr/>
          <p:nvPr/>
        </p:nvSpPr>
        <p:spPr>
          <a:xfrm>
            <a:off x="1257300" y="4314825"/>
            <a:ext cx="42862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Noto Sans SC" pitchFamily="34" charset="0"/>
                <a:ea typeface="Noto Sans SC" pitchFamily="34" charset="-122"/>
                <a:cs typeface="Noto Sans SC" pitchFamily="34" charset="-120"/>
              </a:rPr>
              <a:t>精度</a:t>
            </a:r>
            <a:endParaRPr lang="en-US" sz="1600" dirty="0"/>
          </a:p>
        </p:txBody>
      </p:sp>
      <p:sp>
        <p:nvSpPr>
          <p:cNvPr id="18" name="Text 16"/>
          <p:cNvSpPr/>
          <p:nvPr/>
        </p:nvSpPr>
        <p:spPr>
          <a:xfrm>
            <a:off x="762000" y="4714875"/>
            <a:ext cx="381952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模型输出质量保持</a:t>
            </a:r>
            <a:endParaRPr lang="en-US" sz="1600" dirty="0"/>
          </a:p>
        </p:txBody>
      </p:sp>
      <p:sp>
        <p:nvSpPr>
          <p:cNvPr id="19" name="Shape 17"/>
          <p:cNvSpPr/>
          <p:nvPr/>
        </p:nvSpPr>
        <p:spPr>
          <a:xfrm>
            <a:off x="609600" y="5279975"/>
            <a:ext cx="4057650" cy="952500"/>
          </a:xfrm>
          <a:custGeom>
            <a:avLst/>
            <a:gdLst/>
            <a:ahLst/>
            <a:cxnLst/>
            <a:rect l="l" t="t" r="r" b="b"/>
            <a:pathLst>
              <a:path w="4057650" h="952500">
                <a:moveTo>
                  <a:pt x="76200" y="0"/>
                </a:moveTo>
                <a:lnTo>
                  <a:pt x="3981450" y="0"/>
                </a:lnTo>
                <a:cubicBezTo>
                  <a:pt x="4023506" y="0"/>
                  <a:pt x="4057650" y="34144"/>
                  <a:pt x="4057650" y="76200"/>
                </a:cubicBezTo>
                <a:lnTo>
                  <a:pt x="4057650" y="876300"/>
                </a:lnTo>
                <a:cubicBezTo>
                  <a:pt x="4057650" y="918356"/>
                  <a:pt x="4023506" y="952500"/>
                  <a:pt x="3981450" y="952500"/>
                </a:cubicBezTo>
                <a:lnTo>
                  <a:pt x="76200" y="952500"/>
                </a:lnTo>
                <a:cubicBezTo>
                  <a:pt x="34144" y="952500"/>
                  <a:pt x="0" y="918356"/>
                  <a:pt x="0" y="876300"/>
                </a:cubicBezTo>
                <a:lnTo>
                  <a:pt x="0" y="76200"/>
                </a:lnTo>
                <a:cubicBezTo>
                  <a:pt x="0" y="34144"/>
                  <a:pt x="34144" y="0"/>
                  <a:pt x="76200" y="0"/>
                </a:cubicBezTo>
                <a:close/>
              </a:path>
            </a:pathLst>
          </a:custGeom>
          <a:solidFill>
            <a:srgbClr val="1A1D21">
              <a:alpha val="50196"/>
            </a:srgbClr>
          </a:solidFill>
          <a:ln/>
        </p:spPr>
        <p:txBody>
          <a:bodyPr/>
          <a:lstStyle/>
          <a:p>
            <a:endParaRPr lang="zh-CN" altLang="en-US"/>
          </a:p>
        </p:txBody>
      </p:sp>
      <p:sp>
        <p:nvSpPr>
          <p:cNvPr id="20" name="Shape 18"/>
          <p:cNvSpPr/>
          <p:nvPr/>
        </p:nvSpPr>
        <p:spPr>
          <a:xfrm>
            <a:off x="762000" y="543237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5F6B7A"/>
          </a:solidFill>
          <a:ln/>
        </p:spPr>
        <p:txBody>
          <a:bodyPr/>
          <a:lstStyle/>
          <a:p>
            <a:endParaRPr lang="zh-CN" altLang="en-US"/>
          </a:p>
        </p:txBody>
      </p:sp>
      <p:sp>
        <p:nvSpPr>
          <p:cNvPr id="21" name="Shape 19"/>
          <p:cNvSpPr/>
          <p:nvPr/>
        </p:nvSpPr>
        <p:spPr>
          <a:xfrm>
            <a:off x="876300" y="5546675"/>
            <a:ext cx="152400" cy="152400"/>
          </a:xfrm>
          <a:custGeom>
            <a:avLst/>
            <a:gdLst/>
            <a:ahLst/>
            <a:cxnLst/>
            <a:rect l="l" t="t" r="r" b="b"/>
            <a:pathLst>
              <a:path w="152400" h="152400">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85725" y="28575"/>
                </a:moveTo>
                <a:cubicBezTo>
                  <a:pt x="85725" y="23318"/>
                  <a:pt x="81457" y="19050"/>
                  <a:pt x="76200" y="19050"/>
                </a:cubicBezTo>
                <a:cubicBezTo>
                  <a:pt x="70943" y="19050"/>
                  <a:pt x="66675" y="23318"/>
                  <a:pt x="66675" y="28575"/>
                </a:cubicBezTo>
                <a:cubicBezTo>
                  <a:pt x="66675" y="33832"/>
                  <a:pt x="70943" y="38100"/>
                  <a:pt x="76200" y="38100"/>
                </a:cubicBezTo>
                <a:cubicBezTo>
                  <a:pt x="81457" y="38100"/>
                  <a:pt x="85725" y="33832"/>
                  <a:pt x="85725" y="28575"/>
                </a:cubicBezTo>
                <a:close/>
                <a:moveTo>
                  <a:pt x="76200" y="123825"/>
                </a:moveTo>
                <a:cubicBezTo>
                  <a:pt x="86707" y="123825"/>
                  <a:pt x="95250" y="115282"/>
                  <a:pt x="95250" y="104775"/>
                </a:cubicBezTo>
                <a:cubicBezTo>
                  <a:pt x="95250" y="99953"/>
                  <a:pt x="93464" y="95518"/>
                  <a:pt x="90488" y="92184"/>
                </a:cubicBezTo>
                <a:lnTo>
                  <a:pt x="111175" y="50840"/>
                </a:lnTo>
                <a:cubicBezTo>
                  <a:pt x="112931" y="47298"/>
                  <a:pt x="111502" y="43011"/>
                  <a:pt x="107990" y="41255"/>
                </a:cubicBezTo>
                <a:cubicBezTo>
                  <a:pt x="104477" y="39499"/>
                  <a:pt x="100161" y="40928"/>
                  <a:pt x="98405" y="44440"/>
                </a:cubicBezTo>
                <a:lnTo>
                  <a:pt x="77718" y="85785"/>
                </a:lnTo>
                <a:cubicBezTo>
                  <a:pt x="77212" y="85755"/>
                  <a:pt x="76706" y="85725"/>
                  <a:pt x="76200" y="85725"/>
                </a:cubicBezTo>
                <a:cubicBezTo>
                  <a:pt x="65693" y="85725"/>
                  <a:pt x="57150" y="94268"/>
                  <a:pt x="57150" y="104775"/>
                </a:cubicBezTo>
                <a:cubicBezTo>
                  <a:pt x="57150" y="115282"/>
                  <a:pt x="65693" y="123825"/>
                  <a:pt x="76200" y="123825"/>
                </a:cubicBezTo>
                <a:close/>
                <a:moveTo>
                  <a:pt x="52388" y="42863"/>
                </a:moveTo>
                <a:cubicBezTo>
                  <a:pt x="52388" y="37606"/>
                  <a:pt x="48119" y="33338"/>
                  <a:pt x="42863" y="33338"/>
                </a:cubicBezTo>
                <a:cubicBezTo>
                  <a:pt x="37606" y="33338"/>
                  <a:pt x="33338" y="37606"/>
                  <a:pt x="33338" y="42863"/>
                </a:cubicBezTo>
                <a:cubicBezTo>
                  <a:pt x="33338" y="48119"/>
                  <a:pt x="37606" y="52388"/>
                  <a:pt x="42863" y="52388"/>
                </a:cubicBezTo>
                <a:cubicBezTo>
                  <a:pt x="48119" y="52388"/>
                  <a:pt x="52388" y="48119"/>
                  <a:pt x="52388" y="42863"/>
                </a:cubicBezTo>
                <a:close/>
                <a:moveTo>
                  <a:pt x="28575" y="85725"/>
                </a:moveTo>
                <a:cubicBezTo>
                  <a:pt x="33832" y="85725"/>
                  <a:pt x="38100" y="81457"/>
                  <a:pt x="38100" y="76200"/>
                </a:cubicBezTo>
                <a:cubicBezTo>
                  <a:pt x="38100" y="70943"/>
                  <a:pt x="33832" y="66675"/>
                  <a:pt x="28575" y="66675"/>
                </a:cubicBezTo>
                <a:cubicBezTo>
                  <a:pt x="23318" y="66675"/>
                  <a:pt x="19050" y="70943"/>
                  <a:pt x="19050" y="76200"/>
                </a:cubicBezTo>
                <a:cubicBezTo>
                  <a:pt x="19050" y="81457"/>
                  <a:pt x="23318" y="85725"/>
                  <a:pt x="28575" y="85725"/>
                </a:cubicBezTo>
                <a:close/>
                <a:moveTo>
                  <a:pt x="133350" y="76200"/>
                </a:moveTo>
                <a:cubicBezTo>
                  <a:pt x="133350" y="70943"/>
                  <a:pt x="129082" y="66675"/>
                  <a:pt x="123825" y="66675"/>
                </a:cubicBezTo>
                <a:cubicBezTo>
                  <a:pt x="118568" y="66675"/>
                  <a:pt x="114300" y="70943"/>
                  <a:pt x="114300" y="76200"/>
                </a:cubicBezTo>
                <a:cubicBezTo>
                  <a:pt x="114300" y="81457"/>
                  <a:pt x="118568" y="85725"/>
                  <a:pt x="123825" y="85725"/>
                </a:cubicBezTo>
                <a:cubicBezTo>
                  <a:pt x="129082" y="85725"/>
                  <a:pt x="133350" y="81457"/>
                  <a:pt x="133350" y="76200"/>
                </a:cubicBezTo>
                <a:close/>
              </a:path>
            </a:pathLst>
          </a:custGeom>
          <a:solidFill>
            <a:srgbClr val="FFFFFF"/>
          </a:solidFill>
          <a:ln/>
        </p:spPr>
        <p:txBody>
          <a:bodyPr/>
          <a:lstStyle/>
          <a:p>
            <a:endParaRPr lang="zh-CN" altLang="en-US"/>
          </a:p>
        </p:txBody>
      </p:sp>
      <p:sp>
        <p:nvSpPr>
          <p:cNvPr id="22" name="Text 20"/>
          <p:cNvSpPr/>
          <p:nvPr/>
        </p:nvSpPr>
        <p:spPr>
          <a:xfrm>
            <a:off x="1257300" y="5489525"/>
            <a:ext cx="60007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Noto Sans SC" pitchFamily="34" charset="0"/>
                <a:ea typeface="Noto Sans SC" pitchFamily="34" charset="-122"/>
                <a:cs typeface="Noto Sans SC" pitchFamily="34" charset="-120"/>
              </a:rPr>
              <a:t>吞吐量</a:t>
            </a:r>
            <a:endParaRPr lang="en-US" sz="1600" dirty="0"/>
          </a:p>
        </p:txBody>
      </p:sp>
      <p:sp>
        <p:nvSpPr>
          <p:cNvPr id="23" name="Text 21"/>
          <p:cNvSpPr/>
          <p:nvPr/>
        </p:nvSpPr>
        <p:spPr>
          <a:xfrm>
            <a:off x="762000" y="5889575"/>
            <a:ext cx="3819525"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推理延迟与吞吐效率</a:t>
            </a:r>
            <a:endParaRPr lang="en-US" sz="1600" dirty="0"/>
          </a:p>
        </p:txBody>
      </p:sp>
      <p:sp>
        <p:nvSpPr>
          <p:cNvPr id="24" name="Shape 22"/>
          <p:cNvSpPr/>
          <p:nvPr/>
        </p:nvSpPr>
        <p:spPr>
          <a:xfrm>
            <a:off x="5032995" y="1371600"/>
            <a:ext cx="6781800" cy="1504950"/>
          </a:xfrm>
          <a:custGeom>
            <a:avLst/>
            <a:gdLst/>
            <a:ahLst/>
            <a:cxnLst/>
            <a:rect l="l" t="t" r="r" b="b"/>
            <a:pathLst>
              <a:path w="6781800" h="1504950">
                <a:moveTo>
                  <a:pt x="38100" y="0"/>
                </a:moveTo>
                <a:lnTo>
                  <a:pt x="6705604" y="0"/>
                </a:lnTo>
                <a:cubicBezTo>
                  <a:pt x="6747686" y="0"/>
                  <a:pt x="6781800" y="34114"/>
                  <a:pt x="6781800" y="76196"/>
                </a:cubicBezTo>
                <a:lnTo>
                  <a:pt x="6781800" y="1428754"/>
                </a:lnTo>
                <a:cubicBezTo>
                  <a:pt x="6781800" y="1470836"/>
                  <a:pt x="6747686" y="1504950"/>
                  <a:pt x="6705604" y="1504950"/>
                </a:cubicBezTo>
                <a:lnTo>
                  <a:pt x="38100" y="1504950"/>
                </a:lnTo>
                <a:cubicBezTo>
                  <a:pt x="17058" y="1504950"/>
                  <a:pt x="0" y="1487892"/>
                  <a:pt x="0" y="146685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25" name="Shape 23"/>
          <p:cNvSpPr/>
          <p:nvPr/>
        </p:nvSpPr>
        <p:spPr>
          <a:xfrm>
            <a:off x="5032995" y="1371600"/>
            <a:ext cx="38100" cy="1504950"/>
          </a:xfrm>
          <a:custGeom>
            <a:avLst/>
            <a:gdLst/>
            <a:ahLst/>
            <a:cxnLst/>
            <a:rect l="l" t="t" r="r" b="b"/>
            <a:pathLst>
              <a:path w="38100" h="1504950">
                <a:moveTo>
                  <a:pt x="38100" y="0"/>
                </a:moveTo>
                <a:lnTo>
                  <a:pt x="38100" y="0"/>
                </a:lnTo>
                <a:lnTo>
                  <a:pt x="38100" y="1504950"/>
                </a:lnTo>
                <a:lnTo>
                  <a:pt x="38100" y="1504950"/>
                </a:lnTo>
                <a:cubicBezTo>
                  <a:pt x="17072" y="1504950"/>
                  <a:pt x="0" y="1487878"/>
                  <a:pt x="0" y="146685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26" name="Shape 24"/>
          <p:cNvSpPr/>
          <p:nvPr/>
        </p:nvSpPr>
        <p:spPr>
          <a:xfrm>
            <a:off x="5266358" y="16002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50602"/>
                </a:moveTo>
                <a:cubicBezTo>
                  <a:pt x="100199" y="50602"/>
                  <a:pt x="104180" y="54583"/>
                  <a:pt x="104180" y="59531"/>
                </a:cubicBezTo>
                <a:lnTo>
                  <a:pt x="104180" y="101203"/>
                </a:lnTo>
                <a:cubicBezTo>
                  <a:pt x="104180" y="106152"/>
                  <a:pt x="100199" y="110133"/>
                  <a:pt x="95250" y="110133"/>
                </a:cubicBezTo>
                <a:cubicBezTo>
                  <a:pt x="90301" y="110133"/>
                  <a:pt x="86320" y="106152"/>
                  <a:pt x="86320" y="101203"/>
                </a:cubicBezTo>
                <a:lnTo>
                  <a:pt x="86320" y="59531"/>
                </a:lnTo>
                <a:cubicBezTo>
                  <a:pt x="86320" y="54583"/>
                  <a:pt x="90301" y="50602"/>
                  <a:pt x="95250" y="50602"/>
                </a:cubicBezTo>
                <a:close/>
                <a:moveTo>
                  <a:pt x="85316" y="130969"/>
                </a:moveTo>
                <a:cubicBezTo>
                  <a:pt x="85090" y="127281"/>
                  <a:pt x="86929" y="123773"/>
                  <a:pt x="90090" y="121861"/>
                </a:cubicBezTo>
                <a:cubicBezTo>
                  <a:pt x="93251" y="119949"/>
                  <a:pt x="97212" y="119949"/>
                  <a:pt x="100373" y="121861"/>
                </a:cubicBezTo>
                <a:cubicBezTo>
                  <a:pt x="103534" y="123773"/>
                  <a:pt x="105373" y="127281"/>
                  <a:pt x="105147" y="130969"/>
                </a:cubicBezTo>
                <a:cubicBezTo>
                  <a:pt x="105373" y="134656"/>
                  <a:pt x="103534" y="138165"/>
                  <a:pt x="100373" y="140077"/>
                </a:cubicBezTo>
                <a:cubicBezTo>
                  <a:pt x="97212" y="141989"/>
                  <a:pt x="93251" y="141989"/>
                  <a:pt x="90090" y="140077"/>
                </a:cubicBezTo>
                <a:cubicBezTo>
                  <a:pt x="86929" y="138165"/>
                  <a:pt x="85090" y="134656"/>
                  <a:pt x="85316" y="130969"/>
                </a:cubicBezTo>
                <a:close/>
              </a:path>
            </a:pathLst>
          </a:custGeom>
          <a:solidFill>
            <a:srgbClr val="C9A86A"/>
          </a:solidFill>
          <a:ln/>
        </p:spPr>
        <p:txBody>
          <a:bodyPr/>
          <a:lstStyle/>
          <a:p>
            <a:endParaRPr lang="zh-CN" altLang="en-US"/>
          </a:p>
        </p:txBody>
      </p:sp>
      <p:sp>
        <p:nvSpPr>
          <p:cNvPr id="27" name="Text 25"/>
          <p:cNvSpPr/>
          <p:nvPr/>
        </p:nvSpPr>
        <p:spPr>
          <a:xfrm>
            <a:off x="5480670" y="1562100"/>
            <a:ext cx="623887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隐藏的精度缺陷</a:t>
            </a:r>
            <a:endParaRPr lang="en-US" sz="1600" dirty="0"/>
          </a:p>
        </p:txBody>
      </p:sp>
      <p:sp>
        <p:nvSpPr>
          <p:cNvPr id="28" name="Text 26"/>
          <p:cNvSpPr/>
          <p:nvPr/>
        </p:nvSpPr>
        <p:spPr>
          <a:xfrm>
            <a:off x="5242545" y="1943100"/>
            <a:ext cx="6457950" cy="7429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很多研究通过计算整体准确率掩盖了特定场景下的性能退化。压缩 KV Cache 会引发 </a:t>
            </a:r>
            <a:r>
              <a:rPr lang="en-US" sz="1200" b="1" dirty="0">
                <a:solidFill>
                  <a:srgbClr val="C9A86A"/>
                </a:solidFill>
                <a:latin typeface="Noto Sans SC" pitchFamily="34" charset="0"/>
                <a:ea typeface="Noto Sans SC" pitchFamily="34" charset="-122"/>
                <a:cs typeface="Noto Sans SC" pitchFamily="34" charset="-120"/>
              </a:rPr>
              <a:t>"负样本（Negative Samples）"</a:t>
            </a:r>
            <a:r>
              <a:rPr lang="en-US" sz="1200" dirty="0">
                <a:solidFill>
                  <a:srgbClr val="E0E2E5">
                    <a:alpha val="80000"/>
                  </a:srgbClr>
                </a:solidFill>
                <a:latin typeface="Noto Sans SC" pitchFamily="34" charset="0"/>
                <a:ea typeface="Noto Sans SC" pitchFamily="34" charset="-122"/>
                <a:cs typeface="Noto Sans SC" pitchFamily="34" charset="-120"/>
              </a:rPr>
              <a:t> 问题——即原本在全量 KV 下能够正确回答的问题，在压缩后由于关键上下文的丢失或失真，导致模型出现严重的幻觉或错误。</a:t>
            </a:r>
            <a:endParaRPr lang="en-US" sz="1600" dirty="0"/>
          </a:p>
        </p:txBody>
      </p:sp>
      <p:sp>
        <p:nvSpPr>
          <p:cNvPr id="29" name="Shape 27"/>
          <p:cNvSpPr/>
          <p:nvPr/>
        </p:nvSpPr>
        <p:spPr>
          <a:xfrm>
            <a:off x="5032995" y="3028950"/>
            <a:ext cx="6781800" cy="1752600"/>
          </a:xfrm>
          <a:custGeom>
            <a:avLst/>
            <a:gdLst/>
            <a:ahLst/>
            <a:cxnLst/>
            <a:rect l="l" t="t" r="r" b="b"/>
            <a:pathLst>
              <a:path w="6781800" h="1752600">
                <a:moveTo>
                  <a:pt x="38100" y="0"/>
                </a:moveTo>
                <a:lnTo>
                  <a:pt x="6705597" y="0"/>
                </a:lnTo>
                <a:cubicBezTo>
                  <a:pt x="6747683" y="0"/>
                  <a:pt x="6781800" y="34117"/>
                  <a:pt x="6781800" y="76203"/>
                </a:cubicBezTo>
                <a:lnTo>
                  <a:pt x="6781800" y="1676397"/>
                </a:lnTo>
                <a:cubicBezTo>
                  <a:pt x="6781800" y="1718483"/>
                  <a:pt x="6747683" y="1752600"/>
                  <a:pt x="6705597" y="1752600"/>
                </a:cubicBezTo>
                <a:lnTo>
                  <a:pt x="38100" y="1752600"/>
                </a:lnTo>
                <a:cubicBezTo>
                  <a:pt x="17072" y="1752600"/>
                  <a:pt x="0" y="1735528"/>
                  <a:pt x="0" y="171450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30" name="Shape 28"/>
          <p:cNvSpPr/>
          <p:nvPr/>
        </p:nvSpPr>
        <p:spPr>
          <a:xfrm>
            <a:off x="5032995" y="3028950"/>
            <a:ext cx="38100" cy="1752600"/>
          </a:xfrm>
          <a:custGeom>
            <a:avLst/>
            <a:gdLst/>
            <a:ahLst/>
            <a:cxnLst/>
            <a:rect l="l" t="t" r="r" b="b"/>
            <a:pathLst>
              <a:path w="38100" h="1752600">
                <a:moveTo>
                  <a:pt x="38100" y="0"/>
                </a:moveTo>
                <a:lnTo>
                  <a:pt x="38100" y="0"/>
                </a:lnTo>
                <a:lnTo>
                  <a:pt x="38100" y="1752600"/>
                </a:lnTo>
                <a:lnTo>
                  <a:pt x="38100" y="1752600"/>
                </a:lnTo>
                <a:cubicBezTo>
                  <a:pt x="17072" y="1752600"/>
                  <a:pt x="0" y="1735528"/>
                  <a:pt x="0" y="171450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31" name="Shape 29"/>
          <p:cNvSpPr/>
          <p:nvPr/>
        </p:nvSpPr>
        <p:spPr>
          <a:xfrm>
            <a:off x="5242545" y="3257550"/>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5F6B7A"/>
          </a:solidFill>
          <a:ln/>
        </p:spPr>
        <p:txBody>
          <a:bodyPr/>
          <a:lstStyle/>
          <a:p>
            <a:endParaRPr lang="zh-CN" altLang="en-US"/>
          </a:p>
        </p:txBody>
      </p:sp>
      <p:sp>
        <p:nvSpPr>
          <p:cNvPr id="32" name="Text 30"/>
          <p:cNvSpPr/>
          <p:nvPr/>
        </p:nvSpPr>
        <p:spPr>
          <a:xfrm>
            <a:off x="5480670" y="3219450"/>
            <a:ext cx="623887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框架适配与吞吐损耗</a:t>
            </a:r>
            <a:endParaRPr lang="en-US" sz="1600" dirty="0"/>
          </a:p>
        </p:txBody>
      </p:sp>
      <p:sp>
        <p:nvSpPr>
          <p:cNvPr id="33" name="Text 31"/>
          <p:cNvSpPr/>
          <p:nvPr/>
        </p:nvSpPr>
        <p:spPr>
          <a:xfrm>
            <a:off x="5242545" y="3600450"/>
            <a:ext cx="6457950" cy="9906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现有的压缩算法实现通常未能针对生产级系统（如 PagedAttention 或 FlashAttention）进行底层深度优化。这导致虽然内存占用的绝对值下降了，但由于引入了复杂的压缩/解压算子，</a:t>
            </a:r>
            <a:r>
              <a:rPr lang="en-US" sz="1200" dirty="0">
                <a:solidFill>
                  <a:srgbClr val="C9A86A"/>
                </a:solidFill>
                <a:highlight>
                  <a:srgbClr val="C9A86A">
                    <a:alpha val="20000"/>
                  </a:srgbClr>
                </a:highlight>
                <a:latin typeface="Noto Sans SC" pitchFamily="34" charset="0"/>
                <a:ea typeface="Noto Sans SC" pitchFamily="34" charset="-122"/>
                <a:cs typeface="Noto Sans SC" pitchFamily="34" charset="-120"/>
              </a:rPr>
              <a:t> 计算延迟反而增加 </a:t>
            </a:r>
            <a:r>
              <a:rPr lang="en-US" sz="1200" dirty="0">
                <a:solidFill>
                  <a:srgbClr val="E0E2E5">
                    <a:alpha val="80000"/>
                  </a:srgbClr>
                </a:solidFill>
                <a:latin typeface="Noto Sans SC" pitchFamily="34" charset="0"/>
                <a:ea typeface="Noto Sans SC" pitchFamily="34" charset="-122"/>
                <a:cs typeface="Noto Sans SC" pitchFamily="34" charset="-120"/>
              </a:rPr>
              <a:t>。此外，被压缩的 KV Cache 可能导致模型生成冗余或重复内容，从而意外增加了端到端的总延迟。</a:t>
            </a:r>
            <a:endParaRPr lang="en-US" sz="1600" dirty="0"/>
          </a:p>
        </p:txBody>
      </p:sp>
      <p:sp>
        <p:nvSpPr>
          <p:cNvPr id="34" name="Shape 32"/>
          <p:cNvSpPr/>
          <p:nvPr/>
        </p:nvSpPr>
        <p:spPr>
          <a:xfrm>
            <a:off x="5032995" y="5676900"/>
            <a:ext cx="6781800" cy="800100"/>
          </a:xfrm>
          <a:custGeom>
            <a:avLst/>
            <a:gdLst/>
            <a:ahLst/>
            <a:cxnLst/>
            <a:rect l="l" t="t" r="r" b="b"/>
            <a:pathLst>
              <a:path w="6781800" h="800100">
                <a:moveTo>
                  <a:pt x="38100" y="0"/>
                </a:moveTo>
                <a:lnTo>
                  <a:pt x="6705598" y="0"/>
                </a:lnTo>
                <a:cubicBezTo>
                  <a:pt x="6747683" y="0"/>
                  <a:pt x="6781800" y="34117"/>
                  <a:pt x="6781800" y="76202"/>
                </a:cubicBezTo>
                <a:lnTo>
                  <a:pt x="6781800" y="723898"/>
                </a:lnTo>
                <a:cubicBezTo>
                  <a:pt x="6781800" y="765983"/>
                  <a:pt x="6747683" y="800100"/>
                  <a:pt x="6705598" y="800100"/>
                </a:cubicBezTo>
                <a:lnTo>
                  <a:pt x="38100" y="800100"/>
                </a:lnTo>
                <a:cubicBezTo>
                  <a:pt x="17072" y="800100"/>
                  <a:pt x="0" y="783028"/>
                  <a:pt x="0" y="76200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35" name="Shape 33"/>
          <p:cNvSpPr/>
          <p:nvPr/>
        </p:nvSpPr>
        <p:spPr>
          <a:xfrm>
            <a:off x="5032995" y="5676900"/>
            <a:ext cx="38100" cy="800100"/>
          </a:xfrm>
          <a:custGeom>
            <a:avLst/>
            <a:gdLst/>
            <a:ahLst/>
            <a:cxnLst/>
            <a:rect l="l" t="t" r="r" b="b"/>
            <a:pathLst>
              <a:path w="38100" h="800100">
                <a:moveTo>
                  <a:pt x="38100" y="0"/>
                </a:moveTo>
                <a:lnTo>
                  <a:pt x="38100" y="0"/>
                </a:lnTo>
                <a:lnTo>
                  <a:pt x="38100" y="800100"/>
                </a:lnTo>
                <a:lnTo>
                  <a:pt x="38100" y="800100"/>
                </a:lnTo>
                <a:cubicBezTo>
                  <a:pt x="17072" y="800100"/>
                  <a:pt x="0" y="783028"/>
                  <a:pt x="0" y="7620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36" name="Shape 34"/>
          <p:cNvSpPr/>
          <p:nvPr/>
        </p:nvSpPr>
        <p:spPr>
          <a:xfrm>
            <a:off x="5204445" y="5876925"/>
            <a:ext cx="190500" cy="152400"/>
          </a:xfrm>
          <a:custGeom>
            <a:avLst/>
            <a:gdLst/>
            <a:ahLst/>
            <a:cxnLst/>
            <a:rect l="l" t="t" r="r" b="b"/>
            <a:pathLst>
              <a:path w="190500" h="152400">
                <a:moveTo>
                  <a:pt x="114300" y="9525"/>
                </a:moveTo>
                <a:lnTo>
                  <a:pt x="152400" y="9525"/>
                </a:lnTo>
                <a:cubicBezTo>
                  <a:pt x="157669" y="9525"/>
                  <a:pt x="161925" y="13781"/>
                  <a:pt x="161925" y="19050"/>
                </a:cubicBezTo>
                <a:cubicBezTo>
                  <a:pt x="161925" y="24319"/>
                  <a:pt x="157669" y="28575"/>
                  <a:pt x="152400" y="28575"/>
                </a:cubicBezTo>
                <a:lnTo>
                  <a:pt x="118586" y="28575"/>
                </a:lnTo>
                <a:cubicBezTo>
                  <a:pt x="117038" y="36255"/>
                  <a:pt x="111770" y="42595"/>
                  <a:pt x="104775" y="45631"/>
                </a:cubicBezTo>
                <a:lnTo>
                  <a:pt x="104775" y="133350"/>
                </a:lnTo>
                <a:lnTo>
                  <a:pt x="152400" y="133350"/>
                </a:lnTo>
                <a:cubicBezTo>
                  <a:pt x="157669" y="133350"/>
                  <a:pt x="161925" y="137606"/>
                  <a:pt x="161925" y="142875"/>
                </a:cubicBezTo>
                <a:cubicBezTo>
                  <a:pt x="161925" y="148144"/>
                  <a:pt x="157669" y="152400"/>
                  <a:pt x="152400" y="152400"/>
                </a:cubicBezTo>
                <a:lnTo>
                  <a:pt x="38100" y="152400"/>
                </a:lnTo>
                <a:cubicBezTo>
                  <a:pt x="32831" y="152400"/>
                  <a:pt x="28575" y="148144"/>
                  <a:pt x="28575" y="142875"/>
                </a:cubicBezTo>
                <a:cubicBezTo>
                  <a:pt x="28575" y="137606"/>
                  <a:pt x="32831" y="133350"/>
                  <a:pt x="38100" y="133350"/>
                </a:cubicBezTo>
                <a:lnTo>
                  <a:pt x="85725" y="133350"/>
                </a:lnTo>
                <a:lnTo>
                  <a:pt x="85725" y="45631"/>
                </a:lnTo>
                <a:cubicBezTo>
                  <a:pt x="78730" y="42565"/>
                  <a:pt x="73462" y="36225"/>
                  <a:pt x="71914" y="28575"/>
                </a:cubicBezTo>
                <a:lnTo>
                  <a:pt x="38100" y="28575"/>
                </a:lnTo>
                <a:cubicBezTo>
                  <a:pt x="32831" y="28575"/>
                  <a:pt x="28575" y="24319"/>
                  <a:pt x="28575" y="19050"/>
                </a:cubicBezTo>
                <a:cubicBezTo>
                  <a:pt x="28575" y="13781"/>
                  <a:pt x="32831" y="9525"/>
                  <a:pt x="38100" y="9525"/>
                </a:cubicBezTo>
                <a:lnTo>
                  <a:pt x="76200" y="9525"/>
                </a:lnTo>
                <a:cubicBezTo>
                  <a:pt x="80546" y="3750"/>
                  <a:pt x="87451" y="0"/>
                  <a:pt x="95250" y="0"/>
                </a:cubicBezTo>
                <a:cubicBezTo>
                  <a:pt x="103049" y="0"/>
                  <a:pt x="109954" y="3750"/>
                  <a:pt x="114300" y="9525"/>
                </a:cubicBezTo>
                <a:close/>
                <a:moveTo>
                  <a:pt x="130850" y="95250"/>
                </a:moveTo>
                <a:lnTo>
                  <a:pt x="173950" y="95250"/>
                </a:lnTo>
                <a:lnTo>
                  <a:pt x="152400" y="58281"/>
                </a:lnTo>
                <a:lnTo>
                  <a:pt x="130850" y="95250"/>
                </a:lnTo>
                <a:close/>
                <a:moveTo>
                  <a:pt x="152400" y="123825"/>
                </a:moveTo>
                <a:cubicBezTo>
                  <a:pt x="133677" y="123825"/>
                  <a:pt x="118110" y="113705"/>
                  <a:pt x="114895" y="100340"/>
                </a:cubicBezTo>
                <a:cubicBezTo>
                  <a:pt x="114121" y="97066"/>
                  <a:pt x="115193" y="93702"/>
                  <a:pt x="116890" y="90785"/>
                </a:cubicBezTo>
                <a:lnTo>
                  <a:pt x="145226" y="42208"/>
                </a:lnTo>
                <a:cubicBezTo>
                  <a:pt x="146715" y="39648"/>
                  <a:pt x="149453" y="38100"/>
                  <a:pt x="152400" y="38100"/>
                </a:cubicBezTo>
                <a:cubicBezTo>
                  <a:pt x="155347" y="38100"/>
                  <a:pt x="158085" y="39678"/>
                  <a:pt x="159574" y="42208"/>
                </a:cubicBezTo>
                <a:lnTo>
                  <a:pt x="187910" y="90785"/>
                </a:lnTo>
                <a:cubicBezTo>
                  <a:pt x="189607" y="93702"/>
                  <a:pt x="190679" y="97066"/>
                  <a:pt x="189905" y="100340"/>
                </a:cubicBezTo>
                <a:cubicBezTo>
                  <a:pt x="186690" y="113675"/>
                  <a:pt x="171123" y="123825"/>
                  <a:pt x="152400" y="123825"/>
                </a:cubicBezTo>
                <a:close/>
                <a:moveTo>
                  <a:pt x="37743" y="58281"/>
                </a:moveTo>
                <a:lnTo>
                  <a:pt x="16193" y="95250"/>
                </a:lnTo>
                <a:lnTo>
                  <a:pt x="59323" y="95250"/>
                </a:lnTo>
                <a:lnTo>
                  <a:pt x="37743" y="58281"/>
                </a:lnTo>
                <a:close/>
                <a:moveTo>
                  <a:pt x="268" y="100340"/>
                </a:moveTo>
                <a:cubicBezTo>
                  <a:pt x="-506" y="97066"/>
                  <a:pt x="566" y="93702"/>
                  <a:pt x="2262" y="90785"/>
                </a:cubicBezTo>
                <a:lnTo>
                  <a:pt x="30599" y="42208"/>
                </a:lnTo>
                <a:cubicBezTo>
                  <a:pt x="32087" y="39648"/>
                  <a:pt x="34826" y="38100"/>
                  <a:pt x="37773" y="38100"/>
                </a:cubicBezTo>
                <a:cubicBezTo>
                  <a:pt x="40719" y="38100"/>
                  <a:pt x="43458" y="39678"/>
                  <a:pt x="44946" y="42208"/>
                </a:cubicBezTo>
                <a:lnTo>
                  <a:pt x="73283" y="90785"/>
                </a:lnTo>
                <a:cubicBezTo>
                  <a:pt x="74980" y="93702"/>
                  <a:pt x="76051" y="97066"/>
                  <a:pt x="75277" y="100340"/>
                </a:cubicBezTo>
                <a:cubicBezTo>
                  <a:pt x="72063" y="113675"/>
                  <a:pt x="56495" y="123825"/>
                  <a:pt x="37773" y="123825"/>
                </a:cubicBezTo>
                <a:cubicBezTo>
                  <a:pt x="19050" y="123825"/>
                  <a:pt x="3483" y="113705"/>
                  <a:pt x="268" y="100340"/>
                </a:cubicBezTo>
                <a:close/>
              </a:path>
            </a:pathLst>
          </a:custGeom>
          <a:solidFill>
            <a:srgbClr val="C9A86A"/>
          </a:solidFill>
          <a:ln/>
        </p:spPr>
        <p:txBody>
          <a:bodyPr/>
          <a:lstStyle/>
          <a:p>
            <a:endParaRPr lang="zh-CN" altLang="en-US"/>
          </a:p>
        </p:txBody>
      </p:sp>
      <p:sp>
        <p:nvSpPr>
          <p:cNvPr id="37" name="Text 35"/>
          <p:cNvSpPr/>
          <p:nvPr/>
        </p:nvSpPr>
        <p:spPr>
          <a:xfrm>
            <a:off x="5452095" y="5829300"/>
            <a:ext cx="6286500" cy="495300"/>
          </a:xfrm>
          <a:prstGeom prst="rect">
            <a:avLst/>
          </a:prstGeom>
          <a:noFill/>
          <a:ln/>
        </p:spPr>
        <p:txBody>
          <a:bodyPr wrap="square" lIns="0" tIns="0" rIns="0" bIns="0" rtlCol="0" anchor="ctr"/>
          <a:lstStyle/>
          <a:p>
            <a:pPr>
              <a:lnSpc>
                <a:spcPct val="140000"/>
              </a:lnSpc>
            </a:pPr>
            <a:r>
              <a:rPr lang="en-US" sz="1200" b="1" dirty="0">
                <a:solidFill>
                  <a:srgbClr val="E0E2E5"/>
                </a:solidFill>
                <a:latin typeface="Noto Sans SC" pitchFamily="34" charset="0"/>
                <a:ea typeface="Noto Sans SC" pitchFamily="34" charset="-122"/>
                <a:cs typeface="Noto Sans SC" pitchFamily="34" charset="-120"/>
              </a:rPr>
              <a:t>核心结论：</a:t>
            </a:r>
            <a:r>
              <a:rPr lang="en-US" sz="1200" dirty="0">
                <a:solidFill>
                  <a:srgbClr val="E0E2E5"/>
                </a:solidFill>
                <a:latin typeface="Noto Sans SC" pitchFamily="34" charset="0"/>
                <a:ea typeface="Noto Sans SC" pitchFamily="34" charset="-122"/>
                <a:cs typeface="Noto Sans SC" pitchFamily="34" charset="-120"/>
              </a:rPr>
              <a:t>不存在普适的最优方案，唯有基于具体任务的准确度要求和硬件条件，在三者间寻求动态权衡。</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79813" y="379813"/>
            <a:ext cx="11508336" cy="227888"/>
          </a:xfrm>
          <a:prstGeom prst="rect">
            <a:avLst/>
          </a:prstGeom>
          <a:noFill/>
          <a:ln/>
        </p:spPr>
        <p:txBody>
          <a:bodyPr wrap="square" lIns="0" tIns="0" rIns="0" bIns="0" rtlCol="0" anchor="ctr"/>
          <a:lstStyle/>
          <a:p>
            <a:pPr>
              <a:lnSpc>
                <a:spcPct val="130000"/>
              </a:lnSpc>
            </a:pPr>
            <a:r>
              <a:rPr lang="en-US" sz="1196" b="1" kern="0" spc="120" dirty="0">
                <a:solidFill>
                  <a:srgbClr val="3D8B75"/>
                </a:solidFill>
                <a:latin typeface="MiSans" pitchFamily="34" charset="0"/>
                <a:ea typeface="MiSans" pitchFamily="34" charset="-122"/>
                <a:cs typeface="MiSans" pitchFamily="34" charset="-120"/>
              </a:rPr>
              <a:t>REDUNDANCY MODEL</a:t>
            </a:r>
            <a:endParaRPr lang="en-US" sz="1600" dirty="0"/>
          </a:p>
        </p:txBody>
      </p:sp>
      <p:sp>
        <p:nvSpPr>
          <p:cNvPr id="3" name="Text 1"/>
          <p:cNvSpPr/>
          <p:nvPr/>
        </p:nvSpPr>
        <p:spPr>
          <a:xfrm>
            <a:off x="379813" y="683664"/>
            <a:ext cx="11603290" cy="379813"/>
          </a:xfrm>
          <a:prstGeom prst="rect">
            <a:avLst/>
          </a:prstGeom>
          <a:noFill/>
          <a:ln/>
        </p:spPr>
        <p:txBody>
          <a:bodyPr wrap="square" lIns="0" tIns="0" rIns="0" bIns="0" rtlCol="0" anchor="ctr"/>
          <a:lstStyle/>
          <a:p>
            <a:pPr>
              <a:lnSpc>
                <a:spcPct val="90000"/>
              </a:lnSpc>
            </a:pPr>
            <a:r>
              <a:rPr lang="en-US" sz="2692" b="1" dirty="0">
                <a:solidFill>
                  <a:srgbClr val="E0E2E5"/>
                </a:solidFill>
                <a:latin typeface="Noto Sans SC" pitchFamily="34" charset="0"/>
                <a:ea typeface="Noto Sans SC" pitchFamily="34" charset="-122"/>
                <a:cs typeface="Noto Sans SC" pitchFamily="34" charset="-120"/>
              </a:rPr>
              <a:t>四维冗余模型：压缩的理论基础</a:t>
            </a:r>
            <a:endParaRPr lang="en-US" sz="1600" dirty="0"/>
          </a:p>
        </p:txBody>
      </p:sp>
      <p:sp>
        <p:nvSpPr>
          <p:cNvPr id="4" name="Shape 2"/>
          <p:cNvSpPr/>
          <p:nvPr/>
        </p:nvSpPr>
        <p:spPr>
          <a:xfrm>
            <a:off x="379813" y="1177421"/>
            <a:ext cx="911551" cy="37981"/>
          </a:xfrm>
          <a:custGeom>
            <a:avLst/>
            <a:gdLst/>
            <a:ahLst/>
            <a:cxnLst/>
            <a:rect l="l" t="t" r="r" b="b"/>
            <a:pathLst>
              <a:path w="911551" h="37981">
                <a:moveTo>
                  <a:pt x="0" y="0"/>
                </a:moveTo>
                <a:lnTo>
                  <a:pt x="911551" y="0"/>
                </a:lnTo>
                <a:lnTo>
                  <a:pt x="911551" y="37981"/>
                </a:lnTo>
                <a:lnTo>
                  <a:pt x="0" y="37981"/>
                </a:lnTo>
                <a:lnTo>
                  <a:pt x="0" y="0"/>
                </a:lnTo>
                <a:close/>
              </a:path>
            </a:pathLst>
          </a:custGeom>
          <a:solidFill>
            <a:srgbClr val="C9A86A"/>
          </a:solidFill>
          <a:ln/>
        </p:spPr>
        <p:txBody>
          <a:bodyPr/>
          <a:lstStyle/>
          <a:p>
            <a:endParaRPr lang="zh-CN" altLang="en-US"/>
          </a:p>
        </p:txBody>
      </p:sp>
      <p:sp>
        <p:nvSpPr>
          <p:cNvPr id="5" name="Shape 3"/>
          <p:cNvSpPr/>
          <p:nvPr/>
        </p:nvSpPr>
        <p:spPr>
          <a:xfrm>
            <a:off x="398804" y="1367327"/>
            <a:ext cx="5621234" cy="2316860"/>
          </a:xfrm>
          <a:custGeom>
            <a:avLst/>
            <a:gdLst/>
            <a:ahLst/>
            <a:cxnLst/>
            <a:rect l="l" t="t" r="r" b="b"/>
            <a:pathLst>
              <a:path w="5621234" h="2316860">
                <a:moveTo>
                  <a:pt x="37981" y="0"/>
                </a:moveTo>
                <a:lnTo>
                  <a:pt x="5545264" y="0"/>
                </a:lnTo>
                <a:cubicBezTo>
                  <a:pt x="5587221" y="0"/>
                  <a:pt x="5621234" y="34013"/>
                  <a:pt x="5621234" y="75970"/>
                </a:cubicBezTo>
                <a:lnTo>
                  <a:pt x="5621234" y="2240890"/>
                </a:lnTo>
                <a:cubicBezTo>
                  <a:pt x="5621234" y="2282847"/>
                  <a:pt x="5587221" y="2316860"/>
                  <a:pt x="5545264" y="2316860"/>
                </a:cubicBezTo>
                <a:lnTo>
                  <a:pt x="37981" y="2316860"/>
                </a:lnTo>
                <a:cubicBezTo>
                  <a:pt x="17005" y="2316860"/>
                  <a:pt x="0" y="2299855"/>
                  <a:pt x="0" y="2278879"/>
                </a:cubicBezTo>
                <a:lnTo>
                  <a:pt x="0" y="37981"/>
                </a:lnTo>
                <a:cubicBezTo>
                  <a:pt x="0" y="17019"/>
                  <a:pt x="17019" y="0"/>
                  <a:pt x="37981" y="0"/>
                </a:cubicBezTo>
                <a:close/>
              </a:path>
            </a:pathLst>
          </a:custGeom>
          <a:solidFill>
            <a:srgbClr val="3D8B75">
              <a:alpha val="10196"/>
            </a:srgbClr>
          </a:solidFill>
          <a:ln/>
        </p:spPr>
        <p:txBody>
          <a:bodyPr/>
          <a:lstStyle/>
          <a:p>
            <a:endParaRPr lang="zh-CN" altLang="en-US"/>
          </a:p>
        </p:txBody>
      </p:sp>
      <p:sp>
        <p:nvSpPr>
          <p:cNvPr id="6" name="Shape 4"/>
          <p:cNvSpPr/>
          <p:nvPr/>
        </p:nvSpPr>
        <p:spPr>
          <a:xfrm>
            <a:off x="398804" y="1367327"/>
            <a:ext cx="37981" cy="2316860"/>
          </a:xfrm>
          <a:custGeom>
            <a:avLst/>
            <a:gdLst/>
            <a:ahLst/>
            <a:cxnLst/>
            <a:rect l="l" t="t" r="r" b="b"/>
            <a:pathLst>
              <a:path w="37981" h="2316860">
                <a:moveTo>
                  <a:pt x="37981" y="0"/>
                </a:moveTo>
                <a:lnTo>
                  <a:pt x="37981" y="0"/>
                </a:lnTo>
                <a:lnTo>
                  <a:pt x="37981" y="2316860"/>
                </a:lnTo>
                <a:lnTo>
                  <a:pt x="37981" y="2316860"/>
                </a:lnTo>
                <a:cubicBezTo>
                  <a:pt x="17005" y="2316860"/>
                  <a:pt x="0" y="2299855"/>
                  <a:pt x="0" y="2278879"/>
                </a:cubicBezTo>
                <a:lnTo>
                  <a:pt x="0" y="37981"/>
                </a:lnTo>
                <a:cubicBezTo>
                  <a:pt x="0" y="17019"/>
                  <a:pt x="17019" y="0"/>
                  <a:pt x="37981" y="0"/>
                </a:cubicBezTo>
                <a:close/>
              </a:path>
            </a:pathLst>
          </a:custGeom>
          <a:solidFill>
            <a:srgbClr val="3D8B75"/>
          </a:solidFill>
          <a:ln/>
        </p:spPr>
        <p:txBody>
          <a:bodyPr/>
          <a:lstStyle/>
          <a:p>
            <a:endParaRPr lang="zh-CN" altLang="en-US"/>
          </a:p>
        </p:txBody>
      </p:sp>
      <p:sp>
        <p:nvSpPr>
          <p:cNvPr id="7" name="Shape 5"/>
          <p:cNvSpPr/>
          <p:nvPr/>
        </p:nvSpPr>
        <p:spPr>
          <a:xfrm>
            <a:off x="607701" y="1557234"/>
            <a:ext cx="531738" cy="531738"/>
          </a:xfrm>
          <a:custGeom>
            <a:avLst/>
            <a:gdLst/>
            <a:ahLst/>
            <a:cxnLst/>
            <a:rect l="l" t="t" r="r" b="b"/>
            <a:pathLst>
              <a:path w="531738" h="531738">
                <a:moveTo>
                  <a:pt x="75964" y="0"/>
                </a:moveTo>
                <a:lnTo>
                  <a:pt x="455774" y="0"/>
                </a:lnTo>
                <a:cubicBezTo>
                  <a:pt x="497700" y="0"/>
                  <a:pt x="531738" y="34038"/>
                  <a:pt x="531738" y="75964"/>
                </a:cubicBezTo>
                <a:lnTo>
                  <a:pt x="531738" y="455774"/>
                </a:lnTo>
                <a:cubicBezTo>
                  <a:pt x="531738" y="497728"/>
                  <a:pt x="497728" y="531738"/>
                  <a:pt x="455774" y="531738"/>
                </a:cubicBezTo>
                <a:lnTo>
                  <a:pt x="75964" y="531738"/>
                </a:lnTo>
                <a:cubicBezTo>
                  <a:pt x="34038" y="531738"/>
                  <a:pt x="0" y="497700"/>
                  <a:pt x="0" y="455774"/>
                </a:cubicBezTo>
                <a:lnTo>
                  <a:pt x="0" y="75964"/>
                </a:lnTo>
                <a:cubicBezTo>
                  <a:pt x="0" y="34038"/>
                  <a:pt x="34038" y="0"/>
                  <a:pt x="75964" y="0"/>
                </a:cubicBezTo>
                <a:close/>
              </a:path>
            </a:pathLst>
          </a:custGeom>
          <a:solidFill>
            <a:srgbClr val="3D8B75"/>
          </a:solidFill>
          <a:ln/>
        </p:spPr>
        <p:txBody>
          <a:bodyPr/>
          <a:lstStyle/>
          <a:p>
            <a:endParaRPr lang="zh-CN" altLang="en-US"/>
          </a:p>
        </p:txBody>
      </p:sp>
      <p:sp>
        <p:nvSpPr>
          <p:cNvPr id="8" name="Text 6"/>
          <p:cNvSpPr/>
          <p:nvPr/>
        </p:nvSpPr>
        <p:spPr>
          <a:xfrm>
            <a:off x="758439" y="1671178"/>
            <a:ext cx="341832" cy="303850"/>
          </a:xfrm>
          <a:prstGeom prst="rect">
            <a:avLst/>
          </a:prstGeom>
          <a:noFill/>
          <a:ln/>
        </p:spPr>
        <p:txBody>
          <a:bodyPr wrap="square" lIns="0" tIns="0" rIns="0" bIns="0" rtlCol="0" anchor="ctr"/>
          <a:lstStyle/>
          <a:p>
            <a:pPr>
              <a:lnSpc>
                <a:spcPct val="110000"/>
              </a:lnSpc>
            </a:pPr>
            <a:r>
              <a:rPr lang="en-US" sz="1794" b="1" dirty="0">
                <a:solidFill>
                  <a:srgbClr val="FFFFFF"/>
                </a:solidFill>
                <a:latin typeface="Noto Sans SC" pitchFamily="34" charset="0"/>
                <a:ea typeface="Noto Sans SC" pitchFamily="34" charset="-122"/>
                <a:cs typeface="Noto Sans SC" pitchFamily="34" charset="-120"/>
              </a:rPr>
              <a:t>01</a:t>
            </a:r>
            <a:endParaRPr lang="en-US" sz="1600" dirty="0"/>
          </a:p>
        </p:txBody>
      </p:sp>
      <p:sp>
        <p:nvSpPr>
          <p:cNvPr id="9" name="Text 7"/>
          <p:cNvSpPr/>
          <p:nvPr/>
        </p:nvSpPr>
        <p:spPr>
          <a:xfrm>
            <a:off x="1253383" y="1671178"/>
            <a:ext cx="1538243" cy="303850"/>
          </a:xfrm>
          <a:prstGeom prst="rect">
            <a:avLst/>
          </a:prstGeom>
          <a:noFill/>
          <a:ln/>
        </p:spPr>
        <p:txBody>
          <a:bodyPr wrap="square" lIns="0" tIns="0" rIns="0" bIns="0" rtlCol="0" anchor="ctr"/>
          <a:lstStyle/>
          <a:p>
            <a:pPr>
              <a:lnSpc>
                <a:spcPct val="110000"/>
              </a:lnSpc>
            </a:pPr>
            <a:r>
              <a:rPr lang="en-US" sz="1794" b="1" dirty="0">
                <a:solidFill>
                  <a:srgbClr val="E0E2E5"/>
                </a:solidFill>
                <a:latin typeface="Noto Sans SC" pitchFamily="34" charset="0"/>
                <a:ea typeface="Noto Sans SC" pitchFamily="34" charset="-122"/>
                <a:cs typeface="Noto Sans SC" pitchFamily="34" charset="-120"/>
              </a:rPr>
              <a:t>Token 维冗余</a:t>
            </a:r>
            <a:endParaRPr lang="en-US" sz="1600" dirty="0"/>
          </a:p>
        </p:txBody>
      </p:sp>
      <p:sp>
        <p:nvSpPr>
          <p:cNvPr id="10" name="Text 8"/>
          <p:cNvSpPr/>
          <p:nvPr/>
        </p:nvSpPr>
        <p:spPr>
          <a:xfrm>
            <a:off x="607701" y="2240897"/>
            <a:ext cx="5298393" cy="493757"/>
          </a:xfrm>
          <a:prstGeom prst="rect">
            <a:avLst/>
          </a:prstGeom>
          <a:noFill/>
          <a:ln/>
        </p:spPr>
        <p:txBody>
          <a:bodyPr wrap="square" lIns="0" tIns="0" rIns="0" bIns="0" rtlCol="0" anchor="ctr"/>
          <a:lstStyle/>
          <a:p>
            <a:pPr>
              <a:lnSpc>
                <a:spcPct val="140000"/>
              </a:lnSpc>
            </a:pPr>
            <a:r>
              <a:rPr lang="en-US" sz="1196" dirty="0">
                <a:solidFill>
                  <a:srgbClr val="E0E2E5">
                    <a:alpha val="80000"/>
                  </a:srgbClr>
                </a:solidFill>
                <a:latin typeface="Noto Sans SC" pitchFamily="34" charset="0"/>
                <a:ea typeface="Noto Sans SC" pitchFamily="34" charset="-122"/>
                <a:cs typeface="Noto Sans SC" pitchFamily="34" charset="-120"/>
              </a:rPr>
              <a:t>并非所有 token 对未来生成同等重要，</a:t>
            </a:r>
            <a:r>
              <a:rPr lang="en-US" sz="1196" dirty="0">
                <a:solidFill>
                  <a:srgbClr val="3D8B75"/>
                </a:solidFill>
                <a:highlight>
                  <a:srgbClr val="3D8B75">
                    <a:alpha val="20000"/>
                  </a:srgbClr>
                </a:highlight>
                <a:latin typeface="Noto Sans SC" pitchFamily="34" charset="0"/>
                <a:ea typeface="Noto Sans SC" pitchFamily="34" charset="-122"/>
                <a:cs typeface="Noto Sans SC" pitchFamily="34" charset="-120"/>
              </a:rPr>
              <a:t> 许多中间 token 可以安全删除 </a:t>
            </a:r>
            <a:r>
              <a:rPr lang="en-US" sz="1196" dirty="0">
                <a:solidFill>
                  <a:srgbClr val="E0E2E5">
                    <a:alpha val="80000"/>
                  </a:srgbClr>
                </a:solidFill>
                <a:latin typeface="Noto Sans SC" pitchFamily="34" charset="0"/>
                <a:ea typeface="Noto Sans SC" pitchFamily="34" charset="-122"/>
                <a:cs typeface="Noto Sans SC" pitchFamily="34" charset="-120"/>
              </a:rPr>
              <a:t>。SnapKV、H2O 等研究的观察表明，注意力机制天然具有稀疏性。</a:t>
            </a:r>
            <a:endParaRPr lang="en-US" sz="1600" dirty="0"/>
          </a:p>
        </p:txBody>
      </p:sp>
      <p:sp>
        <p:nvSpPr>
          <p:cNvPr id="11" name="Shape 9"/>
          <p:cNvSpPr/>
          <p:nvPr/>
        </p:nvSpPr>
        <p:spPr>
          <a:xfrm>
            <a:off x="607701" y="2848598"/>
            <a:ext cx="5222430" cy="645682"/>
          </a:xfrm>
          <a:custGeom>
            <a:avLst/>
            <a:gdLst/>
            <a:ahLst/>
            <a:cxnLst/>
            <a:rect l="l" t="t" r="r" b="b"/>
            <a:pathLst>
              <a:path w="5222430" h="645682">
                <a:moveTo>
                  <a:pt x="75965" y="0"/>
                </a:moveTo>
                <a:lnTo>
                  <a:pt x="5146465" y="0"/>
                </a:lnTo>
                <a:cubicBezTo>
                  <a:pt x="5188419" y="0"/>
                  <a:pt x="5222430" y="34010"/>
                  <a:pt x="5222430" y="75965"/>
                </a:cubicBezTo>
                <a:lnTo>
                  <a:pt x="5222430" y="569718"/>
                </a:lnTo>
                <a:cubicBezTo>
                  <a:pt x="5222430" y="611672"/>
                  <a:pt x="5188419" y="645682"/>
                  <a:pt x="5146465" y="645682"/>
                </a:cubicBezTo>
                <a:lnTo>
                  <a:pt x="75965" y="645682"/>
                </a:lnTo>
                <a:cubicBezTo>
                  <a:pt x="34010" y="645682"/>
                  <a:pt x="0" y="611672"/>
                  <a:pt x="0" y="569718"/>
                </a:cubicBezTo>
                <a:lnTo>
                  <a:pt x="0" y="75965"/>
                </a:lnTo>
                <a:cubicBezTo>
                  <a:pt x="0" y="34039"/>
                  <a:pt x="34039" y="0"/>
                  <a:pt x="75965" y="0"/>
                </a:cubicBezTo>
                <a:close/>
              </a:path>
            </a:pathLst>
          </a:custGeom>
          <a:solidFill>
            <a:srgbClr val="1A1D21">
              <a:alpha val="50196"/>
            </a:srgbClr>
          </a:solidFill>
          <a:ln/>
        </p:spPr>
        <p:txBody>
          <a:bodyPr/>
          <a:lstStyle/>
          <a:p>
            <a:endParaRPr lang="zh-CN" altLang="en-US"/>
          </a:p>
        </p:txBody>
      </p:sp>
      <p:sp>
        <p:nvSpPr>
          <p:cNvPr id="12" name="Text 10"/>
          <p:cNvSpPr/>
          <p:nvPr/>
        </p:nvSpPr>
        <p:spPr>
          <a:xfrm>
            <a:off x="721645" y="2962542"/>
            <a:ext cx="5061009" cy="189907"/>
          </a:xfrm>
          <a:prstGeom prst="rect">
            <a:avLst/>
          </a:prstGeom>
          <a:noFill/>
          <a:ln/>
        </p:spPr>
        <p:txBody>
          <a:bodyPr wrap="square" lIns="0" tIns="0" rIns="0" bIns="0" rtlCol="0" anchor="ctr"/>
          <a:lstStyle/>
          <a:p>
            <a:pPr>
              <a:lnSpc>
                <a:spcPct val="120000"/>
              </a:lnSpc>
            </a:pPr>
            <a:r>
              <a:rPr lang="en-US" sz="1047" b="1" dirty="0">
                <a:solidFill>
                  <a:srgbClr val="3D8B75"/>
                </a:solidFill>
                <a:latin typeface="Noto Sans SC" pitchFamily="34" charset="0"/>
                <a:ea typeface="Noto Sans SC" pitchFamily="34" charset="-122"/>
                <a:cs typeface="Noto Sans SC" pitchFamily="34" charset="-120"/>
              </a:rPr>
              <a:t>压缩策略</a:t>
            </a:r>
            <a:endParaRPr lang="en-US" sz="1600" dirty="0"/>
          </a:p>
        </p:txBody>
      </p:sp>
      <p:sp>
        <p:nvSpPr>
          <p:cNvPr id="13" name="Text 11"/>
          <p:cNvSpPr/>
          <p:nvPr/>
        </p:nvSpPr>
        <p:spPr>
          <a:xfrm>
            <a:off x="721645" y="3190430"/>
            <a:ext cx="5061009" cy="189907"/>
          </a:xfrm>
          <a:prstGeom prst="rect">
            <a:avLst/>
          </a:prstGeom>
          <a:noFill/>
          <a:ln/>
        </p:spPr>
        <p:txBody>
          <a:bodyPr wrap="square" lIns="0" tIns="0" rIns="0" bIns="0" rtlCol="0" anchor="ctr"/>
          <a:lstStyle/>
          <a:p>
            <a:pPr>
              <a:lnSpc>
                <a:spcPct val="120000"/>
              </a:lnSpc>
            </a:pPr>
            <a:r>
              <a:rPr lang="en-US" sz="1047" dirty="0">
                <a:solidFill>
                  <a:srgbClr val="E0E2E5">
                    <a:alpha val="70000"/>
                  </a:srgbClr>
                </a:solidFill>
                <a:latin typeface="Noto Sans SC" pitchFamily="34" charset="0"/>
                <a:ea typeface="Noto Sans SC" pitchFamily="34" charset="-122"/>
                <a:cs typeface="Noto Sans SC" pitchFamily="34" charset="-120"/>
              </a:rPr>
              <a:t>Pruning / Eviction</a:t>
            </a:r>
            <a:endParaRPr lang="en-US" sz="1600" dirty="0"/>
          </a:p>
        </p:txBody>
      </p:sp>
      <p:sp>
        <p:nvSpPr>
          <p:cNvPr id="14" name="Shape 12"/>
          <p:cNvSpPr/>
          <p:nvPr/>
        </p:nvSpPr>
        <p:spPr>
          <a:xfrm>
            <a:off x="6188802" y="1367327"/>
            <a:ext cx="5621234" cy="2316860"/>
          </a:xfrm>
          <a:custGeom>
            <a:avLst/>
            <a:gdLst/>
            <a:ahLst/>
            <a:cxnLst/>
            <a:rect l="l" t="t" r="r" b="b"/>
            <a:pathLst>
              <a:path w="5621234" h="2316860">
                <a:moveTo>
                  <a:pt x="37981" y="0"/>
                </a:moveTo>
                <a:lnTo>
                  <a:pt x="5545264" y="0"/>
                </a:lnTo>
                <a:cubicBezTo>
                  <a:pt x="5587221" y="0"/>
                  <a:pt x="5621234" y="34013"/>
                  <a:pt x="5621234" y="75970"/>
                </a:cubicBezTo>
                <a:lnTo>
                  <a:pt x="5621234" y="2240890"/>
                </a:lnTo>
                <a:cubicBezTo>
                  <a:pt x="5621234" y="2282847"/>
                  <a:pt x="5587221" y="2316860"/>
                  <a:pt x="5545264" y="2316860"/>
                </a:cubicBezTo>
                <a:lnTo>
                  <a:pt x="37981" y="2316860"/>
                </a:lnTo>
                <a:cubicBezTo>
                  <a:pt x="17005" y="2316860"/>
                  <a:pt x="0" y="2299855"/>
                  <a:pt x="0" y="2278879"/>
                </a:cubicBezTo>
                <a:lnTo>
                  <a:pt x="0" y="37981"/>
                </a:lnTo>
                <a:cubicBezTo>
                  <a:pt x="0" y="17019"/>
                  <a:pt x="17019" y="0"/>
                  <a:pt x="37981" y="0"/>
                </a:cubicBezTo>
                <a:close/>
              </a:path>
            </a:pathLst>
          </a:custGeom>
          <a:solidFill>
            <a:srgbClr val="C9A86A">
              <a:alpha val="10196"/>
            </a:srgbClr>
          </a:solidFill>
          <a:ln/>
        </p:spPr>
        <p:txBody>
          <a:bodyPr/>
          <a:lstStyle/>
          <a:p>
            <a:endParaRPr lang="zh-CN" altLang="en-US"/>
          </a:p>
        </p:txBody>
      </p:sp>
      <p:sp>
        <p:nvSpPr>
          <p:cNvPr id="15" name="Shape 13"/>
          <p:cNvSpPr/>
          <p:nvPr/>
        </p:nvSpPr>
        <p:spPr>
          <a:xfrm>
            <a:off x="6188802" y="1367327"/>
            <a:ext cx="37981" cy="2316860"/>
          </a:xfrm>
          <a:custGeom>
            <a:avLst/>
            <a:gdLst/>
            <a:ahLst/>
            <a:cxnLst/>
            <a:rect l="l" t="t" r="r" b="b"/>
            <a:pathLst>
              <a:path w="37981" h="2316860">
                <a:moveTo>
                  <a:pt x="37981" y="0"/>
                </a:moveTo>
                <a:lnTo>
                  <a:pt x="37981" y="0"/>
                </a:lnTo>
                <a:lnTo>
                  <a:pt x="37981" y="2316860"/>
                </a:lnTo>
                <a:lnTo>
                  <a:pt x="37981" y="2316860"/>
                </a:lnTo>
                <a:cubicBezTo>
                  <a:pt x="17005" y="2316860"/>
                  <a:pt x="0" y="2299855"/>
                  <a:pt x="0" y="2278879"/>
                </a:cubicBezTo>
                <a:lnTo>
                  <a:pt x="0" y="37981"/>
                </a:lnTo>
                <a:cubicBezTo>
                  <a:pt x="0" y="17019"/>
                  <a:pt x="17019" y="0"/>
                  <a:pt x="37981" y="0"/>
                </a:cubicBezTo>
                <a:close/>
              </a:path>
            </a:pathLst>
          </a:custGeom>
          <a:solidFill>
            <a:srgbClr val="C9A86A"/>
          </a:solidFill>
          <a:ln/>
        </p:spPr>
        <p:txBody>
          <a:bodyPr/>
          <a:lstStyle/>
          <a:p>
            <a:endParaRPr lang="zh-CN" altLang="en-US"/>
          </a:p>
        </p:txBody>
      </p:sp>
      <p:sp>
        <p:nvSpPr>
          <p:cNvPr id="16" name="Shape 14"/>
          <p:cNvSpPr/>
          <p:nvPr/>
        </p:nvSpPr>
        <p:spPr>
          <a:xfrm>
            <a:off x="6397699" y="1557234"/>
            <a:ext cx="531738" cy="531738"/>
          </a:xfrm>
          <a:custGeom>
            <a:avLst/>
            <a:gdLst/>
            <a:ahLst/>
            <a:cxnLst/>
            <a:rect l="l" t="t" r="r" b="b"/>
            <a:pathLst>
              <a:path w="531738" h="531738">
                <a:moveTo>
                  <a:pt x="75964" y="0"/>
                </a:moveTo>
                <a:lnTo>
                  <a:pt x="455774" y="0"/>
                </a:lnTo>
                <a:cubicBezTo>
                  <a:pt x="497700" y="0"/>
                  <a:pt x="531738" y="34038"/>
                  <a:pt x="531738" y="75964"/>
                </a:cubicBezTo>
                <a:lnTo>
                  <a:pt x="531738" y="455774"/>
                </a:lnTo>
                <a:cubicBezTo>
                  <a:pt x="531738" y="497728"/>
                  <a:pt x="497728" y="531738"/>
                  <a:pt x="455774" y="531738"/>
                </a:cubicBezTo>
                <a:lnTo>
                  <a:pt x="75964" y="531738"/>
                </a:lnTo>
                <a:cubicBezTo>
                  <a:pt x="34038" y="531738"/>
                  <a:pt x="0" y="497700"/>
                  <a:pt x="0" y="455774"/>
                </a:cubicBezTo>
                <a:lnTo>
                  <a:pt x="0" y="75964"/>
                </a:lnTo>
                <a:cubicBezTo>
                  <a:pt x="0" y="34038"/>
                  <a:pt x="34038" y="0"/>
                  <a:pt x="75964" y="0"/>
                </a:cubicBezTo>
                <a:close/>
              </a:path>
            </a:pathLst>
          </a:custGeom>
          <a:solidFill>
            <a:srgbClr val="C9A86A"/>
          </a:solidFill>
          <a:ln/>
        </p:spPr>
        <p:txBody>
          <a:bodyPr/>
          <a:lstStyle/>
          <a:p>
            <a:endParaRPr lang="zh-CN" altLang="en-US"/>
          </a:p>
        </p:txBody>
      </p:sp>
      <p:sp>
        <p:nvSpPr>
          <p:cNvPr id="17" name="Text 15"/>
          <p:cNvSpPr/>
          <p:nvPr/>
        </p:nvSpPr>
        <p:spPr>
          <a:xfrm>
            <a:off x="6526776" y="1671178"/>
            <a:ext cx="389308" cy="303850"/>
          </a:xfrm>
          <a:prstGeom prst="rect">
            <a:avLst/>
          </a:prstGeom>
          <a:noFill/>
          <a:ln/>
        </p:spPr>
        <p:txBody>
          <a:bodyPr wrap="square" lIns="0" tIns="0" rIns="0" bIns="0" rtlCol="0" anchor="ctr"/>
          <a:lstStyle/>
          <a:p>
            <a:pPr>
              <a:lnSpc>
                <a:spcPct val="110000"/>
              </a:lnSpc>
            </a:pPr>
            <a:r>
              <a:rPr lang="en-US" sz="1794" b="1" dirty="0">
                <a:solidFill>
                  <a:srgbClr val="FFFFFF"/>
                </a:solidFill>
                <a:latin typeface="Noto Sans SC" pitchFamily="34" charset="0"/>
                <a:ea typeface="Noto Sans SC" pitchFamily="34" charset="-122"/>
                <a:cs typeface="Noto Sans SC" pitchFamily="34" charset="-120"/>
              </a:rPr>
              <a:t>02</a:t>
            </a:r>
            <a:endParaRPr lang="en-US" sz="1600" dirty="0"/>
          </a:p>
        </p:txBody>
      </p:sp>
      <p:sp>
        <p:nvSpPr>
          <p:cNvPr id="18" name="Text 16"/>
          <p:cNvSpPr/>
          <p:nvPr/>
        </p:nvSpPr>
        <p:spPr>
          <a:xfrm>
            <a:off x="7043381" y="1671178"/>
            <a:ext cx="1253383" cy="303850"/>
          </a:xfrm>
          <a:prstGeom prst="rect">
            <a:avLst/>
          </a:prstGeom>
          <a:noFill/>
          <a:ln/>
        </p:spPr>
        <p:txBody>
          <a:bodyPr wrap="square" lIns="0" tIns="0" rIns="0" bIns="0" rtlCol="0" anchor="ctr"/>
          <a:lstStyle/>
          <a:p>
            <a:pPr>
              <a:lnSpc>
                <a:spcPct val="110000"/>
              </a:lnSpc>
            </a:pPr>
            <a:r>
              <a:rPr lang="en-US" sz="1794" b="1" dirty="0">
                <a:solidFill>
                  <a:srgbClr val="E0E2E5"/>
                </a:solidFill>
                <a:latin typeface="Noto Sans SC" pitchFamily="34" charset="0"/>
                <a:ea typeface="Noto Sans SC" pitchFamily="34" charset="-122"/>
                <a:cs typeface="Noto Sans SC" pitchFamily="34" charset="-120"/>
              </a:rPr>
              <a:t>特征维冗余</a:t>
            </a:r>
            <a:endParaRPr lang="en-US" sz="1600" dirty="0"/>
          </a:p>
        </p:txBody>
      </p:sp>
      <p:sp>
        <p:nvSpPr>
          <p:cNvPr id="19" name="Text 17"/>
          <p:cNvSpPr/>
          <p:nvPr/>
        </p:nvSpPr>
        <p:spPr>
          <a:xfrm>
            <a:off x="6397699" y="2240897"/>
            <a:ext cx="5298393" cy="493757"/>
          </a:xfrm>
          <a:prstGeom prst="rect">
            <a:avLst/>
          </a:prstGeom>
          <a:noFill/>
          <a:ln/>
        </p:spPr>
        <p:txBody>
          <a:bodyPr wrap="square" lIns="0" tIns="0" rIns="0" bIns="0" rtlCol="0" anchor="ctr"/>
          <a:lstStyle/>
          <a:p>
            <a:pPr>
              <a:lnSpc>
                <a:spcPct val="140000"/>
              </a:lnSpc>
            </a:pPr>
            <a:r>
              <a:rPr lang="en-US" sz="1196" dirty="0">
                <a:solidFill>
                  <a:srgbClr val="E0E2E5">
                    <a:alpha val="80000"/>
                  </a:srgbClr>
                </a:solidFill>
                <a:latin typeface="Noto Sans SC" pitchFamily="34" charset="0"/>
                <a:ea typeface="Noto Sans SC" pitchFamily="34" charset="-122"/>
                <a:cs typeface="Noto Sans SC" pitchFamily="34" charset="-120"/>
              </a:rPr>
              <a:t>隐层维度中存在大量</a:t>
            </a:r>
            <a:r>
              <a:rPr lang="en-US" sz="1196" dirty="0">
                <a:solidFill>
                  <a:srgbClr val="C9A86A"/>
                </a:solidFill>
                <a:highlight>
                  <a:srgbClr val="C9A86A">
                    <a:alpha val="20000"/>
                  </a:srgbClr>
                </a:highlight>
                <a:latin typeface="Noto Sans SC" pitchFamily="34" charset="0"/>
                <a:ea typeface="Noto Sans SC" pitchFamily="34" charset="-122"/>
                <a:cs typeface="Noto Sans SC" pitchFamily="34" charset="-120"/>
              </a:rPr>
              <a:t> 低秩结构和数值精度冗余 </a:t>
            </a:r>
            <a:r>
              <a:rPr lang="en-US" sz="1196" dirty="0">
                <a:solidFill>
                  <a:srgbClr val="E0E2E5">
                    <a:alpha val="80000"/>
                  </a:srgbClr>
                </a:solidFill>
                <a:latin typeface="Noto Sans SC" pitchFamily="34" charset="0"/>
                <a:ea typeface="Noto Sans SC" pitchFamily="34" charset="-122"/>
                <a:cs typeface="Noto Sans SC" pitchFamily="34" charset="-120"/>
              </a:rPr>
              <a:t>。KIVI、KQ-SVD 等工作的验证表明，高维向量可以用更紧凑的形式表示。</a:t>
            </a:r>
            <a:endParaRPr lang="en-US" sz="1600" dirty="0"/>
          </a:p>
        </p:txBody>
      </p:sp>
      <p:sp>
        <p:nvSpPr>
          <p:cNvPr id="20" name="Shape 18"/>
          <p:cNvSpPr/>
          <p:nvPr/>
        </p:nvSpPr>
        <p:spPr>
          <a:xfrm>
            <a:off x="6397699" y="2848598"/>
            <a:ext cx="5222430" cy="645682"/>
          </a:xfrm>
          <a:custGeom>
            <a:avLst/>
            <a:gdLst/>
            <a:ahLst/>
            <a:cxnLst/>
            <a:rect l="l" t="t" r="r" b="b"/>
            <a:pathLst>
              <a:path w="5222430" h="645682">
                <a:moveTo>
                  <a:pt x="75965" y="0"/>
                </a:moveTo>
                <a:lnTo>
                  <a:pt x="5146465" y="0"/>
                </a:lnTo>
                <a:cubicBezTo>
                  <a:pt x="5188419" y="0"/>
                  <a:pt x="5222430" y="34010"/>
                  <a:pt x="5222430" y="75965"/>
                </a:cubicBezTo>
                <a:lnTo>
                  <a:pt x="5222430" y="569718"/>
                </a:lnTo>
                <a:cubicBezTo>
                  <a:pt x="5222430" y="611672"/>
                  <a:pt x="5188419" y="645682"/>
                  <a:pt x="5146465" y="645682"/>
                </a:cubicBezTo>
                <a:lnTo>
                  <a:pt x="75965" y="645682"/>
                </a:lnTo>
                <a:cubicBezTo>
                  <a:pt x="34010" y="645682"/>
                  <a:pt x="0" y="611672"/>
                  <a:pt x="0" y="569718"/>
                </a:cubicBezTo>
                <a:lnTo>
                  <a:pt x="0" y="75965"/>
                </a:lnTo>
                <a:cubicBezTo>
                  <a:pt x="0" y="34039"/>
                  <a:pt x="34039" y="0"/>
                  <a:pt x="75965" y="0"/>
                </a:cubicBezTo>
                <a:close/>
              </a:path>
            </a:pathLst>
          </a:custGeom>
          <a:solidFill>
            <a:srgbClr val="1A1D21">
              <a:alpha val="50196"/>
            </a:srgbClr>
          </a:solidFill>
          <a:ln/>
        </p:spPr>
        <p:txBody>
          <a:bodyPr/>
          <a:lstStyle/>
          <a:p>
            <a:endParaRPr lang="zh-CN" altLang="en-US"/>
          </a:p>
        </p:txBody>
      </p:sp>
      <p:sp>
        <p:nvSpPr>
          <p:cNvPr id="21" name="Text 19"/>
          <p:cNvSpPr/>
          <p:nvPr/>
        </p:nvSpPr>
        <p:spPr>
          <a:xfrm>
            <a:off x="6511643" y="2962542"/>
            <a:ext cx="5061009" cy="189907"/>
          </a:xfrm>
          <a:prstGeom prst="rect">
            <a:avLst/>
          </a:prstGeom>
          <a:noFill/>
          <a:ln/>
        </p:spPr>
        <p:txBody>
          <a:bodyPr wrap="square" lIns="0" tIns="0" rIns="0" bIns="0" rtlCol="0" anchor="ctr"/>
          <a:lstStyle/>
          <a:p>
            <a:pPr>
              <a:lnSpc>
                <a:spcPct val="120000"/>
              </a:lnSpc>
            </a:pPr>
            <a:r>
              <a:rPr lang="en-US" sz="1047" b="1" dirty="0">
                <a:solidFill>
                  <a:srgbClr val="C9A86A"/>
                </a:solidFill>
                <a:latin typeface="Noto Sans SC" pitchFamily="34" charset="0"/>
                <a:ea typeface="Noto Sans SC" pitchFamily="34" charset="-122"/>
                <a:cs typeface="Noto Sans SC" pitchFamily="34" charset="-120"/>
              </a:rPr>
              <a:t>压缩策略</a:t>
            </a:r>
            <a:endParaRPr lang="en-US" sz="1600" dirty="0"/>
          </a:p>
        </p:txBody>
      </p:sp>
      <p:sp>
        <p:nvSpPr>
          <p:cNvPr id="22" name="Text 20"/>
          <p:cNvSpPr/>
          <p:nvPr/>
        </p:nvSpPr>
        <p:spPr>
          <a:xfrm>
            <a:off x="6511643" y="3190430"/>
            <a:ext cx="5061009" cy="189907"/>
          </a:xfrm>
          <a:prstGeom prst="rect">
            <a:avLst/>
          </a:prstGeom>
          <a:noFill/>
          <a:ln/>
        </p:spPr>
        <p:txBody>
          <a:bodyPr wrap="square" lIns="0" tIns="0" rIns="0" bIns="0" rtlCol="0" anchor="ctr"/>
          <a:lstStyle/>
          <a:p>
            <a:pPr>
              <a:lnSpc>
                <a:spcPct val="120000"/>
              </a:lnSpc>
            </a:pPr>
            <a:r>
              <a:rPr lang="en-US" sz="1047" dirty="0">
                <a:solidFill>
                  <a:srgbClr val="E0E2E5">
                    <a:alpha val="70000"/>
                  </a:srgbClr>
                </a:solidFill>
                <a:latin typeface="Noto Sans SC" pitchFamily="34" charset="0"/>
                <a:ea typeface="Noto Sans SC" pitchFamily="34" charset="-122"/>
                <a:cs typeface="Noto Sans SC" pitchFamily="34" charset="-120"/>
              </a:rPr>
              <a:t>Quantization / Low-rank</a:t>
            </a:r>
            <a:endParaRPr lang="en-US" sz="1600" dirty="0"/>
          </a:p>
        </p:txBody>
      </p:sp>
      <p:sp>
        <p:nvSpPr>
          <p:cNvPr id="23" name="Shape 21"/>
          <p:cNvSpPr/>
          <p:nvPr/>
        </p:nvSpPr>
        <p:spPr>
          <a:xfrm>
            <a:off x="398804" y="3836112"/>
            <a:ext cx="5621234" cy="2316860"/>
          </a:xfrm>
          <a:custGeom>
            <a:avLst/>
            <a:gdLst/>
            <a:ahLst/>
            <a:cxnLst/>
            <a:rect l="l" t="t" r="r" b="b"/>
            <a:pathLst>
              <a:path w="5621234" h="2316860">
                <a:moveTo>
                  <a:pt x="37981" y="0"/>
                </a:moveTo>
                <a:lnTo>
                  <a:pt x="5545264" y="0"/>
                </a:lnTo>
                <a:cubicBezTo>
                  <a:pt x="5587221" y="0"/>
                  <a:pt x="5621234" y="34013"/>
                  <a:pt x="5621234" y="75970"/>
                </a:cubicBezTo>
                <a:lnTo>
                  <a:pt x="5621234" y="2240890"/>
                </a:lnTo>
                <a:cubicBezTo>
                  <a:pt x="5621234" y="2282847"/>
                  <a:pt x="5587221" y="2316860"/>
                  <a:pt x="5545264" y="2316860"/>
                </a:cubicBezTo>
                <a:lnTo>
                  <a:pt x="37981" y="2316860"/>
                </a:lnTo>
                <a:cubicBezTo>
                  <a:pt x="17005" y="2316860"/>
                  <a:pt x="0" y="2299855"/>
                  <a:pt x="0" y="2278879"/>
                </a:cubicBezTo>
                <a:lnTo>
                  <a:pt x="0" y="37981"/>
                </a:lnTo>
                <a:cubicBezTo>
                  <a:pt x="0" y="17019"/>
                  <a:pt x="17019" y="0"/>
                  <a:pt x="37981" y="0"/>
                </a:cubicBezTo>
                <a:close/>
              </a:path>
            </a:pathLst>
          </a:custGeom>
          <a:solidFill>
            <a:srgbClr val="5F6B7A">
              <a:alpha val="10196"/>
            </a:srgbClr>
          </a:solidFill>
          <a:ln/>
        </p:spPr>
        <p:txBody>
          <a:bodyPr/>
          <a:lstStyle/>
          <a:p>
            <a:endParaRPr lang="zh-CN" altLang="en-US"/>
          </a:p>
        </p:txBody>
      </p:sp>
      <p:sp>
        <p:nvSpPr>
          <p:cNvPr id="24" name="Shape 22"/>
          <p:cNvSpPr/>
          <p:nvPr/>
        </p:nvSpPr>
        <p:spPr>
          <a:xfrm>
            <a:off x="398804" y="3836112"/>
            <a:ext cx="37981" cy="2316860"/>
          </a:xfrm>
          <a:custGeom>
            <a:avLst/>
            <a:gdLst/>
            <a:ahLst/>
            <a:cxnLst/>
            <a:rect l="l" t="t" r="r" b="b"/>
            <a:pathLst>
              <a:path w="37981" h="2316860">
                <a:moveTo>
                  <a:pt x="37981" y="0"/>
                </a:moveTo>
                <a:lnTo>
                  <a:pt x="37981" y="0"/>
                </a:lnTo>
                <a:lnTo>
                  <a:pt x="37981" y="2316860"/>
                </a:lnTo>
                <a:lnTo>
                  <a:pt x="37981" y="2316860"/>
                </a:lnTo>
                <a:cubicBezTo>
                  <a:pt x="17005" y="2316860"/>
                  <a:pt x="0" y="2299855"/>
                  <a:pt x="0" y="2278879"/>
                </a:cubicBezTo>
                <a:lnTo>
                  <a:pt x="0" y="37981"/>
                </a:lnTo>
                <a:cubicBezTo>
                  <a:pt x="0" y="17019"/>
                  <a:pt x="17019" y="0"/>
                  <a:pt x="37981" y="0"/>
                </a:cubicBezTo>
                <a:close/>
              </a:path>
            </a:pathLst>
          </a:custGeom>
          <a:solidFill>
            <a:srgbClr val="5F6B7A"/>
          </a:solidFill>
          <a:ln/>
        </p:spPr>
        <p:txBody>
          <a:bodyPr/>
          <a:lstStyle/>
          <a:p>
            <a:endParaRPr lang="zh-CN" altLang="en-US"/>
          </a:p>
        </p:txBody>
      </p:sp>
      <p:sp>
        <p:nvSpPr>
          <p:cNvPr id="25" name="Shape 23"/>
          <p:cNvSpPr/>
          <p:nvPr/>
        </p:nvSpPr>
        <p:spPr>
          <a:xfrm>
            <a:off x="607701" y="4026019"/>
            <a:ext cx="531738" cy="531738"/>
          </a:xfrm>
          <a:custGeom>
            <a:avLst/>
            <a:gdLst/>
            <a:ahLst/>
            <a:cxnLst/>
            <a:rect l="l" t="t" r="r" b="b"/>
            <a:pathLst>
              <a:path w="531738" h="531738">
                <a:moveTo>
                  <a:pt x="75964" y="0"/>
                </a:moveTo>
                <a:lnTo>
                  <a:pt x="455774" y="0"/>
                </a:lnTo>
                <a:cubicBezTo>
                  <a:pt x="497700" y="0"/>
                  <a:pt x="531738" y="34038"/>
                  <a:pt x="531738" y="75964"/>
                </a:cubicBezTo>
                <a:lnTo>
                  <a:pt x="531738" y="455774"/>
                </a:lnTo>
                <a:cubicBezTo>
                  <a:pt x="531738" y="497728"/>
                  <a:pt x="497728" y="531738"/>
                  <a:pt x="455774" y="531738"/>
                </a:cubicBezTo>
                <a:lnTo>
                  <a:pt x="75964" y="531738"/>
                </a:lnTo>
                <a:cubicBezTo>
                  <a:pt x="34038" y="531738"/>
                  <a:pt x="0" y="497700"/>
                  <a:pt x="0" y="455774"/>
                </a:cubicBezTo>
                <a:lnTo>
                  <a:pt x="0" y="75964"/>
                </a:lnTo>
                <a:cubicBezTo>
                  <a:pt x="0" y="34038"/>
                  <a:pt x="34038" y="0"/>
                  <a:pt x="75964" y="0"/>
                </a:cubicBezTo>
                <a:close/>
              </a:path>
            </a:pathLst>
          </a:custGeom>
          <a:solidFill>
            <a:srgbClr val="5F6B7A"/>
          </a:solidFill>
          <a:ln/>
        </p:spPr>
        <p:txBody>
          <a:bodyPr/>
          <a:lstStyle/>
          <a:p>
            <a:endParaRPr lang="zh-CN" altLang="en-US"/>
          </a:p>
        </p:txBody>
      </p:sp>
      <p:sp>
        <p:nvSpPr>
          <p:cNvPr id="26" name="Text 24"/>
          <p:cNvSpPr/>
          <p:nvPr/>
        </p:nvSpPr>
        <p:spPr>
          <a:xfrm>
            <a:off x="736778" y="4139963"/>
            <a:ext cx="389308" cy="303850"/>
          </a:xfrm>
          <a:prstGeom prst="rect">
            <a:avLst/>
          </a:prstGeom>
          <a:noFill/>
          <a:ln/>
        </p:spPr>
        <p:txBody>
          <a:bodyPr wrap="square" lIns="0" tIns="0" rIns="0" bIns="0" rtlCol="0" anchor="ctr"/>
          <a:lstStyle/>
          <a:p>
            <a:pPr>
              <a:lnSpc>
                <a:spcPct val="110000"/>
              </a:lnSpc>
            </a:pPr>
            <a:r>
              <a:rPr lang="en-US" sz="1794" b="1" dirty="0">
                <a:solidFill>
                  <a:srgbClr val="FFFFFF"/>
                </a:solidFill>
                <a:latin typeface="Noto Sans SC" pitchFamily="34" charset="0"/>
                <a:ea typeface="Noto Sans SC" pitchFamily="34" charset="-122"/>
                <a:cs typeface="Noto Sans SC" pitchFamily="34" charset="-120"/>
              </a:rPr>
              <a:t>03</a:t>
            </a:r>
            <a:endParaRPr lang="en-US" sz="1600" dirty="0"/>
          </a:p>
        </p:txBody>
      </p:sp>
      <p:sp>
        <p:nvSpPr>
          <p:cNvPr id="27" name="Text 25"/>
          <p:cNvSpPr/>
          <p:nvPr/>
        </p:nvSpPr>
        <p:spPr>
          <a:xfrm>
            <a:off x="1253383" y="4139963"/>
            <a:ext cx="1253383" cy="303850"/>
          </a:xfrm>
          <a:prstGeom prst="rect">
            <a:avLst/>
          </a:prstGeom>
          <a:noFill/>
          <a:ln/>
        </p:spPr>
        <p:txBody>
          <a:bodyPr wrap="square" lIns="0" tIns="0" rIns="0" bIns="0" rtlCol="0" anchor="ctr"/>
          <a:lstStyle/>
          <a:p>
            <a:pPr>
              <a:lnSpc>
                <a:spcPct val="110000"/>
              </a:lnSpc>
            </a:pPr>
            <a:r>
              <a:rPr lang="en-US" sz="1794" b="1" dirty="0">
                <a:solidFill>
                  <a:srgbClr val="E0E2E5"/>
                </a:solidFill>
                <a:latin typeface="Noto Sans SC" pitchFamily="34" charset="0"/>
                <a:ea typeface="Noto Sans SC" pitchFamily="34" charset="-122"/>
                <a:cs typeface="Noto Sans SC" pitchFamily="34" charset="-120"/>
              </a:rPr>
              <a:t>结构维冗余</a:t>
            </a:r>
            <a:endParaRPr lang="en-US" sz="1600" dirty="0"/>
          </a:p>
        </p:txBody>
      </p:sp>
      <p:sp>
        <p:nvSpPr>
          <p:cNvPr id="28" name="Text 26"/>
          <p:cNvSpPr/>
          <p:nvPr/>
        </p:nvSpPr>
        <p:spPr>
          <a:xfrm>
            <a:off x="607701" y="4709682"/>
            <a:ext cx="5298393" cy="493757"/>
          </a:xfrm>
          <a:prstGeom prst="rect">
            <a:avLst/>
          </a:prstGeom>
          <a:noFill/>
          <a:ln/>
        </p:spPr>
        <p:txBody>
          <a:bodyPr wrap="square" lIns="0" tIns="0" rIns="0" bIns="0" rtlCol="0" anchor="ctr"/>
          <a:lstStyle/>
          <a:p>
            <a:pPr>
              <a:lnSpc>
                <a:spcPct val="140000"/>
              </a:lnSpc>
            </a:pPr>
            <a:r>
              <a:rPr lang="en-US" sz="1196" dirty="0">
                <a:solidFill>
                  <a:srgbClr val="E0E2E5">
                    <a:alpha val="80000"/>
                  </a:srgbClr>
                </a:solidFill>
                <a:latin typeface="Noto Sans SC" pitchFamily="34" charset="0"/>
                <a:ea typeface="Noto Sans SC" pitchFamily="34" charset="-122"/>
                <a:cs typeface="Noto Sans SC" pitchFamily="34" charset="-120"/>
              </a:rPr>
              <a:t>不同层之间的 KV 具有</a:t>
            </a:r>
            <a:r>
              <a:rPr lang="en-US" sz="1196" dirty="0">
                <a:solidFill>
                  <a:srgbClr val="5F6B7A"/>
                </a:solidFill>
                <a:highlight>
                  <a:srgbClr val="5F6B7A">
                    <a:alpha val="20000"/>
                  </a:srgbClr>
                </a:highlight>
                <a:latin typeface="Noto Sans SC" pitchFamily="34" charset="0"/>
                <a:ea typeface="Noto Sans SC" pitchFamily="34" charset="-122"/>
                <a:cs typeface="Noto Sans SC" pitchFamily="34" charset="-120"/>
              </a:rPr>
              <a:t> 高度相似性，可以跨层共享 </a:t>
            </a:r>
            <a:r>
              <a:rPr lang="en-US" sz="1196" dirty="0">
                <a:solidFill>
                  <a:srgbClr val="E0E2E5">
                    <a:alpha val="80000"/>
                  </a:srgbClr>
                </a:solidFill>
                <a:latin typeface="Noto Sans SC" pitchFamily="34" charset="0"/>
                <a:ea typeface="Noto Sans SC" pitchFamily="34" charset="-122"/>
                <a:cs typeface="Noto Sans SC" pitchFamily="34" charset="-120"/>
              </a:rPr>
              <a:t>；此外还存在头间冗余。GQA/MQA 等架构设计正是对头间冗余在训练阶段的主动利用。</a:t>
            </a:r>
            <a:endParaRPr lang="en-US" sz="1600" dirty="0"/>
          </a:p>
        </p:txBody>
      </p:sp>
      <p:sp>
        <p:nvSpPr>
          <p:cNvPr id="29" name="Shape 27"/>
          <p:cNvSpPr/>
          <p:nvPr/>
        </p:nvSpPr>
        <p:spPr>
          <a:xfrm>
            <a:off x="607701" y="5317383"/>
            <a:ext cx="5222430" cy="645682"/>
          </a:xfrm>
          <a:custGeom>
            <a:avLst/>
            <a:gdLst/>
            <a:ahLst/>
            <a:cxnLst/>
            <a:rect l="l" t="t" r="r" b="b"/>
            <a:pathLst>
              <a:path w="5222430" h="645682">
                <a:moveTo>
                  <a:pt x="75965" y="0"/>
                </a:moveTo>
                <a:lnTo>
                  <a:pt x="5146465" y="0"/>
                </a:lnTo>
                <a:cubicBezTo>
                  <a:pt x="5188419" y="0"/>
                  <a:pt x="5222430" y="34010"/>
                  <a:pt x="5222430" y="75965"/>
                </a:cubicBezTo>
                <a:lnTo>
                  <a:pt x="5222430" y="569718"/>
                </a:lnTo>
                <a:cubicBezTo>
                  <a:pt x="5222430" y="611672"/>
                  <a:pt x="5188419" y="645682"/>
                  <a:pt x="5146465" y="645682"/>
                </a:cubicBezTo>
                <a:lnTo>
                  <a:pt x="75965" y="645682"/>
                </a:lnTo>
                <a:cubicBezTo>
                  <a:pt x="34010" y="645682"/>
                  <a:pt x="0" y="611672"/>
                  <a:pt x="0" y="569718"/>
                </a:cubicBezTo>
                <a:lnTo>
                  <a:pt x="0" y="75965"/>
                </a:lnTo>
                <a:cubicBezTo>
                  <a:pt x="0" y="34039"/>
                  <a:pt x="34039" y="0"/>
                  <a:pt x="75965" y="0"/>
                </a:cubicBezTo>
                <a:close/>
              </a:path>
            </a:pathLst>
          </a:custGeom>
          <a:solidFill>
            <a:srgbClr val="1A1D21">
              <a:alpha val="50196"/>
            </a:srgbClr>
          </a:solidFill>
          <a:ln/>
        </p:spPr>
        <p:txBody>
          <a:bodyPr/>
          <a:lstStyle/>
          <a:p>
            <a:endParaRPr lang="zh-CN" altLang="en-US"/>
          </a:p>
        </p:txBody>
      </p:sp>
      <p:sp>
        <p:nvSpPr>
          <p:cNvPr id="30" name="Text 28"/>
          <p:cNvSpPr/>
          <p:nvPr/>
        </p:nvSpPr>
        <p:spPr>
          <a:xfrm>
            <a:off x="721645" y="5431327"/>
            <a:ext cx="5061009" cy="189907"/>
          </a:xfrm>
          <a:prstGeom prst="rect">
            <a:avLst/>
          </a:prstGeom>
          <a:noFill/>
          <a:ln/>
        </p:spPr>
        <p:txBody>
          <a:bodyPr wrap="square" lIns="0" tIns="0" rIns="0" bIns="0" rtlCol="0" anchor="ctr"/>
          <a:lstStyle/>
          <a:p>
            <a:pPr>
              <a:lnSpc>
                <a:spcPct val="120000"/>
              </a:lnSpc>
            </a:pPr>
            <a:r>
              <a:rPr lang="en-US" sz="1047" b="1" dirty="0">
                <a:solidFill>
                  <a:srgbClr val="5F6B7A"/>
                </a:solidFill>
                <a:latin typeface="Noto Sans SC" pitchFamily="34" charset="0"/>
                <a:ea typeface="Noto Sans SC" pitchFamily="34" charset="-122"/>
                <a:cs typeface="Noto Sans SC" pitchFamily="34" charset="-120"/>
              </a:rPr>
              <a:t>压缩策略</a:t>
            </a:r>
            <a:endParaRPr lang="en-US" sz="1600" dirty="0"/>
          </a:p>
        </p:txBody>
      </p:sp>
      <p:sp>
        <p:nvSpPr>
          <p:cNvPr id="31" name="Text 29"/>
          <p:cNvSpPr/>
          <p:nvPr/>
        </p:nvSpPr>
        <p:spPr>
          <a:xfrm>
            <a:off x="721645" y="5659215"/>
            <a:ext cx="5061009" cy="189907"/>
          </a:xfrm>
          <a:prstGeom prst="rect">
            <a:avLst/>
          </a:prstGeom>
          <a:noFill/>
          <a:ln/>
        </p:spPr>
        <p:txBody>
          <a:bodyPr wrap="square" lIns="0" tIns="0" rIns="0" bIns="0" rtlCol="0" anchor="ctr"/>
          <a:lstStyle/>
          <a:p>
            <a:pPr>
              <a:lnSpc>
                <a:spcPct val="120000"/>
              </a:lnSpc>
            </a:pPr>
            <a:r>
              <a:rPr lang="en-US" sz="1047" dirty="0">
                <a:solidFill>
                  <a:srgbClr val="E0E2E5">
                    <a:alpha val="70000"/>
                  </a:srgbClr>
                </a:solidFill>
                <a:latin typeface="Noto Sans SC" pitchFamily="34" charset="0"/>
                <a:ea typeface="Noto Sans SC" pitchFamily="34" charset="-122"/>
                <a:cs typeface="Noto Sans SC" pitchFamily="34" charset="-120"/>
              </a:rPr>
              <a:t>Cross-layer Sharing</a:t>
            </a:r>
            <a:endParaRPr lang="en-US" sz="1600" dirty="0"/>
          </a:p>
        </p:txBody>
      </p:sp>
      <p:sp>
        <p:nvSpPr>
          <p:cNvPr id="32" name="Shape 30"/>
          <p:cNvSpPr/>
          <p:nvPr/>
        </p:nvSpPr>
        <p:spPr>
          <a:xfrm>
            <a:off x="6188802" y="3836112"/>
            <a:ext cx="5621234" cy="2316860"/>
          </a:xfrm>
          <a:custGeom>
            <a:avLst/>
            <a:gdLst/>
            <a:ahLst/>
            <a:cxnLst/>
            <a:rect l="l" t="t" r="r" b="b"/>
            <a:pathLst>
              <a:path w="5621234" h="2316860">
                <a:moveTo>
                  <a:pt x="37981" y="0"/>
                </a:moveTo>
                <a:lnTo>
                  <a:pt x="5545264" y="0"/>
                </a:lnTo>
                <a:cubicBezTo>
                  <a:pt x="5587221" y="0"/>
                  <a:pt x="5621234" y="34013"/>
                  <a:pt x="5621234" y="75970"/>
                </a:cubicBezTo>
                <a:lnTo>
                  <a:pt x="5621234" y="2240890"/>
                </a:lnTo>
                <a:cubicBezTo>
                  <a:pt x="5621234" y="2282847"/>
                  <a:pt x="5587221" y="2316860"/>
                  <a:pt x="5545264" y="2316860"/>
                </a:cubicBezTo>
                <a:lnTo>
                  <a:pt x="37981" y="2316860"/>
                </a:lnTo>
                <a:cubicBezTo>
                  <a:pt x="17005" y="2316860"/>
                  <a:pt x="0" y="2299855"/>
                  <a:pt x="0" y="2278879"/>
                </a:cubicBezTo>
                <a:lnTo>
                  <a:pt x="0" y="37981"/>
                </a:lnTo>
                <a:cubicBezTo>
                  <a:pt x="0" y="17019"/>
                  <a:pt x="17019" y="0"/>
                  <a:pt x="37981" y="0"/>
                </a:cubicBezTo>
                <a:close/>
              </a:path>
            </a:pathLst>
          </a:custGeom>
          <a:solidFill>
            <a:srgbClr val="3D8B75">
              <a:alpha val="10196"/>
            </a:srgbClr>
          </a:solidFill>
          <a:ln/>
        </p:spPr>
        <p:txBody>
          <a:bodyPr/>
          <a:lstStyle/>
          <a:p>
            <a:endParaRPr lang="zh-CN" altLang="en-US"/>
          </a:p>
        </p:txBody>
      </p:sp>
      <p:sp>
        <p:nvSpPr>
          <p:cNvPr id="33" name="Shape 31"/>
          <p:cNvSpPr/>
          <p:nvPr/>
        </p:nvSpPr>
        <p:spPr>
          <a:xfrm>
            <a:off x="6188802" y="3836112"/>
            <a:ext cx="37981" cy="2316860"/>
          </a:xfrm>
          <a:custGeom>
            <a:avLst/>
            <a:gdLst/>
            <a:ahLst/>
            <a:cxnLst/>
            <a:rect l="l" t="t" r="r" b="b"/>
            <a:pathLst>
              <a:path w="37981" h="2316860">
                <a:moveTo>
                  <a:pt x="37981" y="0"/>
                </a:moveTo>
                <a:lnTo>
                  <a:pt x="37981" y="0"/>
                </a:lnTo>
                <a:lnTo>
                  <a:pt x="37981" y="2316860"/>
                </a:lnTo>
                <a:lnTo>
                  <a:pt x="37981" y="2316860"/>
                </a:lnTo>
                <a:cubicBezTo>
                  <a:pt x="17005" y="2316860"/>
                  <a:pt x="0" y="2299855"/>
                  <a:pt x="0" y="2278879"/>
                </a:cubicBezTo>
                <a:lnTo>
                  <a:pt x="0" y="37981"/>
                </a:lnTo>
                <a:cubicBezTo>
                  <a:pt x="0" y="17019"/>
                  <a:pt x="17019" y="0"/>
                  <a:pt x="37981" y="0"/>
                </a:cubicBezTo>
                <a:close/>
              </a:path>
            </a:pathLst>
          </a:custGeom>
          <a:solidFill>
            <a:srgbClr val="3D8B75"/>
          </a:solidFill>
          <a:ln/>
        </p:spPr>
        <p:txBody>
          <a:bodyPr/>
          <a:lstStyle/>
          <a:p>
            <a:endParaRPr lang="zh-CN" altLang="en-US"/>
          </a:p>
        </p:txBody>
      </p:sp>
      <p:sp>
        <p:nvSpPr>
          <p:cNvPr id="34" name="Shape 32"/>
          <p:cNvSpPr/>
          <p:nvPr/>
        </p:nvSpPr>
        <p:spPr>
          <a:xfrm>
            <a:off x="6397699" y="4026019"/>
            <a:ext cx="531738" cy="531738"/>
          </a:xfrm>
          <a:custGeom>
            <a:avLst/>
            <a:gdLst/>
            <a:ahLst/>
            <a:cxnLst/>
            <a:rect l="l" t="t" r="r" b="b"/>
            <a:pathLst>
              <a:path w="531738" h="531738">
                <a:moveTo>
                  <a:pt x="75964" y="0"/>
                </a:moveTo>
                <a:lnTo>
                  <a:pt x="455774" y="0"/>
                </a:lnTo>
                <a:cubicBezTo>
                  <a:pt x="497700" y="0"/>
                  <a:pt x="531738" y="34038"/>
                  <a:pt x="531738" y="75964"/>
                </a:cubicBezTo>
                <a:lnTo>
                  <a:pt x="531738" y="455774"/>
                </a:lnTo>
                <a:cubicBezTo>
                  <a:pt x="531738" y="497728"/>
                  <a:pt x="497728" y="531738"/>
                  <a:pt x="455774" y="531738"/>
                </a:cubicBezTo>
                <a:lnTo>
                  <a:pt x="75964" y="531738"/>
                </a:lnTo>
                <a:cubicBezTo>
                  <a:pt x="34038" y="531738"/>
                  <a:pt x="0" y="497700"/>
                  <a:pt x="0" y="455774"/>
                </a:cubicBezTo>
                <a:lnTo>
                  <a:pt x="0" y="75964"/>
                </a:lnTo>
                <a:cubicBezTo>
                  <a:pt x="0" y="34038"/>
                  <a:pt x="34038" y="0"/>
                  <a:pt x="75964" y="0"/>
                </a:cubicBezTo>
                <a:close/>
              </a:path>
            </a:pathLst>
          </a:custGeom>
          <a:solidFill>
            <a:srgbClr val="3D8B75"/>
          </a:solidFill>
          <a:ln/>
        </p:spPr>
        <p:txBody>
          <a:bodyPr/>
          <a:lstStyle/>
          <a:p>
            <a:endParaRPr lang="zh-CN" altLang="en-US"/>
          </a:p>
        </p:txBody>
      </p:sp>
      <p:sp>
        <p:nvSpPr>
          <p:cNvPr id="35" name="Text 33"/>
          <p:cNvSpPr/>
          <p:nvPr/>
        </p:nvSpPr>
        <p:spPr>
          <a:xfrm>
            <a:off x="6526776" y="4139963"/>
            <a:ext cx="389308" cy="303850"/>
          </a:xfrm>
          <a:prstGeom prst="rect">
            <a:avLst/>
          </a:prstGeom>
          <a:noFill/>
          <a:ln/>
        </p:spPr>
        <p:txBody>
          <a:bodyPr wrap="square" lIns="0" tIns="0" rIns="0" bIns="0" rtlCol="0" anchor="ctr"/>
          <a:lstStyle/>
          <a:p>
            <a:pPr>
              <a:lnSpc>
                <a:spcPct val="110000"/>
              </a:lnSpc>
            </a:pPr>
            <a:r>
              <a:rPr lang="en-US" sz="1794" b="1" dirty="0">
                <a:solidFill>
                  <a:srgbClr val="FFFFFF"/>
                </a:solidFill>
                <a:latin typeface="Noto Sans SC" pitchFamily="34" charset="0"/>
                <a:ea typeface="Noto Sans SC" pitchFamily="34" charset="-122"/>
                <a:cs typeface="Noto Sans SC" pitchFamily="34" charset="-120"/>
              </a:rPr>
              <a:t>04</a:t>
            </a:r>
            <a:endParaRPr lang="en-US" sz="1600" dirty="0"/>
          </a:p>
        </p:txBody>
      </p:sp>
      <p:sp>
        <p:nvSpPr>
          <p:cNvPr id="36" name="Text 34"/>
          <p:cNvSpPr/>
          <p:nvPr/>
        </p:nvSpPr>
        <p:spPr>
          <a:xfrm>
            <a:off x="7043381" y="4139963"/>
            <a:ext cx="1253383" cy="303850"/>
          </a:xfrm>
          <a:prstGeom prst="rect">
            <a:avLst/>
          </a:prstGeom>
          <a:noFill/>
          <a:ln/>
        </p:spPr>
        <p:txBody>
          <a:bodyPr wrap="square" lIns="0" tIns="0" rIns="0" bIns="0" rtlCol="0" anchor="ctr"/>
          <a:lstStyle/>
          <a:p>
            <a:pPr>
              <a:lnSpc>
                <a:spcPct val="110000"/>
              </a:lnSpc>
            </a:pPr>
            <a:r>
              <a:rPr lang="en-US" sz="1794" b="1" dirty="0">
                <a:solidFill>
                  <a:srgbClr val="E0E2E5"/>
                </a:solidFill>
                <a:latin typeface="Noto Sans SC" pitchFamily="34" charset="0"/>
                <a:ea typeface="Noto Sans SC" pitchFamily="34" charset="-122"/>
                <a:cs typeface="Noto Sans SC" pitchFamily="34" charset="-120"/>
              </a:rPr>
              <a:t>系统维冗余</a:t>
            </a:r>
            <a:endParaRPr lang="en-US" sz="1600" dirty="0"/>
          </a:p>
        </p:txBody>
      </p:sp>
      <p:sp>
        <p:nvSpPr>
          <p:cNvPr id="37" name="Text 35"/>
          <p:cNvSpPr/>
          <p:nvPr/>
        </p:nvSpPr>
        <p:spPr>
          <a:xfrm>
            <a:off x="6397699" y="4709682"/>
            <a:ext cx="5298393" cy="493757"/>
          </a:xfrm>
          <a:prstGeom prst="rect">
            <a:avLst/>
          </a:prstGeom>
          <a:noFill/>
          <a:ln/>
        </p:spPr>
        <p:txBody>
          <a:bodyPr wrap="square" lIns="0" tIns="0" rIns="0" bIns="0" rtlCol="0" anchor="ctr"/>
          <a:lstStyle/>
          <a:p>
            <a:pPr>
              <a:lnSpc>
                <a:spcPct val="140000"/>
              </a:lnSpc>
            </a:pPr>
            <a:r>
              <a:rPr lang="en-US" sz="1196" dirty="0">
                <a:solidFill>
                  <a:srgbClr val="E0E2E5">
                    <a:alpha val="80000"/>
                  </a:srgbClr>
                </a:solidFill>
                <a:latin typeface="Noto Sans SC" pitchFamily="34" charset="0"/>
                <a:ea typeface="Noto Sans SC" pitchFamily="34" charset="-122"/>
                <a:cs typeface="Noto Sans SC" pitchFamily="34" charset="-120"/>
              </a:rPr>
              <a:t>内存分配方式和存储位置选择存在</a:t>
            </a:r>
            <a:r>
              <a:rPr lang="en-US" sz="1196" dirty="0">
                <a:solidFill>
                  <a:srgbClr val="3D8B75"/>
                </a:solidFill>
                <a:highlight>
                  <a:srgbClr val="3D8B75">
                    <a:alpha val="20000"/>
                  </a:srgbClr>
                </a:highlight>
                <a:latin typeface="Noto Sans SC" pitchFamily="34" charset="0"/>
                <a:ea typeface="Noto Sans SC" pitchFamily="34" charset="-122"/>
                <a:cs typeface="Noto Sans SC" pitchFamily="34" charset="-120"/>
              </a:rPr>
              <a:t> 极大的优化空间 </a:t>
            </a:r>
            <a:r>
              <a:rPr lang="en-US" sz="1196" dirty="0">
                <a:solidFill>
                  <a:srgbClr val="E0E2E5">
                    <a:alpha val="80000"/>
                  </a:srgbClr>
                </a:solidFill>
                <a:latin typeface="Noto Sans SC" pitchFamily="34" charset="0"/>
                <a:ea typeface="Noto Sans SC" pitchFamily="34" charset="-122"/>
                <a:cs typeface="Noto Sans SC" pitchFamily="34" charset="-120"/>
              </a:rPr>
              <a:t>。PagedAttention、ShadowKV 等系统级实践表明，物理布局优化可以释放大量显存。</a:t>
            </a:r>
            <a:endParaRPr lang="en-US" sz="1600" dirty="0"/>
          </a:p>
        </p:txBody>
      </p:sp>
      <p:sp>
        <p:nvSpPr>
          <p:cNvPr id="38" name="Shape 36"/>
          <p:cNvSpPr/>
          <p:nvPr/>
        </p:nvSpPr>
        <p:spPr>
          <a:xfrm>
            <a:off x="6397699" y="5317383"/>
            <a:ext cx="5222430" cy="645682"/>
          </a:xfrm>
          <a:custGeom>
            <a:avLst/>
            <a:gdLst/>
            <a:ahLst/>
            <a:cxnLst/>
            <a:rect l="l" t="t" r="r" b="b"/>
            <a:pathLst>
              <a:path w="5222430" h="645682">
                <a:moveTo>
                  <a:pt x="75965" y="0"/>
                </a:moveTo>
                <a:lnTo>
                  <a:pt x="5146465" y="0"/>
                </a:lnTo>
                <a:cubicBezTo>
                  <a:pt x="5188419" y="0"/>
                  <a:pt x="5222430" y="34010"/>
                  <a:pt x="5222430" y="75965"/>
                </a:cubicBezTo>
                <a:lnTo>
                  <a:pt x="5222430" y="569718"/>
                </a:lnTo>
                <a:cubicBezTo>
                  <a:pt x="5222430" y="611672"/>
                  <a:pt x="5188419" y="645682"/>
                  <a:pt x="5146465" y="645682"/>
                </a:cubicBezTo>
                <a:lnTo>
                  <a:pt x="75965" y="645682"/>
                </a:lnTo>
                <a:cubicBezTo>
                  <a:pt x="34010" y="645682"/>
                  <a:pt x="0" y="611672"/>
                  <a:pt x="0" y="569718"/>
                </a:cubicBezTo>
                <a:lnTo>
                  <a:pt x="0" y="75965"/>
                </a:lnTo>
                <a:cubicBezTo>
                  <a:pt x="0" y="34039"/>
                  <a:pt x="34039" y="0"/>
                  <a:pt x="75965" y="0"/>
                </a:cubicBezTo>
                <a:close/>
              </a:path>
            </a:pathLst>
          </a:custGeom>
          <a:solidFill>
            <a:srgbClr val="1A1D21">
              <a:alpha val="50196"/>
            </a:srgbClr>
          </a:solidFill>
          <a:ln/>
        </p:spPr>
        <p:txBody>
          <a:bodyPr/>
          <a:lstStyle/>
          <a:p>
            <a:endParaRPr lang="zh-CN" altLang="en-US"/>
          </a:p>
        </p:txBody>
      </p:sp>
      <p:sp>
        <p:nvSpPr>
          <p:cNvPr id="39" name="Text 37"/>
          <p:cNvSpPr/>
          <p:nvPr/>
        </p:nvSpPr>
        <p:spPr>
          <a:xfrm>
            <a:off x="6511643" y="5431327"/>
            <a:ext cx="5061009" cy="189907"/>
          </a:xfrm>
          <a:prstGeom prst="rect">
            <a:avLst/>
          </a:prstGeom>
          <a:noFill/>
          <a:ln/>
        </p:spPr>
        <p:txBody>
          <a:bodyPr wrap="square" lIns="0" tIns="0" rIns="0" bIns="0" rtlCol="0" anchor="ctr"/>
          <a:lstStyle/>
          <a:p>
            <a:pPr>
              <a:lnSpc>
                <a:spcPct val="120000"/>
              </a:lnSpc>
            </a:pPr>
            <a:r>
              <a:rPr lang="en-US" sz="1047" b="1" dirty="0">
                <a:solidFill>
                  <a:srgbClr val="3D8B75"/>
                </a:solidFill>
                <a:latin typeface="Noto Sans SC" pitchFamily="34" charset="0"/>
                <a:ea typeface="Noto Sans SC" pitchFamily="34" charset="-122"/>
                <a:cs typeface="Noto Sans SC" pitchFamily="34" charset="-120"/>
              </a:rPr>
              <a:t>压缩策略</a:t>
            </a:r>
            <a:endParaRPr lang="en-US" sz="1600" dirty="0"/>
          </a:p>
        </p:txBody>
      </p:sp>
      <p:sp>
        <p:nvSpPr>
          <p:cNvPr id="40" name="Text 38"/>
          <p:cNvSpPr/>
          <p:nvPr/>
        </p:nvSpPr>
        <p:spPr>
          <a:xfrm>
            <a:off x="6511643" y="5659215"/>
            <a:ext cx="5061009" cy="189907"/>
          </a:xfrm>
          <a:prstGeom prst="rect">
            <a:avLst/>
          </a:prstGeom>
          <a:noFill/>
          <a:ln/>
        </p:spPr>
        <p:txBody>
          <a:bodyPr wrap="square" lIns="0" tIns="0" rIns="0" bIns="0" rtlCol="0" anchor="ctr"/>
          <a:lstStyle/>
          <a:p>
            <a:pPr>
              <a:lnSpc>
                <a:spcPct val="120000"/>
              </a:lnSpc>
            </a:pPr>
            <a:r>
              <a:rPr lang="en-US" sz="1047" dirty="0">
                <a:solidFill>
                  <a:srgbClr val="E0E2E5">
                    <a:alpha val="70000"/>
                  </a:srgbClr>
                </a:solidFill>
                <a:latin typeface="Noto Sans SC" pitchFamily="34" charset="0"/>
                <a:ea typeface="Noto Sans SC" pitchFamily="34" charset="-122"/>
                <a:cs typeface="Noto Sans SC" pitchFamily="34" charset="-120"/>
              </a:rPr>
              <a:t>Offloading / Paging</a:t>
            </a:r>
            <a:endParaRPr lang="en-US" sz="1600" dirty="0"/>
          </a:p>
        </p:txBody>
      </p:sp>
      <p:sp>
        <p:nvSpPr>
          <p:cNvPr id="41" name="Shape 39"/>
          <p:cNvSpPr/>
          <p:nvPr/>
        </p:nvSpPr>
        <p:spPr>
          <a:xfrm>
            <a:off x="398804" y="6241836"/>
            <a:ext cx="11413383" cy="550729"/>
          </a:xfrm>
          <a:custGeom>
            <a:avLst/>
            <a:gdLst/>
            <a:ahLst/>
            <a:cxnLst/>
            <a:rect l="l" t="t" r="r" b="b"/>
            <a:pathLst>
              <a:path w="11413383" h="550729">
                <a:moveTo>
                  <a:pt x="37981" y="0"/>
                </a:moveTo>
                <a:lnTo>
                  <a:pt x="11337421" y="0"/>
                </a:lnTo>
                <a:cubicBezTo>
                  <a:pt x="11379346" y="0"/>
                  <a:pt x="11413383" y="34037"/>
                  <a:pt x="11413383" y="75962"/>
                </a:cubicBezTo>
                <a:lnTo>
                  <a:pt x="11413383" y="474767"/>
                </a:lnTo>
                <a:cubicBezTo>
                  <a:pt x="11413383" y="516720"/>
                  <a:pt x="11379374" y="550729"/>
                  <a:pt x="11337421" y="550729"/>
                </a:cubicBezTo>
                <a:lnTo>
                  <a:pt x="37981" y="550729"/>
                </a:lnTo>
                <a:cubicBezTo>
                  <a:pt x="17019" y="550729"/>
                  <a:pt x="0" y="533710"/>
                  <a:pt x="0" y="512748"/>
                </a:cubicBezTo>
                <a:lnTo>
                  <a:pt x="0" y="37981"/>
                </a:lnTo>
                <a:cubicBezTo>
                  <a:pt x="0" y="17019"/>
                  <a:pt x="17019" y="0"/>
                  <a:pt x="37981" y="0"/>
                </a:cubicBezTo>
                <a:close/>
              </a:path>
            </a:pathLst>
          </a:custGeom>
          <a:solidFill>
            <a:srgbClr val="C9A86A">
              <a:alpha val="20000"/>
            </a:srgbClr>
          </a:solidFill>
          <a:ln/>
        </p:spPr>
        <p:txBody>
          <a:bodyPr/>
          <a:lstStyle/>
          <a:p>
            <a:endParaRPr lang="zh-CN" altLang="en-US"/>
          </a:p>
        </p:txBody>
      </p:sp>
      <p:sp>
        <p:nvSpPr>
          <p:cNvPr id="42" name="Shape 40"/>
          <p:cNvSpPr/>
          <p:nvPr/>
        </p:nvSpPr>
        <p:spPr>
          <a:xfrm>
            <a:off x="398804" y="6241836"/>
            <a:ext cx="37981" cy="550729"/>
          </a:xfrm>
          <a:custGeom>
            <a:avLst/>
            <a:gdLst/>
            <a:ahLst/>
            <a:cxnLst/>
            <a:rect l="l" t="t" r="r" b="b"/>
            <a:pathLst>
              <a:path w="37981" h="550729">
                <a:moveTo>
                  <a:pt x="37981" y="0"/>
                </a:moveTo>
                <a:lnTo>
                  <a:pt x="37981" y="0"/>
                </a:lnTo>
                <a:lnTo>
                  <a:pt x="37981" y="550729"/>
                </a:lnTo>
                <a:lnTo>
                  <a:pt x="37981" y="550729"/>
                </a:lnTo>
                <a:cubicBezTo>
                  <a:pt x="17019" y="550729"/>
                  <a:pt x="0" y="533710"/>
                  <a:pt x="0" y="512748"/>
                </a:cubicBezTo>
                <a:lnTo>
                  <a:pt x="0" y="37981"/>
                </a:lnTo>
                <a:cubicBezTo>
                  <a:pt x="0" y="17019"/>
                  <a:pt x="17019" y="0"/>
                  <a:pt x="37981" y="0"/>
                </a:cubicBezTo>
                <a:close/>
              </a:path>
            </a:pathLst>
          </a:custGeom>
          <a:solidFill>
            <a:srgbClr val="C9A86A"/>
          </a:solidFill>
          <a:ln/>
        </p:spPr>
        <p:txBody>
          <a:bodyPr/>
          <a:lstStyle/>
          <a:p>
            <a:endParaRPr lang="zh-CN" altLang="en-US"/>
          </a:p>
        </p:txBody>
      </p:sp>
      <p:sp>
        <p:nvSpPr>
          <p:cNvPr id="43" name="Shape 41"/>
          <p:cNvSpPr/>
          <p:nvPr/>
        </p:nvSpPr>
        <p:spPr>
          <a:xfrm>
            <a:off x="607701" y="6441238"/>
            <a:ext cx="113944" cy="151925"/>
          </a:xfrm>
          <a:custGeom>
            <a:avLst/>
            <a:gdLst/>
            <a:ahLst/>
            <a:cxnLst/>
            <a:rect l="l" t="t" r="r" b="b"/>
            <a:pathLst>
              <a:path w="113944" h="151925">
                <a:moveTo>
                  <a:pt x="86912" y="113944"/>
                </a:moveTo>
                <a:cubicBezTo>
                  <a:pt x="89078" y="107327"/>
                  <a:pt x="93410" y="101333"/>
                  <a:pt x="98306" y="96170"/>
                </a:cubicBezTo>
                <a:cubicBezTo>
                  <a:pt x="108009" y="85962"/>
                  <a:pt x="113944" y="72164"/>
                  <a:pt x="113944" y="56972"/>
                </a:cubicBezTo>
                <a:cubicBezTo>
                  <a:pt x="113944" y="25519"/>
                  <a:pt x="88425" y="0"/>
                  <a:pt x="56972" y="0"/>
                </a:cubicBezTo>
                <a:cubicBezTo>
                  <a:pt x="25519" y="0"/>
                  <a:pt x="0" y="25519"/>
                  <a:pt x="0" y="56972"/>
                </a:cubicBezTo>
                <a:cubicBezTo>
                  <a:pt x="0" y="72164"/>
                  <a:pt x="5935" y="85962"/>
                  <a:pt x="15638" y="96170"/>
                </a:cubicBezTo>
                <a:cubicBezTo>
                  <a:pt x="20534" y="101333"/>
                  <a:pt x="24896" y="107327"/>
                  <a:pt x="27032" y="113944"/>
                </a:cubicBezTo>
                <a:lnTo>
                  <a:pt x="86882" y="113944"/>
                </a:lnTo>
                <a:close/>
                <a:moveTo>
                  <a:pt x="85458" y="128187"/>
                </a:moveTo>
                <a:lnTo>
                  <a:pt x="28486" y="128187"/>
                </a:lnTo>
                <a:lnTo>
                  <a:pt x="28486" y="132935"/>
                </a:lnTo>
                <a:cubicBezTo>
                  <a:pt x="28486" y="146050"/>
                  <a:pt x="39109" y="156673"/>
                  <a:pt x="52224" y="156673"/>
                </a:cubicBezTo>
                <a:lnTo>
                  <a:pt x="61720" y="156673"/>
                </a:lnTo>
                <a:cubicBezTo>
                  <a:pt x="74835" y="156673"/>
                  <a:pt x="85458" y="146050"/>
                  <a:pt x="85458" y="132935"/>
                </a:cubicBezTo>
                <a:lnTo>
                  <a:pt x="85458" y="128187"/>
                </a:lnTo>
                <a:close/>
                <a:moveTo>
                  <a:pt x="54598" y="33234"/>
                </a:moveTo>
                <a:cubicBezTo>
                  <a:pt x="42788" y="33234"/>
                  <a:pt x="33234" y="42788"/>
                  <a:pt x="33234" y="54598"/>
                </a:cubicBezTo>
                <a:cubicBezTo>
                  <a:pt x="33234" y="58545"/>
                  <a:pt x="30059" y="61720"/>
                  <a:pt x="26112" y="61720"/>
                </a:cubicBezTo>
                <a:cubicBezTo>
                  <a:pt x="22166" y="61720"/>
                  <a:pt x="18991" y="58545"/>
                  <a:pt x="18991" y="54598"/>
                </a:cubicBezTo>
                <a:cubicBezTo>
                  <a:pt x="18991" y="34925"/>
                  <a:pt x="34925" y="18991"/>
                  <a:pt x="54598" y="18991"/>
                </a:cubicBezTo>
                <a:cubicBezTo>
                  <a:pt x="58545" y="18991"/>
                  <a:pt x="61720" y="22166"/>
                  <a:pt x="61720" y="26112"/>
                </a:cubicBezTo>
                <a:cubicBezTo>
                  <a:pt x="61720" y="30059"/>
                  <a:pt x="58545" y="33234"/>
                  <a:pt x="54598" y="33234"/>
                </a:cubicBezTo>
                <a:close/>
              </a:path>
            </a:pathLst>
          </a:custGeom>
          <a:solidFill>
            <a:srgbClr val="C9A86A"/>
          </a:solidFill>
          <a:ln/>
        </p:spPr>
        <p:txBody>
          <a:bodyPr/>
          <a:lstStyle/>
          <a:p>
            <a:endParaRPr lang="zh-CN" altLang="en-US"/>
          </a:p>
        </p:txBody>
      </p:sp>
      <p:sp>
        <p:nvSpPr>
          <p:cNvPr id="44" name="Text 42"/>
          <p:cNvSpPr/>
          <p:nvPr/>
        </p:nvSpPr>
        <p:spPr>
          <a:xfrm>
            <a:off x="816421" y="6393761"/>
            <a:ext cx="10919804" cy="246879"/>
          </a:xfrm>
          <a:prstGeom prst="rect">
            <a:avLst/>
          </a:prstGeom>
          <a:noFill/>
          <a:ln/>
        </p:spPr>
        <p:txBody>
          <a:bodyPr wrap="square" lIns="0" tIns="0" rIns="0" bIns="0" rtlCol="0" anchor="ctr"/>
          <a:lstStyle/>
          <a:p>
            <a:pPr>
              <a:lnSpc>
                <a:spcPct val="140000"/>
              </a:lnSpc>
            </a:pPr>
            <a:r>
              <a:rPr lang="en-US" sz="1196" b="1" dirty="0">
                <a:solidFill>
                  <a:srgbClr val="E0E2E5"/>
                </a:solidFill>
                <a:latin typeface="Noto Sans SC" pitchFamily="34" charset="0"/>
                <a:ea typeface="Noto Sans SC" pitchFamily="34" charset="-122"/>
                <a:cs typeface="Noto Sans SC" pitchFamily="34" charset="-120"/>
              </a:rPr>
              <a:t>核心洞察：</a:t>
            </a:r>
            <a:r>
              <a:rPr lang="en-US" sz="1196" dirty="0">
                <a:solidFill>
                  <a:srgbClr val="E0E2E5"/>
                </a:solidFill>
                <a:latin typeface="Noto Sans SC" pitchFamily="34" charset="0"/>
                <a:ea typeface="Noto Sans SC" pitchFamily="34" charset="-122"/>
                <a:cs typeface="Noto Sans SC" pitchFamily="34" charset="-120"/>
              </a:rPr>
              <a:t>这四个维度不仅勾勒出了 KV Cache 的内在结构特征，也是后续分类所有压缩算法和演进路线的导航坐标。</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400050" y="1644253"/>
            <a:ext cx="1790700" cy="419100"/>
          </a:xfrm>
          <a:custGeom>
            <a:avLst/>
            <a:gdLst/>
            <a:ahLst/>
            <a:cxnLst/>
            <a:rect l="l" t="t" r="r" b="b"/>
            <a:pathLst>
              <a:path w="1790700" h="419100">
                <a:moveTo>
                  <a:pt x="0" y="0"/>
                </a:moveTo>
                <a:lnTo>
                  <a:pt x="1790700" y="0"/>
                </a:lnTo>
                <a:lnTo>
                  <a:pt x="1790700" y="419100"/>
                </a:lnTo>
                <a:lnTo>
                  <a:pt x="0" y="419100"/>
                </a:lnTo>
                <a:lnTo>
                  <a:pt x="0" y="0"/>
                </a:lnTo>
                <a:close/>
              </a:path>
            </a:pathLst>
          </a:custGeom>
          <a:solidFill>
            <a:srgbClr val="C9A86A">
              <a:alpha val="20000"/>
            </a:srgbClr>
          </a:solidFill>
          <a:ln/>
        </p:spPr>
        <p:txBody>
          <a:bodyPr/>
          <a:lstStyle/>
          <a:p>
            <a:endParaRPr lang="zh-CN" altLang="en-US"/>
          </a:p>
        </p:txBody>
      </p:sp>
      <p:sp>
        <p:nvSpPr>
          <p:cNvPr id="5" name="Shape 2"/>
          <p:cNvSpPr/>
          <p:nvPr/>
        </p:nvSpPr>
        <p:spPr>
          <a:xfrm>
            <a:off x="400050" y="1644253"/>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C9A86A"/>
          </a:solidFill>
          <a:ln/>
        </p:spPr>
        <p:txBody>
          <a:bodyPr/>
          <a:lstStyle/>
          <a:p>
            <a:endParaRPr lang="zh-CN" altLang="en-US"/>
          </a:p>
        </p:txBody>
      </p:sp>
      <p:sp>
        <p:nvSpPr>
          <p:cNvPr id="6" name="Text 3"/>
          <p:cNvSpPr/>
          <p:nvPr/>
        </p:nvSpPr>
        <p:spPr>
          <a:xfrm>
            <a:off x="609600" y="1720453"/>
            <a:ext cx="1485900" cy="266700"/>
          </a:xfrm>
          <a:prstGeom prst="rect">
            <a:avLst/>
          </a:prstGeom>
          <a:noFill/>
          <a:ln/>
        </p:spPr>
        <p:txBody>
          <a:bodyPr wrap="square" lIns="0" tIns="0" rIns="0" bIns="0" rtlCol="0" anchor="ctr"/>
          <a:lstStyle/>
          <a:p>
            <a:pPr>
              <a:lnSpc>
                <a:spcPct val="120000"/>
              </a:lnSpc>
            </a:pPr>
            <a:r>
              <a:rPr lang="en-US" sz="1500" b="1" kern="0" spc="150" dirty="0">
                <a:solidFill>
                  <a:srgbClr val="C9A86A"/>
                </a:solidFill>
                <a:latin typeface="Noto Sans SC" pitchFamily="34" charset="0"/>
                <a:ea typeface="Noto Sans SC" pitchFamily="34" charset="-122"/>
                <a:cs typeface="Noto Sans SC" pitchFamily="34" charset="-120"/>
              </a:rPr>
              <a:t>CHAPTER 02</a:t>
            </a:r>
            <a:endParaRPr lang="en-US" sz="1600" dirty="0"/>
          </a:p>
        </p:txBody>
      </p:sp>
      <p:sp>
        <p:nvSpPr>
          <p:cNvPr id="7" name="Text 4"/>
          <p:cNvSpPr/>
          <p:nvPr/>
        </p:nvSpPr>
        <p:spPr>
          <a:xfrm>
            <a:off x="381000" y="2368153"/>
            <a:ext cx="11772900" cy="1714500"/>
          </a:xfrm>
          <a:prstGeom prst="rect">
            <a:avLst/>
          </a:prstGeom>
          <a:noFill/>
          <a:ln/>
        </p:spPr>
        <p:txBody>
          <a:bodyPr wrap="square" lIns="0" tIns="0" rIns="0" bIns="0" rtlCol="0" anchor="ctr"/>
          <a:lstStyle/>
          <a:p>
            <a:pPr>
              <a:lnSpc>
                <a:spcPct val="100000"/>
              </a:lnSpc>
            </a:pPr>
            <a:r>
              <a:rPr lang="en-US" sz="5400" b="1" dirty="0">
                <a:solidFill>
                  <a:srgbClr val="E0E2E5"/>
                </a:solidFill>
                <a:latin typeface="Noto Sans SC" pitchFamily="34" charset="0"/>
                <a:ea typeface="Noto Sans SC" pitchFamily="34" charset="-122"/>
                <a:cs typeface="Noto Sans SC" pitchFamily="34" charset="-120"/>
              </a:rPr>
              <a:t>KV Cache</a:t>
            </a:r>
            <a:endParaRPr lang="en-US" sz="1600" dirty="0"/>
          </a:p>
          <a:p>
            <a:pPr>
              <a:lnSpc>
                <a:spcPct val="100000"/>
              </a:lnSpc>
            </a:pPr>
            <a:r>
              <a:rPr lang="en-US" sz="5400" b="1" dirty="0">
                <a:solidFill>
                  <a:srgbClr val="E0E2E5"/>
                </a:solidFill>
                <a:latin typeface="Noto Sans SC" pitchFamily="34" charset="0"/>
                <a:ea typeface="Noto Sans SC" pitchFamily="34" charset="-122"/>
                <a:cs typeface="Noto Sans SC" pitchFamily="34" charset="-120"/>
              </a:rPr>
              <a:t>压缩技术全景</a:t>
            </a:r>
            <a:endParaRPr lang="en-US" sz="1600" dirty="0"/>
          </a:p>
        </p:txBody>
      </p:sp>
      <p:sp>
        <p:nvSpPr>
          <p:cNvPr id="8" name="Shape 5"/>
          <p:cNvSpPr/>
          <p:nvPr/>
        </p:nvSpPr>
        <p:spPr>
          <a:xfrm>
            <a:off x="381000" y="4387453"/>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9A86A"/>
          </a:solidFill>
          <a:ln/>
        </p:spPr>
        <p:txBody>
          <a:bodyPr/>
          <a:lstStyle/>
          <a:p>
            <a:endParaRPr lang="zh-CN" altLang="en-US"/>
          </a:p>
        </p:txBody>
      </p:sp>
      <p:sp>
        <p:nvSpPr>
          <p:cNvPr id="9" name="Text 6"/>
          <p:cNvSpPr/>
          <p:nvPr/>
        </p:nvSpPr>
        <p:spPr>
          <a:xfrm>
            <a:off x="381000" y="4749403"/>
            <a:ext cx="8677275" cy="466725"/>
          </a:xfrm>
          <a:prstGeom prst="rect">
            <a:avLst/>
          </a:prstGeom>
          <a:noFill/>
          <a:ln/>
        </p:spPr>
        <p:txBody>
          <a:bodyPr wrap="square" lIns="0" tIns="0" rIns="0" bIns="0" rtlCol="0" anchor="ctr"/>
          <a:lstStyle/>
          <a:p>
            <a:pPr>
              <a:lnSpc>
                <a:spcPct val="140000"/>
              </a:lnSpc>
            </a:pPr>
            <a:r>
              <a:rPr lang="en-US" sz="2250" dirty="0">
                <a:solidFill>
                  <a:srgbClr val="E0E2E5">
                    <a:alpha val="80000"/>
                  </a:srgbClr>
                </a:solidFill>
                <a:latin typeface="Noto Sans SC" pitchFamily="34" charset="0"/>
                <a:ea typeface="Noto Sans SC" pitchFamily="34" charset="-122"/>
                <a:cs typeface="Noto Sans SC" pitchFamily="34" charset="-120"/>
              </a:rPr>
              <a:t>基于四维冗余模型，梳理各维度的代表性压缩技术</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21265" y="321265"/>
            <a:ext cx="11613723" cy="192759"/>
          </a:xfrm>
          <a:prstGeom prst="rect">
            <a:avLst/>
          </a:prstGeom>
          <a:noFill/>
          <a:ln/>
        </p:spPr>
        <p:txBody>
          <a:bodyPr wrap="square" lIns="0" tIns="0" rIns="0" bIns="0" rtlCol="0" anchor="ctr"/>
          <a:lstStyle/>
          <a:p>
            <a:pPr>
              <a:lnSpc>
                <a:spcPct val="120000"/>
              </a:lnSpc>
            </a:pPr>
            <a:r>
              <a:rPr lang="en-US" sz="1012" b="1" kern="0" spc="101" dirty="0">
                <a:solidFill>
                  <a:srgbClr val="3D8B75"/>
                </a:solidFill>
                <a:latin typeface="MiSans" pitchFamily="34" charset="0"/>
                <a:ea typeface="MiSans" pitchFamily="34" charset="-122"/>
                <a:cs typeface="MiSans" pitchFamily="34" charset="-120"/>
              </a:rPr>
              <a:t>TOKEN DIMENSION</a:t>
            </a:r>
            <a:endParaRPr lang="en-US" sz="1600" dirty="0"/>
          </a:p>
        </p:txBody>
      </p:sp>
      <p:sp>
        <p:nvSpPr>
          <p:cNvPr id="3" name="Text 1"/>
          <p:cNvSpPr/>
          <p:nvPr/>
        </p:nvSpPr>
        <p:spPr>
          <a:xfrm>
            <a:off x="321265" y="578277"/>
            <a:ext cx="11694040" cy="321265"/>
          </a:xfrm>
          <a:prstGeom prst="rect">
            <a:avLst/>
          </a:prstGeom>
          <a:noFill/>
          <a:ln/>
        </p:spPr>
        <p:txBody>
          <a:bodyPr wrap="square" lIns="0" tIns="0" rIns="0" bIns="0" rtlCol="0" anchor="ctr"/>
          <a:lstStyle/>
          <a:p>
            <a:pPr>
              <a:lnSpc>
                <a:spcPct val="90000"/>
              </a:lnSpc>
            </a:pPr>
            <a:r>
              <a:rPr lang="en-US" sz="2277" b="1" dirty="0">
                <a:solidFill>
                  <a:srgbClr val="E0E2E5"/>
                </a:solidFill>
                <a:latin typeface="Noto Sans SC" pitchFamily="34" charset="0"/>
                <a:ea typeface="Noto Sans SC" pitchFamily="34" charset="-122"/>
                <a:cs typeface="Noto Sans SC" pitchFamily="34" charset="-120"/>
              </a:rPr>
              <a:t>Token 维压缩：Pruning 与 Eviction</a:t>
            </a:r>
            <a:endParaRPr lang="en-US" sz="1600" dirty="0"/>
          </a:p>
        </p:txBody>
      </p:sp>
      <p:sp>
        <p:nvSpPr>
          <p:cNvPr id="4" name="Shape 2"/>
          <p:cNvSpPr/>
          <p:nvPr/>
        </p:nvSpPr>
        <p:spPr>
          <a:xfrm>
            <a:off x="321265" y="995921"/>
            <a:ext cx="771036" cy="32126"/>
          </a:xfrm>
          <a:custGeom>
            <a:avLst/>
            <a:gdLst/>
            <a:ahLst/>
            <a:cxnLst/>
            <a:rect l="l" t="t" r="r" b="b"/>
            <a:pathLst>
              <a:path w="771036" h="32126">
                <a:moveTo>
                  <a:pt x="0" y="0"/>
                </a:moveTo>
                <a:lnTo>
                  <a:pt x="771036" y="0"/>
                </a:lnTo>
                <a:lnTo>
                  <a:pt x="771036" y="32126"/>
                </a:lnTo>
                <a:lnTo>
                  <a:pt x="0" y="32126"/>
                </a:lnTo>
                <a:lnTo>
                  <a:pt x="0" y="0"/>
                </a:lnTo>
                <a:close/>
              </a:path>
            </a:pathLst>
          </a:custGeom>
          <a:solidFill>
            <a:srgbClr val="C9A86A"/>
          </a:solidFill>
          <a:ln/>
        </p:spPr>
        <p:txBody>
          <a:bodyPr/>
          <a:lstStyle/>
          <a:p>
            <a:endParaRPr lang="zh-CN" altLang="en-US"/>
          </a:p>
        </p:txBody>
      </p:sp>
      <p:sp>
        <p:nvSpPr>
          <p:cNvPr id="5" name="Shape 3"/>
          <p:cNvSpPr/>
          <p:nvPr/>
        </p:nvSpPr>
        <p:spPr>
          <a:xfrm>
            <a:off x="337328" y="1156553"/>
            <a:ext cx="5678356" cy="2232791"/>
          </a:xfrm>
          <a:custGeom>
            <a:avLst/>
            <a:gdLst/>
            <a:ahLst/>
            <a:cxnLst/>
            <a:rect l="l" t="t" r="r" b="b"/>
            <a:pathLst>
              <a:path w="5678356" h="2232791">
                <a:moveTo>
                  <a:pt x="32126" y="0"/>
                </a:moveTo>
                <a:lnTo>
                  <a:pt x="5614096" y="0"/>
                </a:lnTo>
                <a:cubicBezTo>
                  <a:pt x="5649586" y="0"/>
                  <a:pt x="5678356" y="28770"/>
                  <a:pt x="5678356" y="64260"/>
                </a:cubicBezTo>
                <a:lnTo>
                  <a:pt x="5678356" y="2168531"/>
                </a:lnTo>
                <a:cubicBezTo>
                  <a:pt x="5678356" y="2204020"/>
                  <a:pt x="5649586" y="2232791"/>
                  <a:pt x="5614096" y="2232791"/>
                </a:cubicBezTo>
                <a:lnTo>
                  <a:pt x="32126" y="2232791"/>
                </a:lnTo>
                <a:cubicBezTo>
                  <a:pt x="14384" y="2232791"/>
                  <a:pt x="0" y="2218407"/>
                  <a:pt x="0" y="2200664"/>
                </a:cubicBezTo>
                <a:lnTo>
                  <a:pt x="0" y="32126"/>
                </a:lnTo>
                <a:cubicBezTo>
                  <a:pt x="0" y="14384"/>
                  <a:pt x="14384" y="0"/>
                  <a:pt x="32126" y="0"/>
                </a:cubicBezTo>
                <a:close/>
              </a:path>
            </a:pathLst>
          </a:custGeom>
          <a:solidFill>
            <a:srgbClr val="3D8B75">
              <a:alpha val="10196"/>
            </a:srgbClr>
          </a:solidFill>
          <a:ln/>
        </p:spPr>
        <p:txBody>
          <a:bodyPr/>
          <a:lstStyle/>
          <a:p>
            <a:endParaRPr lang="zh-CN" altLang="en-US"/>
          </a:p>
        </p:txBody>
      </p:sp>
      <p:sp>
        <p:nvSpPr>
          <p:cNvPr id="6" name="Shape 4"/>
          <p:cNvSpPr/>
          <p:nvPr/>
        </p:nvSpPr>
        <p:spPr>
          <a:xfrm>
            <a:off x="337328" y="1156553"/>
            <a:ext cx="32126" cy="2232791"/>
          </a:xfrm>
          <a:custGeom>
            <a:avLst/>
            <a:gdLst/>
            <a:ahLst/>
            <a:cxnLst/>
            <a:rect l="l" t="t" r="r" b="b"/>
            <a:pathLst>
              <a:path w="32126" h="2232791">
                <a:moveTo>
                  <a:pt x="32126" y="0"/>
                </a:moveTo>
                <a:lnTo>
                  <a:pt x="32126" y="0"/>
                </a:lnTo>
                <a:lnTo>
                  <a:pt x="32126" y="2232791"/>
                </a:lnTo>
                <a:lnTo>
                  <a:pt x="32126" y="2232791"/>
                </a:lnTo>
                <a:cubicBezTo>
                  <a:pt x="14384" y="2232791"/>
                  <a:pt x="0" y="2218407"/>
                  <a:pt x="0" y="2200664"/>
                </a:cubicBezTo>
                <a:lnTo>
                  <a:pt x="0" y="32126"/>
                </a:lnTo>
                <a:cubicBezTo>
                  <a:pt x="0" y="14384"/>
                  <a:pt x="14384" y="0"/>
                  <a:pt x="32126" y="0"/>
                </a:cubicBezTo>
                <a:close/>
              </a:path>
            </a:pathLst>
          </a:custGeom>
          <a:solidFill>
            <a:srgbClr val="3D8B75"/>
          </a:solidFill>
          <a:ln/>
        </p:spPr>
        <p:txBody>
          <a:bodyPr/>
          <a:lstStyle/>
          <a:p>
            <a:endParaRPr lang="zh-CN" altLang="en-US"/>
          </a:p>
        </p:txBody>
      </p:sp>
      <p:sp>
        <p:nvSpPr>
          <p:cNvPr id="7" name="Text 5"/>
          <p:cNvSpPr/>
          <p:nvPr/>
        </p:nvSpPr>
        <p:spPr>
          <a:xfrm>
            <a:off x="514024" y="1317186"/>
            <a:ext cx="5421344" cy="224885"/>
          </a:xfrm>
          <a:prstGeom prst="rect">
            <a:avLst/>
          </a:prstGeom>
          <a:noFill/>
          <a:ln/>
        </p:spPr>
        <p:txBody>
          <a:bodyPr wrap="square" lIns="0" tIns="0" rIns="0" bIns="0" rtlCol="0" anchor="ctr"/>
          <a:lstStyle/>
          <a:p>
            <a:pPr>
              <a:lnSpc>
                <a:spcPct val="120000"/>
              </a:lnSpc>
            </a:pPr>
            <a:r>
              <a:rPr lang="en-US" sz="1265" b="1" dirty="0">
                <a:solidFill>
                  <a:srgbClr val="E0E2E5"/>
                </a:solidFill>
                <a:latin typeface="Noto Sans SC" pitchFamily="34" charset="0"/>
                <a:ea typeface="Noto Sans SC" pitchFamily="34" charset="-122"/>
                <a:cs typeface="Noto Sans SC" pitchFamily="34" charset="-120"/>
              </a:rPr>
              <a:t>核心思想</a:t>
            </a:r>
            <a:endParaRPr lang="en-US" sz="1600" dirty="0"/>
          </a:p>
        </p:txBody>
      </p:sp>
      <p:sp>
        <p:nvSpPr>
          <p:cNvPr id="8" name="Text 6"/>
          <p:cNvSpPr/>
          <p:nvPr/>
        </p:nvSpPr>
        <p:spPr>
          <a:xfrm>
            <a:off x="514024" y="1638451"/>
            <a:ext cx="5405281" cy="417644"/>
          </a:xfrm>
          <a:prstGeom prst="rect">
            <a:avLst/>
          </a:prstGeom>
          <a:noFill/>
          <a:ln/>
        </p:spPr>
        <p:txBody>
          <a:bodyPr wrap="square" lIns="0" tIns="0" rIns="0" bIns="0" rtlCol="0" anchor="ctr"/>
          <a:lstStyle/>
          <a:p>
            <a:pPr>
              <a:lnSpc>
                <a:spcPct val="140000"/>
              </a:lnSpc>
            </a:pPr>
            <a:r>
              <a:rPr lang="en-US" sz="1012" dirty="0">
                <a:solidFill>
                  <a:srgbClr val="E0E2E5">
                    <a:alpha val="80000"/>
                  </a:srgbClr>
                </a:solidFill>
                <a:latin typeface="Noto Sans SC" pitchFamily="34" charset="0"/>
                <a:ea typeface="Noto Sans SC" pitchFamily="34" charset="-122"/>
                <a:cs typeface="Noto Sans SC" pitchFamily="34" charset="-120"/>
              </a:rPr>
              <a:t>Token 维压缩是最直接的方法——</a:t>
            </a:r>
            <a:r>
              <a:rPr lang="en-US" sz="1012" dirty="0">
                <a:solidFill>
                  <a:srgbClr val="3D8B75"/>
                </a:solidFill>
                <a:highlight>
                  <a:srgbClr val="3D8B75">
                    <a:alpha val="20000"/>
                  </a:srgbClr>
                </a:highlight>
                <a:latin typeface="Noto Sans SC" pitchFamily="34" charset="0"/>
                <a:ea typeface="Noto Sans SC" pitchFamily="34" charset="-122"/>
                <a:cs typeface="Noto Sans SC" pitchFamily="34" charset="-120"/>
              </a:rPr>
              <a:t> 识别并删除重要性低的 token 的 KV 对 </a:t>
            </a:r>
            <a:r>
              <a:rPr lang="en-US" sz="1012" dirty="0">
                <a:solidFill>
                  <a:srgbClr val="E0E2E5">
                    <a:alpha val="80000"/>
                  </a:srgbClr>
                </a:solidFill>
                <a:latin typeface="Noto Sans SC" pitchFamily="34" charset="0"/>
                <a:ea typeface="Noto Sans SC" pitchFamily="34" charset="-122"/>
                <a:cs typeface="Noto Sans SC" pitchFamily="34" charset="-120"/>
              </a:rPr>
              <a:t>，从根本上削减 KV 序列的长度。</a:t>
            </a:r>
            <a:endParaRPr lang="en-US" sz="1600" dirty="0"/>
          </a:p>
        </p:txBody>
      </p:sp>
      <p:sp>
        <p:nvSpPr>
          <p:cNvPr id="9" name="Shape 7"/>
          <p:cNvSpPr/>
          <p:nvPr/>
        </p:nvSpPr>
        <p:spPr>
          <a:xfrm>
            <a:off x="514024" y="2473739"/>
            <a:ext cx="5341028" cy="754972"/>
          </a:xfrm>
          <a:custGeom>
            <a:avLst/>
            <a:gdLst/>
            <a:ahLst/>
            <a:cxnLst/>
            <a:rect l="l" t="t" r="r" b="b"/>
            <a:pathLst>
              <a:path w="5341028" h="754972">
                <a:moveTo>
                  <a:pt x="64256" y="0"/>
                </a:moveTo>
                <a:lnTo>
                  <a:pt x="5276772" y="0"/>
                </a:lnTo>
                <a:cubicBezTo>
                  <a:pt x="5312259" y="0"/>
                  <a:pt x="5341028" y="28768"/>
                  <a:pt x="5341028" y="64256"/>
                </a:cubicBezTo>
                <a:lnTo>
                  <a:pt x="5341028" y="690717"/>
                </a:lnTo>
                <a:cubicBezTo>
                  <a:pt x="5341028" y="726204"/>
                  <a:pt x="5312259" y="754972"/>
                  <a:pt x="5276772" y="754972"/>
                </a:cubicBezTo>
                <a:lnTo>
                  <a:pt x="64256" y="754972"/>
                </a:lnTo>
                <a:cubicBezTo>
                  <a:pt x="28768" y="754972"/>
                  <a:pt x="0" y="726204"/>
                  <a:pt x="0" y="690717"/>
                </a:cubicBezTo>
                <a:lnTo>
                  <a:pt x="0" y="64256"/>
                </a:lnTo>
                <a:cubicBezTo>
                  <a:pt x="0" y="28768"/>
                  <a:pt x="28768" y="0"/>
                  <a:pt x="64256" y="0"/>
                </a:cubicBezTo>
                <a:close/>
              </a:path>
            </a:pathLst>
          </a:custGeom>
          <a:solidFill>
            <a:srgbClr val="1A1D21">
              <a:alpha val="50196"/>
            </a:srgbClr>
          </a:solidFill>
          <a:ln/>
        </p:spPr>
        <p:txBody>
          <a:bodyPr/>
          <a:lstStyle/>
          <a:p>
            <a:endParaRPr lang="zh-CN" altLang="en-US"/>
          </a:p>
        </p:txBody>
      </p:sp>
      <p:sp>
        <p:nvSpPr>
          <p:cNvPr id="10" name="Text 8"/>
          <p:cNvSpPr/>
          <p:nvPr/>
        </p:nvSpPr>
        <p:spPr>
          <a:xfrm>
            <a:off x="642530" y="2602245"/>
            <a:ext cx="5148269" cy="192759"/>
          </a:xfrm>
          <a:prstGeom prst="rect">
            <a:avLst/>
          </a:prstGeom>
          <a:noFill/>
          <a:ln/>
        </p:spPr>
        <p:txBody>
          <a:bodyPr wrap="square" lIns="0" tIns="0" rIns="0" bIns="0" rtlCol="0" anchor="ctr"/>
          <a:lstStyle/>
          <a:p>
            <a:pPr>
              <a:lnSpc>
                <a:spcPct val="120000"/>
              </a:lnSpc>
            </a:pPr>
            <a:r>
              <a:rPr lang="en-US" sz="1012" b="1" dirty="0">
                <a:solidFill>
                  <a:srgbClr val="C9A86A"/>
                </a:solidFill>
                <a:latin typeface="Noto Sans SC" pitchFamily="34" charset="0"/>
                <a:ea typeface="Noto Sans SC" pitchFamily="34" charset="-122"/>
                <a:cs typeface="Noto Sans SC" pitchFamily="34" charset="-120"/>
              </a:rPr>
              <a:t>一句话本质</a:t>
            </a:r>
            <a:endParaRPr lang="en-US" sz="1600" dirty="0"/>
          </a:p>
        </p:txBody>
      </p:sp>
      <p:sp>
        <p:nvSpPr>
          <p:cNvPr id="11" name="Text 9"/>
          <p:cNvSpPr/>
          <p:nvPr/>
        </p:nvSpPr>
        <p:spPr>
          <a:xfrm>
            <a:off x="642530" y="2891383"/>
            <a:ext cx="5148269" cy="208822"/>
          </a:xfrm>
          <a:prstGeom prst="rect">
            <a:avLst/>
          </a:prstGeom>
          <a:noFill/>
          <a:ln/>
        </p:spPr>
        <p:txBody>
          <a:bodyPr wrap="square" lIns="0" tIns="0" rIns="0" bIns="0" rtlCol="0" anchor="ctr"/>
          <a:lstStyle/>
          <a:p>
            <a:pPr>
              <a:lnSpc>
                <a:spcPct val="140000"/>
              </a:lnSpc>
            </a:pPr>
            <a:r>
              <a:rPr lang="en-US" sz="1012" dirty="0">
                <a:solidFill>
                  <a:srgbClr val="E0E2E5">
                    <a:alpha val="80000"/>
                  </a:srgbClr>
                </a:solidFill>
                <a:latin typeface="Noto Sans SC" pitchFamily="34" charset="0"/>
                <a:ea typeface="Noto Sans SC" pitchFamily="34" charset="-122"/>
                <a:cs typeface="Noto Sans SC" pitchFamily="34" charset="-120"/>
              </a:rPr>
              <a:t>Token 维压缩的本质是</a:t>
            </a:r>
            <a:r>
              <a:rPr lang="en-US" sz="1012" b="1" dirty="0">
                <a:solidFill>
                  <a:srgbClr val="E0E2E5">
                    <a:alpha val="80000"/>
                  </a:srgbClr>
                </a:solidFill>
                <a:latin typeface="Noto Sans SC" pitchFamily="34" charset="0"/>
                <a:ea typeface="Noto Sans SC" pitchFamily="34" charset="-122"/>
                <a:cs typeface="Noto Sans SC" pitchFamily="34" charset="-120"/>
              </a:rPr>
              <a:t>通过重要性筛选，用最少的信息丢弃换取最大的显存释放</a:t>
            </a:r>
            <a:r>
              <a:rPr lang="en-US" sz="1012"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12" name="Shape 10"/>
          <p:cNvSpPr/>
          <p:nvPr/>
        </p:nvSpPr>
        <p:spPr>
          <a:xfrm>
            <a:off x="337328" y="3517850"/>
            <a:ext cx="5678356" cy="3019889"/>
          </a:xfrm>
          <a:custGeom>
            <a:avLst/>
            <a:gdLst/>
            <a:ahLst/>
            <a:cxnLst/>
            <a:rect l="l" t="t" r="r" b="b"/>
            <a:pathLst>
              <a:path w="5678356" h="3019889">
                <a:moveTo>
                  <a:pt x="32126" y="0"/>
                </a:moveTo>
                <a:lnTo>
                  <a:pt x="5614092" y="0"/>
                </a:lnTo>
                <a:cubicBezTo>
                  <a:pt x="5649584" y="0"/>
                  <a:pt x="5678356" y="28772"/>
                  <a:pt x="5678356" y="64263"/>
                </a:cubicBezTo>
                <a:lnTo>
                  <a:pt x="5678356" y="2955626"/>
                </a:lnTo>
                <a:cubicBezTo>
                  <a:pt x="5678356" y="2991118"/>
                  <a:pt x="5649584" y="3019889"/>
                  <a:pt x="5614092" y="3019889"/>
                </a:cubicBezTo>
                <a:lnTo>
                  <a:pt x="32126" y="3019889"/>
                </a:lnTo>
                <a:cubicBezTo>
                  <a:pt x="14384" y="3019889"/>
                  <a:pt x="0" y="3005506"/>
                  <a:pt x="0" y="2987763"/>
                </a:cubicBezTo>
                <a:lnTo>
                  <a:pt x="0" y="32126"/>
                </a:lnTo>
                <a:cubicBezTo>
                  <a:pt x="0" y="14395"/>
                  <a:pt x="14395" y="0"/>
                  <a:pt x="32126" y="0"/>
                </a:cubicBezTo>
                <a:close/>
              </a:path>
            </a:pathLst>
          </a:custGeom>
          <a:solidFill>
            <a:srgbClr val="5F6B7A">
              <a:alpha val="10196"/>
            </a:srgbClr>
          </a:solidFill>
          <a:ln/>
        </p:spPr>
        <p:txBody>
          <a:bodyPr/>
          <a:lstStyle/>
          <a:p>
            <a:endParaRPr lang="zh-CN" altLang="en-US"/>
          </a:p>
        </p:txBody>
      </p:sp>
      <p:sp>
        <p:nvSpPr>
          <p:cNvPr id="13" name="Shape 11"/>
          <p:cNvSpPr/>
          <p:nvPr/>
        </p:nvSpPr>
        <p:spPr>
          <a:xfrm>
            <a:off x="337328" y="3517850"/>
            <a:ext cx="32126" cy="3019889"/>
          </a:xfrm>
          <a:custGeom>
            <a:avLst/>
            <a:gdLst/>
            <a:ahLst/>
            <a:cxnLst/>
            <a:rect l="l" t="t" r="r" b="b"/>
            <a:pathLst>
              <a:path w="32126" h="3019889">
                <a:moveTo>
                  <a:pt x="32126" y="0"/>
                </a:moveTo>
                <a:lnTo>
                  <a:pt x="32126" y="0"/>
                </a:lnTo>
                <a:lnTo>
                  <a:pt x="32126" y="3019889"/>
                </a:lnTo>
                <a:lnTo>
                  <a:pt x="32126" y="3019889"/>
                </a:lnTo>
                <a:cubicBezTo>
                  <a:pt x="14384" y="3019889"/>
                  <a:pt x="0" y="3005506"/>
                  <a:pt x="0" y="2987763"/>
                </a:cubicBezTo>
                <a:lnTo>
                  <a:pt x="0" y="32126"/>
                </a:lnTo>
                <a:cubicBezTo>
                  <a:pt x="0" y="14384"/>
                  <a:pt x="14384" y="0"/>
                  <a:pt x="32126" y="0"/>
                </a:cubicBezTo>
                <a:close/>
              </a:path>
            </a:pathLst>
          </a:custGeom>
          <a:solidFill>
            <a:srgbClr val="5F6B7A"/>
          </a:solidFill>
          <a:ln/>
        </p:spPr>
        <p:txBody>
          <a:bodyPr/>
          <a:lstStyle/>
          <a:p>
            <a:endParaRPr lang="zh-CN" altLang="en-US"/>
          </a:p>
        </p:txBody>
      </p:sp>
      <p:sp>
        <p:nvSpPr>
          <p:cNvPr id="14" name="Shape 12"/>
          <p:cNvSpPr/>
          <p:nvPr/>
        </p:nvSpPr>
        <p:spPr>
          <a:xfrm>
            <a:off x="524063" y="3710609"/>
            <a:ext cx="180711" cy="160632"/>
          </a:xfrm>
          <a:custGeom>
            <a:avLst/>
            <a:gdLst/>
            <a:ahLst/>
            <a:cxnLst/>
            <a:rect l="l" t="t" r="r" b="b"/>
            <a:pathLst>
              <a:path w="180711" h="160632">
                <a:moveTo>
                  <a:pt x="90356" y="20079"/>
                </a:moveTo>
                <a:cubicBezTo>
                  <a:pt x="123612" y="20079"/>
                  <a:pt x="150593" y="47060"/>
                  <a:pt x="150593" y="80316"/>
                </a:cubicBezTo>
                <a:cubicBezTo>
                  <a:pt x="150593" y="113572"/>
                  <a:pt x="123612" y="140553"/>
                  <a:pt x="90356" y="140553"/>
                </a:cubicBezTo>
                <a:cubicBezTo>
                  <a:pt x="69900" y="140553"/>
                  <a:pt x="51798" y="130357"/>
                  <a:pt x="40911" y="114733"/>
                </a:cubicBezTo>
                <a:cubicBezTo>
                  <a:pt x="37742" y="110184"/>
                  <a:pt x="31468" y="109086"/>
                  <a:pt x="26918" y="112254"/>
                </a:cubicBezTo>
                <a:cubicBezTo>
                  <a:pt x="22369" y="115423"/>
                  <a:pt x="21271" y="121698"/>
                  <a:pt x="24440" y="126247"/>
                </a:cubicBezTo>
                <a:cubicBezTo>
                  <a:pt x="38935" y="147016"/>
                  <a:pt x="63061" y="160632"/>
                  <a:pt x="90356" y="160632"/>
                </a:cubicBezTo>
                <a:cubicBezTo>
                  <a:pt x="134718" y="160632"/>
                  <a:pt x="170672" y="124678"/>
                  <a:pt x="170672" y="80316"/>
                </a:cubicBezTo>
                <a:cubicBezTo>
                  <a:pt x="170672" y="35954"/>
                  <a:pt x="134718" y="0"/>
                  <a:pt x="90356" y="0"/>
                </a:cubicBezTo>
                <a:cubicBezTo>
                  <a:pt x="63469" y="0"/>
                  <a:pt x="39688" y="13208"/>
                  <a:pt x="25099" y="33476"/>
                </a:cubicBezTo>
                <a:lnTo>
                  <a:pt x="25099" y="25099"/>
                </a:lnTo>
                <a:cubicBezTo>
                  <a:pt x="25099" y="19546"/>
                  <a:pt x="20612" y="15059"/>
                  <a:pt x="15059" y="15059"/>
                </a:cubicBezTo>
                <a:cubicBezTo>
                  <a:pt x="9506" y="15059"/>
                  <a:pt x="5020" y="19546"/>
                  <a:pt x="5020" y="25099"/>
                </a:cubicBezTo>
                <a:lnTo>
                  <a:pt x="5020" y="60237"/>
                </a:lnTo>
                <a:cubicBezTo>
                  <a:pt x="5020" y="65790"/>
                  <a:pt x="9506" y="70277"/>
                  <a:pt x="15059" y="70277"/>
                </a:cubicBezTo>
                <a:lnTo>
                  <a:pt x="22777" y="70277"/>
                </a:lnTo>
                <a:cubicBezTo>
                  <a:pt x="22934" y="70277"/>
                  <a:pt x="23091" y="70277"/>
                  <a:pt x="23248" y="70277"/>
                </a:cubicBezTo>
                <a:lnTo>
                  <a:pt x="50229" y="70277"/>
                </a:lnTo>
                <a:cubicBezTo>
                  <a:pt x="55782" y="70277"/>
                  <a:pt x="60269" y="65790"/>
                  <a:pt x="60269" y="60237"/>
                </a:cubicBezTo>
                <a:cubicBezTo>
                  <a:pt x="60269" y="54684"/>
                  <a:pt x="55782" y="50198"/>
                  <a:pt x="50229" y="50198"/>
                </a:cubicBezTo>
                <a:lnTo>
                  <a:pt x="38213" y="50198"/>
                </a:lnTo>
                <a:cubicBezTo>
                  <a:pt x="48598" y="32189"/>
                  <a:pt x="68081" y="20079"/>
                  <a:pt x="90356" y="20079"/>
                </a:cubicBezTo>
                <a:close/>
                <a:moveTo>
                  <a:pt x="97885" y="47688"/>
                </a:moveTo>
                <a:cubicBezTo>
                  <a:pt x="97885" y="43515"/>
                  <a:pt x="94528" y="40158"/>
                  <a:pt x="90356" y="40158"/>
                </a:cubicBezTo>
                <a:cubicBezTo>
                  <a:pt x="86183" y="40158"/>
                  <a:pt x="82826" y="43515"/>
                  <a:pt x="82826" y="47688"/>
                </a:cubicBezTo>
                <a:lnTo>
                  <a:pt x="82826" y="80316"/>
                </a:lnTo>
                <a:cubicBezTo>
                  <a:pt x="82826" y="82324"/>
                  <a:pt x="83610" y="84238"/>
                  <a:pt x="85022" y="85650"/>
                </a:cubicBezTo>
                <a:lnTo>
                  <a:pt x="107611" y="108239"/>
                </a:lnTo>
                <a:cubicBezTo>
                  <a:pt x="110560" y="111188"/>
                  <a:pt x="115329" y="111188"/>
                  <a:pt x="118247" y="108239"/>
                </a:cubicBezTo>
                <a:cubicBezTo>
                  <a:pt x="121165" y="105290"/>
                  <a:pt x="121196" y="100521"/>
                  <a:pt x="118247" y="97603"/>
                </a:cubicBezTo>
                <a:lnTo>
                  <a:pt x="97854" y="77210"/>
                </a:lnTo>
                <a:lnTo>
                  <a:pt x="97854" y="47688"/>
                </a:lnTo>
                <a:close/>
              </a:path>
            </a:pathLst>
          </a:custGeom>
          <a:solidFill>
            <a:srgbClr val="5F6B7A"/>
          </a:solidFill>
          <a:ln/>
        </p:spPr>
        <p:txBody>
          <a:bodyPr/>
          <a:lstStyle/>
          <a:p>
            <a:endParaRPr lang="zh-CN" altLang="en-US"/>
          </a:p>
        </p:txBody>
      </p:sp>
      <p:sp>
        <p:nvSpPr>
          <p:cNvPr id="15" name="Text 13"/>
          <p:cNvSpPr/>
          <p:nvPr/>
        </p:nvSpPr>
        <p:spPr>
          <a:xfrm>
            <a:off x="714814" y="3678482"/>
            <a:ext cx="5220553" cy="224885"/>
          </a:xfrm>
          <a:prstGeom prst="rect">
            <a:avLst/>
          </a:prstGeom>
          <a:noFill/>
          <a:ln/>
        </p:spPr>
        <p:txBody>
          <a:bodyPr wrap="square" lIns="0" tIns="0" rIns="0" bIns="0" rtlCol="0" anchor="ctr"/>
          <a:lstStyle/>
          <a:p>
            <a:pPr>
              <a:lnSpc>
                <a:spcPct val="120000"/>
              </a:lnSpc>
            </a:pPr>
            <a:r>
              <a:rPr lang="en-US" sz="1265" b="1" dirty="0">
                <a:solidFill>
                  <a:srgbClr val="E0E2E5"/>
                </a:solidFill>
                <a:latin typeface="Noto Sans SC" pitchFamily="34" charset="0"/>
                <a:ea typeface="Noto Sans SC" pitchFamily="34" charset="-122"/>
                <a:cs typeface="Noto Sans SC" pitchFamily="34" charset="-120"/>
              </a:rPr>
              <a:t>早期方法</a:t>
            </a:r>
            <a:endParaRPr lang="en-US" sz="1600" dirty="0"/>
          </a:p>
        </p:txBody>
      </p:sp>
      <p:sp>
        <p:nvSpPr>
          <p:cNvPr id="16" name="Shape 14"/>
          <p:cNvSpPr/>
          <p:nvPr/>
        </p:nvSpPr>
        <p:spPr>
          <a:xfrm>
            <a:off x="514024" y="3999747"/>
            <a:ext cx="5341028" cy="546150"/>
          </a:xfrm>
          <a:custGeom>
            <a:avLst/>
            <a:gdLst/>
            <a:ahLst/>
            <a:cxnLst/>
            <a:rect l="l" t="t" r="r" b="b"/>
            <a:pathLst>
              <a:path w="5341028" h="546150">
                <a:moveTo>
                  <a:pt x="64255" y="0"/>
                </a:moveTo>
                <a:lnTo>
                  <a:pt x="5276773" y="0"/>
                </a:lnTo>
                <a:cubicBezTo>
                  <a:pt x="5312260" y="0"/>
                  <a:pt x="5341028" y="28768"/>
                  <a:pt x="5341028" y="64255"/>
                </a:cubicBezTo>
                <a:lnTo>
                  <a:pt x="5341028" y="481896"/>
                </a:lnTo>
                <a:cubicBezTo>
                  <a:pt x="5341028" y="517382"/>
                  <a:pt x="5312260" y="546150"/>
                  <a:pt x="5276773" y="546150"/>
                </a:cubicBezTo>
                <a:lnTo>
                  <a:pt x="64255" y="546150"/>
                </a:lnTo>
                <a:cubicBezTo>
                  <a:pt x="28768" y="546150"/>
                  <a:pt x="0" y="517382"/>
                  <a:pt x="0" y="481896"/>
                </a:cubicBezTo>
                <a:lnTo>
                  <a:pt x="0" y="64255"/>
                </a:lnTo>
                <a:cubicBezTo>
                  <a:pt x="0" y="28792"/>
                  <a:pt x="28792" y="0"/>
                  <a:pt x="64255" y="0"/>
                </a:cubicBezTo>
                <a:close/>
              </a:path>
            </a:pathLst>
          </a:custGeom>
          <a:solidFill>
            <a:srgbClr val="1A1D21">
              <a:alpha val="50196"/>
            </a:srgbClr>
          </a:solidFill>
          <a:ln/>
        </p:spPr>
        <p:txBody>
          <a:bodyPr/>
          <a:lstStyle/>
          <a:p>
            <a:endParaRPr lang="zh-CN" altLang="en-US"/>
          </a:p>
        </p:txBody>
      </p:sp>
      <p:sp>
        <p:nvSpPr>
          <p:cNvPr id="17" name="Text 15"/>
          <p:cNvSpPr/>
          <p:nvPr/>
        </p:nvSpPr>
        <p:spPr>
          <a:xfrm>
            <a:off x="610403" y="4096126"/>
            <a:ext cx="5212522" cy="192759"/>
          </a:xfrm>
          <a:prstGeom prst="rect">
            <a:avLst/>
          </a:prstGeom>
          <a:noFill/>
          <a:ln/>
        </p:spPr>
        <p:txBody>
          <a:bodyPr wrap="square" lIns="0" tIns="0" rIns="0" bIns="0" rtlCol="0" anchor="ctr"/>
          <a:lstStyle/>
          <a:p>
            <a:pPr>
              <a:lnSpc>
                <a:spcPct val="120000"/>
              </a:lnSpc>
            </a:pPr>
            <a:r>
              <a:rPr lang="en-US" sz="1012" b="1" dirty="0">
                <a:solidFill>
                  <a:srgbClr val="E0E2E5"/>
                </a:solidFill>
                <a:latin typeface="Noto Sans SC" pitchFamily="34" charset="0"/>
                <a:ea typeface="Noto Sans SC" pitchFamily="34" charset="-122"/>
                <a:cs typeface="Noto Sans SC" pitchFamily="34" charset="-120"/>
              </a:rPr>
              <a:t>SnapKV</a:t>
            </a:r>
            <a:endParaRPr lang="en-US" sz="1600" dirty="0"/>
          </a:p>
        </p:txBody>
      </p:sp>
      <p:sp>
        <p:nvSpPr>
          <p:cNvPr id="18" name="Text 16"/>
          <p:cNvSpPr/>
          <p:nvPr/>
        </p:nvSpPr>
        <p:spPr>
          <a:xfrm>
            <a:off x="610403" y="4288885"/>
            <a:ext cx="5204490" cy="160632"/>
          </a:xfrm>
          <a:prstGeom prst="rect">
            <a:avLst/>
          </a:prstGeom>
          <a:noFill/>
          <a:ln/>
        </p:spPr>
        <p:txBody>
          <a:bodyPr wrap="square" lIns="0" tIns="0" rIns="0" bIns="0" rtlCol="0" anchor="ctr"/>
          <a:lstStyle/>
          <a:p>
            <a:pPr>
              <a:lnSpc>
                <a:spcPct val="120000"/>
              </a:lnSpc>
            </a:pPr>
            <a:r>
              <a:rPr lang="en-US" sz="885" dirty="0">
                <a:solidFill>
                  <a:srgbClr val="E0E2E5">
                    <a:alpha val="70000"/>
                  </a:srgbClr>
                </a:solidFill>
                <a:latin typeface="Noto Sans SC" pitchFamily="34" charset="0"/>
                <a:ea typeface="Noto Sans SC" pitchFamily="34" charset="-122"/>
                <a:cs typeface="Noto Sans SC" pitchFamily="34" charset="-120"/>
              </a:rPr>
              <a:t>通过观察窗口内的注意力模式选择保留 token</a:t>
            </a:r>
            <a:endParaRPr lang="en-US" sz="1600" dirty="0"/>
          </a:p>
        </p:txBody>
      </p:sp>
      <p:sp>
        <p:nvSpPr>
          <p:cNvPr id="19" name="Shape 17"/>
          <p:cNvSpPr/>
          <p:nvPr/>
        </p:nvSpPr>
        <p:spPr>
          <a:xfrm>
            <a:off x="514024" y="4610150"/>
            <a:ext cx="5341028" cy="546150"/>
          </a:xfrm>
          <a:custGeom>
            <a:avLst/>
            <a:gdLst/>
            <a:ahLst/>
            <a:cxnLst/>
            <a:rect l="l" t="t" r="r" b="b"/>
            <a:pathLst>
              <a:path w="5341028" h="546150">
                <a:moveTo>
                  <a:pt x="64255" y="0"/>
                </a:moveTo>
                <a:lnTo>
                  <a:pt x="5276773" y="0"/>
                </a:lnTo>
                <a:cubicBezTo>
                  <a:pt x="5312260" y="0"/>
                  <a:pt x="5341028" y="28768"/>
                  <a:pt x="5341028" y="64255"/>
                </a:cubicBezTo>
                <a:lnTo>
                  <a:pt x="5341028" y="481896"/>
                </a:lnTo>
                <a:cubicBezTo>
                  <a:pt x="5341028" y="517382"/>
                  <a:pt x="5312260" y="546150"/>
                  <a:pt x="5276773" y="546150"/>
                </a:cubicBezTo>
                <a:lnTo>
                  <a:pt x="64255" y="546150"/>
                </a:lnTo>
                <a:cubicBezTo>
                  <a:pt x="28768" y="546150"/>
                  <a:pt x="0" y="517382"/>
                  <a:pt x="0" y="481896"/>
                </a:cubicBezTo>
                <a:lnTo>
                  <a:pt x="0" y="64255"/>
                </a:lnTo>
                <a:cubicBezTo>
                  <a:pt x="0" y="28792"/>
                  <a:pt x="28792" y="0"/>
                  <a:pt x="64255" y="0"/>
                </a:cubicBezTo>
                <a:close/>
              </a:path>
            </a:pathLst>
          </a:custGeom>
          <a:solidFill>
            <a:srgbClr val="1A1D21">
              <a:alpha val="50196"/>
            </a:srgbClr>
          </a:solidFill>
          <a:ln/>
        </p:spPr>
        <p:txBody>
          <a:bodyPr/>
          <a:lstStyle/>
          <a:p>
            <a:endParaRPr lang="zh-CN" altLang="en-US"/>
          </a:p>
        </p:txBody>
      </p:sp>
      <p:sp>
        <p:nvSpPr>
          <p:cNvPr id="20" name="Text 18"/>
          <p:cNvSpPr/>
          <p:nvPr/>
        </p:nvSpPr>
        <p:spPr>
          <a:xfrm>
            <a:off x="610403" y="4706530"/>
            <a:ext cx="5212522" cy="192759"/>
          </a:xfrm>
          <a:prstGeom prst="rect">
            <a:avLst/>
          </a:prstGeom>
          <a:noFill/>
          <a:ln/>
        </p:spPr>
        <p:txBody>
          <a:bodyPr wrap="square" lIns="0" tIns="0" rIns="0" bIns="0" rtlCol="0" anchor="ctr"/>
          <a:lstStyle/>
          <a:p>
            <a:pPr>
              <a:lnSpc>
                <a:spcPct val="120000"/>
              </a:lnSpc>
            </a:pPr>
            <a:r>
              <a:rPr lang="en-US" sz="1012" b="1" dirty="0">
                <a:solidFill>
                  <a:srgbClr val="E0E2E5"/>
                </a:solidFill>
                <a:latin typeface="Noto Sans SC" pitchFamily="34" charset="0"/>
                <a:ea typeface="Noto Sans SC" pitchFamily="34" charset="-122"/>
                <a:cs typeface="Noto Sans SC" pitchFamily="34" charset="-120"/>
              </a:rPr>
              <a:t>H2O</a:t>
            </a:r>
            <a:endParaRPr lang="en-US" sz="1600" dirty="0"/>
          </a:p>
        </p:txBody>
      </p:sp>
      <p:sp>
        <p:nvSpPr>
          <p:cNvPr id="21" name="Text 19"/>
          <p:cNvSpPr/>
          <p:nvPr/>
        </p:nvSpPr>
        <p:spPr>
          <a:xfrm>
            <a:off x="610403" y="4899289"/>
            <a:ext cx="5204490" cy="160632"/>
          </a:xfrm>
          <a:prstGeom prst="rect">
            <a:avLst/>
          </a:prstGeom>
          <a:noFill/>
          <a:ln/>
        </p:spPr>
        <p:txBody>
          <a:bodyPr wrap="square" lIns="0" tIns="0" rIns="0" bIns="0" rtlCol="0" anchor="ctr"/>
          <a:lstStyle/>
          <a:p>
            <a:pPr>
              <a:lnSpc>
                <a:spcPct val="120000"/>
              </a:lnSpc>
            </a:pPr>
            <a:r>
              <a:rPr lang="en-US" sz="885" dirty="0">
                <a:solidFill>
                  <a:srgbClr val="E0E2E5">
                    <a:alpha val="70000"/>
                  </a:srgbClr>
                </a:solidFill>
                <a:latin typeface="Noto Sans SC" pitchFamily="34" charset="0"/>
                <a:ea typeface="Noto Sans SC" pitchFamily="34" charset="-122"/>
                <a:cs typeface="Noto Sans SC" pitchFamily="34" charset="-120"/>
              </a:rPr>
              <a:t>将累积注意力权重作为 token 重要性的代理指标</a:t>
            </a:r>
            <a:endParaRPr lang="en-US" sz="1600" dirty="0"/>
          </a:p>
        </p:txBody>
      </p:sp>
      <p:sp>
        <p:nvSpPr>
          <p:cNvPr id="22" name="Shape 20"/>
          <p:cNvSpPr/>
          <p:nvPr/>
        </p:nvSpPr>
        <p:spPr>
          <a:xfrm>
            <a:off x="514024" y="5220553"/>
            <a:ext cx="5341028" cy="546150"/>
          </a:xfrm>
          <a:custGeom>
            <a:avLst/>
            <a:gdLst/>
            <a:ahLst/>
            <a:cxnLst/>
            <a:rect l="l" t="t" r="r" b="b"/>
            <a:pathLst>
              <a:path w="5341028" h="546150">
                <a:moveTo>
                  <a:pt x="64255" y="0"/>
                </a:moveTo>
                <a:lnTo>
                  <a:pt x="5276773" y="0"/>
                </a:lnTo>
                <a:cubicBezTo>
                  <a:pt x="5312260" y="0"/>
                  <a:pt x="5341028" y="28768"/>
                  <a:pt x="5341028" y="64255"/>
                </a:cubicBezTo>
                <a:lnTo>
                  <a:pt x="5341028" y="481896"/>
                </a:lnTo>
                <a:cubicBezTo>
                  <a:pt x="5341028" y="517382"/>
                  <a:pt x="5312260" y="546150"/>
                  <a:pt x="5276773" y="546150"/>
                </a:cubicBezTo>
                <a:lnTo>
                  <a:pt x="64255" y="546150"/>
                </a:lnTo>
                <a:cubicBezTo>
                  <a:pt x="28768" y="546150"/>
                  <a:pt x="0" y="517382"/>
                  <a:pt x="0" y="481896"/>
                </a:cubicBezTo>
                <a:lnTo>
                  <a:pt x="0" y="64255"/>
                </a:lnTo>
                <a:cubicBezTo>
                  <a:pt x="0" y="28792"/>
                  <a:pt x="28792" y="0"/>
                  <a:pt x="64255" y="0"/>
                </a:cubicBezTo>
                <a:close/>
              </a:path>
            </a:pathLst>
          </a:custGeom>
          <a:solidFill>
            <a:srgbClr val="1A1D21">
              <a:alpha val="50196"/>
            </a:srgbClr>
          </a:solidFill>
          <a:ln/>
        </p:spPr>
        <p:txBody>
          <a:bodyPr/>
          <a:lstStyle/>
          <a:p>
            <a:endParaRPr lang="zh-CN" altLang="en-US"/>
          </a:p>
        </p:txBody>
      </p:sp>
      <p:sp>
        <p:nvSpPr>
          <p:cNvPr id="23" name="Text 21"/>
          <p:cNvSpPr/>
          <p:nvPr/>
        </p:nvSpPr>
        <p:spPr>
          <a:xfrm>
            <a:off x="610403" y="5316933"/>
            <a:ext cx="5212522" cy="192759"/>
          </a:xfrm>
          <a:prstGeom prst="rect">
            <a:avLst/>
          </a:prstGeom>
          <a:noFill/>
          <a:ln/>
        </p:spPr>
        <p:txBody>
          <a:bodyPr wrap="square" lIns="0" tIns="0" rIns="0" bIns="0" rtlCol="0" anchor="ctr"/>
          <a:lstStyle/>
          <a:p>
            <a:pPr>
              <a:lnSpc>
                <a:spcPct val="120000"/>
              </a:lnSpc>
            </a:pPr>
            <a:r>
              <a:rPr lang="en-US" sz="1012" b="1" dirty="0">
                <a:solidFill>
                  <a:srgbClr val="E0E2E5"/>
                </a:solidFill>
                <a:latin typeface="Noto Sans SC" pitchFamily="34" charset="0"/>
                <a:ea typeface="Noto Sans SC" pitchFamily="34" charset="-122"/>
                <a:cs typeface="Noto Sans SC" pitchFamily="34" charset="-120"/>
              </a:rPr>
              <a:t>StreamingLLM</a:t>
            </a:r>
            <a:endParaRPr lang="en-US" sz="1600" dirty="0"/>
          </a:p>
        </p:txBody>
      </p:sp>
      <p:sp>
        <p:nvSpPr>
          <p:cNvPr id="24" name="Text 22"/>
          <p:cNvSpPr/>
          <p:nvPr/>
        </p:nvSpPr>
        <p:spPr>
          <a:xfrm>
            <a:off x="610403" y="5509692"/>
            <a:ext cx="5204490" cy="160632"/>
          </a:xfrm>
          <a:prstGeom prst="rect">
            <a:avLst/>
          </a:prstGeom>
          <a:noFill/>
          <a:ln/>
        </p:spPr>
        <p:txBody>
          <a:bodyPr wrap="square" lIns="0" tIns="0" rIns="0" bIns="0" rtlCol="0" anchor="ctr"/>
          <a:lstStyle/>
          <a:p>
            <a:pPr>
              <a:lnSpc>
                <a:spcPct val="120000"/>
              </a:lnSpc>
            </a:pPr>
            <a:r>
              <a:rPr lang="en-US" sz="885" dirty="0">
                <a:solidFill>
                  <a:srgbClr val="E0E2E5">
                    <a:alpha val="70000"/>
                  </a:srgbClr>
                </a:solidFill>
                <a:latin typeface="Noto Sans SC" pitchFamily="34" charset="0"/>
                <a:ea typeface="Noto Sans SC" pitchFamily="34" charset="-122"/>
                <a:cs typeface="Noto Sans SC" pitchFamily="34" charset="-120"/>
              </a:rPr>
              <a:t>发现保留首尾 token 可以有效保持长文本性能</a:t>
            </a:r>
            <a:endParaRPr lang="en-US" sz="1600" dirty="0"/>
          </a:p>
        </p:txBody>
      </p:sp>
      <p:sp>
        <p:nvSpPr>
          <p:cNvPr id="25" name="Shape 23"/>
          <p:cNvSpPr/>
          <p:nvPr/>
        </p:nvSpPr>
        <p:spPr>
          <a:xfrm>
            <a:off x="514024" y="5830957"/>
            <a:ext cx="5341028" cy="546150"/>
          </a:xfrm>
          <a:custGeom>
            <a:avLst/>
            <a:gdLst/>
            <a:ahLst/>
            <a:cxnLst/>
            <a:rect l="l" t="t" r="r" b="b"/>
            <a:pathLst>
              <a:path w="5341028" h="546150">
                <a:moveTo>
                  <a:pt x="64255" y="0"/>
                </a:moveTo>
                <a:lnTo>
                  <a:pt x="5276773" y="0"/>
                </a:lnTo>
                <a:cubicBezTo>
                  <a:pt x="5312260" y="0"/>
                  <a:pt x="5341028" y="28768"/>
                  <a:pt x="5341028" y="64255"/>
                </a:cubicBezTo>
                <a:lnTo>
                  <a:pt x="5341028" y="481896"/>
                </a:lnTo>
                <a:cubicBezTo>
                  <a:pt x="5341028" y="517382"/>
                  <a:pt x="5312260" y="546150"/>
                  <a:pt x="5276773" y="546150"/>
                </a:cubicBezTo>
                <a:lnTo>
                  <a:pt x="64255" y="546150"/>
                </a:lnTo>
                <a:cubicBezTo>
                  <a:pt x="28768" y="546150"/>
                  <a:pt x="0" y="517382"/>
                  <a:pt x="0" y="481896"/>
                </a:cubicBezTo>
                <a:lnTo>
                  <a:pt x="0" y="64255"/>
                </a:lnTo>
                <a:cubicBezTo>
                  <a:pt x="0" y="28792"/>
                  <a:pt x="28792" y="0"/>
                  <a:pt x="64255" y="0"/>
                </a:cubicBezTo>
                <a:close/>
              </a:path>
            </a:pathLst>
          </a:custGeom>
          <a:solidFill>
            <a:srgbClr val="1A1D21">
              <a:alpha val="50196"/>
            </a:srgbClr>
          </a:solidFill>
          <a:ln/>
        </p:spPr>
        <p:txBody>
          <a:bodyPr/>
          <a:lstStyle/>
          <a:p>
            <a:endParaRPr lang="zh-CN" altLang="en-US"/>
          </a:p>
        </p:txBody>
      </p:sp>
      <p:sp>
        <p:nvSpPr>
          <p:cNvPr id="26" name="Text 24"/>
          <p:cNvSpPr/>
          <p:nvPr/>
        </p:nvSpPr>
        <p:spPr>
          <a:xfrm>
            <a:off x="610403" y="5927336"/>
            <a:ext cx="5212522" cy="192759"/>
          </a:xfrm>
          <a:prstGeom prst="rect">
            <a:avLst/>
          </a:prstGeom>
          <a:noFill/>
          <a:ln/>
        </p:spPr>
        <p:txBody>
          <a:bodyPr wrap="square" lIns="0" tIns="0" rIns="0" bIns="0" rtlCol="0" anchor="ctr"/>
          <a:lstStyle/>
          <a:p>
            <a:pPr>
              <a:lnSpc>
                <a:spcPct val="120000"/>
              </a:lnSpc>
            </a:pPr>
            <a:r>
              <a:rPr lang="en-US" sz="1012" b="1" dirty="0">
                <a:solidFill>
                  <a:srgbClr val="E0E2E5"/>
                </a:solidFill>
                <a:latin typeface="Noto Sans SC" pitchFamily="34" charset="0"/>
                <a:ea typeface="Noto Sans SC" pitchFamily="34" charset="-122"/>
                <a:cs typeface="Noto Sans SC" pitchFamily="34" charset="-120"/>
              </a:rPr>
              <a:t>KVzap (NVIDIA)</a:t>
            </a:r>
            <a:endParaRPr lang="en-US" sz="1600" dirty="0"/>
          </a:p>
        </p:txBody>
      </p:sp>
      <p:sp>
        <p:nvSpPr>
          <p:cNvPr id="27" name="Text 25"/>
          <p:cNvSpPr/>
          <p:nvPr/>
        </p:nvSpPr>
        <p:spPr>
          <a:xfrm>
            <a:off x="610403" y="6120095"/>
            <a:ext cx="5204490" cy="160632"/>
          </a:xfrm>
          <a:prstGeom prst="rect">
            <a:avLst/>
          </a:prstGeom>
          <a:noFill/>
          <a:ln/>
        </p:spPr>
        <p:txBody>
          <a:bodyPr wrap="square" lIns="0" tIns="0" rIns="0" bIns="0" rtlCol="0" anchor="ctr"/>
          <a:lstStyle/>
          <a:p>
            <a:pPr>
              <a:lnSpc>
                <a:spcPct val="120000"/>
              </a:lnSpc>
            </a:pPr>
            <a:r>
              <a:rPr lang="en-US" sz="885" dirty="0">
                <a:solidFill>
                  <a:srgbClr val="E0E2E5">
                    <a:alpha val="70000"/>
                  </a:srgbClr>
                </a:solidFill>
                <a:latin typeface="Noto Sans SC" pitchFamily="34" charset="0"/>
                <a:ea typeface="Noto Sans SC" pitchFamily="34" charset="-122"/>
                <a:cs typeface="Noto Sans SC" pitchFamily="34" charset="-120"/>
              </a:rPr>
              <a:t>工程化落地，在 2×–4× 压缩率下基本实现无损</a:t>
            </a:r>
            <a:endParaRPr lang="en-US" sz="1600" dirty="0"/>
          </a:p>
        </p:txBody>
      </p:sp>
      <p:sp>
        <p:nvSpPr>
          <p:cNvPr id="28" name="Shape 26"/>
          <p:cNvSpPr/>
          <p:nvPr/>
        </p:nvSpPr>
        <p:spPr>
          <a:xfrm>
            <a:off x="6193258" y="1156553"/>
            <a:ext cx="5678356" cy="2666498"/>
          </a:xfrm>
          <a:custGeom>
            <a:avLst/>
            <a:gdLst/>
            <a:ahLst/>
            <a:cxnLst/>
            <a:rect l="l" t="t" r="r" b="b"/>
            <a:pathLst>
              <a:path w="5678356" h="2666498">
                <a:moveTo>
                  <a:pt x="32126" y="0"/>
                </a:moveTo>
                <a:lnTo>
                  <a:pt x="5614093" y="0"/>
                </a:lnTo>
                <a:cubicBezTo>
                  <a:pt x="5649584" y="0"/>
                  <a:pt x="5678356" y="28771"/>
                  <a:pt x="5678356" y="64263"/>
                </a:cubicBezTo>
                <a:lnTo>
                  <a:pt x="5678356" y="2602235"/>
                </a:lnTo>
                <a:cubicBezTo>
                  <a:pt x="5678356" y="2637727"/>
                  <a:pt x="5649584" y="2666498"/>
                  <a:pt x="5614093" y="2666498"/>
                </a:cubicBezTo>
                <a:lnTo>
                  <a:pt x="32126" y="2666498"/>
                </a:lnTo>
                <a:cubicBezTo>
                  <a:pt x="14384" y="2666498"/>
                  <a:pt x="0" y="2652115"/>
                  <a:pt x="0" y="2634372"/>
                </a:cubicBezTo>
                <a:lnTo>
                  <a:pt x="0" y="32126"/>
                </a:lnTo>
                <a:cubicBezTo>
                  <a:pt x="0" y="14395"/>
                  <a:pt x="14395" y="0"/>
                  <a:pt x="32126" y="0"/>
                </a:cubicBezTo>
                <a:close/>
              </a:path>
            </a:pathLst>
          </a:custGeom>
          <a:solidFill>
            <a:srgbClr val="C9A86A">
              <a:alpha val="10196"/>
            </a:srgbClr>
          </a:solidFill>
          <a:ln/>
        </p:spPr>
        <p:txBody>
          <a:bodyPr/>
          <a:lstStyle/>
          <a:p>
            <a:endParaRPr lang="zh-CN" altLang="en-US"/>
          </a:p>
        </p:txBody>
      </p:sp>
      <p:sp>
        <p:nvSpPr>
          <p:cNvPr id="29" name="Shape 27"/>
          <p:cNvSpPr/>
          <p:nvPr/>
        </p:nvSpPr>
        <p:spPr>
          <a:xfrm>
            <a:off x="6193258" y="1156553"/>
            <a:ext cx="32126" cy="2666498"/>
          </a:xfrm>
          <a:custGeom>
            <a:avLst/>
            <a:gdLst/>
            <a:ahLst/>
            <a:cxnLst/>
            <a:rect l="l" t="t" r="r" b="b"/>
            <a:pathLst>
              <a:path w="32126" h="2666498">
                <a:moveTo>
                  <a:pt x="32126" y="0"/>
                </a:moveTo>
                <a:lnTo>
                  <a:pt x="32126" y="0"/>
                </a:lnTo>
                <a:lnTo>
                  <a:pt x="32126" y="2666498"/>
                </a:lnTo>
                <a:lnTo>
                  <a:pt x="32126" y="2666498"/>
                </a:lnTo>
                <a:cubicBezTo>
                  <a:pt x="14384" y="2666498"/>
                  <a:pt x="0" y="2652115"/>
                  <a:pt x="0" y="2634372"/>
                </a:cubicBezTo>
                <a:lnTo>
                  <a:pt x="0" y="32126"/>
                </a:lnTo>
                <a:cubicBezTo>
                  <a:pt x="0" y="14384"/>
                  <a:pt x="14384" y="0"/>
                  <a:pt x="32126" y="0"/>
                </a:cubicBezTo>
                <a:close/>
              </a:path>
            </a:pathLst>
          </a:custGeom>
          <a:solidFill>
            <a:srgbClr val="C9A86A"/>
          </a:solidFill>
          <a:ln/>
        </p:spPr>
        <p:txBody>
          <a:bodyPr/>
          <a:lstStyle/>
          <a:p>
            <a:endParaRPr lang="zh-CN" altLang="en-US"/>
          </a:p>
        </p:txBody>
      </p:sp>
      <p:sp>
        <p:nvSpPr>
          <p:cNvPr id="30" name="Shape 28"/>
          <p:cNvSpPr/>
          <p:nvPr/>
        </p:nvSpPr>
        <p:spPr>
          <a:xfrm>
            <a:off x="6390033" y="1349312"/>
            <a:ext cx="160632" cy="160632"/>
          </a:xfrm>
          <a:custGeom>
            <a:avLst/>
            <a:gdLst/>
            <a:ahLst/>
            <a:cxnLst/>
            <a:rect l="l" t="t" r="r" b="b"/>
            <a:pathLst>
              <a:path w="160632" h="160632">
                <a:moveTo>
                  <a:pt x="40158" y="100395"/>
                </a:moveTo>
                <a:lnTo>
                  <a:pt x="7687" y="100395"/>
                </a:lnTo>
                <a:cubicBezTo>
                  <a:pt x="-125" y="100395"/>
                  <a:pt x="-4926" y="91893"/>
                  <a:pt x="-910" y="85179"/>
                </a:cubicBezTo>
                <a:lnTo>
                  <a:pt x="15687" y="57508"/>
                </a:lnTo>
                <a:cubicBezTo>
                  <a:pt x="18416" y="52958"/>
                  <a:pt x="23311" y="50198"/>
                  <a:pt x="28613" y="50198"/>
                </a:cubicBezTo>
                <a:lnTo>
                  <a:pt x="58417" y="50198"/>
                </a:lnTo>
                <a:cubicBezTo>
                  <a:pt x="82293" y="9757"/>
                  <a:pt x="117902" y="7718"/>
                  <a:pt x="141714" y="11200"/>
                </a:cubicBezTo>
                <a:cubicBezTo>
                  <a:pt x="145730" y="11796"/>
                  <a:pt x="148867" y="14934"/>
                  <a:pt x="149432" y="18918"/>
                </a:cubicBezTo>
                <a:cubicBezTo>
                  <a:pt x="152915" y="42731"/>
                  <a:pt x="150875" y="78340"/>
                  <a:pt x="110435" y="102215"/>
                </a:cubicBezTo>
                <a:lnTo>
                  <a:pt x="110435" y="132020"/>
                </a:lnTo>
                <a:cubicBezTo>
                  <a:pt x="110435" y="137322"/>
                  <a:pt x="107674" y="142216"/>
                  <a:pt x="103125" y="144946"/>
                </a:cubicBezTo>
                <a:lnTo>
                  <a:pt x="75453" y="161542"/>
                </a:lnTo>
                <a:cubicBezTo>
                  <a:pt x="68771" y="165558"/>
                  <a:pt x="60237" y="160727"/>
                  <a:pt x="60237" y="152946"/>
                </a:cubicBezTo>
                <a:lnTo>
                  <a:pt x="60237" y="120474"/>
                </a:lnTo>
                <a:cubicBezTo>
                  <a:pt x="60237" y="109399"/>
                  <a:pt x="51233" y="100395"/>
                  <a:pt x="40158" y="100395"/>
                </a:cubicBezTo>
                <a:lnTo>
                  <a:pt x="40127" y="100395"/>
                </a:lnTo>
                <a:close/>
                <a:moveTo>
                  <a:pt x="125494" y="50198"/>
                </a:moveTo>
                <a:cubicBezTo>
                  <a:pt x="125494" y="41886"/>
                  <a:pt x="118746" y="35138"/>
                  <a:pt x="110435" y="35138"/>
                </a:cubicBezTo>
                <a:cubicBezTo>
                  <a:pt x="102123" y="35138"/>
                  <a:pt x="95375" y="41886"/>
                  <a:pt x="95375" y="50198"/>
                </a:cubicBezTo>
                <a:cubicBezTo>
                  <a:pt x="95375" y="58509"/>
                  <a:pt x="102123" y="65257"/>
                  <a:pt x="110435" y="65257"/>
                </a:cubicBezTo>
                <a:cubicBezTo>
                  <a:pt x="118746" y="65257"/>
                  <a:pt x="125494" y="58509"/>
                  <a:pt x="125494" y="50198"/>
                </a:cubicBezTo>
                <a:close/>
              </a:path>
            </a:pathLst>
          </a:custGeom>
          <a:solidFill>
            <a:srgbClr val="C9A86A"/>
          </a:solidFill>
          <a:ln/>
        </p:spPr>
        <p:txBody>
          <a:bodyPr/>
          <a:lstStyle/>
          <a:p>
            <a:endParaRPr lang="zh-CN" altLang="en-US"/>
          </a:p>
        </p:txBody>
      </p:sp>
      <p:sp>
        <p:nvSpPr>
          <p:cNvPr id="31" name="Text 29"/>
          <p:cNvSpPr/>
          <p:nvPr/>
        </p:nvSpPr>
        <p:spPr>
          <a:xfrm>
            <a:off x="6570744" y="1317186"/>
            <a:ext cx="5220553" cy="224885"/>
          </a:xfrm>
          <a:prstGeom prst="rect">
            <a:avLst/>
          </a:prstGeom>
          <a:noFill/>
          <a:ln/>
        </p:spPr>
        <p:txBody>
          <a:bodyPr wrap="square" lIns="0" tIns="0" rIns="0" bIns="0" rtlCol="0" anchor="ctr"/>
          <a:lstStyle/>
          <a:p>
            <a:pPr>
              <a:lnSpc>
                <a:spcPct val="120000"/>
              </a:lnSpc>
            </a:pPr>
            <a:r>
              <a:rPr lang="en-US" sz="1265" b="1" dirty="0">
                <a:solidFill>
                  <a:srgbClr val="E0E2E5"/>
                </a:solidFill>
                <a:latin typeface="Noto Sans SC" pitchFamily="34" charset="0"/>
                <a:ea typeface="Noto Sans SC" pitchFamily="34" charset="-122"/>
                <a:cs typeface="Noto Sans SC" pitchFamily="34" charset="-120"/>
              </a:rPr>
              <a:t>2025 年方法论升级</a:t>
            </a:r>
            <a:endParaRPr lang="en-US" sz="1600" dirty="0"/>
          </a:p>
        </p:txBody>
      </p:sp>
      <p:sp>
        <p:nvSpPr>
          <p:cNvPr id="32" name="Shape 30"/>
          <p:cNvSpPr/>
          <p:nvPr/>
        </p:nvSpPr>
        <p:spPr>
          <a:xfrm>
            <a:off x="6369954" y="1638451"/>
            <a:ext cx="5341028" cy="963794"/>
          </a:xfrm>
          <a:custGeom>
            <a:avLst/>
            <a:gdLst/>
            <a:ahLst/>
            <a:cxnLst/>
            <a:rect l="l" t="t" r="r" b="b"/>
            <a:pathLst>
              <a:path w="5341028" h="963794">
                <a:moveTo>
                  <a:pt x="64256" y="0"/>
                </a:moveTo>
                <a:lnTo>
                  <a:pt x="5276771" y="0"/>
                </a:lnTo>
                <a:cubicBezTo>
                  <a:pt x="5312259" y="0"/>
                  <a:pt x="5341028" y="28768"/>
                  <a:pt x="5341028" y="64256"/>
                </a:cubicBezTo>
                <a:lnTo>
                  <a:pt x="5341028" y="899538"/>
                </a:lnTo>
                <a:cubicBezTo>
                  <a:pt x="5341028" y="935026"/>
                  <a:pt x="5312259" y="963794"/>
                  <a:pt x="5276771" y="963794"/>
                </a:cubicBezTo>
                <a:lnTo>
                  <a:pt x="64256" y="963794"/>
                </a:lnTo>
                <a:cubicBezTo>
                  <a:pt x="28768" y="963794"/>
                  <a:pt x="0" y="935026"/>
                  <a:pt x="0" y="899538"/>
                </a:cubicBezTo>
                <a:lnTo>
                  <a:pt x="0" y="64256"/>
                </a:lnTo>
                <a:cubicBezTo>
                  <a:pt x="0" y="28792"/>
                  <a:pt x="28792" y="0"/>
                  <a:pt x="64256" y="0"/>
                </a:cubicBezTo>
                <a:close/>
              </a:path>
            </a:pathLst>
          </a:custGeom>
          <a:solidFill>
            <a:srgbClr val="1A1D21">
              <a:alpha val="50196"/>
            </a:srgbClr>
          </a:solidFill>
          <a:ln/>
        </p:spPr>
        <p:txBody>
          <a:bodyPr/>
          <a:lstStyle/>
          <a:p>
            <a:endParaRPr lang="zh-CN" altLang="en-US"/>
          </a:p>
        </p:txBody>
      </p:sp>
      <p:sp>
        <p:nvSpPr>
          <p:cNvPr id="33" name="Shape 31"/>
          <p:cNvSpPr/>
          <p:nvPr/>
        </p:nvSpPr>
        <p:spPr>
          <a:xfrm>
            <a:off x="6498459" y="1766957"/>
            <a:ext cx="698751" cy="224885"/>
          </a:xfrm>
          <a:custGeom>
            <a:avLst/>
            <a:gdLst/>
            <a:ahLst/>
            <a:cxnLst/>
            <a:rect l="l" t="t" r="r" b="b"/>
            <a:pathLst>
              <a:path w="698751" h="224885">
                <a:moveTo>
                  <a:pt x="32127" y="0"/>
                </a:moveTo>
                <a:lnTo>
                  <a:pt x="666624" y="0"/>
                </a:lnTo>
                <a:cubicBezTo>
                  <a:pt x="684367" y="0"/>
                  <a:pt x="698751" y="14384"/>
                  <a:pt x="698751" y="32127"/>
                </a:cubicBezTo>
                <a:lnTo>
                  <a:pt x="698751" y="192758"/>
                </a:lnTo>
                <a:cubicBezTo>
                  <a:pt x="698751" y="210502"/>
                  <a:pt x="684367" y="224885"/>
                  <a:pt x="666624" y="224885"/>
                </a:cubicBezTo>
                <a:lnTo>
                  <a:pt x="32127" y="224885"/>
                </a:lnTo>
                <a:cubicBezTo>
                  <a:pt x="14384" y="224885"/>
                  <a:pt x="0" y="210502"/>
                  <a:pt x="0" y="192758"/>
                </a:cubicBezTo>
                <a:lnTo>
                  <a:pt x="0" y="32127"/>
                </a:lnTo>
                <a:cubicBezTo>
                  <a:pt x="0" y="14396"/>
                  <a:pt x="14396" y="0"/>
                  <a:pt x="32127" y="0"/>
                </a:cubicBezTo>
                <a:close/>
              </a:path>
            </a:pathLst>
          </a:custGeom>
          <a:solidFill>
            <a:srgbClr val="C9A86A">
              <a:alpha val="20000"/>
            </a:srgbClr>
          </a:solidFill>
          <a:ln/>
        </p:spPr>
        <p:txBody>
          <a:bodyPr/>
          <a:lstStyle/>
          <a:p>
            <a:endParaRPr lang="zh-CN" altLang="en-US"/>
          </a:p>
        </p:txBody>
      </p:sp>
      <p:sp>
        <p:nvSpPr>
          <p:cNvPr id="34" name="Text 32"/>
          <p:cNvSpPr/>
          <p:nvPr/>
        </p:nvSpPr>
        <p:spPr>
          <a:xfrm>
            <a:off x="6498459" y="1766957"/>
            <a:ext cx="754972" cy="224885"/>
          </a:xfrm>
          <a:prstGeom prst="rect">
            <a:avLst/>
          </a:prstGeom>
          <a:noFill/>
          <a:ln/>
        </p:spPr>
        <p:txBody>
          <a:bodyPr wrap="square" lIns="96379" tIns="32126" rIns="96379" bIns="32126" rtlCol="0" anchor="ctr"/>
          <a:lstStyle/>
          <a:p>
            <a:pPr>
              <a:lnSpc>
                <a:spcPct val="120000"/>
              </a:lnSpc>
            </a:pPr>
            <a:r>
              <a:rPr lang="en-US" sz="885" b="1" dirty="0">
                <a:solidFill>
                  <a:srgbClr val="C9A86A"/>
                </a:solidFill>
                <a:latin typeface="Noto Sans SC" pitchFamily="34" charset="0"/>
                <a:ea typeface="Noto Sans SC" pitchFamily="34" charset="-122"/>
                <a:cs typeface="Noto Sans SC" pitchFamily="34" charset="-120"/>
              </a:rPr>
              <a:t>OBCache</a:t>
            </a:r>
            <a:endParaRPr lang="en-US" sz="1600" dirty="0"/>
          </a:p>
        </p:txBody>
      </p:sp>
      <p:sp>
        <p:nvSpPr>
          <p:cNvPr id="35" name="Text 33"/>
          <p:cNvSpPr/>
          <p:nvPr/>
        </p:nvSpPr>
        <p:spPr>
          <a:xfrm>
            <a:off x="6498459" y="2056095"/>
            <a:ext cx="5148269" cy="417644"/>
          </a:xfrm>
          <a:prstGeom prst="rect">
            <a:avLst/>
          </a:prstGeom>
          <a:noFill/>
          <a:ln/>
        </p:spPr>
        <p:txBody>
          <a:bodyPr wrap="square" lIns="0" tIns="0" rIns="0" bIns="0" rtlCol="0" anchor="ctr"/>
          <a:lstStyle/>
          <a:p>
            <a:pPr>
              <a:lnSpc>
                <a:spcPct val="140000"/>
              </a:lnSpc>
            </a:pPr>
            <a:r>
              <a:rPr lang="en-US" sz="1012" dirty="0">
                <a:solidFill>
                  <a:srgbClr val="E0E2E5">
                    <a:alpha val="80000"/>
                  </a:srgbClr>
                </a:solidFill>
                <a:latin typeface="Noto Sans SC" pitchFamily="34" charset="0"/>
                <a:ea typeface="Noto Sans SC" pitchFamily="34" charset="-122"/>
                <a:cs typeface="Noto Sans SC" pitchFamily="34" charset="-120"/>
              </a:rPr>
              <a:t>将 KV Cache 驱逐问题形式化为</a:t>
            </a:r>
            <a:r>
              <a:rPr lang="en-US" sz="1012" b="1" dirty="0">
                <a:solidFill>
                  <a:srgbClr val="E0E2E5">
                    <a:alpha val="80000"/>
                  </a:srgbClr>
                </a:solidFill>
                <a:latin typeface="Noto Sans SC" pitchFamily="34" charset="0"/>
                <a:ea typeface="Noto Sans SC" pitchFamily="34" charset="-122"/>
                <a:cs typeface="Noto Sans SC" pitchFamily="34" charset="-120"/>
              </a:rPr>
              <a:t>层级结构化剪枝问题</a:t>
            </a:r>
            <a:r>
              <a:rPr lang="en-US" sz="1012" dirty="0">
                <a:solidFill>
                  <a:srgbClr val="E0E2E5">
                    <a:alpha val="80000"/>
                  </a:srgbClr>
                </a:solidFill>
                <a:latin typeface="Noto Sans SC" pitchFamily="34" charset="0"/>
                <a:ea typeface="Noto Sans SC" pitchFamily="34" charset="-122"/>
                <a:cs typeface="Noto Sans SC" pitchFamily="34" charset="-120"/>
              </a:rPr>
              <a:t>，借鉴最优脑损伤理论，通过度量 token 剪枝在注意力输出中引起的扰动来精确量化 token 显著性。</a:t>
            </a:r>
            <a:endParaRPr lang="en-US" sz="1600" dirty="0"/>
          </a:p>
        </p:txBody>
      </p:sp>
      <p:sp>
        <p:nvSpPr>
          <p:cNvPr id="36" name="Shape 34"/>
          <p:cNvSpPr/>
          <p:nvPr/>
        </p:nvSpPr>
        <p:spPr>
          <a:xfrm>
            <a:off x="6369954" y="2698625"/>
            <a:ext cx="5341028" cy="963794"/>
          </a:xfrm>
          <a:custGeom>
            <a:avLst/>
            <a:gdLst/>
            <a:ahLst/>
            <a:cxnLst/>
            <a:rect l="l" t="t" r="r" b="b"/>
            <a:pathLst>
              <a:path w="5341028" h="963794">
                <a:moveTo>
                  <a:pt x="64256" y="0"/>
                </a:moveTo>
                <a:lnTo>
                  <a:pt x="5276771" y="0"/>
                </a:lnTo>
                <a:cubicBezTo>
                  <a:pt x="5312259" y="0"/>
                  <a:pt x="5341028" y="28768"/>
                  <a:pt x="5341028" y="64256"/>
                </a:cubicBezTo>
                <a:lnTo>
                  <a:pt x="5341028" y="899538"/>
                </a:lnTo>
                <a:cubicBezTo>
                  <a:pt x="5341028" y="935026"/>
                  <a:pt x="5312259" y="963794"/>
                  <a:pt x="5276771" y="963794"/>
                </a:cubicBezTo>
                <a:lnTo>
                  <a:pt x="64256" y="963794"/>
                </a:lnTo>
                <a:cubicBezTo>
                  <a:pt x="28768" y="963794"/>
                  <a:pt x="0" y="935026"/>
                  <a:pt x="0" y="899538"/>
                </a:cubicBezTo>
                <a:lnTo>
                  <a:pt x="0" y="64256"/>
                </a:lnTo>
                <a:cubicBezTo>
                  <a:pt x="0" y="28792"/>
                  <a:pt x="28792" y="0"/>
                  <a:pt x="64256" y="0"/>
                </a:cubicBezTo>
                <a:close/>
              </a:path>
            </a:pathLst>
          </a:custGeom>
          <a:solidFill>
            <a:srgbClr val="1A1D21">
              <a:alpha val="50196"/>
            </a:srgbClr>
          </a:solidFill>
          <a:ln/>
        </p:spPr>
        <p:txBody>
          <a:bodyPr/>
          <a:lstStyle/>
          <a:p>
            <a:endParaRPr lang="zh-CN" altLang="en-US"/>
          </a:p>
        </p:txBody>
      </p:sp>
      <p:sp>
        <p:nvSpPr>
          <p:cNvPr id="37" name="Shape 35"/>
          <p:cNvSpPr/>
          <p:nvPr/>
        </p:nvSpPr>
        <p:spPr>
          <a:xfrm>
            <a:off x="6498459" y="2827130"/>
            <a:ext cx="1309154" cy="224885"/>
          </a:xfrm>
          <a:custGeom>
            <a:avLst/>
            <a:gdLst/>
            <a:ahLst/>
            <a:cxnLst/>
            <a:rect l="l" t="t" r="r" b="b"/>
            <a:pathLst>
              <a:path w="1309154" h="224885">
                <a:moveTo>
                  <a:pt x="32127" y="0"/>
                </a:moveTo>
                <a:lnTo>
                  <a:pt x="1277027" y="0"/>
                </a:lnTo>
                <a:cubicBezTo>
                  <a:pt x="1294770" y="0"/>
                  <a:pt x="1309154" y="14384"/>
                  <a:pt x="1309154" y="32127"/>
                </a:cubicBezTo>
                <a:lnTo>
                  <a:pt x="1309154" y="192758"/>
                </a:lnTo>
                <a:cubicBezTo>
                  <a:pt x="1309154" y="210502"/>
                  <a:pt x="1294770" y="224885"/>
                  <a:pt x="1277027" y="224885"/>
                </a:cubicBezTo>
                <a:lnTo>
                  <a:pt x="32127" y="224885"/>
                </a:lnTo>
                <a:cubicBezTo>
                  <a:pt x="14384" y="224885"/>
                  <a:pt x="0" y="210502"/>
                  <a:pt x="0" y="192758"/>
                </a:cubicBezTo>
                <a:lnTo>
                  <a:pt x="0" y="32127"/>
                </a:lnTo>
                <a:cubicBezTo>
                  <a:pt x="0" y="14396"/>
                  <a:pt x="14396" y="0"/>
                  <a:pt x="32127" y="0"/>
                </a:cubicBezTo>
                <a:close/>
              </a:path>
            </a:pathLst>
          </a:custGeom>
          <a:solidFill>
            <a:srgbClr val="3D8B75">
              <a:alpha val="20000"/>
            </a:srgbClr>
          </a:solidFill>
          <a:ln/>
        </p:spPr>
        <p:txBody>
          <a:bodyPr/>
          <a:lstStyle/>
          <a:p>
            <a:endParaRPr lang="zh-CN" altLang="en-US"/>
          </a:p>
        </p:txBody>
      </p:sp>
      <p:sp>
        <p:nvSpPr>
          <p:cNvPr id="38" name="Text 36"/>
          <p:cNvSpPr/>
          <p:nvPr/>
        </p:nvSpPr>
        <p:spPr>
          <a:xfrm>
            <a:off x="6498459" y="2827130"/>
            <a:ext cx="1365375" cy="224885"/>
          </a:xfrm>
          <a:prstGeom prst="rect">
            <a:avLst/>
          </a:prstGeom>
          <a:noFill/>
          <a:ln/>
        </p:spPr>
        <p:txBody>
          <a:bodyPr wrap="square" lIns="96379" tIns="32126" rIns="96379" bIns="32126" rtlCol="0" anchor="ctr"/>
          <a:lstStyle/>
          <a:p>
            <a:pPr>
              <a:lnSpc>
                <a:spcPct val="120000"/>
              </a:lnSpc>
            </a:pPr>
            <a:r>
              <a:rPr lang="en-US" sz="885" b="1" dirty="0">
                <a:solidFill>
                  <a:srgbClr val="3D8B75"/>
                </a:solidFill>
                <a:latin typeface="Noto Sans SC" pitchFamily="34" charset="0"/>
                <a:ea typeface="Noto Sans SC" pitchFamily="34" charset="-122"/>
                <a:cs typeface="Noto Sans SC" pitchFamily="34" charset="-120"/>
              </a:rPr>
              <a:t>Lookahead Q-Cache</a:t>
            </a:r>
            <a:endParaRPr lang="en-US" sz="1600" dirty="0"/>
          </a:p>
        </p:txBody>
      </p:sp>
      <p:sp>
        <p:nvSpPr>
          <p:cNvPr id="39" name="Text 37"/>
          <p:cNvSpPr/>
          <p:nvPr/>
        </p:nvSpPr>
        <p:spPr>
          <a:xfrm>
            <a:off x="6498459" y="3116269"/>
            <a:ext cx="5148269" cy="417644"/>
          </a:xfrm>
          <a:prstGeom prst="rect">
            <a:avLst/>
          </a:prstGeom>
          <a:noFill/>
          <a:ln/>
        </p:spPr>
        <p:txBody>
          <a:bodyPr wrap="square" lIns="0" tIns="0" rIns="0" bIns="0" rtlCol="0" anchor="ctr"/>
          <a:lstStyle/>
          <a:p>
            <a:pPr>
              <a:lnSpc>
                <a:spcPct val="140000"/>
              </a:lnSpc>
            </a:pPr>
            <a:r>
              <a:rPr lang="en-US" sz="1012" dirty="0">
                <a:solidFill>
                  <a:srgbClr val="E0E2E5">
                    <a:alpha val="80000"/>
                  </a:srgbClr>
                </a:solidFill>
                <a:latin typeface="Noto Sans SC" pitchFamily="34" charset="0"/>
                <a:ea typeface="Noto Sans SC" pitchFamily="34" charset="-122"/>
                <a:cs typeface="Noto Sans SC" pitchFamily="34" charset="-120"/>
              </a:rPr>
              <a:t>通过生成</a:t>
            </a:r>
            <a:r>
              <a:rPr lang="en-US" sz="1012" b="1" dirty="0">
                <a:solidFill>
                  <a:srgbClr val="E0E2E5">
                    <a:alpha val="80000"/>
                  </a:srgbClr>
                </a:solidFill>
                <a:latin typeface="Noto Sans SC" pitchFamily="34" charset="0"/>
                <a:ea typeface="Noto Sans SC" pitchFamily="34" charset="-122"/>
                <a:cs typeface="Noto Sans SC" pitchFamily="34" charset="-120"/>
              </a:rPr>
              <a:t>低成本伪前瞻查询</a:t>
            </a:r>
            <a:r>
              <a:rPr lang="en-US" sz="1012" dirty="0">
                <a:solidFill>
                  <a:srgbClr val="E0E2E5">
                    <a:alpha val="80000"/>
                  </a:srgbClr>
                </a:solidFill>
                <a:latin typeface="Noto Sans SC" pitchFamily="34" charset="0"/>
                <a:ea typeface="Noto Sans SC" pitchFamily="34" charset="-122"/>
                <a:cs typeface="Noto Sans SC" pitchFamily="34" charset="-120"/>
              </a:rPr>
              <a:t>来预判 token 重要性，在 LongBench 上获得了 1–4 个百分点的准确率提升。</a:t>
            </a:r>
            <a:endParaRPr lang="en-US" sz="1600" dirty="0"/>
          </a:p>
        </p:txBody>
      </p:sp>
      <p:sp>
        <p:nvSpPr>
          <p:cNvPr id="40" name="Shape 38"/>
          <p:cNvSpPr/>
          <p:nvPr/>
        </p:nvSpPr>
        <p:spPr>
          <a:xfrm>
            <a:off x="6193258" y="3951557"/>
            <a:ext cx="5678356" cy="1991842"/>
          </a:xfrm>
          <a:custGeom>
            <a:avLst/>
            <a:gdLst/>
            <a:ahLst/>
            <a:cxnLst/>
            <a:rect l="l" t="t" r="r" b="b"/>
            <a:pathLst>
              <a:path w="5678356" h="1991842">
                <a:moveTo>
                  <a:pt x="32126" y="0"/>
                </a:moveTo>
                <a:lnTo>
                  <a:pt x="5614099" y="0"/>
                </a:lnTo>
                <a:cubicBezTo>
                  <a:pt x="5649587" y="0"/>
                  <a:pt x="5678356" y="28769"/>
                  <a:pt x="5678356" y="64257"/>
                </a:cubicBezTo>
                <a:lnTo>
                  <a:pt x="5678356" y="1927585"/>
                </a:lnTo>
                <a:cubicBezTo>
                  <a:pt x="5678356" y="1963073"/>
                  <a:pt x="5649587" y="1991842"/>
                  <a:pt x="5614099" y="1991842"/>
                </a:cubicBezTo>
                <a:lnTo>
                  <a:pt x="32126" y="1991842"/>
                </a:lnTo>
                <a:cubicBezTo>
                  <a:pt x="14384" y="1991842"/>
                  <a:pt x="0" y="1977458"/>
                  <a:pt x="0" y="1959715"/>
                </a:cubicBezTo>
                <a:lnTo>
                  <a:pt x="0" y="32126"/>
                </a:lnTo>
                <a:cubicBezTo>
                  <a:pt x="0" y="14395"/>
                  <a:pt x="14395" y="0"/>
                  <a:pt x="32126" y="0"/>
                </a:cubicBezTo>
                <a:close/>
              </a:path>
            </a:pathLst>
          </a:custGeom>
          <a:solidFill>
            <a:srgbClr val="3D8B75">
              <a:alpha val="10196"/>
            </a:srgbClr>
          </a:solidFill>
          <a:ln/>
        </p:spPr>
        <p:txBody>
          <a:bodyPr/>
          <a:lstStyle/>
          <a:p>
            <a:endParaRPr lang="zh-CN" altLang="en-US"/>
          </a:p>
        </p:txBody>
      </p:sp>
      <p:sp>
        <p:nvSpPr>
          <p:cNvPr id="41" name="Shape 39"/>
          <p:cNvSpPr/>
          <p:nvPr/>
        </p:nvSpPr>
        <p:spPr>
          <a:xfrm>
            <a:off x="6193258" y="3951557"/>
            <a:ext cx="32126" cy="1991842"/>
          </a:xfrm>
          <a:custGeom>
            <a:avLst/>
            <a:gdLst/>
            <a:ahLst/>
            <a:cxnLst/>
            <a:rect l="l" t="t" r="r" b="b"/>
            <a:pathLst>
              <a:path w="32126" h="1991842">
                <a:moveTo>
                  <a:pt x="32126" y="0"/>
                </a:moveTo>
                <a:lnTo>
                  <a:pt x="32126" y="0"/>
                </a:lnTo>
                <a:lnTo>
                  <a:pt x="32126" y="1991842"/>
                </a:lnTo>
                <a:lnTo>
                  <a:pt x="32126" y="1991842"/>
                </a:lnTo>
                <a:cubicBezTo>
                  <a:pt x="14384" y="1991842"/>
                  <a:pt x="0" y="1977458"/>
                  <a:pt x="0" y="1959715"/>
                </a:cubicBezTo>
                <a:lnTo>
                  <a:pt x="0" y="32126"/>
                </a:lnTo>
                <a:cubicBezTo>
                  <a:pt x="0" y="14384"/>
                  <a:pt x="14384" y="0"/>
                  <a:pt x="32126" y="0"/>
                </a:cubicBezTo>
                <a:close/>
              </a:path>
            </a:pathLst>
          </a:custGeom>
          <a:solidFill>
            <a:srgbClr val="3D8B75"/>
          </a:solidFill>
          <a:ln/>
        </p:spPr>
        <p:txBody>
          <a:bodyPr/>
          <a:lstStyle/>
          <a:p>
            <a:endParaRPr lang="zh-CN" altLang="en-US"/>
          </a:p>
        </p:txBody>
      </p:sp>
      <p:sp>
        <p:nvSpPr>
          <p:cNvPr id="42" name="Text 40"/>
          <p:cNvSpPr/>
          <p:nvPr/>
        </p:nvSpPr>
        <p:spPr>
          <a:xfrm>
            <a:off x="6369954" y="4112190"/>
            <a:ext cx="5421344" cy="224885"/>
          </a:xfrm>
          <a:prstGeom prst="rect">
            <a:avLst/>
          </a:prstGeom>
          <a:noFill/>
          <a:ln/>
        </p:spPr>
        <p:txBody>
          <a:bodyPr wrap="square" lIns="0" tIns="0" rIns="0" bIns="0" rtlCol="0" anchor="ctr"/>
          <a:lstStyle/>
          <a:p>
            <a:pPr>
              <a:lnSpc>
                <a:spcPct val="120000"/>
              </a:lnSpc>
            </a:pPr>
            <a:r>
              <a:rPr lang="en-US" sz="1265" b="1" dirty="0">
                <a:solidFill>
                  <a:srgbClr val="E0E2E5"/>
                </a:solidFill>
                <a:latin typeface="Noto Sans SC" pitchFamily="34" charset="0"/>
                <a:ea typeface="Noto Sans SC" pitchFamily="34" charset="-122"/>
                <a:cs typeface="Noto Sans SC" pitchFamily="34" charset="-120"/>
              </a:rPr>
              <a:t>更多细粒度方案</a:t>
            </a:r>
            <a:endParaRPr lang="en-US" sz="1600" dirty="0"/>
          </a:p>
        </p:txBody>
      </p:sp>
      <p:sp>
        <p:nvSpPr>
          <p:cNvPr id="43" name="Shape 41"/>
          <p:cNvSpPr/>
          <p:nvPr/>
        </p:nvSpPr>
        <p:spPr>
          <a:xfrm>
            <a:off x="6369954" y="4433455"/>
            <a:ext cx="2626340" cy="626466"/>
          </a:xfrm>
          <a:custGeom>
            <a:avLst/>
            <a:gdLst/>
            <a:ahLst/>
            <a:cxnLst/>
            <a:rect l="l" t="t" r="r" b="b"/>
            <a:pathLst>
              <a:path w="2626340" h="626466">
                <a:moveTo>
                  <a:pt x="64250" y="0"/>
                </a:moveTo>
                <a:lnTo>
                  <a:pt x="2562090" y="0"/>
                </a:lnTo>
                <a:cubicBezTo>
                  <a:pt x="2597574" y="0"/>
                  <a:pt x="2626340" y="28766"/>
                  <a:pt x="2626340" y="64250"/>
                </a:cubicBezTo>
                <a:lnTo>
                  <a:pt x="2626340" y="562216"/>
                </a:lnTo>
                <a:cubicBezTo>
                  <a:pt x="2626340" y="597701"/>
                  <a:pt x="2597574" y="626466"/>
                  <a:pt x="2562090" y="626466"/>
                </a:cubicBezTo>
                <a:lnTo>
                  <a:pt x="64250" y="626466"/>
                </a:lnTo>
                <a:cubicBezTo>
                  <a:pt x="28766" y="626466"/>
                  <a:pt x="0" y="597701"/>
                  <a:pt x="0" y="562216"/>
                </a:cubicBezTo>
                <a:lnTo>
                  <a:pt x="0" y="64250"/>
                </a:lnTo>
                <a:cubicBezTo>
                  <a:pt x="0" y="28790"/>
                  <a:pt x="28790" y="0"/>
                  <a:pt x="64250" y="0"/>
                </a:cubicBezTo>
                <a:close/>
              </a:path>
            </a:pathLst>
          </a:custGeom>
          <a:solidFill>
            <a:srgbClr val="1A1D21">
              <a:alpha val="50196"/>
            </a:srgbClr>
          </a:solidFill>
          <a:ln/>
        </p:spPr>
        <p:txBody>
          <a:bodyPr/>
          <a:lstStyle/>
          <a:p>
            <a:endParaRPr lang="zh-CN" altLang="en-US"/>
          </a:p>
        </p:txBody>
      </p:sp>
      <p:sp>
        <p:nvSpPr>
          <p:cNvPr id="44" name="Text 42"/>
          <p:cNvSpPr/>
          <p:nvPr/>
        </p:nvSpPr>
        <p:spPr>
          <a:xfrm>
            <a:off x="6466333" y="4529834"/>
            <a:ext cx="2497834" cy="192759"/>
          </a:xfrm>
          <a:prstGeom prst="rect">
            <a:avLst/>
          </a:prstGeom>
          <a:noFill/>
          <a:ln/>
        </p:spPr>
        <p:txBody>
          <a:bodyPr wrap="square" lIns="0" tIns="0" rIns="0" bIns="0" rtlCol="0" anchor="ctr"/>
          <a:lstStyle/>
          <a:p>
            <a:pPr>
              <a:lnSpc>
                <a:spcPct val="120000"/>
              </a:lnSpc>
            </a:pPr>
            <a:r>
              <a:rPr lang="en-US" sz="1012" b="1" dirty="0">
                <a:solidFill>
                  <a:srgbClr val="E0E2E5"/>
                </a:solidFill>
                <a:latin typeface="Noto Sans SC" pitchFamily="34" charset="0"/>
                <a:ea typeface="Noto Sans SC" pitchFamily="34" charset="-122"/>
                <a:cs typeface="Noto Sans SC" pitchFamily="34" charset="-120"/>
              </a:rPr>
              <a:t>DynamicKV</a:t>
            </a:r>
            <a:endParaRPr lang="en-US" sz="1600" dirty="0"/>
          </a:p>
        </p:txBody>
      </p:sp>
      <p:sp>
        <p:nvSpPr>
          <p:cNvPr id="45" name="Text 43"/>
          <p:cNvSpPr/>
          <p:nvPr/>
        </p:nvSpPr>
        <p:spPr>
          <a:xfrm>
            <a:off x="6466333" y="4754719"/>
            <a:ext cx="2489802" cy="160632"/>
          </a:xfrm>
          <a:prstGeom prst="rect">
            <a:avLst/>
          </a:prstGeom>
          <a:noFill/>
          <a:ln/>
        </p:spPr>
        <p:txBody>
          <a:bodyPr wrap="square" lIns="0" tIns="0" rIns="0" bIns="0" rtlCol="0" anchor="ctr"/>
          <a:lstStyle/>
          <a:p>
            <a:pPr>
              <a:lnSpc>
                <a:spcPct val="120000"/>
              </a:lnSpc>
            </a:pPr>
            <a:r>
              <a:rPr lang="en-US" sz="885" dirty="0">
                <a:solidFill>
                  <a:srgbClr val="E0E2E5">
                    <a:alpha val="70000"/>
                  </a:srgbClr>
                </a:solidFill>
                <a:latin typeface="Noto Sans SC" pitchFamily="34" charset="0"/>
                <a:ea typeface="Noto Sans SC" pitchFamily="34" charset="-122"/>
                <a:cs typeface="Noto Sans SC" pitchFamily="34" charset="-120"/>
              </a:rPr>
              <a:t>动态预算分配机制</a:t>
            </a:r>
            <a:endParaRPr lang="en-US" sz="1600" dirty="0"/>
          </a:p>
        </p:txBody>
      </p:sp>
      <p:sp>
        <p:nvSpPr>
          <p:cNvPr id="46" name="Shape 44"/>
          <p:cNvSpPr/>
          <p:nvPr/>
        </p:nvSpPr>
        <p:spPr>
          <a:xfrm>
            <a:off x="9089096" y="4433455"/>
            <a:ext cx="2626340" cy="626466"/>
          </a:xfrm>
          <a:custGeom>
            <a:avLst/>
            <a:gdLst/>
            <a:ahLst/>
            <a:cxnLst/>
            <a:rect l="l" t="t" r="r" b="b"/>
            <a:pathLst>
              <a:path w="2626340" h="626466">
                <a:moveTo>
                  <a:pt x="64250" y="0"/>
                </a:moveTo>
                <a:lnTo>
                  <a:pt x="2562090" y="0"/>
                </a:lnTo>
                <a:cubicBezTo>
                  <a:pt x="2597574" y="0"/>
                  <a:pt x="2626340" y="28766"/>
                  <a:pt x="2626340" y="64250"/>
                </a:cubicBezTo>
                <a:lnTo>
                  <a:pt x="2626340" y="562216"/>
                </a:lnTo>
                <a:cubicBezTo>
                  <a:pt x="2626340" y="597701"/>
                  <a:pt x="2597574" y="626466"/>
                  <a:pt x="2562090" y="626466"/>
                </a:cubicBezTo>
                <a:lnTo>
                  <a:pt x="64250" y="626466"/>
                </a:lnTo>
                <a:cubicBezTo>
                  <a:pt x="28766" y="626466"/>
                  <a:pt x="0" y="597701"/>
                  <a:pt x="0" y="562216"/>
                </a:cubicBezTo>
                <a:lnTo>
                  <a:pt x="0" y="64250"/>
                </a:lnTo>
                <a:cubicBezTo>
                  <a:pt x="0" y="28790"/>
                  <a:pt x="28790" y="0"/>
                  <a:pt x="64250" y="0"/>
                </a:cubicBezTo>
                <a:close/>
              </a:path>
            </a:pathLst>
          </a:custGeom>
          <a:solidFill>
            <a:srgbClr val="1A1D21">
              <a:alpha val="50196"/>
            </a:srgbClr>
          </a:solidFill>
          <a:ln/>
        </p:spPr>
        <p:txBody>
          <a:bodyPr/>
          <a:lstStyle/>
          <a:p>
            <a:endParaRPr lang="zh-CN" altLang="en-US"/>
          </a:p>
        </p:txBody>
      </p:sp>
      <p:sp>
        <p:nvSpPr>
          <p:cNvPr id="47" name="Text 45"/>
          <p:cNvSpPr/>
          <p:nvPr/>
        </p:nvSpPr>
        <p:spPr>
          <a:xfrm>
            <a:off x="9185476" y="4529834"/>
            <a:ext cx="2497834" cy="192759"/>
          </a:xfrm>
          <a:prstGeom prst="rect">
            <a:avLst/>
          </a:prstGeom>
          <a:noFill/>
          <a:ln/>
        </p:spPr>
        <p:txBody>
          <a:bodyPr wrap="square" lIns="0" tIns="0" rIns="0" bIns="0" rtlCol="0" anchor="ctr"/>
          <a:lstStyle/>
          <a:p>
            <a:pPr>
              <a:lnSpc>
                <a:spcPct val="120000"/>
              </a:lnSpc>
            </a:pPr>
            <a:r>
              <a:rPr lang="en-US" sz="1012" b="1" dirty="0">
                <a:solidFill>
                  <a:srgbClr val="E0E2E5"/>
                </a:solidFill>
                <a:latin typeface="Noto Sans SC" pitchFamily="34" charset="0"/>
                <a:ea typeface="Noto Sans SC" pitchFamily="34" charset="-122"/>
                <a:cs typeface="Noto Sans SC" pitchFamily="34" charset="-120"/>
              </a:rPr>
              <a:t>DBudgetKV</a:t>
            </a:r>
            <a:endParaRPr lang="en-US" sz="1600" dirty="0"/>
          </a:p>
        </p:txBody>
      </p:sp>
      <p:sp>
        <p:nvSpPr>
          <p:cNvPr id="48" name="Text 46"/>
          <p:cNvSpPr/>
          <p:nvPr/>
        </p:nvSpPr>
        <p:spPr>
          <a:xfrm>
            <a:off x="9185476" y="4754719"/>
            <a:ext cx="2489802" cy="160632"/>
          </a:xfrm>
          <a:prstGeom prst="rect">
            <a:avLst/>
          </a:prstGeom>
          <a:noFill/>
          <a:ln/>
        </p:spPr>
        <p:txBody>
          <a:bodyPr wrap="square" lIns="0" tIns="0" rIns="0" bIns="0" rtlCol="0" anchor="ctr"/>
          <a:lstStyle/>
          <a:p>
            <a:pPr>
              <a:lnSpc>
                <a:spcPct val="120000"/>
              </a:lnSpc>
            </a:pPr>
            <a:r>
              <a:rPr lang="en-US" sz="885" dirty="0">
                <a:solidFill>
                  <a:srgbClr val="E0E2E5">
                    <a:alpha val="70000"/>
                  </a:srgbClr>
                </a:solidFill>
                <a:latin typeface="Noto Sans SC" pitchFamily="34" charset="0"/>
                <a:ea typeface="Noto Sans SC" pitchFamily="34" charset="-122"/>
                <a:cs typeface="Noto Sans SC" pitchFamily="34" charset="-120"/>
              </a:rPr>
              <a:t>预算约束下的压缩</a:t>
            </a:r>
            <a:endParaRPr lang="en-US" sz="1600" dirty="0"/>
          </a:p>
        </p:txBody>
      </p:sp>
      <p:sp>
        <p:nvSpPr>
          <p:cNvPr id="49" name="Shape 47"/>
          <p:cNvSpPr/>
          <p:nvPr/>
        </p:nvSpPr>
        <p:spPr>
          <a:xfrm>
            <a:off x="6369954" y="5156300"/>
            <a:ext cx="2626340" cy="626466"/>
          </a:xfrm>
          <a:custGeom>
            <a:avLst/>
            <a:gdLst/>
            <a:ahLst/>
            <a:cxnLst/>
            <a:rect l="l" t="t" r="r" b="b"/>
            <a:pathLst>
              <a:path w="2626340" h="626466">
                <a:moveTo>
                  <a:pt x="64250" y="0"/>
                </a:moveTo>
                <a:lnTo>
                  <a:pt x="2562090" y="0"/>
                </a:lnTo>
                <a:cubicBezTo>
                  <a:pt x="2597574" y="0"/>
                  <a:pt x="2626340" y="28766"/>
                  <a:pt x="2626340" y="64250"/>
                </a:cubicBezTo>
                <a:lnTo>
                  <a:pt x="2626340" y="562216"/>
                </a:lnTo>
                <a:cubicBezTo>
                  <a:pt x="2626340" y="597701"/>
                  <a:pt x="2597574" y="626466"/>
                  <a:pt x="2562090" y="626466"/>
                </a:cubicBezTo>
                <a:lnTo>
                  <a:pt x="64250" y="626466"/>
                </a:lnTo>
                <a:cubicBezTo>
                  <a:pt x="28766" y="626466"/>
                  <a:pt x="0" y="597701"/>
                  <a:pt x="0" y="562216"/>
                </a:cubicBezTo>
                <a:lnTo>
                  <a:pt x="0" y="64250"/>
                </a:lnTo>
                <a:cubicBezTo>
                  <a:pt x="0" y="28790"/>
                  <a:pt x="28790" y="0"/>
                  <a:pt x="64250" y="0"/>
                </a:cubicBezTo>
                <a:close/>
              </a:path>
            </a:pathLst>
          </a:custGeom>
          <a:solidFill>
            <a:srgbClr val="1A1D21">
              <a:alpha val="50196"/>
            </a:srgbClr>
          </a:solidFill>
          <a:ln/>
        </p:spPr>
        <p:txBody>
          <a:bodyPr/>
          <a:lstStyle/>
          <a:p>
            <a:endParaRPr lang="zh-CN" altLang="en-US"/>
          </a:p>
        </p:txBody>
      </p:sp>
      <p:sp>
        <p:nvSpPr>
          <p:cNvPr id="50" name="Text 48"/>
          <p:cNvSpPr/>
          <p:nvPr/>
        </p:nvSpPr>
        <p:spPr>
          <a:xfrm>
            <a:off x="6466333" y="5252680"/>
            <a:ext cx="2497834" cy="192759"/>
          </a:xfrm>
          <a:prstGeom prst="rect">
            <a:avLst/>
          </a:prstGeom>
          <a:noFill/>
          <a:ln/>
        </p:spPr>
        <p:txBody>
          <a:bodyPr wrap="square" lIns="0" tIns="0" rIns="0" bIns="0" rtlCol="0" anchor="ctr"/>
          <a:lstStyle/>
          <a:p>
            <a:pPr>
              <a:lnSpc>
                <a:spcPct val="120000"/>
              </a:lnSpc>
            </a:pPr>
            <a:r>
              <a:rPr lang="en-US" sz="1012" b="1" dirty="0">
                <a:solidFill>
                  <a:srgbClr val="E0E2E5"/>
                </a:solidFill>
                <a:latin typeface="Noto Sans SC" pitchFamily="34" charset="0"/>
                <a:ea typeface="Noto Sans SC" pitchFamily="34" charset="-122"/>
                <a:cs typeface="Noto Sans SC" pitchFamily="34" charset="-120"/>
              </a:rPr>
              <a:t>Lethe</a:t>
            </a:r>
            <a:endParaRPr lang="en-US" sz="1600" dirty="0"/>
          </a:p>
        </p:txBody>
      </p:sp>
      <p:sp>
        <p:nvSpPr>
          <p:cNvPr id="51" name="Text 49"/>
          <p:cNvSpPr/>
          <p:nvPr/>
        </p:nvSpPr>
        <p:spPr>
          <a:xfrm>
            <a:off x="6466333" y="5477565"/>
            <a:ext cx="2489802" cy="160632"/>
          </a:xfrm>
          <a:prstGeom prst="rect">
            <a:avLst/>
          </a:prstGeom>
          <a:noFill/>
          <a:ln/>
        </p:spPr>
        <p:txBody>
          <a:bodyPr wrap="square" lIns="0" tIns="0" rIns="0" bIns="0" rtlCol="0" anchor="ctr"/>
          <a:lstStyle/>
          <a:p>
            <a:pPr>
              <a:lnSpc>
                <a:spcPct val="120000"/>
              </a:lnSpc>
            </a:pPr>
            <a:r>
              <a:rPr lang="en-US" sz="885" dirty="0">
                <a:solidFill>
                  <a:srgbClr val="E0E2E5">
                    <a:alpha val="70000"/>
                  </a:srgbClr>
                </a:solidFill>
                <a:latin typeface="Noto Sans SC" pitchFamily="34" charset="0"/>
                <a:ea typeface="Noto Sans SC" pitchFamily="34" charset="-122"/>
                <a:cs typeface="Noto Sans SC" pitchFamily="34" charset="-120"/>
              </a:rPr>
              <a:t>层自适应压缩策略，2.56× 吞吐提升</a:t>
            </a:r>
            <a:endParaRPr lang="en-US" sz="1600" dirty="0"/>
          </a:p>
        </p:txBody>
      </p:sp>
      <p:sp>
        <p:nvSpPr>
          <p:cNvPr id="52" name="Shape 50"/>
          <p:cNvSpPr/>
          <p:nvPr/>
        </p:nvSpPr>
        <p:spPr>
          <a:xfrm>
            <a:off x="9089096" y="5156300"/>
            <a:ext cx="2626340" cy="626466"/>
          </a:xfrm>
          <a:custGeom>
            <a:avLst/>
            <a:gdLst/>
            <a:ahLst/>
            <a:cxnLst/>
            <a:rect l="l" t="t" r="r" b="b"/>
            <a:pathLst>
              <a:path w="2626340" h="626466">
                <a:moveTo>
                  <a:pt x="64250" y="0"/>
                </a:moveTo>
                <a:lnTo>
                  <a:pt x="2562090" y="0"/>
                </a:lnTo>
                <a:cubicBezTo>
                  <a:pt x="2597574" y="0"/>
                  <a:pt x="2626340" y="28766"/>
                  <a:pt x="2626340" y="64250"/>
                </a:cubicBezTo>
                <a:lnTo>
                  <a:pt x="2626340" y="562216"/>
                </a:lnTo>
                <a:cubicBezTo>
                  <a:pt x="2626340" y="597701"/>
                  <a:pt x="2597574" y="626466"/>
                  <a:pt x="2562090" y="626466"/>
                </a:cubicBezTo>
                <a:lnTo>
                  <a:pt x="64250" y="626466"/>
                </a:lnTo>
                <a:cubicBezTo>
                  <a:pt x="28766" y="626466"/>
                  <a:pt x="0" y="597701"/>
                  <a:pt x="0" y="562216"/>
                </a:cubicBezTo>
                <a:lnTo>
                  <a:pt x="0" y="64250"/>
                </a:lnTo>
                <a:cubicBezTo>
                  <a:pt x="0" y="28790"/>
                  <a:pt x="28790" y="0"/>
                  <a:pt x="64250" y="0"/>
                </a:cubicBezTo>
                <a:close/>
              </a:path>
            </a:pathLst>
          </a:custGeom>
          <a:solidFill>
            <a:srgbClr val="1A1D21">
              <a:alpha val="50196"/>
            </a:srgbClr>
          </a:solidFill>
          <a:ln/>
        </p:spPr>
        <p:txBody>
          <a:bodyPr/>
          <a:lstStyle/>
          <a:p>
            <a:endParaRPr lang="zh-CN" altLang="en-US"/>
          </a:p>
        </p:txBody>
      </p:sp>
      <p:sp>
        <p:nvSpPr>
          <p:cNvPr id="53" name="Text 51"/>
          <p:cNvSpPr/>
          <p:nvPr/>
        </p:nvSpPr>
        <p:spPr>
          <a:xfrm>
            <a:off x="9185476" y="5252680"/>
            <a:ext cx="2497834" cy="192759"/>
          </a:xfrm>
          <a:prstGeom prst="rect">
            <a:avLst/>
          </a:prstGeom>
          <a:noFill/>
          <a:ln/>
        </p:spPr>
        <p:txBody>
          <a:bodyPr wrap="square" lIns="0" tIns="0" rIns="0" bIns="0" rtlCol="0" anchor="ctr"/>
          <a:lstStyle/>
          <a:p>
            <a:pPr>
              <a:lnSpc>
                <a:spcPct val="120000"/>
              </a:lnSpc>
            </a:pPr>
            <a:r>
              <a:rPr lang="en-US" sz="1012" b="1" dirty="0">
                <a:solidFill>
                  <a:srgbClr val="E0E2E5"/>
                </a:solidFill>
                <a:latin typeface="Noto Sans SC" pitchFamily="34" charset="0"/>
                <a:ea typeface="Noto Sans SC" pitchFamily="34" charset="-122"/>
                <a:cs typeface="Noto Sans SC" pitchFamily="34" charset="-120"/>
              </a:rPr>
              <a:t>SparK</a:t>
            </a:r>
            <a:endParaRPr lang="en-US" sz="1600" dirty="0"/>
          </a:p>
        </p:txBody>
      </p:sp>
      <p:sp>
        <p:nvSpPr>
          <p:cNvPr id="54" name="Text 52"/>
          <p:cNvSpPr/>
          <p:nvPr/>
        </p:nvSpPr>
        <p:spPr>
          <a:xfrm>
            <a:off x="9185476" y="5477565"/>
            <a:ext cx="2489802" cy="160632"/>
          </a:xfrm>
          <a:prstGeom prst="rect">
            <a:avLst/>
          </a:prstGeom>
          <a:noFill/>
          <a:ln/>
        </p:spPr>
        <p:txBody>
          <a:bodyPr wrap="square" lIns="0" tIns="0" rIns="0" bIns="0" rtlCol="0" anchor="ctr"/>
          <a:lstStyle/>
          <a:p>
            <a:pPr>
              <a:lnSpc>
                <a:spcPct val="120000"/>
              </a:lnSpc>
            </a:pPr>
            <a:r>
              <a:rPr lang="en-US" sz="885" dirty="0">
                <a:solidFill>
                  <a:srgbClr val="E0E2E5">
                    <a:alpha val="70000"/>
                  </a:srgbClr>
                </a:solidFill>
                <a:latin typeface="Noto Sans SC" pitchFamily="34" charset="0"/>
                <a:ea typeface="Noto Sans SC" pitchFamily="34" charset="-122"/>
                <a:cs typeface="Noto Sans SC" pitchFamily="34" charset="-120"/>
              </a:rPr>
              <a:t>查询感知的非结构化稀疏</a:t>
            </a:r>
            <a:endParaRPr lang="en-US" sz="1600" dirty="0"/>
          </a:p>
        </p:txBody>
      </p:sp>
      <p:sp>
        <p:nvSpPr>
          <p:cNvPr id="55" name="Shape 53"/>
          <p:cNvSpPr/>
          <p:nvPr/>
        </p:nvSpPr>
        <p:spPr>
          <a:xfrm>
            <a:off x="6193258" y="6071905"/>
            <a:ext cx="5678356" cy="465834"/>
          </a:xfrm>
          <a:custGeom>
            <a:avLst/>
            <a:gdLst/>
            <a:ahLst/>
            <a:cxnLst/>
            <a:rect l="l" t="t" r="r" b="b"/>
            <a:pathLst>
              <a:path w="5678356" h="465834">
                <a:moveTo>
                  <a:pt x="32126" y="0"/>
                </a:moveTo>
                <a:lnTo>
                  <a:pt x="5614103" y="0"/>
                </a:lnTo>
                <a:cubicBezTo>
                  <a:pt x="5649589" y="0"/>
                  <a:pt x="5678356" y="28767"/>
                  <a:pt x="5678356" y="64252"/>
                </a:cubicBezTo>
                <a:lnTo>
                  <a:pt x="5678356" y="401582"/>
                </a:lnTo>
                <a:cubicBezTo>
                  <a:pt x="5678356" y="437067"/>
                  <a:pt x="5649589" y="465834"/>
                  <a:pt x="5614103" y="465834"/>
                </a:cubicBezTo>
                <a:lnTo>
                  <a:pt x="32126" y="465834"/>
                </a:lnTo>
                <a:cubicBezTo>
                  <a:pt x="14384" y="465834"/>
                  <a:pt x="0" y="451450"/>
                  <a:pt x="0" y="433708"/>
                </a:cubicBezTo>
                <a:lnTo>
                  <a:pt x="0" y="32126"/>
                </a:lnTo>
                <a:cubicBezTo>
                  <a:pt x="0" y="14384"/>
                  <a:pt x="14384" y="0"/>
                  <a:pt x="32126" y="0"/>
                </a:cubicBezTo>
                <a:close/>
              </a:path>
            </a:pathLst>
          </a:custGeom>
          <a:solidFill>
            <a:srgbClr val="C9A86A">
              <a:alpha val="20000"/>
            </a:srgbClr>
          </a:solidFill>
          <a:ln/>
        </p:spPr>
        <p:txBody>
          <a:bodyPr/>
          <a:lstStyle/>
          <a:p>
            <a:endParaRPr lang="zh-CN" altLang="en-US"/>
          </a:p>
        </p:txBody>
      </p:sp>
      <p:sp>
        <p:nvSpPr>
          <p:cNvPr id="56" name="Shape 54"/>
          <p:cNvSpPr/>
          <p:nvPr/>
        </p:nvSpPr>
        <p:spPr>
          <a:xfrm>
            <a:off x="6193258" y="6071905"/>
            <a:ext cx="32126" cy="465834"/>
          </a:xfrm>
          <a:custGeom>
            <a:avLst/>
            <a:gdLst/>
            <a:ahLst/>
            <a:cxnLst/>
            <a:rect l="l" t="t" r="r" b="b"/>
            <a:pathLst>
              <a:path w="32126" h="465834">
                <a:moveTo>
                  <a:pt x="32126" y="0"/>
                </a:moveTo>
                <a:lnTo>
                  <a:pt x="32126" y="0"/>
                </a:lnTo>
                <a:lnTo>
                  <a:pt x="32126" y="465834"/>
                </a:lnTo>
                <a:lnTo>
                  <a:pt x="32126" y="465834"/>
                </a:lnTo>
                <a:cubicBezTo>
                  <a:pt x="14384" y="465834"/>
                  <a:pt x="0" y="451450"/>
                  <a:pt x="0" y="433708"/>
                </a:cubicBezTo>
                <a:lnTo>
                  <a:pt x="0" y="32126"/>
                </a:lnTo>
                <a:cubicBezTo>
                  <a:pt x="0" y="14384"/>
                  <a:pt x="14384" y="0"/>
                  <a:pt x="32126" y="0"/>
                </a:cubicBezTo>
                <a:close/>
              </a:path>
            </a:pathLst>
          </a:custGeom>
          <a:solidFill>
            <a:srgbClr val="C9A86A"/>
          </a:solidFill>
          <a:ln/>
        </p:spPr>
        <p:txBody>
          <a:bodyPr/>
          <a:lstStyle/>
          <a:p>
            <a:endParaRPr lang="zh-CN" altLang="en-US"/>
          </a:p>
        </p:txBody>
      </p:sp>
      <p:sp>
        <p:nvSpPr>
          <p:cNvPr id="57" name="Shape 55"/>
          <p:cNvSpPr/>
          <p:nvPr/>
        </p:nvSpPr>
        <p:spPr>
          <a:xfrm>
            <a:off x="6353890" y="6240569"/>
            <a:ext cx="128506" cy="128506"/>
          </a:xfrm>
          <a:custGeom>
            <a:avLst/>
            <a:gdLst/>
            <a:ahLst/>
            <a:cxnLst/>
            <a:rect l="l" t="t" r="r" b="b"/>
            <a:pathLst>
              <a:path w="128506" h="128506">
                <a:moveTo>
                  <a:pt x="64253" y="0"/>
                </a:moveTo>
                <a:cubicBezTo>
                  <a:pt x="67942" y="0"/>
                  <a:pt x="71331" y="2033"/>
                  <a:pt x="73088" y="5271"/>
                </a:cubicBezTo>
                <a:lnTo>
                  <a:pt x="127301" y="105666"/>
                </a:lnTo>
                <a:cubicBezTo>
                  <a:pt x="128983" y="108778"/>
                  <a:pt x="128908" y="112543"/>
                  <a:pt x="127100" y="115580"/>
                </a:cubicBezTo>
                <a:cubicBezTo>
                  <a:pt x="125293" y="118617"/>
                  <a:pt x="122005" y="120474"/>
                  <a:pt x="118466" y="120474"/>
                </a:cubicBezTo>
                <a:lnTo>
                  <a:pt x="10040" y="120474"/>
                </a:lnTo>
                <a:cubicBezTo>
                  <a:pt x="6501" y="120474"/>
                  <a:pt x="3238" y="118617"/>
                  <a:pt x="1406" y="115580"/>
                </a:cubicBezTo>
                <a:cubicBezTo>
                  <a:pt x="-427" y="112543"/>
                  <a:pt x="-477" y="108778"/>
                  <a:pt x="1205" y="105666"/>
                </a:cubicBezTo>
                <a:lnTo>
                  <a:pt x="55418" y="5271"/>
                </a:lnTo>
                <a:cubicBezTo>
                  <a:pt x="57175" y="2033"/>
                  <a:pt x="60563" y="0"/>
                  <a:pt x="64253" y="0"/>
                </a:cubicBezTo>
                <a:close/>
                <a:moveTo>
                  <a:pt x="64253" y="42166"/>
                </a:moveTo>
                <a:cubicBezTo>
                  <a:pt x="60915" y="42166"/>
                  <a:pt x="58229" y="44852"/>
                  <a:pt x="58229" y="48190"/>
                </a:cubicBezTo>
                <a:lnTo>
                  <a:pt x="58229" y="76300"/>
                </a:lnTo>
                <a:cubicBezTo>
                  <a:pt x="58229" y="79639"/>
                  <a:pt x="60915" y="82324"/>
                  <a:pt x="64253" y="82324"/>
                </a:cubicBezTo>
                <a:cubicBezTo>
                  <a:pt x="67591" y="82324"/>
                  <a:pt x="70277" y="79639"/>
                  <a:pt x="70277" y="76300"/>
                </a:cubicBezTo>
                <a:lnTo>
                  <a:pt x="70277" y="48190"/>
                </a:lnTo>
                <a:cubicBezTo>
                  <a:pt x="70277" y="44852"/>
                  <a:pt x="67591" y="42166"/>
                  <a:pt x="64253" y="42166"/>
                </a:cubicBezTo>
                <a:close/>
                <a:moveTo>
                  <a:pt x="70954" y="96379"/>
                </a:moveTo>
                <a:cubicBezTo>
                  <a:pt x="71107" y="93892"/>
                  <a:pt x="69866" y="91525"/>
                  <a:pt x="67734" y="90236"/>
                </a:cubicBezTo>
                <a:cubicBezTo>
                  <a:pt x="65602" y="88946"/>
                  <a:pt x="62930" y="88946"/>
                  <a:pt x="60797" y="90236"/>
                </a:cubicBezTo>
                <a:cubicBezTo>
                  <a:pt x="58665" y="91525"/>
                  <a:pt x="57424" y="93892"/>
                  <a:pt x="57577" y="96379"/>
                </a:cubicBezTo>
                <a:cubicBezTo>
                  <a:pt x="57424" y="98867"/>
                  <a:pt x="58665" y="101234"/>
                  <a:pt x="60797" y="102523"/>
                </a:cubicBezTo>
                <a:cubicBezTo>
                  <a:pt x="62930" y="103813"/>
                  <a:pt x="65602" y="103813"/>
                  <a:pt x="67734" y="102523"/>
                </a:cubicBezTo>
                <a:cubicBezTo>
                  <a:pt x="69866" y="101234"/>
                  <a:pt x="71107" y="98867"/>
                  <a:pt x="70954" y="96379"/>
                </a:cubicBezTo>
                <a:close/>
              </a:path>
            </a:pathLst>
          </a:custGeom>
          <a:solidFill>
            <a:srgbClr val="C9A86A"/>
          </a:solidFill>
          <a:ln/>
        </p:spPr>
        <p:txBody>
          <a:bodyPr/>
          <a:lstStyle/>
          <a:p>
            <a:endParaRPr lang="zh-CN" altLang="en-US"/>
          </a:p>
        </p:txBody>
      </p:sp>
      <p:sp>
        <p:nvSpPr>
          <p:cNvPr id="58" name="Text 56"/>
          <p:cNvSpPr/>
          <p:nvPr/>
        </p:nvSpPr>
        <p:spPr>
          <a:xfrm>
            <a:off x="6539094" y="6200411"/>
            <a:ext cx="5268267" cy="208822"/>
          </a:xfrm>
          <a:prstGeom prst="rect">
            <a:avLst/>
          </a:prstGeom>
          <a:noFill/>
          <a:ln/>
        </p:spPr>
        <p:txBody>
          <a:bodyPr wrap="square" lIns="0" tIns="0" rIns="0" bIns="0" rtlCol="0" anchor="ctr"/>
          <a:lstStyle/>
          <a:p>
            <a:pPr>
              <a:lnSpc>
                <a:spcPct val="140000"/>
              </a:lnSpc>
            </a:pPr>
            <a:r>
              <a:rPr lang="en-US" sz="1012" b="1" dirty="0">
                <a:solidFill>
                  <a:srgbClr val="E0E2E5"/>
                </a:solidFill>
                <a:latin typeface="Noto Sans SC" pitchFamily="34" charset="0"/>
                <a:ea typeface="Noto Sans SC" pitchFamily="34" charset="-122"/>
                <a:cs typeface="Noto Sans SC" pitchFamily="34" charset="-120"/>
              </a:rPr>
              <a:t>根本局限：</a:t>
            </a:r>
            <a:r>
              <a:rPr lang="en-US" sz="1012" dirty="0">
                <a:solidFill>
                  <a:srgbClr val="E0E2E5"/>
                </a:solidFill>
                <a:latin typeface="Noto Sans SC" pitchFamily="34" charset="0"/>
                <a:ea typeface="Noto Sans SC" pitchFamily="34" charset="-122"/>
                <a:cs typeface="Noto Sans SC" pitchFamily="34" charset="-120"/>
              </a:rPr>
              <a:t>信息不可逆丢失——一旦剪枝，被删除 token 的信息便永久消失。</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18954" y="318954"/>
            <a:ext cx="11617884" cy="191372"/>
          </a:xfrm>
          <a:prstGeom prst="rect">
            <a:avLst/>
          </a:prstGeom>
          <a:noFill/>
          <a:ln/>
        </p:spPr>
        <p:txBody>
          <a:bodyPr wrap="square" lIns="0" tIns="0" rIns="0" bIns="0" rtlCol="0" anchor="ctr"/>
          <a:lstStyle/>
          <a:p>
            <a:pPr>
              <a:lnSpc>
                <a:spcPct val="130000"/>
              </a:lnSpc>
            </a:pPr>
            <a:r>
              <a:rPr lang="en-US" sz="1005" b="1" kern="0" spc="100" dirty="0">
                <a:solidFill>
                  <a:srgbClr val="3D8B75"/>
                </a:solidFill>
                <a:latin typeface="MiSans" pitchFamily="34" charset="0"/>
                <a:ea typeface="MiSans" pitchFamily="34" charset="-122"/>
                <a:cs typeface="MiSans" pitchFamily="34" charset="-120"/>
              </a:rPr>
              <a:t>PRECISION DIMENSION</a:t>
            </a:r>
            <a:endParaRPr lang="en-US" sz="1600" dirty="0"/>
          </a:p>
        </p:txBody>
      </p:sp>
      <p:sp>
        <p:nvSpPr>
          <p:cNvPr id="3" name="Text 1"/>
          <p:cNvSpPr/>
          <p:nvPr/>
        </p:nvSpPr>
        <p:spPr>
          <a:xfrm>
            <a:off x="318954" y="574116"/>
            <a:ext cx="11697622" cy="318954"/>
          </a:xfrm>
          <a:prstGeom prst="rect">
            <a:avLst/>
          </a:prstGeom>
          <a:noFill/>
          <a:ln/>
        </p:spPr>
        <p:txBody>
          <a:bodyPr wrap="square" lIns="0" tIns="0" rIns="0" bIns="0" rtlCol="0" anchor="ctr"/>
          <a:lstStyle/>
          <a:p>
            <a:pPr>
              <a:lnSpc>
                <a:spcPct val="90000"/>
              </a:lnSpc>
            </a:pPr>
            <a:r>
              <a:rPr lang="en-US" sz="2260" b="1" dirty="0">
                <a:solidFill>
                  <a:srgbClr val="E0E2E5"/>
                </a:solidFill>
                <a:latin typeface="Noto Sans SC" pitchFamily="34" charset="0"/>
                <a:ea typeface="Noto Sans SC" pitchFamily="34" charset="-122"/>
                <a:cs typeface="Noto Sans SC" pitchFamily="34" charset="-120"/>
              </a:rPr>
              <a:t>精度维压缩：量化与低精度表示</a:t>
            </a:r>
            <a:endParaRPr lang="en-US" sz="1600" dirty="0"/>
          </a:p>
        </p:txBody>
      </p:sp>
      <p:sp>
        <p:nvSpPr>
          <p:cNvPr id="4" name="Shape 2"/>
          <p:cNvSpPr/>
          <p:nvPr/>
        </p:nvSpPr>
        <p:spPr>
          <a:xfrm>
            <a:off x="318954" y="988756"/>
            <a:ext cx="765489" cy="31895"/>
          </a:xfrm>
          <a:custGeom>
            <a:avLst/>
            <a:gdLst/>
            <a:ahLst/>
            <a:cxnLst/>
            <a:rect l="l" t="t" r="r" b="b"/>
            <a:pathLst>
              <a:path w="765489" h="31895">
                <a:moveTo>
                  <a:pt x="0" y="0"/>
                </a:moveTo>
                <a:lnTo>
                  <a:pt x="765489" y="0"/>
                </a:lnTo>
                <a:lnTo>
                  <a:pt x="765489" y="31895"/>
                </a:lnTo>
                <a:lnTo>
                  <a:pt x="0" y="31895"/>
                </a:lnTo>
                <a:lnTo>
                  <a:pt x="0" y="0"/>
                </a:lnTo>
                <a:close/>
              </a:path>
            </a:pathLst>
          </a:custGeom>
          <a:solidFill>
            <a:srgbClr val="C9A86A"/>
          </a:solidFill>
          <a:ln/>
        </p:spPr>
        <p:txBody>
          <a:bodyPr/>
          <a:lstStyle/>
          <a:p>
            <a:endParaRPr lang="zh-CN" altLang="en-US"/>
          </a:p>
        </p:txBody>
      </p:sp>
      <p:sp>
        <p:nvSpPr>
          <p:cNvPr id="5" name="Shape 3"/>
          <p:cNvSpPr/>
          <p:nvPr/>
        </p:nvSpPr>
        <p:spPr>
          <a:xfrm>
            <a:off x="334901" y="1085173"/>
            <a:ext cx="5677373" cy="2073198"/>
          </a:xfrm>
          <a:custGeom>
            <a:avLst/>
            <a:gdLst/>
            <a:ahLst/>
            <a:cxnLst/>
            <a:rect l="l" t="t" r="r" b="b"/>
            <a:pathLst>
              <a:path w="5677373" h="2073198">
                <a:moveTo>
                  <a:pt x="31895" y="0"/>
                </a:moveTo>
                <a:lnTo>
                  <a:pt x="5613581" y="0"/>
                </a:lnTo>
                <a:cubicBezTo>
                  <a:pt x="5648813" y="0"/>
                  <a:pt x="5677373" y="28561"/>
                  <a:pt x="5677373" y="63792"/>
                </a:cubicBezTo>
                <a:lnTo>
                  <a:pt x="5677373" y="2009406"/>
                </a:lnTo>
                <a:cubicBezTo>
                  <a:pt x="5677373" y="2044637"/>
                  <a:pt x="5648813" y="2073198"/>
                  <a:pt x="5613581" y="2073198"/>
                </a:cubicBezTo>
                <a:lnTo>
                  <a:pt x="31895" y="2073198"/>
                </a:lnTo>
                <a:cubicBezTo>
                  <a:pt x="14280" y="2073198"/>
                  <a:pt x="0" y="2058918"/>
                  <a:pt x="0" y="2041303"/>
                </a:cubicBezTo>
                <a:lnTo>
                  <a:pt x="0" y="31895"/>
                </a:lnTo>
                <a:cubicBezTo>
                  <a:pt x="0" y="14280"/>
                  <a:pt x="14280" y="0"/>
                  <a:pt x="31895" y="0"/>
                </a:cubicBezTo>
                <a:close/>
              </a:path>
            </a:pathLst>
          </a:custGeom>
          <a:solidFill>
            <a:srgbClr val="3D8B75">
              <a:alpha val="10196"/>
            </a:srgbClr>
          </a:solidFill>
          <a:ln/>
        </p:spPr>
        <p:txBody>
          <a:bodyPr/>
          <a:lstStyle/>
          <a:p>
            <a:endParaRPr lang="zh-CN" altLang="en-US"/>
          </a:p>
        </p:txBody>
      </p:sp>
      <p:sp>
        <p:nvSpPr>
          <p:cNvPr id="6" name="Shape 4"/>
          <p:cNvSpPr/>
          <p:nvPr/>
        </p:nvSpPr>
        <p:spPr>
          <a:xfrm>
            <a:off x="334901" y="1085173"/>
            <a:ext cx="31895" cy="2073198"/>
          </a:xfrm>
          <a:custGeom>
            <a:avLst/>
            <a:gdLst/>
            <a:ahLst/>
            <a:cxnLst/>
            <a:rect l="l" t="t" r="r" b="b"/>
            <a:pathLst>
              <a:path w="31895" h="2073198">
                <a:moveTo>
                  <a:pt x="31895" y="0"/>
                </a:moveTo>
                <a:lnTo>
                  <a:pt x="31895" y="0"/>
                </a:lnTo>
                <a:lnTo>
                  <a:pt x="31895" y="2073198"/>
                </a:lnTo>
                <a:lnTo>
                  <a:pt x="31895" y="2073198"/>
                </a:lnTo>
                <a:cubicBezTo>
                  <a:pt x="14280" y="2073198"/>
                  <a:pt x="0" y="2058918"/>
                  <a:pt x="0" y="2041303"/>
                </a:cubicBezTo>
                <a:lnTo>
                  <a:pt x="0" y="31895"/>
                </a:lnTo>
                <a:cubicBezTo>
                  <a:pt x="0" y="14280"/>
                  <a:pt x="14280" y="0"/>
                  <a:pt x="31895" y="0"/>
                </a:cubicBezTo>
                <a:close/>
              </a:path>
            </a:pathLst>
          </a:custGeom>
          <a:solidFill>
            <a:srgbClr val="3D8B75"/>
          </a:solidFill>
          <a:ln/>
        </p:spPr>
        <p:txBody>
          <a:bodyPr/>
          <a:lstStyle/>
          <a:p>
            <a:endParaRPr lang="zh-CN" altLang="en-US"/>
          </a:p>
        </p:txBody>
      </p:sp>
      <p:sp>
        <p:nvSpPr>
          <p:cNvPr id="7" name="Text 5"/>
          <p:cNvSpPr/>
          <p:nvPr/>
        </p:nvSpPr>
        <p:spPr>
          <a:xfrm>
            <a:off x="510326" y="1244650"/>
            <a:ext cx="5422211" cy="223267"/>
          </a:xfrm>
          <a:prstGeom prst="rect">
            <a:avLst/>
          </a:prstGeom>
          <a:noFill/>
          <a:ln/>
        </p:spPr>
        <p:txBody>
          <a:bodyPr wrap="square" lIns="0" tIns="0" rIns="0" bIns="0" rtlCol="0" anchor="ctr"/>
          <a:lstStyle/>
          <a:p>
            <a:pPr>
              <a:lnSpc>
                <a:spcPct val="120000"/>
              </a:lnSpc>
            </a:pPr>
            <a:r>
              <a:rPr lang="en-US" sz="1256" b="1" dirty="0">
                <a:solidFill>
                  <a:srgbClr val="E0E2E5"/>
                </a:solidFill>
                <a:latin typeface="Noto Sans SC" pitchFamily="34" charset="0"/>
                <a:ea typeface="Noto Sans SC" pitchFamily="34" charset="-122"/>
                <a:cs typeface="Noto Sans SC" pitchFamily="34" charset="-120"/>
              </a:rPr>
              <a:t>核心思想</a:t>
            </a:r>
            <a:endParaRPr lang="en-US" sz="1600" dirty="0"/>
          </a:p>
        </p:txBody>
      </p:sp>
      <p:sp>
        <p:nvSpPr>
          <p:cNvPr id="8" name="Text 6"/>
          <p:cNvSpPr/>
          <p:nvPr/>
        </p:nvSpPr>
        <p:spPr>
          <a:xfrm>
            <a:off x="510326" y="1563603"/>
            <a:ext cx="5406263" cy="414640"/>
          </a:xfrm>
          <a:prstGeom prst="rect">
            <a:avLst/>
          </a:prstGeom>
          <a:noFill/>
          <a:ln/>
        </p:spPr>
        <p:txBody>
          <a:bodyPr wrap="square" lIns="0" tIns="0" rIns="0" bIns="0" rtlCol="0" anchor="ctr"/>
          <a:lstStyle/>
          <a:p>
            <a:pPr>
              <a:lnSpc>
                <a:spcPct val="140000"/>
              </a:lnSpc>
            </a:pPr>
            <a:r>
              <a:rPr lang="en-US" sz="1005" dirty="0">
                <a:solidFill>
                  <a:srgbClr val="E0E2E5">
                    <a:alpha val="80000"/>
                  </a:srgbClr>
                </a:solidFill>
                <a:latin typeface="Noto Sans SC" pitchFamily="34" charset="0"/>
                <a:ea typeface="Noto Sans SC" pitchFamily="34" charset="-122"/>
                <a:cs typeface="Noto Sans SC" pitchFamily="34" charset="-120"/>
              </a:rPr>
              <a:t>如果说 Pruning 做的是"减法"，那么量化做的就是"压缩"——</a:t>
            </a:r>
            <a:r>
              <a:rPr lang="en-US" sz="1005" dirty="0">
                <a:solidFill>
                  <a:srgbClr val="3D8B75"/>
                </a:solidFill>
                <a:highlight>
                  <a:srgbClr val="3D8B75">
                    <a:alpha val="20000"/>
                  </a:srgbClr>
                </a:highlight>
                <a:latin typeface="Noto Sans SC" pitchFamily="34" charset="0"/>
                <a:ea typeface="Noto Sans SC" pitchFamily="34" charset="-122"/>
                <a:cs typeface="Noto Sans SC" pitchFamily="34" charset="-120"/>
              </a:rPr>
              <a:t> 通过降低 KV 的数值精度 </a:t>
            </a:r>
            <a:r>
              <a:rPr lang="en-US" sz="1005" dirty="0">
                <a:solidFill>
                  <a:srgbClr val="E0E2E5">
                    <a:alpha val="80000"/>
                  </a:srgbClr>
                </a:solidFill>
                <a:latin typeface="Noto Sans SC" pitchFamily="34" charset="0"/>
                <a:ea typeface="Noto Sans SC" pitchFamily="34" charset="-122"/>
                <a:cs typeface="Noto Sans SC" pitchFamily="34" charset="-120"/>
              </a:rPr>
              <a:t>（从 FP16 到 INT4/INT2 甚至更低），在不改变序列长度的前提下大幅削减显存占用。</a:t>
            </a:r>
            <a:endParaRPr lang="en-US" sz="1600" dirty="0"/>
          </a:p>
        </p:txBody>
      </p:sp>
      <p:sp>
        <p:nvSpPr>
          <p:cNvPr id="9" name="Shape 7"/>
          <p:cNvSpPr/>
          <p:nvPr/>
        </p:nvSpPr>
        <p:spPr>
          <a:xfrm>
            <a:off x="510326" y="2073929"/>
            <a:ext cx="5342472" cy="924965"/>
          </a:xfrm>
          <a:custGeom>
            <a:avLst/>
            <a:gdLst/>
            <a:ahLst/>
            <a:cxnLst/>
            <a:rect l="l" t="t" r="r" b="b"/>
            <a:pathLst>
              <a:path w="5342472" h="924965">
                <a:moveTo>
                  <a:pt x="63795" y="0"/>
                </a:moveTo>
                <a:lnTo>
                  <a:pt x="5278677" y="0"/>
                </a:lnTo>
                <a:cubicBezTo>
                  <a:pt x="5313910" y="0"/>
                  <a:pt x="5342472" y="28562"/>
                  <a:pt x="5342472" y="63795"/>
                </a:cubicBezTo>
                <a:lnTo>
                  <a:pt x="5342472" y="861170"/>
                </a:lnTo>
                <a:cubicBezTo>
                  <a:pt x="5342472" y="896403"/>
                  <a:pt x="5313910" y="924965"/>
                  <a:pt x="5278677" y="924965"/>
                </a:cubicBezTo>
                <a:lnTo>
                  <a:pt x="63795" y="924965"/>
                </a:lnTo>
                <a:cubicBezTo>
                  <a:pt x="28562" y="924965"/>
                  <a:pt x="0" y="896403"/>
                  <a:pt x="0" y="861170"/>
                </a:cubicBezTo>
                <a:lnTo>
                  <a:pt x="0" y="63795"/>
                </a:lnTo>
                <a:cubicBezTo>
                  <a:pt x="0" y="28562"/>
                  <a:pt x="28562" y="0"/>
                  <a:pt x="63795" y="0"/>
                </a:cubicBezTo>
                <a:close/>
              </a:path>
            </a:pathLst>
          </a:custGeom>
          <a:solidFill>
            <a:srgbClr val="1A1D21">
              <a:alpha val="50196"/>
            </a:srgbClr>
          </a:solidFill>
          <a:ln/>
        </p:spPr>
        <p:txBody>
          <a:bodyPr/>
          <a:lstStyle/>
          <a:p>
            <a:endParaRPr lang="zh-CN" altLang="en-US"/>
          </a:p>
        </p:txBody>
      </p:sp>
      <p:sp>
        <p:nvSpPr>
          <p:cNvPr id="10" name="Text 8"/>
          <p:cNvSpPr/>
          <p:nvPr/>
        </p:nvSpPr>
        <p:spPr>
          <a:xfrm>
            <a:off x="637907" y="2201510"/>
            <a:ext cx="5151100" cy="191372"/>
          </a:xfrm>
          <a:prstGeom prst="rect">
            <a:avLst/>
          </a:prstGeom>
          <a:noFill/>
          <a:ln/>
        </p:spPr>
        <p:txBody>
          <a:bodyPr wrap="square" lIns="0" tIns="0" rIns="0" bIns="0" rtlCol="0" anchor="ctr"/>
          <a:lstStyle/>
          <a:p>
            <a:pPr>
              <a:lnSpc>
                <a:spcPct val="130000"/>
              </a:lnSpc>
            </a:pPr>
            <a:r>
              <a:rPr lang="en-US" sz="1005" b="1" dirty="0">
                <a:solidFill>
                  <a:srgbClr val="C9A86A"/>
                </a:solidFill>
                <a:latin typeface="Noto Sans SC" pitchFamily="34" charset="0"/>
                <a:ea typeface="Noto Sans SC" pitchFamily="34" charset="-122"/>
                <a:cs typeface="Noto Sans SC" pitchFamily="34" charset="-120"/>
              </a:rPr>
              <a:t>一句话本质</a:t>
            </a:r>
            <a:endParaRPr lang="en-US" sz="1600" dirty="0"/>
          </a:p>
        </p:txBody>
      </p:sp>
      <p:sp>
        <p:nvSpPr>
          <p:cNvPr id="11" name="Text 9"/>
          <p:cNvSpPr/>
          <p:nvPr/>
        </p:nvSpPr>
        <p:spPr>
          <a:xfrm>
            <a:off x="637907" y="2456673"/>
            <a:ext cx="5151100" cy="414640"/>
          </a:xfrm>
          <a:prstGeom prst="rect">
            <a:avLst/>
          </a:prstGeom>
          <a:noFill/>
          <a:ln/>
        </p:spPr>
        <p:txBody>
          <a:bodyPr wrap="square" lIns="0" tIns="0" rIns="0" bIns="0" rtlCol="0" anchor="ctr"/>
          <a:lstStyle/>
          <a:p>
            <a:pPr>
              <a:lnSpc>
                <a:spcPct val="140000"/>
              </a:lnSpc>
            </a:pPr>
            <a:r>
              <a:rPr lang="en-US" sz="1005" dirty="0">
                <a:solidFill>
                  <a:srgbClr val="E0E2E5">
                    <a:alpha val="80000"/>
                  </a:srgbClr>
                </a:solidFill>
                <a:latin typeface="Noto Sans SC" pitchFamily="34" charset="0"/>
                <a:ea typeface="Noto Sans SC" pitchFamily="34" charset="-122"/>
                <a:cs typeface="Noto Sans SC" pitchFamily="34" charset="-120"/>
              </a:rPr>
              <a:t>精度维压缩的本质是</a:t>
            </a:r>
            <a:r>
              <a:rPr lang="en-US" sz="1005" b="1" dirty="0">
                <a:solidFill>
                  <a:srgbClr val="E0E2E5">
                    <a:alpha val="80000"/>
                  </a:srgbClr>
                </a:solidFill>
                <a:latin typeface="Noto Sans SC" pitchFamily="34" charset="0"/>
                <a:ea typeface="Noto Sans SC" pitchFamily="34" charset="-122"/>
                <a:cs typeface="Noto Sans SC" pitchFamily="34" charset="-120"/>
              </a:rPr>
              <a:t>用数值表示的粒度换取存储空间</a:t>
            </a:r>
            <a:r>
              <a:rPr lang="en-US" sz="1005" dirty="0">
                <a:solidFill>
                  <a:srgbClr val="E0E2E5">
                    <a:alpha val="80000"/>
                  </a:srgbClr>
                </a:solidFill>
                <a:latin typeface="Noto Sans SC" pitchFamily="34" charset="0"/>
                <a:ea typeface="Noto Sans SC" pitchFamily="34" charset="-122"/>
                <a:cs typeface="Noto Sans SC" pitchFamily="34" charset="-120"/>
              </a:rPr>
              <a:t>，其边界由模型对噪声的容忍度决定。</a:t>
            </a:r>
            <a:endParaRPr lang="en-US" sz="1600" dirty="0"/>
          </a:p>
        </p:txBody>
      </p:sp>
      <p:sp>
        <p:nvSpPr>
          <p:cNvPr id="12" name="Shape 10"/>
          <p:cNvSpPr/>
          <p:nvPr/>
        </p:nvSpPr>
        <p:spPr>
          <a:xfrm>
            <a:off x="334901" y="3285952"/>
            <a:ext cx="5677373" cy="3508489"/>
          </a:xfrm>
          <a:custGeom>
            <a:avLst/>
            <a:gdLst/>
            <a:ahLst/>
            <a:cxnLst/>
            <a:rect l="l" t="t" r="r" b="b"/>
            <a:pathLst>
              <a:path w="5677373" h="3508489">
                <a:moveTo>
                  <a:pt x="31895" y="0"/>
                </a:moveTo>
                <a:lnTo>
                  <a:pt x="5613589" y="0"/>
                </a:lnTo>
                <a:cubicBezTo>
                  <a:pt x="5648816" y="0"/>
                  <a:pt x="5677373" y="28557"/>
                  <a:pt x="5677373" y="63784"/>
                </a:cubicBezTo>
                <a:lnTo>
                  <a:pt x="5677373" y="3444705"/>
                </a:lnTo>
                <a:cubicBezTo>
                  <a:pt x="5677373" y="3479932"/>
                  <a:pt x="5648816" y="3508489"/>
                  <a:pt x="5613589" y="3508489"/>
                </a:cubicBezTo>
                <a:lnTo>
                  <a:pt x="31895" y="3508489"/>
                </a:lnTo>
                <a:cubicBezTo>
                  <a:pt x="14280" y="3508489"/>
                  <a:pt x="0" y="3494209"/>
                  <a:pt x="0" y="3476594"/>
                </a:cubicBezTo>
                <a:lnTo>
                  <a:pt x="0" y="31895"/>
                </a:lnTo>
                <a:cubicBezTo>
                  <a:pt x="0" y="14280"/>
                  <a:pt x="14280" y="0"/>
                  <a:pt x="31895" y="0"/>
                </a:cubicBezTo>
                <a:close/>
              </a:path>
            </a:pathLst>
          </a:custGeom>
          <a:solidFill>
            <a:srgbClr val="5F6B7A">
              <a:alpha val="10196"/>
            </a:srgbClr>
          </a:solidFill>
          <a:ln/>
        </p:spPr>
        <p:txBody>
          <a:bodyPr/>
          <a:lstStyle/>
          <a:p>
            <a:endParaRPr lang="zh-CN" altLang="en-US"/>
          </a:p>
        </p:txBody>
      </p:sp>
      <p:sp>
        <p:nvSpPr>
          <p:cNvPr id="13" name="Shape 11"/>
          <p:cNvSpPr/>
          <p:nvPr/>
        </p:nvSpPr>
        <p:spPr>
          <a:xfrm>
            <a:off x="334901" y="3285952"/>
            <a:ext cx="31895" cy="3508489"/>
          </a:xfrm>
          <a:custGeom>
            <a:avLst/>
            <a:gdLst/>
            <a:ahLst/>
            <a:cxnLst/>
            <a:rect l="l" t="t" r="r" b="b"/>
            <a:pathLst>
              <a:path w="31895" h="3508489">
                <a:moveTo>
                  <a:pt x="31895" y="0"/>
                </a:moveTo>
                <a:lnTo>
                  <a:pt x="31895" y="0"/>
                </a:lnTo>
                <a:lnTo>
                  <a:pt x="31895" y="3508489"/>
                </a:lnTo>
                <a:lnTo>
                  <a:pt x="31895" y="3508489"/>
                </a:lnTo>
                <a:cubicBezTo>
                  <a:pt x="14280" y="3508489"/>
                  <a:pt x="0" y="3494209"/>
                  <a:pt x="0" y="3476594"/>
                </a:cubicBezTo>
                <a:lnTo>
                  <a:pt x="0" y="31895"/>
                </a:lnTo>
                <a:cubicBezTo>
                  <a:pt x="0" y="14280"/>
                  <a:pt x="14280" y="0"/>
                  <a:pt x="31895" y="0"/>
                </a:cubicBezTo>
                <a:close/>
              </a:path>
            </a:pathLst>
          </a:custGeom>
          <a:solidFill>
            <a:srgbClr val="5F6B7A"/>
          </a:solidFill>
          <a:ln/>
        </p:spPr>
        <p:txBody>
          <a:bodyPr/>
          <a:lstStyle/>
          <a:p>
            <a:endParaRPr lang="zh-CN" altLang="en-US"/>
          </a:p>
        </p:txBody>
      </p:sp>
      <p:sp>
        <p:nvSpPr>
          <p:cNvPr id="14" name="Text 12"/>
          <p:cNvSpPr/>
          <p:nvPr/>
        </p:nvSpPr>
        <p:spPr>
          <a:xfrm>
            <a:off x="510326" y="3445429"/>
            <a:ext cx="5422211" cy="223267"/>
          </a:xfrm>
          <a:prstGeom prst="rect">
            <a:avLst/>
          </a:prstGeom>
          <a:noFill/>
          <a:ln/>
        </p:spPr>
        <p:txBody>
          <a:bodyPr wrap="square" lIns="0" tIns="0" rIns="0" bIns="0" rtlCol="0" anchor="ctr"/>
          <a:lstStyle/>
          <a:p>
            <a:pPr>
              <a:lnSpc>
                <a:spcPct val="120000"/>
              </a:lnSpc>
            </a:pPr>
            <a:r>
              <a:rPr lang="en-US" sz="1256" b="1" dirty="0">
                <a:solidFill>
                  <a:srgbClr val="E0E2E5"/>
                </a:solidFill>
                <a:latin typeface="Noto Sans SC" pitchFamily="34" charset="0"/>
                <a:ea typeface="Noto Sans SC" pitchFamily="34" charset="-122"/>
                <a:cs typeface="Noto Sans SC" pitchFamily="34" charset="-120"/>
              </a:rPr>
              <a:t>技术演进</a:t>
            </a:r>
            <a:endParaRPr lang="en-US" sz="1600" dirty="0"/>
          </a:p>
        </p:txBody>
      </p:sp>
      <p:sp>
        <p:nvSpPr>
          <p:cNvPr id="15" name="Text 13"/>
          <p:cNvSpPr/>
          <p:nvPr/>
        </p:nvSpPr>
        <p:spPr>
          <a:xfrm>
            <a:off x="510326" y="3764383"/>
            <a:ext cx="5406263" cy="207320"/>
          </a:xfrm>
          <a:prstGeom prst="rect">
            <a:avLst/>
          </a:prstGeom>
          <a:noFill/>
          <a:ln/>
        </p:spPr>
        <p:txBody>
          <a:bodyPr wrap="square" lIns="0" tIns="0" rIns="0" bIns="0" rtlCol="0" anchor="ctr"/>
          <a:lstStyle/>
          <a:p>
            <a:pPr>
              <a:lnSpc>
                <a:spcPct val="140000"/>
              </a:lnSpc>
            </a:pPr>
            <a:r>
              <a:rPr lang="en-US" sz="1005" dirty="0">
                <a:solidFill>
                  <a:srgbClr val="E0E2E5">
                    <a:alpha val="80000"/>
                  </a:srgbClr>
                </a:solidFill>
                <a:latin typeface="Noto Sans SC" pitchFamily="34" charset="0"/>
                <a:ea typeface="Noto Sans SC" pitchFamily="34" charset="-122"/>
                <a:cs typeface="Noto Sans SC" pitchFamily="34" charset="-120"/>
              </a:rPr>
              <a:t>量化技术的发展经历了从</a:t>
            </a:r>
            <a:r>
              <a:rPr lang="en-US" sz="1005" dirty="0">
                <a:solidFill>
                  <a:srgbClr val="5F6B7A"/>
                </a:solidFill>
                <a:highlight>
                  <a:srgbClr val="5F6B7A">
                    <a:alpha val="20000"/>
                  </a:srgbClr>
                </a:highlight>
                <a:latin typeface="Noto Sans SC" pitchFamily="34" charset="0"/>
                <a:ea typeface="Noto Sans SC" pitchFamily="34" charset="-122"/>
                <a:cs typeface="Noto Sans SC" pitchFamily="34" charset="-120"/>
              </a:rPr>
              <a:t> "一刀切"到"差异化对待" </a:t>
            </a:r>
            <a:r>
              <a:rPr lang="en-US" sz="1005" dirty="0">
                <a:solidFill>
                  <a:srgbClr val="E0E2E5">
                    <a:alpha val="80000"/>
                  </a:srgbClr>
                </a:solidFill>
                <a:latin typeface="Noto Sans SC" pitchFamily="34" charset="0"/>
                <a:ea typeface="Noto Sans SC" pitchFamily="34" charset="-122"/>
                <a:cs typeface="Noto Sans SC" pitchFamily="34" charset="-120"/>
              </a:rPr>
              <a:t>的演进。</a:t>
            </a:r>
            <a:endParaRPr lang="en-US" sz="1600" dirty="0"/>
          </a:p>
        </p:txBody>
      </p:sp>
      <p:sp>
        <p:nvSpPr>
          <p:cNvPr id="16" name="Shape 14"/>
          <p:cNvSpPr/>
          <p:nvPr/>
        </p:nvSpPr>
        <p:spPr>
          <a:xfrm>
            <a:off x="510326" y="4093304"/>
            <a:ext cx="5342472" cy="542221"/>
          </a:xfrm>
          <a:custGeom>
            <a:avLst/>
            <a:gdLst/>
            <a:ahLst/>
            <a:cxnLst/>
            <a:rect l="l" t="t" r="r" b="b"/>
            <a:pathLst>
              <a:path w="5342472" h="542221">
                <a:moveTo>
                  <a:pt x="63792" y="0"/>
                </a:moveTo>
                <a:lnTo>
                  <a:pt x="5278680" y="0"/>
                </a:lnTo>
                <a:cubicBezTo>
                  <a:pt x="5313911" y="0"/>
                  <a:pt x="5342472" y="28561"/>
                  <a:pt x="5342472" y="63792"/>
                </a:cubicBezTo>
                <a:lnTo>
                  <a:pt x="5342472" y="478429"/>
                </a:lnTo>
                <a:cubicBezTo>
                  <a:pt x="5342472" y="513660"/>
                  <a:pt x="5313911" y="542221"/>
                  <a:pt x="5278680" y="542221"/>
                </a:cubicBezTo>
                <a:lnTo>
                  <a:pt x="63792" y="542221"/>
                </a:lnTo>
                <a:cubicBezTo>
                  <a:pt x="28561" y="542221"/>
                  <a:pt x="0" y="513660"/>
                  <a:pt x="0" y="478429"/>
                </a:cubicBezTo>
                <a:lnTo>
                  <a:pt x="0" y="63792"/>
                </a:lnTo>
                <a:cubicBezTo>
                  <a:pt x="0" y="28584"/>
                  <a:pt x="28584" y="0"/>
                  <a:pt x="63792" y="0"/>
                </a:cubicBezTo>
                <a:close/>
              </a:path>
            </a:pathLst>
          </a:custGeom>
          <a:solidFill>
            <a:srgbClr val="1A1D21">
              <a:alpha val="50196"/>
            </a:srgbClr>
          </a:solidFill>
          <a:ln/>
        </p:spPr>
        <p:txBody>
          <a:bodyPr/>
          <a:lstStyle/>
          <a:p>
            <a:endParaRPr lang="zh-CN" altLang="en-US"/>
          </a:p>
        </p:txBody>
      </p:sp>
      <p:sp>
        <p:nvSpPr>
          <p:cNvPr id="17" name="Text 15"/>
          <p:cNvSpPr/>
          <p:nvPr/>
        </p:nvSpPr>
        <p:spPr>
          <a:xfrm>
            <a:off x="606012" y="4188990"/>
            <a:ext cx="5214891" cy="191372"/>
          </a:xfrm>
          <a:prstGeom prst="rect">
            <a:avLst/>
          </a:prstGeom>
          <a:noFill/>
          <a:ln/>
        </p:spPr>
        <p:txBody>
          <a:bodyPr wrap="square" lIns="0" tIns="0" rIns="0" bIns="0" rtlCol="0" anchor="ctr"/>
          <a:lstStyle/>
          <a:p>
            <a:pPr>
              <a:lnSpc>
                <a:spcPct val="130000"/>
              </a:lnSpc>
            </a:pPr>
            <a:r>
              <a:rPr lang="en-US" sz="1005" b="1" dirty="0">
                <a:solidFill>
                  <a:srgbClr val="E0E2E5"/>
                </a:solidFill>
                <a:latin typeface="Noto Sans SC" pitchFamily="34" charset="0"/>
                <a:ea typeface="Noto Sans SC" pitchFamily="34" charset="-122"/>
                <a:cs typeface="Noto Sans SC" pitchFamily="34" charset="-120"/>
              </a:rPr>
              <a:t>QAQ</a:t>
            </a:r>
            <a:endParaRPr lang="en-US" sz="1600" dirty="0"/>
          </a:p>
        </p:txBody>
      </p:sp>
      <p:sp>
        <p:nvSpPr>
          <p:cNvPr id="18" name="Text 16"/>
          <p:cNvSpPr/>
          <p:nvPr/>
        </p:nvSpPr>
        <p:spPr>
          <a:xfrm>
            <a:off x="606012" y="4380362"/>
            <a:ext cx="5206917" cy="159477"/>
          </a:xfrm>
          <a:prstGeom prst="rect">
            <a:avLst/>
          </a:prstGeom>
          <a:noFill/>
          <a:ln/>
        </p:spPr>
        <p:txBody>
          <a:bodyPr wrap="square" lIns="0" tIns="0" rIns="0" bIns="0" rtlCol="0" anchor="ctr"/>
          <a:lstStyle/>
          <a:p>
            <a:pP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发现 Key 与 Value 在量化敏感度上的显著差异</a:t>
            </a:r>
            <a:endParaRPr lang="en-US" sz="1600" dirty="0"/>
          </a:p>
        </p:txBody>
      </p:sp>
      <p:sp>
        <p:nvSpPr>
          <p:cNvPr id="19" name="Shape 17"/>
          <p:cNvSpPr/>
          <p:nvPr/>
        </p:nvSpPr>
        <p:spPr>
          <a:xfrm>
            <a:off x="510326" y="4751145"/>
            <a:ext cx="5342472" cy="542221"/>
          </a:xfrm>
          <a:custGeom>
            <a:avLst/>
            <a:gdLst/>
            <a:ahLst/>
            <a:cxnLst/>
            <a:rect l="l" t="t" r="r" b="b"/>
            <a:pathLst>
              <a:path w="5342472" h="542221">
                <a:moveTo>
                  <a:pt x="63792" y="0"/>
                </a:moveTo>
                <a:lnTo>
                  <a:pt x="5278680" y="0"/>
                </a:lnTo>
                <a:cubicBezTo>
                  <a:pt x="5313911" y="0"/>
                  <a:pt x="5342472" y="28561"/>
                  <a:pt x="5342472" y="63792"/>
                </a:cubicBezTo>
                <a:lnTo>
                  <a:pt x="5342472" y="478429"/>
                </a:lnTo>
                <a:cubicBezTo>
                  <a:pt x="5342472" y="513660"/>
                  <a:pt x="5313911" y="542221"/>
                  <a:pt x="5278680" y="542221"/>
                </a:cubicBezTo>
                <a:lnTo>
                  <a:pt x="63792" y="542221"/>
                </a:lnTo>
                <a:cubicBezTo>
                  <a:pt x="28561" y="542221"/>
                  <a:pt x="0" y="513660"/>
                  <a:pt x="0" y="478429"/>
                </a:cubicBezTo>
                <a:lnTo>
                  <a:pt x="0" y="63792"/>
                </a:lnTo>
                <a:cubicBezTo>
                  <a:pt x="0" y="28584"/>
                  <a:pt x="28584" y="0"/>
                  <a:pt x="63792" y="0"/>
                </a:cubicBezTo>
                <a:close/>
              </a:path>
            </a:pathLst>
          </a:custGeom>
          <a:solidFill>
            <a:srgbClr val="1A1D21">
              <a:alpha val="50196"/>
            </a:srgbClr>
          </a:solidFill>
          <a:ln/>
        </p:spPr>
        <p:txBody>
          <a:bodyPr/>
          <a:lstStyle/>
          <a:p>
            <a:endParaRPr lang="zh-CN" altLang="en-US"/>
          </a:p>
        </p:txBody>
      </p:sp>
      <p:sp>
        <p:nvSpPr>
          <p:cNvPr id="20" name="Text 18"/>
          <p:cNvSpPr/>
          <p:nvPr/>
        </p:nvSpPr>
        <p:spPr>
          <a:xfrm>
            <a:off x="606012" y="4846831"/>
            <a:ext cx="5214891" cy="191372"/>
          </a:xfrm>
          <a:prstGeom prst="rect">
            <a:avLst/>
          </a:prstGeom>
          <a:noFill/>
          <a:ln/>
        </p:spPr>
        <p:txBody>
          <a:bodyPr wrap="square" lIns="0" tIns="0" rIns="0" bIns="0" rtlCol="0" anchor="ctr"/>
          <a:lstStyle/>
          <a:p>
            <a:pPr>
              <a:lnSpc>
                <a:spcPct val="130000"/>
              </a:lnSpc>
            </a:pPr>
            <a:r>
              <a:rPr lang="en-US" sz="1005" b="1" dirty="0">
                <a:solidFill>
                  <a:srgbClr val="E0E2E5"/>
                </a:solidFill>
                <a:latin typeface="Noto Sans SC" pitchFamily="34" charset="0"/>
                <a:ea typeface="Noto Sans SC" pitchFamily="34" charset="-122"/>
                <a:cs typeface="Noto Sans SC" pitchFamily="34" charset="-120"/>
              </a:rPr>
              <a:t>KVC-Q</a:t>
            </a:r>
            <a:endParaRPr lang="en-US" sz="1600" dirty="0"/>
          </a:p>
        </p:txBody>
      </p:sp>
      <p:sp>
        <p:nvSpPr>
          <p:cNvPr id="21" name="Text 19"/>
          <p:cNvSpPr/>
          <p:nvPr/>
        </p:nvSpPr>
        <p:spPr>
          <a:xfrm>
            <a:off x="606012" y="5038204"/>
            <a:ext cx="5206917" cy="159477"/>
          </a:xfrm>
          <a:prstGeom prst="rect">
            <a:avLst/>
          </a:prstGeom>
          <a:noFill/>
          <a:ln/>
        </p:spPr>
        <p:txBody>
          <a:bodyPr wrap="square" lIns="0" tIns="0" rIns="0" bIns="0" rtlCol="0" anchor="ctr"/>
          <a:lstStyle/>
          <a:p>
            <a:pP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recency-aware 和 head-aware 自适应机制</a:t>
            </a:r>
            <a:endParaRPr lang="en-US" sz="1600" dirty="0"/>
          </a:p>
        </p:txBody>
      </p:sp>
      <p:sp>
        <p:nvSpPr>
          <p:cNvPr id="22" name="Shape 20"/>
          <p:cNvSpPr/>
          <p:nvPr/>
        </p:nvSpPr>
        <p:spPr>
          <a:xfrm>
            <a:off x="510326" y="5408987"/>
            <a:ext cx="5342472" cy="542221"/>
          </a:xfrm>
          <a:custGeom>
            <a:avLst/>
            <a:gdLst/>
            <a:ahLst/>
            <a:cxnLst/>
            <a:rect l="l" t="t" r="r" b="b"/>
            <a:pathLst>
              <a:path w="5342472" h="542221">
                <a:moveTo>
                  <a:pt x="63792" y="0"/>
                </a:moveTo>
                <a:lnTo>
                  <a:pt x="5278680" y="0"/>
                </a:lnTo>
                <a:cubicBezTo>
                  <a:pt x="5313911" y="0"/>
                  <a:pt x="5342472" y="28561"/>
                  <a:pt x="5342472" y="63792"/>
                </a:cubicBezTo>
                <a:lnTo>
                  <a:pt x="5342472" y="478429"/>
                </a:lnTo>
                <a:cubicBezTo>
                  <a:pt x="5342472" y="513660"/>
                  <a:pt x="5313911" y="542221"/>
                  <a:pt x="5278680" y="542221"/>
                </a:cubicBezTo>
                <a:lnTo>
                  <a:pt x="63792" y="542221"/>
                </a:lnTo>
                <a:cubicBezTo>
                  <a:pt x="28561" y="542221"/>
                  <a:pt x="0" y="513660"/>
                  <a:pt x="0" y="478429"/>
                </a:cubicBezTo>
                <a:lnTo>
                  <a:pt x="0" y="63792"/>
                </a:lnTo>
                <a:cubicBezTo>
                  <a:pt x="0" y="28584"/>
                  <a:pt x="28584" y="0"/>
                  <a:pt x="63792" y="0"/>
                </a:cubicBezTo>
                <a:close/>
              </a:path>
            </a:pathLst>
          </a:custGeom>
          <a:solidFill>
            <a:srgbClr val="1A1D21">
              <a:alpha val="50196"/>
            </a:srgbClr>
          </a:solidFill>
          <a:ln/>
        </p:spPr>
        <p:txBody>
          <a:bodyPr/>
          <a:lstStyle/>
          <a:p>
            <a:endParaRPr lang="zh-CN" altLang="en-US"/>
          </a:p>
        </p:txBody>
      </p:sp>
      <p:sp>
        <p:nvSpPr>
          <p:cNvPr id="23" name="Text 21"/>
          <p:cNvSpPr/>
          <p:nvPr/>
        </p:nvSpPr>
        <p:spPr>
          <a:xfrm>
            <a:off x="606012" y="5504673"/>
            <a:ext cx="5214891" cy="191372"/>
          </a:xfrm>
          <a:prstGeom prst="rect">
            <a:avLst/>
          </a:prstGeom>
          <a:noFill/>
          <a:ln/>
        </p:spPr>
        <p:txBody>
          <a:bodyPr wrap="square" lIns="0" tIns="0" rIns="0" bIns="0" rtlCol="0" anchor="ctr"/>
          <a:lstStyle/>
          <a:p>
            <a:pPr>
              <a:lnSpc>
                <a:spcPct val="130000"/>
              </a:lnSpc>
            </a:pPr>
            <a:r>
              <a:rPr lang="en-US" sz="1005" b="1" dirty="0">
                <a:solidFill>
                  <a:srgbClr val="E0E2E5"/>
                </a:solidFill>
                <a:latin typeface="Noto Sans SC" pitchFamily="34" charset="0"/>
                <a:ea typeface="Noto Sans SC" pitchFamily="34" charset="-122"/>
                <a:cs typeface="Noto Sans SC" pitchFamily="34" charset="-120"/>
              </a:rPr>
              <a:t>AQUA-KV / Oaken</a:t>
            </a:r>
            <a:endParaRPr lang="en-US" sz="1600" dirty="0"/>
          </a:p>
        </p:txBody>
      </p:sp>
      <p:sp>
        <p:nvSpPr>
          <p:cNvPr id="24" name="Text 22"/>
          <p:cNvSpPr/>
          <p:nvPr/>
        </p:nvSpPr>
        <p:spPr>
          <a:xfrm>
            <a:off x="606012" y="5696045"/>
            <a:ext cx="5206917" cy="159477"/>
          </a:xfrm>
          <a:prstGeom prst="rect">
            <a:avLst/>
          </a:prstGeom>
          <a:noFill/>
          <a:ln/>
        </p:spPr>
        <p:txBody>
          <a:bodyPr wrap="square" lIns="0" tIns="0" rIns="0" bIns="0" rtlCol="0" anchor="ctr"/>
          <a:lstStyle/>
          <a:p>
            <a:pP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动态调整与在线-离线混合量化</a:t>
            </a:r>
            <a:endParaRPr lang="en-US" sz="1600" dirty="0"/>
          </a:p>
        </p:txBody>
      </p:sp>
      <p:sp>
        <p:nvSpPr>
          <p:cNvPr id="25" name="Shape 23"/>
          <p:cNvSpPr/>
          <p:nvPr/>
        </p:nvSpPr>
        <p:spPr>
          <a:xfrm>
            <a:off x="510326" y="6066829"/>
            <a:ext cx="5342472" cy="542221"/>
          </a:xfrm>
          <a:custGeom>
            <a:avLst/>
            <a:gdLst/>
            <a:ahLst/>
            <a:cxnLst/>
            <a:rect l="l" t="t" r="r" b="b"/>
            <a:pathLst>
              <a:path w="5342472" h="542221">
                <a:moveTo>
                  <a:pt x="63792" y="0"/>
                </a:moveTo>
                <a:lnTo>
                  <a:pt x="5278680" y="0"/>
                </a:lnTo>
                <a:cubicBezTo>
                  <a:pt x="5313911" y="0"/>
                  <a:pt x="5342472" y="28561"/>
                  <a:pt x="5342472" y="63792"/>
                </a:cubicBezTo>
                <a:lnTo>
                  <a:pt x="5342472" y="478429"/>
                </a:lnTo>
                <a:cubicBezTo>
                  <a:pt x="5342472" y="513660"/>
                  <a:pt x="5313911" y="542221"/>
                  <a:pt x="5278680" y="542221"/>
                </a:cubicBezTo>
                <a:lnTo>
                  <a:pt x="63792" y="542221"/>
                </a:lnTo>
                <a:cubicBezTo>
                  <a:pt x="28561" y="542221"/>
                  <a:pt x="0" y="513660"/>
                  <a:pt x="0" y="478429"/>
                </a:cubicBezTo>
                <a:lnTo>
                  <a:pt x="0" y="63792"/>
                </a:lnTo>
                <a:cubicBezTo>
                  <a:pt x="0" y="28584"/>
                  <a:pt x="28584" y="0"/>
                  <a:pt x="63792" y="0"/>
                </a:cubicBezTo>
                <a:close/>
              </a:path>
            </a:pathLst>
          </a:custGeom>
          <a:solidFill>
            <a:srgbClr val="1A1D21">
              <a:alpha val="50196"/>
            </a:srgbClr>
          </a:solidFill>
          <a:ln/>
        </p:spPr>
        <p:txBody>
          <a:bodyPr/>
          <a:lstStyle/>
          <a:p>
            <a:endParaRPr lang="zh-CN" altLang="en-US"/>
          </a:p>
        </p:txBody>
      </p:sp>
      <p:sp>
        <p:nvSpPr>
          <p:cNvPr id="26" name="Text 24"/>
          <p:cNvSpPr/>
          <p:nvPr/>
        </p:nvSpPr>
        <p:spPr>
          <a:xfrm>
            <a:off x="606012" y="6162515"/>
            <a:ext cx="5214891" cy="191372"/>
          </a:xfrm>
          <a:prstGeom prst="rect">
            <a:avLst/>
          </a:prstGeom>
          <a:noFill/>
          <a:ln/>
        </p:spPr>
        <p:txBody>
          <a:bodyPr wrap="square" lIns="0" tIns="0" rIns="0" bIns="0" rtlCol="0" anchor="ctr"/>
          <a:lstStyle/>
          <a:p>
            <a:pPr>
              <a:lnSpc>
                <a:spcPct val="130000"/>
              </a:lnSpc>
            </a:pPr>
            <a:r>
              <a:rPr lang="en-US" sz="1005" b="1" dirty="0">
                <a:solidFill>
                  <a:srgbClr val="E0E2E5"/>
                </a:solidFill>
                <a:latin typeface="Noto Sans SC" pitchFamily="34" charset="0"/>
                <a:ea typeface="Noto Sans SC" pitchFamily="34" charset="-122"/>
                <a:cs typeface="Noto Sans SC" pitchFamily="34" charset="-120"/>
              </a:rPr>
              <a:t>KV-AdaQuant</a:t>
            </a:r>
            <a:endParaRPr lang="en-US" sz="1600" dirty="0"/>
          </a:p>
        </p:txBody>
      </p:sp>
      <p:sp>
        <p:nvSpPr>
          <p:cNvPr id="27" name="Text 25"/>
          <p:cNvSpPr/>
          <p:nvPr/>
        </p:nvSpPr>
        <p:spPr>
          <a:xfrm>
            <a:off x="606012" y="6353887"/>
            <a:ext cx="5206917" cy="159477"/>
          </a:xfrm>
          <a:prstGeom prst="rect">
            <a:avLst/>
          </a:prstGeom>
          <a:noFill/>
          <a:ln/>
        </p:spPr>
        <p:txBody>
          <a:bodyPr wrap="square" lIns="0" tIns="0" rIns="0" bIns="0" rtlCol="0" anchor="ctr"/>
          <a:lstStyle/>
          <a:p>
            <a:pP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不对称位分配策略（Keys 多、Values 少）</a:t>
            </a:r>
            <a:endParaRPr lang="en-US" sz="1600" dirty="0"/>
          </a:p>
        </p:txBody>
      </p:sp>
      <p:sp>
        <p:nvSpPr>
          <p:cNvPr id="28" name="Shape 26"/>
          <p:cNvSpPr/>
          <p:nvPr/>
        </p:nvSpPr>
        <p:spPr>
          <a:xfrm>
            <a:off x="6191188" y="1085173"/>
            <a:ext cx="5677373" cy="2455942"/>
          </a:xfrm>
          <a:custGeom>
            <a:avLst/>
            <a:gdLst/>
            <a:ahLst/>
            <a:cxnLst/>
            <a:rect l="l" t="t" r="r" b="b"/>
            <a:pathLst>
              <a:path w="5677373" h="2455942">
                <a:moveTo>
                  <a:pt x="31895" y="0"/>
                </a:moveTo>
                <a:lnTo>
                  <a:pt x="5613593" y="0"/>
                </a:lnTo>
                <a:cubicBezTo>
                  <a:pt x="5648818" y="0"/>
                  <a:pt x="5677373" y="28556"/>
                  <a:pt x="5677373" y="63781"/>
                </a:cubicBezTo>
                <a:lnTo>
                  <a:pt x="5677373" y="2392162"/>
                </a:lnTo>
                <a:cubicBezTo>
                  <a:pt x="5677373" y="2427387"/>
                  <a:pt x="5648818" y="2455942"/>
                  <a:pt x="5613593" y="2455942"/>
                </a:cubicBezTo>
                <a:lnTo>
                  <a:pt x="31895" y="2455942"/>
                </a:lnTo>
                <a:cubicBezTo>
                  <a:pt x="14280" y="2455942"/>
                  <a:pt x="0" y="2441662"/>
                  <a:pt x="0" y="2424047"/>
                </a:cubicBezTo>
                <a:lnTo>
                  <a:pt x="0" y="31895"/>
                </a:lnTo>
                <a:cubicBezTo>
                  <a:pt x="0" y="14280"/>
                  <a:pt x="14280" y="0"/>
                  <a:pt x="31895" y="0"/>
                </a:cubicBezTo>
                <a:close/>
              </a:path>
            </a:pathLst>
          </a:custGeom>
          <a:solidFill>
            <a:srgbClr val="C9A86A">
              <a:alpha val="10196"/>
            </a:srgbClr>
          </a:solidFill>
          <a:ln/>
        </p:spPr>
        <p:txBody>
          <a:bodyPr/>
          <a:lstStyle/>
          <a:p>
            <a:endParaRPr lang="zh-CN" altLang="en-US"/>
          </a:p>
        </p:txBody>
      </p:sp>
      <p:sp>
        <p:nvSpPr>
          <p:cNvPr id="29" name="Shape 27"/>
          <p:cNvSpPr/>
          <p:nvPr/>
        </p:nvSpPr>
        <p:spPr>
          <a:xfrm>
            <a:off x="6191188" y="1085173"/>
            <a:ext cx="31895" cy="2455942"/>
          </a:xfrm>
          <a:custGeom>
            <a:avLst/>
            <a:gdLst/>
            <a:ahLst/>
            <a:cxnLst/>
            <a:rect l="l" t="t" r="r" b="b"/>
            <a:pathLst>
              <a:path w="31895" h="2455942">
                <a:moveTo>
                  <a:pt x="31895" y="0"/>
                </a:moveTo>
                <a:lnTo>
                  <a:pt x="31895" y="0"/>
                </a:lnTo>
                <a:lnTo>
                  <a:pt x="31895" y="2455942"/>
                </a:lnTo>
                <a:lnTo>
                  <a:pt x="31895" y="2455942"/>
                </a:lnTo>
                <a:cubicBezTo>
                  <a:pt x="14280" y="2455942"/>
                  <a:pt x="0" y="2441662"/>
                  <a:pt x="0" y="2424047"/>
                </a:cubicBezTo>
                <a:lnTo>
                  <a:pt x="0" y="31895"/>
                </a:lnTo>
                <a:cubicBezTo>
                  <a:pt x="0" y="14280"/>
                  <a:pt x="14280" y="0"/>
                  <a:pt x="31895" y="0"/>
                </a:cubicBezTo>
                <a:close/>
              </a:path>
            </a:pathLst>
          </a:custGeom>
          <a:solidFill>
            <a:srgbClr val="C9A86A"/>
          </a:solidFill>
          <a:ln/>
        </p:spPr>
        <p:txBody>
          <a:bodyPr/>
          <a:lstStyle/>
          <a:p>
            <a:endParaRPr lang="zh-CN" altLang="en-US"/>
          </a:p>
        </p:txBody>
      </p:sp>
      <p:sp>
        <p:nvSpPr>
          <p:cNvPr id="30" name="Shape 28"/>
          <p:cNvSpPr/>
          <p:nvPr/>
        </p:nvSpPr>
        <p:spPr>
          <a:xfrm>
            <a:off x="6376579" y="1276545"/>
            <a:ext cx="179411" cy="159477"/>
          </a:xfrm>
          <a:custGeom>
            <a:avLst/>
            <a:gdLst/>
            <a:ahLst/>
            <a:cxnLst/>
            <a:rect l="l" t="t" r="r" b="b"/>
            <a:pathLst>
              <a:path w="179411" h="159477">
                <a:moveTo>
                  <a:pt x="96402" y="-5887"/>
                </a:moveTo>
                <a:cubicBezTo>
                  <a:pt x="95125" y="-8379"/>
                  <a:pt x="92540" y="-9967"/>
                  <a:pt x="89737" y="-9967"/>
                </a:cubicBezTo>
                <a:cubicBezTo>
                  <a:pt x="86934" y="-9967"/>
                  <a:pt x="84348" y="-8379"/>
                  <a:pt x="83071" y="-5887"/>
                </a:cubicBezTo>
                <a:lnTo>
                  <a:pt x="60146" y="39028"/>
                </a:lnTo>
                <a:lnTo>
                  <a:pt x="10341" y="46940"/>
                </a:lnTo>
                <a:cubicBezTo>
                  <a:pt x="7569" y="47376"/>
                  <a:pt x="5264" y="49338"/>
                  <a:pt x="4392" y="52017"/>
                </a:cubicBezTo>
                <a:cubicBezTo>
                  <a:pt x="3520" y="54696"/>
                  <a:pt x="4236" y="57623"/>
                  <a:pt x="6198" y="59617"/>
                </a:cubicBezTo>
                <a:lnTo>
                  <a:pt x="41832" y="95281"/>
                </a:lnTo>
                <a:lnTo>
                  <a:pt x="33982" y="145086"/>
                </a:lnTo>
                <a:cubicBezTo>
                  <a:pt x="33546" y="147859"/>
                  <a:pt x="34699" y="150662"/>
                  <a:pt x="36972" y="152313"/>
                </a:cubicBezTo>
                <a:cubicBezTo>
                  <a:pt x="39246" y="153964"/>
                  <a:pt x="42236" y="154213"/>
                  <a:pt x="44759" y="152936"/>
                </a:cubicBezTo>
                <a:lnTo>
                  <a:pt x="89737" y="130073"/>
                </a:lnTo>
                <a:lnTo>
                  <a:pt x="134683" y="152936"/>
                </a:lnTo>
                <a:cubicBezTo>
                  <a:pt x="137175" y="154213"/>
                  <a:pt x="140196" y="153964"/>
                  <a:pt x="142470" y="152313"/>
                </a:cubicBezTo>
                <a:cubicBezTo>
                  <a:pt x="144744" y="150662"/>
                  <a:pt x="145896" y="147890"/>
                  <a:pt x="145460" y="145086"/>
                </a:cubicBezTo>
                <a:lnTo>
                  <a:pt x="137580" y="95281"/>
                </a:lnTo>
                <a:lnTo>
                  <a:pt x="173213" y="59617"/>
                </a:lnTo>
                <a:cubicBezTo>
                  <a:pt x="175206" y="57623"/>
                  <a:pt x="175892" y="54696"/>
                  <a:pt x="175020" y="52017"/>
                </a:cubicBezTo>
                <a:cubicBezTo>
                  <a:pt x="174147" y="49338"/>
                  <a:pt x="171874" y="47376"/>
                  <a:pt x="169070" y="46940"/>
                </a:cubicBezTo>
                <a:lnTo>
                  <a:pt x="119296" y="39028"/>
                </a:lnTo>
                <a:lnTo>
                  <a:pt x="96402" y="-5887"/>
                </a:lnTo>
                <a:close/>
              </a:path>
            </a:pathLst>
          </a:custGeom>
          <a:solidFill>
            <a:srgbClr val="C9A86A"/>
          </a:solidFill>
          <a:ln/>
        </p:spPr>
        <p:txBody>
          <a:bodyPr/>
          <a:lstStyle/>
          <a:p>
            <a:endParaRPr lang="zh-CN" altLang="en-US"/>
          </a:p>
        </p:txBody>
      </p:sp>
      <p:sp>
        <p:nvSpPr>
          <p:cNvPr id="31" name="Text 29"/>
          <p:cNvSpPr/>
          <p:nvPr/>
        </p:nvSpPr>
        <p:spPr>
          <a:xfrm>
            <a:off x="6565958" y="1244650"/>
            <a:ext cx="5222865" cy="223267"/>
          </a:xfrm>
          <a:prstGeom prst="rect">
            <a:avLst/>
          </a:prstGeom>
          <a:noFill/>
          <a:ln/>
        </p:spPr>
        <p:txBody>
          <a:bodyPr wrap="square" lIns="0" tIns="0" rIns="0" bIns="0" rtlCol="0" anchor="ctr"/>
          <a:lstStyle/>
          <a:p>
            <a:pPr>
              <a:lnSpc>
                <a:spcPct val="120000"/>
              </a:lnSpc>
            </a:pPr>
            <a:r>
              <a:rPr lang="en-US" sz="1256" b="1" dirty="0">
                <a:solidFill>
                  <a:srgbClr val="E0E2E5"/>
                </a:solidFill>
                <a:latin typeface="Noto Sans SC" pitchFamily="34" charset="0"/>
                <a:ea typeface="Noto Sans SC" pitchFamily="34" charset="-122"/>
                <a:cs typeface="Noto Sans SC" pitchFamily="34" charset="-120"/>
              </a:rPr>
              <a:t>TurboQuant (Google Research, 2026)</a:t>
            </a:r>
            <a:endParaRPr lang="en-US" sz="1600" dirty="0"/>
          </a:p>
        </p:txBody>
      </p:sp>
      <p:sp>
        <p:nvSpPr>
          <p:cNvPr id="32" name="Shape 30"/>
          <p:cNvSpPr/>
          <p:nvPr/>
        </p:nvSpPr>
        <p:spPr>
          <a:xfrm>
            <a:off x="6366612" y="1563603"/>
            <a:ext cx="5342472" cy="956861"/>
          </a:xfrm>
          <a:custGeom>
            <a:avLst/>
            <a:gdLst/>
            <a:ahLst/>
            <a:cxnLst/>
            <a:rect l="l" t="t" r="r" b="b"/>
            <a:pathLst>
              <a:path w="5342472" h="956861">
                <a:moveTo>
                  <a:pt x="63794" y="0"/>
                </a:moveTo>
                <a:lnTo>
                  <a:pt x="5278678" y="0"/>
                </a:lnTo>
                <a:cubicBezTo>
                  <a:pt x="5313911" y="0"/>
                  <a:pt x="5342472" y="28562"/>
                  <a:pt x="5342472" y="63794"/>
                </a:cubicBezTo>
                <a:lnTo>
                  <a:pt x="5342472" y="893067"/>
                </a:lnTo>
                <a:cubicBezTo>
                  <a:pt x="5342472" y="928299"/>
                  <a:pt x="5313911" y="956861"/>
                  <a:pt x="5278678" y="956861"/>
                </a:cubicBezTo>
                <a:lnTo>
                  <a:pt x="63794" y="956861"/>
                </a:lnTo>
                <a:cubicBezTo>
                  <a:pt x="28562" y="956861"/>
                  <a:pt x="0" y="928299"/>
                  <a:pt x="0" y="893067"/>
                </a:cubicBezTo>
                <a:lnTo>
                  <a:pt x="0" y="63794"/>
                </a:lnTo>
                <a:cubicBezTo>
                  <a:pt x="0" y="28585"/>
                  <a:pt x="28585" y="0"/>
                  <a:pt x="63794" y="0"/>
                </a:cubicBezTo>
                <a:close/>
              </a:path>
            </a:pathLst>
          </a:custGeom>
          <a:solidFill>
            <a:srgbClr val="1A1D21">
              <a:alpha val="50196"/>
            </a:srgbClr>
          </a:solidFill>
          <a:ln/>
        </p:spPr>
        <p:txBody>
          <a:bodyPr/>
          <a:lstStyle/>
          <a:p>
            <a:endParaRPr lang="zh-CN" altLang="en-US"/>
          </a:p>
        </p:txBody>
      </p:sp>
      <p:sp>
        <p:nvSpPr>
          <p:cNvPr id="33" name="Text 31"/>
          <p:cNvSpPr/>
          <p:nvPr/>
        </p:nvSpPr>
        <p:spPr>
          <a:xfrm>
            <a:off x="6434390" y="1691185"/>
            <a:ext cx="1754245" cy="287058"/>
          </a:xfrm>
          <a:prstGeom prst="rect">
            <a:avLst/>
          </a:prstGeom>
          <a:noFill/>
          <a:ln/>
        </p:spPr>
        <p:txBody>
          <a:bodyPr wrap="square" lIns="0" tIns="0" rIns="0" bIns="0" rtlCol="0" anchor="ctr"/>
          <a:lstStyle/>
          <a:p>
            <a:pPr algn="ctr">
              <a:lnSpc>
                <a:spcPct val="100000"/>
              </a:lnSpc>
            </a:pPr>
            <a:r>
              <a:rPr lang="en-US" sz="1884" b="1" dirty="0">
                <a:solidFill>
                  <a:srgbClr val="C9A86A"/>
                </a:solidFill>
                <a:latin typeface="Noto Sans SC" pitchFamily="34" charset="0"/>
                <a:ea typeface="Noto Sans SC" pitchFamily="34" charset="-122"/>
                <a:cs typeface="Noto Sans SC" pitchFamily="34" charset="-120"/>
              </a:rPr>
              <a:t>3-bit</a:t>
            </a:r>
            <a:endParaRPr lang="en-US" sz="1600" dirty="0"/>
          </a:p>
        </p:txBody>
      </p:sp>
      <p:sp>
        <p:nvSpPr>
          <p:cNvPr id="34" name="Text 32"/>
          <p:cNvSpPr/>
          <p:nvPr/>
        </p:nvSpPr>
        <p:spPr>
          <a:xfrm>
            <a:off x="6466285" y="1978243"/>
            <a:ext cx="1690454" cy="159477"/>
          </a:xfrm>
          <a:prstGeom prst="rect">
            <a:avLst/>
          </a:prstGeom>
          <a:noFill/>
          <a:ln/>
        </p:spPr>
        <p:txBody>
          <a:bodyPr wrap="square" lIns="0" tIns="0" rIns="0" bIns="0" rtlCol="0" anchor="ctr"/>
          <a:lstStyle/>
          <a:p>
            <a:pPr algn="ct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精度压缩</a:t>
            </a:r>
            <a:endParaRPr lang="en-US" sz="1600" dirty="0"/>
          </a:p>
        </p:txBody>
      </p:sp>
      <p:sp>
        <p:nvSpPr>
          <p:cNvPr id="35" name="Text 33"/>
          <p:cNvSpPr/>
          <p:nvPr/>
        </p:nvSpPr>
        <p:spPr>
          <a:xfrm>
            <a:off x="8163218" y="1691185"/>
            <a:ext cx="1754245" cy="287058"/>
          </a:xfrm>
          <a:prstGeom prst="rect">
            <a:avLst/>
          </a:prstGeom>
          <a:noFill/>
          <a:ln/>
        </p:spPr>
        <p:txBody>
          <a:bodyPr wrap="square" lIns="0" tIns="0" rIns="0" bIns="0" rtlCol="0" anchor="ctr"/>
          <a:lstStyle/>
          <a:p>
            <a:pPr algn="ctr">
              <a:lnSpc>
                <a:spcPct val="100000"/>
              </a:lnSpc>
            </a:pPr>
            <a:r>
              <a:rPr lang="en-US" sz="1884" b="1" dirty="0">
                <a:solidFill>
                  <a:srgbClr val="3D8B75"/>
                </a:solidFill>
                <a:latin typeface="Noto Sans SC" pitchFamily="34" charset="0"/>
                <a:ea typeface="Noto Sans SC" pitchFamily="34" charset="-122"/>
                <a:cs typeface="Noto Sans SC" pitchFamily="34" charset="-120"/>
              </a:rPr>
              <a:t>6×</a:t>
            </a:r>
            <a:endParaRPr lang="en-US" sz="1600" dirty="0"/>
          </a:p>
        </p:txBody>
      </p:sp>
      <p:sp>
        <p:nvSpPr>
          <p:cNvPr id="36" name="Text 34"/>
          <p:cNvSpPr/>
          <p:nvPr/>
        </p:nvSpPr>
        <p:spPr>
          <a:xfrm>
            <a:off x="8195113" y="1978243"/>
            <a:ext cx="1690454" cy="159477"/>
          </a:xfrm>
          <a:prstGeom prst="rect">
            <a:avLst/>
          </a:prstGeom>
          <a:noFill/>
          <a:ln/>
        </p:spPr>
        <p:txBody>
          <a:bodyPr wrap="square" lIns="0" tIns="0" rIns="0" bIns="0" rtlCol="0" anchor="ctr"/>
          <a:lstStyle/>
          <a:p>
            <a:pPr algn="ct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内存缩减</a:t>
            </a:r>
            <a:endParaRPr lang="en-US" sz="1600" dirty="0"/>
          </a:p>
        </p:txBody>
      </p:sp>
      <p:sp>
        <p:nvSpPr>
          <p:cNvPr id="37" name="Text 35"/>
          <p:cNvSpPr/>
          <p:nvPr/>
        </p:nvSpPr>
        <p:spPr>
          <a:xfrm>
            <a:off x="9892046" y="1691185"/>
            <a:ext cx="1754245" cy="287058"/>
          </a:xfrm>
          <a:prstGeom prst="rect">
            <a:avLst/>
          </a:prstGeom>
          <a:noFill/>
          <a:ln/>
        </p:spPr>
        <p:txBody>
          <a:bodyPr wrap="square" lIns="0" tIns="0" rIns="0" bIns="0" rtlCol="0" anchor="ctr"/>
          <a:lstStyle/>
          <a:p>
            <a:pPr algn="ctr">
              <a:lnSpc>
                <a:spcPct val="100000"/>
              </a:lnSpc>
            </a:pPr>
            <a:r>
              <a:rPr lang="en-US" sz="1884" b="1" dirty="0">
                <a:solidFill>
                  <a:srgbClr val="3D8B75"/>
                </a:solidFill>
                <a:latin typeface="Noto Sans SC" pitchFamily="34" charset="0"/>
                <a:ea typeface="Noto Sans SC" pitchFamily="34" charset="-122"/>
                <a:cs typeface="Noto Sans SC" pitchFamily="34" charset="-120"/>
              </a:rPr>
              <a:t>8×</a:t>
            </a:r>
            <a:endParaRPr lang="en-US" sz="1600" dirty="0"/>
          </a:p>
        </p:txBody>
      </p:sp>
      <p:sp>
        <p:nvSpPr>
          <p:cNvPr id="38" name="Text 36"/>
          <p:cNvSpPr/>
          <p:nvPr/>
        </p:nvSpPr>
        <p:spPr>
          <a:xfrm>
            <a:off x="9923941" y="1978243"/>
            <a:ext cx="1690454" cy="159477"/>
          </a:xfrm>
          <a:prstGeom prst="rect">
            <a:avLst/>
          </a:prstGeom>
          <a:noFill/>
          <a:ln/>
        </p:spPr>
        <p:txBody>
          <a:bodyPr wrap="square" lIns="0" tIns="0" rIns="0" bIns="0" rtlCol="0" anchor="ctr"/>
          <a:lstStyle/>
          <a:p>
            <a:pPr algn="ct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速度提升</a:t>
            </a:r>
            <a:endParaRPr lang="en-US" sz="1600" dirty="0"/>
          </a:p>
        </p:txBody>
      </p:sp>
      <p:sp>
        <p:nvSpPr>
          <p:cNvPr id="39" name="Text 37"/>
          <p:cNvSpPr/>
          <p:nvPr/>
        </p:nvSpPr>
        <p:spPr>
          <a:xfrm>
            <a:off x="6466285" y="2233406"/>
            <a:ext cx="5143126" cy="159477"/>
          </a:xfrm>
          <a:prstGeom prst="rect">
            <a:avLst/>
          </a:prstGeom>
          <a:noFill/>
          <a:ln/>
        </p:spPr>
        <p:txBody>
          <a:bodyPr wrap="square" lIns="0" tIns="0" rIns="0" bIns="0" rtlCol="0" anchor="ctr"/>
          <a:lstStyle/>
          <a:p>
            <a:pPr algn="ct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H100 LongBench "零精度损失"</a:t>
            </a:r>
            <a:endParaRPr lang="en-US" sz="1600" dirty="0"/>
          </a:p>
        </p:txBody>
      </p:sp>
      <p:sp>
        <p:nvSpPr>
          <p:cNvPr id="40" name="Shape 38"/>
          <p:cNvSpPr/>
          <p:nvPr/>
        </p:nvSpPr>
        <p:spPr>
          <a:xfrm>
            <a:off x="6366612" y="2632098"/>
            <a:ext cx="191372" cy="191372"/>
          </a:xfrm>
          <a:custGeom>
            <a:avLst/>
            <a:gdLst/>
            <a:ahLst/>
            <a:cxnLst/>
            <a:rect l="l" t="t" r="r" b="b"/>
            <a:pathLst>
              <a:path w="191372" h="191372">
                <a:moveTo>
                  <a:pt x="31896" y="0"/>
                </a:moveTo>
                <a:lnTo>
                  <a:pt x="159476" y="0"/>
                </a:lnTo>
                <a:cubicBezTo>
                  <a:pt x="177092" y="0"/>
                  <a:pt x="191372" y="14280"/>
                  <a:pt x="191372" y="31896"/>
                </a:cubicBezTo>
                <a:lnTo>
                  <a:pt x="191372" y="159476"/>
                </a:lnTo>
                <a:cubicBezTo>
                  <a:pt x="191372" y="177092"/>
                  <a:pt x="177092" y="191372"/>
                  <a:pt x="159476" y="191372"/>
                </a:cubicBezTo>
                <a:lnTo>
                  <a:pt x="31896" y="191372"/>
                </a:lnTo>
                <a:cubicBezTo>
                  <a:pt x="14280" y="191372"/>
                  <a:pt x="0" y="177092"/>
                  <a:pt x="0" y="159476"/>
                </a:cubicBezTo>
                <a:lnTo>
                  <a:pt x="0" y="31896"/>
                </a:lnTo>
                <a:cubicBezTo>
                  <a:pt x="0" y="14292"/>
                  <a:pt x="14292" y="0"/>
                  <a:pt x="31896" y="0"/>
                </a:cubicBezTo>
                <a:close/>
              </a:path>
            </a:pathLst>
          </a:custGeom>
          <a:solidFill>
            <a:srgbClr val="C9A86A">
              <a:alpha val="20000"/>
            </a:srgbClr>
          </a:solidFill>
          <a:ln/>
        </p:spPr>
        <p:txBody>
          <a:bodyPr/>
          <a:lstStyle/>
          <a:p>
            <a:endParaRPr lang="zh-CN" altLang="en-US"/>
          </a:p>
        </p:txBody>
      </p:sp>
      <p:sp>
        <p:nvSpPr>
          <p:cNvPr id="41" name="Text 39"/>
          <p:cNvSpPr/>
          <p:nvPr/>
        </p:nvSpPr>
        <p:spPr>
          <a:xfrm>
            <a:off x="6439373" y="2648045"/>
            <a:ext cx="103660" cy="159477"/>
          </a:xfrm>
          <a:prstGeom prst="rect">
            <a:avLst/>
          </a:prstGeom>
          <a:noFill/>
          <a:ln/>
        </p:spPr>
        <p:txBody>
          <a:bodyPr wrap="square" lIns="0" tIns="0" rIns="0" bIns="0" rtlCol="0" anchor="ctr"/>
          <a:lstStyle/>
          <a:p>
            <a:pPr>
              <a:lnSpc>
                <a:spcPct val="120000"/>
              </a:lnSpc>
            </a:pPr>
            <a:r>
              <a:rPr lang="en-US" sz="879" b="1" dirty="0">
                <a:solidFill>
                  <a:srgbClr val="C9A86A"/>
                </a:solidFill>
                <a:latin typeface="Noto Sans SC" pitchFamily="34" charset="0"/>
                <a:ea typeface="Noto Sans SC" pitchFamily="34" charset="-122"/>
                <a:cs typeface="Noto Sans SC" pitchFamily="34" charset="-120"/>
              </a:rPr>
              <a:t>1</a:t>
            </a:r>
            <a:endParaRPr lang="en-US" sz="1600" dirty="0"/>
          </a:p>
        </p:txBody>
      </p:sp>
      <p:sp>
        <p:nvSpPr>
          <p:cNvPr id="42" name="Text 40"/>
          <p:cNvSpPr/>
          <p:nvPr/>
        </p:nvSpPr>
        <p:spPr>
          <a:xfrm>
            <a:off x="6653670" y="2616150"/>
            <a:ext cx="1849931" cy="191372"/>
          </a:xfrm>
          <a:prstGeom prst="rect">
            <a:avLst/>
          </a:prstGeom>
          <a:noFill/>
          <a:ln/>
        </p:spPr>
        <p:txBody>
          <a:bodyPr wrap="square" lIns="0" tIns="0" rIns="0" bIns="0" rtlCol="0" anchor="ctr"/>
          <a:lstStyle/>
          <a:p>
            <a:pPr>
              <a:lnSpc>
                <a:spcPct val="130000"/>
              </a:lnSpc>
            </a:pPr>
            <a:r>
              <a:rPr lang="en-US" sz="1005" b="1" dirty="0">
                <a:solidFill>
                  <a:srgbClr val="E0E2E5"/>
                </a:solidFill>
                <a:latin typeface="Noto Sans SC" pitchFamily="34" charset="0"/>
                <a:ea typeface="Noto Sans SC" pitchFamily="34" charset="-122"/>
                <a:cs typeface="Noto Sans SC" pitchFamily="34" charset="-120"/>
              </a:rPr>
              <a:t>PolarQuant</a:t>
            </a:r>
            <a:endParaRPr lang="en-US" sz="1600" dirty="0"/>
          </a:p>
        </p:txBody>
      </p:sp>
      <p:sp>
        <p:nvSpPr>
          <p:cNvPr id="43" name="Text 41"/>
          <p:cNvSpPr/>
          <p:nvPr/>
        </p:nvSpPr>
        <p:spPr>
          <a:xfrm>
            <a:off x="6653670" y="2807522"/>
            <a:ext cx="1841957" cy="159477"/>
          </a:xfrm>
          <a:prstGeom prst="rect">
            <a:avLst/>
          </a:prstGeom>
          <a:noFill/>
          <a:ln/>
        </p:spPr>
        <p:txBody>
          <a:bodyPr wrap="square" lIns="0" tIns="0" rIns="0" bIns="0" rtlCol="0" anchor="ctr"/>
          <a:lstStyle/>
          <a:p>
            <a:pP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随机旋转使高维向量几何结构更规整</a:t>
            </a:r>
            <a:endParaRPr lang="en-US" sz="1600" dirty="0"/>
          </a:p>
        </p:txBody>
      </p:sp>
      <p:sp>
        <p:nvSpPr>
          <p:cNvPr id="44" name="Shape 42"/>
          <p:cNvSpPr/>
          <p:nvPr/>
        </p:nvSpPr>
        <p:spPr>
          <a:xfrm>
            <a:off x="6366612" y="3046737"/>
            <a:ext cx="191372" cy="191372"/>
          </a:xfrm>
          <a:custGeom>
            <a:avLst/>
            <a:gdLst/>
            <a:ahLst/>
            <a:cxnLst/>
            <a:rect l="l" t="t" r="r" b="b"/>
            <a:pathLst>
              <a:path w="191372" h="191372">
                <a:moveTo>
                  <a:pt x="31896" y="0"/>
                </a:moveTo>
                <a:lnTo>
                  <a:pt x="159476" y="0"/>
                </a:lnTo>
                <a:cubicBezTo>
                  <a:pt x="177092" y="0"/>
                  <a:pt x="191372" y="14280"/>
                  <a:pt x="191372" y="31896"/>
                </a:cubicBezTo>
                <a:lnTo>
                  <a:pt x="191372" y="159476"/>
                </a:lnTo>
                <a:cubicBezTo>
                  <a:pt x="191372" y="177092"/>
                  <a:pt x="177092" y="191372"/>
                  <a:pt x="159476" y="191372"/>
                </a:cubicBezTo>
                <a:lnTo>
                  <a:pt x="31896" y="191372"/>
                </a:lnTo>
                <a:cubicBezTo>
                  <a:pt x="14280" y="191372"/>
                  <a:pt x="0" y="177092"/>
                  <a:pt x="0" y="159476"/>
                </a:cubicBezTo>
                <a:lnTo>
                  <a:pt x="0" y="31896"/>
                </a:lnTo>
                <a:cubicBezTo>
                  <a:pt x="0" y="14292"/>
                  <a:pt x="14292" y="0"/>
                  <a:pt x="31896" y="0"/>
                </a:cubicBezTo>
                <a:close/>
              </a:path>
            </a:pathLst>
          </a:custGeom>
          <a:solidFill>
            <a:srgbClr val="C9A86A">
              <a:alpha val="20000"/>
            </a:srgbClr>
          </a:solidFill>
          <a:ln/>
        </p:spPr>
        <p:txBody>
          <a:bodyPr/>
          <a:lstStyle/>
          <a:p>
            <a:endParaRPr lang="zh-CN" altLang="en-US"/>
          </a:p>
        </p:txBody>
      </p:sp>
      <p:sp>
        <p:nvSpPr>
          <p:cNvPr id="45" name="Text 43"/>
          <p:cNvSpPr/>
          <p:nvPr/>
        </p:nvSpPr>
        <p:spPr>
          <a:xfrm>
            <a:off x="6428783" y="3062685"/>
            <a:ext cx="119608" cy="159477"/>
          </a:xfrm>
          <a:prstGeom prst="rect">
            <a:avLst/>
          </a:prstGeom>
          <a:noFill/>
          <a:ln/>
        </p:spPr>
        <p:txBody>
          <a:bodyPr wrap="square" lIns="0" tIns="0" rIns="0" bIns="0" rtlCol="0" anchor="ctr"/>
          <a:lstStyle/>
          <a:p>
            <a:pPr>
              <a:lnSpc>
                <a:spcPct val="120000"/>
              </a:lnSpc>
            </a:pPr>
            <a:r>
              <a:rPr lang="en-US" sz="879" b="1" dirty="0">
                <a:solidFill>
                  <a:srgbClr val="C9A86A"/>
                </a:solidFill>
                <a:latin typeface="Noto Sans SC" pitchFamily="34" charset="0"/>
                <a:ea typeface="Noto Sans SC" pitchFamily="34" charset="-122"/>
                <a:cs typeface="Noto Sans SC" pitchFamily="34" charset="-120"/>
              </a:rPr>
              <a:t>2</a:t>
            </a:r>
            <a:endParaRPr lang="en-US" sz="1600" dirty="0"/>
          </a:p>
        </p:txBody>
      </p:sp>
      <p:sp>
        <p:nvSpPr>
          <p:cNvPr id="46" name="Text 44"/>
          <p:cNvSpPr/>
          <p:nvPr/>
        </p:nvSpPr>
        <p:spPr>
          <a:xfrm>
            <a:off x="6653670" y="3030790"/>
            <a:ext cx="1937643" cy="191372"/>
          </a:xfrm>
          <a:prstGeom prst="rect">
            <a:avLst/>
          </a:prstGeom>
          <a:noFill/>
          <a:ln/>
        </p:spPr>
        <p:txBody>
          <a:bodyPr wrap="square" lIns="0" tIns="0" rIns="0" bIns="0" rtlCol="0" anchor="ctr"/>
          <a:lstStyle/>
          <a:p>
            <a:pPr>
              <a:lnSpc>
                <a:spcPct val="130000"/>
              </a:lnSpc>
            </a:pPr>
            <a:r>
              <a:rPr lang="en-US" sz="1005" b="1" dirty="0">
                <a:solidFill>
                  <a:srgbClr val="E0E2E5"/>
                </a:solidFill>
                <a:latin typeface="Noto Sans SC" pitchFamily="34" charset="0"/>
                <a:ea typeface="Noto Sans SC" pitchFamily="34" charset="-122"/>
                <a:cs typeface="Noto Sans SC" pitchFamily="34" charset="-120"/>
              </a:rPr>
              <a:t>QJL</a:t>
            </a:r>
            <a:endParaRPr lang="en-US" sz="1600" dirty="0"/>
          </a:p>
        </p:txBody>
      </p:sp>
      <p:sp>
        <p:nvSpPr>
          <p:cNvPr id="47" name="Text 45"/>
          <p:cNvSpPr/>
          <p:nvPr/>
        </p:nvSpPr>
        <p:spPr>
          <a:xfrm>
            <a:off x="6653670" y="3222162"/>
            <a:ext cx="1929669" cy="159477"/>
          </a:xfrm>
          <a:prstGeom prst="rect">
            <a:avLst/>
          </a:prstGeom>
          <a:noFill/>
          <a:ln/>
        </p:spPr>
        <p:txBody>
          <a:bodyPr wrap="square" lIns="0" tIns="0" rIns="0" bIns="0" rtlCol="0" anchor="ctr"/>
          <a:lstStyle/>
          <a:p>
            <a:pP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利用 JL 引理在低维空间保持向量距离</a:t>
            </a:r>
            <a:endParaRPr lang="en-US" sz="1600" dirty="0"/>
          </a:p>
        </p:txBody>
      </p:sp>
      <p:sp>
        <p:nvSpPr>
          <p:cNvPr id="48" name="Shape 46"/>
          <p:cNvSpPr/>
          <p:nvPr/>
        </p:nvSpPr>
        <p:spPr>
          <a:xfrm>
            <a:off x="6191188" y="3668697"/>
            <a:ext cx="5677373" cy="3125745"/>
          </a:xfrm>
          <a:custGeom>
            <a:avLst/>
            <a:gdLst/>
            <a:ahLst/>
            <a:cxnLst/>
            <a:rect l="l" t="t" r="r" b="b"/>
            <a:pathLst>
              <a:path w="5677373" h="3125745">
                <a:moveTo>
                  <a:pt x="31895" y="0"/>
                </a:moveTo>
                <a:lnTo>
                  <a:pt x="5613577" y="0"/>
                </a:lnTo>
                <a:cubicBezTo>
                  <a:pt x="5648811" y="0"/>
                  <a:pt x="5677373" y="28563"/>
                  <a:pt x="5677373" y="63796"/>
                </a:cubicBezTo>
                <a:lnTo>
                  <a:pt x="5677373" y="3061948"/>
                </a:lnTo>
                <a:cubicBezTo>
                  <a:pt x="5677373" y="3097182"/>
                  <a:pt x="5648811" y="3125745"/>
                  <a:pt x="5613577" y="3125745"/>
                </a:cubicBezTo>
                <a:lnTo>
                  <a:pt x="31895" y="3125745"/>
                </a:lnTo>
                <a:cubicBezTo>
                  <a:pt x="14280" y="3125745"/>
                  <a:pt x="0" y="3111465"/>
                  <a:pt x="0" y="3093850"/>
                </a:cubicBezTo>
                <a:lnTo>
                  <a:pt x="0" y="31895"/>
                </a:lnTo>
                <a:cubicBezTo>
                  <a:pt x="0" y="14280"/>
                  <a:pt x="14280" y="0"/>
                  <a:pt x="31895" y="0"/>
                </a:cubicBezTo>
                <a:close/>
              </a:path>
            </a:pathLst>
          </a:custGeom>
          <a:solidFill>
            <a:srgbClr val="3D8B75">
              <a:alpha val="10196"/>
            </a:srgbClr>
          </a:solidFill>
          <a:ln/>
        </p:spPr>
        <p:txBody>
          <a:bodyPr/>
          <a:lstStyle/>
          <a:p>
            <a:endParaRPr lang="zh-CN" altLang="en-US"/>
          </a:p>
        </p:txBody>
      </p:sp>
      <p:sp>
        <p:nvSpPr>
          <p:cNvPr id="49" name="Shape 47"/>
          <p:cNvSpPr/>
          <p:nvPr/>
        </p:nvSpPr>
        <p:spPr>
          <a:xfrm>
            <a:off x="6191188" y="3668697"/>
            <a:ext cx="31895" cy="3125745"/>
          </a:xfrm>
          <a:custGeom>
            <a:avLst/>
            <a:gdLst/>
            <a:ahLst/>
            <a:cxnLst/>
            <a:rect l="l" t="t" r="r" b="b"/>
            <a:pathLst>
              <a:path w="31895" h="3125745">
                <a:moveTo>
                  <a:pt x="31895" y="0"/>
                </a:moveTo>
                <a:lnTo>
                  <a:pt x="31895" y="0"/>
                </a:lnTo>
                <a:lnTo>
                  <a:pt x="31895" y="3125745"/>
                </a:lnTo>
                <a:lnTo>
                  <a:pt x="31895" y="3125745"/>
                </a:lnTo>
                <a:cubicBezTo>
                  <a:pt x="14280" y="3125745"/>
                  <a:pt x="0" y="3111465"/>
                  <a:pt x="0" y="3093850"/>
                </a:cubicBezTo>
                <a:lnTo>
                  <a:pt x="0" y="31895"/>
                </a:lnTo>
                <a:cubicBezTo>
                  <a:pt x="0" y="14280"/>
                  <a:pt x="14280" y="0"/>
                  <a:pt x="31895" y="0"/>
                </a:cubicBezTo>
                <a:close/>
              </a:path>
            </a:pathLst>
          </a:custGeom>
          <a:solidFill>
            <a:srgbClr val="3D8B75"/>
          </a:solidFill>
          <a:ln/>
        </p:spPr>
        <p:txBody>
          <a:bodyPr/>
          <a:lstStyle/>
          <a:p>
            <a:endParaRPr lang="zh-CN" altLang="en-US"/>
          </a:p>
        </p:txBody>
      </p:sp>
      <p:sp>
        <p:nvSpPr>
          <p:cNvPr id="50" name="Text 48"/>
          <p:cNvSpPr/>
          <p:nvPr/>
        </p:nvSpPr>
        <p:spPr>
          <a:xfrm>
            <a:off x="6366612" y="3828173"/>
            <a:ext cx="5422211" cy="223267"/>
          </a:xfrm>
          <a:prstGeom prst="rect">
            <a:avLst/>
          </a:prstGeom>
          <a:noFill/>
          <a:ln/>
        </p:spPr>
        <p:txBody>
          <a:bodyPr wrap="square" lIns="0" tIns="0" rIns="0" bIns="0" rtlCol="0" anchor="ctr"/>
          <a:lstStyle/>
          <a:p>
            <a:pPr>
              <a:lnSpc>
                <a:spcPct val="120000"/>
              </a:lnSpc>
            </a:pPr>
            <a:r>
              <a:rPr lang="en-US" sz="1256" b="1" dirty="0">
                <a:solidFill>
                  <a:srgbClr val="E0E2E5"/>
                </a:solidFill>
                <a:latin typeface="Noto Sans SC" pitchFamily="34" charset="0"/>
                <a:ea typeface="Noto Sans SC" pitchFamily="34" charset="-122"/>
                <a:cs typeface="Noto Sans SC" pitchFamily="34" charset="-120"/>
              </a:rPr>
              <a:t>其他探索</a:t>
            </a:r>
            <a:endParaRPr lang="en-US" sz="1600" dirty="0"/>
          </a:p>
        </p:txBody>
      </p:sp>
      <p:sp>
        <p:nvSpPr>
          <p:cNvPr id="51" name="Shape 49"/>
          <p:cNvSpPr/>
          <p:nvPr/>
        </p:nvSpPr>
        <p:spPr>
          <a:xfrm>
            <a:off x="6366612" y="4147127"/>
            <a:ext cx="5342472" cy="574116"/>
          </a:xfrm>
          <a:custGeom>
            <a:avLst/>
            <a:gdLst/>
            <a:ahLst/>
            <a:cxnLst/>
            <a:rect l="l" t="t" r="r" b="b"/>
            <a:pathLst>
              <a:path w="5342472" h="574116">
                <a:moveTo>
                  <a:pt x="63790" y="0"/>
                </a:moveTo>
                <a:lnTo>
                  <a:pt x="5278682" y="0"/>
                </a:lnTo>
                <a:cubicBezTo>
                  <a:pt x="5313912" y="0"/>
                  <a:pt x="5342472" y="28560"/>
                  <a:pt x="5342472" y="63790"/>
                </a:cubicBezTo>
                <a:lnTo>
                  <a:pt x="5342472" y="510326"/>
                </a:lnTo>
                <a:cubicBezTo>
                  <a:pt x="5342472" y="545557"/>
                  <a:pt x="5313912" y="574116"/>
                  <a:pt x="5278682" y="574116"/>
                </a:cubicBezTo>
                <a:lnTo>
                  <a:pt x="63790" y="574116"/>
                </a:lnTo>
                <a:cubicBezTo>
                  <a:pt x="28560" y="574116"/>
                  <a:pt x="0" y="545557"/>
                  <a:pt x="0" y="510326"/>
                </a:cubicBezTo>
                <a:lnTo>
                  <a:pt x="0" y="63790"/>
                </a:lnTo>
                <a:cubicBezTo>
                  <a:pt x="0" y="28560"/>
                  <a:pt x="28560" y="0"/>
                  <a:pt x="63790" y="0"/>
                </a:cubicBezTo>
                <a:close/>
              </a:path>
            </a:pathLst>
          </a:custGeom>
          <a:solidFill>
            <a:srgbClr val="1A1D21">
              <a:alpha val="50196"/>
            </a:srgbClr>
          </a:solidFill>
          <a:ln/>
        </p:spPr>
        <p:txBody>
          <a:bodyPr/>
          <a:lstStyle/>
          <a:p>
            <a:endParaRPr lang="zh-CN" altLang="en-US"/>
          </a:p>
        </p:txBody>
      </p:sp>
      <p:sp>
        <p:nvSpPr>
          <p:cNvPr id="52" name="Text 50"/>
          <p:cNvSpPr/>
          <p:nvPr/>
        </p:nvSpPr>
        <p:spPr>
          <a:xfrm>
            <a:off x="6462298" y="4242813"/>
            <a:ext cx="5214891" cy="191372"/>
          </a:xfrm>
          <a:prstGeom prst="rect">
            <a:avLst/>
          </a:prstGeom>
          <a:noFill/>
          <a:ln/>
        </p:spPr>
        <p:txBody>
          <a:bodyPr wrap="square" lIns="0" tIns="0" rIns="0" bIns="0" rtlCol="0" anchor="ctr"/>
          <a:lstStyle/>
          <a:p>
            <a:pPr>
              <a:lnSpc>
                <a:spcPct val="130000"/>
              </a:lnSpc>
            </a:pPr>
            <a:r>
              <a:rPr lang="en-US" sz="1005" b="1" dirty="0">
                <a:solidFill>
                  <a:srgbClr val="E0E2E5"/>
                </a:solidFill>
                <a:latin typeface="Noto Sans SC" pitchFamily="34" charset="0"/>
                <a:ea typeface="Noto Sans SC" pitchFamily="34" charset="-122"/>
                <a:cs typeface="Noto Sans SC" pitchFamily="34" charset="-120"/>
              </a:rPr>
              <a:t>VecInfer</a:t>
            </a:r>
            <a:endParaRPr lang="en-US" sz="1600" dirty="0"/>
          </a:p>
        </p:txBody>
      </p:sp>
      <p:sp>
        <p:nvSpPr>
          <p:cNvPr id="53" name="Text 51"/>
          <p:cNvSpPr/>
          <p:nvPr/>
        </p:nvSpPr>
        <p:spPr>
          <a:xfrm>
            <a:off x="6462298" y="4466081"/>
            <a:ext cx="5206917" cy="159477"/>
          </a:xfrm>
          <a:prstGeom prst="rect">
            <a:avLst/>
          </a:prstGeom>
          <a:noFill/>
          <a:ln/>
        </p:spPr>
        <p:txBody>
          <a:bodyPr wrap="square" lIns="0" tIns="0" rIns="0" bIns="0" rtlCol="0" anchor="ctr"/>
          <a:lstStyle/>
          <a:p>
            <a:pP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异常值抑制策略的向量量化</a:t>
            </a:r>
            <a:endParaRPr lang="en-US" sz="1600" dirty="0"/>
          </a:p>
        </p:txBody>
      </p:sp>
      <p:sp>
        <p:nvSpPr>
          <p:cNvPr id="54" name="Shape 52"/>
          <p:cNvSpPr/>
          <p:nvPr/>
        </p:nvSpPr>
        <p:spPr>
          <a:xfrm>
            <a:off x="6366612" y="4785034"/>
            <a:ext cx="5342472" cy="574116"/>
          </a:xfrm>
          <a:custGeom>
            <a:avLst/>
            <a:gdLst/>
            <a:ahLst/>
            <a:cxnLst/>
            <a:rect l="l" t="t" r="r" b="b"/>
            <a:pathLst>
              <a:path w="5342472" h="574116">
                <a:moveTo>
                  <a:pt x="63790" y="0"/>
                </a:moveTo>
                <a:lnTo>
                  <a:pt x="5278682" y="0"/>
                </a:lnTo>
                <a:cubicBezTo>
                  <a:pt x="5313912" y="0"/>
                  <a:pt x="5342472" y="28560"/>
                  <a:pt x="5342472" y="63790"/>
                </a:cubicBezTo>
                <a:lnTo>
                  <a:pt x="5342472" y="510326"/>
                </a:lnTo>
                <a:cubicBezTo>
                  <a:pt x="5342472" y="545557"/>
                  <a:pt x="5313912" y="574116"/>
                  <a:pt x="5278682" y="574116"/>
                </a:cubicBezTo>
                <a:lnTo>
                  <a:pt x="63790" y="574116"/>
                </a:lnTo>
                <a:cubicBezTo>
                  <a:pt x="28560" y="574116"/>
                  <a:pt x="0" y="545557"/>
                  <a:pt x="0" y="510326"/>
                </a:cubicBezTo>
                <a:lnTo>
                  <a:pt x="0" y="63790"/>
                </a:lnTo>
                <a:cubicBezTo>
                  <a:pt x="0" y="28560"/>
                  <a:pt x="28560" y="0"/>
                  <a:pt x="63790" y="0"/>
                </a:cubicBezTo>
                <a:close/>
              </a:path>
            </a:pathLst>
          </a:custGeom>
          <a:solidFill>
            <a:srgbClr val="1A1D21">
              <a:alpha val="50196"/>
            </a:srgbClr>
          </a:solidFill>
          <a:ln/>
        </p:spPr>
        <p:txBody>
          <a:bodyPr/>
          <a:lstStyle/>
          <a:p>
            <a:endParaRPr lang="zh-CN" altLang="en-US"/>
          </a:p>
        </p:txBody>
      </p:sp>
      <p:sp>
        <p:nvSpPr>
          <p:cNvPr id="55" name="Text 53"/>
          <p:cNvSpPr/>
          <p:nvPr/>
        </p:nvSpPr>
        <p:spPr>
          <a:xfrm>
            <a:off x="6462298" y="4880720"/>
            <a:ext cx="5214891" cy="191372"/>
          </a:xfrm>
          <a:prstGeom prst="rect">
            <a:avLst/>
          </a:prstGeom>
          <a:noFill/>
          <a:ln/>
        </p:spPr>
        <p:txBody>
          <a:bodyPr wrap="square" lIns="0" tIns="0" rIns="0" bIns="0" rtlCol="0" anchor="ctr"/>
          <a:lstStyle/>
          <a:p>
            <a:pPr>
              <a:lnSpc>
                <a:spcPct val="130000"/>
              </a:lnSpc>
            </a:pPr>
            <a:r>
              <a:rPr lang="en-US" sz="1005" b="1" dirty="0">
                <a:solidFill>
                  <a:srgbClr val="E0E2E5"/>
                </a:solidFill>
                <a:latin typeface="Noto Sans SC" pitchFamily="34" charset="0"/>
                <a:ea typeface="Noto Sans SC" pitchFamily="34" charset="-122"/>
                <a:cs typeface="Noto Sans SC" pitchFamily="34" charset="-120"/>
              </a:rPr>
              <a:t>KIVI</a:t>
            </a:r>
            <a:endParaRPr lang="en-US" sz="1600" dirty="0"/>
          </a:p>
        </p:txBody>
      </p:sp>
      <p:sp>
        <p:nvSpPr>
          <p:cNvPr id="56" name="Text 54"/>
          <p:cNvSpPr/>
          <p:nvPr/>
        </p:nvSpPr>
        <p:spPr>
          <a:xfrm>
            <a:off x="6462298" y="5103988"/>
            <a:ext cx="5206917" cy="159477"/>
          </a:xfrm>
          <a:prstGeom prst="rect">
            <a:avLst/>
          </a:prstGeom>
          <a:noFill/>
          <a:ln/>
        </p:spPr>
        <p:txBody>
          <a:bodyPr wrap="square" lIns="0" tIns="0" rIns="0" bIns="0" rtlCol="0" anchor="ctr"/>
          <a:lstStyle/>
          <a:p>
            <a:pP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2-bit 非对称量化探索</a:t>
            </a:r>
            <a:endParaRPr lang="en-US" sz="1600" dirty="0"/>
          </a:p>
        </p:txBody>
      </p:sp>
      <p:sp>
        <p:nvSpPr>
          <p:cNvPr id="57" name="Shape 55"/>
          <p:cNvSpPr/>
          <p:nvPr/>
        </p:nvSpPr>
        <p:spPr>
          <a:xfrm>
            <a:off x="6366612" y="5422941"/>
            <a:ext cx="5342472" cy="574116"/>
          </a:xfrm>
          <a:custGeom>
            <a:avLst/>
            <a:gdLst/>
            <a:ahLst/>
            <a:cxnLst/>
            <a:rect l="l" t="t" r="r" b="b"/>
            <a:pathLst>
              <a:path w="5342472" h="574116">
                <a:moveTo>
                  <a:pt x="63790" y="0"/>
                </a:moveTo>
                <a:lnTo>
                  <a:pt x="5278682" y="0"/>
                </a:lnTo>
                <a:cubicBezTo>
                  <a:pt x="5313912" y="0"/>
                  <a:pt x="5342472" y="28560"/>
                  <a:pt x="5342472" y="63790"/>
                </a:cubicBezTo>
                <a:lnTo>
                  <a:pt x="5342472" y="510326"/>
                </a:lnTo>
                <a:cubicBezTo>
                  <a:pt x="5342472" y="545557"/>
                  <a:pt x="5313912" y="574116"/>
                  <a:pt x="5278682" y="574116"/>
                </a:cubicBezTo>
                <a:lnTo>
                  <a:pt x="63790" y="574116"/>
                </a:lnTo>
                <a:cubicBezTo>
                  <a:pt x="28560" y="574116"/>
                  <a:pt x="0" y="545557"/>
                  <a:pt x="0" y="510326"/>
                </a:cubicBezTo>
                <a:lnTo>
                  <a:pt x="0" y="63790"/>
                </a:lnTo>
                <a:cubicBezTo>
                  <a:pt x="0" y="28560"/>
                  <a:pt x="28560" y="0"/>
                  <a:pt x="63790" y="0"/>
                </a:cubicBezTo>
                <a:close/>
              </a:path>
            </a:pathLst>
          </a:custGeom>
          <a:solidFill>
            <a:srgbClr val="1A1D21">
              <a:alpha val="50196"/>
            </a:srgbClr>
          </a:solidFill>
          <a:ln/>
        </p:spPr>
        <p:txBody>
          <a:bodyPr/>
          <a:lstStyle/>
          <a:p>
            <a:endParaRPr lang="zh-CN" altLang="en-US"/>
          </a:p>
        </p:txBody>
      </p:sp>
      <p:sp>
        <p:nvSpPr>
          <p:cNvPr id="58" name="Text 56"/>
          <p:cNvSpPr/>
          <p:nvPr/>
        </p:nvSpPr>
        <p:spPr>
          <a:xfrm>
            <a:off x="6462298" y="5518627"/>
            <a:ext cx="5214891" cy="191372"/>
          </a:xfrm>
          <a:prstGeom prst="rect">
            <a:avLst/>
          </a:prstGeom>
          <a:noFill/>
          <a:ln/>
        </p:spPr>
        <p:txBody>
          <a:bodyPr wrap="square" lIns="0" tIns="0" rIns="0" bIns="0" rtlCol="0" anchor="ctr"/>
          <a:lstStyle/>
          <a:p>
            <a:pPr>
              <a:lnSpc>
                <a:spcPct val="130000"/>
              </a:lnSpc>
            </a:pPr>
            <a:r>
              <a:rPr lang="en-US" sz="1005" b="1" dirty="0">
                <a:solidFill>
                  <a:srgbClr val="E0E2E5"/>
                </a:solidFill>
                <a:latin typeface="Noto Sans SC" pitchFamily="34" charset="0"/>
                <a:ea typeface="Noto Sans SC" pitchFamily="34" charset="-122"/>
                <a:cs typeface="Noto Sans SC" pitchFamily="34" charset="-120"/>
              </a:rPr>
              <a:t>RaBitQ</a:t>
            </a:r>
            <a:endParaRPr lang="en-US" sz="1600" dirty="0"/>
          </a:p>
        </p:txBody>
      </p:sp>
      <p:sp>
        <p:nvSpPr>
          <p:cNvPr id="59" name="Text 57"/>
          <p:cNvSpPr/>
          <p:nvPr/>
        </p:nvSpPr>
        <p:spPr>
          <a:xfrm>
            <a:off x="6462298" y="5741895"/>
            <a:ext cx="5206917" cy="159477"/>
          </a:xfrm>
          <a:prstGeom prst="rect">
            <a:avLst/>
          </a:prstGeom>
          <a:noFill/>
          <a:ln/>
        </p:spPr>
        <p:txBody>
          <a:bodyPr wrap="square" lIns="0" tIns="0" rIns="0" bIns="0" rtlCol="0" anchor="ctr"/>
          <a:lstStyle/>
          <a:p>
            <a:pP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高维向量量化理论贡献</a:t>
            </a:r>
            <a:endParaRPr lang="en-US" sz="1600" dirty="0"/>
          </a:p>
        </p:txBody>
      </p:sp>
      <p:sp>
        <p:nvSpPr>
          <p:cNvPr id="60" name="Shape 58"/>
          <p:cNvSpPr/>
          <p:nvPr/>
        </p:nvSpPr>
        <p:spPr>
          <a:xfrm>
            <a:off x="6366612" y="6060848"/>
            <a:ext cx="5342472" cy="574116"/>
          </a:xfrm>
          <a:custGeom>
            <a:avLst/>
            <a:gdLst/>
            <a:ahLst/>
            <a:cxnLst/>
            <a:rect l="l" t="t" r="r" b="b"/>
            <a:pathLst>
              <a:path w="5342472" h="574116">
                <a:moveTo>
                  <a:pt x="63790" y="0"/>
                </a:moveTo>
                <a:lnTo>
                  <a:pt x="5278682" y="0"/>
                </a:lnTo>
                <a:cubicBezTo>
                  <a:pt x="5313912" y="0"/>
                  <a:pt x="5342472" y="28560"/>
                  <a:pt x="5342472" y="63790"/>
                </a:cubicBezTo>
                <a:lnTo>
                  <a:pt x="5342472" y="510326"/>
                </a:lnTo>
                <a:cubicBezTo>
                  <a:pt x="5342472" y="545557"/>
                  <a:pt x="5313912" y="574116"/>
                  <a:pt x="5278682" y="574116"/>
                </a:cubicBezTo>
                <a:lnTo>
                  <a:pt x="63790" y="574116"/>
                </a:lnTo>
                <a:cubicBezTo>
                  <a:pt x="28560" y="574116"/>
                  <a:pt x="0" y="545557"/>
                  <a:pt x="0" y="510326"/>
                </a:cubicBezTo>
                <a:lnTo>
                  <a:pt x="0" y="63790"/>
                </a:lnTo>
                <a:cubicBezTo>
                  <a:pt x="0" y="28560"/>
                  <a:pt x="28560" y="0"/>
                  <a:pt x="63790" y="0"/>
                </a:cubicBezTo>
                <a:close/>
              </a:path>
            </a:pathLst>
          </a:custGeom>
          <a:solidFill>
            <a:srgbClr val="1A1D21">
              <a:alpha val="50196"/>
            </a:srgbClr>
          </a:solidFill>
          <a:ln/>
        </p:spPr>
        <p:txBody>
          <a:bodyPr/>
          <a:lstStyle/>
          <a:p>
            <a:endParaRPr lang="zh-CN" altLang="en-US"/>
          </a:p>
        </p:txBody>
      </p:sp>
      <p:sp>
        <p:nvSpPr>
          <p:cNvPr id="61" name="Text 59"/>
          <p:cNvSpPr/>
          <p:nvPr/>
        </p:nvSpPr>
        <p:spPr>
          <a:xfrm>
            <a:off x="6462298" y="6156535"/>
            <a:ext cx="5214891" cy="191372"/>
          </a:xfrm>
          <a:prstGeom prst="rect">
            <a:avLst/>
          </a:prstGeom>
          <a:noFill/>
          <a:ln/>
        </p:spPr>
        <p:txBody>
          <a:bodyPr wrap="square" lIns="0" tIns="0" rIns="0" bIns="0" rtlCol="0" anchor="ctr"/>
          <a:lstStyle/>
          <a:p>
            <a:pPr>
              <a:lnSpc>
                <a:spcPct val="130000"/>
              </a:lnSpc>
            </a:pPr>
            <a:r>
              <a:rPr lang="en-US" sz="1005" b="1" dirty="0">
                <a:solidFill>
                  <a:srgbClr val="E0E2E5"/>
                </a:solidFill>
                <a:latin typeface="Noto Sans SC" pitchFamily="34" charset="0"/>
                <a:ea typeface="Noto Sans SC" pitchFamily="34" charset="-122"/>
                <a:cs typeface="Noto Sans SC" pitchFamily="34" charset="-120"/>
              </a:rPr>
              <a:t>UQ-KV Cache</a:t>
            </a:r>
            <a:endParaRPr lang="en-US" sz="1600" dirty="0"/>
          </a:p>
        </p:txBody>
      </p:sp>
      <p:sp>
        <p:nvSpPr>
          <p:cNvPr id="62" name="Text 60"/>
          <p:cNvSpPr/>
          <p:nvPr/>
        </p:nvSpPr>
        <p:spPr>
          <a:xfrm>
            <a:off x="6462298" y="6379802"/>
            <a:ext cx="5206917" cy="159477"/>
          </a:xfrm>
          <a:prstGeom prst="rect">
            <a:avLst/>
          </a:prstGeom>
          <a:noFill/>
          <a:ln/>
        </p:spPr>
        <p:txBody>
          <a:bodyPr wrap="square" lIns="0" tIns="0" rIns="0" bIns="0" rtlCol="0" anchor="ctr"/>
          <a:lstStyle/>
          <a:p>
            <a:pPr>
              <a:lnSpc>
                <a:spcPct val="120000"/>
              </a:lnSpc>
            </a:pPr>
            <a:r>
              <a:rPr lang="en-US" sz="879" dirty="0">
                <a:solidFill>
                  <a:srgbClr val="E0E2E5">
                    <a:alpha val="70000"/>
                  </a:srgbClr>
                </a:solidFill>
                <a:latin typeface="Noto Sans SC" pitchFamily="34" charset="0"/>
                <a:ea typeface="Noto Sans SC" pitchFamily="34" charset="-122"/>
                <a:cs typeface="Noto Sans SC" pitchFamily="34" charset="-120"/>
              </a:rPr>
              <a:t>支持 1-bit 量化的混合精度统一框架</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100" dirty="0">
                <a:solidFill>
                  <a:srgbClr val="3D8B75"/>
                </a:solidFill>
                <a:latin typeface="MiSans" pitchFamily="34" charset="0"/>
                <a:ea typeface="MiSans" pitchFamily="34" charset="-122"/>
                <a:cs typeface="MiSans" pitchFamily="34" charset="-120"/>
              </a:rPr>
              <a:t>FEATURE DIMENSION</a:t>
            </a:r>
            <a:endParaRPr lang="en-US" sz="16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E0E2E5"/>
                </a:solidFill>
                <a:latin typeface="Noto Sans SC" pitchFamily="34" charset="0"/>
                <a:ea typeface="Noto Sans SC" pitchFamily="34" charset="-122"/>
                <a:cs typeface="Noto Sans SC" pitchFamily="34" charset="-120"/>
              </a:rPr>
              <a:t>特征维压缩：低秩分解</a:t>
            </a:r>
            <a:endParaRPr lang="en-US" sz="1600" dirty="0"/>
          </a:p>
        </p:txBody>
      </p:sp>
      <p:sp>
        <p:nvSpPr>
          <p:cNvPr id="4" name="Shape 2"/>
          <p:cNvSpPr/>
          <p:nvPr/>
        </p:nvSpPr>
        <p:spPr>
          <a:xfrm>
            <a:off x="317500" y="98425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C9A86A"/>
          </a:solidFill>
          <a:ln/>
        </p:spPr>
        <p:txBody>
          <a:bodyPr/>
          <a:lstStyle/>
          <a:p>
            <a:endParaRPr lang="zh-CN" altLang="en-US"/>
          </a:p>
        </p:txBody>
      </p:sp>
      <p:sp>
        <p:nvSpPr>
          <p:cNvPr id="5" name="Shape 3"/>
          <p:cNvSpPr/>
          <p:nvPr/>
        </p:nvSpPr>
        <p:spPr>
          <a:xfrm>
            <a:off x="333375" y="1143000"/>
            <a:ext cx="5683250" cy="1857375"/>
          </a:xfrm>
          <a:custGeom>
            <a:avLst/>
            <a:gdLst/>
            <a:ahLst/>
            <a:cxnLst/>
            <a:rect l="l" t="t" r="r" b="b"/>
            <a:pathLst>
              <a:path w="5683250" h="1857375">
                <a:moveTo>
                  <a:pt x="31750" y="0"/>
                </a:moveTo>
                <a:lnTo>
                  <a:pt x="5619746" y="0"/>
                </a:lnTo>
                <a:cubicBezTo>
                  <a:pt x="5654818" y="0"/>
                  <a:pt x="5683250" y="28432"/>
                  <a:pt x="5683250" y="63504"/>
                </a:cubicBezTo>
                <a:lnTo>
                  <a:pt x="5683250" y="1793871"/>
                </a:lnTo>
                <a:cubicBezTo>
                  <a:pt x="5683250" y="1828943"/>
                  <a:pt x="5654818" y="1857375"/>
                  <a:pt x="5619746" y="1857375"/>
                </a:cubicBezTo>
                <a:lnTo>
                  <a:pt x="31750" y="1857375"/>
                </a:lnTo>
                <a:cubicBezTo>
                  <a:pt x="14227" y="1857375"/>
                  <a:pt x="0" y="1843148"/>
                  <a:pt x="0" y="1825625"/>
                </a:cubicBezTo>
                <a:lnTo>
                  <a:pt x="0" y="31750"/>
                </a:lnTo>
                <a:cubicBezTo>
                  <a:pt x="0" y="14227"/>
                  <a:pt x="14227" y="0"/>
                  <a:pt x="31750" y="0"/>
                </a:cubicBezTo>
                <a:close/>
              </a:path>
            </a:pathLst>
          </a:custGeom>
          <a:solidFill>
            <a:srgbClr val="3D8B75">
              <a:alpha val="10196"/>
            </a:srgbClr>
          </a:solidFill>
          <a:ln/>
        </p:spPr>
        <p:txBody>
          <a:bodyPr/>
          <a:lstStyle/>
          <a:p>
            <a:endParaRPr lang="zh-CN" altLang="en-US"/>
          </a:p>
        </p:txBody>
      </p:sp>
      <p:sp>
        <p:nvSpPr>
          <p:cNvPr id="6" name="Shape 4"/>
          <p:cNvSpPr/>
          <p:nvPr/>
        </p:nvSpPr>
        <p:spPr>
          <a:xfrm>
            <a:off x="333375" y="1143000"/>
            <a:ext cx="31750" cy="1857375"/>
          </a:xfrm>
          <a:custGeom>
            <a:avLst/>
            <a:gdLst/>
            <a:ahLst/>
            <a:cxnLst/>
            <a:rect l="l" t="t" r="r" b="b"/>
            <a:pathLst>
              <a:path w="31750" h="1857375">
                <a:moveTo>
                  <a:pt x="31750" y="0"/>
                </a:moveTo>
                <a:lnTo>
                  <a:pt x="31750" y="0"/>
                </a:lnTo>
                <a:lnTo>
                  <a:pt x="31750" y="1857375"/>
                </a:lnTo>
                <a:lnTo>
                  <a:pt x="31750" y="1857375"/>
                </a:lnTo>
                <a:cubicBezTo>
                  <a:pt x="14227" y="1857375"/>
                  <a:pt x="0" y="1843148"/>
                  <a:pt x="0" y="1825625"/>
                </a:cubicBezTo>
                <a:lnTo>
                  <a:pt x="0" y="31750"/>
                </a:lnTo>
                <a:cubicBezTo>
                  <a:pt x="0" y="14227"/>
                  <a:pt x="14227" y="0"/>
                  <a:pt x="31750" y="0"/>
                </a:cubicBezTo>
                <a:close/>
              </a:path>
            </a:pathLst>
          </a:custGeom>
          <a:solidFill>
            <a:srgbClr val="3D8B75"/>
          </a:solidFill>
          <a:ln/>
        </p:spPr>
        <p:txBody>
          <a:bodyPr/>
          <a:lstStyle/>
          <a:p>
            <a:endParaRPr lang="zh-CN" altLang="en-US"/>
          </a:p>
        </p:txBody>
      </p:sp>
      <p:sp>
        <p:nvSpPr>
          <p:cNvPr id="7" name="Text 5"/>
          <p:cNvSpPr/>
          <p:nvPr/>
        </p:nvSpPr>
        <p:spPr>
          <a:xfrm>
            <a:off x="508000" y="1301750"/>
            <a:ext cx="5429250"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核心思想</a:t>
            </a:r>
            <a:endParaRPr lang="en-US" sz="1600" dirty="0"/>
          </a:p>
        </p:txBody>
      </p:sp>
      <p:sp>
        <p:nvSpPr>
          <p:cNvPr id="8" name="Text 6"/>
          <p:cNvSpPr/>
          <p:nvPr/>
        </p:nvSpPr>
        <p:spPr>
          <a:xfrm>
            <a:off x="508000" y="1619250"/>
            <a:ext cx="5413375" cy="412750"/>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特征维压缩的核心在于</a:t>
            </a:r>
            <a:r>
              <a:rPr lang="en-US" sz="1000" dirty="0">
                <a:solidFill>
                  <a:srgbClr val="3D8B75"/>
                </a:solidFill>
                <a:highlight>
                  <a:srgbClr val="3D8B75">
                    <a:alpha val="20000"/>
                  </a:srgbClr>
                </a:highlight>
                <a:latin typeface="Noto Sans SC" pitchFamily="34" charset="0"/>
                <a:ea typeface="Noto Sans SC" pitchFamily="34" charset="-122"/>
                <a:cs typeface="Noto Sans SC" pitchFamily="34" charset="-120"/>
              </a:rPr>
              <a:t> 利用 KV 在隐层维度上的冗余 </a:t>
            </a:r>
            <a:r>
              <a:rPr lang="en-US" sz="1000" dirty="0">
                <a:solidFill>
                  <a:srgbClr val="E0E2E5">
                    <a:alpha val="80000"/>
                  </a:srgbClr>
                </a:solidFill>
                <a:latin typeface="Noto Sans SC" pitchFamily="34" charset="0"/>
                <a:ea typeface="Noto Sans SC" pitchFamily="34" charset="-122"/>
                <a:cs typeface="Noto Sans SC" pitchFamily="34" charset="-120"/>
              </a:rPr>
              <a:t>——通过 SVD 等降维技术，提取具有主导作用的特征子空间，用更紧凑的低秩表示替代原始的高维稠密向量。</a:t>
            </a:r>
            <a:endParaRPr lang="en-US" sz="1600" dirty="0"/>
          </a:p>
        </p:txBody>
      </p:sp>
      <p:sp>
        <p:nvSpPr>
          <p:cNvPr id="9" name="Shape 7"/>
          <p:cNvSpPr/>
          <p:nvPr/>
        </p:nvSpPr>
        <p:spPr>
          <a:xfrm>
            <a:off x="508000" y="2127250"/>
            <a:ext cx="5349875" cy="714375"/>
          </a:xfrm>
          <a:custGeom>
            <a:avLst/>
            <a:gdLst/>
            <a:ahLst/>
            <a:cxnLst/>
            <a:rect l="l" t="t" r="r" b="b"/>
            <a:pathLst>
              <a:path w="5349875" h="714375">
                <a:moveTo>
                  <a:pt x="63501" y="0"/>
                </a:moveTo>
                <a:lnTo>
                  <a:pt x="5286374" y="0"/>
                </a:lnTo>
                <a:cubicBezTo>
                  <a:pt x="5321445" y="0"/>
                  <a:pt x="5349875" y="28430"/>
                  <a:pt x="5349875" y="63501"/>
                </a:cubicBezTo>
                <a:lnTo>
                  <a:pt x="5349875" y="650874"/>
                </a:lnTo>
                <a:cubicBezTo>
                  <a:pt x="5349875" y="685945"/>
                  <a:pt x="5321445" y="714375"/>
                  <a:pt x="5286374" y="714375"/>
                </a:cubicBezTo>
                <a:lnTo>
                  <a:pt x="63501" y="714375"/>
                </a:lnTo>
                <a:cubicBezTo>
                  <a:pt x="28430" y="714375"/>
                  <a:pt x="0" y="685945"/>
                  <a:pt x="0" y="650874"/>
                </a:cubicBezTo>
                <a:lnTo>
                  <a:pt x="0" y="63501"/>
                </a:lnTo>
                <a:cubicBezTo>
                  <a:pt x="0" y="28454"/>
                  <a:pt x="28454" y="0"/>
                  <a:pt x="63501" y="0"/>
                </a:cubicBezTo>
                <a:close/>
              </a:path>
            </a:pathLst>
          </a:custGeom>
          <a:solidFill>
            <a:srgbClr val="1A1D21">
              <a:alpha val="50196"/>
            </a:srgbClr>
          </a:solidFill>
          <a:ln/>
        </p:spPr>
        <p:txBody>
          <a:bodyPr/>
          <a:lstStyle/>
          <a:p>
            <a:endParaRPr lang="zh-CN" altLang="en-US"/>
          </a:p>
        </p:txBody>
      </p:sp>
      <p:sp>
        <p:nvSpPr>
          <p:cNvPr id="10" name="Text 8"/>
          <p:cNvSpPr/>
          <p:nvPr/>
        </p:nvSpPr>
        <p:spPr>
          <a:xfrm>
            <a:off x="635000" y="2254250"/>
            <a:ext cx="5159375" cy="190500"/>
          </a:xfrm>
          <a:prstGeom prst="rect">
            <a:avLst/>
          </a:prstGeom>
          <a:noFill/>
          <a:ln/>
        </p:spPr>
        <p:txBody>
          <a:bodyPr wrap="square" lIns="0" tIns="0" rIns="0" bIns="0" rtlCol="0" anchor="ctr"/>
          <a:lstStyle/>
          <a:p>
            <a:pPr>
              <a:lnSpc>
                <a:spcPct val="130000"/>
              </a:lnSpc>
            </a:pPr>
            <a:r>
              <a:rPr lang="en-US" sz="1000" b="1" dirty="0">
                <a:solidFill>
                  <a:srgbClr val="C9A86A"/>
                </a:solidFill>
                <a:latin typeface="Noto Sans SC" pitchFamily="34" charset="0"/>
                <a:ea typeface="Noto Sans SC" pitchFamily="34" charset="-122"/>
                <a:cs typeface="Noto Sans SC" pitchFamily="34" charset="-120"/>
              </a:rPr>
              <a:t>一句话本质</a:t>
            </a:r>
            <a:endParaRPr lang="en-US" sz="1600" dirty="0"/>
          </a:p>
        </p:txBody>
      </p:sp>
      <p:sp>
        <p:nvSpPr>
          <p:cNvPr id="11" name="Text 9"/>
          <p:cNvSpPr/>
          <p:nvPr/>
        </p:nvSpPr>
        <p:spPr>
          <a:xfrm>
            <a:off x="635000" y="2508250"/>
            <a:ext cx="5159375"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特征维压缩的本质是</a:t>
            </a:r>
            <a:r>
              <a:rPr lang="en-US" sz="1000" b="1" dirty="0">
                <a:solidFill>
                  <a:srgbClr val="E0E2E5">
                    <a:alpha val="80000"/>
                  </a:srgbClr>
                </a:solidFill>
                <a:latin typeface="Noto Sans SC" pitchFamily="34" charset="0"/>
                <a:ea typeface="Noto Sans SC" pitchFamily="34" charset="-122"/>
                <a:cs typeface="Noto Sans SC" pitchFamily="34" charset="-120"/>
              </a:rPr>
              <a:t>利用高维向量的低秩结构，在子空间中紧凑地保留主导信息</a:t>
            </a:r>
            <a:r>
              <a:rPr lang="en-US" sz="10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12" name="Shape 10"/>
          <p:cNvSpPr/>
          <p:nvPr/>
        </p:nvSpPr>
        <p:spPr>
          <a:xfrm>
            <a:off x="333375" y="3127375"/>
            <a:ext cx="5683250" cy="3454401"/>
          </a:xfrm>
          <a:custGeom>
            <a:avLst/>
            <a:gdLst/>
            <a:ahLst/>
            <a:cxnLst/>
            <a:rect l="l" t="t" r="r" b="b"/>
            <a:pathLst>
              <a:path w="5683250" h="4064000">
                <a:moveTo>
                  <a:pt x="31750" y="0"/>
                </a:moveTo>
                <a:lnTo>
                  <a:pt x="5619730" y="0"/>
                </a:lnTo>
                <a:cubicBezTo>
                  <a:pt x="5654811" y="0"/>
                  <a:pt x="5683250" y="28439"/>
                  <a:pt x="5683250" y="63520"/>
                </a:cubicBezTo>
                <a:lnTo>
                  <a:pt x="5683250" y="4000480"/>
                </a:lnTo>
                <a:cubicBezTo>
                  <a:pt x="5683250" y="4035561"/>
                  <a:pt x="5654811" y="4064000"/>
                  <a:pt x="5619730" y="4064000"/>
                </a:cubicBezTo>
                <a:lnTo>
                  <a:pt x="31750" y="4064000"/>
                </a:lnTo>
                <a:cubicBezTo>
                  <a:pt x="14227" y="4064000"/>
                  <a:pt x="0" y="4049773"/>
                  <a:pt x="0" y="4032250"/>
                </a:cubicBezTo>
                <a:lnTo>
                  <a:pt x="0" y="31750"/>
                </a:lnTo>
                <a:cubicBezTo>
                  <a:pt x="0" y="14227"/>
                  <a:pt x="14227" y="0"/>
                  <a:pt x="31750" y="0"/>
                </a:cubicBezTo>
                <a:close/>
              </a:path>
            </a:pathLst>
          </a:custGeom>
          <a:solidFill>
            <a:srgbClr val="C9A86A">
              <a:alpha val="10196"/>
            </a:srgbClr>
          </a:solidFill>
          <a:ln/>
        </p:spPr>
        <p:txBody>
          <a:bodyPr/>
          <a:lstStyle/>
          <a:p>
            <a:endParaRPr lang="zh-CN" altLang="en-US"/>
          </a:p>
        </p:txBody>
      </p:sp>
      <p:sp>
        <p:nvSpPr>
          <p:cNvPr id="13" name="Shape 11"/>
          <p:cNvSpPr/>
          <p:nvPr/>
        </p:nvSpPr>
        <p:spPr>
          <a:xfrm>
            <a:off x="333374" y="3127375"/>
            <a:ext cx="45719" cy="3454401"/>
          </a:xfrm>
          <a:custGeom>
            <a:avLst/>
            <a:gdLst/>
            <a:ahLst/>
            <a:cxnLst/>
            <a:rect l="l" t="t" r="r" b="b"/>
            <a:pathLst>
              <a:path w="31750" h="4064000">
                <a:moveTo>
                  <a:pt x="31750" y="0"/>
                </a:moveTo>
                <a:lnTo>
                  <a:pt x="31750" y="0"/>
                </a:lnTo>
                <a:lnTo>
                  <a:pt x="31750" y="4064000"/>
                </a:lnTo>
                <a:lnTo>
                  <a:pt x="31750" y="4064000"/>
                </a:lnTo>
                <a:cubicBezTo>
                  <a:pt x="14227" y="4064000"/>
                  <a:pt x="0" y="4049773"/>
                  <a:pt x="0" y="4032250"/>
                </a:cubicBezTo>
                <a:lnTo>
                  <a:pt x="0" y="31750"/>
                </a:lnTo>
                <a:cubicBezTo>
                  <a:pt x="0" y="14227"/>
                  <a:pt x="14227" y="0"/>
                  <a:pt x="31750" y="0"/>
                </a:cubicBezTo>
                <a:close/>
              </a:path>
            </a:pathLst>
          </a:custGeom>
          <a:solidFill>
            <a:srgbClr val="C9A86A"/>
          </a:solidFill>
          <a:ln/>
        </p:spPr>
        <p:txBody>
          <a:bodyPr/>
          <a:lstStyle/>
          <a:p>
            <a:endParaRPr lang="zh-CN" altLang="en-US"/>
          </a:p>
        </p:txBody>
      </p:sp>
      <p:sp>
        <p:nvSpPr>
          <p:cNvPr id="14" name="Shape 12"/>
          <p:cNvSpPr/>
          <p:nvPr/>
        </p:nvSpPr>
        <p:spPr>
          <a:xfrm>
            <a:off x="537766" y="3317875"/>
            <a:ext cx="138906" cy="158750"/>
          </a:xfrm>
          <a:custGeom>
            <a:avLst/>
            <a:gdLst/>
            <a:ahLst/>
            <a:cxnLst/>
            <a:rect l="l" t="t" r="r" b="b"/>
            <a:pathLst>
              <a:path w="138906" h="158750">
                <a:moveTo>
                  <a:pt x="76243" y="-8031"/>
                </a:moveTo>
                <a:cubicBezTo>
                  <a:pt x="72089" y="-10573"/>
                  <a:pt x="66849" y="-10573"/>
                  <a:pt x="62694" y="-8031"/>
                </a:cubicBezTo>
                <a:cubicBezTo>
                  <a:pt x="55128" y="-3411"/>
                  <a:pt x="50447" y="-2170"/>
                  <a:pt x="41579" y="-2356"/>
                </a:cubicBezTo>
                <a:cubicBezTo>
                  <a:pt x="36711" y="-2480"/>
                  <a:pt x="32184" y="155"/>
                  <a:pt x="29828" y="4434"/>
                </a:cubicBezTo>
                <a:cubicBezTo>
                  <a:pt x="25580" y="12216"/>
                  <a:pt x="22138" y="15658"/>
                  <a:pt x="14356" y="19906"/>
                </a:cubicBezTo>
                <a:cubicBezTo>
                  <a:pt x="10077" y="22231"/>
                  <a:pt x="7472" y="26789"/>
                  <a:pt x="7565" y="31657"/>
                </a:cubicBezTo>
                <a:cubicBezTo>
                  <a:pt x="7782" y="40525"/>
                  <a:pt x="6511" y="45207"/>
                  <a:pt x="1891" y="52772"/>
                </a:cubicBezTo>
                <a:cubicBezTo>
                  <a:pt x="-651" y="56927"/>
                  <a:pt x="-651" y="62167"/>
                  <a:pt x="1891" y="66322"/>
                </a:cubicBezTo>
                <a:cubicBezTo>
                  <a:pt x="6511" y="73887"/>
                  <a:pt x="7751" y="78569"/>
                  <a:pt x="7565" y="87437"/>
                </a:cubicBezTo>
                <a:cubicBezTo>
                  <a:pt x="7441" y="92304"/>
                  <a:pt x="10077" y="96831"/>
                  <a:pt x="14356" y="99188"/>
                </a:cubicBezTo>
                <a:cubicBezTo>
                  <a:pt x="21208" y="102939"/>
                  <a:pt x="24681" y="106040"/>
                  <a:pt x="28339" y="112055"/>
                </a:cubicBezTo>
                <a:lnTo>
                  <a:pt x="13240" y="142162"/>
                </a:lnTo>
                <a:cubicBezTo>
                  <a:pt x="11410" y="145852"/>
                  <a:pt x="12898" y="150316"/>
                  <a:pt x="16557" y="152146"/>
                </a:cubicBezTo>
                <a:lnTo>
                  <a:pt x="43222" y="165478"/>
                </a:lnTo>
                <a:cubicBezTo>
                  <a:pt x="46788" y="167246"/>
                  <a:pt x="51129" y="165912"/>
                  <a:pt x="53051" y="162440"/>
                </a:cubicBezTo>
                <a:lnTo>
                  <a:pt x="69422" y="132953"/>
                </a:lnTo>
                <a:lnTo>
                  <a:pt x="85793" y="162440"/>
                </a:lnTo>
                <a:cubicBezTo>
                  <a:pt x="87716" y="165912"/>
                  <a:pt x="92056" y="167277"/>
                  <a:pt x="95622" y="165478"/>
                </a:cubicBezTo>
                <a:lnTo>
                  <a:pt x="122287" y="152146"/>
                </a:lnTo>
                <a:cubicBezTo>
                  <a:pt x="125977" y="150316"/>
                  <a:pt x="127465" y="145852"/>
                  <a:pt x="125605" y="142162"/>
                </a:cubicBezTo>
                <a:lnTo>
                  <a:pt x="110536" y="112024"/>
                </a:lnTo>
                <a:cubicBezTo>
                  <a:pt x="114164" y="106009"/>
                  <a:pt x="117667" y="102908"/>
                  <a:pt x="124520" y="99157"/>
                </a:cubicBezTo>
                <a:cubicBezTo>
                  <a:pt x="128798" y="96831"/>
                  <a:pt x="131403" y="92273"/>
                  <a:pt x="131310" y="87406"/>
                </a:cubicBezTo>
                <a:cubicBezTo>
                  <a:pt x="131093" y="78538"/>
                  <a:pt x="132364" y="73856"/>
                  <a:pt x="136984" y="66291"/>
                </a:cubicBezTo>
                <a:cubicBezTo>
                  <a:pt x="139526" y="62136"/>
                  <a:pt x="139526" y="56896"/>
                  <a:pt x="136984" y="52741"/>
                </a:cubicBezTo>
                <a:cubicBezTo>
                  <a:pt x="132364" y="45176"/>
                  <a:pt x="131124" y="40494"/>
                  <a:pt x="131310" y="31626"/>
                </a:cubicBezTo>
                <a:cubicBezTo>
                  <a:pt x="131434" y="26758"/>
                  <a:pt x="128798" y="22231"/>
                  <a:pt x="124520" y="19875"/>
                </a:cubicBezTo>
                <a:cubicBezTo>
                  <a:pt x="116737" y="15627"/>
                  <a:pt x="113295" y="12185"/>
                  <a:pt x="109048" y="4403"/>
                </a:cubicBezTo>
                <a:cubicBezTo>
                  <a:pt x="106722" y="124"/>
                  <a:pt x="102164" y="-2480"/>
                  <a:pt x="97296" y="-2387"/>
                </a:cubicBezTo>
                <a:cubicBezTo>
                  <a:pt x="88429" y="-2170"/>
                  <a:pt x="83747" y="-3442"/>
                  <a:pt x="76181" y="-8062"/>
                </a:cubicBezTo>
                <a:close/>
                <a:moveTo>
                  <a:pt x="69453" y="29766"/>
                </a:moveTo>
                <a:cubicBezTo>
                  <a:pt x="85881" y="29766"/>
                  <a:pt x="99219" y="43103"/>
                  <a:pt x="99219" y="59531"/>
                </a:cubicBezTo>
                <a:cubicBezTo>
                  <a:pt x="99219" y="75959"/>
                  <a:pt x="85881" y="89297"/>
                  <a:pt x="69453" y="89297"/>
                </a:cubicBezTo>
                <a:cubicBezTo>
                  <a:pt x="53025" y="89297"/>
                  <a:pt x="39688" y="75959"/>
                  <a:pt x="39688" y="59531"/>
                </a:cubicBezTo>
                <a:cubicBezTo>
                  <a:pt x="39688" y="43103"/>
                  <a:pt x="53025" y="29766"/>
                  <a:pt x="69453" y="29766"/>
                </a:cubicBezTo>
                <a:close/>
              </a:path>
            </a:pathLst>
          </a:custGeom>
          <a:solidFill>
            <a:srgbClr val="C9A86A"/>
          </a:solidFill>
          <a:ln/>
        </p:spPr>
        <p:txBody>
          <a:bodyPr/>
          <a:lstStyle/>
          <a:p>
            <a:endParaRPr lang="zh-CN" altLang="en-US"/>
          </a:p>
        </p:txBody>
      </p:sp>
      <p:sp>
        <p:nvSpPr>
          <p:cNvPr id="15" name="Text 13"/>
          <p:cNvSpPr/>
          <p:nvPr/>
        </p:nvSpPr>
        <p:spPr>
          <a:xfrm>
            <a:off x="706438" y="3286125"/>
            <a:ext cx="5230813"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KQ-SVD (2025)</a:t>
            </a:r>
            <a:endParaRPr lang="en-US" sz="1600" dirty="0"/>
          </a:p>
        </p:txBody>
      </p:sp>
      <p:sp>
        <p:nvSpPr>
          <p:cNvPr id="16" name="Text 14"/>
          <p:cNvSpPr/>
          <p:nvPr/>
        </p:nvSpPr>
        <p:spPr>
          <a:xfrm>
            <a:off x="508000" y="3603625"/>
            <a:ext cx="5413375"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提出</a:t>
            </a:r>
            <a:r>
              <a:rPr lang="en-US" sz="1000" b="1" dirty="0">
                <a:solidFill>
                  <a:srgbClr val="E0E2E5">
                    <a:alpha val="80000"/>
                  </a:srgbClr>
                </a:solidFill>
                <a:latin typeface="Noto Sans SC" pitchFamily="34" charset="0"/>
                <a:ea typeface="Noto Sans SC" pitchFamily="34" charset="-122"/>
                <a:cs typeface="Noto Sans SC" pitchFamily="34" charset="-120"/>
              </a:rPr>
              <a:t>直接对完整的注意力矩阵做最优低秩分解</a:t>
            </a:r>
            <a:r>
              <a:rPr lang="en-US" sz="10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17" name="Shape 15"/>
          <p:cNvSpPr/>
          <p:nvPr/>
        </p:nvSpPr>
        <p:spPr>
          <a:xfrm>
            <a:off x="508000" y="3905251"/>
            <a:ext cx="5349875" cy="2000250"/>
          </a:xfrm>
          <a:custGeom>
            <a:avLst/>
            <a:gdLst/>
            <a:ahLst/>
            <a:cxnLst/>
            <a:rect l="l" t="t" r="r" b="b"/>
            <a:pathLst>
              <a:path w="5349875" h="2651125">
                <a:moveTo>
                  <a:pt x="63494" y="0"/>
                </a:moveTo>
                <a:lnTo>
                  <a:pt x="5286381" y="0"/>
                </a:lnTo>
                <a:cubicBezTo>
                  <a:pt x="5321448" y="0"/>
                  <a:pt x="5349875" y="28427"/>
                  <a:pt x="5349875" y="63494"/>
                </a:cubicBezTo>
                <a:lnTo>
                  <a:pt x="5349875" y="2587631"/>
                </a:lnTo>
                <a:cubicBezTo>
                  <a:pt x="5349875" y="2622698"/>
                  <a:pt x="5321448" y="2651125"/>
                  <a:pt x="5286381" y="2651125"/>
                </a:cubicBezTo>
                <a:lnTo>
                  <a:pt x="63494" y="2651125"/>
                </a:lnTo>
                <a:cubicBezTo>
                  <a:pt x="28427" y="2651125"/>
                  <a:pt x="0" y="2622698"/>
                  <a:pt x="0" y="2587631"/>
                </a:cubicBezTo>
                <a:lnTo>
                  <a:pt x="0" y="63494"/>
                </a:lnTo>
                <a:cubicBezTo>
                  <a:pt x="0" y="28451"/>
                  <a:pt x="28451" y="0"/>
                  <a:pt x="63494" y="0"/>
                </a:cubicBezTo>
                <a:close/>
              </a:path>
            </a:pathLst>
          </a:custGeom>
          <a:solidFill>
            <a:srgbClr val="1A1D21">
              <a:alpha val="50196"/>
            </a:srgbClr>
          </a:solidFill>
          <a:ln/>
        </p:spPr>
        <p:txBody>
          <a:bodyPr/>
          <a:lstStyle/>
          <a:p>
            <a:endParaRPr lang="zh-CN" altLang="en-US"/>
          </a:p>
        </p:txBody>
      </p:sp>
      <p:sp>
        <p:nvSpPr>
          <p:cNvPr id="18" name="Text 16"/>
          <p:cNvSpPr/>
          <p:nvPr/>
        </p:nvSpPr>
        <p:spPr>
          <a:xfrm>
            <a:off x="635000" y="4032250"/>
            <a:ext cx="5159375" cy="190500"/>
          </a:xfrm>
          <a:prstGeom prst="rect">
            <a:avLst/>
          </a:prstGeom>
          <a:noFill/>
          <a:ln/>
        </p:spPr>
        <p:txBody>
          <a:bodyPr wrap="square" lIns="0" tIns="0" rIns="0" bIns="0" rtlCol="0" anchor="ctr"/>
          <a:lstStyle/>
          <a:p>
            <a:pPr>
              <a:lnSpc>
                <a:spcPct val="130000"/>
              </a:lnSpc>
            </a:pPr>
            <a:r>
              <a:rPr lang="en-US" sz="1000" b="1" dirty="0">
                <a:solidFill>
                  <a:srgbClr val="C9A86A"/>
                </a:solidFill>
                <a:latin typeface="Noto Sans SC" pitchFamily="34" charset="0"/>
                <a:ea typeface="Noto Sans SC" pitchFamily="34" charset="-122"/>
                <a:cs typeface="Noto Sans SC" pitchFamily="34" charset="-120"/>
              </a:rPr>
              <a:t>核心理论洞察</a:t>
            </a:r>
            <a:endParaRPr lang="en-US" sz="1600" dirty="0"/>
          </a:p>
        </p:txBody>
      </p:sp>
      <p:sp>
        <p:nvSpPr>
          <p:cNvPr id="19" name="Text 17"/>
          <p:cNvSpPr/>
          <p:nvPr/>
        </p:nvSpPr>
        <p:spPr>
          <a:xfrm>
            <a:off x="635000" y="4286250"/>
            <a:ext cx="5159375" cy="412750"/>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由于注意力计算本质上是 Q 与 K 的内积，如果</a:t>
            </a:r>
            <a:r>
              <a:rPr lang="en-US" sz="1000" dirty="0">
                <a:solidFill>
                  <a:srgbClr val="C9A86A"/>
                </a:solidFill>
                <a:highlight>
                  <a:srgbClr val="C9A86A">
                    <a:alpha val="20000"/>
                  </a:srgbClr>
                </a:highlight>
                <a:latin typeface="Noto Sans SC" pitchFamily="34" charset="0"/>
                <a:ea typeface="Noto Sans SC" pitchFamily="34" charset="-122"/>
                <a:cs typeface="Noto Sans SC" pitchFamily="34" charset="-120"/>
              </a:rPr>
              <a:t> 仅孤立地对 K 做低秩分解而忽略了与 Q 的耦合效应 </a:t>
            </a:r>
            <a:r>
              <a:rPr lang="en-US" sz="1000" dirty="0">
                <a:solidFill>
                  <a:srgbClr val="E0E2E5">
                    <a:alpha val="80000"/>
                  </a:srgbClr>
                </a:solidFill>
                <a:latin typeface="Noto Sans SC" pitchFamily="34" charset="0"/>
                <a:ea typeface="Noto Sans SC" pitchFamily="34" charset="-122"/>
                <a:cs typeface="Noto Sans SC" pitchFamily="34" charset="-120"/>
              </a:rPr>
              <a:t>，将不可避免地导致次优的重建误差。</a:t>
            </a:r>
            <a:endParaRPr lang="en-US" sz="1600" dirty="0"/>
          </a:p>
        </p:txBody>
      </p:sp>
      <p:sp>
        <p:nvSpPr>
          <p:cNvPr id="20" name="Shape 18"/>
          <p:cNvSpPr/>
          <p:nvPr/>
        </p:nvSpPr>
        <p:spPr>
          <a:xfrm>
            <a:off x="523875" y="6021010"/>
            <a:ext cx="5334000" cy="381000"/>
          </a:xfrm>
          <a:custGeom>
            <a:avLst/>
            <a:gdLst/>
            <a:ahLst/>
            <a:cxnLst/>
            <a:rect l="l" t="t" r="r" b="b"/>
            <a:pathLst>
              <a:path w="5334000" h="381000">
                <a:moveTo>
                  <a:pt x="31750" y="0"/>
                </a:moveTo>
                <a:lnTo>
                  <a:pt x="5270499" y="0"/>
                </a:lnTo>
                <a:cubicBezTo>
                  <a:pt x="5305570" y="0"/>
                  <a:pt x="5334000" y="28430"/>
                  <a:pt x="5334000" y="63501"/>
                </a:cubicBezTo>
                <a:lnTo>
                  <a:pt x="5334000" y="317499"/>
                </a:lnTo>
                <a:cubicBezTo>
                  <a:pt x="5334000" y="352570"/>
                  <a:pt x="5305570" y="381000"/>
                  <a:pt x="5270499" y="381000"/>
                </a:cubicBezTo>
                <a:lnTo>
                  <a:pt x="31750" y="381000"/>
                </a:lnTo>
                <a:cubicBezTo>
                  <a:pt x="14215" y="381000"/>
                  <a:pt x="0" y="366785"/>
                  <a:pt x="0" y="349250"/>
                </a:cubicBezTo>
                <a:lnTo>
                  <a:pt x="0" y="31750"/>
                </a:lnTo>
                <a:cubicBezTo>
                  <a:pt x="0" y="14227"/>
                  <a:pt x="14227" y="0"/>
                  <a:pt x="31750" y="0"/>
                </a:cubicBezTo>
                <a:close/>
              </a:path>
            </a:pathLst>
          </a:custGeom>
          <a:solidFill>
            <a:srgbClr val="3D8B75">
              <a:alpha val="20000"/>
            </a:srgbClr>
          </a:solidFill>
          <a:ln/>
        </p:spPr>
        <p:txBody>
          <a:bodyPr/>
          <a:lstStyle/>
          <a:p>
            <a:endParaRPr lang="zh-CN" altLang="en-US"/>
          </a:p>
        </p:txBody>
      </p:sp>
      <p:sp>
        <p:nvSpPr>
          <p:cNvPr id="21" name="Shape 19"/>
          <p:cNvSpPr/>
          <p:nvPr/>
        </p:nvSpPr>
        <p:spPr>
          <a:xfrm>
            <a:off x="523875" y="6021010"/>
            <a:ext cx="31750" cy="381000"/>
          </a:xfrm>
          <a:custGeom>
            <a:avLst/>
            <a:gdLst/>
            <a:ahLst/>
            <a:cxnLst/>
            <a:rect l="l" t="t" r="r" b="b"/>
            <a:pathLst>
              <a:path w="31750" h="381000">
                <a:moveTo>
                  <a:pt x="31750" y="0"/>
                </a:moveTo>
                <a:lnTo>
                  <a:pt x="31750" y="0"/>
                </a:lnTo>
                <a:lnTo>
                  <a:pt x="31750" y="381000"/>
                </a:lnTo>
                <a:lnTo>
                  <a:pt x="31750" y="381000"/>
                </a:lnTo>
                <a:cubicBezTo>
                  <a:pt x="14227" y="381000"/>
                  <a:pt x="0" y="366773"/>
                  <a:pt x="0" y="349250"/>
                </a:cubicBezTo>
                <a:lnTo>
                  <a:pt x="0" y="31750"/>
                </a:lnTo>
                <a:cubicBezTo>
                  <a:pt x="0" y="14227"/>
                  <a:pt x="14227" y="0"/>
                  <a:pt x="31750" y="0"/>
                </a:cubicBezTo>
                <a:close/>
              </a:path>
            </a:pathLst>
          </a:custGeom>
          <a:solidFill>
            <a:srgbClr val="3D8B75"/>
          </a:solidFill>
          <a:ln/>
        </p:spPr>
        <p:txBody>
          <a:bodyPr/>
          <a:lstStyle/>
          <a:p>
            <a:endParaRPr lang="zh-CN" altLang="en-US"/>
          </a:p>
        </p:txBody>
      </p:sp>
      <p:sp>
        <p:nvSpPr>
          <p:cNvPr id="22" name="Shape 20"/>
          <p:cNvSpPr/>
          <p:nvPr/>
        </p:nvSpPr>
        <p:spPr>
          <a:xfrm>
            <a:off x="650875" y="6148010"/>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3D8B75"/>
          </a:solidFill>
          <a:ln/>
        </p:spPr>
        <p:txBody>
          <a:bodyPr/>
          <a:lstStyle/>
          <a:p>
            <a:endParaRPr lang="zh-CN" altLang="en-US"/>
          </a:p>
        </p:txBody>
      </p:sp>
      <p:sp>
        <p:nvSpPr>
          <p:cNvPr id="23" name="Text 21"/>
          <p:cNvSpPr/>
          <p:nvPr/>
        </p:nvSpPr>
        <p:spPr>
          <a:xfrm>
            <a:off x="833438" y="6116260"/>
            <a:ext cx="4992688" cy="190500"/>
          </a:xfrm>
          <a:prstGeom prst="rect">
            <a:avLst/>
          </a:prstGeom>
          <a:noFill/>
          <a:ln/>
        </p:spPr>
        <p:txBody>
          <a:bodyPr wrap="square" lIns="0" tIns="0" rIns="0" bIns="0" rtlCol="0" anchor="ctr"/>
          <a:lstStyle/>
          <a:p>
            <a:pPr>
              <a:lnSpc>
                <a:spcPct val="130000"/>
              </a:lnSpc>
            </a:pPr>
            <a:r>
              <a:rPr lang="en-US" sz="1000" dirty="0">
                <a:solidFill>
                  <a:srgbClr val="E0E2E5"/>
                </a:solidFill>
                <a:latin typeface="Noto Sans SC" pitchFamily="34" charset="0"/>
                <a:ea typeface="Noto Sans SC" pitchFamily="34" charset="-122"/>
                <a:cs typeface="Noto Sans SC" pitchFamily="34" charset="-120"/>
              </a:rPr>
              <a:t>通过</a:t>
            </a:r>
            <a:r>
              <a:rPr lang="en-US" sz="1000" b="1" dirty="0">
                <a:solidFill>
                  <a:srgbClr val="E0E2E5"/>
                </a:solidFill>
                <a:latin typeface="Noto Sans SC" pitchFamily="34" charset="0"/>
                <a:ea typeface="Noto Sans SC" pitchFamily="34" charset="-122"/>
                <a:cs typeface="Noto Sans SC" pitchFamily="34" charset="-120"/>
              </a:rPr>
              <a:t>闭式解</a:t>
            </a:r>
            <a:r>
              <a:rPr lang="en-US" sz="1000" dirty="0">
                <a:solidFill>
                  <a:srgbClr val="E0E2E5"/>
                </a:solidFill>
                <a:latin typeface="Noto Sans SC" pitchFamily="34" charset="0"/>
                <a:ea typeface="Noto Sans SC" pitchFamily="34" charset="-122"/>
                <a:cs typeface="Noto Sans SC" pitchFamily="34" charset="-120"/>
              </a:rPr>
              <a:t>实现全局最优分解，提供可证明保真度保证</a:t>
            </a:r>
            <a:endParaRPr lang="en-US" sz="1600" dirty="0"/>
          </a:p>
        </p:txBody>
      </p:sp>
      <p:sp>
        <p:nvSpPr>
          <p:cNvPr id="24" name="Shape 22"/>
          <p:cNvSpPr/>
          <p:nvPr/>
        </p:nvSpPr>
        <p:spPr>
          <a:xfrm>
            <a:off x="6191250" y="533401"/>
            <a:ext cx="5683250" cy="3492500"/>
          </a:xfrm>
          <a:custGeom>
            <a:avLst/>
            <a:gdLst/>
            <a:ahLst/>
            <a:cxnLst/>
            <a:rect l="l" t="t" r="r" b="b"/>
            <a:pathLst>
              <a:path w="5683250" h="3492500">
                <a:moveTo>
                  <a:pt x="31750" y="0"/>
                </a:moveTo>
                <a:lnTo>
                  <a:pt x="5619756" y="0"/>
                </a:lnTo>
                <a:cubicBezTo>
                  <a:pt x="5654823" y="0"/>
                  <a:pt x="5683250" y="28427"/>
                  <a:pt x="5683250" y="63494"/>
                </a:cubicBezTo>
                <a:lnTo>
                  <a:pt x="5683250" y="3429006"/>
                </a:lnTo>
                <a:cubicBezTo>
                  <a:pt x="5683250" y="3464073"/>
                  <a:pt x="5654823" y="3492500"/>
                  <a:pt x="5619756" y="3492500"/>
                </a:cubicBezTo>
                <a:lnTo>
                  <a:pt x="31750" y="3492500"/>
                </a:lnTo>
                <a:cubicBezTo>
                  <a:pt x="14215" y="3492500"/>
                  <a:pt x="0" y="3478285"/>
                  <a:pt x="0" y="3460750"/>
                </a:cubicBezTo>
                <a:lnTo>
                  <a:pt x="0" y="31750"/>
                </a:lnTo>
                <a:cubicBezTo>
                  <a:pt x="0" y="14227"/>
                  <a:pt x="14227" y="0"/>
                  <a:pt x="31750" y="0"/>
                </a:cubicBezTo>
                <a:close/>
              </a:path>
            </a:pathLst>
          </a:custGeom>
          <a:solidFill>
            <a:srgbClr val="5F6B7A">
              <a:alpha val="10196"/>
            </a:srgbClr>
          </a:solidFill>
          <a:ln/>
        </p:spPr>
        <p:txBody>
          <a:bodyPr/>
          <a:lstStyle/>
          <a:p>
            <a:endParaRPr lang="zh-CN" altLang="en-US"/>
          </a:p>
        </p:txBody>
      </p:sp>
      <p:sp>
        <p:nvSpPr>
          <p:cNvPr id="25" name="Shape 23"/>
          <p:cNvSpPr/>
          <p:nvPr/>
        </p:nvSpPr>
        <p:spPr>
          <a:xfrm>
            <a:off x="6191250" y="533401"/>
            <a:ext cx="31750" cy="3492500"/>
          </a:xfrm>
          <a:custGeom>
            <a:avLst/>
            <a:gdLst/>
            <a:ahLst/>
            <a:cxnLst/>
            <a:rect l="l" t="t" r="r" b="b"/>
            <a:pathLst>
              <a:path w="31750" h="3492500">
                <a:moveTo>
                  <a:pt x="31750" y="0"/>
                </a:moveTo>
                <a:lnTo>
                  <a:pt x="31750" y="0"/>
                </a:lnTo>
                <a:lnTo>
                  <a:pt x="31750" y="3492500"/>
                </a:lnTo>
                <a:lnTo>
                  <a:pt x="31750" y="3492500"/>
                </a:lnTo>
                <a:cubicBezTo>
                  <a:pt x="14227" y="3492500"/>
                  <a:pt x="0" y="3478273"/>
                  <a:pt x="0" y="3460750"/>
                </a:cubicBezTo>
                <a:lnTo>
                  <a:pt x="0" y="31750"/>
                </a:lnTo>
                <a:cubicBezTo>
                  <a:pt x="0" y="14227"/>
                  <a:pt x="14227" y="0"/>
                  <a:pt x="31750" y="0"/>
                </a:cubicBezTo>
                <a:close/>
              </a:path>
            </a:pathLst>
          </a:custGeom>
          <a:solidFill>
            <a:srgbClr val="5F6B7A"/>
          </a:solidFill>
          <a:ln/>
        </p:spPr>
        <p:txBody>
          <a:bodyPr/>
          <a:lstStyle/>
          <a:p>
            <a:endParaRPr lang="zh-CN" altLang="en-US"/>
          </a:p>
        </p:txBody>
      </p:sp>
      <p:sp>
        <p:nvSpPr>
          <p:cNvPr id="26" name="Text 24"/>
          <p:cNvSpPr/>
          <p:nvPr/>
        </p:nvSpPr>
        <p:spPr>
          <a:xfrm>
            <a:off x="6365875" y="692151"/>
            <a:ext cx="5429250"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ReCalKV (2025)</a:t>
            </a:r>
            <a:endParaRPr lang="en-US" sz="1600" dirty="0"/>
          </a:p>
        </p:txBody>
      </p:sp>
      <p:sp>
        <p:nvSpPr>
          <p:cNvPr id="27" name="Text 25"/>
          <p:cNvSpPr/>
          <p:nvPr/>
        </p:nvSpPr>
        <p:spPr>
          <a:xfrm>
            <a:off x="6365875" y="1009651"/>
            <a:ext cx="5413375"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提出极具工程参考价值的</a:t>
            </a:r>
            <a:r>
              <a:rPr lang="en-US" sz="1000" b="1" dirty="0">
                <a:solidFill>
                  <a:srgbClr val="E0E2E5">
                    <a:alpha val="80000"/>
                  </a:srgbClr>
                </a:solidFill>
                <a:latin typeface="Noto Sans SC" pitchFamily="34" charset="0"/>
                <a:ea typeface="Noto Sans SC" pitchFamily="34" charset="-122"/>
                <a:cs typeface="Noto Sans SC" pitchFamily="34" charset="-120"/>
              </a:rPr>
              <a:t>非对称压缩策略</a:t>
            </a:r>
            <a:r>
              <a:rPr lang="en-US" sz="10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28" name="Shape 26"/>
          <p:cNvSpPr/>
          <p:nvPr/>
        </p:nvSpPr>
        <p:spPr>
          <a:xfrm>
            <a:off x="6365875" y="1311276"/>
            <a:ext cx="5349875" cy="952500"/>
          </a:xfrm>
          <a:custGeom>
            <a:avLst/>
            <a:gdLst/>
            <a:ahLst/>
            <a:cxnLst/>
            <a:rect l="l" t="t" r="r" b="b"/>
            <a:pathLst>
              <a:path w="5349875" h="952500">
                <a:moveTo>
                  <a:pt x="63503" y="0"/>
                </a:moveTo>
                <a:lnTo>
                  <a:pt x="5286372" y="0"/>
                </a:lnTo>
                <a:cubicBezTo>
                  <a:pt x="5321444" y="0"/>
                  <a:pt x="5349875" y="28431"/>
                  <a:pt x="5349875" y="63503"/>
                </a:cubicBezTo>
                <a:lnTo>
                  <a:pt x="5349875" y="888997"/>
                </a:lnTo>
                <a:cubicBezTo>
                  <a:pt x="5349875" y="924069"/>
                  <a:pt x="5321444" y="952500"/>
                  <a:pt x="5286372" y="952500"/>
                </a:cubicBezTo>
                <a:lnTo>
                  <a:pt x="63503" y="952500"/>
                </a:lnTo>
                <a:cubicBezTo>
                  <a:pt x="28431" y="952500"/>
                  <a:pt x="0" y="924069"/>
                  <a:pt x="0" y="888997"/>
                </a:cubicBezTo>
                <a:lnTo>
                  <a:pt x="0" y="63503"/>
                </a:lnTo>
                <a:cubicBezTo>
                  <a:pt x="0" y="28431"/>
                  <a:pt x="28431" y="0"/>
                  <a:pt x="63503" y="0"/>
                </a:cubicBezTo>
                <a:close/>
              </a:path>
            </a:pathLst>
          </a:custGeom>
          <a:solidFill>
            <a:srgbClr val="1A1D21">
              <a:alpha val="50196"/>
            </a:srgbClr>
          </a:solidFill>
          <a:ln/>
        </p:spPr>
        <p:txBody>
          <a:bodyPr/>
          <a:lstStyle/>
          <a:p>
            <a:endParaRPr lang="zh-CN" altLang="en-US"/>
          </a:p>
        </p:txBody>
      </p:sp>
      <p:sp>
        <p:nvSpPr>
          <p:cNvPr id="29" name="Shape 27"/>
          <p:cNvSpPr/>
          <p:nvPr/>
        </p:nvSpPr>
        <p:spPr>
          <a:xfrm>
            <a:off x="6492875" y="1438276"/>
            <a:ext cx="388938" cy="222250"/>
          </a:xfrm>
          <a:custGeom>
            <a:avLst/>
            <a:gdLst/>
            <a:ahLst/>
            <a:cxnLst/>
            <a:rect l="l" t="t" r="r" b="b"/>
            <a:pathLst>
              <a:path w="388938" h="222250">
                <a:moveTo>
                  <a:pt x="31751" y="0"/>
                </a:moveTo>
                <a:lnTo>
                  <a:pt x="357187" y="0"/>
                </a:lnTo>
                <a:cubicBezTo>
                  <a:pt x="374722" y="0"/>
                  <a:pt x="388938" y="14215"/>
                  <a:pt x="388938" y="31751"/>
                </a:cubicBezTo>
                <a:lnTo>
                  <a:pt x="388938" y="190499"/>
                </a:lnTo>
                <a:cubicBezTo>
                  <a:pt x="388938" y="208035"/>
                  <a:pt x="374722" y="222250"/>
                  <a:pt x="357187" y="222250"/>
                </a:cubicBezTo>
                <a:lnTo>
                  <a:pt x="31751" y="222250"/>
                </a:lnTo>
                <a:cubicBezTo>
                  <a:pt x="14227" y="222250"/>
                  <a:pt x="0" y="208023"/>
                  <a:pt x="0" y="190499"/>
                </a:cubicBezTo>
                <a:lnTo>
                  <a:pt x="0" y="31751"/>
                </a:lnTo>
                <a:cubicBezTo>
                  <a:pt x="0" y="14227"/>
                  <a:pt x="14227" y="0"/>
                  <a:pt x="31751" y="0"/>
                </a:cubicBezTo>
                <a:close/>
              </a:path>
            </a:pathLst>
          </a:custGeom>
          <a:solidFill>
            <a:srgbClr val="3D8B75">
              <a:alpha val="20000"/>
            </a:srgbClr>
          </a:solidFill>
          <a:ln/>
        </p:spPr>
        <p:txBody>
          <a:bodyPr/>
          <a:lstStyle/>
          <a:p>
            <a:endParaRPr lang="zh-CN" altLang="en-US"/>
          </a:p>
        </p:txBody>
      </p:sp>
      <p:sp>
        <p:nvSpPr>
          <p:cNvPr id="30" name="Text 28"/>
          <p:cNvSpPr/>
          <p:nvPr/>
        </p:nvSpPr>
        <p:spPr>
          <a:xfrm>
            <a:off x="6492875" y="1438276"/>
            <a:ext cx="444500" cy="222250"/>
          </a:xfrm>
          <a:prstGeom prst="rect">
            <a:avLst/>
          </a:prstGeom>
          <a:noFill/>
          <a:ln/>
        </p:spPr>
        <p:txBody>
          <a:bodyPr wrap="square" lIns="95250" tIns="31750" rIns="95250" bIns="31750" rtlCol="0" anchor="ctr"/>
          <a:lstStyle/>
          <a:p>
            <a:pPr>
              <a:lnSpc>
                <a:spcPct val="120000"/>
              </a:lnSpc>
            </a:pPr>
            <a:r>
              <a:rPr lang="en-US" sz="875" b="1" dirty="0">
                <a:solidFill>
                  <a:srgbClr val="3D8B75"/>
                </a:solidFill>
                <a:latin typeface="Noto Sans SC" pitchFamily="34" charset="0"/>
                <a:ea typeface="Noto Sans SC" pitchFamily="34" charset="-122"/>
                <a:cs typeface="Noto Sans SC" pitchFamily="34" charset="-120"/>
              </a:rPr>
              <a:t>Key</a:t>
            </a:r>
            <a:endParaRPr lang="en-US" sz="1600" dirty="0"/>
          </a:p>
        </p:txBody>
      </p:sp>
      <p:sp>
        <p:nvSpPr>
          <p:cNvPr id="31" name="Text 29"/>
          <p:cNvSpPr/>
          <p:nvPr/>
        </p:nvSpPr>
        <p:spPr>
          <a:xfrm>
            <a:off x="6492875" y="1724026"/>
            <a:ext cx="5159375" cy="412750"/>
          </a:xfrm>
          <a:prstGeom prst="rect">
            <a:avLst/>
          </a:prstGeom>
          <a:noFill/>
          <a:ln/>
        </p:spPr>
        <p:txBody>
          <a:bodyPr wrap="square" lIns="0" tIns="0" rIns="0" bIns="0" rtlCol="0" anchor="ctr"/>
          <a:lstStyle/>
          <a:p>
            <a:pPr>
              <a:lnSpc>
                <a:spcPct val="140000"/>
              </a:lnSpc>
            </a:pPr>
            <a:r>
              <a:rPr lang="en-US" sz="1000" b="1" dirty="0">
                <a:solidFill>
                  <a:srgbClr val="E0E2E5">
                    <a:alpha val="80000"/>
                  </a:srgbClr>
                </a:solidFill>
                <a:latin typeface="Noto Sans SC" pitchFamily="34" charset="0"/>
                <a:ea typeface="Noto Sans SC" pitchFamily="34" charset="-122"/>
                <a:cs typeface="Noto Sans SC" pitchFamily="34" charset="-120"/>
              </a:rPr>
              <a:t>头相似性感知重排序</a:t>
            </a:r>
            <a:r>
              <a:rPr lang="en-US" sz="1000" dirty="0">
                <a:solidFill>
                  <a:srgbClr val="E0E2E5">
                    <a:alpha val="80000"/>
                  </a:srgbClr>
                </a:solidFill>
                <a:latin typeface="Noto Sans SC" pitchFamily="34" charset="0"/>
                <a:ea typeface="Noto Sans SC" pitchFamily="34" charset="-122"/>
                <a:cs typeface="Noto Sans SC" pitchFamily="34" charset="-120"/>
              </a:rPr>
              <a:t>（Head-wise Similarity-aware Reordering），将结构相似的注意力头聚为若干组后再执行分组 SVD。</a:t>
            </a:r>
            <a:endParaRPr lang="en-US" sz="1600" dirty="0"/>
          </a:p>
        </p:txBody>
      </p:sp>
      <p:sp>
        <p:nvSpPr>
          <p:cNvPr id="32" name="Shape 30"/>
          <p:cNvSpPr/>
          <p:nvPr/>
        </p:nvSpPr>
        <p:spPr>
          <a:xfrm>
            <a:off x="6365875" y="2359026"/>
            <a:ext cx="5349875" cy="746125"/>
          </a:xfrm>
          <a:custGeom>
            <a:avLst/>
            <a:gdLst/>
            <a:ahLst/>
            <a:cxnLst/>
            <a:rect l="l" t="t" r="r" b="b"/>
            <a:pathLst>
              <a:path w="5349875" h="746125">
                <a:moveTo>
                  <a:pt x="63503" y="0"/>
                </a:moveTo>
                <a:lnTo>
                  <a:pt x="5286372" y="0"/>
                </a:lnTo>
                <a:cubicBezTo>
                  <a:pt x="5321444" y="0"/>
                  <a:pt x="5349875" y="28431"/>
                  <a:pt x="5349875" y="63503"/>
                </a:cubicBezTo>
                <a:lnTo>
                  <a:pt x="5349875" y="682622"/>
                </a:lnTo>
                <a:cubicBezTo>
                  <a:pt x="5349875" y="717694"/>
                  <a:pt x="5321444" y="746125"/>
                  <a:pt x="5286372" y="746125"/>
                </a:cubicBezTo>
                <a:lnTo>
                  <a:pt x="63503" y="746125"/>
                </a:lnTo>
                <a:cubicBezTo>
                  <a:pt x="28431" y="746125"/>
                  <a:pt x="0" y="717694"/>
                  <a:pt x="0" y="682622"/>
                </a:cubicBezTo>
                <a:lnTo>
                  <a:pt x="0" y="63503"/>
                </a:lnTo>
                <a:cubicBezTo>
                  <a:pt x="0" y="28431"/>
                  <a:pt x="28431" y="0"/>
                  <a:pt x="63503" y="0"/>
                </a:cubicBezTo>
                <a:close/>
              </a:path>
            </a:pathLst>
          </a:custGeom>
          <a:solidFill>
            <a:srgbClr val="1A1D21">
              <a:alpha val="50196"/>
            </a:srgbClr>
          </a:solidFill>
          <a:ln/>
        </p:spPr>
        <p:txBody>
          <a:bodyPr/>
          <a:lstStyle/>
          <a:p>
            <a:endParaRPr lang="zh-CN" altLang="en-US"/>
          </a:p>
        </p:txBody>
      </p:sp>
      <p:sp>
        <p:nvSpPr>
          <p:cNvPr id="33" name="Shape 31"/>
          <p:cNvSpPr/>
          <p:nvPr/>
        </p:nvSpPr>
        <p:spPr>
          <a:xfrm>
            <a:off x="6492875" y="2486026"/>
            <a:ext cx="484187" cy="222250"/>
          </a:xfrm>
          <a:custGeom>
            <a:avLst/>
            <a:gdLst/>
            <a:ahLst/>
            <a:cxnLst/>
            <a:rect l="l" t="t" r="r" b="b"/>
            <a:pathLst>
              <a:path w="484187" h="222250">
                <a:moveTo>
                  <a:pt x="31751" y="0"/>
                </a:moveTo>
                <a:lnTo>
                  <a:pt x="452437" y="0"/>
                </a:lnTo>
                <a:cubicBezTo>
                  <a:pt x="469972" y="0"/>
                  <a:pt x="484187" y="14215"/>
                  <a:pt x="484187" y="31751"/>
                </a:cubicBezTo>
                <a:lnTo>
                  <a:pt x="484187" y="190499"/>
                </a:lnTo>
                <a:cubicBezTo>
                  <a:pt x="484187" y="208035"/>
                  <a:pt x="469972" y="222250"/>
                  <a:pt x="452437" y="222250"/>
                </a:cubicBezTo>
                <a:lnTo>
                  <a:pt x="31751" y="222250"/>
                </a:lnTo>
                <a:cubicBezTo>
                  <a:pt x="14227" y="222250"/>
                  <a:pt x="0" y="208023"/>
                  <a:pt x="0" y="190499"/>
                </a:cubicBezTo>
                <a:lnTo>
                  <a:pt x="0" y="31751"/>
                </a:lnTo>
                <a:cubicBezTo>
                  <a:pt x="0" y="14227"/>
                  <a:pt x="14227" y="0"/>
                  <a:pt x="31751" y="0"/>
                </a:cubicBezTo>
                <a:close/>
              </a:path>
            </a:pathLst>
          </a:custGeom>
          <a:solidFill>
            <a:srgbClr val="C9A86A">
              <a:alpha val="20000"/>
            </a:srgbClr>
          </a:solidFill>
          <a:ln/>
        </p:spPr>
        <p:txBody>
          <a:bodyPr/>
          <a:lstStyle/>
          <a:p>
            <a:endParaRPr lang="zh-CN" altLang="en-US"/>
          </a:p>
        </p:txBody>
      </p:sp>
      <p:sp>
        <p:nvSpPr>
          <p:cNvPr id="34" name="Text 32"/>
          <p:cNvSpPr/>
          <p:nvPr/>
        </p:nvSpPr>
        <p:spPr>
          <a:xfrm>
            <a:off x="6492875" y="2486026"/>
            <a:ext cx="539750" cy="222250"/>
          </a:xfrm>
          <a:prstGeom prst="rect">
            <a:avLst/>
          </a:prstGeom>
          <a:noFill/>
          <a:ln/>
        </p:spPr>
        <p:txBody>
          <a:bodyPr wrap="square" lIns="95250" tIns="31750" rIns="95250" bIns="31750" rtlCol="0" anchor="ctr"/>
          <a:lstStyle/>
          <a:p>
            <a:pPr>
              <a:lnSpc>
                <a:spcPct val="120000"/>
              </a:lnSpc>
            </a:pPr>
            <a:r>
              <a:rPr lang="en-US" sz="875" b="1" dirty="0">
                <a:solidFill>
                  <a:srgbClr val="C9A86A"/>
                </a:solidFill>
                <a:latin typeface="Noto Sans SC" pitchFamily="34" charset="0"/>
                <a:ea typeface="Noto Sans SC" pitchFamily="34" charset="-122"/>
                <a:cs typeface="Noto Sans SC" pitchFamily="34" charset="-120"/>
              </a:rPr>
              <a:t>Value</a:t>
            </a:r>
            <a:endParaRPr lang="en-US" sz="1600" dirty="0"/>
          </a:p>
        </p:txBody>
      </p:sp>
      <p:sp>
        <p:nvSpPr>
          <p:cNvPr id="35" name="Text 33"/>
          <p:cNvSpPr/>
          <p:nvPr/>
        </p:nvSpPr>
        <p:spPr>
          <a:xfrm>
            <a:off x="6492875" y="2771776"/>
            <a:ext cx="5159375" cy="206375"/>
          </a:xfrm>
          <a:prstGeom prst="rect">
            <a:avLst/>
          </a:prstGeom>
          <a:noFill/>
          <a:ln/>
        </p:spPr>
        <p:txBody>
          <a:bodyPr wrap="square" lIns="0" tIns="0" rIns="0" bIns="0" rtlCol="0" anchor="ctr"/>
          <a:lstStyle/>
          <a:p>
            <a:pPr>
              <a:lnSpc>
                <a:spcPct val="140000"/>
              </a:lnSpc>
            </a:pPr>
            <a:r>
              <a:rPr lang="en-US" sz="1000" b="1" dirty="0">
                <a:solidFill>
                  <a:srgbClr val="E0E2E5">
                    <a:alpha val="80000"/>
                  </a:srgbClr>
                </a:solidFill>
                <a:latin typeface="Noto Sans SC" pitchFamily="34" charset="0"/>
                <a:ea typeface="Noto Sans SC" pitchFamily="34" charset="-122"/>
                <a:cs typeface="Noto Sans SC" pitchFamily="34" charset="-120"/>
              </a:rPr>
              <a:t>离线校准</a:t>
            </a:r>
            <a:r>
              <a:rPr lang="en-US" sz="1000" dirty="0">
                <a:solidFill>
                  <a:srgbClr val="E0E2E5">
                    <a:alpha val="80000"/>
                  </a:srgbClr>
                </a:solidFill>
                <a:latin typeface="Noto Sans SC" pitchFamily="34" charset="0"/>
                <a:ea typeface="Noto Sans SC" pitchFamily="34" charset="-122"/>
                <a:cs typeface="Noto Sans SC" pitchFamily="34" charset="-120"/>
              </a:rPr>
              <a:t>（Offline Calibration）机制，利用少量无标注数据预先优化投影矩阵。</a:t>
            </a:r>
            <a:endParaRPr lang="en-US" sz="1600" dirty="0"/>
          </a:p>
        </p:txBody>
      </p:sp>
      <p:sp>
        <p:nvSpPr>
          <p:cNvPr id="36" name="Shape 34"/>
          <p:cNvSpPr/>
          <p:nvPr/>
        </p:nvSpPr>
        <p:spPr>
          <a:xfrm>
            <a:off x="6365875" y="3200401"/>
            <a:ext cx="5349875" cy="666750"/>
          </a:xfrm>
          <a:custGeom>
            <a:avLst/>
            <a:gdLst/>
            <a:ahLst/>
            <a:cxnLst/>
            <a:rect l="l" t="t" r="r" b="b"/>
            <a:pathLst>
              <a:path w="5349875" h="666750">
                <a:moveTo>
                  <a:pt x="63501" y="0"/>
                </a:moveTo>
                <a:lnTo>
                  <a:pt x="5286374" y="0"/>
                </a:lnTo>
                <a:cubicBezTo>
                  <a:pt x="5321445" y="0"/>
                  <a:pt x="5349875" y="28430"/>
                  <a:pt x="5349875" y="63501"/>
                </a:cubicBezTo>
                <a:lnTo>
                  <a:pt x="5349875" y="603249"/>
                </a:lnTo>
                <a:cubicBezTo>
                  <a:pt x="5349875" y="638320"/>
                  <a:pt x="5321445" y="666750"/>
                  <a:pt x="5286374" y="666750"/>
                </a:cubicBezTo>
                <a:lnTo>
                  <a:pt x="63501" y="666750"/>
                </a:lnTo>
                <a:cubicBezTo>
                  <a:pt x="28430" y="666750"/>
                  <a:pt x="0" y="638320"/>
                  <a:pt x="0" y="603249"/>
                </a:cubicBezTo>
                <a:lnTo>
                  <a:pt x="0" y="63501"/>
                </a:lnTo>
                <a:cubicBezTo>
                  <a:pt x="0" y="28454"/>
                  <a:pt x="28454" y="0"/>
                  <a:pt x="63501" y="0"/>
                </a:cubicBezTo>
                <a:close/>
              </a:path>
            </a:pathLst>
          </a:custGeom>
          <a:solidFill>
            <a:srgbClr val="3D8B75">
              <a:alpha val="20000"/>
            </a:srgbClr>
          </a:solidFill>
          <a:ln/>
        </p:spPr>
        <p:txBody>
          <a:bodyPr/>
          <a:lstStyle/>
          <a:p>
            <a:endParaRPr lang="zh-CN" altLang="en-US"/>
          </a:p>
        </p:txBody>
      </p:sp>
      <p:sp>
        <p:nvSpPr>
          <p:cNvPr id="37" name="Text 35"/>
          <p:cNvSpPr/>
          <p:nvPr/>
        </p:nvSpPr>
        <p:spPr>
          <a:xfrm>
            <a:off x="6401594" y="3295651"/>
            <a:ext cx="5278438" cy="285750"/>
          </a:xfrm>
          <a:prstGeom prst="rect">
            <a:avLst/>
          </a:prstGeom>
          <a:noFill/>
          <a:ln/>
        </p:spPr>
        <p:txBody>
          <a:bodyPr wrap="square" lIns="0" tIns="0" rIns="0" bIns="0" rtlCol="0" anchor="ctr"/>
          <a:lstStyle/>
          <a:p>
            <a:pPr algn="ctr">
              <a:lnSpc>
                <a:spcPct val="100000"/>
              </a:lnSpc>
            </a:pPr>
            <a:r>
              <a:rPr lang="en-US" sz="1875" b="1" dirty="0">
                <a:solidFill>
                  <a:srgbClr val="3D8B75"/>
                </a:solidFill>
                <a:latin typeface="Noto Sans SC" pitchFamily="34" charset="0"/>
                <a:ea typeface="Noto Sans SC" pitchFamily="34" charset="-122"/>
                <a:cs typeface="Noto Sans SC" pitchFamily="34" charset="-120"/>
              </a:rPr>
              <a:t>8× 压缩比</a:t>
            </a:r>
            <a:endParaRPr lang="en-US" sz="1600" dirty="0"/>
          </a:p>
        </p:txBody>
      </p:sp>
      <p:sp>
        <p:nvSpPr>
          <p:cNvPr id="38" name="Text 36"/>
          <p:cNvSpPr/>
          <p:nvPr/>
        </p:nvSpPr>
        <p:spPr>
          <a:xfrm>
            <a:off x="6433344" y="3613151"/>
            <a:ext cx="5214938" cy="158750"/>
          </a:xfrm>
          <a:prstGeom prst="rect">
            <a:avLst/>
          </a:prstGeom>
          <a:noFill/>
          <a:ln/>
        </p:spPr>
        <p:txBody>
          <a:bodyPr wrap="square" lIns="0" tIns="0" rIns="0" bIns="0" rtlCol="0" anchor="ctr"/>
          <a:lstStyle/>
          <a:p>
            <a:pPr algn="ctr">
              <a:lnSpc>
                <a:spcPct val="120000"/>
              </a:lnSpc>
            </a:pPr>
            <a:r>
              <a:rPr lang="en-US" sz="875" dirty="0">
                <a:solidFill>
                  <a:srgbClr val="E0E2E5">
                    <a:alpha val="70000"/>
                  </a:srgbClr>
                </a:solidFill>
                <a:latin typeface="Noto Sans SC" pitchFamily="34" charset="0"/>
                <a:ea typeface="Noto Sans SC" pitchFamily="34" charset="-122"/>
                <a:cs typeface="Noto Sans SC" pitchFamily="34" charset="-120"/>
              </a:rPr>
              <a:t>维持极低性能退化</a:t>
            </a:r>
            <a:endParaRPr lang="en-US" sz="1600" dirty="0"/>
          </a:p>
        </p:txBody>
      </p:sp>
      <p:sp>
        <p:nvSpPr>
          <p:cNvPr id="39" name="Shape 37"/>
          <p:cNvSpPr/>
          <p:nvPr/>
        </p:nvSpPr>
        <p:spPr>
          <a:xfrm>
            <a:off x="6191250" y="4152901"/>
            <a:ext cx="5683250" cy="1841500"/>
          </a:xfrm>
          <a:custGeom>
            <a:avLst/>
            <a:gdLst/>
            <a:ahLst/>
            <a:cxnLst/>
            <a:rect l="l" t="t" r="r" b="b"/>
            <a:pathLst>
              <a:path w="5683250" h="1841500">
                <a:moveTo>
                  <a:pt x="31750" y="0"/>
                </a:moveTo>
                <a:lnTo>
                  <a:pt x="5619755" y="0"/>
                </a:lnTo>
                <a:cubicBezTo>
                  <a:pt x="5654822" y="0"/>
                  <a:pt x="5683250" y="28428"/>
                  <a:pt x="5683250" y="63495"/>
                </a:cubicBezTo>
                <a:lnTo>
                  <a:pt x="5683250" y="1778005"/>
                </a:lnTo>
                <a:cubicBezTo>
                  <a:pt x="5683250" y="1813072"/>
                  <a:pt x="5654822" y="1841500"/>
                  <a:pt x="5619755" y="1841500"/>
                </a:cubicBezTo>
                <a:lnTo>
                  <a:pt x="31750" y="1841500"/>
                </a:lnTo>
                <a:cubicBezTo>
                  <a:pt x="14227" y="1841500"/>
                  <a:pt x="0" y="1827273"/>
                  <a:pt x="0" y="1809750"/>
                </a:cubicBezTo>
                <a:lnTo>
                  <a:pt x="0" y="31750"/>
                </a:lnTo>
                <a:cubicBezTo>
                  <a:pt x="0" y="14227"/>
                  <a:pt x="14227" y="0"/>
                  <a:pt x="31750" y="0"/>
                </a:cubicBezTo>
                <a:close/>
              </a:path>
            </a:pathLst>
          </a:custGeom>
          <a:solidFill>
            <a:srgbClr val="3D8B75">
              <a:alpha val="10196"/>
            </a:srgbClr>
          </a:solidFill>
          <a:ln/>
        </p:spPr>
        <p:txBody>
          <a:bodyPr/>
          <a:lstStyle/>
          <a:p>
            <a:endParaRPr lang="zh-CN" altLang="en-US"/>
          </a:p>
        </p:txBody>
      </p:sp>
      <p:sp>
        <p:nvSpPr>
          <p:cNvPr id="40" name="Shape 38"/>
          <p:cNvSpPr/>
          <p:nvPr/>
        </p:nvSpPr>
        <p:spPr>
          <a:xfrm>
            <a:off x="6191250" y="4152901"/>
            <a:ext cx="31750" cy="1841500"/>
          </a:xfrm>
          <a:custGeom>
            <a:avLst/>
            <a:gdLst/>
            <a:ahLst/>
            <a:cxnLst/>
            <a:rect l="l" t="t" r="r" b="b"/>
            <a:pathLst>
              <a:path w="31750" h="1841500">
                <a:moveTo>
                  <a:pt x="31750" y="0"/>
                </a:moveTo>
                <a:lnTo>
                  <a:pt x="31750" y="0"/>
                </a:lnTo>
                <a:lnTo>
                  <a:pt x="31750" y="1841500"/>
                </a:lnTo>
                <a:lnTo>
                  <a:pt x="31750" y="1841500"/>
                </a:lnTo>
                <a:cubicBezTo>
                  <a:pt x="14227" y="1841500"/>
                  <a:pt x="0" y="1827273"/>
                  <a:pt x="0" y="1809750"/>
                </a:cubicBezTo>
                <a:lnTo>
                  <a:pt x="0" y="31750"/>
                </a:lnTo>
                <a:cubicBezTo>
                  <a:pt x="0" y="14227"/>
                  <a:pt x="14227" y="0"/>
                  <a:pt x="31750" y="0"/>
                </a:cubicBezTo>
                <a:close/>
              </a:path>
            </a:pathLst>
          </a:custGeom>
          <a:solidFill>
            <a:srgbClr val="3D8B75"/>
          </a:solidFill>
          <a:ln/>
        </p:spPr>
        <p:txBody>
          <a:bodyPr/>
          <a:lstStyle/>
          <a:p>
            <a:endParaRPr lang="zh-CN" altLang="en-US"/>
          </a:p>
        </p:txBody>
      </p:sp>
      <p:sp>
        <p:nvSpPr>
          <p:cNvPr id="41" name="Text 39"/>
          <p:cNvSpPr/>
          <p:nvPr/>
        </p:nvSpPr>
        <p:spPr>
          <a:xfrm>
            <a:off x="6365875" y="4311651"/>
            <a:ext cx="5429250"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其他方法</a:t>
            </a:r>
            <a:endParaRPr lang="en-US" sz="1600" dirty="0"/>
          </a:p>
        </p:txBody>
      </p:sp>
      <p:sp>
        <p:nvSpPr>
          <p:cNvPr id="42" name="Shape 40"/>
          <p:cNvSpPr/>
          <p:nvPr/>
        </p:nvSpPr>
        <p:spPr>
          <a:xfrm>
            <a:off x="6365875" y="4629151"/>
            <a:ext cx="5349875" cy="571500"/>
          </a:xfrm>
          <a:custGeom>
            <a:avLst/>
            <a:gdLst/>
            <a:ahLst/>
            <a:cxnLst/>
            <a:rect l="l" t="t" r="r" b="b"/>
            <a:pathLst>
              <a:path w="5349875" h="571500">
                <a:moveTo>
                  <a:pt x="63499" y="0"/>
                </a:moveTo>
                <a:lnTo>
                  <a:pt x="5286376" y="0"/>
                </a:lnTo>
                <a:cubicBezTo>
                  <a:pt x="5321445" y="0"/>
                  <a:pt x="5349875" y="28430"/>
                  <a:pt x="5349875" y="63499"/>
                </a:cubicBezTo>
                <a:lnTo>
                  <a:pt x="5349875" y="508001"/>
                </a:lnTo>
                <a:cubicBezTo>
                  <a:pt x="5349875" y="543070"/>
                  <a:pt x="5321445" y="571500"/>
                  <a:pt x="5286376" y="571500"/>
                </a:cubicBezTo>
                <a:lnTo>
                  <a:pt x="63499" y="571500"/>
                </a:lnTo>
                <a:cubicBezTo>
                  <a:pt x="28430" y="571500"/>
                  <a:pt x="0" y="543070"/>
                  <a:pt x="0" y="508001"/>
                </a:cubicBezTo>
                <a:lnTo>
                  <a:pt x="0" y="63499"/>
                </a:lnTo>
                <a:cubicBezTo>
                  <a:pt x="0" y="28453"/>
                  <a:pt x="28453" y="0"/>
                  <a:pt x="63499" y="0"/>
                </a:cubicBezTo>
                <a:close/>
              </a:path>
            </a:pathLst>
          </a:custGeom>
          <a:solidFill>
            <a:srgbClr val="1A1D21">
              <a:alpha val="50196"/>
            </a:srgbClr>
          </a:solidFill>
          <a:ln/>
        </p:spPr>
        <p:txBody>
          <a:bodyPr/>
          <a:lstStyle/>
          <a:p>
            <a:endParaRPr lang="zh-CN" altLang="en-US"/>
          </a:p>
        </p:txBody>
      </p:sp>
      <p:sp>
        <p:nvSpPr>
          <p:cNvPr id="43" name="Text 41"/>
          <p:cNvSpPr/>
          <p:nvPr/>
        </p:nvSpPr>
        <p:spPr>
          <a:xfrm>
            <a:off x="6461125" y="4724401"/>
            <a:ext cx="5222875"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xKV</a:t>
            </a:r>
            <a:endParaRPr lang="en-US" sz="1600" dirty="0"/>
          </a:p>
        </p:txBody>
      </p:sp>
      <p:sp>
        <p:nvSpPr>
          <p:cNvPr id="44" name="Text 42"/>
          <p:cNvSpPr/>
          <p:nvPr/>
        </p:nvSpPr>
        <p:spPr>
          <a:xfrm>
            <a:off x="6461125" y="4946651"/>
            <a:ext cx="5214938" cy="158750"/>
          </a:xfrm>
          <a:prstGeom prst="rect">
            <a:avLst/>
          </a:prstGeom>
          <a:noFill/>
          <a:ln/>
        </p:spPr>
        <p:txBody>
          <a:bodyPr wrap="square" lIns="0" tIns="0" rIns="0" bIns="0" rtlCol="0" anchor="ctr"/>
          <a:lstStyle/>
          <a:p>
            <a:pPr>
              <a:lnSpc>
                <a:spcPct val="120000"/>
              </a:lnSpc>
            </a:pPr>
            <a:r>
              <a:rPr lang="en-US" sz="875" dirty="0">
                <a:solidFill>
                  <a:srgbClr val="E0E2E5">
                    <a:alpha val="70000"/>
                  </a:srgbClr>
                </a:solidFill>
                <a:latin typeface="Noto Sans SC" pitchFamily="34" charset="0"/>
                <a:ea typeface="Noto Sans SC" pitchFamily="34" charset="-122"/>
                <a:cs typeface="Noto Sans SC" pitchFamily="34" charset="-120"/>
              </a:rPr>
              <a:t>跨层 SVD 共享，多层 KV 联合压缩</a:t>
            </a:r>
            <a:endParaRPr lang="en-US" sz="1600" dirty="0"/>
          </a:p>
        </p:txBody>
      </p:sp>
      <p:sp>
        <p:nvSpPr>
          <p:cNvPr id="45" name="Shape 43"/>
          <p:cNvSpPr/>
          <p:nvPr/>
        </p:nvSpPr>
        <p:spPr>
          <a:xfrm>
            <a:off x="6365875" y="5264151"/>
            <a:ext cx="5349875" cy="571500"/>
          </a:xfrm>
          <a:custGeom>
            <a:avLst/>
            <a:gdLst/>
            <a:ahLst/>
            <a:cxnLst/>
            <a:rect l="l" t="t" r="r" b="b"/>
            <a:pathLst>
              <a:path w="5349875" h="571500">
                <a:moveTo>
                  <a:pt x="63499" y="0"/>
                </a:moveTo>
                <a:lnTo>
                  <a:pt x="5286376" y="0"/>
                </a:lnTo>
                <a:cubicBezTo>
                  <a:pt x="5321445" y="0"/>
                  <a:pt x="5349875" y="28430"/>
                  <a:pt x="5349875" y="63499"/>
                </a:cubicBezTo>
                <a:lnTo>
                  <a:pt x="5349875" y="508001"/>
                </a:lnTo>
                <a:cubicBezTo>
                  <a:pt x="5349875" y="543070"/>
                  <a:pt x="5321445" y="571500"/>
                  <a:pt x="5286376" y="571500"/>
                </a:cubicBezTo>
                <a:lnTo>
                  <a:pt x="63499" y="571500"/>
                </a:lnTo>
                <a:cubicBezTo>
                  <a:pt x="28430" y="571500"/>
                  <a:pt x="0" y="543070"/>
                  <a:pt x="0" y="508001"/>
                </a:cubicBezTo>
                <a:lnTo>
                  <a:pt x="0" y="63499"/>
                </a:lnTo>
                <a:cubicBezTo>
                  <a:pt x="0" y="28453"/>
                  <a:pt x="28453" y="0"/>
                  <a:pt x="63499" y="0"/>
                </a:cubicBezTo>
                <a:close/>
              </a:path>
            </a:pathLst>
          </a:custGeom>
          <a:solidFill>
            <a:srgbClr val="1A1D21">
              <a:alpha val="50196"/>
            </a:srgbClr>
          </a:solidFill>
          <a:ln/>
        </p:spPr>
        <p:txBody>
          <a:bodyPr/>
          <a:lstStyle/>
          <a:p>
            <a:endParaRPr lang="zh-CN" altLang="en-US"/>
          </a:p>
        </p:txBody>
      </p:sp>
      <p:sp>
        <p:nvSpPr>
          <p:cNvPr id="46" name="Text 44"/>
          <p:cNvSpPr/>
          <p:nvPr/>
        </p:nvSpPr>
        <p:spPr>
          <a:xfrm>
            <a:off x="6461125" y="5359401"/>
            <a:ext cx="5222875"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DeltaKV</a:t>
            </a:r>
            <a:endParaRPr lang="en-US" sz="1600" dirty="0"/>
          </a:p>
        </p:txBody>
      </p:sp>
      <p:sp>
        <p:nvSpPr>
          <p:cNvPr id="47" name="Text 45"/>
          <p:cNvSpPr/>
          <p:nvPr/>
        </p:nvSpPr>
        <p:spPr>
          <a:xfrm>
            <a:off x="6461125" y="5581651"/>
            <a:ext cx="5214938" cy="158750"/>
          </a:xfrm>
          <a:prstGeom prst="rect">
            <a:avLst/>
          </a:prstGeom>
          <a:noFill/>
          <a:ln/>
        </p:spPr>
        <p:txBody>
          <a:bodyPr wrap="square" lIns="0" tIns="0" rIns="0" bIns="0" rtlCol="0" anchor="ctr"/>
          <a:lstStyle/>
          <a:p>
            <a:pPr>
              <a:lnSpc>
                <a:spcPct val="120000"/>
              </a:lnSpc>
            </a:pPr>
            <a:r>
              <a:rPr lang="en-US" sz="875" dirty="0">
                <a:solidFill>
                  <a:srgbClr val="E0E2E5">
                    <a:alpha val="70000"/>
                  </a:srgbClr>
                </a:solidFill>
                <a:latin typeface="Noto Sans SC" pitchFamily="34" charset="0"/>
                <a:ea typeface="Noto Sans SC" pitchFamily="34" charset="-122"/>
                <a:cs typeface="Noto Sans SC" pitchFamily="34" charset="-120"/>
              </a:rPr>
              <a:t>残差/Delta 编码，仅存储局部变化量</a:t>
            </a:r>
            <a:endParaRPr lang="en-US" sz="1600" dirty="0"/>
          </a:p>
        </p:txBody>
      </p:sp>
      <p:sp>
        <p:nvSpPr>
          <p:cNvPr id="48" name="Shape 46"/>
          <p:cNvSpPr/>
          <p:nvPr/>
        </p:nvSpPr>
        <p:spPr>
          <a:xfrm>
            <a:off x="6191250" y="6121401"/>
            <a:ext cx="5683250" cy="460375"/>
          </a:xfrm>
          <a:custGeom>
            <a:avLst/>
            <a:gdLst/>
            <a:ahLst/>
            <a:cxnLst/>
            <a:rect l="l" t="t" r="r" b="b"/>
            <a:pathLst>
              <a:path w="5683250" h="460375">
                <a:moveTo>
                  <a:pt x="31750" y="0"/>
                </a:moveTo>
                <a:lnTo>
                  <a:pt x="5619750" y="0"/>
                </a:lnTo>
                <a:cubicBezTo>
                  <a:pt x="5654820" y="0"/>
                  <a:pt x="5683250" y="28430"/>
                  <a:pt x="5683250" y="63500"/>
                </a:cubicBezTo>
                <a:lnTo>
                  <a:pt x="5683250" y="396875"/>
                </a:lnTo>
                <a:cubicBezTo>
                  <a:pt x="5683250" y="431945"/>
                  <a:pt x="5654820" y="460375"/>
                  <a:pt x="5619750" y="460375"/>
                </a:cubicBezTo>
                <a:lnTo>
                  <a:pt x="31750" y="460375"/>
                </a:lnTo>
                <a:cubicBezTo>
                  <a:pt x="14227" y="460375"/>
                  <a:pt x="0" y="446148"/>
                  <a:pt x="0" y="428625"/>
                </a:cubicBezTo>
                <a:lnTo>
                  <a:pt x="0" y="31750"/>
                </a:lnTo>
                <a:cubicBezTo>
                  <a:pt x="0" y="14227"/>
                  <a:pt x="14227" y="0"/>
                  <a:pt x="31750" y="0"/>
                </a:cubicBezTo>
                <a:close/>
              </a:path>
            </a:pathLst>
          </a:custGeom>
          <a:solidFill>
            <a:srgbClr val="C9A86A">
              <a:alpha val="20000"/>
            </a:srgbClr>
          </a:solidFill>
          <a:ln/>
        </p:spPr>
        <p:txBody>
          <a:bodyPr/>
          <a:lstStyle/>
          <a:p>
            <a:endParaRPr lang="zh-CN" altLang="en-US"/>
          </a:p>
        </p:txBody>
      </p:sp>
      <p:sp>
        <p:nvSpPr>
          <p:cNvPr id="49" name="Shape 47"/>
          <p:cNvSpPr/>
          <p:nvPr/>
        </p:nvSpPr>
        <p:spPr>
          <a:xfrm>
            <a:off x="6191250" y="6121401"/>
            <a:ext cx="31750" cy="460375"/>
          </a:xfrm>
          <a:custGeom>
            <a:avLst/>
            <a:gdLst/>
            <a:ahLst/>
            <a:cxnLst/>
            <a:rect l="l" t="t" r="r" b="b"/>
            <a:pathLst>
              <a:path w="31750" h="460375">
                <a:moveTo>
                  <a:pt x="31750" y="0"/>
                </a:moveTo>
                <a:lnTo>
                  <a:pt x="31750" y="0"/>
                </a:lnTo>
                <a:lnTo>
                  <a:pt x="31750" y="460375"/>
                </a:lnTo>
                <a:lnTo>
                  <a:pt x="31750" y="460375"/>
                </a:lnTo>
                <a:cubicBezTo>
                  <a:pt x="14227" y="460375"/>
                  <a:pt x="0" y="446148"/>
                  <a:pt x="0" y="428625"/>
                </a:cubicBezTo>
                <a:lnTo>
                  <a:pt x="0" y="31750"/>
                </a:lnTo>
                <a:cubicBezTo>
                  <a:pt x="0" y="14227"/>
                  <a:pt x="14227" y="0"/>
                  <a:pt x="31750" y="0"/>
                </a:cubicBezTo>
                <a:close/>
              </a:path>
            </a:pathLst>
          </a:custGeom>
          <a:solidFill>
            <a:srgbClr val="C9A86A"/>
          </a:solidFill>
          <a:ln/>
        </p:spPr>
        <p:txBody>
          <a:bodyPr/>
          <a:lstStyle/>
          <a:p>
            <a:endParaRPr lang="zh-CN" altLang="en-US"/>
          </a:p>
        </p:txBody>
      </p:sp>
      <p:sp>
        <p:nvSpPr>
          <p:cNvPr id="50" name="Shape 48"/>
          <p:cNvSpPr/>
          <p:nvPr/>
        </p:nvSpPr>
        <p:spPr>
          <a:xfrm>
            <a:off x="6350000" y="6288089"/>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63500" y="33734"/>
                </a:moveTo>
                <a:cubicBezTo>
                  <a:pt x="66799" y="33734"/>
                  <a:pt x="69453" y="36388"/>
                  <a:pt x="69453" y="39688"/>
                </a:cubicBezTo>
                <a:lnTo>
                  <a:pt x="69453" y="67469"/>
                </a:lnTo>
                <a:cubicBezTo>
                  <a:pt x="69453" y="70768"/>
                  <a:pt x="66799" y="73422"/>
                  <a:pt x="63500" y="73422"/>
                </a:cubicBezTo>
                <a:cubicBezTo>
                  <a:pt x="60201" y="73422"/>
                  <a:pt x="57547" y="70768"/>
                  <a:pt x="57547" y="67469"/>
                </a:cubicBezTo>
                <a:lnTo>
                  <a:pt x="57547" y="39688"/>
                </a:lnTo>
                <a:cubicBezTo>
                  <a:pt x="57547" y="36388"/>
                  <a:pt x="60201" y="33734"/>
                  <a:pt x="63500" y="33734"/>
                </a:cubicBezTo>
                <a:close/>
                <a:moveTo>
                  <a:pt x="56877" y="87313"/>
                </a:moveTo>
                <a:cubicBezTo>
                  <a:pt x="56726" y="84854"/>
                  <a:pt x="57952" y="82515"/>
                  <a:pt x="60060" y="81241"/>
                </a:cubicBezTo>
                <a:cubicBezTo>
                  <a:pt x="62167" y="79966"/>
                  <a:pt x="64808" y="79966"/>
                  <a:pt x="66915" y="81241"/>
                </a:cubicBezTo>
                <a:cubicBezTo>
                  <a:pt x="69023" y="82515"/>
                  <a:pt x="70249" y="84854"/>
                  <a:pt x="70098" y="87313"/>
                </a:cubicBezTo>
                <a:cubicBezTo>
                  <a:pt x="70249" y="89771"/>
                  <a:pt x="69023" y="92110"/>
                  <a:pt x="66915" y="93384"/>
                </a:cubicBezTo>
                <a:cubicBezTo>
                  <a:pt x="64808" y="94659"/>
                  <a:pt x="62167" y="94659"/>
                  <a:pt x="60060" y="93384"/>
                </a:cubicBezTo>
                <a:cubicBezTo>
                  <a:pt x="57952" y="92110"/>
                  <a:pt x="56726" y="89771"/>
                  <a:pt x="56877" y="87313"/>
                </a:cubicBezTo>
                <a:close/>
              </a:path>
            </a:pathLst>
          </a:custGeom>
          <a:solidFill>
            <a:srgbClr val="C9A86A"/>
          </a:solidFill>
          <a:ln/>
        </p:spPr>
        <p:txBody>
          <a:bodyPr/>
          <a:lstStyle/>
          <a:p>
            <a:endParaRPr lang="zh-CN" altLang="en-US"/>
          </a:p>
        </p:txBody>
      </p:sp>
      <p:sp>
        <p:nvSpPr>
          <p:cNvPr id="51" name="Text 49"/>
          <p:cNvSpPr/>
          <p:nvPr/>
        </p:nvSpPr>
        <p:spPr>
          <a:xfrm>
            <a:off x="6532563" y="6248401"/>
            <a:ext cx="5278438" cy="206375"/>
          </a:xfrm>
          <a:prstGeom prst="rect">
            <a:avLst/>
          </a:prstGeom>
          <a:noFill/>
          <a:ln/>
        </p:spPr>
        <p:txBody>
          <a:bodyPr wrap="square" lIns="0" tIns="0" rIns="0" bIns="0" rtlCol="0" anchor="ctr"/>
          <a:lstStyle/>
          <a:p>
            <a:pPr>
              <a:lnSpc>
                <a:spcPct val="140000"/>
              </a:lnSpc>
            </a:pPr>
            <a:r>
              <a:rPr lang="en-US" sz="1000" b="1" dirty="0">
                <a:solidFill>
                  <a:srgbClr val="E0E2E5"/>
                </a:solidFill>
                <a:latin typeface="Noto Sans SC" pitchFamily="34" charset="0"/>
                <a:ea typeface="Noto Sans SC" pitchFamily="34" charset="-122"/>
                <a:cs typeface="Noto Sans SC" pitchFamily="34" charset="-120"/>
              </a:rPr>
              <a:t>工程瓶颈：</a:t>
            </a:r>
            <a:r>
              <a:rPr lang="en-US" sz="1000" dirty="0">
                <a:solidFill>
                  <a:srgbClr val="E0E2E5"/>
                </a:solidFill>
                <a:latin typeface="Noto Sans SC" pitchFamily="34" charset="0"/>
                <a:ea typeface="Noto Sans SC" pitchFamily="34" charset="-122"/>
                <a:cs typeface="Noto Sans SC" pitchFamily="34" charset="-120"/>
              </a:rPr>
              <a:t>自回归生成时的 SVD 矩阵乘法计算开销仍是最大现实挑战。</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STRUCTURE DIMENSION</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结构维压缩：跨层共享</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371600"/>
            <a:ext cx="3686175" cy="3067050"/>
          </a:xfrm>
          <a:custGeom>
            <a:avLst/>
            <a:gdLst/>
            <a:ahLst/>
            <a:cxnLst/>
            <a:rect l="l" t="t" r="r" b="b"/>
            <a:pathLst>
              <a:path w="3686175" h="3067050">
                <a:moveTo>
                  <a:pt x="38100" y="0"/>
                </a:moveTo>
                <a:lnTo>
                  <a:pt x="3609989" y="0"/>
                </a:lnTo>
                <a:cubicBezTo>
                  <a:pt x="3652066" y="0"/>
                  <a:pt x="3686175" y="34109"/>
                  <a:pt x="3686175" y="76186"/>
                </a:cubicBezTo>
                <a:lnTo>
                  <a:pt x="3686175" y="2990864"/>
                </a:lnTo>
                <a:cubicBezTo>
                  <a:pt x="3686175" y="3032941"/>
                  <a:pt x="3652066" y="3067050"/>
                  <a:pt x="3609989" y="3067050"/>
                </a:cubicBezTo>
                <a:lnTo>
                  <a:pt x="38100" y="3067050"/>
                </a:lnTo>
                <a:cubicBezTo>
                  <a:pt x="17058" y="3067050"/>
                  <a:pt x="0" y="3049992"/>
                  <a:pt x="0" y="302895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371600"/>
            <a:ext cx="38100" cy="3067050"/>
          </a:xfrm>
          <a:custGeom>
            <a:avLst/>
            <a:gdLst/>
            <a:ahLst/>
            <a:cxnLst/>
            <a:rect l="l" t="t" r="r" b="b"/>
            <a:pathLst>
              <a:path w="38100" h="3067050">
                <a:moveTo>
                  <a:pt x="38100" y="0"/>
                </a:moveTo>
                <a:lnTo>
                  <a:pt x="38100" y="0"/>
                </a:lnTo>
                <a:lnTo>
                  <a:pt x="38100" y="3067050"/>
                </a:lnTo>
                <a:lnTo>
                  <a:pt x="38100" y="3067050"/>
                </a:lnTo>
                <a:cubicBezTo>
                  <a:pt x="17072" y="3067050"/>
                  <a:pt x="0" y="3049978"/>
                  <a:pt x="0" y="302895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Shape 5"/>
          <p:cNvSpPr/>
          <p:nvPr/>
        </p:nvSpPr>
        <p:spPr>
          <a:xfrm>
            <a:off x="609600"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3D8B75"/>
          </a:solidFill>
          <a:ln/>
        </p:spPr>
        <p:txBody>
          <a:bodyPr/>
          <a:lstStyle/>
          <a:p>
            <a:endParaRPr lang="zh-CN" altLang="en-US"/>
          </a:p>
        </p:txBody>
      </p:sp>
      <p:sp>
        <p:nvSpPr>
          <p:cNvPr id="8" name="Shape 6"/>
          <p:cNvSpPr/>
          <p:nvPr/>
        </p:nvSpPr>
        <p:spPr>
          <a:xfrm>
            <a:off x="742950" y="1695450"/>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FFFFFF"/>
          </a:solidFill>
          <a:ln/>
        </p:spPr>
        <p:txBody>
          <a:bodyPr/>
          <a:lstStyle/>
          <a:p>
            <a:endParaRPr lang="zh-CN" altLang="en-US"/>
          </a:p>
        </p:txBody>
      </p:sp>
      <p:sp>
        <p:nvSpPr>
          <p:cNvPr id="9" name="Text 7"/>
          <p:cNvSpPr/>
          <p:nvPr/>
        </p:nvSpPr>
        <p:spPr>
          <a:xfrm>
            <a:off x="1181100" y="1657350"/>
            <a:ext cx="105727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MiniCache</a:t>
            </a:r>
            <a:endParaRPr lang="en-US" sz="1600" dirty="0"/>
          </a:p>
        </p:txBody>
      </p:sp>
      <p:sp>
        <p:nvSpPr>
          <p:cNvPr id="10" name="Text 8"/>
          <p:cNvSpPr/>
          <p:nvPr/>
        </p:nvSpPr>
        <p:spPr>
          <a:xfrm>
            <a:off x="609600" y="2171700"/>
            <a:ext cx="3362325" cy="13144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率先探索跨层压缩方向。基于</a:t>
            </a:r>
            <a:r>
              <a:rPr lang="en-US" sz="1200" b="1" dirty="0">
                <a:solidFill>
                  <a:srgbClr val="3D8B75"/>
                </a:solidFill>
                <a:latin typeface="Noto Sans SC" pitchFamily="34" charset="0"/>
                <a:ea typeface="Noto Sans SC" pitchFamily="34" charset="-122"/>
                <a:cs typeface="Noto Sans SC" pitchFamily="34" charset="-120"/>
              </a:rPr>
              <a:t>相邻层 KV Cache 状态高度相似</a:t>
            </a:r>
            <a:r>
              <a:rPr lang="en-US" sz="1200" dirty="0">
                <a:solidFill>
                  <a:srgbClr val="E0E2E5">
                    <a:alpha val="80000"/>
                  </a:srgbClr>
                </a:solidFill>
                <a:latin typeface="Noto Sans SC" pitchFamily="34" charset="0"/>
                <a:ea typeface="Noto Sans SC" pitchFamily="34" charset="-122"/>
                <a:cs typeface="Noto Sans SC" pitchFamily="34" charset="-120"/>
              </a:rPr>
              <a:t>的观察，提出沿网络深度（Depth Dimension）进行跨层合并的压缩策略。</a:t>
            </a:r>
            <a:endParaRPr lang="en-US" sz="1600" dirty="0"/>
          </a:p>
        </p:txBody>
      </p:sp>
      <p:sp>
        <p:nvSpPr>
          <p:cNvPr id="11" name="Shape 9"/>
          <p:cNvSpPr/>
          <p:nvPr/>
        </p:nvSpPr>
        <p:spPr>
          <a:xfrm>
            <a:off x="609600" y="3600450"/>
            <a:ext cx="3286125" cy="647700"/>
          </a:xfrm>
          <a:custGeom>
            <a:avLst/>
            <a:gdLst/>
            <a:ahLst/>
            <a:cxnLst/>
            <a:rect l="l" t="t" r="r" b="b"/>
            <a:pathLst>
              <a:path w="3286125" h="647700">
                <a:moveTo>
                  <a:pt x="76202" y="0"/>
                </a:moveTo>
                <a:lnTo>
                  <a:pt x="3209923" y="0"/>
                </a:lnTo>
                <a:cubicBezTo>
                  <a:pt x="3252008" y="0"/>
                  <a:pt x="3286125" y="34117"/>
                  <a:pt x="3286125" y="76202"/>
                </a:cubicBezTo>
                <a:lnTo>
                  <a:pt x="3286125" y="571498"/>
                </a:lnTo>
                <a:cubicBezTo>
                  <a:pt x="3286125" y="613583"/>
                  <a:pt x="3252008" y="647700"/>
                  <a:pt x="3209923" y="647700"/>
                </a:cubicBezTo>
                <a:lnTo>
                  <a:pt x="76202" y="647700"/>
                </a:lnTo>
                <a:cubicBezTo>
                  <a:pt x="34117" y="647700"/>
                  <a:pt x="0" y="613583"/>
                  <a:pt x="0" y="57149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12" name="Text 10"/>
          <p:cNvSpPr/>
          <p:nvPr/>
        </p:nvSpPr>
        <p:spPr>
          <a:xfrm>
            <a:off x="723900" y="3714750"/>
            <a:ext cx="3124200" cy="190500"/>
          </a:xfrm>
          <a:prstGeom prst="rect">
            <a:avLst/>
          </a:prstGeom>
          <a:noFill/>
          <a:ln/>
        </p:spPr>
        <p:txBody>
          <a:bodyPr wrap="square" lIns="0" tIns="0" rIns="0" bIns="0" rtlCol="0" anchor="ctr"/>
          <a:lstStyle/>
          <a:p>
            <a:pPr>
              <a:lnSpc>
                <a:spcPct val="120000"/>
              </a:lnSpc>
            </a:pPr>
            <a:r>
              <a:rPr lang="en-US" sz="1050" b="1" dirty="0">
                <a:solidFill>
                  <a:srgbClr val="3D8B75"/>
                </a:solidFill>
                <a:latin typeface="Noto Sans SC" pitchFamily="34" charset="0"/>
                <a:ea typeface="Noto Sans SC" pitchFamily="34" charset="-122"/>
                <a:cs typeface="Noto Sans SC" pitchFamily="34" charset="-120"/>
              </a:rPr>
              <a:t>核心策略</a:t>
            </a:r>
            <a:endParaRPr lang="en-US" sz="1600" dirty="0"/>
          </a:p>
        </p:txBody>
      </p:sp>
      <p:sp>
        <p:nvSpPr>
          <p:cNvPr id="13" name="Text 11"/>
          <p:cNvSpPr/>
          <p:nvPr/>
        </p:nvSpPr>
        <p:spPr>
          <a:xfrm>
            <a:off x="723900" y="3943350"/>
            <a:ext cx="3124200"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保留关键层的完整 KV，让相邻层共享近似表示</a:t>
            </a:r>
            <a:endParaRPr lang="en-US" sz="1600" dirty="0"/>
          </a:p>
        </p:txBody>
      </p:sp>
      <p:sp>
        <p:nvSpPr>
          <p:cNvPr id="14" name="Shape 12"/>
          <p:cNvSpPr/>
          <p:nvPr/>
        </p:nvSpPr>
        <p:spPr>
          <a:xfrm>
            <a:off x="4260800" y="1371600"/>
            <a:ext cx="3686175" cy="3067050"/>
          </a:xfrm>
          <a:custGeom>
            <a:avLst/>
            <a:gdLst/>
            <a:ahLst/>
            <a:cxnLst/>
            <a:rect l="l" t="t" r="r" b="b"/>
            <a:pathLst>
              <a:path w="3686175" h="3067050">
                <a:moveTo>
                  <a:pt x="38100" y="0"/>
                </a:moveTo>
                <a:lnTo>
                  <a:pt x="3609989" y="0"/>
                </a:lnTo>
                <a:cubicBezTo>
                  <a:pt x="3652066" y="0"/>
                  <a:pt x="3686175" y="34109"/>
                  <a:pt x="3686175" y="76186"/>
                </a:cubicBezTo>
                <a:lnTo>
                  <a:pt x="3686175" y="2990864"/>
                </a:lnTo>
                <a:cubicBezTo>
                  <a:pt x="3686175" y="3032941"/>
                  <a:pt x="3652066" y="3067050"/>
                  <a:pt x="3609989" y="3067050"/>
                </a:cubicBezTo>
                <a:lnTo>
                  <a:pt x="38100" y="3067050"/>
                </a:lnTo>
                <a:cubicBezTo>
                  <a:pt x="17058" y="3067050"/>
                  <a:pt x="0" y="3049992"/>
                  <a:pt x="0" y="302895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15" name="Shape 13"/>
          <p:cNvSpPr/>
          <p:nvPr/>
        </p:nvSpPr>
        <p:spPr>
          <a:xfrm>
            <a:off x="4260800" y="1371600"/>
            <a:ext cx="38100" cy="3067050"/>
          </a:xfrm>
          <a:custGeom>
            <a:avLst/>
            <a:gdLst/>
            <a:ahLst/>
            <a:cxnLst/>
            <a:rect l="l" t="t" r="r" b="b"/>
            <a:pathLst>
              <a:path w="38100" h="3067050">
                <a:moveTo>
                  <a:pt x="38100" y="0"/>
                </a:moveTo>
                <a:lnTo>
                  <a:pt x="38100" y="0"/>
                </a:lnTo>
                <a:lnTo>
                  <a:pt x="38100" y="3067050"/>
                </a:lnTo>
                <a:lnTo>
                  <a:pt x="38100" y="3067050"/>
                </a:lnTo>
                <a:cubicBezTo>
                  <a:pt x="17072" y="3067050"/>
                  <a:pt x="0" y="3049978"/>
                  <a:pt x="0" y="302895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16" name="Shape 14"/>
          <p:cNvSpPr/>
          <p:nvPr/>
        </p:nvSpPr>
        <p:spPr>
          <a:xfrm>
            <a:off x="4470350"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C9A86A"/>
          </a:solidFill>
          <a:ln/>
        </p:spPr>
        <p:txBody>
          <a:bodyPr/>
          <a:lstStyle/>
          <a:p>
            <a:endParaRPr lang="zh-CN" altLang="en-US"/>
          </a:p>
        </p:txBody>
      </p:sp>
      <p:sp>
        <p:nvSpPr>
          <p:cNvPr id="17" name="Shape 15"/>
          <p:cNvSpPr/>
          <p:nvPr/>
        </p:nvSpPr>
        <p:spPr>
          <a:xfrm>
            <a:off x="4603700" y="1695450"/>
            <a:ext cx="190500" cy="190500"/>
          </a:xfrm>
          <a:custGeom>
            <a:avLst/>
            <a:gdLst/>
            <a:ahLst/>
            <a:cxnLst/>
            <a:rect l="l" t="t" r="r" b="b"/>
            <a:pathLst>
              <a:path w="190500" h="190500">
                <a:moveTo>
                  <a:pt x="169664" y="83344"/>
                </a:moveTo>
                <a:lnTo>
                  <a:pt x="116086" y="83344"/>
                </a:lnTo>
                <a:cubicBezTo>
                  <a:pt x="111137" y="83344"/>
                  <a:pt x="107156" y="79363"/>
                  <a:pt x="107156" y="74414"/>
                </a:cubicBezTo>
                <a:lnTo>
                  <a:pt x="107156" y="20836"/>
                </a:lnTo>
                <a:cubicBezTo>
                  <a:pt x="107156" y="17227"/>
                  <a:pt x="109314" y="13953"/>
                  <a:pt x="112663" y="12576"/>
                </a:cubicBezTo>
                <a:cubicBezTo>
                  <a:pt x="116012" y="11199"/>
                  <a:pt x="119844" y="11981"/>
                  <a:pt x="122411" y="14511"/>
                </a:cubicBezTo>
                <a:lnTo>
                  <a:pt x="137294" y="29394"/>
                </a:lnTo>
                <a:lnTo>
                  <a:pt x="164604" y="2084"/>
                </a:lnTo>
                <a:cubicBezTo>
                  <a:pt x="165943" y="744"/>
                  <a:pt x="167767" y="0"/>
                  <a:pt x="169664" y="0"/>
                </a:cubicBezTo>
                <a:cubicBezTo>
                  <a:pt x="171562" y="0"/>
                  <a:pt x="173385" y="744"/>
                  <a:pt x="174761" y="2121"/>
                </a:cubicBezTo>
                <a:lnTo>
                  <a:pt x="188416" y="15776"/>
                </a:lnTo>
                <a:cubicBezTo>
                  <a:pt x="189756" y="17115"/>
                  <a:pt x="190500" y="18938"/>
                  <a:pt x="190500" y="20836"/>
                </a:cubicBezTo>
                <a:cubicBezTo>
                  <a:pt x="190500" y="22733"/>
                  <a:pt x="189756" y="24557"/>
                  <a:pt x="188379" y="25933"/>
                </a:cubicBezTo>
                <a:lnTo>
                  <a:pt x="161106" y="53206"/>
                </a:lnTo>
                <a:lnTo>
                  <a:pt x="175989" y="68089"/>
                </a:lnTo>
                <a:cubicBezTo>
                  <a:pt x="178557" y="70656"/>
                  <a:pt x="179301" y="74488"/>
                  <a:pt x="177924" y="77837"/>
                </a:cubicBezTo>
                <a:cubicBezTo>
                  <a:pt x="176547" y="81186"/>
                  <a:pt x="173273" y="83344"/>
                  <a:pt x="169664" y="83344"/>
                </a:cubicBezTo>
                <a:close/>
                <a:moveTo>
                  <a:pt x="169664" y="107156"/>
                </a:moveTo>
                <a:cubicBezTo>
                  <a:pt x="173273" y="107156"/>
                  <a:pt x="176547" y="109314"/>
                  <a:pt x="177924" y="112663"/>
                </a:cubicBezTo>
                <a:cubicBezTo>
                  <a:pt x="179301" y="116012"/>
                  <a:pt x="178557" y="119844"/>
                  <a:pt x="175989" y="122411"/>
                </a:cubicBezTo>
                <a:lnTo>
                  <a:pt x="161106" y="137294"/>
                </a:lnTo>
                <a:lnTo>
                  <a:pt x="188416" y="164604"/>
                </a:lnTo>
                <a:cubicBezTo>
                  <a:pt x="189756" y="165943"/>
                  <a:pt x="190537" y="167767"/>
                  <a:pt x="190537" y="169701"/>
                </a:cubicBezTo>
                <a:cubicBezTo>
                  <a:pt x="190537" y="171636"/>
                  <a:pt x="189793" y="173422"/>
                  <a:pt x="188416" y="174799"/>
                </a:cubicBezTo>
                <a:lnTo>
                  <a:pt x="174761" y="188454"/>
                </a:lnTo>
                <a:cubicBezTo>
                  <a:pt x="173385" y="189756"/>
                  <a:pt x="171562" y="190500"/>
                  <a:pt x="169664" y="190500"/>
                </a:cubicBezTo>
                <a:cubicBezTo>
                  <a:pt x="167767" y="190500"/>
                  <a:pt x="165943" y="189756"/>
                  <a:pt x="164567" y="188379"/>
                </a:cubicBezTo>
                <a:lnTo>
                  <a:pt x="137294" y="161106"/>
                </a:lnTo>
                <a:lnTo>
                  <a:pt x="122411" y="175989"/>
                </a:lnTo>
                <a:cubicBezTo>
                  <a:pt x="119844" y="178557"/>
                  <a:pt x="116012" y="179301"/>
                  <a:pt x="112663" y="177924"/>
                </a:cubicBezTo>
                <a:cubicBezTo>
                  <a:pt x="109314" y="176547"/>
                  <a:pt x="107156" y="173273"/>
                  <a:pt x="107156" y="169664"/>
                </a:cubicBezTo>
                <a:lnTo>
                  <a:pt x="107156" y="116086"/>
                </a:lnTo>
                <a:cubicBezTo>
                  <a:pt x="107156" y="111137"/>
                  <a:pt x="111137" y="107156"/>
                  <a:pt x="116086" y="107156"/>
                </a:cubicBezTo>
                <a:lnTo>
                  <a:pt x="169664" y="107156"/>
                </a:lnTo>
                <a:close/>
                <a:moveTo>
                  <a:pt x="74414" y="107156"/>
                </a:moveTo>
                <a:cubicBezTo>
                  <a:pt x="79363" y="107156"/>
                  <a:pt x="83344" y="111137"/>
                  <a:pt x="83344" y="116086"/>
                </a:cubicBezTo>
                <a:lnTo>
                  <a:pt x="83344" y="169664"/>
                </a:lnTo>
                <a:cubicBezTo>
                  <a:pt x="83344" y="173273"/>
                  <a:pt x="81186" y="176547"/>
                  <a:pt x="77837" y="177924"/>
                </a:cubicBezTo>
                <a:cubicBezTo>
                  <a:pt x="74488" y="179301"/>
                  <a:pt x="70656" y="178557"/>
                  <a:pt x="68089" y="175989"/>
                </a:cubicBezTo>
                <a:lnTo>
                  <a:pt x="53206" y="161106"/>
                </a:lnTo>
                <a:lnTo>
                  <a:pt x="25896" y="188416"/>
                </a:lnTo>
                <a:cubicBezTo>
                  <a:pt x="24557" y="189756"/>
                  <a:pt x="22733" y="190500"/>
                  <a:pt x="20836" y="190500"/>
                </a:cubicBezTo>
                <a:cubicBezTo>
                  <a:pt x="18938" y="190500"/>
                  <a:pt x="17115" y="189756"/>
                  <a:pt x="15739" y="188379"/>
                </a:cubicBezTo>
                <a:lnTo>
                  <a:pt x="2121" y="174761"/>
                </a:lnTo>
                <a:cubicBezTo>
                  <a:pt x="744" y="173385"/>
                  <a:pt x="0" y="171562"/>
                  <a:pt x="0" y="169664"/>
                </a:cubicBezTo>
                <a:cubicBezTo>
                  <a:pt x="0" y="167767"/>
                  <a:pt x="744" y="165943"/>
                  <a:pt x="2121" y="164567"/>
                </a:cubicBezTo>
                <a:lnTo>
                  <a:pt x="29394" y="137294"/>
                </a:lnTo>
                <a:lnTo>
                  <a:pt x="14511" y="122411"/>
                </a:lnTo>
                <a:cubicBezTo>
                  <a:pt x="11943" y="119844"/>
                  <a:pt x="11199" y="116012"/>
                  <a:pt x="12576" y="112663"/>
                </a:cubicBezTo>
                <a:cubicBezTo>
                  <a:pt x="13953" y="109314"/>
                  <a:pt x="17227" y="107156"/>
                  <a:pt x="20836" y="107156"/>
                </a:cubicBezTo>
                <a:lnTo>
                  <a:pt x="74414" y="107156"/>
                </a:lnTo>
                <a:close/>
                <a:moveTo>
                  <a:pt x="20836" y="83344"/>
                </a:moveTo>
                <a:cubicBezTo>
                  <a:pt x="17227" y="83344"/>
                  <a:pt x="13953" y="81186"/>
                  <a:pt x="12576" y="77837"/>
                </a:cubicBezTo>
                <a:cubicBezTo>
                  <a:pt x="11199" y="74488"/>
                  <a:pt x="11981" y="70656"/>
                  <a:pt x="14511" y="68089"/>
                </a:cubicBezTo>
                <a:lnTo>
                  <a:pt x="29394" y="53206"/>
                </a:lnTo>
                <a:lnTo>
                  <a:pt x="2121" y="25933"/>
                </a:lnTo>
                <a:cubicBezTo>
                  <a:pt x="744" y="24557"/>
                  <a:pt x="0" y="22733"/>
                  <a:pt x="0" y="20836"/>
                </a:cubicBezTo>
                <a:cubicBezTo>
                  <a:pt x="0" y="18938"/>
                  <a:pt x="744" y="17115"/>
                  <a:pt x="2121" y="15739"/>
                </a:cubicBezTo>
                <a:lnTo>
                  <a:pt x="15739" y="2121"/>
                </a:lnTo>
                <a:cubicBezTo>
                  <a:pt x="17115" y="744"/>
                  <a:pt x="18938" y="0"/>
                  <a:pt x="20836" y="0"/>
                </a:cubicBezTo>
                <a:cubicBezTo>
                  <a:pt x="22733" y="0"/>
                  <a:pt x="24557" y="744"/>
                  <a:pt x="25933" y="2121"/>
                </a:cubicBezTo>
                <a:lnTo>
                  <a:pt x="53206" y="29394"/>
                </a:lnTo>
                <a:lnTo>
                  <a:pt x="68089" y="14511"/>
                </a:lnTo>
                <a:cubicBezTo>
                  <a:pt x="70656" y="11943"/>
                  <a:pt x="74488" y="11199"/>
                  <a:pt x="77837" y="12576"/>
                </a:cubicBezTo>
                <a:cubicBezTo>
                  <a:pt x="81186" y="13953"/>
                  <a:pt x="83344" y="17227"/>
                  <a:pt x="83344" y="20836"/>
                </a:cubicBezTo>
                <a:lnTo>
                  <a:pt x="83344" y="74414"/>
                </a:lnTo>
                <a:cubicBezTo>
                  <a:pt x="83344" y="79363"/>
                  <a:pt x="79363" y="83344"/>
                  <a:pt x="74414" y="83344"/>
                </a:cubicBezTo>
                <a:lnTo>
                  <a:pt x="20836" y="83344"/>
                </a:lnTo>
                <a:close/>
              </a:path>
            </a:pathLst>
          </a:custGeom>
          <a:solidFill>
            <a:srgbClr val="FFFFFF"/>
          </a:solidFill>
          <a:ln/>
        </p:spPr>
        <p:txBody>
          <a:bodyPr/>
          <a:lstStyle/>
          <a:p>
            <a:endParaRPr lang="zh-CN" altLang="en-US"/>
          </a:p>
        </p:txBody>
      </p:sp>
      <p:sp>
        <p:nvSpPr>
          <p:cNvPr id="18" name="Text 16"/>
          <p:cNvSpPr/>
          <p:nvPr/>
        </p:nvSpPr>
        <p:spPr>
          <a:xfrm>
            <a:off x="5041850" y="1657350"/>
            <a:ext cx="117157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CommonKV</a:t>
            </a:r>
            <a:endParaRPr lang="en-US" sz="1600" dirty="0"/>
          </a:p>
        </p:txBody>
      </p:sp>
      <p:sp>
        <p:nvSpPr>
          <p:cNvPr id="19" name="Text 17"/>
          <p:cNvSpPr/>
          <p:nvPr/>
        </p:nvSpPr>
        <p:spPr>
          <a:xfrm>
            <a:off x="4470350" y="2171700"/>
            <a:ext cx="3362325" cy="5143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提出仅需</a:t>
            </a:r>
            <a:r>
              <a:rPr lang="en-US" sz="1200" b="1" dirty="0">
                <a:solidFill>
                  <a:srgbClr val="C9A86A"/>
                </a:solidFill>
                <a:latin typeface="Noto Sans SC" pitchFamily="34" charset="0"/>
                <a:ea typeface="Noto Sans SC" pitchFamily="34" charset="-122"/>
                <a:cs typeface="Noto Sans SC" pitchFamily="34" charset="-120"/>
              </a:rPr>
              <a:t>少量校准数据的跨层参数共享方案</a:t>
            </a:r>
            <a:r>
              <a:rPr lang="en-US" sz="1200" dirty="0">
                <a:solidFill>
                  <a:srgbClr val="E0E2E5">
                    <a:alpha val="80000"/>
                  </a:srgbClr>
                </a:solidFill>
                <a:latin typeface="Noto Sans SC" pitchFamily="34" charset="0"/>
                <a:ea typeface="Noto Sans SC" pitchFamily="34" charset="-122"/>
                <a:cs typeface="Noto Sans SC" pitchFamily="34" charset="-120"/>
              </a:rPr>
              <a:t>，通过权重共享来融合跨层的 KV Cache。</a:t>
            </a:r>
            <a:endParaRPr lang="en-US" sz="1600" dirty="0"/>
          </a:p>
        </p:txBody>
      </p:sp>
      <p:sp>
        <p:nvSpPr>
          <p:cNvPr id="20" name="Shape 18"/>
          <p:cNvSpPr/>
          <p:nvPr/>
        </p:nvSpPr>
        <p:spPr>
          <a:xfrm>
            <a:off x="4470350" y="2800350"/>
            <a:ext cx="3286125" cy="685800"/>
          </a:xfrm>
          <a:custGeom>
            <a:avLst/>
            <a:gdLst/>
            <a:ahLst/>
            <a:cxnLst/>
            <a:rect l="l" t="t" r="r" b="b"/>
            <a:pathLst>
              <a:path w="3286125" h="685800">
                <a:moveTo>
                  <a:pt x="76199" y="0"/>
                </a:moveTo>
                <a:lnTo>
                  <a:pt x="3209926" y="0"/>
                </a:lnTo>
                <a:cubicBezTo>
                  <a:pt x="3252009" y="0"/>
                  <a:pt x="3286125" y="34116"/>
                  <a:pt x="3286125" y="76199"/>
                </a:cubicBezTo>
                <a:lnTo>
                  <a:pt x="3286125" y="609601"/>
                </a:lnTo>
                <a:cubicBezTo>
                  <a:pt x="3286125" y="651684"/>
                  <a:pt x="3252009" y="685800"/>
                  <a:pt x="3209926" y="685800"/>
                </a:cubicBezTo>
                <a:lnTo>
                  <a:pt x="76199" y="685800"/>
                </a:lnTo>
                <a:cubicBezTo>
                  <a:pt x="34116" y="685800"/>
                  <a:pt x="0" y="651684"/>
                  <a:pt x="0" y="609601"/>
                </a:cubicBezTo>
                <a:lnTo>
                  <a:pt x="0" y="76199"/>
                </a:lnTo>
                <a:cubicBezTo>
                  <a:pt x="0" y="34144"/>
                  <a:pt x="34144" y="0"/>
                  <a:pt x="76199" y="0"/>
                </a:cubicBezTo>
                <a:close/>
              </a:path>
            </a:pathLst>
          </a:custGeom>
          <a:solidFill>
            <a:srgbClr val="1A1D21">
              <a:alpha val="50196"/>
            </a:srgbClr>
          </a:solidFill>
          <a:ln/>
        </p:spPr>
        <p:txBody>
          <a:bodyPr/>
          <a:lstStyle/>
          <a:p>
            <a:endParaRPr lang="zh-CN" altLang="en-US"/>
          </a:p>
        </p:txBody>
      </p:sp>
      <p:sp>
        <p:nvSpPr>
          <p:cNvPr id="21" name="Text 19"/>
          <p:cNvSpPr/>
          <p:nvPr/>
        </p:nvSpPr>
        <p:spPr>
          <a:xfrm>
            <a:off x="4527500" y="2914650"/>
            <a:ext cx="1609725" cy="304800"/>
          </a:xfrm>
          <a:prstGeom prst="rect">
            <a:avLst/>
          </a:prstGeom>
          <a:noFill/>
          <a:ln/>
        </p:spPr>
        <p:txBody>
          <a:bodyPr wrap="square" lIns="0" tIns="0" rIns="0" bIns="0" rtlCol="0" anchor="ctr"/>
          <a:lstStyle/>
          <a:p>
            <a:pPr algn="ctr">
              <a:lnSpc>
                <a:spcPct val="110000"/>
              </a:lnSpc>
            </a:pPr>
            <a:r>
              <a:rPr lang="en-US" sz="1800" b="1" dirty="0">
                <a:solidFill>
                  <a:srgbClr val="C9A86A"/>
                </a:solidFill>
                <a:latin typeface="Noto Sans SC" pitchFamily="34" charset="0"/>
                <a:ea typeface="Noto Sans SC" pitchFamily="34" charset="-122"/>
                <a:cs typeface="Noto Sans SC" pitchFamily="34" charset="-120"/>
              </a:rPr>
              <a:t>50%</a:t>
            </a:r>
            <a:endParaRPr lang="en-US" sz="1600" dirty="0"/>
          </a:p>
        </p:txBody>
      </p:sp>
      <p:sp>
        <p:nvSpPr>
          <p:cNvPr id="22" name="Text 20"/>
          <p:cNvSpPr/>
          <p:nvPr/>
        </p:nvSpPr>
        <p:spPr>
          <a:xfrm>
            <a:off x="4556075" y="3219450"/>
            <a:ext cx="155257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Noto Sans SC" pitchFamily="34" charset="0"/>
                <a:ea typeface="Noto Sans SC" pitchFamily="34" charset="-122"/>
                <a:cs typeface="Noto Sans SC" pitchFamily="34" charset="-120"/>
              </a:rPr>
              <a:t>压缩率</a:t>
            </a:r>
            <a:endParaRPr lang="en-US" sz="1600" dirty="0"/>
          </a:p>
        </p:txBody>
      </p:sp>
      <p:sp>
        <p:nvSpPr>
          <p:cNvPr id="23" name="Text 21"/>
          <p:cNvSpPr/>
          <p:nvPr/>
        </p:nvSpPr>
        <p:spPr>
          <a:xfrm>
            <a:off x="6095926" y="2914650"/>
            <a:ext cx="1609725" cy="304800"/>
          </a:xfrm>
          <a:prstGeom prst="rect">
            <a:avLst/>
          </a:prstGeom>
          <a:noFill/>
          <a:ln/>
        </p:spPr>
        <p:txBody>
          <a:bodyPr wrap="square" lIns="0" tIns="0" rIns="0" bIns="0" rtlCol="0" anchor="ctr"/>
          <a:lstStyle/>
          <a:p>
            <a:pPr algn="ctr">
              <a:lnSpc>
                <a:spcPct val="110000"/>
              </a:lnSpc>
            </a:pPr>
            <a:r>
              <a:rPr lang="en-US" sz="1800" b="1" dirty="0">
                <a:solidFill>
                  <a:srgbClr val="3D8B75"/>
                </a:solidFill>
                <a:latin typeface="Noto Sans SC" pitchFamily="34" charset="0"/>
                <a:ea typeface="Noto Sans SC" pitchFamily="34" charset="-122"/>
                <a:cs typeface="Noto Sans SC" pitchFamily="34" charset="-120"/>
              </a:rPr>
              <a:t>95%+</a:t>
            </a:r>
            <a:endParaRPr lang="en-US" sz="1600" dirty="0"/>
          </a:p>
        </p:txBody>
      </p:sp>
      <p:sp>
        <p:nvSpPr>
          <p:cNvPr id="24" name="Text 22"/>
          <p:cNvSpPr/>
          <p:nvPr/>
        </p:nvSpPr>
        <p:spPr>
          <a:xfrm>
            <a:off x="6124501" y="3219450"/>
            <a:ext cx="155257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Noto Sans SC" pitchFamily="34" charset="0"/>
                <a:ea typeface="Noto Sans SC" pitchFamily="34" charset="-122"/>
                <a:cs typeface="Noto Sans SC" pitchFamily="34" charset="-120"/>
              </a:rPr>
              <a:t>性能保持</a:t>
            </a:r>
            <a:endParaRPr lang="en-US" sz="1600" dirty="0"/>
          </a:p>
        </p:txBody>
      </p:sp>
      <p:sp>
        <p:nvSpPr>
          <p:cNvPr id="25" name="Shape 23"/>
          <p:cNvSpPr/>
          <p:nvPr/>
        </p:nvSpPr>
        <p:spPr>
          <a:xfrm>
            <a:off x="4470350" y="3600450"/>
            <a:ext cx="3286125" cy="647700"/>
          </a:xfrm>
          <a:custGeom>
            <a:avLst/>
            <a:gdLst/>
            <a:ahLst/>
            <a:cxnLst/>
            <a:rect l="l" t="t" r="r" b="b"/>
            <a:pathLst>
              <a:path w="3286125" h="647700">
                <a:moveTo>
                  <a:pt x="76202" y="0"/>
                </a:moveTo>
                <a:lnTo>
                  <a:pt x="3209923" y="0"/>
                </a:lnTo>
                <a:cubicBezTo>
                  <a:pt x="3252008" y="0"/>
                  <a:pt x="3286125" y="34117"/>
                  <a:pt x="3286125" y="76202"/>
                </a:cubicBezTo>
                <a:lnTo>
                  <a:pt x="3286125" y="571498"/>
                </a:lnTo>
                <a:cubicBezTo>
                  <a:pt x="3286125" y="613583"/>
                  <a:pt x="3252008" y="647700"/>
                  <a:pt x="3209923" y="647700"/>
                </a:cubicBezTo>
                <a:lnTo>
                  <a:pt x="76202" y="647700"/>
                </a:lnTo>
                <a:cubicBezTo>
                  <a:pt x="34117" y="647700"/>
                  <a:pt x="0" y="613583"/>
                  <a:pt x="0" y="57149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26" name="Text 24"/>
          <p:cNvSpPr/>
          <p:nvPr/>
        </p:nvSpPr>
        <p:spPr>
          <a:xfrm>
            <a:off x="4584650" y="3714750"/>
            <a:ext cx="3124200"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Noto Sans SC" pitchFamily="34" charset="0"/>
                <a:ea typeface="Noto Sans SC" pitchFamily="34" charset="-122"/>
                <a:cs typeface="Noto Sans SC" pitchFamily="34" charset="-120"/>
              </a:rPr>
              <a:t>评测基准</a:t>
            </a:r>
            <a:endParaRPr lang="en-US" sz="1600" dirty="0"/>
          </a:p>
        </p:txBody>
      </p:sp>
      <p:sp>
        <p:nvSpPr>
          <p:cNvPr id="27" name="Text 25"/>
          <p:cNvSpPr/>
          <p:nvPr/>
        </p:nvSpPr>
        <p:spPr>
          <a:xfrm>
            <a:off x="4584650" y="3943350"/>
            <a:ext cx="3124200"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LongBench / Ruler</a:t>
            </a:r>
            <a:endParaRPr lang="en-US" sz="1600" dirty="0"/>
          </a:p>
        </p:txBody>
      </p:sp>
      <p:sp>
        <p:nvSpPr>
          <p:cNvPr id="28" name="Shape 26"/>
          <p:cNvSpPr/>
          <p:nvPr/>
        </p:nvSpPr>
        <p:spPr>
          <a:xfrm>
            <a:off x="8121625" y="1371600"/>
            <a:ext cx="3686175" cy="3067050"/>
          </a:xfrm>
          <a:custGeom>
            <a:avLst/>
            <a:gdLst/>
            <a:ahLst/>
            <a:cxnLst/>
            <a:rect l="l" t="t" r="r" b="b"/>
            <a:pathLst>
              <a:path w="3686175" h="3067050">
                <a:moveTo>
                  <a:pt x="38100" y="0"/>
                </a:moveTo>
                <a:lnTo>
                  <a:pt x="3609989" y="0"/>
                </a:lnTo>
                <a:cubicBezTo>
                  <a:pt x="3652066" y="0"/>
                  <a:pt x="3686175" y="34109"/>
                  <a:pt x="3686175" y="76186"/>
                </a:cubicBezTo>
                <a:lnTo>
                  <a:pt x="3686175" y="2990864"/>
                </a:lnTo>
                <a:cubicBezTo>
                  <a:pt x="3686175" y="3032941"/>
                  <a:pt x="3652066" y="3067050"/>
                  <a:pt x="3609989" y="3067050"/>
                </a:cubicBezTo>
                <a:lnTo>
                  <a:pt x="38100" y="3067050"/>
                </a:lnTo>
                <a:cubicBezTo>
                  <a:pt x="17058" y="3067050"/>
                  <a:pt x="0" y="3049992"/>
                  <a:pt x="0" y="302895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29" name="Shape 27"/>
          <p:cNvSpPr/>
          <p:nvPr/>
        </p:nvSpPr>
        <p:spPr>
          <a:xfrm>
            <a:off x="8121625" y="1371600"/>
            <a:ext cx="38100" cy="3067050"/>
          </a:xfrm>
          <a:custGeom>
            <a:avLst/>
            <a:gdLst/>
            <a:ahLst/>
            <a:cxnLst/>
            <a:rect l="l" t="t" r="r" b="b"/>
            <a:pathLst>
              <a:path w="38100" h="3067050">
                <a:moveTo>
                  <a:pt x="38100" y="0"/>
                </a:moveTo>
                <a:lnTo>
                  <a:pt x="38100" y="0"/>
                </a:lnTo>
                <a:lnTo>
                  <a:pt x="38100" y="3067050"/>
                </a:lnTo>
                <a:lnTo>
                  <a:pt x="38100" y="3067050"/>
                </a:lnTo>
                <a:cubicBezTo>
                  <a:pt x="17072" y="3067050"/>
                  <a:pt x="0" y="3049978"/>
                  <a:pt x="0" y="302895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30" name="Shape 28"/>
          <p:cNvSpPr/>
          <p:nvPr/>
        </p:nvSpPr>
        <p:spPr>
          <a:xfrm>
            <a:off x="8331175"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5F6B7A"/>
          </a:solidFill>
          <a:ln/>
        </p:spPr>
        <p:txBody>
          <a:bodyPr/>
          <a:lstStyle/>
          <a:p>
            <a:endParaRPr lang="zh-CN" altLang="en-US"/>
          </a:p>
        </p:txBody>
      </p:sp>
      <p:sp>
        <p:nvSpPr>
          <p:cNvPr id="31" name="Shape 29"/>
          <p:cNvSpPr/>
          <p:nvPr/>
        </p:nvSpPr>
        <p:spPr>
          <a:xfrm>
            <a:off x="8464525" y="1695450"/>
            <a:ext cx="190500" cy="190500"/>
          </a:xfrm>
          <a:custGeom>
            <a:avLst/>
            <a:gdLst/>
            <a:ahLst/>
            <a:cxnLst/>
            <a:rect l="l" t="t" r="r" b="b"/>
            <a:pathLst>
              <a:path w="190500" h="190500">
                <a:moveTo>
                  <a:pt x="0" y="29766"/>
                </a:moveTo>
                <a:cubicBezTo>
                  <a:pt x="0" y="19906"/>
                  <a:pt x="8000" y="11906"/>
                  <a:pt x="17859" y="11906"/>
                </a:cubicBezTo>
                <a:lnTo>
                  <a:pt x="53578" y="11906"/>
                </a:lnTo>
                <a:cubicBezTo>
                  <a:pt x="63438" y="11906"/>
                  <a:pt x="71438" y="19906"/>
                  <a:pt x="71438" y="29766"/>
                </a:cubicBezTo>
                <a:lnTo>
                  <a:pt x="71438" y="35719"/>
                </a:lnTo>
                <a:lnTo>
                  <a:pt x="119063" y="35719"/>
                </a:lnTo>
                <a:lnTo>
                  <a:pt x="119063" y="29766"/>
                </a:lnTo>
                <a:cubicBezTo>
                  <a:pt x="119063" y="19906"/>
                  <a:pt x="127062" y="11906"/>
                  <a:pt x="136922" y="11906"/>
                </a:cubicBezTo>
                <a:lnTo>
                  <a:pt x="172641" y="11906"/>
                </a:lnTo>
                <a:cubicBezTo>
                  <a:pt x="182500" y="11906"/>
                  <a:pt x="190500" y="19906"/>
                  <a:pt x="190500" y="29766"/>
                </a:cubicBezTo>
                <a:lnTo>
                  <a:pt x="190500" y="65484"/>
                </a:lnTo>
                <a:cubicBezTo>
                  <a:pt x="190500" y="75344"/>
                  <a:pt x="182500" y="83344"/>
                  <a:pt x="172641" y="83344"/>
                </a:cubicBezTo>
                <a:lnTo>
                  <a:pt x="136922" y="83344"/>
                </a:lnTo>
                <a:cubicBezTo>
                  <a:pt x="127062" y="83344"/>
                  <a:pt x="119063" y="75344"/>
                  <a:pt x="119063" y="65484"/>
                </a:cubicBezTo>
                <a:lnTo>
                  <a:pt x="119063" y="59531"/>
                </a:lnTo>
                <a:lnTo>
                  <a:pt x="71438" y="59531"/>
                </a:lnTo>
                <a:lnTo>
                  <a:pt x="71438" y="65484"/>
                </a:lnTo>
                <a:cubicBezTo>
                  <a:pt x="71438" y="68200"/>
                  <a:pt x="70805" y="70805"/>
                  <a:pt x="69726" y="73112"/>
                </a:cubicBezTo>
                <a:lnTo>
                  <a:pt x="95250" y="107156"/>
                </a:lnTo>
                <a:lnTo>
                  <a:pt x="125016" y="107156"/>
                </a:lnTo>
                <a:cubicBezTo>
                  <a:pt x="134875" y="107156"/>
                  <a:pt x="142875" y="115156"/>
                  <a:pt x="142875" y="125016"/>
                </a:cubicBezTo>
                <a:lnTo>
                  <a:pt x="142875" y="160734"/>
                </a:lnTo>
                <a:cubicBezTo>
                  <a:pt x="142875" y="170594"/>
                  <a:pt x="134875" y="178594"/>
                  <a:pt x="125016" y="178594"/>
                </a:cubicBezTo>
                <a:lnTo>
                  <a:pt x="89297" y="178594"/>
                </a:lnTo>
                <a:cubicBezTo>
                  <a:pt x="79437" y="178594"/>
                  <a:pt x="71438" y="170594"/>
                  <a:pt x="71438" y="160734"/>
                </a:cubicBezTo>
                <a:lnTo>
                  <a:pt x="71438" y="125016"/>
                </a:lnTo>
                <a:cubicBezTo>
                  <a:pt x="71438" y="122300"/>
                  <a:pt x="72070" y="119695"/>
                  <a:pt x="73149" y="117388"/>
                </a:cubicBezTo>
                <a:lnTo>
                  <a:pt x="47625" y="83344"/>
                </a:lnTo>
                <a:lnTo>
                  <a:pt x="17859" y="83344"/>
                </a:lnTo>
                <a:cubicBezTo>
                  <a:pt x="8000" y="83344"/>
                  <a:pt x="0" y="75344"/>
                  <a:pt x="0" y="65484"/>
                </a:cubicBezTo>
                <a:lnTo>
                  <a:pt x="0" y="29766"/>
                </a:lnTo>
                <a:close/>
              </a:path>
            </a:pathLst>
          </a:custGeom>
          <a:solidFill>
            <a:srgbClr val="FFFFFF"/>
          </a:solidFill>
          <a:ln/>
        </p:spPr>
        <p:txBody>
          <a:bodyPr/>
          <a:lstStyle/>
          <a:p>
            <a:endParaRPr lang="zh-CN" altLang="en-US"/>
          </a:p>
        </p:txBody>
      </p:sp>
      <p:sp>
        <p:nvSpPr>
          <p:cNvPr id="32" name="Text 30"/>
          <p:cNvSpPr/>
          <p:nvPr/>
        </p:nvSpPr>
        <p:spPr>
          <a:xfrm>
            <a:off x="8902675" y="1657350"/>
            <a:ext cx="45720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xKV</a:t>
            </a:r>
            <a:endParaRPr lang="en-US" sz="1600" dirty="0"/>
          </a:p>
        </p:txBody>
      </p:sp>
      <p:sp>
        <p:nvSpPr>
          <p:cNvPr id="33" name="Text 31"/>
          <p:cNvSpPr/>
          <p:nvPr/>
        </p:nvSpPr>
        <p:spPr>
          <a:xfrm>
            <a:off x="8331175" y="2171700"/>
            <a:ext cx="3362325" cy="13144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立足于跨层相似性，但将其与</a:t>
            </a:r>
            <a:r>
              <a:rPr lang="en-US" sz="1200" b="1" dirty="0">
                <a:solidFill>
                  <a:srgbClr val="5F6B7A"/>
                </a:solidFill>
                <a:latin typeface="Noto Sans SC" pitchFamily="34" charset="0"/>
                <a:ea typeface="Noto Sans SC" pitchFamily="34" charset="-122"/>
                <a:cs typeface="Noto Sans SC" pitchFamily="34" charset="-120"/>
              </a:rPr>
              <a:t>低秩子空间框架结合</a:t>
            </a:r>
            <a:r>
              <a:rPr lang="en-US" sz="1200" dirty="0">
                <a:solidFill>
                  <a:srgbClr val="E0E2E5">
                    <a:alpha val="80000"/>
                  </a:srgbClr>
                </a:solidFill>
                <a:latin typeface="Noto Sans SC" pitchFamily="34" charset="0"/>
                <a:ea typeface="Noto Sans SC" pitchFamily="34" charset="-122"/>
                <a:cs typeface="Noto Sans SC" pitchFamily="34" charset="-120"/>
              </a:rPr>
              <a:t>，实现多层 KV 的联合 SVD 压缩。</a:t>
            </a:r>
            <a:endParaRPr lang="en-US" sz="1600" dirty="0"/>
          </a:p>
        </p:txBody>
      </p:sp>
      <p:sp>
        <p:nvSpPr>
          <p:cNvPr id="34" name="Shape 32"/>
          <p:cNvSpPr/>
          <p:nvPr/>
        </p:nvSpPr>
        <p:spPr>
          <a:xfrm>
            <a:off x="8331175" y="3600450"/>
            <a:ext cx="3286125" cy="647700"/>
          </a:xfrm>
          <a:custGeom>
            <a:avLst/>
            <a:gdLst/>
            <a:ahLst/>
            <a:cxnLst/>
            <a:rect l="l" t="t" r="r" b="b"/>
            <a:pathLst>
              <a:path w="3286125" h="647700">
                <a:moveTo>
                  <a:pt x="76202" y="0"/>
                </a:moveTo>
                <a:lnTo>
                  <a:pt x="3209923" y="0"/>
                </a:lnTo>
                <a:cubicBezTo>
                  <a:pt x="3252008" y="0"/>
                  <a:pt x="3286125" y="34117"/>
                  <a:pt x="3286125" y="76202"/>
                </a:cubicBezTo>
                <a:lnTo>
                  <a:pt x="3286125" y="571498"/>
                </a:lnTo>
                <a:cubicBezTo>
                  <a:pt x="3286125" y="613583"/>
                  <a:pt x="3252008" y="647700"/>
                  <a:pt x="3209923" y="647700"/>
                </a:cubicBezTo>
                <a:lnTo>
                  <a:pt x="76202" y="647700"/>
                </a:lnTo>
                <a:cubicBezTo>
                  <a:pt x="34117" y="647700"/>
                  <a:pt x="0" y="613583"/>
                  <a:pt x="0" y="57149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35" name="Text 33"/>
          <p:cNvSpPr/>
          <p:nvPr/>
        </p:nvSpPr>
        <p:spPr>
          <a:xfrm>
            <a:off x="8445475" y="3714750"/>
            <a:ext cx="3124200" cy="190500"/>
          </a:xfrm>
          <a:prstGeom prst="rect">
            <a:avLst/>
          </a:prstGeom>
          <a:noFill/>
          <a:ln/>
        </p:spPr>
        <p:txBody>
          <a:bodyPr wrap="square" lIns="0" tIns="0" rIns="0" bIns="0" rtlCol="0" anchor="ctr"/>
          <a:lstStyle/>
          <a:p>
            <a:pPr>
              <a:lnSpc>
                <a:spcPct val="120000"/>
              </a:lnSpc>
            </a:pPr>
            <a:r>
              <a:rPr lang="en-US" sz="1050" b="1" dirty="0">
                <a:solidFill>
                  <a:srgbClr val="5F6B7A"/>
                </a:solidFill>
                <a:latin typeface="Noto Sans SC" pitchFamily="34" charset="0"/>
                <a:ea typeface="Noto Sans SC" pitchFamily="34" charset="-122"/>
                <a:cs typeface="Noto Sans SC" pitchFamily="34" charset="-120"/>
              </a:rPr>
              <a:t>创新点</a:t>
            </a:r>
            <a:endParaRPr lang="en-US" sz="1600" dirty="0"/>
          </a:p>
        </p:txBody>
      </p:sp>
      <p:sp>
        <p:nvSpPr>
          <p:cNvPr id="36" name="Text 34"/>
          <p:cNvSpPr/>
          <p:nvPr/>
        </p:nvSpPr>
        <p:spPr>
          <a:xfrm>
            <a:off x="8445475" y="3943350"/>
            <a:ext cx="3124200"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跨层 + 低秩的双重压缩</a:t>
            </a:r>
            <a:endParaRPr lang="en-US" sz="1600" dirty="0"/>
          </a:p>
        </p:txBody>
      </p:sp>
      <p:sp>
        <p:nvSpPr>
          <p:cNvPr id="37" name="Shape 35"/>
          <p:cNvSpPr/>
          <p:nvPr/>
        </p:nvSpPr>
        <p:spPr>
          <a:xfrm>
            <a:off x="400050" y="4591050"/>
            <a:ext cx="5619750" cy="1181100"/>
          </a:xfrm>
          <a:custGeom>
            <a:avLst/>
            <a:gdLst/>
            <a:ahLst/>
            <a:cxnLst/>
            <a:rect l="l" t="t" r="r" b="b"/>
            <a:pathLst>
              <a:path w="5619750" h="1181100">
                <a:moveTo>
                  <a:pt x="38100" y="0"/>
                </a:moveTo>
                <a:lnTo>
                  <a:pt x="5543545" y="0"/>
                </a:lnTo>
                <a:cubicBezTo>
                  <a:pt x="5585604" y="0"/>
                  <a:pt x="5619750" y="34146"/>
                  <a:pt x="5619750" y="76205"/>
                </a:cubicBezTo>
                <a:lnTo>
                  <a:pt x="5619750" y="1104895"/>
                </a:lnTo>
                <a:cubicBezTo>
                  <a:pt x="5619750" y="1146982"/>
                  <a:pt x="5585632" y="1181100"/>
                  <a:pt x="5543545" y="1181100"/>
                </a:cubicBezTo>
                <a:lnTo>
                  <a:pt x="38100" y="1181100"/>
                </a:lnTo>
                <a:cubicBezTo>
                  <a:pt x="17072" y="1181100"/>
                  <a:pt x="0" y="1164028"/>
                  <a:pt x="0" y="11430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38" name="Shape 36"/>
          <p:cNvSpPr/>
          <p:nvPr/>
        </p:nvSpPr>
        <p:spPr>
          <a:xfrm>
            <a:off x="400050" y="4591050"/>
            <a:ext cx="38100" cy="1181100"/>
          </a:xfrm>
          <a:custGeom>
            <a:avLst/>
            <a:gdLst/>
            <a:ahLst/>
            <a:cxnLst/>
            <a:rect l="l" t="t" r="r" b="b"/>
            <a:pathLst>
              <a:path w="38100" h="1181100">
                <a:moveTo>
                  <a:pt x="38100" y="0"/>
                </a:moveTo>
                <a:lnTo>
                  <a:pt x="38100" y="0"/>
                </a:lnTo>
                <a:lnTo>
                  <a:pt x="38100" y="1181100"/>
                </a:lnTo>
                <a:lnTo>
                  <a:pt x="38100" y="1181100"/>
                </a:lnTo>
                <a:cubicBezTo>
                  <a:pt x="17072" y="1181100"/>
                  <a:pt x="0" y="1164028"/>
                  <a:pt x="0" y="11430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39" name="Shape 37"/>
          <p:cNvSpPr/>
          <p:nvPr/>
        </p:nvSpPr>
        <p:spPr>
          <a:xfrm>
            <a:off x="619125" y="4781550"/>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3D8B75"/>
          </a:solidFill>
          <a:ln/>
        </p:spPr>
        <p:txBody>
          <a:bodyPr/>
          <a:lstStyle/>
          <a:p>
            <a:endParaRPr lang="zh-CN" altLang="en-US"/>
          </a:p>
        </p:txBody>
      </p:sp>
      <p:sp>
        <p:nvSpPr>
          <p:cNvPr id="40" name="Text 38"/>
          <p:cNvSpPr/>
          <p:nvPr/>
        </p:nvSpPr>
        <p:spPr>
          <a:xfrm>
            <a:off x="809625" y="4743450"/>
            <a:ext cx="51530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核心思想</a:t>
            </a:r>
            <a:endParaRPr lang="en-US" sz="1600" dirty="0"/>
          </a:p>
        </p:txBody>
      </p:sp>
      <p:sp>
        <p:nvSpPr>
          <p:cNvPr id="41" name="Text 39"/>
          <p:cNvSpPr/>
          <p:nvPr/>
        </p:nvSpPr>
        <p:spPr>
          <a:xfrm>
            <a:off x="571500" y="5124450"/>
            <a:ext cx="5372100"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既然 Transformer 的中深层网络所提取的 KV 特征具有</a:t>
            </a:r>
            <a:r>
              <a:rPr lang="en-US" sz="1200" dirty="0">
                <a:solidFill>
                  <a:srgbClr val="3D8B75"/>
                </a:solidFill>
                <a:highlight>
                  <a:srgbClr val="3D8B75">
                    <a:alpha val="20000"/>
                  </a:srgbClr>
                </a:highlight>
                <a:latin typeface="Noto Sans SC" pitchFamily="34" charset="0"/>
                <a:ea typeface="Noto Sans SC" pitchFamily="34" charset="-122"/>
                <a:cs typeface="Noto Sans SC" pitchFamily="34" charset="-120"/>
              </a:rPr>
              <a:t> 高度相似性 </a:t>
            </a:r>
            <a:r>
              <a:rPr lang="en-US" sz="1200" dirty="0">
                <a:solidFill>
                  <a:srgbClr val="E0E2E5">
                    <a:alpha val="80000"/>
                  </a:srgbClr>
                </a:solidFill>
                <a:latin typeface="Noto Sans SC" pitchFamily="34" charset="0"/>
                <a:ea typeface="Noto Sans SC" pitchFamily="34" charset="-122"/>
                <a:cs typeface="Noto Sans SC" pitchFamily="34" charset="-120"/>
              </a:rPr>
              <a:t>，为什么不跨层合并存储？</a:t>
            </a:r>
            <a:endParaRPr lang="en-US" sz="1600" dirty="0"/>
          </a:p>
        </p:txBody>
      </p:sp>
      <p:sp>
        <p:nvSpPr>
          <p:cNvPr id="42" name="Shape 40"/>
          <p:cNvSpPr/>
          <p:nvPr/>
        </p:nvSpPr>
        <p:spPr>
          <a:xfrm>
            <a:off x="6191250" y="4591050"/>
            <a:ext cx="5619750" cy="1181100"/>
          </a:xfrm>
          <a:custGeom>
            <a:avLst/>
            <a:gdLst/>
            <a:ahLst/>
            <a:cxnLst/>
            <a:rect l="l" t="t" r="r" b="b"/>
            <a:pathLst>
              <a:path w="5619750" h="1181100">
                <a:moveTo>
                  <a:pt x="38100" y="0"/>
                </a:moveTo>
                <a:lnTo>
                  <a:pt x="5543545" y="0"/>
                </a:lnTo>
                <a:cubicBezTo>
                  <a:pt x="5585604" y="0"/>
                  <a:pt x="5619750" y="34146"/>
                  <a:pt x="5619750" y="76205"/>
                </a:cubicBezTo>
                <a:lnTo>
                  <a:pt x="5619750" y="1104895"/>
                </a:lnTo>
                <a:cubicBezTo>
                  <a:pt x="5619750" y="1146982"/>
                  <a:pt x="5585632" y="1181100"/>
                  <a:pt x="5543545" y="1181100"/>
                </a:cubicBezTo>
                <a:lnTo>
                  <a:pt x="38100" y="1181100"/>
                </a:lnTo>
                <a:cubicBezTo>
                  <a:pt x="17072" y="1181100"/>
                  <a:pt x="0" y="1164028"/>
                  <a:pt x="0" y="114300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43" name="Shape 41"/>
          <p:cNvSpPr/>
          <p:nvPr/>
        </p:nvSpPr>
        <p:spPr>
          <a:xfrm>
            <a:off x="6191250" y="4591050"/>
            <a:ext cx="38100" cy="1181100"/>
          </a:xfrm>
          <a:custGeom>
            <a:avLst/>
            <a:gdLst/>
            <a:ahLst/>
            <a:cxnLst/>
            <a:rect l="l" t="t" r="r" b="b"/>
            <a:pathLst>
              <a:path w="38100" h="1181100">
                <a:moveTo>
                  <a:pt x="38100" y="0"/>
                </a:moveTo>
                <a:lnTo>
                  <a:pt x="38100" y="0"/>
                </a:lnTo>
                <a:lnTo>
                  <a:pt x="38100" y="1181100"/>
                </a:lnTo>
                <a:lnTo>
                  <a:pt x="38100" y="1181100"/>
                </a:lnTo>
                <a:cubicBezTo>
                  <a:pt x="17072" y="1181100"/>
                  <a:pt x="0" y="1164028"/>
                  <a:pt x="0" y="11430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44" name="Shape 42"/>
          <p:cNvSpPr/>
          <p:nvPr/>
        </p:nvSpPr>
        <p:spPr>
          <a:xfrm>
            <a:off x="6386513" y="4781550"/>
            <a:ext cx="190500" cy="190500"/>
          </a:xfrm>
          <a:custGeom>
            <a:avLst/>
            <a:gdLst/>
            <a:ahLst/>
            <a:cxnLst/>
            <a:rect l="l" t="t" r="r" b="b"/>
            <a:pathLst>
              <a:path w="190500" h="190500">
                <a:moveTo>
                  <a:pt x="24519" y="85018"/>
                </a:moveTo>
                <a:cubicBezTo>
                  <a:pt x="29468" y="50416"/>
                  <a:pt x="59271" y="23812"/>
                  <a:pt x="95250" y="23812"/>
                </a:cubicBezTo>
                <a:cubicBezTo>
                  <a:pt x="114970" y="23812"/>
                  <a:pt x="132829" y="31812"/>
                  <a:pt x="145777" y="44723"/>
                </a:cubicBezTo>
                <a:cubicBezTo>
                  <a:pt x="145852" y="44797"/>
                  <a:pt x="145926" y="44872"/>
                  <a:pt x="146000" y="44946"/>
                </a:cubicBezTo>
                <a:lnTo>
                  <a:pt x="148828" y="47625"/>
                </a:lnTo>
                <a:lnTo>
                  <a:pt x="131006" y="47625"/>
                </a:lnTo>
                <a:cubicBezTo>
                  <a:pt x="124420" y="47625"/>
                  <a:pt x="119100" y="52946"/>
                  <a:pt x="119100" y="59531"/>
                </a:cubicBezTo>
                <a:cubicBezTo>
                  <a:pt x="119100" y="66117"/>
                  <a:pt x="124420" y="71438"/>
                  <a:pt x="131006" y="71438"/>
                </a:cubicBezTo>
                <a:lnTo>
                  <a:pt x="178631" y="71438"/>
                </a:lnTo>
                <a:cubicBezTo>
                  <a:pt x="185217" y="71438"/>
                  <a:pt x="190537" y="66117"/>
                  <a:pt x="190537" y="59531"/>
                </a:cubicBezTo>
                <a:lnTo>
                  <a:pt x="190537" y="11906"/>
                </a:lnTo>
                <a:cubicBezTo>
                  <a:pt x="190537" y="5321"/>
                  <a:pt x="185217" y="0"/>
                  <a:pt x="178631" y="0"/>
                </a:cubicBezTo>
                <a:cubicBezTo>
                  <a:pt x="172045" y="0"/>
                  <a:pt x="166725" y="5321"/>
                  <a:pt x="166725" y="11906"/>
                </a:cubicBezTo>
                <a:lnTo>
                  <a:pt x="166725" y="31775"/>
                </a:lnTo>
                <a:lnTo>
                  <a:pt x="162520" y="27794"/>
                </a:lnTo>
                <a:cubicBezTo>
                  <a:pt x="145293" y="10641"/>
                  <a:pt x="121481" y="0"/>
                  <a:pt x="95250" y="0"/>
                </a:cubicBezTo>
                <a:cubicBezTo>
                  <a:pt x="47253" y="0"/>
                  <a:pt x="7553" y="35496"/>
                  <a:pt x="967" y="81669"/>
                </a:cubicBezTo>
                <a:cubicBezTo>
                  <a:pt x="37" y="88181"/>
                  <a:pt x="4539" y="94208"/>
                  <a:pt x="11050" y="95138"/>
                </a:cubicBezTo>
                <a:cubicBezTo>
                  <a:pt x="17562" y="96069"/>
                  <a:pt x="23589" y="91529"/>
                  <a:pt x="24519" y="85055"/>
                </a:cubicBezTo>
                <a:close/>
                <a:moveTo>
                  <a:pt x="189533" y="108831"/>
                </a:moveTo>
                <a:cubicBezTo>
                  <a:pt x="190463" y="102319"/>
                  <a:pt x="185924" y="96292"/>
                  <a:pt x="179450" y="95362"/>
                </a:cubicBezTo>
                <a:cubicBezTo>
                  <a:pt x="172975" y="94431"/>
                  <a:pt x="166911" y="98971"/>
                  <a:pt x="165981" y="105445"/>
                </a:cubicBezTo>
                <a:cubicBezTo>
                  <a:pt x="161032" y="140047"/>
                  <a:pt x="131229" y="166650"/>
                  <a:pt x="95250" y="166650"/>
                </a:cubicBezTo>
                <a:cubicBezTo>
                  <a:pt x="75530" y="166650"/>
                  <a:pt x="57671" y="158651"/>
                  <a:pt x="44723" y="145740"/>
                </a:cubicBezTo>
                <a:cubicBezTo>
                  <a:pt x="44648" y="145666"/>
                  <a:pt x="44574" y="145591"/>
                  <a:pt x="44500" y="145517"/>
                </a:cubicBezTo>
                <a:lnTo>
                  <a:pt x="41672" y="142838"/>
                </a:lnTo>
                <a:lnTo>
                  <a:pt x="59494" y="142838"/>
                </a:lnTo>
                <a:cubicBezTo>
                  <a:pt x="66080" y="142838"/>
                  <a:pt x="71400" y="137517"/>
                  <a:pt x="71400" y="130932"/>
                </a:cubicBezTo>
                <a:cubicBezTo>
                  <a:pt x="71400" y="124346"/>
                  <a:pt x="66080" y="119025"/>
                  <a:pt x="59494" y="119025"/>
                </a:cubicBezTo>
                <a:lnTo>
                  <a:pt x="11906" y="119063"/>
                </a:lnTo>
                <a:cubicBezTo>
                  <a:pt x="8744" y="119063"/>
                  <a:pt x="5693" y="120328"/>
                  <a:pt x="3460" y="122597"/>
                </a:cubicBezTo>
                <a:cubicBezTo>
                  <a:pt x="1228" y="124867"/>
                  <a:pt x="-37" y="127881"/>
                  <a:pt x="0" y="131080"/>
                </a:cubicBezTo>
                <a:lnTo>
                  <a:pt x="372" y="178333"/>
                </a:lnTo>
                <a:cubicBezTo>
                  <a:pt x="409" y="184919"/>
                  <a:pt x="5804" y="190202"/>
                  <a:pt x="12390" y="190128"/>
                </a:cubicBezTo>
                <a:cubicBezTo>
                  <a:pt x="18976" y="190054"/>
                  <a:pt x="24259" y="184696"/>
                  <a:pt x="24185" y="178110"/>
                </a:cubicBezTo>
                <a:lnTo>
                  <a:pt x="24036" y="158948"/>
                </a:lnTo>
                <a:lnTo>
                  <a:pt x="28017" y="162706"/>
                </a:lnTo>
                <a:cubicBezTo>
                  <a:pt x="45244" y="179859"/>
                  <a:pt x="69019" y="190500"/>
                  <a:pt x="95250" y="190500"/>
                </a:cubicBezTo>
                <a:cubicBezTo>
                  <a:pt x="143247" y="190500"/>
                  <a:pt x="182947" y="155004"/>
                  <a:pt x="189533" y="108831"/>
                </a:cubicBezTo>
                <a:close/>
              </a:path>
            </a:pathLst>
          </a:custGeom>
          <a:solidFill>
            <a:srgbClr val="C9A86A"/>
          </a:solidFill>
          <a:ln/>
        </p:spPr>
        <p:txBody>
          <a:bodyPr/>
          <a:lstStyle/>
          <a:p>
            <a:endParaRPr lang="zh-CN" altLang="en-US"/>
          </a:p>
        </p:txBody>
      </p:sp>
      <p:sp>
        <p:nvSpPr>
          <p:cNvPr id="45" name="Text 43"/>
          <p:cNvSpPr/>
          <p:nvPr/>
        </p:nvSpPr>
        <p:spPr>
          <a:xfrm>
            <a:off x="6600825" y="4743450"/>
            <a:ext cx="51530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核心理论</a:t>
            </a:r>
            <a:endParaRPr lang="en-US" sz="1600" dirty="0"/>
          </a:p>
        </p:txBody>
      </p:sp>
      <p:sp>
        <p:nvSpPr>
          <p:cNvPr id="46" name="Text 44"/>
          <p:cNvSpPr/>
          <p:nvPr/>
        </p:nvSpPr>
        <p:spPr>
          <a:xfrm>
            <a:off x="6362700" y="5124450"/>
            <a:ext cx="5372100" cy="495300"/>
          </a:xfrm>
          <a:prstGeom prst="rect">
            <a:avLst/>
          </a:prstGeom>
          <a:noFill/>
          <a:ln/>
        </p:spPr>
        <p:txBody>
          <a:bodyPr wrap="square" lIns="0" tIns="0" rIns="0" bIns="0" rtlCol="0" anchor="ctr"/>
          <a:lstStyle/>
          <a:p>
            <a:pPr>
              <a:lnSpc>
                <a:spcPct val="140000"/>
              </a:lnSpc>
            </a:pPr>
            <a:r>
              <a:rPr lang="en-US" sz="1200" b="1" dirty="0">
                <a:solidFill>
                  <a:srgbClr val="C9A86A"/>
                </a:solidFill>
                <a:latin typeface="Noto Sans SC" pitchFamily="34" charset="0"/>
                <a:ea typeface="Noto Sans SC" pitchFamily="34" charset="-122"/>
                <a:cs typeface="Noto Sans SC" pitchFamily="34" charset="-120"/>
              </a:rPr>
              <a:t>KV ≈ 低秩骨干 + 局部变化残差</a:t>
            </a:r>
            <a:r>
              <a:rPr lang="en-US" sz="1200" dirty="0">
                <a:solidFill>
                  <a:srgbClr val="E0E2E5">
                    <a:alpha val="80000"/>
                  </a:srgbClr>
                </a:solidFill>
                <a:latin typeface="Noto Sans SC" pitchFamily="34" charset="0"/>
                <a:ea typeface="Noto Sans SC" pitchFamily="34" charset="-122"/>
                <a:cs typeface="Noto Sans SC" pitchFamily="34" charset="-120"/>
              </a:rPr>
              <a:t>——通过层间共享一个共同的低秩或共享主干，各层仅需额外存储少量的差异化残差信息。</a:t>
            </a:r>
            <a:endParaRPr lang="en-US" sz="1600" dirty="0"/>
          </a:p>
        </p:txBody>
      </p:sp>
      <p:sp>
        <p:nvSpPr>
          <p:cNvPr id="47" name="Shape 45"/>
          <p:cNvSpPr/>
          <p:nvPr/>
        </p:nvSpPr>
        <p:spPr>
          <a:xfrm>
            <a:off x="400050" y="5924550"/>
            <a:ext cx="11410950" cy="552450"/>
          </a:xfrm>
          <a:custGeom>
            <a:avLst/>
            <a:gdLst/>
            <a:ahLst/>
            <a:cxnLst/>
            <a:rect l="l" t="t" r="r" b="b"/>
            <a:pathLst>
              <a:path w="11410950" h="552450">
                <a:moveTo>
                  <a:pt x="38100" y="0"/>
                </a:moveTo>
                <a:lnTo>
                  <a:pt x="11334751" y="0"/>
                </a:lnTo>
                <a:cubicBezTo>
                  <a:pt x="11376834" y="0"/>
                  <a:pt x="11410950" y="34116"/>
                  <a:pt x="11410950" y="76199"/>
                </a:cubicBezTo>
                <a:lnTo>
                  <a:pt x="11410950" y="476251"/>
                </a:lnTo>
                <a:cubicBezTo>
                  <a:pt x="11410950" y="518334"/>
                  <a:pt x="11376834" y="552450"/>
                  <a:pt x="11334751" y="552450"/>
                </a:cubicBezTo>
                <a:lnTo>
                  <a:pt x="38100" y="552450"/>
                </a:lnTo>
                <a:cubicBezTo>
                  <a:pt x="17072" y="552450"/>
                  <a:pt x="0" y="535378"/>
                  <a:pt x="0" y="514350"/>
                </a:cubicBezTo>
                <a:lnTo>
                  <a:pt x="0" y="38100"/>
                </a:lnTo>
                <a:cubicBezTo>
                  <a:pt x="0" y="17072"/>
                  <a:pt x="17072" y="0"/>
                  <a:pt x="38100" y="0"/>
                </a:cubicBezTo>
                <a:close/>
              </a:path>
            </a:pathLst>
          </a:custGeom>
          <a:solidFill>
            <a:srgbClr val="C9A86A">
              <a:alpha val="20000"/>
            </a:srgbClr>
          </a:solidFill>
          <a:ln/>
        </p:spPr>
        <p:txBody>
          <a:bodyPr/>
          <a:lstStyle/>
          <a:p>
            <a:endParaRPr lang="zh-CN" altLang="en-US"/>
          </a:p>
        </p:txBody>
      </p:sp>
      <p:sp>
        <p:nvSpPr>
          <p:cNvPr id="48" name="Shape 46"/>
          <p:cNvSpPr/>
          <p:nvPr/>
        </p:nvSpPr>
        <p:spPr>
          <a:xfrm>
            <a:off x="400050" y="5924550"/>
            <a:ext cx="38100" cy="552450"/>
          </a:xfrm>
          <a:custGeom>
            <a:avLst/>
            <a:gdLst/>
            <a:ahLst/>
            <a:cxnLst/>
            <a:rect l="l" t="t" r="r" b="b"/>
            <a:pathLst>
              <a:path w="38100" h="552450">
                <a:moveTo>
                  <a:pt x="38100" y="0"/>
                </a:moveTo>
                <a:lnTo>
                  <a:pt x="38100" y="0"/>
                </a:lnTo>
                <a:lnTo>
                  <a:pt x="38100" y="552450"/>
                </a:lnTo>
                <a:lnTo>
                  <a:pt x="38100" y="552450"/>
                </a:lnTo>
                <a:cubicBezTo>
                  <a:pt x="17072" y="552450"/>
                  <a:pt x="0" y="535378"/>
                  <a:pt x="0" y="51435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49" name="Shape 47"/>
          <p:cNvSpPr/>
          <p:nvPr/>
        </p:nvSpPr>
        <p:spPr>
          <a:xfrm>
            <a:off x="600075" y="6124575"/>
            <a:ext cx="133350" cy="152400"/>
          </a:xfrm>
          <a:custGeom>
            <a:avLst/>
            <a:gdLst/>
            <a:ahLst/>
            <a:cxnLst/>
            <a:rect l="l" t="t" r="r" b="b"/>
            <a:pathLst>
              <a:path w="133350" h="152400">
                <a:moveTo>
                  <a:pt x="0" y="64294"/>
                </a:moveTo>
                <a:cubicBezTo>
                  <a:pt x="0" y="44559"/>
                  <a:pt x="15984" y="28575"/>
                  <a:pt x="35719" y="28575"/>
                </a:cubicBezTo>
                <a:lnTo>
                  <a:pt x="38100" y="28575"/>
                </a:lnTo>
                <a:cubicBezTo>
                  <a:pt x="43369" y="28575"/>
                  <a:pt x="47625" y="32831"/>
                  <a:pt x="47625" y="38100"/>
                </a:cubicBezTo>
                <a:cubicBezTo>
                  <a:pt x="47625" y="43369"/>
                  <a:pt x="43369" y="47625"/>
                  <a:pt x="38100" y="47625"/>
                </a:cubicBezTo>
                <a:lnTo>
                  <a:pt x="35719" y="47625"/>
                </a:lnTo>
                <a:cubicBezTo>
                  <a:pt x="26521" y="47625"/>
                  <a:pt x="19050" y="55096"/>
                  <a:pt x="19050" y="64294"/>
                </a:cubicBezTo>
                <a:lnTo>
                  <a:pt x="19050" y="66675"/>
                </a:lnTo>
                <a:lnTo>
                  <a:pt x="38100" y="66675"/>
                </a:lnTo>
                <a:cubicBezTo>
                  <a:pt x="48607" y="66675"/>
                  <a:pt x="57150" y="75218"/>
                  <a:pt x="57150" y="85725"/>
                </a:cubicBezTo>
                <a:lnTo>
                  <a:pt x="57150" y="104775"/>
                </a:lnTo>
                <a:cubicBezTo>
                  <a:pt x="57150" y="115282"/>
                  <a:pt x="48607" y="123825"/>
                  <a:pt x="38100" y="123825"/>
                </a:cubicBezTo>
                <a:lnTo>
                  <a:pt x="19050" y="123825"/>
                </a:lnTo>
                <a:cubicBezTo>
                  <a:pt x="8543" y="123825"/>
                  <a:pt x="0" y="115282"/>
                  <a:pt x="0" y="104775"/>
                </a:cubicBezTo>
                <a:lnTo>
                  <a:pt x="0" y="64294"/>
                </a:lnTo>
                <a:close/>
                <a:moveTo>
                  <a:pt x="76200" y="64294"/>
                </a:moveTo>
                <a:cubicBezTo>
                  <a:pt x="76200" y="44559"/>
                  <a:pt x="92184" y="28575"/>
                  <a:pt x="111919" y="28575"/>
                </a:cubicBezTo>
                <a:lnTo>
                  <a:pt x="114300" y="28575"/>
                </a:lnTo>
                <a:cubicBezTo>
                  <a:pt x="119569" y="28575"/>
                  <a:pt x="123825" y="32831"/>
                  <a:pt x="123825" y="38100"/>
                </a:cubicBezTo>
                <a:cubicBezTo>
                  <a:pt x="123825" y="43369"/>
                  <a:pt x="119569" y="47625"/>
                  <a:pt x="114300" y="47625"/>
                </a:cubicBezTo>
                <a:lnTo>
                  <a:pt x="111919" y="47625"/>
                </a:lnTo>
                <a:cubicBezTo>
                  <a:pt x="102721" y="47625"/>
                  <a:pt x="95250" y="55096"/>
                  <a:pt x="95250" y="64294"/>
                </a:cubicBezTo>
                <a:lnTo>
                  <a:pt x="95250" y="66675"/>
                </a:lnTo>
                <a:lnTo>
                  <a:pt x="114300" y="66675"/>
                </a:lnTo>
                <a:cubicBezTo>
                  <a:pt x="124807" y="66675"/>
                  <a:pt x="133350" y="75218"/>
                  <a:pt x="133350" y="85725"/>
                </a:cubicBezTo>
                <a:lnTo>
                  <a:pt x="133350" y="104775"/>
                </a:lnTo>
                <a:cubicBezTo>
                  <a:pt x="133350" y="115282"/>
                  <a:pt x="124807" y="123825"/>
                  <a:pt x="114300" y="123825"/>
                </a:cubicBezTo>
                <a:lnTo>
                  <a:pt x="95250" y="123825"/>
                </a:lnTo>
                <a:cubicBezTo>
                  <a:pt x="84743" y="123825"/>
                  <a:pt x="76200" y="115282"/>
                  <a:pt x="76200" y="104775"/>
                </a:cubicBezTo>
                <a:lnTo>
                  <a:pt x="76200" y="64294"/>
                </a:lnTo>
                <a:close/>
              </a:path>
            </a:pathLst>
          </a:custGeom>
          <a:solidFill>
            <a:srgbClr val="C9A86A"/>
          </a:solidFill>
          <a:ln/>
        </p:spPr>
        <p:txBody>
          <a:bodyPr/>
          <a:lstStyle/>
          <a:p>
            <a:endParaRPr lang="zh-CN" altLang="en-US"/>
          </a:p>
        </p:txBody>
      </p:sp>
      <p:sp>
        <p:nvSpPr>
          <p:cNvPr id="50" name="Text 48"/>
          <p:cNvSpPr/>
          <p:nvPr/>
        </p:nvSpPr>
        <p:spPr>
          <a:xfrm>
            <a:off x="819150" y="6076950"/>
            <a:ext cx="10915650" cy="247650"/>
          </a:xfrm>
          <a:prstGeom prst="rect">
            <a:avLst/>
          </a:prstGeom>
          <a:noFill/>
          <a:ln/>
        </p:spPr>
        <p:txBody>
          <a:bodyPr wrap="square" lIns="0" tIns="0" rIns="0" bIns="0" rtlCol="0" anchor="ctr"/>
          <a:lstStyle/>
          <a:p>
            <a:pPr>
              <a:lnSpc>
                <a:spcPct val="140000"/>
              </a:lnSpc>
            </a:pPr>
            <a:r>
              <a:rPr lang="en-US" sz="1200" b="1" dirty="0">
                <a:solidFill>
                  <a:srgbClr val="E0E2E5"/>
                </a:solidFill>
                <a:latin typeface="Noto Sans SC" pitchFamily="34" charset="0"/>
                <a:ea typeface="Noto Sans SC" pitchFamily="34" charset="-122"/>
                <a:cs typeface="Noto Sans SC" pitchFamily="34" charset="-120"/>
              </a:rPr>
              <a:t>一句话本质：</a:t>
            </a:r>
            <a:r>
              <a:rPr lang="en-US" sz="1200" dirty="0">
                <a:solidFill>
                  <a:srgbClr val="E0E2E5"/>
                </a:solidFill>
                <a:latin typeface="Noto Sans SC" pitchFamily="34" charset="0"/>
                <a:ea typeface="Noto Sans SC" pitchFamily="34" charset="-122"/>
                <a:cs typeface="Noto Sans SC" pitchFamily="34" charset="-120"/>
              </a:rPr>
              <a:t>结构维压缩的本质是将层间共享信息提取为公共骨干，各层仅保留差异化的"残差"。</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SYSTEM DIMENSION</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系统维压缩：Offloading、Paging 与 Prefix Caching</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371600"/>
            <a:ext cx="3686175" cy="4229100"/>
          </a:xfrm>
          <a:custGeom>
            <a:avLst/>
            <a:gdLst/>
            <a:ahLst/>
            <a:cxnLst/>
            <a:rect l="l" t="t" r="r" b="b"/>
            <a:pathLst>
              <a:path w="3686175" h="4229100">
                <a:moveTo>
                  <a:pt x="38100" y="0"/>
                </a:moveTo>
                <a:lnTo>
                  <a:pt x="3609982" y="0"/>
                </a:lnTo>
                <a:cubicBezTo>
                  <a:pt x="3652062" y="0"/>
                  <a:pt x="3686175" y="34113"/>
                  <a:pt x="3686175" y="76193"/>
                </a:cubicBezTo>
                <a:lnTo>
                  <a:pt x="3686175" y="4152907"/>
                </a:lnTo>
                <a:cubicBezTo>
                  <a:pt x="3686175" y="4194987"/>
                  <a:pt x="3652062" y="4229100"/>
                  <a:pt x="3609982" y="4229100"/>
                </a:cubicBezTo>
                <a:lnTo>
                  <a:pt x="38100" y="4229100"/>
                </a:lnTo>
                <a:cubicBezTo>
                  <a:pt x="17072" y="4229100"/>
                  <a:pt x="0" y="4212028"/>
                  <a:pt x="0" y="41910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371600"/>
            <a:ext cx="38100" cy="4229100"/>
          </a:xfrm>
          <a:custGeom>
            <a:avLst/>
            <a:gdLst/>
            <a:ahLst/>
            <a:cxnLst/>
            <a:rect l="l" t="t" r="r" b="b"/>
            <a:pathLst>
              <a:path w="38100" h="4229100">
                <a:moveTo>
                  <a:pt x="38100" y="0"/>
                </a:moveTo>
                <a:lnTo>
                  <a:pt x="38100" y="0"/>
                </a:lnTo>
                <a:lnTo>
                  <a:pt x="38100" y="4229100"/>
                </a:lnTo>
                <a:lnTo>
                  <a:pt x="38100" y="4229100"/>
                </a:lnTo>
                <a:cubicBezTo>
                  <a:pt x="17072" y="4229100"/>
                  <a:pt x="0" y="4212028"/>
                  <a:pt x="0" y="41910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Shape 5"/>
          <p:cNvSpPr/>
          <p:nvPr/>
        </p:nvSpPr>
        <p:spPr>
          <a:xfrm>
            <a:off x="609600"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3D8B75"/>
          </a:solidFill>
          <a:ln/>
        </p:spPr>
        <p:txBody>
          <a:bodyPr/>
          <a:lstStyle/>
          <a:p>
            <a:endParaRPr lang="zh-CN" altLang="en-US"/>
          </a:p>
        </p:txBody>
      </p:sp>
      <p:sp>
        <p:nvSpPr>
          <p:cNvPr id="8" name="Shape 6"/>
          <p:cNvSpPr/>
          <p:nvPr/>
        </p:nvSpPr>
        <p:spPr>
          <a:xfrm>
            <a:off x="754856" y="1695450"/>
            <a:ext cx="166688" cy="190500"/>
          </a:xfrm>
          <a:custGeom>
            <a:avLst/>
            <a:gdLst/>
            <a:ahLst/>
            <a:cxnLst/>
            <a:rect l="l" t="t" r="r" b="b"/>
            <a:pathLst>
              <a:path w="166688" h="190500">
                <a:moveTo>
                  <a:pt x="142875" y="35719"/>
                </a:moveTo>
                <a:lnTo>
                  <a:pt x="95250" y="35719"/>
                </a:lnTo>
                <a:lnTo>
                  <a:pt x="95250" y="83344"/>
                </a:lnTo>
                <a:lnTo>
                  <a:pt x="142875" y="83344"/>
                </a:lnTo>
                <a:lnTo>
                  <a:pt x="142875" y="35719"/>
                </a:lnTo>
                <a:close/>
                <a:moveTo>
                  <a:pt x="166688" y="83344"/>
                </a:moveTo>
                <a:lnTo>
                  <a:pt x="166688" y="154781"/>
                </a:lnTo>
                <a:cubicBezTo>
                  <a:pt x="166688" y="167915"/>
                  <a:pt x="156009" y="178594"/>
                  <a:pt x="142875" y="178594"/>
                </a:cubicBezTo>
                <a:lnTo>
                  <a:pt x="23812" y="178594"/>
                </a:lnTo>
                <a:cubicBezTo>
                  <a:pt x="10678" y="178594"/>
                  <a:pt x="0" y="167915"/>
                  <a:pt x="0" y="154781"/>
                </a:cubicBezTo>
                <a:lnTo>
                  <a:pt x="0" y="35719"/>
                </a:lnTo>
                <a:cubicBezTo>
                  <a:pt x="0" y="22585"/>
                  <a:pt x="10678" y="11906"/>
                  <a:pt x="23812" y="11906"/>
                </a:cubicBezTo>
                <a:lnTo>
                  <a:pt x="142875" y="11906"/>
                </a:lnTo>
                <a:cubicBezTo>
                  <a:pt x="156009" y="11906"/>
                  <a:pt x="166688" y="22585"/>
                  <a:pt x="166688" y="35719"/>
                </a:cubicBezTo>
                <a:lnTo>
                  <a:pt x="166688" y="83344"/>
                </a:lnTo>
                <a:close/>
                <a:moveTo>
                  <a:pt x="23812" y="107156"/>
                </a:moveTo>
                <a:lnTo>
                  <a:pt x="23812" y="154781"/>
                </a:lnTo>
                <a:lnTo>
                  <a:pt x="71438" y="154781"/>
                </a:lnTo>
                <a:lnTo>
                  <a:pt x="71438" y="107156"/>
                </a:lnTo>
                <a:lnTo>
                  <a:pt x="23812" y="107156"/>
                </a:lnTo>
                <a:close/>
                <a:moveTo>
                  <a:pt x="71438" y="83344"/>
                </a:moveTo>
                <a:lnTo>
                  <a:pt x="71438" y="35719"/>
                </a:lnTo>
                <a:lnTo>
                  <a:pt x="23812" y="35719"/>
                </a:lnTo>
                <a:lnTo>
                  <a:pt x="23812" y="83344"/>
                </a:lnTo>
                <a:lnTo>
                  <a:pt x="71438" y="83344"/>
                </a:lnTo>
                <a:close/>
                <a:moveTo>
                  <a:pt x="95250" y="107156"/>
                </a:moveTo>
                <a:lnTo>
                  <a:pt x="95250" y="154781"/>
                </a:lnTo>
                <a:lnTo>
                  <a:pt x="142875" y="154781"/>
                </a:lnTo>
                <a:lnTo>
                  <a:pt x="142875" y="107156"/>
                </a:lnTo>
                <a:lnTo>
                  <a:pt x="95250" y="107156"/>
                </a:lnTo>
                <a:close/>
              </a:path>
            </a:pathLst>
          </a:custGeom>
          <a:solidFill>
            <a:srgbClr val="FFFFFF"/>
          </a:solidFill>
          <a:ln/>
        </p:spPr>
        <p:txBody>
          <a:bodyPr/>
          <a:lstStyle/>
          <a:p>
            <a:endParaRPr lang="zh-CN" altLang="en-US"/>
          </a:p>
        </p:txBody>
      </p:sp>
      <p:sp>
        <p:nvSpPr>
          <p:cNvPr id="9" name="Text 7"/>
          <p:cNvSpPr/>
          <p:nvPr/>
        </p:nvSpPr>
        <p:spPr>
          <a:xfrm>
            <a:off x="1181100" y="1657350"/>
            <a:ext cx="14954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PagedAttention</a:t>
            </a:r>
            <a:endParaRPr lang="en-US" sz="1600" dirty="0"/>
          </a:p>
        </p:txBody>
      </p:sp>
      <p:sp>
        <p:nvSpPr>
          <p:cNvPr id="10" name="Shape 8"/>
          <p:cNvSpPr/>
          <p:nvPr/>
        </p:nvSpPr>
        <p:spPr>
          <a:xfrm>
            <a:off x="609600" y="2171700"/>
            <a:ext cx="3286125" cy="990600"/>
          </a:xfrm>
          <a:custGeom>
            <a:avLst/>
            <a:gdLst/>
            <a:ahLst/>
            <a:cxnLst/>
            <a:rect l="l" t="t" r="r" b="b"/>
            <a:pathLst>
              <a:path w="3286125" h="990600">
                <a:moveTo>
                  <a:pt x="76197" y="0"/>
                </a:moveTo>
                <a:lnTo>
                  <a:pt x="3209928" y="0"/>
                </a:lnTo>
                <a:cubicBezTo>
                  <a:pt x="3252010" y="0"/>
                  <a:pt x="3286125" y="34115"/>
                  <a:pt x="3286125" y="76197"/>
                </a:cubicBezTo>
                <a:lnTo>
                  <a:pt x="3286125" y="914403"/>
                </a:lnTo>
                <a:cubicBezTo>
                  <a:pt x="3286125" y="956485"/>
                  <a:pt x="3252010" y="990600"/>
                  <a:pt x="3209928" y="990600"/>
                </a:cubicBezTo>
                <a:lnTo>
                  <a:pt x="76197" y="990600"/>
                </a:lnTo>
                <a:cubicBezTo>
                  <a:pt x="34115" y="990600"/>
                  <a:pt x="0" y="956485"/>
                  <a:pt x="0" y="914403"/>
                </a:cubicBezTo>
                <a:lnTo>
                  <a:pt x="0" y="76197"/>
                </a:lnTo>
                <a:cubicBezTo>
                  <a:pt x="0" y="34143"/>
                  <a:pt x="34143" y="0"/>
                  <a:pt x="76197" y="0"/>
                </a:cubicBezTo>
                <a:close/>
              </a:path>
            </a:pathLst>
          </a:custGeom>
          <a:solidFill>
            <a:srgbClr val="1A1D21">
              <a:alpha val="50196"/>
            </a:srgbClr>
          </a:solidFill>
          <a:ln/>
        </p:spPr>
        <p:txBody>
          <a:bodyPr/>
          <a:lstStyle/>
          <a:p>
            <a:endParaRPr lang="zh-CN" altLang="en-US"/>
          </a:p>
        </p:txBody>
      </p:sp>
      <p:sp>
        <p:nvSpPr>
          <p:cNvPr id="11" name="Text 9"/>
          <p:cNvSpPr/>
          <p:nvPr/>
        </p:nvSpPr>
        <p:spPr>
          <a:xfrm>
            <a:off x="723900" y="2286000"/>
            <a:ext cx="3124200" cy="190500"/>
          </a:xfrm>
          <a:prstGeom prst="rect">
            <a:avLst/>
          </a:prstGeom>
          <a:noFill/>
          <a:ln/>
        </p:spPr>
        <p:txBody>
          <a:bodyPr wrap="square" lIns="0" tIns="0" rIns="0" bIns="0" rtlCol="0" anchor="ctr"/>
          <a:lstStyle/>
          <a:p>
            <a:pPr>
              <a:lnSpc>
                <a:spcPct val="120000"/>
              </a:lnSpc>
            </a:pPr>
            <a:r>
              <a:rPr lang="en-US" sz="1050" b="1" dirty="0">
                <a:solidFill>
                  <a:srgbClr val="3D8B75"/>
                </a:solidFill>
                <a:latin typeface="Noto Sans SC" pitchFamily="34" charset="0"/>
                <a:ea typeface="Noto Sans SC" pitchFamily="34" charset="-122"/>
                <a:cs typeface="Noto Sans SC" pitchFamily="34" charset="-120"/>
              </a:rPr>
              <a:t>核心洞察</a:t>
            </a:r>
            <a:endParaRPr lang="en-US" sz="1600" dirty="0"/>
          </a:p>
        </p:txBody>
      </p:sp>
      <p:sp>
        <p:nvSpPr>
          <p:cNvPr id="12" name="Text 10"/>
          <p:cNvSpPr/>
          <p:nvPr/>
        </p:nvSpPr>
        <p:spPr>
          <a:xfrm>
            <a:off x="723900" y="2552700"/>
            <a:ext cx="3133725"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由于 LLM 文本生成的不可预测性，</a:t>
            </a:r>
            <a:r>
              <a:rPr lang="en-US" sz="1200" dirty="0">
                <a:solidFill>
                  <a:srgbClr val="C9A86A"/>
                </a:solidFill>
                <a:highlight>
                  <a:srgbClr val="C9A86A">
                    <a:alpha val="20000"/>
                  </a:srgbClr>
                </a:highlight>
                <a:latin typeface="Noto Sans SC" pitchFamily="34" charset="0"/>
                <a:ea typeface="Noto Sans SC" pitchFamily="34" charset="-122"/>
                <a:cs typeface="Noto Sans SC" pitchFamily="34" charset="-120"/>
              </a:rPr>
              <a:t> 传统连续内存预分配会导致 60%-80% 的碎片浪费 </a:t>
            </a:r>
            <a:r>
              <a:rPr lang="en-US" sz="12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13" name="Shape 11"/>
          <p:cNvSpPr/>
          <p:nvPr/>
        </p:nvSpPr>
        <p:spPr>
          <a:xfrm>
            <a:off x="609600" y="3276600"/>
            <a:ext cx="3286125" cy="1447800"/>
          </a:xfrm>
          <a:custGeom>
            <a:avLst/>
            <a:gdLst/>
            <a:ahLst/>
            <a:cxnLst/>
            <a:rect l="l" t="t" r="r" b="b"/>
            <a:pathLst>
              <a:path w="3286125" h="1447800">
                <a:moveTo>
                  <a:pt x="76198" y="0"/>
                </a:moveTo>
                <a:lnTo>
                  <a:pt x="3209927" y="0"/>
                </a:lnTo>
                <a:cubicBezTo>
                  <a:pt x="3251982" y="0"/>
                  <a:pt x="3286125" y="34143"/>
                  <a:pt x="3286125" y="76198"/>
                </a:cubicBezTo>
                <a:lnTo>
                  <a:pt x="3286125" y="1371602"/>
                </a:lnTo>
                <a:cubicBezTo>
                  <a:pt x="3286125" y="1413657"/>
                  <a:pt x="3251982" y="1447800"/>
                  <a:pt x="3209927" y="1447800"/>
                </a:cubicBezTo>
                <a:lnTo>
                  <a:pt x="76198" y="1447800"/>
                </a:lnTo>
                <a:cubicBezTo>
                  <a:pt x="34143" y="1447800"/>
                  <a:pt x="0" y="1413657"/>
                  <a:pt x="0" y="1371602"/>
                </a:cubicBezTo>
                <a:lnTo>
                  <a:pt x="0" y="76198"/>
                </a:lnTo>
                <a:cubicBezTo>
                  <a:pt x="0" y="34143"/>
                  <a:pt x="34143" y="0"/>
                  <a:pt x="76198" y="0"/>
                </a:cubicBezTo>
                <a:close/>
              </a:path>
            </a:pathLst>
          </a:custGeom>
          <a:solidFill>
            <a:srgbClr val="1A1D21">
              <a:alpha val="50196"/>
            </a:srgbClr>
          </a:solidFill>
          <a:ln/>
        </p:spPr>
        <p:txBody>
          <a:bodyPr/>
          <a:lstStyle/>
          <a:p>
            <a:endParaRPr lang="zh-CN" altLang="en-US"/>
          </a:p>
        </p:txBody>
      </p:sp>
      <p:sp>
        <p:nvSpPr>
          <p:cNvPr id="14" name="Text 12"/>
          <p:cNvSpPr/>
          <p:nvPr/>
        </p:nvSpPr>
        <p:spPr>
          <a:xfrm>
            <a:off x="723900" y="3390900"/>
            <a:ext cx="3124200" cy="190500"/>
          </a:xfrm>
          <a:prstGeom prst="rect">
            <a:avLst/>
          </a:prstGeom>
          <a:noFill/>
          <a:ln/>
        </p:spPr>
        <p:txBody>
          <a:bodyPr wrap="square" lIns="0" tIns="0" rIns="0" bIns="0" rtlCol="0" anchor="ctr"/>
          <a:lstStyle/>
          <a:p>
            <a:pPr>
              <a:lnSpc>
                <a:spcPct val="120000"/>
              </a:lnSpc>
            </a:pPr>
            <a:r>
              <a:rPr lang="en-US" sz="1050" b="1" dirty="0">
                <a:solidFill>
                  <a:srgbClr val="3D8B75"/>
                </a:solidFill>
                <a:latin typeface="Noto Sans SC" pitchFamily="34" charset="0"/>
                <a:ea typeface="Noto Sans SC" pitchFamily="34" charset="-122"/>
                <a:cs typeface="Noto Sans SC" pitchFamily="34" charset="-120"/>
              </a:rPr>
              <a:t>解决方案</a:t>
            </a:r>
            <a:endParaRPr lang="en-US" sz="1600" dirty="0"/>
          </a:p>
        </p:txBody>
      </p:sp>
      <p:sp>
        <p:nvSpPr>
          <p:cNvPr id="15" name="Text 13"/>
          <p:cNvSpPr/>
          <p:nvPr/>
        </p:nvSpPr>
        <p:spPr>
          <a:xfrm>
            <a:off x="723900" y="3657600"/>
            <a:ext cx="3133725" cy="7429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将 KV Cache 拆分为</a:t>
            </a:r>
            <a:r>
              <a:rPr lang="en-US" sz="1200" b="1" dirty="0">
                <a:solidFill>
                  <a:srgbClr val="E0E2E5">
                    <a:alpha val="80000"/>
                  </a:srgbClr>
                </a:solidFill>
                <a:latin typeface="Noto Sans SC" pitchFamily="34" charset="0"/>
                <a:ea typeface="Noto Sans SC" pitchFamily="34" charset="-122"/>
                <a:cs typeface="Noto Sans SC" pitchFamily="34" charset="-120"/>
              </a:rPr>
              <a:t>固定大小的物理 Block</a:t>
            </a:r>
            <a:r>
              <a:rPr lang="en-US" sz="1200" dirty="0">
                <a:solidFill>
                  <a:srgbClr val="E0E2E5">
                    <a:alpha val="80000"/>
                  </a:srgbClr>
                </a:solidFill>
                <a:latin typeface="Noto Sans SC" pitchFamily="34" charset="0"/>
                <a:ea typeface="Noto Sans SC" pitchFamily="34" charset="-122"/>
                <a:cs typeface="Noto Sans SC" pitchFamily="34" charset="-120"/>
              </a:rPr>
              <a:t>（如 16 个 token），引入类似操作系统虚拟内存的 Block Table 映射机制。</a:t>
            </a:r>
            <a:endParaRPr lang="en-US" sz="1600" dirty="0"/>
          </a:p>
        </p:txBody>
      </p:sp>
      <p:sp>
        <p:nvSpPr>
          <p:cNvPr id="16" name="Shape 14"/>
          <p:cNvSpPr/>
          <p:nvPr/>
        </p:nvSpPr>
        <p:spPr>
          <a:xfrm>
            <a:off x="609600" y="4838700"/>
            <a:ext cx="1609725" cy="571500"/>
          </a:xfrm>
          <a:custGeom>
            <a:avLst/>
            <a:gdLst/>
            <a:ahLst/>
            <a:cxnLst/>
            <a:rect l="l" t="t" r="r" b="b"/>
            <a:pathLst>
              <a:path w="1609725" h="571500">
                <a:moveTo>
                  <a:pt x="76198" y="0"/>
                </a:moveTo>
                <a:lnTo>
                  <a:pt x="1533527" y="0"/>
                </a:lnTo>
                <a:cubicBezTo>
                  <a:pt x="1575610" y="0"/>
                  <a:pt x="1609725" y="34115"/>
                  <a:pt x="1609725" y="76198"/>
                </a:cubicBezTo>
                <a:lnTo>
                  <a:pt x="1609725" y="495302"/>
                </a:lnTo>
                <a:cubicBezTo>
                  <a:pt x="1609725" y="537385"/>
                  <a:pt x="1575610" y="571500"/>
                  <a:pt x="1533527"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50196"/>
            </a:srgbClr>
          </a:solidFill>
          <a:ln/>
        </p:spPr>
        <p:txBody>
          <a:bodyPr/>
          <a:lstStyle/>
          <a:p>
            <a:endParaRPr lang="zh-CN" altLang="en-US"/>
          </a:p>
        </p:txBody>
      </p:sp>
      <p:sp>
        <p:nvSpPr>
          <p:cNvPr id="17" name="Text 15"/>
          <p:cNvSpPr/>
          <p:nvPr/>
        </p:nvSpPr>
        <p:spPr>
          <a:xfrm>
            <a:off x="638175" y="4914900"/>
            <a:ext cx="1552575" cy="266700"/>
          </a:xfrm>
          <a:prstGeom prst="rect">
            <a:avLst/>
          </a:prstGeom>
          <a:noFill/>
          <a:ln/>
        </p:spPr>
        <p:txBody>
          <a:bodyPr wrap="square" lIns="0" tIns="0" rIns="0" bIns="0" rtlCol="0" anchor="ctr"/>
          <a:lstStyle/>
          <a:p>
            <a:pPr algn="ctr">
              <a:lnSpc>
                <a:spcPct val="120000"/>
              </a:lnSpc>
            </a:pPr>
            <a:r>
              <a:rPr lang="en-US" sz="1500" b="1" dirty="0">
                <a:solidFill>
                  <a:srgbClr val="5F6B7A"/>
                </a:solidFill>
                <a:latin typeface="Noto Sans SC" pitchFamily="34" charset="0"/>
                <a:ea typeface="Noto Sans SC" pitchFamily="34" charset="-122"/>
                <a:cs typeface="Noto Sans SC" pitchFamily="34" charset="-120"/>
              </a:rPr>
              <a:t>20-38%</a:t>
            </a:r>
            <a:endParaRPr lang="en-US" sz="1600" dirty="0"/>
          </a:p>
        </p:txBody>
      </p:sp>
      <p:sp>
        <p:nvSpPr>
          <p:cNvPr id="18" name="Text 16"/>
          <p:cNvSpPr/>
          <p:nvPr/>
        </p:nvSpPr>
        <p:spPr>
          <a:xfrm>
            <a:off x="657225" y="5181600"/>
            <a:ext cx="151447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Noto Sans SC" pitchFamily="34" charset="0"/>
                <a:ea typeface="Noto Sans SC" pitchFamily="34" charset="-122"/>
                <a:cs typeface="Noto Sans SC" pitchFamily="34" charset="-120"/>
              </a:rPr>
              <a:t>传统利用率</a:t>
            </a:r>
            <a:endParaRPr lang="en-US" sz="1600" dirty="0"/>
          </a:p>
        </p:txBody>
      </p:sp>
      <p:sp>
        <p:nvSpPr>
          <p:cNvPr id="19" name="Shape 17"/>
          <p:cNvSpPr/>
          <p:nvPr/>
        </p:nvSpPr>
        <p:spPr>
          <a:xfrm>
            <a:off x="2292325" y="4838700"/>
            <a:ext cx="1609725" cy="571500"/>
          </a:xfrm>
          <a:custGeom>
            <a:avLst/>
            <a:gdLst/>
            <a:ahLst/>
            <a:cxnLst/>
            <a:rect l="l" t="t" r="r" b="b"/>
            <a:pathLst>
              <a:path w="1609725" h="571500">
                <a:moveTo>
                  <a:pt x="76198" y="0"/>
                </a:moveTo>
                <a:lnTo>
                  <a:pt x="1533527" y="0"/>
                </a:lnTo>
                <a:cubicBezTo>
                  <a:pt x="1575610" y="0"/>
                  <a:pt x="1609725" y="34115"/>
                  <a:pt x="1609725" y="76198"/>
                </a:cubicBezTo>
                <a:lnTo>
                  <a:pt x="1609725" y="495302"/>
                </a:lnTo>
                <a:cubicBezTo>
                  <a:pt x="1609725" y="537385"/>
                  <a:pt x="1575610" y="571500"/>
                  <a:pt x="1533527"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50196"/>
            </a:srgbClr>
          </a:solidFill>
          <a:ln/>
        </p:spPr>
        <p:txBody>
          <a:bodyPr/>
          <a:lstStyle/>
          <a:p>
            <a:endParaRPr lang="zh-CN" altLang="en-US"/>
          </a:p>
        </p:txBody>
      </p:sp>
      <p:sp>
        <p:nvSpPr>
          <p:cNvPr id="20" name="Text 18"/>
          <p:cNvSpPr/>
          <p:nvPr/>
        </p:nvSpPr>
        <p:spPr>
          <a:xfrm>
            <a:off x="2320900" y="4914900"/>
            <a:ext cx="1552575" cy="266700"/>
          </a:xfrm>
          <a:prstGeom prst="rect">
            <a:avLst/>
          </a:prstGeom>
          <a:noFill/>
          <a:ln/>
        </p:spPr>
        <p:txBody>
          <a:bodyPr wrap="square" lIns="0" tIns="0" rIns="0" bIns="0" rtlCol="0" anchor="ctr"/>
          <a:lstStyle/>
          <a:p>
            <a:pPr algn="ctr">
              <a:lnSpc>
                <a:spcPct val="120000"/>
              </a:lnSpc>
            </a:pPr>
            <a:r>
              <a:rPr lang="en-US" sz="1500" b="1" dirty="0">
                <a:solidFill>
                  <a:srgbClr val="3D8B75"/>
                </a:solidFill>
                <a:latin typeface="Noto Sans SC" pitchFamily="34" charset="0"/>
                <a:ea typeface="Noto Sans SC" pitchFamily="34" charset="-122"/>
                <a:cs typeface="Noto Sans SC" pitchFamily="34" charset="-120"/>
              </a:rPr>
              <a:t>~100%</a:t>
            </a:r>
            <a:endParaRPr lang="en-US" sz="1600" dirty="0"/>
          </a:p>
        </p:txBody>
      </p:sp>
      <p:sp>
        <p:nvSpPr>
          <p:cNvPr id="21" name="Text 19"/>
          <p:cNvSpPr/>
          <p:nvPr/>
        </p:nvSpPr>
        <p:spPr>
          <a:xfrm>
            <a:off x="2339950" y="5181600"/>
            <a:ext cx="151447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Noto Sans SC" pitchFamily="34" charset="0"/>
                <a:ea typeface="Noto Sans SC" pitchFamily="34" charset="-122"/>
                <a:cs typeface="Noto Sans SC" pitchFamily="34" charset="-120"/>
              </a:rPr>
              <a:t>优化后利用率</a:t>
            </a:r>
            <a:endParaRPr lang="en-US" sz="1600" dirty="0"/>
          </a:p>
        </p:txBody>
      </p:sp>
      <p:sp>
        <p:nvSpPr>
          <p:cNvPr id="22" name="Shape 20"/>
          <p:cNvSpPr/>
          <p:nvPr/>
        </p:nvSpPr>
        <p:spPr>
          <a:xfrm>
            <a:off x="4260800" y="1371600"/>
            <a:ext cx="3686175" cy="4229100"/>
          </a:xfrm>
          <a:custGeom>
            <a:avLst/>
            <a:gdLst/>
            <a:ahLst/>
            <a:cxnLst/>
            <a:rect l="l" t="t" r="r" b="b"/>
            <a:pathLst>
              <a:path w="3686175" h="4229100">
                <a:moveTo>
                  <a:pt x="38100" y="0"/>
                </a:moveTo>
                <a:lnTo>
                  <a:pt x="3609982" y="0"/>
                </a:lnTo>
                <a:cubicBezTo>
                  <a:pt x="3652062" y="0"/>
                  <a:pt x="3686175" y="34113"/>
                  <a:pt x="3686175" y="76193"/>
                </a:cubicBezTo>
                <a:lnTo>
                  <a:pt x="3686175" y="4152907"/>
                </a:lnTo>
                <a:cubicBezTo>
                  <a:pt x="3686175" y="4194987"/>
                  <a:pt x="3652062" y="4229100"/>
                  <a:pt x="3609982" y="4229100"/>
                </a:cubicBezTo>
                <a:lnTo>
                  <a:pt x="38100" y="4229100"/>
                </a:lnTo>
                <a:cubicBezTo>
                  <a:pt x="17072" y="4229100"/>
                  <a:pt x="0" y="4212028"/>
                  <a:pt x="0" y="419100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23" name="Shape 21"/>
          <p:cNvSpPr/>
          <p:nvPr/>
        </p:nvSpPr>
        <p:spPr>
          <a:xfrm>
            <a:off x="4260800" y="1371600"/>
            <a:ext cx="38100" cy="4229100"/>
          </a:xfrm>
          <a:custGeom>
            <a:avLst/>
            <a:gdLst/>
            <a:ahLst/>
            <a:cxnLst/>
            <a:rect l="l" t="t" r="r" b="b"/>
            <a:pathLst>
              <a:path w="38100" h="4229100">
                <a:moveTo>
                  <a:pt x="38100" y="0"/>
                </a:moveTo>
                <a:lnTo>
                  <a:pt x="38100" y="0"/>
                </a:lnTo>
                <a:lnTo>
                  <a:pt x="38100" y="4229100"/>
                </a:lnTo>
                <a:lnTo>
                  <a:pt x="38100" y="4229100"/>
                </a:lnTo>
                <a:cubicBezTo>
                  <a:pt x="17072" y="4229100"/>
                  <a:pt x="0" y="4212028"/>
                  <a:pt x="0" y="41910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24" name="Shape 22"/>
          <p:cNvSpPr/>
          <p:nvPr/>
        </p:nvSpPr>
        <p:spPr>
          <a:xfrm>
            <a:off x="4470350"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C9A86A"/>
          </a:solidFill>
          <a:ln/>
        </p:spPr>
        <p:txBody>
          <a:bodyPr/>
          <a:lstStyle/>
          <a:p>
            <a:endParaRPr lang="zh-CN" altLang="en-US"/>
          </a:p>
        </p:txBody>
      </p:sp>
      <p:sp>
        <p:nvSpPr>
          <p:cNvPr id="25" name="Shape 23"/>
          <p:cNvSpPr/>
          <p:nvPr/>
        </p:nvSpPr>
        <p:spPr>
          <a:xfrm>
            <a:off x="4591794" y="1695450"/>
            <a:ext cx="214313" cy="190500"/>
          </a:xfrm>
          <a:custGeom>
            <a:avLst/>
            <a:gdLst/>
            <a:ahLst/>
            <a:cxnLst/>
            <a:rect l="l" t="t" r="r" b="b"/>
            <a:pathLst>
              <a:path w="214313" h="190500">
                <a:moveTo>
                  <a:pt x="53578" y="178594"/>
                </a:moveTo>
                <a:cubicBezTo>
                  <a:pt x="23999" y="178594"/>
                  <a:pt x="0" y="154595"/>
                  <a:pt x="0" y="125016"/>
                </a:cubicBezTo>
                <a:cubicBezTo>
                  <a:pt x="0" y="101426"/>
                  <a:pt x="15255" y="81409"/>
                  <a:pt x="36426" y="74228"/>
                </a:cubicBezTo>
                <a:cubicBezTo>
                  <a:pt x="35942" y="71363"/>
                  <a:pt x="35719" y="68461"/>
                  <a:pt x="35719" y="65484"/>
                </a:cubicBezTo>
                <a:cubicBezTo>
                  <a:pt x="35719" y="35905"/>
                  <a:pt x="59717" y="11906"/>
                  <a:pt x="89297" y="11906"/>
                </a:cubicBezTo>
                <a:cubicBezTo>
                  <a:pt x="109910" y="11906"/>
                  <a:pt x="127806" y="23552"/>
                  <a:pt x="136773" y="40593"/>
                </a:cubicBezTo>
                <a:cubicBezTo>
                  <a:pt x="142056" y="37505"/>
                  <a:pt x="148233" y="35719"/>
                  <a:pt x="154781" y="35719"/>
                </a:cubicBezTo>
                <a:cubicBezTo>
                  <a:pt x="174501" y="35719"/>
                  <a:pt x="190500" y="51718"/>
                  <a:pt x="190500" y="71438"/>
                </a:cubicBezTo>
                <a:cubicBezTo>
                  <a:pt x="190500" y="77279"/>
                  <a:pt x="189086" y="82823"/>
                  <a:pt x="186593" y="87697"/>
                </a:cubicBezTo>
                <a:cubicBezTo>
                  <a:pt x="202964" y="95250"/>
                  <a:pt x="214313" y="111770"/>
                  <a:pt x="214313" y="130969"/>
                </a:cubicBezTo>
                <a:cubicBezTo>
                  <a:pt x="214313" y="157274"/>
                  <a:pt x="192993" y="178594"/>
                  <a:pt x="166688" y="178594"/>
                </a:cubicBezTo>
                <a:lnTo>
                  <a:pt x="53578" y="178594"/>
                </a:lnTo>
                <a:close/>
                <a:moveTo>
                  <a:pt x="140271" y="116458"/>
                </a:moveTo>
                <a:cubicBezTo>
                  <a:pt x="143768" y="112961"/>
                  <a:pt x="143768" y="107305"/>
                  <a:pt x="140271" y="103845"/>
                </a:cubicBezTo>
                <a:cubicBezTo>
                  <a:pt x="136773" y="100385"/>
                  <a:pt x="131118" y="100347"/>
                  <a:pt x="127657" y="103845"/>
                </a:cubicBezTo>
                <a:lnTo>
                  <a:pt x="116123" y="115379"/>
                </a:lnTo>
                <a:lnTo>
                  <a:pt x="116123" y="77391"/>
                </a:lnTo>
                <a:cubicBezTo>
                  <a:pt x="116123" y="72442"/>
                  <a:pt x="112142" y="68461"/>
                  <a:pt x="107193" y="68461"/>
                </a:cubicBezTo>
                <a:cubicBezTo>
                  <a:pt x="102245" y="68461"/>
                  <a:pt x="98264" y="72442"/>
                  <a:pt x="98264" y="77391"/>
                </a:cubicBezTo>
                <a:lnTo>
                  <a:pt x="98264" y="115379"/>
                </a:lnTo>
                <a:lnTo>
                  <a:pt x="86730" y="103845"/>
                </a:lnTo>
                <a:cubicBezTo>
                  <a:pt x="83232" y="100347"/>
                  <a:pt x="77577" y="100347"/>
                  <a:pt x="74116" y="103845"/>
                </a:cubicBezTo>
                <a:cubicBezTo>
                  <a:pt x="70656" y="107342"/>
                  <a:pt x="70619" y="112998"/>
                  <a:pt x="74116" y="116458"/>
                </a:cubicBezTo>
                <a:lnTo>
                  <a:pt x="100905" y="143247"/>
                </a:lnTo>
                <a:cubicBezTo>
                  <a:pt x="104403" y="146745"/>
                  <a:pt x="110058" y="146745"/>
                  <a:pt x="113519" y="143247"/>
                </a:cubicBezTo>
                <a:lnTo>
                  <a:pt x="140308" y="116458"/>
                </a:lnTo>
                <a:close/>
              </a:path>
            </a:pathLst>
          </a:custGeom>
          <a:solidFill>
            <a:srgbClr val="FFFFFF"/>
          </a:solidFill>
          <a:ln/>
        </p:spPr>
        <p:txBody>
          <a:bodyPr/>
          <a:lstStyle/>
          <a:p>
            <a:endParaRPr lang="zh-CN" altLang="en-US"/>
          </a:p>
        </p:txBody>
      </p:sp>
      <p:sp>
        <p:nvSpPr>
          <p:cNvPr id="26" name="Text 24"/>
          <p:cNvSpPr/>
          <p:nvPr/>
        </p:nvSpPr>
        <p:spPr>
          <a:xfrm>
            <a:off x="5041850" y="1657350"/>
            <a:ext cx="10763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ShadowKV</a:t>
            </a:r>
            <a:endParaRPr lang="en-US" sz="1600" dirty="0"/>
          </a:p>
        </p:txBody>
      </p:sp>
      <p:sp>
        <p:nvSpPr>
          <p:cNvPr id="27" name="Shape 25"/>
          <p:cNvSpPr/>
          <p:nvPr/>
        </p:nvSpPr>
        <p:spPr>
          <a:xfrm>
            <a:off x="4470350" y="2171700"/>
            <a:ext cx="3286125" cy="990600"/>
          </a:xfrm>
          <a:custGeom>
            <a:avLst/>
            <a:gdLst/>
            <a:ahLst/>
            <a:cxnLst/>
            <a:rect l="l" t="t" r="r" b="b"/>
            <a:pathLst>
              <a:path w="3286125" h="990600">
                <a:moveTo>
                  <a:pt x="76197" y="0"/>
                </a:moveTo>
                <a:lnTo>
                  <a:pt x="3209928" y="0"/>
                </a:lnTo>
                <a:cubicBezTo>
                  <a:pt x="3252010" y="0"/>
                  <a:pt x="3286125" y="34115"/>
                  <a:pt x="3286125" y="76197"/>
                </a:cubicBezTo>
                <a:lnTo>
                  <a:pt x="3286125" y="914403"/>
                </a:lnTo>
                <a:cubicBezTo>
                  <a:pt x="3286125" y="956485"/>
                  <a:pt x="3252010" y="990600"/>
                  <a:pt x="3209928" y="990600"/>
                </a:cubicBezTo>
                <a:lnTo>
                  <a:pt x="76197" y="990600"/>
                </a:lnTo>
                <a:cubicBezTo>
                  <a:pt x="34115" y="990600"/>
                  <a:pt x="0" y="956485"/>
                  <a:pt x="0" y="914403"/>
                </a:cubicBezTo>
                <a:lnTo>
                  <a:pt x="0" y="76197"/>
                </a:lnTo>
                <a:cubicBezTo>
                  <a:pt x="0" y="34143"/>
                  <a:pt x="34143" y="0"/>
                  <a:pt x="76197" y="0"/>
                </a:cubicBezTo>
                <a:close/>
              </a:path>
            </a:pathLst>
          </a:custGeom>
          <a:solidFill>
            <a:srgbClr val="1A1D21">
              <a:alpha val="50196"/>
            </a:srgbClr>
          </a:solidFill>
          <a:ln/>
        </p:spPr>
        <p:txBody>
          <a:bodyPr/>
          <a:lstStyle/>
          <a:p>
            <a:endParaRPr lang="zh-CN" altLang="en-US"/>
          </a:p>
        </p:txBody>
      </p:sp>
      <p:sp>
        <p:nvSpPr>
          <p:cNvPr id="28" name="Text 26"/>
          <p:cNvSpPr/>
          <p:nvPr/>
        </p:nvSpPr>
        <p:spPr>
          <a:xfrm>
            <a:off x="4584650" y="2286000"/>
            <a:ext cx="3124200"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Noto Sans SC" pitchFamily="34" charset="0"/>
                <a:ea typeface="Noto Sans SC" pitchFamily="34" charset="-122"/>
                <a:cs typeface="Noto Sans SC" pitchFamily="34" charset="-120"/>
              </a:rPr>
              <a:t>核心策略</a:t>
            </a:r>
            <a:endParaRPr lang="en-US" sz="1600" dirty="0"/>
          </a:p>
        </p:txBody>
      </p:sp>
      <p:sp>
        <p:nvSpPr>
          <p:cNvPr id="29" name="Text 27"/>
          <p:cNvSpPr/>
          <p:nvPr/>
        </p:nvSpPr>
        <p:spPr>
          <a:xfrm>
            <a:off x="4584650" y="2552700"/>
            <a:ext cx="3133725" cy="495300"/>
          </a:xfrm>
          <a:prstGeom prst="rect">
            <a:avLst/>
          </a:prstGeom>
          <a:noFill/>
          <a:ln/>
        </p:spPr>
        <p:txBody>
          <a:bodyPr wrap="square" lIns="0" tIns="0" rIns="0" bIns="0" rtlCol="0" anchor="ctr"/>
          <a:lstStyle/>
          <a:p>
            <a:pPr>
              <a:lnSpc>
                <a:spcPct val="140000"/>
              </a:lnSpc>
            </a:pPr>
            <a:r>
              <a:rPr lang="en-US" sz="1200" b="1" dirty="0">
                <a:solidFill>
                  <a:srgbClr val="E0E2E5">
                    <a:alpha val="80000"/>
                  </a:srgbClr>
                </a:solidFill>
                <a:latin typeface="Noto Sans SC" pitchFamily="34" charset="0"/>
                <a:ea typeface="Noto Sans SC" pitchFamily="34" charset="-122"/>
                <a:cs typeface="Noto Sans SC" pitchFamily="34" charset="-120"/>
              </a:rPr>
              <a:t>非对称"影子"机制</a:t>
            </a:r>
            <a:r>
              <a:rPr lang="en-US" sz="1200" dirty="0">
                <a:solidFill>
                  <a:srgbClr val="E0E2E5">
                    <a:alpha val="80000"/>
                  </a:srgbClr>
                </a:solidFill>
                <a:latin typeface="Noto Sans SC" pitchFamily="34" charset="0"/>
                <a:ea typeface="Noto Sans SC" pitchFamily="34" charset="-122"/>
                <a:cs typeface="Noto Sans SC" pitchFamily="34" charset="-120"/>
              </a:rPr>
              <a:t>：Key 低秩存储在 GPU，Value 卸载至 CPU。</a:t>
            </a:r>
            <a:endParaRPr lang="en-US" sz="1600" dirty="0"/>
          </a:p>
        </p:txBody>
      </p:sp>
      <p:sp>
        <p:nvSpPr>
          <p:cNvPr id="30" name="Shape 28"/>
          <p:cNvSpPr/>
          <p:nvPr/>
        </p:nvSpPr>
        <p:spPr>
          <a:xfrm>
            <a:off x="4470350" y="3276600"/>
            <a:ext cx="3286125" cy="685800"/>
          </a:xfrm>
          <a:custGeom>
            <a:avLst/>
            <a:gdLst/>
            <a:ahLst/>
            <a:cxnLst/>
            <a:rect l="l" t="t" r="r" b="b"/>
            <a:pathLst>
              <a:path w="3286125" h="685800">
                <a:moveTo>
                  <a:pt x="76199" y="0"/>
                </a:moveTo>
                <a:lnTo>
                  <a:pt x="3209926" y="0"/>
                </a:lnTo>
                <a:cubicBezTo>
                  <a:pt x="3252009" y="0"/>
                  <a:pt x="3286125" y="34116"/>
                  <a:pt x="3286125" y="76199"/>
                </a:cubicBezTo>
                <a:lnTo>
                  <a:pt x="3286125" y="609601"/>
                </a:lnTo>
                <a:cubicBezTo>
                  <a:pt x="3286125" y="651684"/>
                  <a:pt x="3252009" y="685800"/>
                  <a:pt x="3209926" y="685800"/>
                </a:cubicBezTo>
                <a:lnTo>
                  <a:pt x="76199" y="685800"/>
                </a:lnTo>
                <a:cubicBezTo>
                  <a:pt x="34116" y="685800"/>
                  <a:pt x="0" y="651684"/>
                  <a:pt x="0" y="609601"/>
                </a:cubicBezTo>
                <a:lnTo>
                  <a:pt x="0" y="76199"/>
                </a:lnTo>
                <a:cubicBezTo>
                  <a:pt x="0" y="34144"/>
                  <a:pt x="34144" y="0"/>
                  <a:pt x="76199" y="0"/>
                </a:cubicBezTo>
                <a:close/>
              </a:path>
            </a:pathLst>
          </a:custGeom>
          <a:solidFill>
            <a:srgbClr val="1A1D21">
              <a:alpha val="50196"/>
            </a:srgbClr>
          </a:solidFill>
          <a:ln/>
        </p:spPr>
        <p:txBody>
          <a:bodyPr/>
          <a:lstStyle/>
          <a:p>
            <a:endParaRPr lang="zh-CN" altLang="en-US"/>
          </a:p>
        </p:txBody>
      </p:sp>
      <p:sp>
        <p:nvSpPr>
          <p:cNvPr id="31" name="Shape 29"/>
          <p:cNvSpPr/>
          <p:nvPr/>
        </p:nvSpPr>
        <p:spPr>
          <a:xfrm>
            <a:off x="4613225" y="3429000"/>
            <a:ext cx="133350" cy="152400"/>
          </a:xfrm>
          <a:custGeom>
            <a:avLst/>
            <a:gdLst/>
            <a:ahLst/>
            <a:cxnLst/>
            <a:rect l="l" t="t" r="r" b="b"/>
            <a:pathLst>
              <a:path w="133350" h="152400">
                <a:moveTo>
                  <a:pt x="47774" y="-7858"/>
                </a:moveTo>
                <a:cubicBezTo>
                  <a:pt x="50542" y="-10180"/>
                  <a:pt x="54620" y="-10091"/>
                  <a:pt x="57269" y="-7590"/>
                </a:cubicBezTo>
                <a:cubicBezTo>
                  <a:pt x="60930" y="-4137"/>
                  <a:pt x="64204" y="-327"/>
                  <a:pt x="67360" y="3542"/>
                </a:cubicBezTo>
                <a:cubicBezTo>
                  <a:pt x="71378" y="8453"/>
                  <a:pt x="76200" y="14942"/>
                  <a:pt x="80843" y="22652"/>
                </a:cubicBezTo>
                <a:cubicBezTo>
                  <a:pt x="82391" y="20628"/>
                  <a:pt x="83820" y="18842"/>
                  <a:pt x="85070" y="17324"/>
                </a:cubicBezTo>
                <a:cubicBezTo>
                  <a:pt x="85398" y="16937"/>
                  <a:pt x="85725" y="16520"/>
                  <a:pt x="86052" y="16103"/>
                </a:cubicBezTo>
                <a:cubicBezTo>
                  <a:pt x="88404" y="13186"/>
                  <a:pt x="91321" y="9525"/>
                  <a:pt x="95220" y="9525"/>
                </a:cubicBezTo>
                <a:cubicBezTo>
                  <a:pt x="99209" y="9525"/>
                  <a:pt x="102007" y="13067"/>
                  <a:pt x="104388" y="16103"/>
                </a:cubicBezTo>
                <a:cubicBezTo>
                  <a:pt x="104775" y="16609"/>
                  <a:pt x="105162" y="17085"/>
                  <a:pt x="105549" y="17532"/>
                </a:cubicBezTo>
                <a:cubicBezTo>
                  <a:pt x="108615" y="21223"/>
                  <a:pt x="112693" y="26551"/>
                  <a:pt x="116771" y="33129"/>
                </a:cubicBezTo>
                <a:cubicBezTo>
                  <a:pt x="124867" y="46196"/>
                  <a:pt x="133320" y="64800"/>
                  <a:pt x="133320" y="85695"/>
                </a:cubicBezTo>
                <a:cubicBezTo>
                  <a:pt x="133320" y="122515"/>
                  <a:pt x="103465" y="152370"/>
                  <a:pt x="66645" y="152370"/>
                </a:cubicBezTo>
                <a:cubicBezTo>
                  <a:pt x="29825" y="152370"/>
                  <a:pt x="0" y="122545"/>
                  <a:pt x="0" y="85725"/>
                </a:cubicBezTo>
                <a:cubicBezTo>
                  <a:pt x="0" y="58609"/>
                  <a:pt x="12234" y="35123"/>
                  <a:pt x="23961" y="18752"/>
                </a:cubicBezTo>
                <a:cubicBezTo>
                  <a:pt x="29885" y="10507"/>
                  <a:pt x="35778" y="3899"/>
                  <a:pt x="40213" y="-625"/>
                </a:cubicBezTo>
                <a:cubicBezTo>
                  <a:pt x="42654" y="-3125"/>
                  <a:pt x="45125" y="-5596"/>
                  <a:pt x="47804" y="-7828"/>
                </a:cubicBezTo>
                <a:close/>
                <a:moveTo>
                  <a:pt x="67181" y="123825"/>
                </a:moveTo>
                <a:cubicBezTo>
                  <a:pt x="74712" y="123825"/>
                  <a:pt x="81379" y="121741"/>
                  <a:pt x="87660" y="117574"/>
                </a:cubicBezTo>
                <a:cubicBezTo>
                  <a:pt x="100191" y="108823"/>
                  <a:pt x="103555" y="91321"/>
                  <a:pt x="96024" y="77569"/>
                </a:cubicBezTo>
                <a:cubicBezTo>
                  <a:pt x="94684" y="74890"/>
                  <a:pt x="91261" y="74712"/>
                  <a:pt x="89327" y="76974"/>
                </a:cubicBezTo>
                <a:lnTo>
                  <a:pt x="81826" y="85695"/>
                </a:lnTo>
                <a:cubicBezTo>
                  <a:pt x="79861" y="87957"/>
                  <a:pt x="76319" y="87898"/>
                  <a:pt x="74474" y="85546"/>
                </a:cubicBezTo>
                <a:cubicBezTo>
                  <a:pt x="69324" y="78968"/>
                  <a:pt x="59859" y="66973"/>
                  <a:pt x="55037" y="60841"/>
                </a:cubicBezTo>
                <a:cubicBezTo>
                  <a:pt x="53429" y="58787"/>
                  <a:pt x="50512" y="58460"/>
                  <a:pt x="48637" y="60275"/>
                </a:cubicBezTo>
                <a:cubicBezTo>
                  <a:pt x="43190" y="65574"/>
                  <a:pt x="33308" y="77182"/>
                  <a:pt x="33308" y="91321"/>
                </a:cubicBezTo>
                <a:cubicBezTo>
                  <a:pt x="33308" y="111740"/>
                  <a:pt x="48369" y="123825"/>
                  <a:pt x="67151" y="123825"/>
                </a:cubicBezTo>
                <a:close/>
              </a:path>
            </a:pathLst>
          </a:custGeom>
          <a:solidFill>
            <a:srgbClr val="3D8B75"/>
          </a:solidFill>
          <a:ln/>
        </p:spPr>
        <p:txBody>
          <a:bodyPr/>
          <a:lstStyle/>
          <a:p>
            <a:endParaRPr lang="zh-CN" altLang="en-US"/>
          </a:p>
        </p:txBody>
      </p:sp>
      <p:sp>
        <p:nvSpPr>
          <p:cNvPr id="32" name="Text 30"/>
          <p:cNvSpPr/>
          <p:nvPr/>
        </p:nvSpPr>
        <p:spPr>
          <a:xfrm>
            <a:off x="4775150" y="3390900"/>
            <a:ext cx="29432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GPU（热数据影子）</a:t>
            </a:r>
            <a:endParaRPr lang="en-US" sz="1600" dirty="0"/>
          </a:p>
        </p:txBody>
      </p:sp>
      <p:sp>
        <p:nvSpPr>
          <p:cNvPr id="33" name="Text 31"/>
          <p:cNvSpPr/>
          <p:nvPr/>
        </p:nvSpPr>
        <p:spPr>
          <a:xfrm>
            <a:off x="4584650" y="3657600"/>
            <a:ext cx="3124200"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低秩压缩后的 Key Cache</a:t>
            </a:r>
            <a:endParaRPr lang="en-US" sz="1600" dirty="0"/>
          </a:p>
        </p:txBody>
      </p:sp>
      <p:sp>
        <p:nvSpPr>
          <p:cNvPr id="34" name="Shape 32"/>
          <p:cNvSpPr/>
          <p:nvPr/>
        </p:nvSpPr>
        <p:spPr>
          <a:xfrm>
            <a:off x="4470350" y="4038600"/>
            <a:ext cx="3286125" cy="685800"/>
          </a:xfrm>
          <a:custGeom>
            <a:avLst/>
            <a:gdLst/>
            <a:ahLst/>
            <a:cxnLst/>
            <a:rect l="l" t="t" r="r" b="b"/>
            <a:pathLst>
              <a:path w="3286125" h="685800">
                <a:moveTo>
                  <a:pt x="76199" y="0"/>
                </a:moveTo>
                <a:lnTo>
                  <a:pt x="3209926" y="0"/>
                </a:lnTo>
                <a:cubicBezTo>
                  <a:pt x="3252009" y="0"/>
                  <a:pt x="3286125" y="34116"/>
                  <a:pt x="3286125" y="76199"/>
                </a:cubicBezTo>
                <a:lnTo>
                  <a:pt x="3286125" y="609601"/>
                </a:lnTo>
                <a:cubicBezTo>
                  <a:pt x="3286125" y="651684"/>
                  <a:pt x="3252009" y="685800"/>
                  <a:pt x="3209926" y="685800"/>
                </a:cubicBezTo>
                <a:lnTo>
                  <a:pt x="76199" y="685800"/>
                </a:lnTo>
                <a:cubicBezTo>
                  <a:pt x="34116" y="685800"/>
                  <a:pt x="0" y="651684"/>
                  <a:pt x="0" y="609601"/>
                </a:cubicBezTo>
                <a:lnTo>
                  <a:pt x="0" y="76199"/>
                </a:lnTo>
                <a:cubicBezTo>
                  <a:pt x="0" y="34144"/>
                  <a:pt x="34144" y="0"/>
                  <a:pt x="76199" y="0"/>
                </a:cubicBezTo>
                <a:close/>
              </a:path>
            </a:pathLst>
          </a:custGeom>
          <a:solidFill>
            <a:srgbClr val="1A1D21">
              <a:alpha val="50196"/>
            </a:srgbClr>
          </a:solidFill>
          <a:ln/>
        </p:spPr>
        <p:txBody>
          <a:bodyPr/>
          <a:lstStyle/>
          <a:p>
            <a:endParaRPr lang="zh-CN" altLang="en-US"/>
          </a:p>
        </p:txBody>
      </p:sp>
      <p:sp>
        <p:nvSpPr>
          <p:cNvPr id="35" name="Shape 33"/>
          <p:cNvSpPr/>
          <p:nvPr/>
        </p:nvSpPr>
        <p:spPr>
          <a:xfrm>
            <a:off x="4603700" y="4191000"/>
            <a:ext cx="152400" cy="152400"/>
          </a:xfrm>
          <a:custGeom>
            <a:avLst/>
            <a:gdLst/>
            <a:ahLst/>
            <a:cxnLst/>
            <a:rect l="l" t="t" r="r" b="b"/>
            <a:pathLst>
              <a:path w="152400" h="152400">
                <a:moveTo>
                  <a:pt x="85785" y="0"/>
                </a:moveTo>
                <a:cubicBezTo>
                  <a:pt x="85785" y="-5269"/>
                  <a:pt x="81528" y="-9525"/>
                  <a:pt x="76260" y="-9525"/>
                </a:cubicBezTo>
                <a:cubicBezTo>
                  <a:pt x="70991" y="-9525"/>
                  <a:pt x="66735" y="-5269"/>
                  <a:pt x="66735" y="0"/>
                </a:cubicBezTo>
                <a:lnTo>
                  <a:pt x="66735" y="18484"/>
                </a:lnTo>
                <a:lnTo>
                  <a:pt x="62270" y="14020"/>
                </a:lnTo>
                <a:cubicBezTo>
                  <a:pt x="59472" y="11222"/>
                  <a:pt x="54947" y="11222"/>
                  <a:pt x="52179" y="14020"/>
                </a:cubicBezTo>
                <a:cubicBezTo>
                  <a:pt x="49411" y="16818"/>
                  <a:pt x="49381" y="21342"/>
                  <a:pt x="52179" y="24110"/>
                </a:cubicBezTo>
                <a:lnTo>
                  <a:pt x="66764" y="38695"/>
                </a:lnTo>
                <a:lnTo>
                  <a:pt x="66764" y="59710"/>
                </a:lnTo>
                <a:lnTo>
                  <a:pt x="48548" y="49203"/>
                </a:lnTo>
                <a:lnTo>
                  <a:pt x="43220" y="29289"/>
                </a:lnTo>
                <a:cubicBezTo>
                  <a:pt x="42208" y="25479"/>
                  <a:pt x="38279" y="23217"/>
                  <a:pt x="34469" y="24229"/>
                </a:cubicBezTo>
                <a:cubicBezTo>
                  <a:pt x="30659" y="25241"/>
                  <a:pt x="28367" y="29170"/>
                  <a:pt x="29379" y="32980"/>
                </a:cubicBezTo>
                <a:lnTo>
                  <a:pt x="31016" y="39082"/>
                </a:lnTo>
                <a:lnTo>
                  <a:pt x="15032" y="29855"/>
                </a:lnTo>
                <a:cubicBezTo>
                  <a:pt x="10478" y="27236"/>
                  <a:pt x="4643" y="28783"/>
                  <a:pt x="2024" y="33338"/>
                </a:cubicBezTo>
                <a:cubicBezTo>
                  <a:pt x="-595" y="37892"/>
                  <a:pt x="952" y="43726"/>
                  <a:pt x="5507" y="46345"/>
                </a:cubicBezTo>
                <a:lnTo>
                  <a:pt x="21491" y="55572"/>
                </a:lnTo>
                <a:lnTo>
                  <a:pt x="15389" y="57210"/>
                </a:lnTo>
                <a:cubicBezTo>
                  <a:pt x="11579" y="58222"/>
                  <a:pt x="9317" y="62151"/>
                  <a:pt x="10329" y="65961"/>
                </a:cubicBezTo>
                <a:cubicBezTo>
                  <a:pt x="11341" y="69771"/>
                  <a:pt x="15270" y="72033"/>
                  <a:pt x="19080" y="71021"/>
                </a:cubicBezTo>
                <a:lnTo>
                  <a:pt x="38993" y="65693"/>
                </a:lnTo>
                <a:lnTo>
                  <a:pt x="57210" y="76200"/>
                </a:lnTo>
                <a:lnTo>
                  <a:pt x="38993" y="86707"/>
                </a:lnTo>
                <a:lnTo>
                  <a:pt x="19080" y="81379"/>
                </a:lnTo>
                <a:cubicBezTo>
                  <a:pt x="15270" y="80367"/>
                  <a:pt x="11341" y="82629"/>
                  <a:pt x="10329" y="86439"/>
                </a:cubicBezTo>
                <a:cubicBezTo>
                  <a:pt x="9317" y="90249"/>
                  <a:pt x="11579" y="94178"/>
                  <a:pt x="15389" y="95190"/>
                </a:cubicBezTo>
                <a:lnTo>
                  <a:pt x="21491" y="96828"/>
                </a:lnTo>
                <a:lnTo>
                  <a:pt x="5507" y="106055"/>
                </a:lnTo>
                <a:cubicBezTo>
                  <a:pt x="953" y="108674"/>
                  <a:pt x="-595" y="114508"/>
                  <a:pt x="2024" y="119062"/>
                </a:cubicBezTo>
                <a:cubicBezTo>
                  <a:pt x="4643" y="123617"/>
                  <a:pt x="10477" y="125194"/>
                  <a:pt x="15032" y="122545"/>
                </a:cubicBezTo>
                <a:lnTo>
                  <a:pt x="31016" y="113318"/>
                </a:lnTo>
                <a:lnTo>
                  <a:pt x="29379" y="119420"/>
                </a:lnTo>
                <a:cubicBezTo>
                  <a:pt x="28367" y="123230"/>
                  <a:pt x="30629" y="127159"/>
                  <a:pt x="34439" y="128171"/>
                </a:cubicBezTo>
                <a:cubicBezTo>
                  <a:pt x="38249" y="129183"/>
                  <a:pt x="42178" y="126921"/>
                  <a:pt x="43190" y="123111"/>
                </a:cubicBezTo>
                <a:lnTo>
                  <a:pt x="48518" y="103197"/>
                </a:lnTo>
                <a:lnTo>
                  <a:pt x="66735" y="92690"/>
                </a:lnTo>
                <a:lnTo>
                  <a:pt x="66735" y="113705"/>
                </a:lnTo>
                <a:lnTo>
                  <a:pt x="52149" y="128290"/>
                </a:lnTo>
                <a:cubicBezTo>
                  <a:pt x="49351" y="131088"/>
                  <a:pt x="49351" y="135612"/>
                  <a:pt x="52149" y="138380"/>
                </a:cubicBezTo>
                <a:cubicBezTo>
                  <a:pt x="54947" y="141149"/>
                  <a:pt x="59472" y="141178"/>
                  <a:pt x="62240" y="138380"/>
                </a:cubicBezTo>
                <a:lnTo>
                  <a:pt x="66705" y="133916"/>
                </a:lnTo>
                <a:lnTo>
                  <a:pt x="66705" y="152400"/>
                </a:lnTo>
                <a:cubicBezTo>
                  <a:pt x="66705" y="157669"/>
                  <a:pt x="70961" y="161925"/>
                  <a:pt x="76230" y="161925"/>
                </a:cubicBezTo>
                <a:cubicBezTo>
                  <a:pt x="81498" y="161925"/>
                  <a:pt x="85755" y="157669"/>
                  <a:pt x="85755" y="152400"/>
                </a:cubicBezTo>
                <a:lnTo>
                  <a:pt x="85755" y="133916"/>
                </a:lnTo>
                <a:lnTo>
                  <a:pt x="90220" y="138380"/>
                </a:lnTo>
                <a:cubicBezTo>
                  <a:pt x="93018" y="141178"/>
                  <a:pt x="97542" y="141178"/>
                  <a:pt x="100310" y="138380"/>
                </a:cubicBezTo>
                <a:cubicBezTo>
                  <a:pt x="103078" y="135582"/>
                  <a:pt x="103108" y="131058"/>
                  <a:pt x="100310" y="128290"/>
                </a:cubicBezTo>
                <a:lnTo>
                  <a:pt x="85725" y="113705"/>
                </a:lnTo>
                <a:lnTo>
                  <a:pt x="85725" y="92690"/>
                </a:lnTo>
                <a:lnTo>
                  <a:pt x="103942" y="103197"/>
                </a:lnTo>
                <a:lnTo>
                  <a:pt x="109270" y="123111"/>
                </a:lnTo>
                <a:cubicBezTo>
                  <a:pt x="110282" y="126921"/>
                  <a:pt x="114211" y="129183"/>
                  <a:pt x="118021" y="128171"/>
                </a:cubicBezTo>
                <a:cubicBezTo>
                  <a:pt x="121831" y="127159"/>
                  <a:pt x="124093" y="123230"/>
                  <a:pt x="123081" y="119420"/>
                </a:cubicBezTo>
                <a:lnTo>
                  <a:pt x="121444" y="113318"/>
                </a:lnTo>
                <a:lnTo>
                  <a:pt x="137428" y="122545"/>
                </a:lnTo>
                <a:cubicBezTo>
                  <a:pt x="141982" y="125164"/>
                  <a:pt x="147816" y="123617"/>
                  <a:pt x="150435" y="119062"/>
                </a:cubicBezTo>
                <a:cubicBezTo>
                  <a:pt x="153055" y="114508"/>
                  <a:pt x="151507" y="108674"/>
                  <a:pt x="146953" y="106055"/>
                </a:cubicBezTo>
                <a:lnTo>
                  <a:pt x="130969" y="96828"/>
                </a:lnTo>
                <a:lnTo>
                  <a:pt x="137071" y="95190"/>
                </a:lnTo>
                <a:cubicBezTo>
                  <a:pt x="140881" y="94178"/>
                  <a:pt x="143143" y="90249"/>
                  <a:pt x="142131" y="86439"/>
                </a:cubicBezTo>
                <a:cubicBezTo>
                  <a:pt x="141119" y="82629"/>
                  <a:pt x="137190" y="80367"/>
                  <a:pt x="133380" y="81379"/>
                </a:cubicBezTo>
                <a:lnTo>
                  <a:pt x="113467" y="86707"/>
                </a:lnTo>
                <a:lnTo>
                  <a:pt x="95250" y="76200"/>
                </a:lnTo>
                <a:lnTo>
                  <a:pt x="113467" y="65693"/>
                </a:lnTo>
                <a:lnTo>
                  <a:pt x="133380" y="71021"/>
                </a:lnTo>
                <a:cubicBezTo>
                  <a:pt x="137190" y="72033"/>
                  <a:pt x="141119" y="69771"/>
                  <a:pt x="142131" y="65961"/>
                </a:cubicBezTo>
                <a:cubicBezTo>
                  <a:pt x="143143" y="62151"/>
                  <a:pt x="140881" y="58222"/>
                  <a:pt x="137071" y="57210"/>
                </a:cubicBezTo>
                <a:lnTo>
                  <a:pt x="130969" y="55572"/>
                </a:lnTo>
                <a:lnTo>
                  <a:pt x="146953" y="46345"/>
                </a:lnTo>
                <a:cubicBezTo>
                  <a:pt x="151507" y="43726"/>
                  <a:pt x="153085" y="37892"/>
                  <a:pt x="150435" y="33337"/>
                </a:cubicBezTo>
                <a:cubicBezTo>
                  <a:pt x="147786" y="28783"/>
                  <a:pt x="141982" y="27236"/>
                  <a:pt x="137428" y="29855"/>
                </a:cubicBezTo>
                <a:lnTo>
                  <a:pt x="121444" y="39082"/>
                </a:lnTo>
                <a:lnTo>
                  <a:pt x="123081" y="32980"/>
                </a:lnTo>
                <a:cubicBezTo>
                  <a:pt x="124093" y="29170"/>
                  <a:pt x="121831" y="25241"/>
                  <a:pt x="118021" y="24229"/>
                </a:cubicBezTo>
                <a:cubicBezTo>
                  <a:pt x="114211" y="23217"/>
                  <a:pt x="110282" y="25479"/>
                  <a:pt x="109270" y="29289"/>
                </a:cubicBezTo>
                <a:lnTo>
                  <a:pt x="103942" y="49203"/>
                </a:lnTo>
                <a:lnTo>
                  <a:pt x="85725" y="59710"/>
                </a:lnTo>
                <a:lnTo>
                  <a:pt x="85725" y="38695"/>
                </a:lnTo>
                <a:lnTo>
                  <a:pt x="100310" y="24110"/>
                </a:lnTo>
                <a:cubicBezTo>
                  <a:pt x="103108" y="21312"/>
                  <a:pt x="103108" y="16788"/>
                  <a:pt x="100310" y="14020"/>
                </a:cubicBezTo>
                <a:cubicBezTo>
                  <a:pt x="97512" y="11251"/>
                  <a:pt x="92988" y="11222"/>
                  <a:pt x="90220" y="14020"/>
                </a:cubicBezTo>
                <a:lnTo>
                  <a:pt x="85755" y="18484"/>
                </a:lnTo>
                <a:lnTo>
                  <a:pt x="85755" y="0"/>
                </a:lnTo>
                <a:close/>
              </a:path>
            </a:pathLst>
          </a:custGeom>
          <a:solidFill>
            <a:srgbClr val="5F6B7A"/>
          </a:solidFill>
          <a:ln/>
        </p:spPr>
        <p:txBody>
          <a:bodyPr/>
          <a:lstStyle/>
          <a:p>
            <a:endParaRPr lang="zh-CN" altLang="en-US"/>
          </a:p>
        </p:txBody>
      </p:sp>
      <p:sp>
        <p:nvSpPr>
          <p:cNvPr id="36" name="Text 34"/>
          <p:cNvSpPr/>
          <p:nvPr/>
        </p:nvSpPr>
        <p:spPr>
          <a:xfrm>
            <a:off x="4775150" y="4152900"/>
            <a:ext cx="29432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CPU（大本营）</a:t>
            </a:r>
            <a:endParaRPr lang="en-US" sz="1600" dirty="0"/>
          </a:p>
        </p:txBody>
      </p:sp>
      <p:sp>
        <p:nvSpPr>
          <p:cNvPr id="37" name="Text 35"/>
          <p:cNvSpPr/>
          <p:nvPr/>
        </p:nvSpPr>
        <p:spPr>
          <a:xfrm>
            <a:off x="4584650" y="4419600"/>
            <a:ext cx="3124200"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全精度完整 Value Cache</a:t>
            </a:r>
            <a:endParaRPr lang="en-US" sz="1600" dirty="0"/>
          </a:p>
        </p:txBody>
      </p:sp>
      <p:sp>
        <p:nvSpPr>
          <p:cNvPr id="38" name="Shape 36"/>
          <p:cNvSpPr/>
          <p:nvPr/>
        </p:nvSpPr>
        <p:spPr>
          <a:xfrm>
            <a:off x="4470350" y="4838700"/>
            <a:ext cx="1609725" cy="571500"/>
          </a:xfrm>
          <a:custGeom>
            <a:avLst/>
            <a:gdLst/>
            <a:ahLst/>
            <a:cxnLst/>
            <a:rect l="l" t="t" r="r" b="b"/>
            <a:pathLst>
              <a:path w="1609725" h="571500">
                <a:moveTo>
                  <a:pt x="76198" y="0"/>
                </a:moveTo>
                <a:lnTo>
                  <a:pt x="1533527" y="0"/>
                </a:lnTo>
                <a:cubicBezTo>
                  <a:pt x="1575610" y="0"/>
                  <a:pt x="1609725" y="34115"/>
                  <a:pt x="1609725" y="76198"/>
                </a:cubicBezTo>
                <a:lnTo>
                  <a:pt x="1609725" y="495302"/>
                </a:lnTo>
                <a:cubicBezTo>
                  <a:pt x="1609725" y="537385"/>
                  <a:pt x="1575610" y="571500"/>
                  <a:pt x="1533527"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50196"/>
            </a:srgbClr>
          </a:solidFill>
          <a:ln/>
        </p:spPr>
        <p:txBody>
          <a:bodyPr/>
          <a:lstStyle/>
          <a:p>
            <a:endParaRPr lang="zh-CN" altLang="en-US"/>
          </a:p>
        </p:txBody>
      </p:sp>
      <p:sp>
        <p:nvSpPr>
          <p:cNvPr id="39" name="Text 37"/>
          <p:cNvSpPr/>
          <p:nvPr/>
        </p:nvSpPr>
        <p:spPr>
          <a:xfrm>
            <a:off x="4498925" y="4914900"/>
            <a:ext cx="1552575" cy="266700"/>
          </a:xfrm>
          <a:prstGeom prst="rect">
            <a:avLst/>
          </a:prstGeom>
          <a:noFill/>
          <a:ln/>
        </p:spPr>
        <p:txBody>
          <a:bodyPr wrap="square" lIns="0" tIns="0" rIns="0" bIns="0" rtlCol="0" anchor="ctr"/>
          <a:lstStyle/>
          <a:p>
            <a:pPr algn="ctr">
              <a:lnSpc>
                <a:spcPct val="120000"/>
              </a:lnSpc>
            </a:pPr>
            <a:r>
              <a:rPr lang="en-US" sz="1500" b="1" dirty="0">
                <a:solidFill>
                  <a:srgbClr val="3D8B75"/>
                </a:solidFill>
                <a:latin typeface="Noto Sans SC" pitchFamily="34" charset="0"/>
                <a:ea typeface="Noto Sans SC" pitchFamily="34" charset="-122"/>
                <a:cs typeface="Noto Sans SC" pitchFamily="34" charset="-120"/>
              </a:rPr>
              <a:t>6×</a:t>
            </a:r>
            <a:endParaRPr lang="en-US" sz="1600" dirty="0"/>
          </a:p>
        </p:txBody>
      </p:sp>
      <p:sp>
        <p:nvSpPr>
          <p:cNvPr id="40" name="Text 38"/>
          <p:cNvSpPr/>
          <p:nvPr/>
        </p:nvSpPr>
        <p:spPr>
          <a:xfrm>
            <a:off x="4517975" y="5181600"/>
            <a:ext cx="151447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Noto Sans SC" pitchFamily="34" charset="0"/>
                <a:ea typeface="Noto Sans SC" pitchFamily="34" charset="-122"/>
                <a:cs typeface="Noto Sans SC" pitchFamily="34" charset="-120"/>
              </a:rPr>
              <a:t>批处理扩展</a:t>
            </a:r>
            <a:endParaRPr lang="en-US" sz="1600" dirty="0"/>
          </a:p>
        </p:txBody>
      </p:sp>
      <p:sp>
        <p:nvSpPr>
          <p:cNvPr id="41" name="Shape 39"/>
          <p:cNvSpPr/>
          <p:nvPr/>
        </p:nvSpPr>
        <p:spPr>
          <a:xfrm>
            <a:off x="6153076" y="4838700"/>
            <a:ext cx="1609725" cy="571500"/>
          </a:xfrm>
          <a:custGeom>
            <a:avLst/>
            <a:gdLst/>
            <a:ahLst/>
            <a:cxnLst/>
            <a:rect l="l" t="t" r="r" b="b"/>
            <a:pathLst>
              <a:path w="1609725" h="571500">
                <a:moveTo>
                  <a:pt x="76198" y="0"/>
                </a:moveTo>
                <a:lnTo>
                  <a:pt x="1533527" y="0"/>
                </a:lnTo>
                <a:cubicBezTo>
                  <a:pt x="1575610" y="0"/>
                  <a:pt x="1609725" y="34115"/>
                  <a:pt x="1609725" y="76198"/>
                </a:cubicBezTo>
                <a:lnTo>
                  <a:pt x="1609725" y="495302"/>
                </a:lnTo>
                <a:cubicBezTo>
                  <a:pt x="1609725" y="537385"/>
                  <a:pt x="1575610" y="571500"/>
                  <a:pt x="1533527"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alpha val="50196"/>
            </a:srgbClr>
          </a:solidFill>
          <a:ln/>
        </p:spPr>
        <p:txBody>
          <a:bodyPr/>
          <a:lstStyle/>
          <a:p>
            <a:endParaRPr lang="zh-CN" altLang="en-US"/>
          </a:p>
        </p:txBody>
      </p:sp>
      <p:sp>
        <p:nvSpPr>
          <p:cNvPr id="42" name="Text 40"/>
          <p:cNvSpPr/>
          <p:nvPr/>
        </p:nvSpPr>
        <p:spPr>
          <a:xfrm>
            <a:off x="6181651" y="4914900"/>
            <a:ext cx="1552575" cy="266700"/>
          </a:xfrm>
          <a:prstGeom prst="rect">
            <a:avLst/>
          </a:prstGeom>
          <a:noFill/>
          <a:ln/>
        </p:spPr>
        <p:txBody>
          <a:bodyPr wrap="square" lIns="0" tIns="0" rIns="0" bIns="0" rtlCol="0" anchor="ctr"/>
          <a:lstStyle/>
          <a:p>
            <a:pPr algn="ctr">
              <a:lnSpc>
                <a:spcPct val="120000"/>
              </a:lnSpc>
            </a:pPr>
            <a:r>
              <a:rPr lang="en-US" sz="1500" b="1" dirty="0">
                <a:solidFill>
                  <a:srgbClr val="3D8B75"/>
                </a:solidFill>
                <a:latin typeface="Noto Sans SC" pitchFamily="34" charset="0"/>
                <a:ea typeface="Noto Sans SC" pitchFamily="34" charset="-122"/>
                <a:cs typeface="Noto Sans SC" pitchFamily="34" charset="-120"/>
              </a:rPr>
              <a:t>3.04×</a:t>
            </a:r>
            <a:endParaRPr lang="en-US" sz="1600" dirty="0"/>
          </a:p>
        </p:txBody>
      </p:sp>
      <p:sp>
        <p:nvSpPr>
          <p:cNvPr id="43" name="Text 41"/>
          <p:cNvSpPr/>
          <p:nvPr/>
        </p:nvSpPr>
        <p:spPr>
          <a:xfrm>
            <a:off x="6200701" y="5181600"/>
            <a:ext cx="1514475" cy="152400"/>
          </a:xfrm>
          <a:prstGeom prst="rect">
            <a:avLst/>
          </a:prstGeom>
          <a:noFill/>
          <a:ln/>
        </p:spPr>
        <p:txBody>
          <a:bodyPr wrap="square" lIns="0" tIns="0" rIns="0" bIns="0" rtlCol="0" anchor="ctr"/>
          <a:lstStyle/>
          <a:p>
            <a:pPr algn="ctr">
              <a:lnSpc>
                <a:spcPct val="110000"/>
              </a:lnSpc>
            </a:pPr>
            <a:r>
              <a:rPr lang="en-US" sz="900" dirty="0">
                <a:solidFill>
                  <a:srgbClr val="E0E2E5">
                    <a:alpha val="70000"/>
                  </a:srgbClr>
                </a:solidFill>
                <a:latin typeface="Noto Sans SC" pitchFamily="34" charset="0"/>
                <a:ea typeface="Noto Sans SC" pitchFamily="34" charset="-122"/>
                <a:cs typeface="Noto Sans SC" pitchFamily="34" charset="-120"/>
              </a:rPr>
              <a:t>吞吐量提升</a:t>
            </a:r>
            <a:endParaRPr lang="en-US" sz="1600" dirty="0"/>
          </a:p>
        </p:txBody>
      </p:sp>
      <p:sp>
        <p:nvSpPr>
          <p:cNvPr id="44" name="Shape 42"/>
          <p:cNvSpPr/>
          <p:nvPr/>
        </p:nvSpPr>
        <p:spPr>
          <a:xfrm>
            <a:off x="8121625" y="1371600"/>
            <a:ext cx="3686175" cy="4229100"/>
          </a:xfrm>
          <a:custGeom>
            <a:avLst/>
            <a:gdLst/>
            <a:ahLst/>
            <a:cxnLst/>
            <a:rect l="l" t="t" r="r" b="b"/>
            <a:pathLst>
              <a:path w="3686175" h="4229100">
                <a:moveTo>
                  <a:pt x="38100" y="0"/>
                </a:moveTo>
                <a:lnTo>
                  <a:pt x="3609982" y="0"/>
                </a:lnTo>
                <a:cubicBezTo>
                  <a:pt x="3652062" y="0"/>
                  <a:pt x="3686175" y="34113"/>
                  <a:pt x="3686175" y="76193"/>
                </a:cubicBezTo>
                <a:lnTo>
                  <a:pt x="3686175" y="4152907"/>
                </a:lnTo>
                <a:cubicBezTo>
                  <a:pt x="3686175" y="4194987"/>
                  <a:pt x="3652062" y="4229100"/>
                  <a:pt x="3609982" y="4229100"/>
                </a:cubicBezTo>
                <a:lnTo>
                  <a:pt x="38100" y="4229100"/>
                </a:lnTo>
                <a:cubicBezTo>
                  <a:pt x="17072" y="4229100"/>
                  <a:pt x="0" y="4212028"/>
                  <a:pt x="0" y="419100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45" name="Shape 43"/>
          <p:cNvSpPr/>
          <p:nvPr/>
        </p:nvSpPr>
        <p:spPr>
          <a:xfrm>
            <a:off x="8121625" y="1371600"/>
            <a:ext cx="38100" cy="4229100"/>
          </a:xfrm>
          <a:custGeom>
            <a:avLst/>
            <a:gdLst/>
            <a:ahLst/>
            <a:cxnLst/>
            <a:rect l="l" t="t" r="r" b="b"/>
            <a:pathLst>
              <a:path w="38100" h="4229100">
                <a:moveTo>
                  <a:pt x="38100" y="0"/>
                </a:moveTo>
                <a:lnTo>
                  <a:pt x="38100" y="0"/>
                </a:lnTo>
                <a:lnTo>
                  <a:pt x="38100" y="4229100"/>
                </a:lnTo>
                <a:lnTo>
                  <a:pt x="38100" y="4229100"/>
                </a:lnTo>
                <a:cubicBezTo>
                  <a:pt x="17072" y="4229100"/>
                  <a:pt x="0" y="4212028"/>
                  <a:pt x="0" y="419100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46" name="Shape 44"/>
          <p:cNvSpPr/>
          <p:nvPr/>
        </p:nvSpPr>
        <p:spPr>
          <a:xfrm>
            <a:off x="8331175"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5F6B7A"/>
          </a:solidFill>
          <a:ln/>
        </p:spPr>
        <p:txBody>
          <a:bodyPr/>
          <a:lstStyle/>
          <a:p>
            <a:endParaRPr lang="zh-CN" altLang="en-US"/>
          </a:p>
        </p:txBody>
      </p:sp>
      <p:sp>
        <p:nvSpPr>
          <p:cNvPr id="47" name="Shape 45"/>
          <p:cNvSpPr/>
          <p:nvPr/>
        </p:nvSpPr>
        <p:spPr>
          <a:xfrm>
            <a:off x="8476431" y="1695450"/>
            <a:ext cx="166688" cy="190500"/>
          </a:xfrm>
          <a:custGeom>
            <a:avLst/>
            <a:gdLst/>
            <a:ahLst/>
            <a:cxnLst/>
            <a:rect l="l" t="t" r="r" b="b"/>
            <a:pathLst>
              <a:path w="166688" h="190500">
                <a:moveTo>
                  <a:pt x="71438" y="0"/>
                </a:moveTo>
                <a:cubicBezTo>
                  <a:pt x="58303" y="0"/>
                  <a:pt x="47625" y="10678"/>
                  <a:pt x="47625" y="23812"/>
                </a:cubicBezTo>
                <a:lnTo>
                  <a:pt x="47625" y="119063"/>
                </a:lnTo>
                <a:cubicBezTo>
                  <a:pt x="47625" y="132197"/>
                  <a:pt x="58303" y="142875"/>
                  <a:pt x="71438" y="142875"/>
                </a:cubicBezTo>
                <a:lnTo>
                  <a:pt x="142875" y="142875"/>
                </a:lnTo>
                <a:cubicBezTo>
                  <a:pt x="156009" y="142875"/>
                  <a:pt x="166688" y="132197"/>
                  <a:pt x="166688" y="119063"/>
                </a:cubicBezTo>
                <a:lnTo>
                  <a:pt x="166688" y="44425"/>
                </a:lnTo>
                <a:cubicBezTo>
                  <a:pt x="166688" y="37951"/>
                  <a:pt x="164046" y="31738"/>
                  <a:pt x="159358" y="27236"/>
                </a:cubicBezTo>
                <a:lnTo>
                  <a:pt x="137889" y="6623"/>
                </a:lnTo>
                <a:cubicBezTo>
                  <a:pt x="133462" y="2381"/>
                  <a:pt x="127546" y="0"/>
                  <a:pt x="121407" y="0"/>
                </a:cubicBezTo>
                <a:lnTo>
                  <a:pt x="71438" y="0"/>
                </a:lnTo>
                <a:close/>
                <a:moveTo>
                  <a:pt x="23812" y="47625"/>
                </a:moveTo>
                <a:cubicBezTo>
                  <a:pt x="10678" y="47625"/>
                  <a:pt x="0" y="58303"/>
                  <a:pt x="0" y="71438"/>
                </a:cubicBezTo>
                <a:lnTo>
                  <a:pt x="0" y="166688"/>
                </a:lnTo>
                <a:cubicBezTo>
                  <a:pt x="0" y="179822"/>
                  <a:pt x="10678" y="190500"/>
                  <a:pt x="23812" y="190500"/>
                </a:cubicBezTo>
                <a:lnTo>
                  <a:pt x="95250" y="190500"/>
                </a:lnTo>
                <a:cubicBezTo>
                  <a:pt x="108384" y="190500"/>
                  <a:pt x="119063" y="179822"/>
                  <a:pt x="119063" y="166688"/>
                </a:cubicBezTo>
                <a:lnTo>
                  <a:pt x="119063" y="160734"/>
                </a:lnTo>
                <a:lnTo>
                  <a:pt x="95250" y="160734"/>
                </a:lnTo>
                <a:lnTo>
                  <a:pt x="95250" y="166688"/>
                </a:lnTo>
                <a:lnTo>
                  <a:pt x="23812" y="166688"/>
                </a:lnTo>
                <a:lnTo>
                  <a:pt x="23812" y="71438"/>
                </a:lnTo>
                <a:lnTo>
                  <a:pt x="29766" y="71438"/>
                </a:lnTo>
                <a:lnTo>
                  <a:pt x="29766" y="47625"/>
                </a:lnTo>
                <a:lnTo>
                  <a:pt x="23812" y="47625"/>
                </a:lnTo>
                <a:close/>
              </a:path>
            </a:pathLst>
          </a:custGeom>
          <a:solidFill>
            <a:srgbClr val="FFFFFF"/>
          </a:solidFill>
          <a:ln/>
        </p:spPr>
        <p:txBody>
          <a:bodyPr/>
          <a:lstStyle/>
          <a:p>
            <a:endParaRPr lang="zh-CN" altLang="en-US"/>
          </a:p>
        </p:txBody>
      </p:sp>
      <p:sp>
        <p:nvSpPr>
          <p:cNvPr id="48" name="Text 46"/>
          <p:cNvSpPr/>
          <p:nvPr/>
        </p:nvSpPr>
        <p:spPr>
          <a:xfrm>
            <a:off x="8902675" y="1657350"/>
            <a:ext cx="14287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Prefix Caching</a:t>
            </a:r>
            <a:endParaRPr lang="en-US" sz="1600" dirty="0"/>
          </a:p>
        </p:txBody>
      </p:sp>
      <p:sp>
        <p:nvSpPr>
          <p:cNvPr id="49" name="Shape 47"/>
          <p:cNvSpPr/>
          <p:nvPr/>
        </p:nvSpPr>
        <p:spPr>
          <a:xfrm>
            <a:off x="8331175" y="2171700"/>
            <a:ext cx="3286125" cy="1085850"/>
          </a:xfrm>
          <a:custGeom>
            <a:avLst/>
            <a:gdLst/>
            <a:ahLst/>
            <a:cxnLst/>
            <a:rect l="l" t="t" r="r" b="b"/>
            <a:pathLst>
              <a:path w="3286125" h="1085850">
                <a:moveTo>
                  <a:pt x="76205" y="0"/>
                </a:moveTo>
                <a:lnTo>
                  <a:pt x="3209920" y="0"/>
                </a:lnTo>
                <a:cubicBezTo>
                  <a:pt x="3252007" y="0"/>
                  <a:pt x="3286125" y="34118"/>
                  <a:pt x="3286125" y="76205"/>
                </a:cubicBezTo>
                <a:lnTo>
                  <a:pt x="3286125" y="1009645"/>
                </a:lnTo>
                <a:cubicBezTo>
                  <a:pt x="3286125" y="1051732"/>
                  <a:pt x="3252007" y="1085850"/>
                  <a:pt x="3209920" y="1085850"/>
                </a:cubicBezTo>
                <a:lnTo>
                  <a:pt x="76205" y="1085850"/>
                </a:lnTo>
                <a:cubicBezTo>
                  <a:pt x="34118" y="1085850"/>
                  <a:pt x="0" y="1051732"/>
                  <a:pt x="0" y="1009645"/>
                </a:cubicBezTo>
                <a:lnTo>
                  <a:pt x="0" y="76205"/>
                </a:lnTo>
                <a:cubicBezTo>
                  <a:pt x="0" y="34146"/>
                  <a:pt x="34146" y="0"/>
                  <a:pt x="76205" y="0"/>
                </a:cubicBezTo>
                <a:close/>
              </a:path>
            </a:pathLst>
          </a:custGeom>
          <a:solidFill>
            <a:srgbClr val="1A1D21">
              <a:alpha val="50196"/>
            </a:srgbClr>
          </a:solidFill>
          <a:ln/>
        </p:spPr>
        <p:txBody>
          <a:bodyPr/>
          <a:lstStyle/>
          <a:p>
            <a:endParaRPr lang="zh-CN" altLang="en-US"/>
          </a:p>
        </p:txBody>
      </p:sp>
      <p:sp>
        <p:nvSpPr>
          <p:cNvPr id="50" name="Text 48"/>
          <p:cNvSpPr/>
          <p:nvPr/>
        </p:nvSpPr>
        <p:spPr>
          <a:xfrm>
            <a:off x="8445475" y="2286000"/>
            <a:ext cx="3124200" cy="190500"/>
          </a:xfrm>
          <a:prstGeom prst="rect">
            <a:avLst/>
          </a:prstGeom>
          <a:noFill/>
          <a:ln/>
        </p:spPr>
        <p:txBody>
          <a:bodyPr wrap="square" lIns="0" tIns="0" rIns="0" bIns="0" rtlCol="0" anchor="ctr"/>
          <a:lstStyle/>
          <a:p>
            <a:pPr>
              <a:lnSpc>
                <a:spcPct val="120000"/>
              </a:lnSpc>
            </a:pPr>
            <a:r>
              <a:rPr lang="en-US" sz="1050" b="1" dirty="0">
                <a:solidFill>
                  <a:srgbClr val="5F6B7A"/>
                </a:solidFill>
                <a:latin typeface="Noto Sans SC" pitchFamily="34" charset="0"/>
                <a:ea typeface="Noto Sans SC" pitchFamily="34" charset="-122"/>
                <a:cs typeface="Noto Sans SC" pitchFamily="34" charset="-120"/>
              </a:rPr>
              <a:t>应用场景</a:t>
            </a:r>
            <a:endParaRPr lang="en-US" sz="1600" dirty="0"/>
          </a:p>
        </p:txBody>
      </p:sp>
      <p:sp>
        <p:nvSpPr>
          <p:cNvPr id="51" name="Text 49"/>
          <p:cNvSpPr/>
          <p:nvPr/>
        </p:nvSpPr>
        <p:spPr>
          <a:xfrm>
            <a:off x="8445475" y="2552700"/>
            <a:ext cx="3133725"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多轮对话、System Prompt、RAG 等场景中存在</a:t>
            </a:r>
            <a:r>
              <a:rPr lang="en-US" sz="1200" b="1" dirty="0">
                <a:solidFill>
                  <a:srgbClr val="5F6B7A"/>
                </a:solidFill>
                <a:latin typeface="Noto Sans SC" pitchFamily="34" charset="0"/>
                <a:ea typeface="Noto Sans SC" pitchFamily="34" charset="-122"/>
                <a:cs typeface="Noto Sans SC" pitchFamily="34" charset="-120"/>
              </a:rPr>
              <a:t>大量重复的前缀输入</a:t>
            </a:r>
            <a:r>
              <a:rPr lang="en-US" sz="12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52" name="Shape 50"/>
          <p:cNvSpPr/>
          <p:nvPr/>
        </p:nvSpPr>
        <p:spPr>
          <a:xfrm>
            <a:off x="8331175" y="3371850"/>
            <a:ext cx="3286125" cy="1238250"/>
          </a:xfrm>
          <a:custGeom>
            <a:avLst/>
            <a:gdLst/>
            <a:ahLst/>
            <a:cxnLst/>
            <a:rect l="l" t="t" r="r" b="b"/>
            <a:pathLst>
              <a:path w="3286125" h="1238250">
                <a:moveTo>
                  <a:pt x="76202" y="0"/>
                </a:moveTo>
                <a:lnTo>
                  <a:pt x="3209923" y="0"/>
                </a:lnTo>
                <a:cubicBezTo>
                  <a:pt x="3252008" y="0"/>
                  <a:pt x="3286125" y="34117"/>
                  <a:pt x="3286125" y="76202"/>
                </a:cubicBezTo>
                <a:lnTo>
                  <a:pt x="3286125" y="1162048"/>
                </a:lnTo>
                <a:cubicBezTo>
                  <a:pt x="3286125" y="1204133"/>
                  <a:pt x="3252008" y="1238250"/>
                  <a:pt x="3209923" y="1238250"/>
                </a:cubicBezTo>
                <a:lnTo>
                  <a:pt x="76202" y="1238250"/>
                </a:lnTo>
                <a:cubicBezTo>
                  <a:pt x="34117" y="1238250"/>
                  <a:pt x="0" y="1204133"/>
                  <a:pt x="0" y="116204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53" name="Text 51"/>
          <p:cNvSpPr/>
          <p:nvPr/>
        </p:nvSpPr>
        <p:spPr>
          <a:xfrm>
            <a:off x="8445475" y="3486150"/>
            <a:ext cx="3124200" cy="190500"/>
          </a:xfrm>
          <a:prstGeom prst="rect">
            <a:avLst/>
          </a:prstGeom>
          <a:noFill/>
          <a:ln/>
        </p:spPr>
        <p:txBody>
          <a:bodyPr wrap="square" lIns="0" tIns="0" rIns="0" bIns="0" rtlCol="0" anchor="ctr"/>
          <a:lstStyle/>
          <a:p>
            <a:pPr>
              <a:lnSpc>
                <a:spcPct val="120000"/>
              </a:lnSpc>
            </a:pPr>
            <a:r>
              <a:rPr lang="en-US" sz="1050" b="1" dirty="0">
                <a:solidFill>
                  <a:srgbClr val="5F6B7A"/>
                </a:solidFill>
                <a:latin typeface="Noto Sans SC" pitchFamily="34" charset="0"/>
                <a:ea typeface="Noto Sans SC" pitchFamily="34" charset="-122"/>
                <a:cs typeface="Noto Sans SC" pitchFamily="34" charset="-120"/>
              </a:rPr>
              <a:t>核心机制</a:t>
            </a:r>
            <a:endParaRPr lang="en-US" sz="1600" dirty="0"/>
          </a:p>
        </p:txBody>
      </p:sp>
      <p:sp>
        <p:nvSpPr>
          <p:cNvPr id="54" name="Text 52"/>
          <p:cNvSpPr/>
          <p:nvPr/>
        </p:nvSpPr>
        <p:spPr>
          <a:xfrm>
            <a:off x="8445475" y="3752850"/>
            <a:ext cx="3133725" cy="7429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将重复前缀的 KV Cache 进行</a:t>
            </a:r>
            <a:r>
              <a:rPr lang="en-US" sz="1200" b="1" dirty="0">
                <a:solidFill>
                  <a:srgbClr val="E0E2E5">
                    <a:alpha val="80000"/>
                  </a:srgbClr>
                </a:solidFill>
                <a:latin typeface="Noto Sans SC" pitchFamily="34" charset="0"/>
                <a:ea typeface="Noto Sans SC" pitchFamily="34" charset="-122"/>
                <a:cs typeface="Noto Sans SC" pitchFamily="34" charset="-120"/>
              </a:rPr>
              <a:t>哈希签名并跨请求共享</a:t>
            </a:r>
            <a:r>
              <a:rPr lang="en-US" sz="1200" dirty="0">
                <a:solidFill>
                  <a:srgbClr val="E0E2E5">
                    <a:alpha val="80000"/>
                  </a:srgbClr>
                </a:solidFill>
                <a:latin typeface="Noto Sans SC" pitchFamily="34" charset="0"/>
                <a:ea typeface="Noto Sans SC" pitchFamily="34" charset="-122"/>
                <a:cs typeface="Noto Sans SC" pitchFamily="34" charset="-120"/>
              </a:rPr>
              <a:t>，新请求命中缓存可直接跳过 Prefill 阶段。</a:t>
            </a:r>
            <a:endParaRPr lang="en-US" sz="1600" dirty="0"/>
          </a:p>
        </p:txBody>
      </p:sp>
      <p:sp>
        <p:nvSpPr>
          <p:cNvPr id="55" name="Shape 53"/>
          <p:cNvSpPr/>
          <p:nvPr/>
        </p:nvSpPr>
        <p:spPr>
          <a:xfrm>
            <a:off x="8350225" y="4724400"/>
            <a:ext cx="3267075" cy="685800"/>
          </a:xfrm>
          <a:custGeom>
            <a:avLst/>
            <a:gdLst/>
            <a:ahLst/>
            <a:cxnLst/>
            <a:rect l="l" t="t" r="r" b="b"/>
            <a:pathLst>
              <a:path w="3267075" h="685800">
                <a:moveTo>
                  <a:pt x="38100" y="0"/>
                </a:moveTo>
                <a:lnTo>
                  <a:pt x="3190876" y="0"/>
                </a:lnTo>
                <a:cubicBezTo>
                  <a:pt x="3232959" y="0"/>
                  <a:pt x="3267075" y="34116"/>
                  <a:pt x="3267075" y="76199"/>
                </a:cubicBezTo>
                <a:lnTo>
                  <a:pt x="3267075" y="609601"/>
                </a:lnTo>
                <a:cubicBezTo>
                  <a:pt x="3267075" y="651684"/>
                  <a:pt x="3232959" y="685800"/>
                  <a:pt x="3190876" y="685800"/>
                </a:cubicBezTo>
                <a:lnTo>
                  <a:pt x="38100" y="685800"/>
                </a:lnTo>
                <a:cubicBezTo>
                  <a:pt x="17072" y="685800"/>
                  <a:pt x="0" y="668728"/>
                  <a:pt x="0" y="64770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56" name="Shape 54"/>
          <p:cNvSpPr/>
          <p:nvPr/>
        </p:nvSpPr>
        <p:spPr>
          <a:xfrm>
            <a:off x="8350225" y="47244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57" name="Text 55"/>
          <p:cNvSpPr/>
          <p:nvPr/>
        </p:nvSpPr>
        <p:spPr>
          <a:xfrm>
            <a:off x="8483575" y="4838700"/>
            <a:ext cx="30956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效果</a:t>
            </a:r>
            <a:endParaRPr lang="en-US" sz="1600" dirty="0"/>
          </a:p>
        </p:txBody>
      </p:sp>
      <p:sp>
        <p:nvSpPr>
          <p:cNvPr id="58" name="Text 56"/>
          <p:cNvSpPr/>
          <p:nvPr/>
        </p:nvSpPr>
        <p:spPr>
          <a:xfrm>
            <a:off x="8483575" y="5105400"/>
            <a:ext cx="3086100" cy="190500"/>
          </a:xfrm>
          <a:prstGeom prst="rect">
            <a:avLst/>
          </a:prstGeom>
          <a:noFill/>
          <a:ln/>
        </p:spPr>
        <p:txBody>
          <a:bodyPr wrap="square" lIns="0" tIns="0" rIns="0" bIns="0" rtlCol="0" anchor="ctr"/>
          <a:lstStyle/>
          <a:p>
            <a:pP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显著降低 Time To First Token (TTFT)</a:t>
            </a:r>
            <a:endParaRPr lang="en-US" sz="1600" dirty="0"/>
          </a:p>
        </p:txBody>
      </p:sp>
      <p:sp>
        <p:nvSpPr>
          <p:cNvPr id="59" name="Shape 57"/>
          <p:cNvSpPr/>
          <p:nvPr/>
        </p:nvSpPr>
        <p:spPr>
          <a:xfrm>
            <a:off x="400050" y="5753100"/>
            <a:ext cx="11410950" cy="800100"/>
          </a:xfrm>
          <a:custGeom>
            <a:avLst/>
            <a:gdLst/>
            <a:ahLst/>
            <a:cxnLst/>
            <a:rect l="l" t="t" r="r" b="b"/>
            <a:pathLst>
              <a:path w="11410950" h="800100">
                <a:moveTo>
                  <a:pt x="38100" y="0"/>
                </a:moveTo>
                <a:lnTo>
                  <a:pt x="11334748" y="0"/>
                </a:lnTo>
                <a:cubicBezTo>
                  <a:pt x="11376833" y="0"/>
                  <a:pt x="11410950" y="34117"/>
                  <a:pt x="11410950" y="76202"/>
                </a:cubicBezTo>
                <a:lnTo>
                  <a:pt x="11410950" y="723898"/>
                </a:lnTo>
                <a:cubicBezTo>
                  <a:pt x="11410950" y="765983"/>
                  <a:pt x="11376833" y="800100"/>
                  <a:pt x="11334748" y="800100"/>
                </a:cubicBezTo>
                <a:lnTo>
                  <a:pt x="38100" y="800100"/>
                </a:lnTo>
                <a:cubicBezTo>
                  <a:pt x="17072" y="800100"/>
                  <a:pt x="0" y="783028"/>
                  <a:pt x="0" y="7620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0" name="Shape 58"/>
          <p:cNvSpPr/>
          <p:nvPr/>
        </p:nvSpPr>
        <p:spPr>
          <a:xfrm>
            <a:off x="400050" y="5753100"/>
            <a:ext cx="38100" cy="800100"/>
          </a:xfrm>
          <a:custGeom>
            <a:avLst/>
            <a:gdLst/>
            <a:ahLst/>
            <a:cxnLst/>
            <a:rect l="l" t="t" r="r" b="b"/>
            <a:pathLst>
              <a:path w="38100" h="800100">
                <a:moveTo>
                  <a:pt x="38100" y="0"/>
                </a:moveTo>
                <a:lnTo>
                  <a:pt x="38100" y="0"/>
                </a:lnTo>
                <a:lnTo>
                  <a:pt x="38100" y="800100"/>
                </a:lnTo>
                <a:lnTo>
                  <a:pt x="38100" y="800100"/>
                </a:lnTo>
                <a:cubicBezTo>
                  <a:pt x="17072" y="800100"/>
                  <a:pt x="0" y="783028"/>
                  <a:pt x="0" y="7620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61" name="Shape 59"/>
          <p:cNvSpPr/>
          <p:nvPr/>
        </p:nvSpPr>
        <p:spPr>
          <a:xfrm>
            <a:off x="590550" y="59531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3D8B75"/>
          </a:solidFill>
          <a:ln/>
        </p:spPr>
        <p:txBody>
          <a:bodyPr/>
          <a:lstStyle/>
          <a:p>
            <a:endParaRPr lang="zh-CN" altLang="en-US"/>
          </a:p>
        </p:txBody>
      </p:sp>
      <p:sp>
        <p:nvSpPr>
          <p:cNvPr id="62" name="Text 60"/>
          <p:cNvSpPr/>
          <p:nvPr/>
        </p:nvSpPr>
        <p:spPr>
          <a:xfrm>
            <a:off x="819150" y="5905500"/>
            <a:ext cx="10915650" cy="495300"/>
          </a:xfrm>
          <a:prstGeom prst="rect">
            <a:avLst/>
          </a:prstGeom>
          <a:noFill/>
          <a:ln/>
        </p:spPr>
        <p:txBody>
          <a:bodyPr wrap="square" lIns="0" tIns="0" rIns="0" bIns="0" rtlCol="0" anchor="ctr"/>
          <a:lstStyle/>
          <a:p>
            <a:pPr>
              <a:lnSpc>
                <a:spcPct val="140000"/>
              </a:lnSpc>
            </a:pPr>
            <a:r>
              <a:rPr lang="en-US" sz="1200" b="1" dirty="0">
                <a:solidFill>
                  <a:srgbClr val="E0E2E5"/>
                </a:solidFill>
                <a:latin typeface="Noto Sans SC" pitchFamily="34" charset="0"/>
                <a:ea typeface="Noto Sans SC" pitchFamily="34" charset="-122"/>
                <a:cs typeface="Noto Sans SC" pitchFamily="34" charset="-120"/>
              </a:rPr>
              <a:t>系统维压缩的特殊性：</a:t>
            </a:r>
            <a:r>
              <a:rPr lang="en-US" sz="1200" dirty="0">
                <a:solidFill>
                  <a:srgbClr val="E0E2E5"/>
                </a:solidFill>
                <a:latin typeface="Noto Sans SC" pitchFamily="34" charset="0"/>
                <a:ea typeface="Noto Sans SC" pitchFamily="34" charset="-122"/>
                <a:cs typeface="Noto Sans SC" pitchFamily="34" charset="-120"/>
              </a:rPr>
              <a:t>它并不直接改变 KV 数据的数学内容（如精度或数量），而是从计算机体系结构的视角出发，优化 KV Cache 的"居住方式"（内存布局）和"访问模式"（I/O 调度）。</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55452" y="355452"/>
            <a:ext cx="11552187" cy="213271"/>
          </a:xfrm>
          <a:prstGeom prst="rect">
            <a:avLst/>
          </a:prstGeom>
          <a:noFill/>
          <a:ln/>
        </p:spPr>
        <p:txBody>
          <a:bodyPr wrap="square" lIns="0" tIns="0" rIns="0" bIns="0" rtlCol="0" anchor="ctr"/>
          <a:lstStyle/>
          <a:p>
            <a:pPr>
              <a:lnSpc>
                <a:spcPct val="130000"/>
              </a:lnSpc>
            </a:pPr>
            <a:r>
              <a:rPr lang="en-US" sz="1120" b="1" kern="0" spc="112" dirty="0">
                <a:solidFill>
                  <a:srgbClr val="3D8B75"/>
                </a:solidFill>
                <a:latin typeface="MiSans" pitchFamily="34" charset="0"/>
                <a:ea typeface="MiSans" pitchFamily="34" charset="-122"/>
                <a:cs typeface="MiSans" pitchFamily="34" charset="-120"/>
              </a:rPr>
              <a:t>HYBRID COMPRESSION</a:t>
            </a:r>
            <a:endParaRPr lang="en-US" sz="1600" dirty="0"/>
          </a:p>
        </p:txBody>
      </p:sp>
      <p:sp>
        <p:nvSpPr>
          <p:cNvPr id="3" name="Text 1"/>
          <p:cNvSpPr/>
          <p:nvPr/>
        </p:nvSpPr>
        <p:spPr>
          <a:xfrm>
            <a:off x="355452" y="639813"/>
            <a:ext cx="11641050" cy="355452"/>
          </a:xfrm>
          <a:prstGeom prst="rect">
            <a:avLst/>
          </a:prstGeom>
          <a:noFill/>
          <a:ln/>
        </p:spPr>
        <p:txBody>
          <a:bodyPr wrap="square" lIns="0" tIns="0" rIns="0" bIns="0" rtlCol="0" anchor="ctr"/>
          <a:lstStyle/>
          <a:p>
            <a:pPr>
              <a:lnSpc>
                <a:spcPct val="90000"/>
              </a:lnSpc>
            </a:pPr>
            <a:r>
              <a:rPr lang="en-US" sz="2519" b="1" dirty="0">
                <a:solidFill>
                  <a:srgbClr val="E0E2E5"/>
                </a:solidFill>
                <a:latin typeface="Noto Sans SC" pitchFamily="34" charset="0"/>
                <a:ea typeface="Noto Sans SC" pitchFamily="34" charset="-122"/>
                <a:cs typeface="Noto Sans SC" pitchFamily="34" charset="-120"/>
              </a:rPr>
              <a:t>混合方法：多维联合优化</a:t>
            </a:r>
            <a:endParaRPr lang="en-US" sz="1600" dirty="0"/>
          </a:p>
        </p:txBody>
      </p:sp>
      <p:sp>
        <p:nvSpPr>
          <p:cNvPr id="4" name="Shape 2"/>
          <p:cNvSpPr/>
          <p:nvPr/>
        </p:nvSpPr>
        <p:spPr>
          <a:xfrm>
            <a:off x="355452" y="1101901"/>
            <a:ext cx="853085" cy="35545"/>
          </a:xfrm>
          <a:custGeom>
            <a:avLst/>
            <a:gdLst/>
            <a:ahLst/>
            <a:cxnLst/>
            <a:rect l="l" t="t" r="r" b="b"/>
            <a:pathLst>
              <a:path w="853085" h="35545">
                <a:moveTo>
                  <a:pt x="0" y="0"/>
                </a:moveTo>
                <a:lnTo>
                  <a:pt x="853085" y="0"/>
                </a:lnTo>
                <a:lnTo>
                  <a:pt x="853085" y="35545"/>
                </a:lnTo>
                <a:lnTo>
                  <a:pt x="0" y="35545"/>
                </a:lnTo>
                <a:lnTo>
                  <a:pt x="0" y="0"/>
                </a:lnTo>
                <a:close/>
              </a:path>
            </a:pathLst>
          </a:custGeom>
          <a:solidFill>
            <a:srgbClr val="C9A86A"/>
          </a:solidFill>
          <a:ln/>
        </p:spPr>
        <p:txBody>
          <a:bodyPr/>
          <a:lstStyle/>
          <a:p>
            <a:endParaRPr lang="zh-CN" altLang="en-US"/>
          </a:p>
        </p:txBody>
      </p:sp>
      <p:sp>
        <p:nvSpPr>
          <p:cNvPr id="5" name="Shape 3"/>
          <p:cNvSpPr/>
          <p:nvPr/>
        </p:nvSpPr>
        <p:spPr>
          <a:xfrm>
            <a:off x="373224" y="1216567"/>
            <a:ext cx="5633913" cy="1404035"/>
          </a:xfrm>
          <a:custGeom>
            <a:avLst/>
            <a:gdLst/>
            <a:ahLst/>
            <a:cxnLst/>
            <a:rect l="l" t="t" r="r" b="b"/>
            <a:pathLst>
              <a:path w="5633913" h="1404035">
                <a:moveTo>
                  <a:pt x="35545" y="0"/>
                </a:moveTo>
                <a:lnTo>
                  <a:pt x="5562826" y="0"/>
                </a:lnTo>
                <a:cubicBezTo>
                  <a:pt x="5602086" y="0"/>
                  <a:pt x="5633913" y="31826"/>
                  <a:pt x="5633913" y="71086"/>
                </a:cubicBezTo>
                <a:lnTo>
                  <a:pt x="5633913" y="1332949"/>
                </a:lnTo>
                <a:cubicBezTo>
                  <a:pt x="5633913" y="1372209"/>
                  <a:pt x="5602086" y="1404035"/>
                  <a:pt x="5562826" y="1404035"/>
                </a:cubicBezTo>
                <a:lnTo>
                  <a:pt x="35545" y="1404035"/>
                </a:lnTo>
                <a:cubicBezTo>
                  <a:pt x="15914" y="1404035"/>
                  <a:pt x="0" y="1388121"/>
                  <a:pt x="0" y="1368490"/>
                </a:cubicBezTo>
                <a:lnTo>
                  <a:pt x="0" y="35545"/>
                </a:lnTo>
                <a:cubicBezTo>
                  <a:pt x="0" y="15927"/>
                  <a:pt x="15927" y="0"/>
                  <a:pt x="35545" y="0"/>
                </a:cubicBezTo>
                <a:close/>
              </a:path>
            </a:pathLst>
          </a:custGeom>
          <a:solidFill>
            <a:srgbClr val="3D8B75">
              <a:alpha val="10196"/>
            </a:srgbClr>
          </a:solidFill>
          <a:ln/>
        </p:spPr>
        <p:txBody>
          <a:bodyPr/>
          <a:lstStyle/>
          <a:p>
            <a:endParaRPr lang="zh-CN" altLang="en-US"/>
          </a:p>
        </p:txBody>
      </p:sp>
      <p:sp>
        <p:nvSpPr>
          <p:cNvPr id="6" name="Shape 4"/>
          <p:cNvSpPr/>
          <p:nvPr/>
        </p:nvSpPr>
        <p:spPr>
          <a:xfrm>
            <a:off x="373224" y="1216567"/>
            <a:ext cx="35545" cy="1404035"/>
          </a:xfrm>
          <a:custGeom>
            <a:avLst/>
            <a:gdLst/>
            <a:ahLst/>
            <a:cxnLst/>
            <a:rect l="l" t="t" r="r" b="b"/>
            <a:pathLst>
              <a:path w="35545" h="1404035">
                <a:moveTo>
                  <a:pt x="35545" y="0"/>
                </a:moveTo>
                <a:lnTo>
                  <a:pt x="35545" y="0"/>
                </a:lnTo>
                <a:lnTo>
                  <a:pt x="35545" y="1404035"/>
                </a:lnTo>
                <a:lnTo>
                  <a:pt x="35545" y="1404035"/>
                </a:lnTo>
                <a:cubicBezTo>
                  <a:pt x="15914" y="1404035"/>
                  <a:pt x="0" y="1388121"/>
                  <a:pt x="0" y="1368490"/>
                </a:cubicBezTo>
                <a:lnTo>
                  <a:pt x="0" y="35545"/>
                </a:lnTo>
                <a:cubicBezTo>
                  <a:pt x="0" y="15927"/>
                  <a:pt x="15927" y="0"/>
                  <a:pt x="35545" y="0"/>
                </a:cubicBezTo>
                <a:close/>
              </a:path>
            </a:pathLst>
          </a:custGeom>
          <a:solidFill>
            <a:srgbClr val="3D8B75"/>
          </a:solidFill>
          <a:ln/>
        </p:spPr>
        <p:txBody>
          <a:bodyPr/>
          <a:lstStyle/>
          <a:p>
            <a:endParaRPr lang="zh-CN" altLang="en-US"/>
          </a:p>
        </p:txBody>
      </p:sp>
      <p:sp>
        <p:nvSpPr>
          <p:cNvPr id="7" name="Text 5"/>
          <p:cNvSpPr/>
          <p:nvPr/>
        </p:nvSpPr>
        <p:spPr>
          <a:xfrm>
            <a:off x="568723" y="1394293"/>
            <a:ext cx="5349551" cy="248816"/>
          </a:xfrm>
          <a:prstGeom prst="rect">
            <a:avLst/>
          </a:prstGeom>
          <a:noFill/>
          <a:ln/>
        </p:spPr>
        <p:txBody>
          <a:bodyPr wrap="square" lIns="0" tIns="0" rIns="0" bIns="0" rtlCol="0" anchor="ctr"/>
          <a:lstStyle/>
          <a:p>
            <a:pPr>
              <a:lnSpc>
                <a:spcPct val="120000"/>
              </a:lnSpc>
            </a:pPr>
            <a:r>
              <a:rPr lang="en-US" sz="1399" b="1" dirty="0">
                <a:solidFill>
                  <a:srgbClr val="E0E2E5"/>
                </a:solidFill>
                <a:latin typeface="Noto Sans SC" pitchFamily="34" charset="0"/>
                <a:ea typeface="Noto Sans SC" pitchFamily="34" charset="-122"/>
                <a:cs typeface="Noto Sans SC" pitchFamily="34" charset="-120"/>
              </a:rPr>
              <a:t>混合压缩的必然性</a:t>
            </a:r>
            <a:endParaRPr lang="en-US" sz="1600" dirty="0"/>
          </a:p>
        </p:txBody>
      </p:sp>
      <p:sp>
        <p:nvSpPr>
          <p:cNvPr id="8" name="Text 6"/>
          <p:cNvSpPr/>
          <p:nvPr/>
        </p:nvSpPr>
        <p:spPr>
          <a:xfrm>
            <a:off x="568723" y="1749745"/>
            <a:ext cx="5331778" cy="693131"/>
          </a:xfrm>
          <a:prstGeom prst="rect">
            <a:avLst/>
          </a:prstGeom>
          <a:noFill/>
          <a:ln/>
        </p:spPr>
        <p:txBody>
          <a:bodyPr wrap="square" lIns="0" tIns="0" rIns="0" bIns="0" rtlCol="0" anchor="ctr"/>
          <a:lstStyle/>
          <a:p>
            <a:pPr>
              <a:lnSpc>
                <a:spcPct val="140000"/>
              </a:lnSpc>
            </a:pPr>
            <a:r>
              <a:rPr lang="en-US" sz="1120" dirty="0">
                <a:solidFill>
                  <a:srgbClr val="E0E2E5">
                    <a:alpha val="80000"/>
                  </a:srgbClr>
                </a:solidFill>
                <a:latin typeface="Noto Sans SC" pitchFamily="34" charset="0"/>
                <a:ea typeface="Noto Sans SC" pitchFamily="34" charset="-122"/>
                <a:cs typeface="Noto Sans SC" pitchFamily="34" charset="-120"/>
              </a:rPr>
              <a:t>单一维度的压缩终究有其天花板（例如，剪枝会导致不可逆的信息丢失，而极低比特量化则存在精度崩塌的风险），因此</a:t>
            </a:r>
            <a:r>
              <a:rPr lang="en-US" sz="1120" dirty="0">
                <a:solidFill>
                  <a:srgbClr val="3D8B75"/>
                </a:solidFill>
                <a:highlight>
                  <a:srgbClr val="3D8B75">
                    <a:alpha val="20000"/>
                  </a:srgbClr>
                </a:highlight>
                <a:latin typeface="Noto Sans SC" pitchFamily="34" charset="0"/>
                <a:ea typeface="Noto Sans SC" pitchFamily="34" charset="-122"/>
                <a:cs typeface="Noto Sans SC" pitchFamily="34" charset="-120"/>
              </a:rPr>
              <a:t> 跨越多个维度的联合优化正在成为实际生产环境中的必然演进方向 </a:t>
            </a:r>
            <a:r>
              <a:rPr lang="en-US" sz="112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9" name="Shape 7"/>
          <p:cNvSpPr/>
          <p:nvPr/>
        </p:nvSpPr>
        <p:spPr>
          <a:xfrm>
            <a:off x="373224" y="2762783"/>
            <a:ext cx="5633913" cy="4034379"/>
          </a:xfrm>
          <a:custGeom>
            <a:avLst/>
            <a:gdLst/>
            <a:ahLst/>
            <a:cxnLst/>
            <a:rect l="l" t="t" r="r" b="b"/>
            <a:pathLst>
              <a:path w="5633913" h="4034379">
                <a:moveTo>
                  <a:pt x="35545" y="0"/>
                </a:moveTo>
                <a:lnTo>
                  <a:pt x="5562827" y="0"/>
                </a:lnTo>
                <a:cubicBezTo>
                  <a:pt x="5602086" y="0"/>
                  <a:pt x="5633913" y="31826"/>
                  <a:pt x="5633913" y="71086"/>
                </a:cubicBezTo>
                <a:lnTo>
                  <a:pt x="5633913" y="3963293"/>
                </a:lnTo>
                <a:cubicBezTo>
                  <a:pt x="5633913" y="4002553"/>
                  <a:pt x="5602086" y="4034379"/>
                  <a:pt x="5562827" y="4034379"/>
                </a:cubicBezTo>
                <a:lnTo>
                  <a:pt x="35545" y="4034379"/>
                </a:lnTo>
                <a:cubicBezTo>
                  <a:pt x="15914" y="4034379"/>
                  <a:pt x="0" y="4018465"/>
                  <a:pt x="0" y="3998834"/>
                </a:cubicBezTo>
                <a:lnTo>
                  <a:pt x="0" y="35545"/>
                </a:lnTo>
                <a:cubicBezTo>
                  <a:pt x="0" y="15927"/>
                  <a:pt x="15927" y="0"/>
                  <a:pt x="35545" y="0"/>
                </a:cubicBezTo>
                <a:close/>
              </a:path>
            </a:pathLst>
          </a:custGeom>
          <a:solidFill>
            <a:srgbClr val="C9A86A">
              <a:alpha val="10196"/>
            </a:srgbClr>
          </a:solidFill>
          <a:ln/>
        </p:spPr>
        <p:txBody>
          <a:bodyPr/>
          <a:lstStyle/>
          <a:p>
            <a:endParaRPr lang="zh-CN" altLang="en-US"/>
          </a:p>
        </p:txBody>
      </p:sp>
      <p:sp>
        <p:nvSpPr>
          <p:cNvPr id="10" name="Shape 8"/>
          <p:cNvSpPr/>
          <p:nvPr/>
        </p:nvSpPr>
        <p:spPr>
          <a:xfrm>
            <a:off x="373224" y="2762783"/>
            <a:ext cx="35545" cy="4034379"/>
          </a:xfrm>
          <a:custGeom>
            <a:avLst/>
            <a:gdLst/>
            <a:ahLst/>
            <a:cxnLst/>
            <a:rect l="l" t="t" r="r" b="b"/>
            <a:pathLst>
              <a:path w="35545" h="4034379">
                <a:moveTo>
                  <a:pt x="35545" y="0"/>
                </a:moveTo>
                <a:lnTo>
                  <a:pt x="35545" y="0"/>
                </a:lnTo>
                <a:lnTo>
                  <a:pt x="35545" y="4034379"/>
                </a:lnTo>
                <a:lnTo>
                  <a:pt x="35545" y="4034379"/>
                </a:lnTo>
                <a:cubicBezTo>
                  <a:pt x="15914" y="4034379"/>
                  <a:pt x="0" y="4018465"/>
                  <a:pt x="0" y="3998834"/>
                </a:cubicBezTo>
                <a:lnTo>
                  <a:pt x="0" y="35545"/>
                </a:lnTo>
                <a:cubicBezTo>
                  <a:pt x="0" y="15927"/>
                  <a:pt x="15927" y="0"/>
                  <a:pt x="35545" y="0"/>
                </a:cubicBezTo>
                <a:close/>
              </a:path>
            </a:pathLst>
          </a:custGeom>
          <a:solidFill>
            <a:srgbClr val="C9A86A"/>
          </a:solidFill>
          <a:ln/>
        </p:spPr>
        <p:txBody>
          <a:bodyPr/>
          <a:lstStyle/>
          <a:p>
            <a:endParaRPr lang="zh-CN" altLang="en-US"/>
          </a:p>
        </p:txBody>
      </p:sp>
      <p:sp>
        <p:nvSpPr>
          <p:cNvPr id="11" name="Shape 9"/>
          <p:cNvSpPr/>
          <p:nvPr/>
        </p:nvSpPr>
        <p:spPr>
          <a:xfrm>
            <a:off x="579831" y="2976054"/>
            <a:ext cx="199942" cy="177726"/>
          </a:xfrm>
          <a:custGeom>
            <a:avLst/>
            <a:gdLst/>
            <a:ahLst/>
            <a:cxnLst/>
            <a:rect l="l" t="t" r="r" b="b"/>
            <a:pathLst>
              <a:path w="199942" h="177726">
                <a:moveTo>
                  <a:pt x="107434" y="-6561"/>
                </a:moveTo>
                <a:cubicBezTo>
                  <a:pt x="106011" y="-9338"/>
                  <a:pt x="103130" y="-11108"/>
                  <a:pt x="100006" y="-11108"/>
                </a:cubicBezTo>
                <a:cubicBezTo>
                  <a:pt x="96881" y="-11108"/>
                  <a:pt x="94000" y="-9338"/>
                  <a:pt x="92577" y="-6561"/>
                </a:cubicBezTo>
                <a:lnTo>
                  <a:pt x="67029" y="43494"/>
                </a:lnTo>
                <a:lnTo>
                  <a:pt x="11524" y="52311"/>
                </a:lnTo>
                <a:cubicBezTo>
                  <a:pt x="8435" y="52797"/>
                  <a:pt x="5866" y="54984"/>
                  <a:pt x="4894" y="57969"/>
                </a:cubicBezTo>
                <a:cubicBezTo>
                  <a:pt x="3922" y="60954"/>
                  <a:pt x="4721" y="64217"/>
                  <a:pt x="6908" y="66439"/>
                </a:cubicBezTo>
                <a:lnTo>
                  <a:pt x="46618" y="106184"/>
                </a:lnTo>
                <a:lnTo>
                  <a:pt x="37871" y="161689"/>
                </a:lnTo>
                <a:cubicBezTo>
                  <a:pt x="37385" y="164778"/>
                  <a:pt x="38669" y="167902"/>
                  <a:pt x="41203" y="169742"/>
                </a:cubicBezTo>
                <a:cubicBezTo>
                  <a:pt x="43737" y="171582"/>
                  <a:pt x="47070" y="171860"/>
                  <a:pt x="49881" y="170436"/>
                </a:cubicBezTo>
                <a:lnTo>
                  <a:pt x="100006" y="144958"/>
                </a:lnTo>
                <a:lnTo>
                  <a:pt x="150095" y="170436"/>
                </a:lnTo>
                <a:cubicBezTo>
                  <a:pt x="152872" y="171860"/>
                  <a:pt x="156239" y="171582"/>
                  <a:pt x="158773" y="169742"/>
                </a:cubicBezTo>
                <a:cubicBezTo>
                  <a:pt x="161307" y="167902"/>
                  <a:pt x="162591" y="164813"/>
                  <a:pt x="162106" y="161689"/>
                </a:cubicBezTo>
                <a:lnTo>
                  <a:pt x="153323" y="106184"/>
                </a:lnTo>
                <a:lnTo>
                  <a:pt x="193034" y="66439"/>
                </a:lnTo>
                <a:cubicBezTo>
                  <a:pt x="195256" y="64217"/>
                  <a:pt x="196019" y="60954"/>
                  <a:pt x="195047" y="57969"/>
                </a:cubicBezTo>
                <a:cubicBezTo>
                  <a:pt x="194075" y="54984"/>
                  <a:pt x="191541" y="52797"/>
                  <a:pt x="188417" y="52311"/>
                </a:cubicBezTo>
                <a:lnTo>
                  <a:pt x="132947" y="43494"/>
                </a:lnTo>
                <a:lnTo>
                  <a:pt x="107434" y="-6561"/>
                </a:lnTo>
                <a:close/>
              </a:path>
            </a:pathLst>
          </a:custGeom>
          <a:solidFill>
            <a:srgbClr val="C9A86A"/>
          </a:solidFill>
          <a:ln/>
        </p:spPr>
        <p:txBody>
          <a:bodyPr/>
          <a:lstStyle/>
          <a:p>
            <a:endParaRPr lang="zh-CN" altLang="en-US"/>
          </a:p>
        </p:txBody>
      </p:sp>
      <p:sp>
        <p:nvSpPr>
          <p:cNvPr id="12" name="Text 10"/>
          <p:cNvSpPr/>
          <p:nvPr/>
        </p:nvSpPr>
        <p:spPr>
          <a:xfrm>
            <a:off x="790880" y="2940509"/>
            <a:ext cx="5127394" cy="248816"/>
          </a:xfrm>
          <a:prstGeom prst="rect">
            <a:avLst/>
          </a:prstGeom>
          <a:noFill/>
          <a:ln/>
        </p:spPr>
        <p:txBody>
          <a:bodyPr wrap="square" lIns="0" tIns="0" rIns="0" bIns="0" rtlCol="0" anchor="ctr"/>
          <a:lstStyle/>
          <a:p>
            <a:pPr>
              <a:lnSpc>
                <a:spcPct val="120000"/>
              </a:lnSpc>
            </a:pPr>
            <a:r>
              <a:rPr lang="en-US" sz="1399" b="1" dirty="0">
                <a:solidFill>
                  <a:srgbClr val="E0E2E5"/>
                </a:solidFill>
                <a:latin typeface="Noto Sans SC" pitchFamily="34" charset="0"/>
                <a:ea typeface="Noto Sans SC" pitchFamily="34" charset="-122"/>
                <a:cs typeface="Noto Sans SC" pitchFamily="34" charset="-120"/>
              </a:rPr>
              <a:t>LeanKV</a:t>
            </a:r>
            <a:endParaRPr lang="en-US" sz="1600" dirty="0"/>
          </a:p>
        </p:txBody>
      </p:sp>
      <p:sp>
        <p:nvSpPr>
          <p:cNvPr id="13" name="Text 11"/>
          <p:cNvSpPr/>
          <p:nvPr/>
        </p:nvSpPr>
        <p:spPr>
          <a:xfrm>
            <a:off x="568723" y="3295960"/>
            <a:ext cx="5331778" cy="231044"/>
          </a:xfrm>
          <a:prstGeom prst="rect">
            <a:avLst/>
          </a:prstGeom>
          <a:noFill/>
          <a:ln/>
        </p:spPr>
        <p:txBody>
          <a:bodyPr wrap="square" lIns="0" tIns="0" rIns="0" bIns="0" rtlCol="0" anchor="ctr"/>
          <a:lstStyle/>
          <a:p>
            <a:pPr>
              <a:lnSpc>
                <a:spcPct val="140000"/>
              </a:lnSpc>
            </a:pPr>
            <a:r>
              <a:rPr lang="en-US" sz="1120" dirty="0">
                <a:solidFill>
                  <a:srgbClr val="E0E2E5">
                    <a:alpha val="80000"/>
                  </a:srgbClr>
                </a:solidFill>
                <a:latin typeface="Noto Sans SC" pitchFamily="34" charset="0"/>
                <a:ea typeface="Noto Sans SC" pitchFamily="34" charset="-122"/>
                <a:cs typeface="Noto Sans SC" pitchFamily="34" charset="-120"/>
              </a:rPr>
              <a:t>混合路线的典型代表，敏锐地捕捉到模型中普遍存在的</a:t>
            </a:r>
            <a:r>
              <a:rPr lang="en-US" sz="1120" b="1" dirty="0">
                <a:solidFill>
                  <a:srgbClr val="C9A86A"/>
                </a:solidFill>
                <a:latin typeface="Noto Sans SC" pitchFamily="34" charset="0"/>
                <a:ea typeface="Noto Sans SC" pitchFamily="34" charset="-122"/>
                <a:cs typeface="Noto Sans SC" pitchFamily="34" charset="-120"/>
              </a:rPr>
              <a:t>"三层差异化"</a:t>
            </a:r>
            <a:r>
              <a:rPr lang="en-US" sz="1120" dirty="0">
                <a:solidFill>
                  <a:srgbClr val="E0E2E5">
                    <a:alpha val="80000"/>
                  </a:srgbClr>
                </a:solidFill>
                <a:latin typeface="Noto Sans SC" pitchFamily="34" charset="0"/>
                <a:ea typeface="Noto Sans SC" pitchFamily="34" charset="-122"/>
                <a:cs typeface="Noto Sans SC" pitchFamily="34" charset="-120"/>
              </a:rPr>
              <a:t>特性：</a:t>
            </a:r>
            <a:endParaRPr lang="en-US" sz="1600" dirty="0"/>
          </a:p>
        </p:txBody>
      </p:sp>
      <p:sp>
        <p:nvSpPr>
          <p:cNvPr id="14" name="Shape 12"/>
          <p:cNvSpPr/>
          <p:nvPr/>
        </p:nvSpPr>
        <p:spPr>
          <a:xfrm>
            <a:off x="568723" y="3787623"/>
            <a:ext cx="5260688" cy="639813"/>
          </a:xfrm>
          <a:custGeom>
            <a:avLst/>
            <a:gdLst/>
            <a:ahLst/>
            <a:cxnLst/>
            <a:rect l="l" t="t" r="r" b="b"/>
            <a:pathLst>
              <a:path w="5260688" h="639813">
                <a:moveTo>
                  <a:pt x="71090" y="0"/>
                </a:moveTo>
                <a:lnTo>
                  <a:pt x="5189598" y="0"/>
                </a:lnTo>
                <a:cubicBezTo>
                  <a:pt x="5228860" y="0"/>
                  <a:pt x="5260688" y="31828"/>
                  <a:pt x="5260688" y="71090"/>
                </a:cubicBezTo>
                <a:lnTo>
                  <a:pt x="5260688" y="568724"/>
                </a:lnTo>
                <a:cubicBezTo>
                  <a:pt x="5260688" y="607985"/>
                  <a:pt x="5228860" y="639813"/>
                  <a:pt x="5189598" y="639813"/>
                </a:cubicBezTo>
                <a:lnTo>
                  <a:pt x="71090" y="639813"/>
                </a:lnTo>
                <a:cubicBezTo>
                  <a:pt x="31828" y="639813"/>
                  <a:pt x="0" y="607985"/>
                  <a:pt x="0" y="568724"/>
                </a:cubicBezTo>
                <a:lnTo>
                  <a:pt x="0" y="71090"/>
                </a:lnTo>
                <a:cubicBezTo>
                  <a:pt x="0" y="31854"/>
                  <a:pt x="31854" y="0"/>
                  <a:pt x="71090" y="0"/>
                </a:cubicBezTo>
                <a:close/>
              </a:path>
            </a:pathLst>
          </a:custGeom>
          <a:solidFill>
            <a:srgbClr val="1A1D21">
              <a:alpha val="50196"/>
            </a:srgbClr>
          </a:solidFill>
          <a:ln/>
        </p:spPr>
        <p:txBody>
          <a:bodyPr/>
          <a:lstStyle/>
          <a:p>
            <a:endParaRPr lang="zh-CN" altLang="en-US"/>
          </a:p>
        </p:txBody>
      </p:sp>
      <p:sp>
        <p:nvSpPr>
          <p:cNvPr id="15" name="Shape 13"/>
          <p:cNvSpPr/>
          <p:nvPr/>
        </p:nvSpPr>
        <p:spPr>
          <a:xfrm>
            <a:off x="675359" y="3894258"/>
            <a:ext cx="213271" cy="213271"/>
          </a:xfrm>
          <a:custGeom>
            <a:avLst/>
            <a:gdLst/>
            <a:ahLst/>
            <a:cxnLst/>
            <a:rect l="l" t="t" r="r" b="b"/>
            <a:pathLst>
              <a:path w="213271" h="213271">
                <a:moveTo>
                  <a:pt x="35546" y="0"/>
                </a:moveTo>
                <a:lnTo>
                  <a:pt x="177725" y="0"/>
                </a:lnTo>
                <a:cubicBezTo>
                  <a:pt x="197357" y="0"/>
                  <a:pt x="213271" y="15914"/>
                  <a:pt x="213271" y="35546"/>
                </a:cubicBezTo>
                <a:lnTo>
                  <a:pt x="213271" y="177725"/>
                </a:lnTo>
                <a:cubicBezTo>
                  <a:pt x="213271" y="197357"/>
                  <a:pt x="197357" y="213271"/>
                  <a:pt x="177725" y="213271"/>
                </a:cubicBezTo>
                <a:lnTo>
                  <a:pt x="35546" y="213271"/>
                </a:lnTo>
                <a:cubicBezTo>
                  <a:pt x="15914" y="213271"/>
                  <a:pt x="0" y="197357"/>
                  <a:pt x="0" y="177725"/>
                </a:cubicBezTo>
                <a:lnTo>
                  <a:pt x="0" y="35546"/>
                </a:lnTo>
                <a:cubicBezTo>
                  <a:pt x="0" y="15914"/>
                  <a:pt x="15914" y="0"/>
                  <a:pt x="35546" y="0"/>
                </a:cubicBezTo>
                <a:close/>
              </a:path>
            </a:pathLst>
          </a:custGeom>
          <a:solidFill>
            <a:srgbClr val="3D8B75">
              <a:alpha val="20000"/>
            </a:srgbClr>
          </a:solidFill>
          <a:ln/>
        </p:spPr>
        <p:txBody>
          <a:bodyPr/>
          <a:lstStyle/>
          <a:p>
            <a:endParaRPr lang="zh-CN" altLang="en-US"/>
          </a:p>
        </p:txBody>
      </p:sp>
      <p:sp>
        <p:nvSpPr>
          <p:cNvPr id="16" name="Text 14"/>
          <p:cNvSpPr/>
          <p:nvPr/>
        </p:nvSpPr>
        <p:spPr>
          <a:xfrm>
            <a:off x="756446" y="3912031"/>
            <a:ext cx="115522" cy="177726"/>
          </a:xfrm>
          <a:prstGeom prst="rect">
            <a:avLst/>
          </a:prstGeom>
          <a:noFill/>
          <a:ln/>
        </p:spPr>
        <p:txBody>
          <a:bodyPr wrap="square" lIns="0" tIns="0" rIns="0" bIns="0" rtlCol="0" anchor="ctr"/>
          <a:lstStyle/>
          <a:p>
            <a:pPr>
              <a:lnSpc>
                <a:spcPct val="120000"/>
              </a:lnSpc>
            </a:pPr>
            <a:r>
              <a:rPr lang="en-US" sz="980" b="1" dirty="0">
                <a:solidFill>
                  <a:srgbClr val="3D8B75"/>
                </a:solidFill>
                <a:latin typeface="Noto Sans SC" pitchFamily="34" charset="0"/>
                <a:ea typeface="Noto Sans SC" pitchFamily="34" charset="-122"/>
                <a:cs typeface="Noto Sans SC" pitchFamily="34" charset="-120"/>
              </a:rPr>
              <a:t>1</a:t>
            </a:r>
            <a:endParaRPr lang="en-US" sz="1600" dirty="0"/>
          </a:p>
        </p:txBody>
      </p:sp>
      <p:sp>
        <p:nvSpPr>
          <p:cNvPr id="17" name="Text 15"/>
          <p:cNvSpPr/>
          <p:nvPr/>
        </p:nvSpPr>
        <p:spPr>
          <a:xfrm>
            <a:off x="959720" y="3894258"/>
            <a:ext cx="1021924" cy="213271"/>
          </a:xfrm>
          <a:prstGeom prst="rect">
            <a:avLst/>
          </a:prstGeom>
          <a:noFill/>
          <a:ln/>
        </p:spPr>
        <p:txBody>
          <a:bodyPr wrap="square" lIns="0" tIns="0" rIns="0" bIns="0" rtlCol="0" anchor="ctr"/>
          <a:lstStyle/>
          <a:p>
            <a:pPr>
              <a:lnSpc>
                <a:spcPct val="130000"/>
              </a:lnSpc>
            </a:pPr>
            <a:r>
              <a:rPr lang="en-US" sz="1120" b="1" dirty="0">
                <a:solidFill>
                  <a:srgbClr val="E0E2E5"/>
                </a:solidFill>
                <a:latin typeface="Noto Sans SC" pitchFamily="34" charset="0"/>
                <a:ea typeface="Noto Sans SC" pitchFamily="34" charset="-122"/>
                <a:cs typeface="Noto Sans SC" pitchFamily="34" charset="-120"/>
              </a:rPr>
              <a:t>KV 的不对称性</a:t>
            </a:r>
            <a:endParaRPr lang="en-US" sz="1600" dirty="0"/>
          </a:p>
        </p:txBody>
      </p:sp>
      <p:sp>
        <p:nvSpPr>
          <p:cNvPr id="18" name="Text 16"/>
          <p:cNvSpPr/>
          <p:nvPr/>
        </p:nvSpPr>
        <p:spPr>
          <a:xfrm>
            <a:off x="959720" y="4143074"/>
            <a:ext cx="4825259" cy="177726"/>
          </a:xfrm>
          <a:prstGeom prst="rect">
            <a:avLst/>
          </a:prstGeom>
          <a:noFill/>
          <a:ln/>
        </p:spPr>
        <p:txBody>
          <a:bodyPr wrap="square" lIns="0" tIns="0" rIns="0" bIns="0" rtlCol="0" anchor="ctr"/>
          <a:lstStyle/>
          <a:p>
            <a:pPr>
              <a:lnSpc>
                <a:spcPct val="120000"/>
              </a:lnSpc>
            </a:pPr>
            <a:r>
              <a:rPr lang="en-US" sz="980" dirty="0">
                <a:solidFill>
                  <a:srgbClr val="E0E2E5">
                    <a:alpha val="70000"/>
                  </a:srgbClr>
                </a:solidFill>
                <a:latin typeface="Noto Sans SC" pitchFamily="34" charset="0"/>
                <a:ea typeface="Noto Sans SC" pitchFamily="34" charset="-122"/>
                <a:cs typeface="Noto Sans SC" pitchFamily="34" charset="-120"/>
              </a:rPr>
              <a:t>Key 和 Value 对注意力输出的贡献度截然不同</a:t>
            </a:r>
            <a:endParaRPr lang="en-US" sz="1600" dirty="0"/>
          </a:p>
        </p:txBody>
      </p:sp>
      <p:sp>
        <p:nvSpPr>
          <p:cNvPr id="19" name="Shape 17"/>
          <p:cNvSpPr/>
          <p:nvPr/>
        </p:nvSpPr>
        <p:spPr>
          <a:xfrm>
            <a:off x="568723" y="4806562"/>
            <a:ext cx="5260688" cy="639813"/>
          </a:xfrm>
          <a:custGeom>
            <a:avLst/>
            <a:gdLst/>
            <a:ahLst/>
            <a:cxnLst/>
            <a:rect l="l" t="t" r="r" b="b"/>
            <a:pathLst>
              <a:path w="5260688" h="639813">
                <a:moveTo>
                  <a:pt x="71090" y="0"/>
                </a:moveTo>
                <a:lnTo>
                  <a:pt x="5189598" y="0"/>
                </a:lnTo>
                <a:cubicBezTo>
                  <a:pt x="5228860" y="0"/>
                  <a:pt x="5260688" y="31828"/>
                  <a:pt x="5260688" y="71090"/>
                </a:cubicBezTo>
                <a:lnTo>
                  <a:pt x="5260688" y="568724"/>
                </a:lnTo>
                <a:cubicBezTo>
                  <a:pt x="5260688" y="607985"/>
                  <a:pt x="5228860" y="639813"/>
                  <a:pt x="5189598" y="639813"/>
                </a:cubicBezTo>
                <a:lnTo>
                  <a:pt x="71090" y="639813"/>
                </a:lnTo>
                <a:cubicBezTo>
                  <a:pt x="31828" y="639813"/>
                  <a:pt x="0" y="607985"/>
                  <a:pt x="0" y="568724"/>
                </a:cubicBezTo>
                <a:lnTo>
                  <a:pt x="0" y="71090"/>
                </a:lnTo>
                <a:cubicBezTo>
                  <a:pt x="0" y="31854"/>
                  <a:pt x="31854" y="0"/>
                  <a:pt x="71090" y="0"/>
                </a:cubicBezTo>
                <a:close/>
              </a:path>
            </a:pathLst>
          </a:custGeom>
          <a:solidFill>
            <a:srgbClr val="1A1D21">
              <a:alpha val="50196"/>
            </a:srgbClr>
          </a:solidFill>
          <a:ln/>
        </p:spPr>
        <p:txBody>
          <a:bodyPr/>
          <a:lstStyle/>
          <a:p>
            <a:endParaRPr lang="zh-CN" altLang="en-US"/>
          </a:p>
        </p:txBody>
      </p:sp>
      <p:sp>
        <p:nvSpPr>
          <p:cNvPr id="20" name="Shape 18"/>
          <p:cNvSpPr/>
          <p:nvPr/>
        </p:nvSpPr>
        <p:spPr>
          <a:xfrm>
            <a:off x="675359" y="4913197"/>
            <a:ext cx="213271" cy="213271"/>
          </a:xfrm>
          <a:custGeom>
            <a:avLst/>
            <a:gdLst/>
            <a:ahLst/>
            <a:cxnLst/>
            <a:rect l="l" t="t" r="r" b="b"/>
            <a:pathLst>
              <a:path w="213271" h="213271">
                <a:moveTo>
                  <a:pt x="35546" y="0"/>
                </a:moveTo>
                <a:lnTo>
                  <a:pt x="177725" y="0"/>
                </a:lnTo>
                <a:cubicBezTo>
                  <a:pt x="197357" y="0"/>
                  <a:pt x="213271" y="15914"/>
                  <a:pt x="213271" y="35546"/>
                </a:cubicBezTo>
                <a:lnTo>
                  <a:pt x="213271" y="177725"/>
                </a:lnTo>
                <a:cubicBezTo>
                  <a:pt x="213271" y="197357"/>
                  <a:pt x="197357" y="213271"/>
                  <a:pt x="177725" y="213271"/>
                </a:cubicBezTo>
                <a:lnTo>
                  <a:pt x="35546" y="213271"/>
                </a:lnTo>
                <a:cubicBezTo>
                  <a:pt x="15914" y="213271"/>
                  <a:pt x="0" y="197357"/>
                  <a:pt x="0" y="177725"/>
                </a:cubicBezTo>
                <a:lnTo>
                  <a:pt x="0" y="35546"/>
                </a:lnTo>
                <a:cubicBezTo>
                  <a:pt x="0" y="15914"/>
                  <a:pt x="15914" y="0"/>
                  <a:pt x="35546" y="0"/>
                </a:cubicBezTo>
                <a:close/>
              </a:path>
            </a:pathLst>
          </a:custGeom>
          <a:solidFill>
            <a:srgbClr val="C9A86A">
              <a:alpha val="20000"/>
            </a:srgbClr>
          </a:solidFill>
          <a:ln/>
        </p:spPr>
        <p:txBody>
          <a:bodyPr/>
          <a:lstStyle/>
          <a:p>
            <a:endParaRPr lang="zh-CN" altLang="en-US"/>
          </a:p>
        </p:txBody>
      </p:sp>
      <p:sp>
        <p:nvSpPr>
          <p:cNvPr id="21" name="Text 19"/>
          <p:cNvSpPr/>
          <p:nvPr/>
        </p:nvSpPr>
        <p:spPr>
          <a:xfrm>
            <a:off x="744644" y="4930970"/>
            <a:ext cx="133294" cy="177726"/>
          </a:xfrm>
          <a:prstGeom prst="rect">
            <a:avLst/>
          </a:prstGeom>
          <a:noFill/>
          <a:ln/>
        </p:spPr>
        <p:txBody>
          <a:bodyPr wrap="square" lIns="0" tIns="0" rIns="0" bIns="0" rtlCol="0" anchor="ctr"/>
          <a:lstStyle/>
          <a:p>
            <a:pPr>
              <a:lnSpc>
                <a:spcPct val="120000"/>
              </a:lnSpc>
            </a:pPr>
            <a:r>
              <a:rPr lang="en-US" sz="980" b="1" dirty="0">
                <a:solidFill>
                  <a:srgbClr val="C9A86A"/>
                </a:solidFill>
                <a:latin typeface="Noto Sans SC" pitchFamily="34" charset="0"/>
                <a:ea typeface="Noto Sans SC" pitchFamily="34" charset="-122"/>
                <a:cs typeface="Noto Sans SC" pitchFamily="34" charset="-120"/>
              </a:rPr>
              <a:t>2</a:t>
            </a:r>
            <a:endParaRPr lang="en-US" sz="1600" dirty="0"/>
          </a:p>
        </p:txBody>
      </p:sp>
      <p:sp>
        <p:nvSpPr>
          <p:cNvPr id="22" name="Text 20"/>
          <p:cNvSpPr/>
          <p:nvPr/>
        </p:nvSpPr>
        <p:spPr>
          <a:xfrm>
            <a:off x="959720" y="4913197"/>
            <a:ext cx="1244082" cy="213271"/>
          </a:xfrm>
          <a:prstGeom prst="rect">
            <a:avLst/>
          </a:prstGeom>
          <a:noFill/>
          <a:ln/>
        </p:spPr>
        <p:txBody>
          <a:bodyPr wrap="square" lIns="0" tIns="0" rIns="0" bIns="0" rtlCol="0" anchor="ctr"/>
          <a:lstStyle/>
          <a:p>
            <a:pPr>
              <a:lnSpc>
                <a:spcPct val="130000"/>
              </a:lnSpc>
            </a:pPr>
            <a:r>
              <a:rPr lang="en-US" sz="1120" b="1" dirty="0">
                <a:solidFill>
                  <a:srgbClr val="E0E2E5"/>
                </a:solidFill>
                <a:latin typeface="Noto Sans SC" pitchFamily="34" charset="0"/>
                <a:ea typeface="Noto Sans SC" pitchFamily="34" charset="-122"/>
                <a:cs typeface="Noto Sans SC" pitchFamily="34" charset="-120"/>
              </a:rPr>
              <a:t>Token 的不均等性</a:t>
            </a:r>
            <a:endParaRPr lang="en-US" sz="1600" dirty="0"/>
          </a:p>
        </p:txBody>
      </p:sp>
      <p:sp>
        <p:nvSpPr>
          <p:cNvPr id="23" name="Text 21"/>
          <p:cNvSpPr/>
          <p:nvPr/>
        </p:nvSpPr>
        <p:spPr>
          <a:xfrm>
            <a:off x="959720" y="5162013"/>
            <a:ext cx="4825259" cy="177726"/>
          </a:xfrm>
          <a:prstGeom prst="rect">
            <a:avLst/>
          </a:prstGeom>
          <a:noFill/>
          <a:ln/>
        </p:spPr>
        <p:txBody>
          <a:bodyPr wrap="square" lIns="0" tIns="0" rIns="0" bIns="0" rtlCol="0" anchor="ctr"/>
          <a:lstStyle/>
          <a:p>
            <a:pPr>
              <a:lnSpc>
                <a:spcPct val="120000"/>
              </a:lnSpc>
            </a:pPr>
            <a:r>
              <a:rPr lang="en-US" sz="980" dirty="0">
                <a:solidFill>
                  <a:srgbClr val="E0E2E5">
                    <a:alpha val="70000"/>
                  </a:srgbClr>
                </a:solidFill>
                <a:latin typeface="Noto Sans SC" pitchFamily="34" charset="0"/>
                <a:ea typeface="Noto Sans SC" pitchFamily="34" charset="-122"/>
                <a:cs typeface="Noto Sans SC" pitchFamily="34" charset="-120"/>
              </a:rPr>
              <a:t>少数核心 Token 承载了大部分上下文语义</a:t>
            </a:r>
            <a:endParaRPr lang="en-US" sz="1600" dirty="0"/>
          </a:p>
        </p:txBody>
      </p:sp>
      <p:sp>
        <p:nvSpPr>
          <p:cNvPr id="24" name="Shape 22"/>
          <p:cNvSpPr/>
          <p:nvPr/>
        </p:nvSpPr>
        <p:spPr>
          <a:xfrm>
            <a:off x="568723" y="5825570"/>
            <a:ext cx="5260688" cy="639813"/>
          </a:xfrm>
          <a:custGeom>
            <a:avLst/>
            <a:gdLst/>
            <a:ahLst/>
            <a:cxnLst/>
            <a:rect l="l" t="t" r="r" b="b"/>
            <a:pathLst>
              <a:path w="5260688" h="639813">
                <a:moveTo>
                  <a:pt x="71090" y="0"/>
                </a:moveTo>
                <a:lnTo>
                  <a:pt x="5189598" y="0"/>
                </a:lnTo>
                <a:cubicBezTo>
                  <a:pt x="5228860" y="0"/>
                  <a:pt x="5260688" y="31828"/>
                  <a:pt x="5260688" y="71090"/>
                </a:cubicBezTo>
                <a:lnTo>
                  <a:pt x="5260688" y="568724"/>
                </a:lnTo>
                <a:cubicBezTo>
                  <a:pt x="5260688" y="607985"/>
                  <a:pt x="5228860" y="639813"/>
                  <a:pt x="5189598" y="639813"/>
                </a:cubicBezTo>
                <a:lnTo>
                  <a:pt x="71090" y="639813"/>
                </a:lnTo>
                <a:cubicBezTo>
                  <a:pt x="31828" y="639813"/>
                  <a:pt x="0" y="607985"/>
                  <a:pt x="0" y="568724"/>
                </a:cubicBezTo>
                <a:lnTo>
                  <a:pt x="0" y="71090"/>
                </a:lnTo>
                <a:cubicBezTo>
                  <a:pt x="0" y="31854"/>
                  <a:pt x="31854" y="0"/>
                  <a:pt x="71090" y="0"/>
                </a:cubicBezTo>
                <a:close/>
              </a:path>
            </a:pathLst>
          </a:custGeom>
          <a:solidFill>
            <a:srgbClr val="1A1D21">
              <a:alpha val="50196"/>
            </a:srgbClr>
          </a:solidFill>
          <a:ln/>
        </p:spPr>
        <p:txBody>
          <a:bodyPr/>
          <a:lstStyle/>
          <a:p>
            <a:endParaRPr lang="zh-CN" altLang="en-US"/>
          </a:p>
        </p:txBody>
      </p:sp>
      <p:sp>
        <p:nvSpPr>
          <p:cNvPr id="25" name="Shape 23"/>
          <p:cNvSpPr/>
          <p:nvPr/>
        </p:nvSpPr>
        <p:spPr>
          <a:xfrm>
            <a:off x="675359" y="5932205"/>
            <a:ext cx="213271" cy="213271"/>
          </a:xfrm>
          <a:custGeom>
            <a:avLst/>
            <a:gdLst/>
            <a:ahLst/>
            <a:cxnLst/>
            <a:rect l="l" t="t" r="r" b="b"/>
            <a:pathLst>
              <a:path w="213271" h="213271">
                <a:moveTo>
                  <a:pt x="35546" y="0"/>
                </a:moveTo>
                <a:lnTo>
                  <a:pt x="177725" y="0"/>
                </a:lnTo>
                <a:cubicBezTo>
                  <a:pt x="197357" y="0"/>
                  <a:pt x="213271" y="15914"/>
                  <a:pt x="213271" y="35546"/>
                </a:cubicBezTo>
                <a:lnTo>
                  <a:pt x="213271" y="177725"/>
                </a:lnTo>
                <a:cubicBezTo>
                  <a:pt x="213271" y="197357"/>
                  <a:pt x="197357" y="213271"/>
                  <a:pt x="177725" y="213271"/>
                </a:cubicBezTo>
                <a:lnTo>
                  <a:pt x="35546" y="213271"/>
                </a:lnTo>
                <a:cubicBezTo>
                  <a:pt x="15914" y="213271"/>
                  <a:pt x="0" y="197357"/>
                  <a:pt x="0" y="177725"/>
                </a:cubicBezTo>
                <a:lnTo>
                  <a:pt x="0" y="35546"/>
                </a:lnTo>
                <a:cubicBezTo>
                  <a:pt x="0" y="15914"/>
                  <a:pt x="15914" y="0"/>
                  <a:pt x="35546" y="0"/>
                </a:cubicBezTo>
                <a:close/>
              </a:path>
            </a:pathLst>
          </a:custGeom>
          <a:solidFill>
            <a:srgbClr val="5F6B7A">
              <a:alpha val="20000"/>
            </a:srgbClr>
          </a:solidFill>
          <a:ln/>
        </p:spPr>
        <p:txBody>
          <a:bodyPr/>
          <a:lstStyle/>
          <a:p>
            <a:endParaRPr lang="zh-CN" altLang="en-US"/>
          </a:p>
        </p:txBody>
      </p:sp>
      <p:sp>
        <p:nvSpPr>
          <p:cNvPr id="26" name="Text 24"/>
          <p:cNvSpPr/>
          <p:nvPr/>
        </p:nvSpPr>
        <p:spPr>
          <a:xfrm>
            <a:off x="744644" y="5949978"/>
            <a:ext cx="133294" cy="177726"/>
          </a:xfrm>
          <a:prstGeom prst="rect">
            <a:avLst/>
          </a:prstGeom>
          <a:noFill/>
          <a:ln/>
        </p:spPr>
        <p:txBody>
          <a:bodyPr wrap="square" lIns="0" tIns="0" rIns="0" bIns="0" rtlCol="0" anchor="ctr"/>
          <a:lstStyle/>
          <a:p>
            <a:pPr>
              <a:lnSpc>
                <a:spcPct val="120000"/>
              </a:lnSpc>
            </a:pPr>
            <a:r>
              <a:rPr lang="en-US" sz="980" b="1" dirty="0">
                <a:solidFill>
                  <a:srgbClr val="5F6B7A"/>
                </a:solidFill>
                <a:latin typeface="Noto Sans SC" pitchFamily="34" charset="0"/>
                <a:ea typeface="Noto Sans SC" pitchFamily="34" charset="-122"/>
                <a:cs typeface="Noto Sans SC" pitchFamily="34" charset="-120"/>
              </a:rPr>
              <a:t>3</a:t>
            </a:r>
            <a:endParaRPr lang="en-US" sz="1600" dirty="0"/>
          </a:p>
        </p:txBody>
      </p:sp>
      <p:sp>
        <p:nvSpPr>
          <p:cNvPr id="27" name="Text 25"/>
          <p:cNvSpPr/>
          <p:nvPr/>
        </p:nvSpPr>
        <p:spPr>
          <a:xfrm>
            <a:off x="959720" y="5932205"/>
            <a:ext cx="1990531" cy="213271"/>
          </a:xfrm>
          <a:prstGeom prst="rect">
            <a:avLst/>
          </a:prstGeom>
          <a:noFill/>
          <a:ln/>
        </p:spPr>
        <p:txBody>
          <a:bodyPr wrap="square" lIns="0" tIns="0" rIns="0" bIns="0" rtlCol="0" anchor="ctr"/>
          <a:lstStyle/>
          <a:p>
            <a:pPr>
              <a:lnSpc>
                <a:spcPct val="130000"/>
              </a:lnSpc>
            </a:pPr>
            <a:r>
              <a:rPr lang="en-US" sz="1120" b="1" dirty="0">
                <a:solidFill>
                  <a:srgbClr val="E0E2E5"/>
                </a:solidFill>
                <a:latin typeface="Noto Sans SC" pitchFamily="34" charset="0"/>
                <a:ea typeface="Noto Sans SC" pitchFamily="34" charset="-122"/>
                <a:cs typeface="Noto Sans SC" pitchFamily="34" charset="-120"/>
              </a:rPr>
              <a:t>Attention Head 的动态稀疏性</a:t>
            </a:r>
            <a:endParaRPr lang="en-US" sz="1600" dirty="0"/>
          </a:p>
        </p:txBody>
      </p:sp>
      <p:sp>
        <p:nvSpPr>
          <p:cNvPr id="28" name="Text 26"/>
          <p:cNvSpPr/>
          <p:nvPr/>
        </p:nvSpPr>
        <p:spPr>
          <a:xfrm>
            <a:off x="959720" y="6181022"/>
            <a:ext cx="4825259" cy="177726"/>
          </a:xfrm>
          <a:prstGeom prst="rect">
            <a:avLst/>
          </a:prstGeom>
          <a:noFill/>
          <a:ln/>
        </p:spPr>
        <p:txBody>
          <a:bodyPr wrap="square" lIns="0" tIns="0" rIns="0" bIns="0" rtlCol="0" anchor="ctr"/>
          <a:lstStyle/>
          <a:p>
            <a:pPr>
              <a:lnSpc>
                <a:spcPct val="120000"/>
              </a:lnSpc>
            </a:pPr>
            <a:r>
              <a:rPr lang="en-US" sz="980" dirty="0">
                <a:solidFill>
                  <a:srgbClr val="E0E2E5">
                    <a:alpha val="70000"/>
                  </a:srgbClr>
                </a:solidFill>
                <a:latin typeface="Noto Sans SC" pitchFamily="34" charset="0"/>
                <a:ea typeface="Noto Sans SC" pitchFamily="34" charset="-122"/>
                <a:cs typeface="Noto Sans SC" pitchFamily="34" charset="-120"/>
              </a:rPr>
              <a:t>不同注意力头在处理特定模式时表现出多样的稀疏激活行为</a:t>
            </a:r>
            <a:endParaRPr lang="en-US" sz="1600" dirty="0"/>
          </a:p>
        </p:txBody>
      </p:sp>
      <p:sp>
        <p:nvSpPr>
          <p:cNvPr id="29" name="Shape 27"/>
          <p:cNvSpPr/>
          <p:nvPr/>
        </p:nvSpPr>
        <p:spPr>
          <a:xfrm>
            <a:off x="6204579" y="1216567"/>
            <a:ext cx="5633913" cy="2381528"/>
          </a:xfrm>
          <a:custGeom>
            <a:avLst/>
            <a:gdLst/>
            <a:ahLst/>
            <a:cxnLst/>
            <a:rect l="l" t="t" r="r" b="b"/>
            <a:pathLst>
              <a:path w="5633913" h="2381528">
                <a:moveTo>
                  <a:pt x="35545" y="0"/>
                </a:moveTo>
                <a:lnTo>
                  <a:pt x="5562824" y="0"/>
                </a:lnTo>
                <a:cubicBezTo>
                  <a:pt x="5602085" y="0"/>
                  <a:pt x="5633913" y="31827"/>
                  <a:pt x="5633913" y="71089"/>
                </a:cubicBezTo>
                <a:lnTo>
                  <a:pt x="5633913" y="2310439"/>
                </a:lnTo>
                <a:cubicBezTo>
                  <a:pt x="5633913" y="2349700"/>
                  <a:pt x="5602085" y="2381528"/>
                  <a:pt x="5562824" y="2381528"/>
                </a:cubicBezTo>
                <a:lnTo>
                  <a:pt x="35545" y="2381528"/>
                </a:lnTo>
                <a:cubicBezTo>
                  <a:pt x="15914" y="2381528"/>
                  <a:pt x="0" y="2365614"/>
                  <a:pt x="0" y="2345983"/>
                </a:cubicBezTo>
                <a:lnTo>
                  <a:pt x="0" y="35545"/>
                </a:lnTo>
                <a:cubicBezTo>
                  <a:pt x="0" y="15927"/>
                  <a:pt x="15927" y="0"/>
                  <a:pt x="35545" y="0"/>
                </a:cubicBezTo>
                <a:close/>
              </a:path>
            </a:pathLst>
          </a:custGeom>
          <a:solidFill>
            <a:srgbClr val="5F6B7A">
              <a:alpha val="10196"/>
            </a:srgbClr>
          </a:solidFill>
          <a:ln/>
        </p:spPr>
        <p:txBody>
          <a:bodyPr/>
          <a:lstStyle/>
          <a:p>
            <a:endParaRPr lang="zh-CN" altLang="en-US"/>
          </a:p>
        </p:txBody>
      </p:sp>
      <p:sp>
        <p:nvSpPr>
          <p:cNvPr id="30" name="Shape 28"/>
          <p:cNvSpPr/>
          <p:nvPr/>
        </p:nvSpPr>
        <p:spPr>
          <a:xfrm>
            <a:off x="6204579" y="1216567"/>
            <a:ext cx="35545" cy="2381528"/>
          </a:xfrm>
          <a:custGeom>
            <a:avLst/>
            <a:gdLst/>
            <a:ahLst/>
            <a:cxnLst/>
            <a:rect l="l" t="t" r="r" b="b"/>
            <a:pathLst>
              <a:path w="35545" h="2381528">
                <a:moveTo>
                  <a:pt x="35545" y="0"/>
                </a:moveTo>
                <a:lnTo>
                  <a:pt x="35545" y="0"/>
                </a:lnTo>
                <a:lnTo>
                  <a:pt x="35545" y="2381528"/>
                </a:lnTo>
                <a:lnTo>
                  <a:pt x="35545" y="2381528"/>
                </a:lnTo>
                <a:cubicBezTo>
                  <a:pt x="15914" y="2381528"/>
                  <a:pt x="0" y="2365614"/>
                  <a:pt x="0" y="2345983"/>
                </a:cubicBezTo>
                <a:lnTo>
                  <a:pt x="0" y="35545"/>
                </a:lnTo>
                <a:cubicBezTo>
                  <a:pt x="0" y="15927"/>
                  <a:pt x="15927" y="0"/>
                  <a:pt x="35545" y="0"/>
                </a:cubicBezTo>
                <a:close/>
              </a:path>
            </a:pathLst>
          </a:custGeom>
          <a:solidFill>
            <a:srgbClr val="5F6B7A"/>
          </a:solidFill>
          <a:ln/>
        </p:spPr>
        <p:txBody>
          <a:bodyPr/>
          <a:lstStyle/>
          <a:p>
            <a:endParaRPr lang="zh-CN" altLang="en-US"/>
          </a:p>
        </p:txBody>
      </p:sp>
      <p:sp>
        <p:nvSpPr>
          <p:cNvPr id="31" name="Text 29"/>
          <p:cNvSpPr/>
          <p:nvPr/>
        </p:nvSpPr>
        <p:spPr>
          <a:xfrm>
            <a:off x="6400078" y="1394293"/>
            <a:ext cx="5349551" cy="248816"/>
          </a:xfrm>
          <a:prstGeom prst="rect">
            <a:avLst/>
          </a:prstGeom>
          <a:noFill/>
          <a:ln/>
        </p:spPr>
        <p:txBody>
          <a:bodyPr wrap="square" lIns="0" tIns="0" rIns="0" bIns="0" rtlCol="0" anchor="ctr"/>
          <a:lstStyle/>
          <a:p>
            <a:pPr>
              <a:lnSpc>
                <a:spcPct val="120000"/>
              </a:lnSpc>
            </a:pPr>
            <a:r>
              <a:rPr lang="en-US" sz="1399" b="1" dirty="0">
                <a:solidFill>
                  <a:srgbClr val="E0E2E5"/>
                </a:solidFill>
                <a:latin typeface="Noto Sans SC" pitchFamily="34" charset="0"/>
                <a:ea typeface="Noto Sans SC" pitchFamily="34" charset="-122"/>
                <a:cs typeface="Noto Sans SC" pitchFamily="34" charset="-120"/>
              </a:rPr>
              <a:t>Compactor</a:t>
            </a:r>
            <a:endParaRPr lang="en-US" sz="1600" dirty="0"/>
          </a:p>
        </p:txBody>
      </p:sp>
      <p:sp>
        <p:nvSpPr>
          <p:cNvPr id="32" name="Text 30"/>
          <p:cNvSpPr/>
          <p:nvPr/>
        </p:nvSpPr>
        <p:spPr>
          <a:xfrm>
            <a:off x="6400078" y="1749745"/>
            <a:ext cx="5331778" cy="462087"/>
          </a:xfrm>
          <a:prstGeom prst="rect">
            <a:avLst/>
          </a:prstGeom>
          <a:noFill/>
          <a:ln/>
        </p:spPr>
        <p:txBody>
          <a:bodyPr wrap="square" lIns="0" tIns="0" rIns="0" bIns="0" rtlCol="0" anchor="ctr"/>
          <a:lstStyle/>
          <a:p>
            <a:pPr>
              <a:lnSpc>
                <a:spcPct val="140000"/>
              </a:lnSpc>
            </a:pPr>
            <a:r>
              <a:rPr lang="en-US" sz="1120" dirty="0">
                <a:solidFill>
                  <a:srgbClr val="E0E2E5">
                    <a:alpha val="80000"/>
                  </a:srgbClr>
                </a:solidFill>
                <a:latin typeface="Noto Sans SC" pitchFamily="34" charset="0"/>
                <a:ea typeface="Noto Sans SC" pitchFamily="34" charset="-122"/>
                <a:cs typeface="Noto Sans SC" pitchFamily="34" charset="-120"/>
              </a:rPr>
              <a:t>基于</a:t>
            </a:r>
            <a:r>
              <a:rPr lang="en-US" sz="1120" b="1" dirty="0">
                <a:solidFill>
                  <a:srgbClr val="5F6B7A"/>
                </a:solidFill>
                <a:latin typeface="Noto Sans SC" pitchFamily="34" charset="0"/>
                <a:ea typeface="Noto Sans SC" pitchFamily="34" charset="-122"/>
                <a:cs typeface="Noto Sans SC" pitchFamily="34" charset="-120"/>
              </a:rPr>
              <a:t>近似杠杆分数（Approximate Leverage Scores）</a:t>
            </a:r>
            <a:r>
              <a:rPr lang="en-US" sz="1120" dirty="0">
                <a:solidFill>
                  <a:srgbClr val="E0E2E5">
                    <a:alpha val="80000"/>
                  </a:srgbClr>
                </a:solidFill>
                <a:latin typeface="Noto Sans SC" pitchFamily="34" charset="0"/>
                <a:ea typeface="Noto Sans SC" pitchFamily="34" charset="-122"/>
                <a:cs typeface="Noto Sans SC" pitchFamily="34" charset="-120"/>
              </a:rPr>
              <a:t>，通过精确衡量不同 KV 对对最终注意力矩阵近似程度的相对重要性。</a:t>
            </a:r>
            <a:endParaRPr lang="en-US" sz="1600" dirty="0"/>
          </a:p>
        </p:txBody>
      </p:sp>
      <p:sp>
        <p:nvSpPr>
          <p:cNvPr id="33" name="Shape 31"/>
          <p:cNvSpPr/>
          <p:nvPr/>
        </p:nvSpPr>
        <p:spPr>
          <a:xfrm>
            <a:off x="6400078" y="2318468"/>
            <a:ext cx="5260688" cy="1101901"/>
          </a:xfrm>
          <a:custGeom>
            <a:avLst/>
            <a:gdLst/>
            <a:ahLst/>
            <a:cxnLst/>
            <a:rect l="l" t="t" r="r" b="b"/>
            <a:pathLst>
              <a:path w="5260688" h="1101901">
                <a:moveTo>
                  <a:pt x="71095" y="0"/>
                </a:moveTo>
                <a:lnTo>
                  <a:pt x="5189593" y="0"/>
                </a:lnTo>
                <a:cubicBezTo>
                  <a:pt x="5228858" y="0"/>
                  <a:pt x="5260688" y="31830"/>
                  <a:pt x="5260688" y="71095"/>
                </a:cubicBezTo>
                <a:lnTo>
                  <a:pt x="5260688" y="1030806"/>
                </a:lnTo>
                <a:cubicBezTo>
                  <a:pt x="5260688" y="1070071"/>
                  <a:pt x="5228858" y="1101901"/>
                  <a:pt x="5189593" y="1101901"/>
                </a:cubicBezTo>
                <a:lnTo>
                  <a:pt x="71095" y="1101901"/>
                </a:lnTo>
                <a:cubicBezTo>
                  <a:pt x="31830" y="1101901"/>
                  <a:pt x="0" y="1070071"/>
                  <a:pt x="0" y="1030806"/>
                </a:cubicBezTo>
                <a:lnTo>
                  <a:pt x="0" y="71095"/>
                </a:lnTo>
                <a:cubicBezTo>
                  <a:pt x="0" y="31830"/>
                  <a:pt x="31830" y="0"/>
                  <a:pt x="71095" y="0"/>
                </a:cubicBezTo>
                <a:close/>
              </a:path>
            </a:pathLst>
          </a:custGeom>
          <a:solidFill>
            <a:srgbClr val="1A1D21">
              <a:alpha val="50196"/>
            </a:srgbClr>
          </a:solidFill>
          <a:ln/>
        </p:spPr>
        <p:txBody>
          <a:bodyPr/>
          <a:lstStyle/>
          <a:p>
            <a:endParaRPr lang="zh-CN" altLang="en-US"/>
          </a:p>
        </p:txBody>
      </p:sp>
      <p:sp>
        <p:nvSpPr>
          <p:cNvPr id="34" name="Text 32"/>
          <p:cNvSpPr/>
          <p:nvPr/>
        </p:nvSpPr>
        <p:spPr>
          <a:xfrm>
            <a:off x="6462282" y="2460648"/>
            <a:ext cx="5136280" cy="355452"/>
          </a:xfrm>
          <a:prstGeom prst="rect">
            <a:avLst/>
          </a:prstGeom>
          <a:noFill/>
          <a:ln/>
        </p:spPr>
        <p:txBody>
          <a:bodyPr wrap="square" lIns="0" tIns="0" rIns="0" bIns="0" rtlCol="0" anchor="ctr"/>
          <a:lstStyle/>
          <a:p>
            <a:pPr algn="ctr">
              <a:lnSpc>
                <a:spcPct val="90000"/>
              </a:lnSpc>
            </a:pPr>
            <a:r>
              <a:rPr lang="en-US" sz="2519" b="1" dirty="0">
                <a:solidFill>
                  <a:srgbClr val="3D8B75"/>
                </a:solidFill>
                <a:latin typeface="Noto Sans SC" pitchFamily="34" charset="0"/>
                <a:ea typeface="Noto Sans SC" pitchFamily="34" charset="-122"/>
                <a:cs typeface="Noto Sans SC" pitchFamily="34" charset="-120"/>
              </a:rPr>
              <a:t>68%</a:t>
            </a:r>
            <a:endParaRPr lang="en-US" sz="1600" dirty="0"/>
          </a:p>
        </p:txBody>
      </p:sp>
      <p:sp>
        <p:nvSpPr>
          <p:cNvPr id="35" name="Text 33"/>
          <p:cNvSpPr/>
          <p:nvPr/>
        </p:nvSpPr>
        <p:spPr>
          <a:xfrm>
            <a:off x="6506714" y="2851646"/>
            <a:ext cx="5047417" cy="213271"/>
          </a:xfrm>
          <a:prstGeom prst="rect">
            <a:avLst/>
          </a:prstGeom>
          <a:noFill/>
          <a:ln/>
        </p:spPr>
        <p:txBody>
          <a:bodyPr wrap="square" lIns="0" tIns="0" rIns="0" bIns="0" rtlCol="0" anchor="ctr"/>
          <a:lstStyle/>
          <a:p>
            <a:pPr algn="ctr">
              <a:lnSpc>
                <a:spcPct val="130000"/>
              </a:lnSpc>
            </a:pPr>
            <a:r>
              <a:rPr lang="en-US" sz="1120" dirty="0">
                <a:solidFill>
                  <a:srgbClr val="E0E2E5">
                    <a:alpha val="70000"/>
                  </a:srgbClr>
                </a:solidFill>
                <a:latin typeface="Noto Sans SC" pitchFamily="34" charset="0"/>
                <a:ea typeface="Noto Sans SC" pitchFamily="34" charset="-122"/>
                <a:cs typeface="Noto Sans SC" pitchFamily="34" charset="-120"/>
              </a:rPr>
              <a:t>LongBench 显存缩减</a:t>
            </a:r>
            <a:endParaRPr lang="en-US" sz="1600" dirty="0"/>
          </a:p>
        </p:txBody>
      </p:sp>
      <p:sp>
        <p:nvSpPr>
          <p:cNvPr id="36" name="Text 34"/>
          <p:cNvSpPr/>
          <p:nvPr/>
        </p:nvSpPr>
        <p:spPr>
          <a:xfrm>
            <a:off x="6511157" y="3100462"/>
            <a:ext cx="5038531" cy="177726"/>
          </a:xfrm>
          <a:prstGeom prst="rect">
            <a:avLst/>
          </a:prstGeom>
          <a:noFill/>
          <a:ln/>
        </p:spPr>
        <p:txBody>
          <a:bodyPr wrap="square" lIns="0" tIns="0" rIns="0" bIns="0" rtlCol="0" anchor="ctr"/>
          <a:lstStyle/>
          <a:p>
            <a:pPr algn="ctr">
              <a:lnSpc>
                <a:spcPct val="120000"/>
              </a:lnSpc>
            </a:pPr>
            <a:r>
              <a:rPr lang="en-US" sz="980" dirty="0">
                <a:solidFill>
                  <a:srgbClr val="E0E2E5">
                    <a:alpha val="60000"/>
                  </a:srgbClr>
                </a:solidFill>
                <a:latin typeface="Noto Sans SC" pitchFamily="34" charset="0"/>
                <a:ea typeface="Noto Sans SC" pitchFamily="34" charset="-122"/>
                <a:cs typeface="Noto Sans SC" pitchFamily="34" charset="-120"/>
              </a:rPr>
              <a:t>无需重新训练</a:t>
            </a:r>
            <a:endParaRPr lang="en-US" sz="1600" dirty="0"/>
          </a:p>
        </p:txBody>
      </p:sp>
      <p:sp>
        <p:nvSpPr>
          <p:cNvPr id="37" name="Shape 35"/>
          <p:cNvSpPr/>
          <p:nvPr/>
        </p:nvSpPr>
        <p:spPr>
          <a:xfrm>
            <a:off x="6204579" y="3740275"/>
            <a:ext cx="5633913" cy="2168257"/>
          </a:xfrm>
          <a:custGeom>
            <a:avLst/>
            <a:gdLst/>
            <a:ahLst/>
            <a:cxnLst/>
            <a:rect l="l" t="t" r="r" b="b"/>
            <a:pathLst>
              <a:path w="5633913" h="2168257">
                <a:moveTo>
                  <a:pt x="35545" y="0"/>
                </a:moveTo>
                <a:lnTo>
                  <a:pt x="5562815" y="0"/>
                </a:lnTo>
                <a:cubicBezTo>
                  <a:pt x="5602081" y="0"/>
                  <a:pt x="5633913" y="31831"/>
                  <a:pt x="5633913" y="71097"/>
                </a:cubicBezTo>
                <a:lnTo>
                  <a:pt x="5633913" y="2097159"/>
                </a:lnTo>
                <a:cubicBezTo>
                  <a:pt x="5633913" y="2136425"/>
                  <a:pt x="5602081" y="2168257"/>
                  <a:pt x="5562815" y="2168257"/>
                </a:cubicBezTo>
                <a:lnTo>
                  <a:pt x="35545" y="2168257"/>
                </a:lnTo>
                <a:cubicBezTo>
                  <a:pt x="15914" y="2168257"/>
                  <a:pt x="0" y="2152342"/>
                  <a:pt x="0" y="2132711"/>
                </a:cubicBezTo>
                <a:lnTo>
                  <a:pt x="0" y="35545"/>
                </a:lnTo>
                <a:cubicBezTo>
                  <a:pt x="0" y="15927"/>
                  <a:pt x="15927" y="0"/>
                  <a:pt x="35545" y="0"/>
                </a:cubicBezTo>
                <a:close/>
              </a:path>
            </a:pathLst>
          </a:custGeom>
          <a:solidFill>
            <a:srgbClr val="3D8B75">
              <a:alpha val="10196"/>
            </a:srgbClr>
          </a:solidFill>
          <a:ln/>
        </p:spPr>
        <p:txBody>
          <a:bodyPr/>
          <a:lstStyle/>
          <a:p>
            <a:endParaRPr lang="zh-CN" altLang="en-US"/>
          </a:p>
        </p:txBody>
      </p:sp>
      <p:sp>
        <p:nvSpPr>
          <p:cNvPr id="38" name="Shape 36"/>
          <p:cNvSpPr/>
          <p:nvPr/>
        </p:nvSpPr>
        <p:spPr>
          <a:xfrm>
            <a:off x="6204579" y="3740275"/>
            <a:ext cx="35545" cy="2168257"/>
          </a:xfrm>
          <a:custGeom>
            <a:avLst/>
            <a:gdLst/>
            <a:ahLst/>
            <a:cxnLst/>
            <a:rect l="l" t="t" r="r" b="b"/>
            <a:pathLst>
              <a:path w="35545" h="2168257">
                <a:moveTo>
                  <a:pt x="35545" y="0"/>
                </a:moveTo>
                <a:lnTo>
                  <a:pt x="35545" y="0"/>
                </a:lnTo>
                <a:lnTo>
                  <a:pt x="35545" y="2168257"/>
                </a:lnTo>
                <a:lnTo>
                  <a:pt x="35545" y="2168257"/>
                </a:lnTo>
                <a:cubicBezTo>
                  <a:pt x="15914" y="2168257"/>
                  <a:pt x="0" y="2152342"/>
                  <a:pt x="0" y="2132711"/>
                </a:cubicBezTo>
                <a:lnTo>
                  <a:pt x="0" y="35545"/>
                </a:lnTo>
                <a:cubicBezTo>
                  <a:pt x="0" y="15927"/>
                  <a:pt x="15927" y="0"/>
                  <a:pt x="35545" y="0"/>
                </a:cubicBezTo>
                <a:close/>
              </a:path>
            </a:pathLst>
          </a:custGeom>
          <a:solidFill>
            <a:srgbClr val="3D8B75"/>
          </a:solidFill>
          <a:ln/>
        </p:spPr>
        <p:txBody>
          <a:bodyPr/>
          <a:lstStyle/>
          <a:p>
            <a:endParaRPr lang="zh-CN" altLang="en-US"/>
          </a:p>
        </p:txBody>
      </p:sp>
      <p:sp>
        <p:nvSpPr>
          <p:cNvPr id="39" name="Text 37"/>
          <p:cNvSpPr/>
          <p:nvPr/>
        </p:nvSpPr>
        <p:spPr>
          <a:xfrm>
            <a:off x="6400078" y="3918001"/>
            <a:ext cx="5349551" cy="248816"/>
          </a:xfrm>
          <a:prstGeom prst="rect">
            <a:avLst/>
          </a:prstGeom>
          <a:noFill/>
          <a:ln/>
        </p:spPr>
        <p:txBody>
          <a:bodyPr wrap="square" lIns="0" tIns="0" rIns="0" bIns="0" rtlCol="0" anchor="ctr"/>
          <a:lstStyle/>
          <a:p>
            <a:pPr>
              <a:lnSpc>
                <a:spcPct val="120000"/>
              </a:lnSpc>
            </a:pPr>
            <a:r>
              <a:rPr lang="en-US" sz="1399" b="1" dirty="0">
                <a:solidFill>
                  <a:srgbClr val="E0E2E5"/>
                </a:solidFill>
                <a:latin typeface="Noto Sans SC" pitchFamily="34" charset="0"/>
                <a:ea typeface="Noto Sans SC" pitchFamily="34" charset="-122"/>
                <a:cs typeface="Noto Sans SC" pitchFamily="34" charset="-120"/>
              </a:rPr>
              <a:t>LeanKV 实验结果</a:t>
            </a:r>
            <a:endParaRPr lang="en-US" sz="1600" dirty="0"/>
          </a:p>
        </p:txBody>
      </p:sp>
      <p:sp>
        <p:nvSpPr>
          <p:cNvPr id="40" name="Shape 38"/>
          <p:cNvSpPr/>
          <p:nvPr/>
        </p:nvSpPr>
        <p:spPr>
          <a:xfrm>
            <a:off x="6400078" y="4273453"/>
            <a:ext cx="2577026" cy="924175"/>
          </a:xfrm>
          <a:custGeom>
            <a:avLst/>
            <a:gdLst/>
            <a:ahLst/>
            <a:cxnLst/>
            <a:rect l="l" t="t" r="r" b="b"/>
            <a:pathLst>
              <a:path w="2577026" h="924175">
                <a:moveTo>
                  <a:pt x="71088" y="0"/>
                </a:moveTo>
                <a:lnTo>
                  <a:pt x="2505939" y="0"/>
                </a:lnTo>
                <a:cubicBezTo>
                  <a:pt x="2545199" y="0"/>
                  <a:pt x="2577026" y="31827"/>
                  <a:pt x="2577026" y="71088"/>
                </a:cubicBezTo>
                <a:lnTo>
                  <a:pt x="2577026" y="853087"/>
                </a:lnTo>
                <a:cubicBezTo>
                  <a:pt x="2577026" y="892348"/>
                  <a:pt x="2545199" y="924175"/>
                  <a:pt x="2505939" y="924175"/>
                </a:cubicBezTo>
                <a:lnTo>
                  <a:pt x="71088" y="924175"/>
                </a:lnTo>
                <a:cubicBezTo>
                  <a:pt x="31827" y="924175"/>
                  <a:pt x="0" y="892348"/>
                  <a:pt x="0" y="853087"/>
                </a:cubicBezTo>
                <a:lnTo>
                  <a:pt x="0" y="71088"/>
                </a:lnTo>
                <a:cubicBezTo>
                  <a:pt x="0" y="31827"/>
                  <a:pt x="31827" y="0"/>
                  <a:pt x="71088" y="0"/>
                </a:cubicBezTo>
                <a:close/>
              </a:path>
            </a:pathLst>
          </a:custGeom>
          <a:solidFill>
            <a:srgbClr val="1A1D21">
              <a:alpha val="50196"/>
            </a:srgbClr>
          </a:solidFill>
          <a:ln/>
        </p:spPr>
        <p:txBody>
          <a:bodyPr/>
          <a:lstStyle/>
          <a:p>
            <a:endParaRPr lang="zh-CN" altLang="en-US"/>
          </a:p>
        </p:txBody>
      </p:sp>
      <p:sp>
        <p:nvSpPr>
          <p:cNvPr id="41" name="Text 39"/>
          <p:cNvSpPr/>
          <p:nvPr/>
        </p:nvSpPr>
        <p:spPr>
          <a:xfrm>
            <a:off x="6462282" y="4415634"/>
            <a:ext cx="2452618" cy="355452"/>
          </a:xfrm>
          <a:prstGeom prst="rect">
            <a:avLst/>
          </a:prstGeom>
          <a:noFill/>
          <a:ln/>
        </p:spPr>
        <p:txBody>
          <a:bodyPr wrap="square" lIns="0" tIns="0" rIns="0" bIns="0" rtlCol="0" anchor="ctr"/>
          <a:lstStyle/>
          <a:p>
            <a:pPr algn="ctr">
              <a:lnSpc>
                <a:spcPct val="90000"/>
              </a:lnSpc>
            </a:pPr>
            <a:r>
              <a:rPr lang="en-US" sz="2519" b="1" dirty="0">
                <a:solidFill>
                  <a:srgbClr val="3D8B75"/>
                </a:solidFill>
                <a:latin typeface="Noto Sans SC" pitchFamily="34" charset="0"/>
                <a:ea typeface="Noto Sans SC" pitchFamily="34" charset="-122"/>
                <a:cs typeface="Noto Sans SC" pitchFamily="34" charset="-120"/>
              </a:rPr>
              <a:t>2.7×–5.7×</a:t>
            </a:r>
            <a:endParaRPr lang="en-US" sz="1600" dirty="0"/>
          </a:p>
        </p:txBody>
      </p:sp>
      <p:sp>
        <p:nvSpPr>
          <p:cNvPr id="42" name="Text 40"/>
          <p:cNvSpPr/>
          <p:nvPr/>
        </p:nvSpPr>
        <p:spPr>
          <a:xfrm>
            <a:off x="6506714" y="4842176"/>
            <a:ext cx="2363755" cy="213271"/>
          </a:xfrm>
          <a:prstGeom prst="rect">
            <a:avLst/>
          </a:prstGeom>
          <a:noFill/>
          <a:ln/>
        </p:spPr>
        <p:txBody>
          <a:bodyPr wrap="square" lIns="0" tIns="0" rIns="0" bIns="0" rtlCol="0" anchor="ctr"/>
          <a:lstStyle/>
          <a:p>
            <a:pPr algn="ctr">
              <a:lnSpc>
                <a:spcPct val="130000"/>
              </a:lnSpc>
            </a:pPr>
            <a:r>
              <a:rPr lang="en-US" sz="1120" dirty="0">
                <a:solidFill>
                  <a:srgbClr val="E0E2E5">
                    <a:alpha val="70000"/>
                  </a:srgbClr>
                </a:solidFill>
                <a:latin typeface="Noto Sans SC" pitchFamily="34" charset="0"/>
                <a:ea typeface="Noto Sans SC" pitchFamily="34" charset="-122"/>
                <a:cs typeface="Noto Sans SC" pitchFamily="34" charset="-120"/>
              </a:rPr>
              <a:t>KV Cache 压缩</a:t>
            </a:r>
            <a:endParaRPr lang="en-US" sz="1600" dirty="0"/>
          </a:p>
        </p:txBody>
      </p:sp>
      <p:sp>
        <p:nvSpPr>
          <p:cNvPr id="43" name="Shape 41"/>
          <p:cNvSpPr/>
          <p:nvPr/>
        </p:nvSpPr>
        <p:spPr>
          <a:xfrm>
            <a:off x="9084712" y="4273453"/>
            <a:ext cx="2577026" cy="924175"/>
          </a:xfrm>
          <a:custGeom>
            <a:avLst/>
            <a:gdLst/>
            <a:ahLst/>
            <a:cxnLst/>
            <a:rect l="l" t="t" r="r" b="b"/>
            <a:pathLst>
              <a:path w="2577026" h="924175">
                <a:moveTo>
                  <a:pt x="71088" y="0"/>
                </a:moveTo>
                <a:lnTo>
                  <a:pt x="2505939" y="0"/>
                </a:lnTo>
                <a:cubicBezTo>
                  <a:pt x="2545199" y="0"/>
                  <a:pt x="2577026" y="31827"/>
                  <a:pt x="2577026" y="71088"/>
                </a:cubicBezTo>
                <a:lnTo>
                  <a:pt x="2577026" y="853087"/>
                </a:lnTo>
                <a:cubicBezTo>
                  <a:pt x="2577026" y="892348"/>
                  <a:pt x="2545199" y="924175"/>
                  <a:pt x="2505939" y="924175"/>
                </a:cubicBezTo>
                <a:lnTo>
                  <a:pt x="71088" y="924175"/>
                </a:lnTo>
                <a:cubicBezTo>
                  <a:pt x="31827" y="924175"/>
                  <a:pt x="0" y="892348"/>
                  <a:pt x="0" y="853087"/>
                </a:cubicBezTo>
                <a:lnTo>
                  <a:pt x="0" y="71088"/>
                </a:lnTo>
                <a:cubicBezTo>
                  <a:pt x="0" y="31827"/>
                  <a:pt x="31827" y="0"/>
                  <a:pt x="71088" y="0"/>
                </a:cubicBezTo>
                <a:close/>
              </a:path>
            </a:pathLst>
          </a:custGeom>
          <a:solidFill>
            <a:srgbClr val="1A1D21">
              <a:alpha val="50196"/>
            </a:srgbClr>
          </a:solidFill>
          <a:ln/>
        </p:spPr>
        <p:txBody>
          <a:bodyPr/>
          <a:lstStyle/>
          <a:p>
            <a:endParaRPr lang="zh-CN" altLang="en-US"/>
          </a:p>
        </p:txBody>
      </p:sp>
      <p:sp>
        <p:nvSpPr>
          <p:cNvPr id="44" name="Text 42"/>
          <p:cNvSpPr/>
          <p:nvPr/>
        </p:nvSpPr>
        <p:spPr>
          <a:xfrm>
            <a:off x="9146916" y="4415634"/>
            <a:ext cx="2452618" cy="355452"/>
          </a:xfrm>
          <a:prstGeom prst="rect">
            <a:avLst/>
          </a:prstGeom>
          <a:noFill/>
          <a:ln/>
        </p:spPr>
        <p:txBody>
          <a:bodyPr wrap="square" lIns="0" tIns="0" rIns="0" bIns="0" rtlCol="0" anchor="ctr"/>
          <a:lstStyle/>
          <a:p>
            <a:pPr algn="ctr">
              <a:lnSpc>
                <a:spcPct val="90000"/>
              </a:lnSpc>
            </a:pPr>
            <a:r>
              <a:rPr lang="en-US" sz="2519" b="1" dirty="0">
                <a:solidFill>
                  <a:srgbClr val="C9A86A"/>
                </a:solidFill>
                <a:latin typeface="Noto Sans SC" pitchFamily="34" charset="0"/>
                <a:ea typeface="Noto Sans SC" pitchFamily="34" charset="-122"/>
                <a:cs typeface="Noto Sans SC" pitchFamily="34" charset="-120"/>
              </a:rPr>
              <a:t>1.9×–5.4×</a:t>
            </a:r>
            <a:endParaRPr lang="en-US" sz="1600" dirty="0"/>
          </a:p>
        </p:txBody>
      </p:sp>
      <p:sp>
        <p:nvSpPr>
          <p:cNvPr id="45" name="Text 43"/>
          <p:cNvSpPr/>
          <p:nvPr/>
        </p:nvSpPr>
        <p:spPr>
          <a:xfrm>
            <a:off x="9191347" y="4842176"/>
            <a:ext cx="2363755" cy="213271"/>
          </a:xfrm>
          <a:prstGeom prst="rect">
            <a:avLst/>
          </a:prstGeom>
          <a:noFill/>
          <a:ln/>
        </p:spPr>
        <p:txBody>
          <a:bodyPr wrap="square" lIns="0" tIns="0" rIns="0" bIns="0" rtlCol="0" anchor="ctr"/>
          <a:lstStyle/>
          <a:p>
            <a:pPr algn="ctr">
              <a:lnSpc>
                <a:spcPct val="130000"/>
              </a:lnSpc>
            </a:pPr>
            <a:r>
              <a:rPr lang="en-US" sz="1120" dirty="0">
                <a:solidFill>
                  <a:srgbClr val="E0E2E5">
                    <a:alpha val="70000"/>
                  </a:srgbClr>
                </a:solidFill>
                <a:latin typeface="Noto Sans SC" pitchFamily="34" charset="0"/>
                <a:ea typeface="Noto Sans SC" pitchFamily="34" charset="-122"/>
                <a:cs typeface="Noto Sans SC" pitchFamily="34" charset="-120"/>
              </a:rPr>
              <a:t>吞吐量提升</a:t>
            </a:r>
            <a:endParaRPr lang="en-US" sz="1600" dirty="0"/>
          </a:p>
        </p:txBody>
      </p:sp>
      <p:sp>
        <p:nvSpPr>
          <p:cNvPr id="46" name="Shape 44"/>
          <p:cNvSpPr/>
          <p:nvPr/>
        </p:nvSpPr>
        <p:spPr>
          <a:xfrm>
            <a:off x="6417851" y="5304264"/>
            <a:ext cx="5242915" cy="426542"/>
          </a:xfrm>
          <a:custGeom>
            <a:avLst/>
            <a:gdLst/>
            <a:ahLst/>
            <a:cxnLst/>
            <a:rect l="l" t="t" r="r" b="b"/>
            <a:pathLst>
              <a:path w="5242915" h="426542">
                <a:moveTo>
                  <a:pt x="35545" y="0"/>
                </a:moveTo>
                <a:lnTo>
                  <a:pt x="5171824" y="0"/>
                </a:lnTo>
                <a:cubicBezTo>
                  <a:pt x="5211087" y="0"/>
                  <a:pt x="5242915" y="31829"/>
                  <a:pt x="5242915" y="71092"/>
                </a:cubicBezTo>
                <a:lnTo>
                  <a:pt x="5242915" y="355450"/>
                </a:lnTo>
                <a:cubicBezTo>
                  <a:pt x="5242915" y="394713"/>
                  <a:pt x="5211087" y="426542"/>
                  <a:pt x="5171824" y="426542"/>
                </a:cubicBezTo>
                <a:lnTo>
                  <a:pt x="35545" y="426542"/>
                </a:lnTo>
                <a:cubicBezTo>
                  <a:pt x="15927" y="426542"/>
                  <a:pt x="0" y="410615"/>
                  <a:pt x="0" y="390997"/>
                </a:cubicBezTo>
                <a:lnTo>
                  <a:pt x="0" y="35545"/>
                </a:lnTo>
                <a:cubicBezTo>
                  <a:pt x="0" y="15927"/>
                  <a:pt x="15927" y="0"/>
                  <a:pt x="35545" y="0"/>
                </a:cubicBezTo>
                <a:close/>
              </a:path>
            </a:pathLst>
          </a:custGeom>
          <a:solidFill>
            <a:srgbClr val="3D8B75">
              <a:alpha val="20000"/>
            </a:srgbClr>
          </a:solidFill>
          <a:ln/>
        </p:spPr>
        <p:txBody>
          <a:bodyPr/>
          <a:lstStyle/>
          <a:p>
            <a:endParaRPr lang="zh-CN" altLang="en-US"/>
          </a:p>
        </p:txBody>
      </p:sp>
      <p:sp>
        <p:nvSpPr>
          <p:cNvPr id="47" name="Shape 45"/>
          <p:cNvSpPr/>
          <p:nvPr/>
        </p:nvSpPr>
        <p:spPr>
          <a:xfrm>
            <a:off x="6417851" y="5304264"/>
            <a:ext cx="35545" cy="426542"/>
          </a:xfrm>
          <a:custGeom>
            <a:avLst/>
            <a:gdLst/>
            <a:ahLst/>
            <a:cxnLst/>
            <a:rect l="l" t="t" r="r" b="b"/>
            <a:pathLst>
              <a:path w="35545" h="426542">
                <a:moveTo>
                  <a:pt x="35545" y="0"/>
                </a:moveTo>
                <a:lnTo>
                  <a:pt x="35545" y="0"/>
                </a:lnTo>
                <a:lnTo>
                  <a:pt x="35545" y="426542"/>
                </a:lnTo>
                <a:lnTo>
                  <a:pt x="35545" y="426542"/>
                </a:lnTo>
                <a:cubicBezTo>
                  <a:pt x="15914" y="426542"/>
                  <a:pt x="0" y="410628"/>
                  <a:pt x="0" y="390997"/>
                </a:cubicBezTo>
                <a:lnTo>
                  <a:pt x="0" y="35545"/>
                </a:lnTo>
                <a:cubicBezTo>
                  <a:pt x="0" y="15927"/>
                  <a:pt x="15927" y="0"/>
                  <a:pt x="35545" y="0"/>
                </a:cubicBezTo>
                <a:close/>
              </a:path>
            </a:pathLst>
          </a:custGeom>
          <a:solidFill>
            <a:srgbClr val="3D8B75"/>
          </a:solidFill>
          <a:ln/>
        </p:spPr>
        <p:txBody>
          <a:bodyPr/>
          <a:lstStyle/>
          <a:p>
            <a:endParaRPr lang="zh-CN" altLang="en-US"/>
          </a:p>
        </p:txBody>
      </p:sp>
      <p:sp>
        <p:nvSpPr>
          <p:cNvPr id="48" name="Shape 46"/>
          <p:cNvSpPr/>
          <p:nvPr/>
        </p:nvSpPr>
        <p:spPr>
          <a:xfrm>
            <a:off x="6560031" y="5446444"/>
            <a:ext cx="142181" cy="142181"/>
          </a:xfrm>
          <a:custGeom>
            <a:avLst/>
            <a:gdLst/>
            <a:ahLst/>
            <a:cxnLst/>
            <a:rect l="l" t="t" r="r" b="b"/>
            <a:pathLst>
              <a:path w="142181" h="142181">
                <a:moveTo>
                  <a:pt x="71090" y="142181"/>
                </a:moveTo>
                <a:cubicBezTo>
                  <a:pt x="110326" y="142181"/>
                  <a:pt x="142181" y="110326"/>
                  <a:pt x="142181" y="71090"/>
                </a:cubicBezTo>
                <a:cubicBezTo>
                  <a:pt x="142181" y="31855"/>
                  <a:pt x="110326" y="0"/>
                  <a:pt x="71090" y="0"/>
                </a:cubicBezTo>
                <a:cubicBezTo>
                  <a:pt x="31855" y="0"/>
                  <a:pt x="0" y="31855"/>
                  <a:pt x="0" y="71090"/>
                </a:cubicBezTo>
                <a:cubicBezTo>
                  <a:pt x="0" y="110326"/>
                  <a:pt x="31855" y="142181"/>
                  <a:pt x="71090" y="142181"/>
                </a:cubicBezTo>
                <a:close/>
                <a:moveTo>
                  <a:pt x="94528" y="59066"/>
                </a:moveTo>
                <a:lnTo>
                  <a:pt x="72312" y="94611"/>
                </a:lnTo>
                <a:cubicBezTo>
                  <a:pt x="71146" y="96472"/>
                  <a:pt x="69147" y="97638"/>
                  <a:pt x="66953" y="97749"/>
                </a:cubicBezTo>
                <a:cubicBezTo>
                  <a:pt x="64759" y="97860"/>
                  <a:pt x="62648" y="96861"/>
                  <a:pt x="61343" y="95083"/>
                </a:cubicBezTo>
                <a:lnTo>
                  <a:pt x="48014" y="77311"/>
                </a:lnTo>
                <a:cubicBezTo>
                  <a:pt x="45792" y="74367"/>
                  <a:pt x="46403" y="70202"/>
                  <a:pt x="49347" y="67980"/>
                </a:cubicBezTo>
                <a:cubicBezTo>
                  <a:pt x="52290" y="65759"/>
                  <a:pt x="56456" y="66370"/>
                  <a:pt x="58677" y="69313"/>
                </a:cubicBezTo>
                <a:lnTo>
                  <a:pt x="66175" y="79310"/>
                </a:lnTo>
                <a:lnTo>
                  <a:pt x="83226" y="52013"/>
                </a:lnTo>
                <a:cubicBezTo>
                  <a:pt x="85170" y="48902"/>
                  <a:pt x="89280" y="47930"/>
                  <a:pt x="92417" y="49902"/>
                </a:cubicBezTo>
                <a:cubicBezTo>
                  <a:pt x="95555" y="51874"/>
                  <a:pt x="96500" y="55956"/>
                  <a:pt x="94528" y="59094"/>
                </a:cubicBezTo>
                <a:close/>
              </a:path>
            </a:pathLst>
          </a:custGeom>
          <a:solidFill>
            <a:srgbClr val="3D8B75"/>
          </a:solidFill>
          <a:ln/>
        </p:spPr>
        <p:txBody>
          <a:bodyPr/>
          <a:lstStyle/>
          <a:p>
            <a:endParaRPr lang="zh-CN" altLang="en-US"/>
          </a:p>
        </p:txBody>
      </p:sp>
      <p:sp>
        <p:nvSpPr>
          <p:cNvPr id="49" name="Text 47"/>
          <p:cNvSpPr/>
          <p:nvPr/>
        </p:nvSpPr>
        <p:spPr>
          <a:xfrm>
            <a:off x="6769727" y="5410899"/>
            <a:ext cx="4855494" cy="213271"/>
          </a:xfrm>
          <a:prstGeom prst="rect">
            <a:avLst/>
          </a:prstGeom>
          <a:noFill/>
          <a:ln/>
        </p:spPr>
        <p:txBody>
          <a:bodyPr wrap="square" lIns="0" tIns="0" rIns="0" bIns="0" rtlCol="0" anchor="ctr"/>
          <a:lstStyle/>
          <a:p>
            <a:pPr>
              <a:lnSpc>
                <a:spcPct val="130000"/>
              </a:lnSpc>
            </a:pPr>
            <a:r>
              <a:rPr lang="en-US" sz="1120" dirty="0">
                <a:solidFill>
                  <a:srgbClr val="E0E2E5"/>
                </a:solidFill>
                <a:latin typeface="Noto Sans SC" pitchFamily="34" charset="0"/>
                <a:ea typeface="Noto Sans SC" pitchFamily="34" charset="-122"/>
                <a:cs typeface="Noto Sans SC" pitchFamily="34" charset="-120"/>
              </a:rPr>
              <a:t>在复杂推理和长文本生成任务中保持</a:t>
            </a:r>
            <a:r>
              <a:rPr lang="en-US" sz="1120" b="1" dirty="0">
                <a:solidFill>
                  <a:srgbClr val="E0E2E5"/>
                </a:solidFill>
                <a:latin typeface="Noto Sans SC" pitchFamily="34" charset="0"/>
                <a:ea typeface="Noto Sans SC" pitchFamily="34" charset="-122"/>
                <a:cs typeface="Noto Sans SC" pitchFamily="34" charset="-120"/>
              </a:rPr>
              <a:t>近乎无损的精度</a:t>
            </a:r>
            <a:endParaRPr lang="en-US" sz="1600" dirty="0"/>
          </a:p>
        </p:txBody>
      </p:sp>
      <p:sp>
        <p:nvSpPr>
          <p:cNvPr id="50" name="Shape 48"/>
          <p:cNvSpPr/>
          <p:nvPr/>
        </p:nvSpPr>
        <p:spPr>
          <a:xfrm>
            <a:off x="6204579" y="6050713"/>
            <a:ext cx="5633913" cy="746449"/>
          </a:xfrm>
          <a:custGeom>
            <a:avLst/>
            <a:gdLst/>
            <a:ahLst/>
            <a:cxnLst/>
            <a:rect l="l" t="t" r="r" b="b"/>
            <a:pathLst>
              <a:path w="5633913" h="746449">
                <a:moveTo>
                  <a:pt x="35545" y="0"/>
                </a:moveTo>
                <a:lnTo>
                  <a:pt x="5562821" y="0"/>
                </a:lnTo>
                <a:cubicBezTo>
                  <a:pt x="5602084" y="0"/>
                  <a:pt x="5633913" y="31829"/>
                  <a:pt x="5633913" y="71092"/>
                </a:cubicBezTo>
                <a:lnTo>
                  <a:pt x="5633913" y="675357"/>
                </a:lnTo>
                <a:cubicBezTo>
                  <a:pt x="5633913" y="714620"/>
                  <a:pt x="5602084" y="746449"/>
                  <a:pt x="5562821" y="746449"/>
                </a:cubicBezTo>
                <a:lnTo>
                  <a:pt x="35545" y="746449"/>
                </a:lnTo>
                <a:cubicBezTo>
                  <a:pt x="15914" y="746449"/>
                  <a:pt x="0" y="730535"/>
                  <a:pt x="0" y="710904"/>
                </a:cubicBezTo>
                <a:lnTo>
                  <a:pt x="0" y="35545"/>
                </a:lnTo>
                <a:cubicBezTo>
                  <a:pt x="0" y="15927"/>
                  <a:pt x="15927" y="0"/>
                  <a:pt x="35545" y="0"/>
                </a:cubicBezTo>
                <a:close/>
              </a:path>
            </a:pathLst>
          </a:custGeom>
          <a:solidFill>
            <a:srgbClr val="C9A86A">
              <a:alpha val="20000"/>
            </a:srgbClr>
          </a:solidFill>
          <a:ln/>
        </p:spPr>
        <p:txBody>
          <a:bodyPr/>
          <a:lstStyle/>
          <a:p>
            <a:endParaRPr lang="zh-CN" altLang="en-US"/>
          </a:p>
        </p:txBody>
      </p:sp>
      <p:sp>
        <p:nvSpPr>
          <p:cNvPr id="51" name="Shape 49"/>
          <p:cNvSpPr/>
          <p:nvPr/>
        </p:nvSpPr>
        <p:spPr>
          <a:xfrm>
            <a:off x="6204579" y="6050713"/>
            <a:ext cx="35545" cy="746449"/>
          </a:xfrm>
          <a:custGeom>
            <a:avLst/>
            <a:gdLst/>
            <a:ahLst/>
            <a:cxnLst/>
            <a:rect l="l" t="t" r="r" b="b"/>
            <a:pathLst>
              <a:path w="35545" h="746449">
                <a:moveTo>
                  <a:pt x="35545" y="0"/>
                </a:moveTo>
                <a:lnTo>
                  <a:pt x="35545" y="0"/>
                </a:lnTo>
                <a:lnTo>
                  <a:pt x="35545" y="746449"/>
                </a:lnTo>
                <a:lnTo>
                  <a:pt x="35545" y="746449"/>
                </a:lnTo>
                <a:cubicBezTo>
                  <a:pt x="15914" y="746449"/>
                  <a:pt x="0" y="730535"/>
                  <a:pt x="0" y="710904"/>
                </a:cubicBezTo>
                <a:lnTo>
                  <a:pt x="0" y="35545"/>
                </a:lnTo>
                <a:cubicBezTo>
                  <a:pt x="0" y="15927"/>
                  <a:pt x="15927" y="0"/>
                  <a:pt x="35545" y="0"/>
                </a:cubicBezTo>
                <a:close/>
              </a:path>
            </a:pathLst>
          </a:custGeom>
          <a:solidFill>
            <a:srgbClr val="C9A86A"/>
          </a:solidFill>
          <a:ln/>
        </p:spPr>
        <p:txBody>
          <a:bodyPr/>
          <a:lstStyle/>
          <a:p>
            <a:endParaRPr lang="zh-CN" altLang="en-US"/>
          </a:p>
        </p:txBody>
      </p:sp>
      <p:sp>
        <p:nvSpPr>
          <p:cNvPr id="52" name="Shape 50"/>
          <p:cNvSpPr/>
          <p:nvPr/>
        </p:nvSpPr>
        <p:spPr>
          <a:xfrm>
            <a:off x="6382305" y="6237325"/>
            <a:ext cx="142181" cy="142181"/>
          </a:xfrm>
          <a:custGeom>
            <a:avLst/>
            <a:gdLst/>
            <a:ahLst/>
            <a:cxnLst/>
            <a:rect l="l" t="t" r="r" b="b"/>
            <a:pathLst>
              <a:path w="142181" h="142181">
                <a:moveTo>
                  <a:pt x="71090" y="0"/>
                </a:moveTo>
                <a:cubicBezTo>
                  <a:pt x="75173" y="0"/>
                  <a:pt x="78921" y="2249"/>
                  <a:pt x="80865" y="5832"/>
                </a:cubicBezTo>
                <a:lnTo>
                  <a:pt x="140848" y="116910"/>
                </a:lnTo>
                <a:cubicBezTo>
                  <a:pt x="142708" y="120354"/>
                  <a:pt x="142625" y="124519"/>
                  <a:pt x="140626" y="127879"/>
                </a:cubicBezTo>
                <a:cubicBezTo>
                  <a:pt x="138626" y="131240"/>
                  <a:pt x="134988" y="133294"/>
                  <a:pt x="131073" y="133294"/>
                </a:cubicBezTo>
                <a:lnTo>
                  <a:pt x="11108" y="133294"/>
                </a:lnTo>
                <a:cubicBezTo>
                  <a:pt x="7192" y="133294"/>
                  <a:pt x="3582" y="131240"/>
                  <a:pt x="1555" y="127879"/>
                </a:cubicBezTo>
                <a:cubicBezTo>
                  <a:pt x="-472" y="124519"/>
                  <a:pt x="-528" y="120354"/>
                  <a:pt x="1333" y="116910"/>
                </a:cubicBezTo>
                <a:lnTo>
                  <a:pt x="61315" y="5832"/>
                </a:lnTo>
                <a:cubicBezTo>
                  <a:pt x="63259" y="2249"/>
                  <a:pt x="67008" y="0"/>
                  <a:pt x="71090" y="0"/>
                </a:cubicBezTo>
                <a:close/>
                <a:moveTo>
                  <a:pt x="71090" y="46653"/>
                </a:moveTo>
                <a:cubicBezTo>
                  <a:pt x="67397" y="46653"/>
                  <a:pt x="64426" y="49624"/>
                  <a:pt x="64426" y="53318"/>
                </a:cubicBezTo>
                <a:lnTo>
                  <a:pt x="64426" y="84420"/>
                </a:lnTo>
                <a:cubicBezTo>
                  <a:pt x="64426" y="88113"/>
                  <a:pt x="67397" y="91085"/>
                  <a:pt x="71090" y="91085"/>
                </a:cubicBezTo>
                <a:cubicBezTo>
                  <a:pt x="74784" y="91085"/>
                  <a:pt x="77755" y="88113"/>
                  <a:pt x="77755" y="84420"/>
                </a:cubicBezTo>
                <a:lnTo>
                  <a:pt x="77755" y="53318"/>
                </a:lnTo>
                <a:cubicBezTo>
                  <a:pt x="77755" y="49624"/>
                  <a:pt x="74784" y="46653"/>
                  <a:pt x="71090" y="46653"/>
                </a:cubicBezTo>
                <a:close/>
                <a:moveTo>
                  <a:pt x="78505" y="106636"/>
                </a:moveTo>
                <a:cubicBezTo>
                  <a:pt x="78674" y="103883"/>
                  <a:pt x="77301" y="101265"/>
                  <a:pt x="74942" y="99838"/>
                </a:cubicBezTo>
                <a:cubicBezTo>
                  <a:pt x="72582" y="98411"/>
                  <a:pt x="69626" y="98411"/>
                  <a:pt x="67267" y="99838"/>
                </a:cubicBezTo>
                <a:cubicBezTo>
                  <a:pt x="64907" y="101265"/>
                  <a:pt x="63535" y="103883"/>
                  <a:pt x="63704" y="106636"/>
                </a:cubicBezTo>
                <a:cubicBezTo>
                  <a:pt x="63535" y="109388"/>
                  <a:pt x="64907" y="112006"/>
                  <a:pt x="67267" y="113433"/>
                </a:cubicBezTo>
                <a:cubicBezTo>
                  <a:pt x="69626" y="114860"/>
                  <a:pt x="72582" y="114860"/>
                  <a:pt x="74942" y="113433"/>
                </a:cubicBezTo>
                <a:cubicBezTo>
                  <a:pt x="77301" y="112006"/>
                  <a:pt x="78674" y="109388"/>
                  <a:pt x="78505" y="106636"/>
                </a:cubicBezTo>
                <a:close/>
              </a:path>
            </a:pathLst>
          </a:custGeom>
          <a:solidFill>
            <a:srgbClr val="C9A86A"/>
          </a:solidFill>
          <a:ln/>
        </p:spPr>
        <p:txBody>
          <a:bodyPr/>
          <a:lstStyle/>
          <a:p>
            <a:endParaRPr lang="zh-CN" altLang="en-US"/>
          </a:p>
        </p:txBody>
      </p:sp>
      <p:sp>
        <p:nvSpPr>
          <p:cNvPr id="53" name="Text 51"/>
          <p:cNvSpPr/>
          <p:nvPr/>
        </p:nvSpPr>
        <p:spPr>
          <a:xfrm>
            <a:off x="6592001" y="6192893"/>
            <a:ext cx="5175400" cy="462087"/>
          </a:xfrm>
          <a:prstGeom prst="rect">
            <a:avLst/>
          </a:prstGeom>
          <a:noFill/>
          <a:ln/>
        </p:spPr>
        <p:txBody>
          <a:bodyPr wrap="square" lIns="0" tIns="0" rIns="0" bIns="0" rtlCol="0" anchor="ctr"/>
          <a:lstStyle/>
          <a:p>
            <a:pPr>
              <a:lnSpc>
                <a:spcPct val="140000"/>
              </a:lnSpc>
            </a:pPr>
            <a:r>
              <a:rPr lang="en-US" sz="1120" b="1" dirty="0">
                <a:solidFill>
                  <a:srgbClr val="E0E2E5"/>
                </a:solidFill>
                <a:latin typeface="Noto Sans SC" pitchFamily="34" charset="0"/>
                <a:ea typeface="Noto Sans SC" pitchFamily="34" charset="-122"/>
                <a:cs typeface="Noto Sans SC" pitchFamily="34" charset="-120"/>
              </a:rPr>
              <a:t>工程挑战：</a:t>
            </a:r>
            <a:r>
              <a:rPr lang="en-US" sz="1120" dirty="0">
                <a:solidFill>
                  <a:srgbClr val="E0E2E5"/>
                </a:solidFill>
                <a:latin typeface="Noto Sans SC" pitchFamily="34" charset="0"/>
                <a:ea typeface="Noto Sans SC" pitchFamily="34" charset="-122"/>
                <a:cs typeface="Noto Sans SC" pitchFamily="34" charset="-120"/>
              </a:rPr>
              <a:t>混合方法增加了极大的系统复杂度，将多种压缩算子融合并深度集成到现有推理框架中，需要极高的 Kernel 编写技巧。</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COMPARISON</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技术效果对比一览</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385763" y="1376363"/>
            <a:ext cx="11420475" cy="4791075"/>
          </a:xfrm>
          <a:custGeom>
            <a:avLst/>
            <a:gdLst/>
            <a:ahLst/>
            <a:cxnLst/>
            <a:rect l="l" t="t" r="r" b="b"/>
            <a:pathLst>
              <a:path w="11420475" h="4791075">
                <a:moveTo>
                  <a:pt x="76178" y="0"/>
                </a:moveTo>
                <a:lnTo>
                  <a:pt x="11344297" y="0"/>
                </a:lnTo>
                <a:cubicBezTo>
                  <a:pt x="11386369" y="0"/>
                  <a:pt x="11420475" y="34106"/>
                  <a:pt x="11420475" y="76178"/>
                </a:cubicBezTo>
                <a:lnTo>
                  <a:pt x="11420475" y="4714897"/>
                </a:lnTo>
                <a:cubicBezTo>
                  <a:pt x="11420475" y="4756969"/>
                  <a:pt x="11386369" y="4791075"/>
                  <a:pt x="11344297" y="4791075"/>
                </a:cubicBezTo>
                <a:lnTo>
                  <a:pt x="76178" y="4791075"/>
                </a:lnTo>
                <a:cubicBezTo>
                  <a:pt x="34106" y="4791075"/>
                  <a:pt x="0" y="4756969"/>
                  <a:pt x="0" y="4714897"/>
                </a:cubicBezTo>
                <a:lnTo>
                  <a:pt x="0" y="76178"/>
                </a:lnTo>
                <a:cubicBezTo>
                  <a:pt x="0" y="34134"/>
                  <a:pt x="34134" y="0"/>
                  <a:pt x="76178" y="0"/>
                </a:cubicBezTo>
                <a:close/>
              </a:path>
            </a:pathLst>
          </a:custGeom>
          <a:solidFill>
            <a:srgbClr val="5F6B7A">
              <a:alpha val="5098"/>
            </a:srgbClr>
          </a:solidFill>
          <a:ln w="12700">
            <a:solidFill>
              <a:srgbClr val="5F6B7A">
                <a:alpha val="20000"/>
              </a:srgbClr>
            </a:solidFill>
            <a:prstDash val="solid"/>
          </a:ln>
        </p:spPr>
        <p:txBody>
          <a:bodyPr/>
          <a:lstStyle/>
          <a:p>
            <a:endParaRPr lang="zh-CN" altLang="en-US"/>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2925" y="1533525"/>
          <a:ext cx="11106151" cy="3552822"/>
        </p:xfrm>
        <a:graphic>
          <a:graphicData uri="http://schemas.openxmlformats.org/drawingml/2006/table">
            <a:tbl>
              <a:tblPr/>
              <a:tblGrid>
                <a:gridCol w="1639706">
                  <a:extLst>
                    <a:ext uri="{9D8B030D-6E8A-4147-A177-3AD203B41FA5}">
                      <a16:colId xmlns:a16="http://schemas.microsoft.com/office/drawing/2014/main" val="20000"/>
                    </a:ext>
                  </a:extLst>
                </a:gridCol>
                <a:gridCol w="2106832">
                  <a:extLst>
                    <a:ext uri="{9D8B030D-6E8A-4147-A177-3AD203B41FA5}">
                      <a16:colId xmlns:a16="http://schemas.microsoft.com/office/drawing/2014/main" val="20001"/>
                    </a:ext>
                  </a:extLst>
                </a:gridCol>
                <a:gridCol w="1449043">
                  <a:extLst>
                    <a:ext uri="{9D8B030D-6E8A-4147-A177-3AD203B41FA5}">
                      <a16:colId xmlns:a16="http://schemas.microsoft.com/office/drawing/2014/main" val="20002"/>
                    </a:ext>
                  </a:extLst>
                </a:gridCol>
                <a:gridCol w="1172581">
                  <a:extLst>
                    <a:ext uri="{9D8B030D-6E8A-4147-A177-3AD203B41FA5}">
                      <a16:colId xmlns:a16="http://schemas.microsoft.com/office/drawing/2014/main" val="20003"/>
                    </a:ext>
                  </a:extLst>
                </a:gridCol>
                <a:gridCol w="1830370">
                  <a:extLst>
                    <a:ext uri="{9D8B030D-6E8A-4147-A177-3AD203B41FA5}">
                      <a16:colId xmlns:a16="http://schemas.microsoft.com/office/drawing/2014/main" val="20004"/>
                    </a:ext>
                  </a:extLst>
                </a:gridCol>
                <a:gridCol w="1391844">
                  <a:extLst>
                    <a:ext uri="{9D8B030D-6E8A-4147-A177-3AD203B41FA5}">
                      <a16:colId xmlns:a16="http://schemas.microsoft.com/office/drawing/2014/main" val="20005"/>
                    </a:ext>
                  </a:extLst>
                </a:gridCol>
                <a:gridCol w="1515775">
                  <a:extLst>
                    <a:ext uri="{9D8B030D-6E8A-4147-A177-3AD203B41FA5}">
                      <a16:colId xmlns:a16="http://schemas.microsoft.com/office/drawing/2014/main" val="20006"/>
                    </a:ext>
                  </a:extLst>
                </a:gridCol>
              </a:tblGrid>
              <a:tr h="394758">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方法类别</a:t>
                      </a:r>
                      <a:endParaRPr lang="en-US" sz="13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代表性工作</a:t>
                      </a:r>
                      <a:endParaRPr lang="en-US" sz="13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ctr"/>
                      <a:r>
                        <a:rPr lang="en-US" sz="1300" b="1" u="none" dirty="0">
                          <a:solidFill>
                            <a:srgbClr val="3D8B75"/>
                          </a:solidFill>
                          <a:latin typeface="微软雅黑" pitchFamily="34" charset="0"/>
                          <a:ea typeface="微软雅黑" pitchFamily="34" charset="-122"/>
                          <a:cs typeface="微软雅黑" pitchFamily="34" charset="-120"/>
                        </a:rPr>
                        <a:t>压缩率</a:t>
                      </a:r>
                      <a:endParaRPr lang="en-US" sz="13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ctr"/>
                      <a:r>
                        <a:rPr lang="en-US" sz="1300" b="1" u="none" dirty="0">
                          <a:solidFill>
                            <a:srgbClr val="3D8B75"/>
                          </a:solidFill>
                          <a:latin typeface="微软雅黑" pitchFamily="34" charset="0"/>
                          <a:ea typeface="微软雅黑" pitchFamily="34" charset="-122"/>
                          <a:cs typeface="微软雅黑" pitchFamily="34" charset="-120"/>
                        </a:rPr>
                        <a:t>精度保持</a:t>
                      </a:r>
                      <a:endParaRPr lang="en-US" sz="13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额外开销</a:t>
                      </a:r>
                      <a:endParaRPr lang="en-US" sz="13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ctr"/>
                      <a:r>
                        <a:rPr lang="en-US" sz="1300" b="1" u="none" dirty="0">
                          <a:solidFill>
                            <a:srgbClr val="3D8B75"/>
                          </a:solidFill>
                          <a:latin typeface="微软雅黑" pitchFamily="34" charset="0"/>
                          <a:ea typeface="微软雅黑" pitchFamily="34" charset="-122"/>
                          <a:cs typeface="微软雅黑" pitchFamily="34" charset="-120"/>
                        </a:rPr>
                        <a:t>工程成熟度</a:t>
                      </a:r>
                      <a:endParaRPr lang="en-US" sz="13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主要局限</a:t>
                      </a:r>
                      <a:endParaRPr lang="en-US" sz="13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394758">
                <a:tc>
                  <a:txBody>
                    <a:bodyPr/>
                    <a:lstStyle/>
                    <a:p>
                      <a:r>
                        <a:rPr lang="en-US" sz="1200" b="1" u="none" dirty="0">
                          <a:solidFill>
                            <a:srgbClr val="E0E2E5"/>
                          </a:solidFill>
                          <a:latin typeface="微软雅黑" pitchFamily="34" charset="0"/>
                          <a:ea typeface="微软雅黑" pitchFamily="34" charset="-122"/>
                          <a:cs typeface="微软雅黑" pitchFamily="34" charset="-120"/>
                        </a:rPr>
                        <a:t>Token Pruning</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SnapKV / H2O</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2×–4×</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3D8B75"/>
                          </a:solidFill>
                          <a:latin typeface="微软雅黑" pitchFamily="34" charset="0"/>
                          <a:ea typeface="微软雅黑" pitchFamily="34" charset="-122"/>
                          <a:cs typeface="微软雅黑" pitchFamily="34" charset="-120"/>
                        </a:rPr>
                        <a:t>高</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极小（轻量 Prefill）</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成熟</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信息不可逆丢失</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394758">
                <a:tc>
                  <a:txBody>
                    <a:bodyPr/>
                    <a:lstStyle/>
                    <a:p>
                      <a:r>
                        <a:rPr lang="en-US" sz="1200" b="1" u="none" dirty="0">
                          <a:solidFill>
                            <a:srgbClr val="E0E2E5"/>
                          </a:solidFill>
                          <a:latin typeface="微软雅黑" pitchFamily="34" charset="0"/>
                          <a:ea typeface="微软雅黑" pitchFamily="34" charset="-122"/>
                          <a:cs typeface="微软雅黑" pitchFamily="34" charset="-120"/>
                        </a:rPr>
                        <a:t>Output-aware</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OBCache</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2×–5×</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3D8B75"/>
                          </a:solidFill>
                          <a:latin typeface="微软雅黑" pitchFamily="34" charset="0"/>
                          <a:ea typeface="微软雅黑" pitchFamily="34" charset="-122"/>
                          <a:cs typeface="微软雅黑" pitchFamily="34" charset="-120"/>
                        </a:rPr>
                        <a:t>高</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计算开销</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研究</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计算开销</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394758">
                <a:tc>
                  <a:txBody>
                    <a:bodyPr/>
                    <a:lstStyle/>
                    <a:p>
                      <a:r>
                        <a:rPr lang="en-US" sz="1200" b="1" u="none" dirty="0">
                          <a:solidFill>
                            <a:srgbClr val="E0E2E5"/>
                          </a:solidFill>
                          <a:latin typeface="微软雅黑" pitchFamily="34" charset="0"/>
                          <a:ea typeface="微软雅黑" pitchFamily="34" charset="-122"/>
                          <a:cs typeface="微软雅黑" pitchFamily="34" charset="-120"/>
                        </a:rPr>
                        <a:t>Quantization</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KVC-Q / QAQ</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3×–8×</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3D8B75"/>
                          </a:solidFill>
                          <a:latin typeface="微软雅黑" pitchFamily="34" charset="0"/>
                          <a:ea typeface="微软雅黑" pitchFamily="34" charset="-122"/>
                          <a:cs typeface="微软雅黑" pitchFamily="34" charset="-120"/>
                        </a:rPr>
                        <a:t>94%+</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解码计算开销</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较成熟</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极低比特退化</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394758">
                <a:tc>
                  <a:txBody>
                    <a:bodyPr/>
                    <a:lstStyle/>
                    <a:p>
                      <a:r>
                        <a:rPr lang="en-US" sz="1200" b="1" u="none" dirty="0">
                          <a:solidFill>
                            <a:srgbClr val="E0E2E5"/>
                          </a:solidFill>
                          <a:latin typeface="微软雅黑" pitchFamily="34" charset="0"/>
                          <a:ea typeface="微软雅黑" pitchFamily="34" charset="-122"/>
                          <a:cs typeface="微软雅黑" pitchFamily="34" charset="-120"/>
                        </a:rPr>
                        <a:t>Ultra-low-bit</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TurboQuant</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≈6×</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3D8B75"/>
                          </a:solidFill>
                          <a:latin typeface="微软雅黑" pitchFamily="34" charset="0"/>
                          <a:ea typeface="微软雅黑" pitchFamily="34" charset="-122"/>
                          <a:cs typeface="微软雅黑" pitchFamily="34" charset="-120"/>
                        </a:rPr>
                        <a:t>零损失*</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预处理+解码开销</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实验室</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场景局限性</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394758">
                <a:tc>
                  <a:txBody>
                    <a:bodyPr/>
                    <a:lstStyle/>
                    <a:p>
                      <a:r>
                        <a:rPr lang="en-US" sz="1200" b="1" u="none" dirty="0">
                          <a:solidFill>
                            <a:srgbClr val="E0E2E5"/>
                          </a:solidFill>
                          <a:latin typeface="微软雅黑" pitchFamily="34" charset="0"/>
                          <a:ea typeface="微软雅黑" pitchFamily="34" charset="-122"/>
                          <a:cs typeface="微软雅黑" pitchFamily="34" charset="-120"/>
                        </a:rPr>
                        <a:t>Low-rank</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KQ-SVD / ReCalKV</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2×–8×</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3D8B75"/>
                          </a:solidFill>
                          <a:latin typeface="微软雅黑" pitchFamily="34" charset="0"/>
                          <a:ea typeface="微软雅黑" pitchFamily="34" charset="-122"/>
                          <a:cs typeface="微软雅黑" pitchFamily="34" charset="-120"/>
                        </a:rPr>
                        <a:t>高</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Prefill SVD 分解</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研究</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SVD 计算开销</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5"/>
                  </a:ext>
                </a:extLst>
              </a:tr>
              <a:tr h="394758">
                <a:tc>
                  <a:txBody>
                    <a:bodyPr/>
                    <a:lstStyle/>
                    <a:p>
                      <a:r>
                        <a:rPr lang="en-US" sz="1200" b="1" u="none" dirty="0">
                          <a:solidFill>
                            <a:srgbClr val="E0E2E5"/>
                          </a:solidFill>
                          <a:latin typeface="微软雅黑" pitchFamily="34" charset="0"/>
                          <a:ea typeface="微软雅黑" pitchFamily="34" charset="-122"/>
                          <a:cs typeface="微软雅黑" pitchFamily="34" charset="-120"/>
                        </a:rPr>
                        <a:t>Cross-layer</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CommonKV / xKV</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2×–3×</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3D8B75"/>
                          </a:solidFill>
                          <a:latin typeface="微软雅黑" pitchFamily="34" charset="0"/>
                          <a:ea typeface="微软雅黑" pitchFamily="34" charset="-122"/>
                          <a:cs typeface="微软雅黑" pitchFamily="34" charset="-120"/>
                        </a:rPr>
                        <a:t>高</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无</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研究</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架构侵入性</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6"/>
                  </a:ext>
                </a:extLst>
              </a:tr>
              <a:tr h="394758">
                <a:tc>
                  <a:txBody>
                    <a:bodyPr/>
                    <a:lstStyle/>
                    <a:p>
                      <a:r>
                        <a:rPr lang="en-US" sz="1200" b="1" u="none" dirty="0">
                          <a:solidFill>
                            <a:srgbClr val="E0E2E5"/>
                          </a:solidFill>
                          <a:latin typeface="微软雅黑" pitchFamily="34" charset="0"/>
                          <a:ea typeface="微软雅黑" pitchFamily="34" charset="-122"/>
                          <a:cs typeface="微软雅黑" pitchFamily="34" charset="-120"/>
                        </a:rPr>
                        <a:t>Offloading</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ShadowKV</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3×–6×</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3D8B75"/>
                          </a:solidFill>
                          <a:latin typeface="微软雅黑" pitchFamily="34" charset="0"/>
                          <a:ea typeface="微软雅黑" pitchFamily="34" charset="-122"/>
                          <a:cs typeface="微软雅黑" pitchFamily="34" charset="-120"/>
                        </a:rPr>
                        <a:t>高</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PCIe 通信开销</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较成熟</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CPU-GPU 延迟</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7"/>
                  </a:ext>
                </a:extLst>
              </a:tr>
              <a:tr h="394758">
                <a:tc>
                  <a:txBody>
                    <a:bodyPr/>
                    <a:lstStyle/>
                    <a:p>
                      <a:r>
                        <a:rPr lang="en-US" sz="1200" b="1" u="none" dirty="0">
                          <a:solidFill>
                            <a:srgbClr val="E0E2E5"/>
                          </a:solidFill>
                          <a:latin typeface="微软雅黑" pitchFamily="34" charset="0"/>
                          <a:ea typeface="微软雅黑" pitchFamily="34" charset="-122"/>
                          <a:cs typeface="微软雅黑" pitchFamily="34" charset="-120"/>
                        </a:rPr>
                        <a:t>Hybrid</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LeanKV</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2.7×–5.7×</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pPr algn="ctr"/>
                      <a:r>
                        <a:rPr lang="en-US" sz="1200" u="none" dirty="0">
                          <a:solidFill>
                            <a:srgbClr val="3D8B75"/>
                          </a:solidFill>
                          <a:latin typeface="微软雅黑" pitchFamily="34" charset="0"/>
                          <a:ea typeface="微软雅黑" pitchFamily="34" charset="-122"/>
                          <a:cs typeface="微软雅黑" pitchFamily="34" charset="-120"/>
                        </a:rPr>
                        <a:t>高</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综合开销</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早期</a:t>
                      </a:r>
                      <a:endParaRPr lang="en-US" sz="12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工程复杂度高</a:t>
                      </a:r>
                      <a:endParaRPr lang="en-US" sz="1000" dirty="0">
                        <a:latin typeface="微软雅黑" charset="0"/>
                        <a:ea typeface="微软雅黑" charset="0"/>
                        <a:cs typeface="微软雅黑" charset="0"/>
                      </a:endParaRPr>
                    </a:p>
                  </a:txBody>
                  <a:tcPr marL="114300" marR="114300" marT="76200" marB="762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8"/>
                  </a:ext>
                </a:extLst>
              </a:tr>
            </a:tbl>
          </a:graphicData>
        </a:graphic>
      </p:graphicFrame>
      <p:sp>
        <p:nvSpPr>
          <p:cNvPr id="7" name="Shape 4"/>
          <p:cNvSpPr/>
          <p:nvPr/>
        </p:nvSpPr>
        <p:spPr>
          <a:xfrm>
            <a:off x="400050" y="63150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E0E2E5">
              <a:alpha val="60000"/>
            </a:srgbClr>
          </a:solidFill>
          <a:ln/>
        </p:spPr>
        <p:txBody>
          <a:bodyPr/>
          <a:lstStyle/>
          <a:p>
            <a:endParaRPr lang="zh-CN" altLang="en-US"/>
          </a:p>
        </p:txBody>
      </p:sp>
      <p:sp>
        <p:nvSpPr>
          <p:cNvPr id="8" name="Text 5"/>
          <p:cNvSpPr/>
          <p:nvPr/>
        </p:nvSpPr>
        <p:spPr>
          <a:xfrm>
            <a:off x="581025" y="6286500"/>
            <a:ext cx="11296650" cy="190500"/>
          </a:xfrm>
          <a:prstGeom prst="rect">
            <a:avLst/>
          </a:prstGeom>
          <a:noFill/>
          <a:ln/>
        </p:spPr>
        <p:txBody>
          <a:bodyPr wrap="square" lIns="0" tIns="0" rIns="0" bIns="0" rtlCol="0" anchor="ctr"/>
          <a:lstStyle/>
          <a:p>
            <a:pPr>
              <a:lnSpc>
                <a:spcPct val="120000"/>
              </a:lnSpc>
            </a:pPr>
            <a:r>
              <a:rPr lang="en-US" sz="1050" dirty="0">
                <a:solidFill>
                  <a:srgbClr val="E0E2E5">
                    <a:alpha val="60000"/>
                  </a:srgbClr>
                </a:solidFill>
                <a:latin typeface="Noto Sans SC" pitchFamily="34" charset="0"/>
                <a:ea typeface="Noto Sans SC" pitchFamily="34" charset="-122"/>
                <a:cs typeface="Noto Sans SC" pitchFamily="34" charset="-120"/>
              </a:rPr>
              <a:t>* TurboQuant 的"零损失"声明存在场景依赖性，在特定硬件和任务下验证</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400050" y="2072878"/>
            <a:ext cx="1790700" cy="419100"/>
          </a:xfrm>
          <a:custGeom>
            <a:avLst/>
            <a:gdLst/>
            <a:ahLst/>
            <a:cxnLst/>
            <a:rect l="l" t="t" r="r" b="b"/>
            <a:pathLst>
              <a:path w="1790700" h="419100">
                <a:moveTo>
                  <a:pt x="0" y="0"/>
                </a:moveTo>
                <a:lnTo>
                  <a:pt x="1790700" y="0"/>
                </a:lnTo>
                <a:lnTo>
                  <a:pt x="1790700" y="419100"/>
                </a:lnTo>
                <a:lnTo>
                  <a:pt x="0" y="419100"/>
                </a:lnTo>
                <a:lnTo>
                  <a:pt x="0" y="0"/>
                </a:lnTo>
                <a:close/>
              </a:path>
            </a:pathLst>
          </a:custGeom>
          <a:solidFill>
            <a:srgbClr val="5F6B7A">
              <a:alpha val="20000"/>
            </a:srgbClr>
          </a:solidFill>
          <a:ln/>
        </p:spPr>
        <p:txBody>
          <a:bodyPr/>
          <a:lstStyle/>
          <a:p>
            <a:endParaRPr lang="zh-CN" altLang="en-US"/>
          </a:p>
        </p:txBody>
      </p:sp>
      <p:sp>
        <p:nvSpPr>
          <p:cNvPr id="5" name="Shape 2"/>
          <p:cNvSpPr/>
          <p:nvPr/>
        </p:nvSpPr>
        <p:spPr>
          <a:xfrm>
            <a:off x="400050" y="2072878"/>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5F6B7A"/>
          </a:solidFill>
          <a:ln/>
        </p:spPr>
        <p:txBody>
          <a:bodyPr/>
          <a:lstStyle/>
          <a:p>
            <a:endParaRPr lang="zh-CN" altLang="en-US"/>
          </a:p>
        </p:txBody>
      </p:sp>
      <p:sp>
        <p:nvSpPr>
          <p:cNvPr id="6" name="Text 3"/>
          <p:cNvSpPr/>
          <p:nvPr/>
        </p:nvSpPr>
        <p:spPr>
          <a:xfrm>
            <a:off x="609600" y="2149078"/>
            <a:ext cx="1485900" cy="266700"/>
          </a:xfrm>
          <a:prstGeom prst="rect">
            <a:avLst/>
          </a:prstGeom>
          <a:noFill/>
          <a:ln/>
        </p:spPr>
        <p:txBody>
          <a:bodyPr wrap="square" lIns="0" tIns="0" rIns="0" bIns="0" rtlCol="0" anchor="ctr"/>
          <a:lstStyle/>
          <a:p>
            <a:pPr>
              <a:lnSpc>
                <a:spcPct val="120000"/>
              </a:lnSpc>
            </a:pPr>
            <a:r>
              <a:rPr lang="en-US" sz="1500" b="1" kern="0" spc="150" dirty="0">
                <a:solidFill>
                  <a:srgbClr val="5F6B7A"/>
                </a:solidFill>
                <a:latin typeface="Noto Sans SC" pitchFamily="34" charset="0"/>
                <a:ea typeface="Noto Sans SC" pitchFamily="34" charset="-122"/>
                <a:cs typeface="Noto Sans SC" pitchFamily="34" charset="-120"/>
              </a:rPr>
              <a:t>CHAPTER 03</a:t>
            </a:r>
            <a:endParaRPr lang="en-US" sz="1600" dirty="0"/>
          </a:p>
        </p:txBody>
      </p:sp>
      <p:sp>
        <p:nvSpPr>
          <p:cNvPr id="7" name="Text 4"/>
          <p:cNvSpPr/>
          <p:nvPr/>
        </p:nvSpPr>
        <p:spPr>
          <a:xfrm>
            <a:off x="381000" y="2796778"/>
            <a:ext cx="11772900" cy="857250"/>
          </a:xfrm>
          <a:prstGeom prst="rect">
            <a:avLst/>
          </a:prstGeom>
          <a:noFill/>
          <a:ln/>
        </p:spPr>
        <p:txBody>
          <a:bodyPr wrap="square" lIns="0" tIns="0" rIns="0" bIns="0" rtlCol="0" anchor="ctr"/>
          <a:lstStyle/>
          <a:p>
            <a:pPr>
              <a:lnSpc>
                <a:spcPct val="100000"/>
              </a:lnSpc>
            </a:pPr>
            <a:r>
              <a:rPr lang="en-US" sz="5400" b="1" dirty="0">
                <a:solidFill>
                  <a:srgbClr val="E0E2E5"/>
                </a:solidFill>
                <a:latin typeface="Noto Sans SC" pitchFamily="34" charset="0"/>
                <a:ea typeface="Noto Sans SC" pitchFamily="34" charset="-122"/>
                <a:cs typeface="Noto Sans SC" pitchFamily="34" charset="-120"/>
              </a:rPr>
              <a:t>四层压缩模型</a:t>
            </a:r>
            <a:endParaRPr lang="en-US" sz="1600" dirty="0"/>
          </a:p>
        </p:txBody>
      </p:sp>
      <p:sp>
        <p:nvSpPr>
          <p:cNvPr id="8" name="Shape 5"/>
          <p:cNvSpPr/>
          <p:nvPr/>
        </p:nvSpPr>
        <p:spPr>
          <a:xfrm>
            <a:off x="381000" y="3958828"/>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9A86A"/>
          </a:solidFill>
          <a:ln/>
        </p:spPr>
        <p:txBody>
          <a:bodyPr/>
          <a:lstStyle/>
          <a:p>
            <a:endParaRPr lang="zh-CN" altLang="en-US"/>
          </a:p>
        </p:txBody>
      </p:sp>
      <p:sp>
        <p:nvSpPr>
          <p:cNvPr id="9" name="Text 6"/>
          <p:cNvSpPr/>
          <p:nvPr/>
        </p:nvSpPr>
        <p:spPr>
          <a:xfrm>
            <a:off x="381000" y="4320778"/>
            <a:ext cx="8677275" cy="466725"/>
          </a:xfrm>
          <a:prstGeom prst="rect">
            <a:avLst/>
          </a:prstGeom>
          <a:noFill/>
          <a:ln/>
        </p:spPr>
        <p:txBody>
          <a:bodyPr wrap="square" lIns="0" tIns="0" rIns="0" bIns="0" rtlCol="0" anchor="ctr"/>
          <a:lstStyle/>
          <a:p>
            <a:pPr>
              <a:lnSpc>
                <a:spcPct val="140000"/>
              </a:lnSpc>
            </a:pPr>
            <a:r>
              <a:rPr lang="en-US" sz="2250" dirty="0">
                <a:solidFill>
                  <a:srgbClr val="E0E2E5">
                    <a:alpha val="80000"/>
                  </a:srgbClr>
                </a:solidFill>
                <a:latin typeface="Noto Sans SC" pitchFamily="34" charset="0"/>
                <a:ea typeface="Noto Sans SC" pitchFamily="34" charset="-122"/>
                <a:cs typeface="Noto Sans SC" pitchFamily="34" charset="-120"/>
              </a:rPr>
              <a:t>将散落各篇论文的优化思路提炼为统一的自上而下架构</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LAYERED ARCHITECTURE</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四层压缩模型的层级架构</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371600"/>
            <a:ext cx="11410950" cy="1009650"/>
          </a:xfrm>
          <a:custGeom>
            <a:avLst/>
            <a:gdLst/>
            <a:ahLst/>
            <a:cxnLst/>
            <a:rect l="l" t="t" r="r" b="b"/>
            <a:pathLst>
              <a:path w="11410950" h="1009650">
                <a:moveTo>
                  <a:pt x="38100" y="0"/>
                </a:moveTo>
                <a:lnTo>
                  <a:pt x="11334752" y="0"/>
                </a:lnTo>
                <a:cubicBezTo>
                  <a:pt x="11376835" y="0"/>
                  <a:pt x="11410950" y="34115"/>
                  <a:pt x="11410950" y="76198"/>
                </a:cubicBezTo>
                <a:lnTo>
                  <a:pt x="11410950" y="933452"/>
                </a:lnTo>
                <a:cubicBezTo>
                  <a:pt x="11410950" y="975535"/>
                  <a:pt x="11376835" y="1009650"/>
                  <a:pt x="11334752" y="1009650"/>
                </a:cubicBezTo>
                <a:lnTo>
                  <a:pt x="38100" y="1009650"/>
                </a:lnTo>
                <a:cubicBezTo>
                  <a:pt x="17058" y="1009650"/>
                  <a:pt x="0" y="992592"/>
                  <a:pt x="0" y="97155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371600"/>
            <a:ext cx="38100" cy="1009650"/>
          </a:xfrm>
          <a:custGeom>
            <a:avLst/>
            <a:gdLst/>
            <a:ahLst/>
            <a:cxnLst/>
            <a:rect l="l" t="t" r="r" b="b"/>
            <a:pathLst>
              <a:path w="38100" h="1009650">
                <a:moveTo>
                  <a:pt x="38100" y="0"/>
                </a:moveTo>
                <a:lnTo>
                  <a:pt x="38100" y="0"/>
                </a:lnTo>
                <a:lnTo>
                  <a:pt x="38100" y="1009650"/>
                </a:lnTo>
                <a:lnTo>
                  <a:pt x="38100" y="1009650"/>
                </a:lnTo>
                <a:cubicBezTo>
                  <a:pt x="17072" y="1009650"/>
                  <a:pt x="0" y="992578"/>
                  <a:pt x="0" y="97155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Text 5"/>
          <p:cNvSpPr/>
          <p:nvPr/>
        </p:nvSpPr>
        <p:spPr>
          <a:xfrm>
            <a:off x="609600" y="1562100"/>
            <a:ext cx="111061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架构设计理念</a:t>
            </a:r>
            <a:endParaRPr lang="en-US" sz="1600" dirty="0"/>
          </a:p>
        </p:txBody>
      </p:sp>
      <p:sp>
        <p:nvSpPr>
          <p:cNvPr id="8" name="Text 6"/>
          <p:cNvSpPr/>
          <p:nvPr/>
        </p:nvSpPr>
        <p:spPr>
          <a:xfrm>
            <a:off x="609600" y="1943100"/>
            <a:ext cx="11087100" cy="2476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为了系统化地理解和实施压缩策略，我们将压缩技术抽象为</a:t>
            </a:r>
            <a:r>
              <a:rPr lang="en-US" sz="1200" b="1" dirty="0">
                <a:solidFill>
                  <a:srgbClr val="3D8B75"/>
                </a:solidFill>
                <a:latin typeface="Noto Sans SC" pitchFamily="34" charset="0"/>
                <a:ea typeface="Noto Sans SC" pitchFamily="34" charset="-122"/>
                <a:cs typeface="Noto Sans SC" pitchFamily="34" charset="-120"/>
              </a:rPr>
              <a:t>四个自上而下的结构层次</a:t>
            </a:r>
            <a:r>
              <a:rPr lang="en-US" sz="1200" dirty="0">
                <a:solidFill>
                  <a:srgbClr val="E0E2E5">
                    <a:alpha val="80000"/>
                  </a:srgbClr>
                </a:solidFill>
                <a:latin typeface="Noto Sans SC" pitchFamily="34" charset="0"/>
                <a:ea typeface="Noto Sans SC" pitchFamily="34" charset="-122"/>
                <a:cs typeface="Noto Sans SC" pitchFamily="34" charset="-120"/>
              </a:rPr>
              <a:t>。该架构能够指导从最顶层的序列缩减到底层的硬件存储调度的全方位优化。</a:t>
            </a:r>
            <a:endParaRPr lang="en-US" sz="1600" dirty="0"/>
          </a:p>
        </p:txBody>
      </p:sp>
      <p:sp>
        <p:nvSpPr>
          <p:cNvPr id="9" name="Shape 7"/>
          <p:cNvSpPr/>
          <p:nvPr/>
        </p:nvSpPr>
        <p:spPr>
          <a:xfrm>
            <a:off x="390525" y="2543175"/>
            <a:ext cx="2724150" cy="3486150"/>
          </a:xfrm>
          <a:custGeom>
            <a:avLst/>
            <a:gdLst/>
            <a:ahLst/>
            <a:cxnLst/>
            <a:rect l="l" t="t" r="r" b="b"/>
            <a:pathLst>
              <a:path w="2724150" h="3486150">
                <a:moveTo>
                  <a:pt x="76194" y="0"/>
                </a:moveTo>
                <a:lnTo>
                  <a:pt x="2647956" y="0"/>
                </a:lnTo>
                <a:cubicBezTo>
                  <a:pt x="2690037" y="0"/>
                  <a:pt x="2724150" y="34113"/>
                  <a:pt x="2724150" y="76194"/>
                </a:cubicBezTo>
                <a:lnTo>
                  <a:pt x="2724150" y="3409956"/>
                </a:lnTo>
                <a:cubicBezTo>
                  <a:pt x="2724150" y="3452037"/>
                  <a:pt x="2690037" y="3486150"/>
                  <a:pt x="2647956" y="3486150"/>
                </a:cubicBezTo>
                <a:lnTo>
                  <a:pt x="76194" y="3486150"/>
                </a:lnTo>
                <a:cubicBezTo>
                  <a:pt x="34113" y="3486150"/>
                  <a:pt x="0" y="3452037"/>
                  <a:pt x="0" y="3409956"/>
                </a:cubicBezTo>
                <a:lnTo>
                  <a:pt x="0" y="76194"/>
                </a:lnTo>
                <a:cubicBezTo>
                  <a:pt x="0" y="34142"/>
                  <a:pt x="34142" y="0"/>
                  <a:pt x="76194" y="0"/>
                </a:cubicBezTo>
                <a:close/>
              </a:path>
            </a:pathLst>
          </a:custGeom>
          <a:solidFill>
            <a:srgbClr val="3D8B75">
              <a:alpha val="10196"/>
            </a:srgbClr>
          </a:solidFill>
          <a:ln w="25400">
            <a:solidFill>
              <a:srgbClr val="3D8B75"/>
            </a:solidFill>
            <a:prstDash val="solid"/>
          </a:ln>
        </p:spPr>
        <p:txBody>
          <a:bodyPr/>
          <a:lstStyle/>
          <a:p>
            <a:endParaRPr lang="zh-CN" altLang="en-US"/>
          </a:p>
        </p:txBody>
      </p:sp>
      <p:sp>
        <p:nvSpPr>
          <p:cNvPr id="10" name="Shape 8"/>
          <p:cNvSpPr/>
          <p:nvPr/>
        </p:nvSpPr>
        <p:spPr>
          <a:xfrm>
            <a:off x="1447800" y="27432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3D8B75"/>
          </a:solidFill>
          <a:ln/>
        </p:spPr>
        <p:txBody>
          <a:bodyPr/>
          <a:lstStyle/>
          <a:p>
            <a:endParaRPr lang="zh-CN" altLang="en-US"/>
          </a:p>
        </p:txBody>
      </p:sp>
      <p:sp>
        <p:nvSpPr>
          <p:cNvPr id="11" name="Text 9"/>
          <p:cNvSpPr/>
          <p:nvPr/>
        </p:nvSpPr>
        <p:spPr>
          <a:xfrm>
            <a:off x="1609427" y="2876550"/>
            <a:ext cx="428625" cy="342900"/>
          </a:xfrm>
          <a:prstGeom prst="rect">
            <a:avLst/>
          </a:prstGeom>
          <a:noFill/>
          <a:ln/>
        </p:spPr>
        <p:txBody>
          <a:bodyPr wrap="square" lIns="0" tIns="0" rIns="0" bIns="0" rtlCol="0" anchor="ctr"/>
          <a:lstStyle/>
          <a:p>
            <a:pPr>
              <a:lnSpc>
                <a:spcPct val="100000"/>
              </a:lnSpc>
            </a:pPr>
            <a:r>
              <a:rPr lang="en-US" sz="2250" b="1" dirty="0">
                <a:solidFill>
                  <a:srgbClr val="FFFFFF"/>
                </a:solidFill>
                <a:latin typeface="Noto Sans SC" pitchFamily="34" charset="0"/>
                <a:ea typeface="Noto Sans SC" pitchFamily="34" charset="-122"/>
                <a:cs typeface="Noto Sans SC" pitchFamily="34" charset="-120"/>
              </a:rPr>
              <a:t>L1</a:t>
            </a:r>
            <a:endParaRPr lang="en-US" sz="1600" dirty="0"/>
          </a:p>
        </p:txBody>
      </p:sp>
      <p:sp>
        <p:nvSpPr>
          <p:cNvPr id="12" name="Text 10"/>
          <p:cNvSpPr/>
          <p:nvPr/>
        </p:nvSpPr>
        <p:spPr>
          <a:xfrm>
            <a:off x="542925" y="3505200"/>
            <a:ext cx="2419350" cy="266700"/>
          </a:xfrm>
          <a:prstGeom prst="rect">
            <a:avLst/>
          </a:prstGeom>
          <a:noFill/>
          <a:ln/>
        </p:spPr>
        <p:txBody>
          <a:bodyPr wrap="square" lIns="0" tIns="0" rIns="0" bIns="0" rtlCol="0" anchor="ctr"/>
          <a:lstStyle/>
          <a:p>
            <a:pPr algn="ctr">
              <a:lnSpc>
                <a:spcPct val="120000"/>
              </a:lnSpc>
            </a:pPr>
            <a:r>
              <a:rPr lang="en-US" sz="1500" b="1" dirty="0">
                <a:solidFill>
                  <a:srgbClr val="E0E2E5"/>
                </a:solidFill>
                <a:latin typeface="Noto Sans SC" pitchFamily="34" charset="0"/>
                <a:ea typeface="Noto Sans SC" pitchFamily="34" charset="-122"/>
                <a:cs typeface="Noto Sans SC" pitchFamily="34" charset="-120"/>
              </a:rPr>
              <a:t>Token-Level</a:t>
            </a:r>
            <a:endParaRPr lang="en-US" sz="1600" dirty="0"/>
          </a:p>
        </p:txBody>
      </p:sp>
      <p:sp>
        <p:nvSpPr>
          <p:cNvPr id="13" name="Text 11"/>
          <p:cNvSpPr/>
          <p:nvPr/>
        </p:nvSpPr>
        <p:spPr>
          <a:xfrm>
            <a:off x="552450" y="3886200"/>
            <a:ext cx="2400300" cy="228600"/>
          </a:xfrm>
          <a:prstGeom prst="rect">
            <a:avLst/>
          </a:prstGeom>
          <a:noFill/>
          <a:ln/>
        </p:spPr>
        <p:txBody>
          <a:bodyPr wrap="square" lIns="0" tIns="0" rIns="0" bIns="0" rtlCol="0" anchor="ctr"/>
          <a:lstStyle/>
          <a:p>
            <a:pPr algn="ctr">
              <a:lnSpc>
                <a:spcPct val="130000"/>
              </a:lnSpc>
            </a:pPr>
            <a:r>
              <a:rPr lang="en-US" sz="1200" b="1" dirty="0">
                <a:solidFill>
                  <a:srgbClr val="3D8B75"/>
                </a:solidFill>
                <a:latin typeface="Noto Sans SC" pitchFamily="34" charset="0"/>
                <a:ea typeface="Noto Sans SC" pitchFamily="34" charset="-122"/>
                <a:cs typeface="Noto Sans SC" pitchFamily="34" charset="-120"/>
              </a:rPr>
              <a:t>Token 层压缩</a:t>
            </a:r>
            <a:endParaRPr lang="en-US" sz="1600" dirty="0"/>
          </a:p>
        </p:txBody>
      </p:sp>
      <p:sp>
        <p:nvSpPr>
          <p:cNvPr id="14" name="Text 12"/>
          <p:cNvSpPr/>
          <p:nvPr/>
        </p:nvSpPr>
        <p:spPr>
          <a:xfrm>
            <a:off x="590550" y="4229100"/>
            <a:ext cx="2400300" cy="1171575"/>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针对</a:t>
            </a:r>
            <a:r>
              <a:rPr lang="en-US" sz="1200" b="1" dirty="0">
                <a:solidFill>
                  <a:srgbClr val="E0E2E5">
                    <a:alpha val="80000"/>
                  </a:srgbClr>
                </a:solidFill>
                <a:latin typeface="Noto Sans SC" pitchFamily="34" charset="0"/>
                <a:ea typeface="Noto Sans SC" pitchFamily="34" charset="-122"/>
                <a:cs typeface="Noto Sans SC" pitchFamily="34" charset="-120"/>
              </a:rPr>
              <a:t>序列长度</a:t>
            </a:r>
            <a:r>
              <a:rPr lang="en-US" sz="1200" dirty="0">
                <a:solidFill>
                  <a:srgbClr val="E0E2E5">
                    <a:alpha val="80000"/>
                  </a:srgbClr>
                </a:solidFill>
                <a:latin typeface="Noto Sans SC" pitchFamily="34" charset="0"/>
                <a:ea typeface="Noto Sans SC" pitchFamily="34" charset="-122"/>
                <a:cs typeface="Noto Sans SC" pitchFamily="34" charset="-120"/>
              </a:rPr>
              <a:t>维度的冗余，通过剪枝或驱逐减少 token 数量</a:t>
            </a:r>
            <a:endParaRPr lang="en-US" sz="1600" dirty="0"/>
          </a:p>
        </p:txBody>
      </p:sp>
      <p:sp>
        <p:nvSpPr>
          <p:cNvPr id="15" name="Shape 13"/>
          <p:cNvSpPr/>
          <p:nvPr/>
        </p:nvSpPr>
        <p:spPr>
          <a:xfrm>
            <a:off x="590550" y="5519738"/>
            <a:ext cx="2324100" cy="9525"/>
          </a:xfrm>
          <a:custGeom>
            <a:avLst/>
            <a:gdLst/>
            <a:ahLst/>
            <a:cxnLst/>
            <a:rect l="l" t="t" r="r" b="b"/>
            <a:pathLst>
              <a:path w="2324100" h="9525">
                <a:moveTo>
                  <a:pt x="0" y="0"/>
                </a:moveTo>
                <a:lnTo>
                  <a:pt x="2324100" y="0"/>
                </a:lnTo>
                <a:lnTo>
                  <a:pt x="2324100" y="9525"/>
                </a:lnTo>
                <a:lnTo>
                  <a:pt x="0" y="9525"/>
                </a:lnTo>
                <a:lnTo>
                  <a:pt x="0" y="0"/>
                </a:lnTo>
                <a:close/>
              </a:path>
            </a:pathLst>
          </a:custGeom>
          <a:solidFill>
            <a:srgbClr val="3D8B75">
              <a:alpha val="30196"/>
            </a:srgbClr>
          </a:solidFill>
          <a:ln/>
        </p:spPr>
        <p:txBody>
          <a:bodyPr/>
          <a:lstStyle/>
          <a:p>
            <a:endParaRPr lang="zh-CN" altLang="en-US"/>
          </a:p>
        </p:txBody>
      </p:sp>
      <p:sp>
        <p:nvSpPr>
          <p:cNvPr id="16" name="Text 14"/>
          <p:cNvSpPr/>
          <p:nvPr/>
        </p:nvSpPr>
        <p:spPr>
          <a:xfrm>
            <a:off x="557213" y="5638800"/>
            <a:ext cx="2390775" cy="190500"/>
          </a:xfrm>
          <a:prstGeom prst="rect">
            <a:avLst/>
          </a:prstGeom>
          <a:noFill/>
          <a:ln/>
        </p:spPr>
        <p:txBody>
          <a:bodyPr wrap="square" lIns="0" tIns="0" rIns="0" bIns="0" rtlCol="0" anchor="ctr"/>
          <a:lstStyle/>
          <a:p>
            <a:pPr algn="ct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压缩对象：KV 序列长度</a:t>
            </a:r>
            <a:endParaRPr lang="en-US" sz="1600" dirty="0"/>
          </a:p>
        </p:txBody>
      </p:sp>
      <p:sp>
        <p:nvSpPr>
          <p:cNvPr id="17" name="Shape 15"/>
          <p:cNvSpPr/>
          <p:nvPr/>
        </p:nvSpPr>
        <p:spPr>
          <a:xfrm>
            <a:off x="3286125" y="2543175"/>
            <a:ext cx="2724150" cy="3486150"/>
          </a:xfrm>
          <a:custGeom>
            <a:avLst/>
            <a:gdLst/>
            <a:ahLst/>
            <a:cxnLst/>
            <a:rect l="l" t="t" r="r" b="b"/>
            <a:pathLst>
              <a:path w="2724150" h="3486150">
                <a:moveTo>
                  <a:pt x="76194" y="0"/>
                </a:moveTo>
                <a:lnTo>
                  <a:pt x="2647956" y="0"/>
                </a:lnTo>
                <a:cubicBezTo>
                  <a:pt x="2690037" y="0"/>
                  <a:pt x="2724150" y="34113"/>
                  <a:pt x="2724150" y="76194"/>
                </a:cubicBezTo>
                <a:lnTo>
                  <a:pt x="2724150" y="3409956"/>
                </a:lnTo>
                <a:cubicBezTo>
                  <a:pt x="2724150" y="3452037"/>
                  <a:pt x="2690037" y="3486150"/>
                  <a:pt x="2647956" y="3486150"/>
                </a:cubicBezTo>
                <a:lnTo>
                  <a:pt x="76194" y="3486150"/>
                </a:lnTo>
                <a:cubicBezTo>
                  <a:pt x="34113" y="3486150"/>
                  <a:pt x="0" y="3452037"/>
                  <a:pt x="0" y="3409956"/>
                </a:cubicBezTo>
                <a:lnTo>
                  <a:pt x="0" y="76194"/>
                </a:lnTo>
                <a:cubicBezTo>
                  <a:pt x="0" y="34142"/>
                  <a:pt x="34142" y="0"/>
                  <a:pt x="76194" y="0"/>
                </a:cubicBezTo>
                <a:close/>
              </a:path>
            </a:pathLst>
          </a:custGeom>
          <a:solidFill>
            <a:srgbClr val="C9A86A">
              <a:alpha val="10196"/>
            </a:srgbClr>
          </a:solidFill>
          <a:ln w="25400">
            <a:solidFill>
              <a:srgbClr val="C9A86A"/>
            </a:solidFill>
            <a:prstDash val="solid"/>
          </a:ln>
        </p:spPr>
        <p:txBody>
          <a:bodyPr/>
          <a:lstStyle/>
          <a:p>
            <a:endParaRPr lang="zh-CN" altLang="en-US"/>
          </a:p>
        </p:txBody>
      </p:sp>
      <p:sp>
        <p:nvSpPr>
          <p:cNvPr id="18" name="Shape 16"/>
          <p:cNvSpPr/>
          <p:nvPr/>
        </p:nvSpPr>
        <p:spPr>
          <a:xfrm>
            <a:off x="4343400" y="27432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9A86A"/>
          </a:solidFill>
          <a:ln/>
        </p:spPr>
        <p:txBody>
          <a:bodyPr/>
          <a:lstStyle/>
          <a:p>
            <a:endParaRPr lang="zh-CN" altLang="en-US"/>
          </a:p>
        </p:txBody>
      </p:sp>
      <p:sp>
        <p:nvSpPr>
          <p:cNvPr id="19" name="Text 17"/>
          <p:cNvSpPr/>
          <p:nvPr/>
        </p:nvSpPr>
        <p:spPr>
          <a:xfrm>
            <a:off x="4477866" y="2876550"/>
            <a:ext cx="485775" cy="342900"/>
          </a:xfrm>
          <a:prstGeom prst="rect">
            <a:avLst/>
          </a:prstGeom>
          <a:noFill/>
          <a:ln/>
        </p:spPr>
        <p:txBody>
          <a:bodyPr wrap="square" lIns="0" tIns="0" rIns="0" bIns="0" rtlCol="0" anchor="ctr"/>
          <a:lstStyle/>
          <a:p>
            <a:pPr>
              <a:lnSpc>
                <a:spcPct val="100000"/>
              </a:lnSpc>
            </a:pPr>
            <a:r>
              <a:rPr lang="en-US" sz="2250" b="1" dirty="0">
                <a:solidFill>
                  <a:srgbClr val="FFFFFF"/>
                </a:solidFill>
                <a:latin typeface="Noto Sans SC" pitchFamily="34" charset="0"/>
                <a:ea typeface="Noto Sans SC" pitchFamily="34" charset="-122"/>
                <a:cs typeface="Noto Sans SC" pitchFamily="34" charset="-120"/>
              </a:rPr>
              <a:t>L2</a:t>
            </a:r>
            <a:endParaRPr lang="en-US" sz="1600" dirty="0"/>
          </a:p>
        </p:txBody>
      </p:sp>
      <p:sp>
        <p:nvSpPr>
          <p:cNvPr id="20" name="Text 18"/>
          <p:cNvSpPr/>
          <p:nvPr/>
        </p:nvSpPr>
        <p:spPr>
          <a:xfrm>
            <a:off x="3438525" y="3505200"/>
            <a:ext cx="2419350" cy="266700"/>
          </a:xfrm>
          <a:prstGeom prst="rect">
            <a:avLst/>
          </a:prstGeom>
          <a:noFill/>
          <a:ln/>
        </p:spPr>
        <p:txBody>
          <a:bodyPr wrap="square" lIns="0" tIns="0" rIns="0" bIns="0" rtlCol="0" anchor="ctr"/>
          <a:lstStyle/>
          <a:p>
            <a:pPr algn="ctr">
              <a:lnSpc>
                <a:spcPct val="120000"/>
              </a:lnSpc>
            </a:pPr>
            <a:r>
              <a:rPr lang="en-US" sz="1500" b="1" dirty="0">
                <a:solidFill>
                  <a:srgbClr val="E0E2E5"/>
                </a:solidFill>
                <a:latin typeface="Noto Sans SC" pitchFamily="34" charset="0"/>
                <a:ea typeface="Noto Sans SC" pitchFamily="34" charset="-122"/>
                <a:cs typeface="Noto Sans SC" pitchFamily="34" charset="-120"/>
              </a:rPr>
              <a:t>Feature-Level</a:t>
            </a:r>
            <a:endParaRPr lang="en-US" sz="1600" dirty="0"/>
          </a:p>
        </p:txBody>
      </p:sp>
      <p:sp>
        <p:nvSpPr>
          <p:cNvPr id="21" name="Text 19"/>
          <p:cNvSpPr/>
          <p:nvPr/>
        </p:nvSpPr>
        <p:spPr>
          <a:xfrm>
            <a:off x="3448050" y="3886200"/>
            <a:ext cx="2400300" cy="228600"/>
          </a:xfrm>
          <a:prstGeom prst="rect">
            <a:avLst/>
          </a:prstGeom>
          <a:noFill/>
          <a:ln/>
        </p:spPr>
        <p:txBody>
          <a:bodyPr wrap="square" lIns="0" tIns="0" rIns="0" bIns="0" rtlCol="0" anchor="ctr"/>
          <a:lstStyle/>
          <a:p>
            <a:pPr algn="ctr">
              <a:lnSpc>
                <a:spcPct val="130000"/>
              </a:lnSpc>
            </a:pPr>
            <a:r>
              <a:rPr lang="en-US" sz="1200" b="1" dirty="0">
                <a:solidFill>
                  <a:srgbClr val="C9A86A"/>
                </a:solidFill>
                <a:latin typeface="Noto Sans SC" pitchFamily="34" charset="0"/>
                <a:ea typeface="Noto Sans SC" pitchFamily="34" charset="-122"/>
                <a:cs typeface="Noto Sans SC" pitchFamily="34" charset="-120"/>
              </a:rPr>
              <a:t>特征层压缩</a:t>
            </a:r>
            <a:endParaRPr lang="en-US" sz="1600" dirty="0"/>
          </a:p>
        </p:txBody>
      </p:sp>
      <p:sp>
        <p:nvSpPr>
          <p:cNvPr id="22" name="Text 20"/>
          <p:cNvSpPr/>
          <p:nvPr/>
        </p:nvSpPr>
        <p:spPr>
          <a:xfrm>
            <a:off x="3486150" y="4229100"/>
            <a:ext cx="2400300" cy="1171575"/>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针对</a:t>
            </a:r>
            <a:r>
              <a:rPr lang="en-US" sz="1200" b="1" dirty="0">
                <a:solidFill>
                  <a:srgbClr val="E0E2E5">
                    <a:alpha val="80000"/>
                  </a:srgbClr>
                </a:solidFill>
                <a:latin typeface="Noto Sans SC" pitchFamily="34" charset="0"/>
                <a:ea typeface="Noto Sans SC" pitchFamily="34" charset="-122"/>
                <a:cs typeface="Noto Sans SC" pitchFamily="34" charset="-120"/>
              </a:rPr>
              <a:t>隐层维度</a:t>
            </a:r>
            <a:r>
              <a:rPr lang="en-US" sz="1200" dirty="0">
                <a:solidFill>
                  <a:srgbClr val="E0E2E5">
                    <a:alpha val="80000"/>
                  </a:srgbClr>
                </a:solidFill>
                <a:latin typeface="Noto Sans SC" pitchFamily="34" charset="0"/>
                <a:ea typeface="Noto Sans SC" pitchFamily="34" charset="-122"/>
                <a:cs typeface="Noto Sans SC" pitchFamily="34" charset="-120"/>
              </a:rPr>
              <a:t>和</a:t>
            </a:r>
            <a:r>
              <a:rPr lang="en-US" sz="1200" b="1" dirty="0">
                <a:solidFill>
                  <a:srgbClr val="E0E2E5">
                    <a:alpha val="80000"/>
                  </a:srgbClr>
                </a:solidFill>
                <a:latin typeface="Noto Sans SC" pitchFamily="34" charset="0"/>
                <a:ea typeface="Noto Sans SC" pitchFamily="34" charset="-122"/>
                <a:cs typeface="Noto Sans SC" pitchFamily="34" charset="-120"/>
              </a:rPr>
              <a:t>数值精度</a:t>
            </a:r>
            <a:r>
              <a:rPr lang="en-US" sz="1200" dirty="0">
                <a:solidFill>
                  <a:srgbClr val="E0E2E5">
                    <a:alpha val="80000"/>
                  </a:srgbClr>
                </a:solidFill>
                <a:latin typeface="Noto Sans SC" pitchFamily="34" charset="0"/>
                <a:ea typeface="Noto Sans SC" pitchFamily="34" charset="-122"/>
                <a:cs typeface="Noto Sans SC" pitchFamily="34" charset="-120"/>
              </a:rPr>
              <a:t>的冗余，通过量化或低秩分解压缩</a:t>
            </a:r>
            <a:endParaRPr lang="en-US" sz="1600" dirty="0"/>
          </a:p>
        </p:txBody>
      </p:sp>
      <p:sp>
        <p:nvSpPr>
          <p:cNvPr id="23" name="Shape 21"/>
          <p:cNvSpPr/>
          <p:nvPr/>
        </p:nvSpPr>
        <p:spPr>
          <a:xfrm>
            <a:off x="3486150" y="5519738"/>
            <a:ext cx="2324100" cy="9525"/>
          </a:xfrm>
          <a:custGeom>
            <a:avLst/>
            <a:gdLst/>
            <a:ahLst/>
            <a:cxnLst/>
            <a:rect l="l" t="t" r="r" b="b"/>
            <a:pathLst>
              <a:path w="2324100" h="9525">
                <a:moveTo>
                  <a:pt x="0" y="0"/>
                </a:moveTo>
                <a:lnTo>
                  <a:pt x="2324100" y="0"/>
                </a:lnTo>
                <a:lnTo>
                  <a:pt x="2324100" y="9525"/>
                </a:lnTo>
                <a:lnTo>
                  <a:pt x="0" y="9525"/>
                </a:lnTo>
                <a:lnTo>
                  <a:pt x="0" y="0"/>
                </a:lnTo>
                <a:close/>
              </a:path>
            </a:pathLst>
          </a:custGeom>
          <a:solidFill>
            <a:srgbClr val="C9A86A">
              <a:alpha val="30196"/>
            </a:srgbClr>
          </a:solidFill>
          <a:ln/>
        </p:spPr>
        <p:txBody>
          <a:bodyPr/>
          <a:lstStyle/>
          <a:p>
            <a:endParaRPr lang="zh-CN" altLang="en-US"/>
          </a:p>
        </p:txBody>
      </p:sp>
      <p:sp>
        <p:nvSpPr>
          <p:cNvPr id="24" name="Text 22"/>
          <p:cNvSpPr/>
          <p:nvPr/>
        </p:nvSpPr>
        <p:spPr>
          <a:xfrm>
            <a:off x="3452813" y="5638800"/>
            <a:ext cx="2390775" cy="190500"/>
          </a:xfrm>
          <a:prstGeom prst="rect">
            <a:avLst/>
          </a:prstGeom>
          <a:noFill/>
          <a:ln/>
        </p:spPr>
        <p:txBody>
          <a:bodyPr wrap="square" lIns="0" tIns="0" rIns="0" bIns="0" rtlCol="0" anchor="ctr"/>
          <a:lstStyle/>
          <a:p>
            <a:pPr algn="ct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压缩对象：隐层维度/数值精度</a:t>
            </a:r>
            <a:endParaRPr lang="en-US" sz="1600" dirty="0"/>
          </a:p>
        </p:txBody>
      </p:sp>
      <p:sp>
        <p:nvSpPr>
          <p:cNvPr id="25" name="Shape 23"/>
          <p:cNvSpPr/>
          <p:nvPr/>
        </p:nvSpPr>
        <p:spPr>
          <a:xfrm>
            <a:off x="6181725" y="2543175"/>
            <a:ext cx="2724150" cy="3486150"/>
          </a:xfrm>
          <a:custGeom>
            <a:avLst/>
            <a:gdLst/>
            <a:ahLst/>
            <a:cxnLst/>
            <a:rect l="l" t="t" r="r" b="b"/>
            <a:pathLst>
              <a:path w="2724150" h="3486150">
                <a:moveTo>
                  <a:pt x="76194" y="0"/>
                </a:moveTo>
                <a:lnTo>
                  <a:pt x="2647956" y="0"/>
                </a:lnTo>
                <a:cubicBezTo>
                  <a:pt x="2690037" y="0"/>
                  <a:pt x="2724150" y="34113"/>
                  <a:pt x="2724150" y="76194"/>
                </a:cubicBezTo>
                <a:lnTo>
                  <a:pt x="2724150" y="3409956"/>
                </a:lnTo>
                <a:cubicBezTo>
                  <a:pt x="2724150" y="3452037"/>
                  <a:pt x="2690037" y="3486150"/>
                  <a:pt x="2647956" y="3486150"/>
                </a:cubicBezTo>
                <a:lnTo>
                  <a:pt x="76194" y="3486150"/>
                </a:lnTo>
                <a:cubicBezTo>
                  <a:pt x="34113" y="3486150"/>
                  <a:pt x="0" y="3452037"/>
                  <a:pt x="0" y="3409956"/>
                </a:cubicBezTo>
                <a:lnTo>
                  <a:pt x="0" y="76194"/>
                </a:lnTo>
                <a:cubicBezTo>
                  <a:pt x="0" y="34142"/>
                  <a:pt x="34142" y="0"/>
                  <a:pt x="76194" y="0"/>
                </a:cubicBezTo>
                <a:close/>
              </a:path>
            </a:pathLst>
          </a:custGeom>
          <a:solidFill>
            <a:srgbClr val="5F6B7A">
              <a:alpha val="10196"/>
            </a:srgbClr>
          </a:solidFill>
          <a:ln w="25400">
            <a:solidFill>
              <a:srgbClr val="5F6B7A"/>
            </a:solidFill>
            <a:prstDash val="solid"/>
          </a:ln>
        </p:spPr>
        <p:txBody>
          <a:bodyPr/>
          <a:lstStyle/>
          <a:p>
            <a:endParaRPr lang="zh-CN" altLang="en-US"/>
          </a:p>
        </p:txBody>
      </p:sp>
      <p:sp>
        <p:nvSpPr>
          <p:cNvPr id="26" name="Shape 24"/>
          <p:cNvSpPr/>
          <p:nvPr/>
        </p:nvSpPr>
        <p:spPr>
          <a:xfrm>
            <a:off x="7239000" y="27432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5F6B7A"/>
          </a:solidFill>
          <a:ln/>
        </p:spPr>
        <p:txBody>
          <a:bodyPr/>
          <a:lstStyle/>
          <a:p>
            <a:endParaRPr lang="zh-CN" altLang="en-US"/>
          </a:p>
        </p:txBody>
      </p:sp>
      <p:sp>
        <p:nvSpPr>
          <p:cNvPr id="27" name="Text 25"/>
          <p:cNvSpPr/>
          <p:nvPr/>
        </p:nvSpPr>
        <p:spPr>
          <a:xfrm>
            <a:off x="7373466" y="2876550"/>
            <a:ext cx="485775" cy="342900"/>
          </a:xfrm>
          <a:prstGeom prst="rect">
            <a:avLst/>
          </a:prstGeom>
          <a:noFill/>
          <a:ln/>
        </p:spPr>
        <p:txBody>
          <a:bodyPr wrap="square" lIns="0" tIns="0" rIns="0" bIns="0" rtlCol="0" anchor="ctr"/>
          <a:lstStyle/>
          <a:p>
            <a:pPr>
              <a:lnSpc>
                <a:spcPct val="100000"/>
              </a:lnSpc>
            </a:pPr>
            <a:r>
              <a:rPr lang="en-US" sz="2250" b="1" dirty="0">
                <a:solidFill>
                  <a:srgbClr val="FFFFFF"/>
                </a:solidFill>
                <a:latin typeface="Noto Sans SC" pitchFamily="34" charset="0"/>
                <a:ea typeface="Noto Sans SC" pitchFamily="34" charset="-122"/>
                <a:cs typeface="Noto Sans SC" pitchFamily="34" charset="-120"/>
              </a:rPr>
              <a:t>L3</a:t>
            </a:r>
            <a:endParaRPr lang="en-US" sz="1600" dirty="0"/>
          </a:p>
        </p:txBody>
      </p:sp>
      <p:sp>
        <p:nvSpPr>
          <p:cNvPr id="28" name="Text 26"/>
          <p:cNvSpPr/>
          <p:nvPr/>
        </p:nvSpPr>
        <p:spPr>
          <a:xfrm>
            <a:off x="6334125" y="3505200"/>
            <a:ext cx="2419350" cy="266700"/>
          </a:xfrm>
          <a:prstGeom prst="rect">
            <a:avLst/>
          </a:prstGeom>
          <a:noFill/>
          <a:ln/>
        </p:spPr>
        <p:txBody>
          <a:bodyPr wrap="square" lIns="0" tIns="0" rIns="0" bIns="0" rtlCol="0" anchor="ctr"/>
          <a:lstStyle/>
          <a:p>
            <a:pPr algn="ctr">
              <a:lnSpc>
                <a:spcPct val="120000"/>
              </a:lnSpc>
            </a:pPr>
            <a:r>
              <a:rPr lang="en-US" sz="1500" b="1" dirty="0">
                <a:solidFill>
                  <a:srgbClr val="E0E2E5"/>
                </a:solidFill>
                <a:latin typeface="Noto Sans SC" pitchFamily="34" charset="0"/>
                <a:ea typeface="Noto Sans SC" pitchFamily="34" charset="-122"/>
                <a:cs typeface="Noto Sans SC" pitchFamily="34" charset="-120"/>
              </a:rPr>
              <a:t>Structure-Level</a:t>
            </a:r>
            <a:endParaRPr lang="en-US" sz="1600" dirty="0"/>
          </a:p>
        </p:txBody>
      </p:sp>
      <p:sp>
        <p:nvSpPr>
          <p:cNvPr id="29" name="Text 27"/>
          <p:cNvSpPr/>
          <p:nvPr/>
        </p:nvSpPr>
        <p:spPr>
          <a:xfrm>
            <a:off x="6343650" y="3886200"/>
            <a:ext cx="2400300" cy="228600"/>
          </a:xfrm>
          <a:prstGeom prst="rect">
            <a:avLst/>
          </a:prstGeom>
          <a:noFill/>
          <a:ln/>
        </p:spPr>
        <p:txBody>
          <a:bodyPr wrap="square" lIns="0" tIns="0" rIns="0" bIns="0" rtlCol="0" anchor="ctr"/>
          <a:lstStyle/>
          <a:p>
            <a:pPr algn="ctr">
              <a:lnSpc>
                <a:spcPct val="130000"/>
              </a:lnSpc>
            </a:pPr>
            <a:r>
              <a:rPr lang="en-US" sz="1200" b="1" dirty="0">
                <a:solidFill>
                  <a:srgbClr val="5F6B7A"/>
                </a:solidFill>
                <a:latin typeface="Noto Sans SC" pitchFamily="34" charset="0"/>
                <a:ea typeface="Noto Sans SC" pitchFamily="34" charset="-122"/>
                <a:cs typeface="Noto Sans SC" pitchFamily="34" charset="-120"/>
              </a:rPr>
              <a:t>结构层压缩</a:t>
            </a:r>
            <a:endParaRPr lang="en-US" sz="1600" dirty="0"/>
          </a:p>
        </p:txBody>
      </p:sp>
      <p:sp>
        <p:nvSpPr>
          <p:cNvPr id="30" name="Text 28"/>
          <p:cNvSpPr/>
          <p:nvPr/>
        </p:nvSpPr>
        <p:spPr>
          <a:xfrm>
            <a:off x="6381750" y="4229100"/>
            <a:ext cx="2400300" cy="1171575"/>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针对</a:t>
            </a:r>
            <a:r>
              <a:rPr lang="en-US" sz="1200" b="1" dirty="0">
                <a:solidFill>
                  <a:srgbClr val="E0E2E5">
                    <a:alpha val="80000"/>
                  </a:srgbClr>
                </a:solidFill>
                <a:latin typeface="Noto Sans SC" pitchFamily="34" charset="0"/>
                <a:ea typeface="Noto Sans SC" pitchFamily="34" charset="-122"/>
                <a:cs typeface="Noto Sans SC" pitchFamily="34" charset="-120"/>
              </a:rPr>
              <a:t>层间</a:t>
            </a:r>
            <a:r>
              <a:rPr lang="en-US" sz="1200" dirty="0">
                <a:solidFill>
                  <a:srgbClr val="E0E2E5">
                    <a:alpha val="80000"/>
                  </a:srgbClr>
                </a:solidFill>
                <a:latin typeface="Noto Sans SC" pitchFamily="34" charset="0"/>
                <a:ea typeface="Noto Sans SC" pitchFamily="34" charset="-122"/>
                <a:cs typeface="Noto Sans SC" pitchFamily="34" charset="-120"/>
              </a:rPr>
              <a:t>和</a:t>
            </a:r>
            <a:r>
              <a:rPr lang="en-US" sz="1200" b="1" dirty="0">
                <a:solidFill>
                  <a:srgbClr val="E0E2E5">
                    <a:alpha val="80000"/>
                  </a:srgbClr>
                </a:solidFill>
                <a:latin typeface="Noto Sans SC" pitchFamily="34" charset="0"/>
                <a:ea typeface="Noto Sans SC" pitchFamily="34" charset="-122"/>
                <a:cs typeface="Noto Sans SC" pitchFamily="34" charset="-120"/>
              </a:rPr>
              <a:t>头间</a:t>
            </a:r>
            <a:r>
              <a:rPr lang="en-US" sz="1200" dirty="0">
                <a:solidFill>
                  <a:srgbClr val="E0E2E5">
                    <a:alpha val="80000"/>
                  </a:srgbClr>
                </a:solidFill>
                <a:latin typeface="Noto Sans SC" pitchFamily="34" charset="0"/>
                <a:ea typeface="Noto Sans SC" pitchFamily="34" charset="-122"/>
                <a:cs typeface="Noto Sans SC" pitchFamily="34" charset="-120"/>
              </a:rPr>
              <a:t>的相似性冗余，通过跨层共享减少存储</a:t>
            </a:r>
            <a:endParaRPr lang="en-US" sz="1600" dirty="0"/>
          </a:p>
        </p:txBody>
      </p:sp>
      <p:sp>
        <p:nvSpPr>
          <p:cNvPr id="31" name="Shape 29"/>
          <p:cNvSpPr/>
          <p:nvPr/>
        </p:nvSpPr>
        <p:spPr>
          <a:xfrm>
            <a:off x="6381750" y="5519738"/>
            <a:ext cx="2324100" cy="9525"/>
          </a:xfrm>
          <a:custGeom>
            <a:avLst/>
            <a:gdLst/>
            <a:ahLst/>
            <a:cxnLst/>
            <a:rect l="l" t="t" r="r" b="b"/>
            <a:pathLst>
              <a:path w="2324100" h="9525">
                <a:moveTo>
                  <a:pt x="0" y="0"/>
                </a:moveTo>
                <a:lnTo>
                  <a:pt x="2324100" y="0"/>
                </a:lnTo>
                <a:lnTo>
                  <a:pt x="2324100" y="9525"/>
                </a:lnTo>
                <a:lnTo>
                  <a:pt x="0" y="9525"/>
                </a:lnTo>
                <a:lnTo>
                  <a:pt x="0" y="0"/>
                </a:lnTo>
                <a:close/>
              </a:path>
            </a:pathLst>
          </a:custGeom>
          <a:solidFill>
            <a:srgbClr val="5F6B7A">
              <a:alpha val="30196"/>
            </a:srgbClr>
          </a:solidFill>
          <a:ln/>
        </p:spPr>
        <p:txBody>
          <a:bodyPr/>
          <a:lstStyle/>
          <a:p>
            <a:endParaRPr lang="zh-CN" altLang="en-US"/>
          </a:p>
        </p:txBody>
      </p:sp>
      <p:sp>
        <p:nvSpPr>
          <p:cNvPr id="32" name="Text 30"/>
          <p:cNvSpPr/>
          <p:nvPr/>
        </p:nvSpPr>
        <p:spPr>
          <a:xfrm>
            <a:off x="6348413" y="5638800"/>
            <a:ext cx="2390775" cy="190500"/>
          </a:xfrm>
          <a:prstGeom prst="rect">
            <a:avLst/>
          </a:prstGeom>
          <a:noFill/>
          <a:ln/>
        </p:spPr>
        <p:txBody>
          <a:bodyPr wrap="square" lIns="0" tIns="0" rIns="0" bIns="0" rtlCol="0" anchor="ctr"/>
          <a:lstStyle/>
          <a:p>
            <a:pPr algn="ct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压缩对象：层间冗余</a:t>
            </a:r>
            <a:endParaRPr lang="en-US" sz="1600" dirty="0"/>
          </a:p>
        </p:txBody>
      </p:sp>
      <p:sp>
        <p:nvSpPr>
          <p:cNvPr id="33" name="Shape 31"/>
          <p:cNvSpPr/>
          <p:nvPr/>
        </p:nvSpPr>
        <p:spPr>
          <a:xfrm>
            <a:off x="9077325" y="2543175"/>
            <a:ext cx="2724150" cy="3486150"/>
          </a:xfrm>
          <a:custGeom>
            <a:avLst/>
            <a:gdLst/>
            <a:ahLst/>
            <a:cxnLst/>
            <a:rect l="l" t="t" r="r" b="b"/>
            <a:pathLst>
              <a:path w="2724150" h="3486150">
                <a:moveTo>
                  <a:pt x="76194" y="0"/>
                </a:moveTo>
                <a:lnTo>
                  <a:pt x="2647956" y="0"/>
                </a:lnTo>
                <a:cubicBezTo>
                  <a:pt x="2690037" y="0"/>
                  <a:pt x="2724150" y="34113"/>
                  <a:pt x="2724150" y="76194"/>
                </a:cubicBezTo>
                <a:lnTo>
                  <a:pt x="2724150" y="3409956"/>
                </a:lnTo>
                <a:cubicBezTo>
                  <a:pt x="2724150" y="3452037"/>
                  <a:pt x="2690037" y="3486150"/>
                  <a:pt x="2647956" y="3486150"/>
                </a:cubicBezTo>
                <a:lnTo>
                  <a:pt x="76194" y="3486150"/>
                </a:lnTo>
                <a:cubicBezTo>
                  <a:pt x="34113" y="3486150"/>
                  <a:pt x="0" y="3452037"/>
                  <a:pt x="0" y="3409956"/>
                </a:cubicBezTo>
                <a:lnTo>
                  <a:pt x="0" y="76194"/>
                </a:lnTo>
                <a:cubicBezTo>
                  <a:pt x="0" y="34142"/>
                  <a:pt x="34142" y="0"/>
                  <a:pt x="76194" y="0"/>
                </a:cubicBezTo>
                <a:close/>
              </a:path>
            </a:pathLst>
          </a:custGeom>
          <a:solidFill>
            <a:srgbClr val="3D8B75">
              <a:alpha val="10196"/>
            </a:srgbClr>
          </a:solidFill>
          <a:ln w="25400">
            <a:solidFill>
              <a:srgbClr val="3D8B75"/>
            </a:solidFill>
            <a:prstDash val="solid"/>
          </a:ln>
        </p:spPr>
        <p:txBody>
          <a:bodyPr/>
          <a:lstStyle/>
          <a:p>
            <a:endParaRPr lang="zh-CN" altLang="en-US"/>
          </a:p>
        </p:txBody>
      </p:sp>
      <p:sp>
        <p:nvSpPr>
          <p:cNvPr id="34" name="Shape 32"/>
          <p:cNvSpPr/>
          <p:nvPr/>
        </p:nvSpPr>
        <p:spPr>
          <a:xfrm>
            <a:off x="10134600" y="27432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3D8B75"/>
          </a:solidFill>
          <a:ln/>
        </p:spPr>
        <p:txBody>
          <a:bodyPr/>
          <a:lstStyle/>
          <a:p>
            <a:endParaRPr lang="zh-CN" altLang="en-US"/>
          </a:p>
        </p:txBody>
      </p:sp>
      <p:sp>
        <p:nvSpPr>
          <p:cNvPr id="35" name="Text 33"/>
          <p:cNvSpPr/>
          <p:nvPr/>
        </p:nvSpPr>
        <p:spPr>
          <a:xfrm>
            <a:off x="10269066" y="2876550"/>
            <a:ext cx="485775" cy="342900"/>
          </a:xfrm>
          <a:prstGeom prst="rect">
            <a:avLst/>
          </a:prstGeom>
          <a:noFill/>
          <a:ln/>
        </p:spPr>
        <p:txBody>
          <a:bodyPr wrap="square" lIns="0" tIns="0" rIns="0" bIns="0" rtlCol="0" anchor="ctr"/>
          <a:lstStyle/>
          <a:p>
            <a:pPr>
              <a:lnSpc>
                <a:spcPct val="100000"/>
              </a:lnSpc>
            </a:pPr>
            <a:r>
              <a:rPr lang="en-US" sz="2250" b="1" dirty="0">
                <a:solidFill>
                  <a:srgbClr val="FFFFFF"/>
                </a:solidFill>
                <a:latin typeface="Noto Sans SC" pitchFamily="34" charset="0"/>
                <a:ea typeface="Noto Sans SC" pitchFamily="34" charset="-122"/>
                <a:cs typeface="Noto Sans SC" pitchFamily="34" charset="-120"/>
              </a:rPr>
              <a:t>L4</a:t>
            </a:r>
            <a:endParaRPr lang="en-US" sz="1600" dirty="0"/>
          </a:p>
        </p:txBody>
      </p:sp>
      <p:sp>
        <p:nvSpPr>
          <p:cNvPr id="36" name="Text 34"/>
          <p:cNvSpPr/>
          <p:nvPr/>
        </p:nvSpPr>
        <p:spPr>
          <a:xfrm>
            <a:off x="9229725" y="3505200"/>
            <a:ext cx="2419350" cy="266700"/>
          </a:xfrm>
          <a:prstGeom prst="rect">
            <a:avLst/>
          </a:prstGeom>
          <a:noFill/>
          <a:ln/>
        </p:spPr>
        <p:txBody>
          <a:bodyPr wrap="square" lIns="0" tIns="0" rIns="0" bIns="0" rtlCol="0" anchor="ctr"/>
          <a:lstStyle/>
          <a:p>
            <a:pPr algn="ctr">
              <a:lnSpc>
                <a:spcPct val="120000"/>
              </a:lnSpc>
            </a:pPr>
            <a:r>
              <a:rPr lang="en-US" sz="1500" b="1" dirty="0">
                <a:solidFill>
                  <a:srgbClr val="E0E2E5"/>
                </a:solidFill>
                <a:latin typeface="Noto Sans SC" pitchFamily="34" charset="0"/>
                <a:ea typeface="Noto Sans SC" pitchFamily="34" charset="-122"/>
                <a:cs typeface="Noto Sans SC" pitchFamily="34" charset="-120"/>
              </a:rPr>
              <a:t>System-Level</a:t>
            </a:r>
            <a:endParaRPr lang="en-US" sz="1600" dirty="0"/>
          </a:p>
        </p:txBody>
      </p:sp>
      <p:sp>
        <p:nvSpPr>
          <p:cNvPr id="37" name="Text 35"/>
          <p:cNvSpPr/>
          <p:nvPr/>
        </p:nvSpPr>
        <p:spPr>
          <a:xfrm>
            <a:off x="9239250" y="3886200"/>
            <a:ext cx="2400300" cy="228600"/>
          </a:xfrm>
          <a:prstGeom prst="rect">
            <a:avLst/>
          </a:prstGeom>
          <a:noFill/>
          <a:ln/>
        </p:spPr>
        <p:txBody>
          <a:bodyPr wrap="square" lIns="0" tIns="0" rIns="0" bIns="0" rtlCol="0" anchor="ctr"/>
          <a:lstStyle/>
          <a:p>
            <a:pPr algn="ctr">
              <a:lnSpc>
                <a:spcPct val="130000"/>
              </a:lnSpc>
            </a:pPr>
            <a:r>
              <a:rPr lang="en-US" sz="1200" b="1" dirty="0">
                <a:solidFill>
                  <a:srgbClr val="3D8B75"/>
                </a:solidFill>
                <a:latin typeface="Noto Sans SC" pitchFamily="34" charset="0"/>
                <a:ea typeface="Noto Sans SC" pitchFamily="34" charset="-122"/>
                <a:cs typeface="Noto Sans SC" pitchFamily="34" charset="-120"/>
              </a:rPr>
              <a:t>系统层压缩</a:t>
            </a:r>
            <a:endParaRPr lang="en-US" sz="1600" dirty="0"/>
          </a:p>
        </p:txBody>
      </p:sp>
      <p:sp>
        <p:nvSpPr>
          <p:cNvPr id="38" name="Text 36"/>
          <p:cNvSpPr/>
          <p:nvPr/>
        </p:nvSpPr>
        <p:spPr>
          <a:xfrm>
            <a:off x="9277350" y="4229100"/>
            <a:ext cx="2400300" cy="1171575"/>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针对</a:t>
            </a:r>
            <a:r>
              <a:rPr lang="en-US" sz="1200" b="1" dirty="0">
                <a:solidFill>
                  <a:srgbClr val="E0E2E5">
                    <a:alpha val="80000"/>
                  </a:srgbClr>
                </a:solidFill>
                <a:latin typeface="Noto Sans SC" pitchFamily="34" charset="0"/>
                <a:ea typeface="Noto Sans SC" pitchFamily="34" charset="-122"/>
                <a:cs typeface="Noto Sans SC" pitchFamily="34" charset="-120"/>
              </a:rPr>
              <a:t>内存布局</a:t>
            </a:r>
            <a:r>
              <a:rPr lang="en-US" sz="1200" dirty="0">
                <a:solidFill>
                  <a:srgbClr val="E0E2E5">
                    <a:alpha val="80000"/>
                  </a:srgbClr>
                </a:solidFill>
                <a:latin typeface="Noto Sans SC" pitchFamily="34" charset="0"/>
                <a:ea typeface="Noto Sans SC" pitchFamily="34" charset="-122"/>
                <a:cs typeface="Noto Sans SC" pitchFamily="34" charset="-120"/>
              </a:rPr>
              <a:t>和</a:t>
            </a:r>
            <a:r>
              <a:rPr lang="en-US" sz="1200" b="1" dirty="0">
                <a:solidFill>
                  <a:srgbClr val="E0E2E5">
                    <a:alpha val="80000"/>
                  </a:srgbClr>
                </a:solidFill>
                <a:latin typeface="Noto Sans SC" pitchFamily="34" charset="0"/>
                <a:ea typeface="Noto Sans SC" pitchFamily="34" charset="-122"/>
                <a:cs typeface="Noto Sans SC" pitchFamily="34" charset="-120"/>
              </a:rPr>
              <a:t>访问模式</a:t>
            </a:r>
            <a:r>
              <a:rPr lang="en-US" sz="1200" dirty="0">
                <a:solidFill>
                  <a:srgbClr val="E0E2E5">
                    <a:alpha val="80000"/>
                  </a:srgbClr>
                </a:solidFill>
                <a:latin typeface="Noto Sans SC" pitchFamily="34" charset="0"/>
                <a:ea typeface="Noto Sans SC" pitchFamily="34" charset="-122"/>
                <a:cs typeface="Noto Sans SC" pitchFamily="34" charset="-120"/>
              </a:rPr>
              <a:t>的优化，通过分页/卸载提升效率</a:t>
            </a:r>
            <a:endParaRPr lang="en-US" sz="1600" dirty="0"/>
          </a:p>
        </p:txBody>
      </p:sp>
      <p:sp>
        <p:nvSpPr>
          <p:cNvPr id="39" name="Shape 37"/>
          <p:cNvSpPr/>
          <p:nvPr/>
        </p:nvSpPr>
        <p:spPr>
          <a:xfrm>
            <a:off x="9277350" y="5519738"/>
            <a:ext cx="2324100" cy="9525"/>
          </a:xfrm>
          <a:custGeom>
            <a:avLst/>
            <a:gdLst/>
            <a:ahLst/>
            <a:cxnLst/>
            <a:rect l="l" t="t" r="r" b="b"/>
            <a:pathLst>
              <a:path w="2324100" h="9525">
                <a:moveTo>
                  <a:pt x="0" y="0"/>
                </a:moveTo>
                <a:lnTo>
                  <a:pt x="2324100" y="0"/>
                </a:lnTo>
                <a:lnTo>
                  <a:pt x="2324100" y="9525"/>
                </a:lnTo>
                <a:lnTo>
                  <a:pt x="0" y="9525"/>
                </a:lnTo>
                <a:lnTo>
                  <a:pt x="0" y="0"/>
                </a:lnTo>
                <a:close/>
              </a:path>
            </a:pathLst>
          </a:custGeom>
          <a:solidFill>
            <a:srgbClr val="3D8B75">
              <a:alpha val="30196"/>
            </a:srgbClr>
          </a:solidFill>
          <a:ln/>
        </p:spPr>
        <p:txBody>
          <a:bodyPr/>
          <a:lstStyle/>
          <a:p>
            <a:endParaRPr lang="zh-CN" altLang="en-US"/>
          </a:p>
        </p:txBody>
      </p:sp>
      <p:sp>
        <p:nvSpPr>
          <p:cNvPr id="40" name="Text 38"/>
          <p:cNvSpPr/>
          <p:nvPr/>
        </p:nvSpPr>
        <p:spPr>
          <a:xfrm>
            <a:off x="9244013" y="5638800"/>
            <a:ext cx="2390775" cy="190500"/>
          </a:xfrm>
          <a:prstGeom prst="rect">
            <a:avLst/>
          </a:prstGeom>
          <a:noFill/>
          <a:ln/>
        </p:spPr>
        <p:txBody>
          <a:bodyPr wrap="square" lIns="0" tIns="0" rIns="0" bIns="0" rtlCol="0" anchor="ctr"/>
          <a:lstStyle/>
          <a:p>
            <a:pPr algn="ctr">
              <a:lnSpc>
                <a:spcPct val="120000"/>
              </a:lnSpc>
            </a:pPr>
            <a:r>
              <a:rPr lang="en-US" sz="1050" dirty="0">
                <a:solidFill>
                  <a:srgbClr val="E0E2E5">
                    <a:alpha val="70000"/>
                  </a:srgbClr>
                </a:solidFill>
                <a:latin typeface="Noto Sans SC" pitchFamily="34" charset="0"/>
                <a:ea typeface="Noto Sans SC" pitchFamily="34" charset="-122"/>
                <a:cs typeface="Noto Sans SC" pitchFamily="34" charset="-120"/>
              </a:rPr>
              <a:t>压缩对象：存储位置/访问模式</a:t>
            </a:r>
            <a:endParaRPr lang="en-US" sz="1600" dirty="0"/>
          </a:p>
        </p:txBody>
      </p:sp>
      <p:sp>
        <p:nvSpPr>
          <p:cNvPr id="41" name="Shape 39"/>
          <p:cNvSpPr/>
          <p:nvPr/>
        </p:nvSpPr>
        <p:spPr>
          <a:xfrm>
            <a:off x="5481638" y="6191250"/>
            <a:ext cx="214313" cy="285750"/>
          </a:xfrm>
          <a:custGeom>
            <a:avLst/>
            <a:gdLst/>
            <a:ahLst/>
            <a:cxnLst/>
            <a:rect l="l" t="t" r="r" b="b"/>
            <a:pathLst>
              <a:path w="214313" h="285750">
                <a:moveTo>
                  <a:pt x="94543" y="280504"/>
                </a:moveTo>
                <a:cubicBezTo>
                  <a:pt x="101519" y="287480"/>
                  <a:pt x="112849" y="287480"/>
                  <a:pt x="119825" y="280504"/>
                </a:cubicBezTo>
                <a:lnTo>
                  <a:pt x="209122" y="191207"/>
                </a:lnTo>
                <a:cubicBezTo>
                  <a:pt x="216098" y="184231"/>
                  <a:pt x="216098" y="172901"/>
                  <a:pt x="209122" y="165925"/>
                </a:cubicBezTo>
                <a:cubicBezTo>
                  <a:pt x="202146" y="158948"/>
                  <a:pt x="190816" y="158948"/>
                  <a:pt x="183840" y="165925"/>
                </a:cubicBezTo>
                <a:lnTo>
                  <a:pt x="125016" y="224749"/>
                </a:lnTo>
                <a:lnTo>
                  <a:pt x="125016" y="17859"/>
                </a:lnTo>
                <a:cubicBezTo>
                  <a:pt x="125016" y="7981"/>
                  <a:pt x="117035" y="0"/>
                  <a:pt x="107156" y="0"/>
                </a:cubicBezTo>
                <a:cubicBezTo>
                  <a:pt x="97278" y="0"/>
                  <a:pt x="89297" y="7981"/>
                  <a:pt x="89297" y="17859"/>
                </a:cubicBezTo>
                <a:lnTo>
                  <a:pt x="89297" y="224749"/>
                </a:lnTo>
                <a:lnTo>
                  <a:pt x="30473" y="165925"/>
                </a:lnTo>
                <a:cubicBezTo>
                  <a:pt x="23496" y="158948"/>
                  <a:pt x="12167" y="158948"/>
                  <a:pt x="5190" y="165925"/>
                </a:cubicBezTo>
                <a:cubicBezTo>
                  <a:pt x="-1786" y="172901"/>
                  <a:pt x="-1786" y="184231"/>
                  <a:pt x="5190" y="191207"/>
                </a:cubicBezTo>
                <a:lnTo>
                  <a:pt x="94487" y="280504"/>
                </a:lnTo>
                <a:close/>
              </a:path>
            </a:pathLst>
          </a:custGeom>
          <a:solidFill>
            <a:srgbClr val="5F6B7A"/>
          </a:solidFill>
          <a:ln/>
        </p:spPr>
        <p:txBody>
          <a:bodyPr/>
          <a:lstStyle/>
          <a:p>
            <a:endParaRPr lang="zh-CN" altLang="en-US"/>
          </a:p>
        </p:txBody>
      </p:sp>
      <p:sp>
        <p:nvSpPr>
          <p:cNvPr id="42" name="Shape 40"/>
          <p:cNvSpPr/>
          <p:nvPr/>
        </p:nvSpPr>
        <p:spPr>
          <a:xfrm>
            <a:off x="5991225" y="6191250"/>
            <a:ext cx="214313" cy="285750"/>
          </a:xfrm>
          <a:custGeom>
            <a:avLst/>
            <a:gdLst/>
            <a:ahLst/>
            <a:cxnLst/>
            <a:rect l="l" t="t" r="r" b="b"/>
            <a:pathLst>
              <a:path w="214313" h="285750">
                <a:moveTo>
                  <a:pt x="94543" y="280504"/>
                </a:moveTo>
                <a:cubicBezTo>
                  <a:pt x="101519" y="287480"/>
                  <a:pt x="112849" y="287480"/>
                  <a:pt x="119825" y="280504"/>
                </a:cubicBezTo>
                <a:lnTo>
                  <a:pt x="209122" y="191207"/>
                </a:lnTo>
                <a:cubicBezTo>
                  <a:pt x="216098" y="184231"/>
                  <a:pt x="216098" y="172901"/>
                  <a:pt x="209122" y="165925"/>
                </a:cubicBezTo>
                <a:cubicBezTo>
                  <a:pt x="202146" y="158948"/>
                  <a:pt x="190816" y="158948"/>
                  <a:pt x="183840" y="165925"/>
                </a:cubicBezTo>
                <a:lnTo>
                  <a:pt x="125016" y="224749"/>
                </a:lnTo>
                <a:lnTo>
                  <a:pt x="125016" y="17859"/>
                </a:lnTo>
                <a:cubicBezTo>
                  <a:pt x="125016" y="7981"/>
                  <a:pt x="117035" y="0"/>
                  <a:pt x="107156" y="0"/>
                </a:cubicBezTo>
                <a:cubicBezTo>
                  <a:pt x="97278" y="0"/>
                  <a:pt x="89297" y="7981"/>
                  <a:pt x="89297" y="17859"/>
                </a:cubicBezTo>
                <a:lnTo>
                  <a:pt x="89297" y="224749"/>
                </a:lnTo>
                <a:lnTo>
                  <a:pt x="30473" y="165925"/>
                </a:lnTo>
                <a:cubicBezTo>
                  <a:pt x="23496" y="158948"/>
                  <a:pt x="12167" y="158948"/>
                  <a:pt x="5190" y="165925"/>
                </a:cubicBezTo>
                <a:cubicBezTo>
                  <a:pt x="-1786" y="172901"/>
                  <a:pt x="-1786" y="184231"/>
                  <a:pt x="5190" y="191207"/>
                </a:cubicBezTo>
                <a:lnTo>
                  <a:pt x="94487" y="280504"/>
                </a:lnTo>
                <a:close/>
              </a:path>
            </a:pathLst>
          </a:custGeom>
          <a:solidFill>
            <a:srgbClr val="5F6B7A"/>
          </a:solidFill>
          <a:ln/>
        </p:spPr>
        <p:txBody>
          <a:bodyPr/>
          <a:lstStyle/>
          <a:p>
            <a:endParaRPr lang="zh-CN" altLang="en-US"/>
          </a:p>
        </p:txBody>
      </p:sp>
      <p:sp>
        <p:nvSpPr>
          <p:cNvPr id="43" name="Shape 41"/>
          <p:cNvSpPr/>
          <p:nvPr/>
        </p:nvSpPr>
        <p:spPr>
          <a:xfrm>
            <a:off x="6500813" y="6191250"/>
            <a:ext cx="214313" cy="285750"/>
          </a:xfrm>
          <a:custGeom>
            <a:avLst/>
            <a:gdLst/>
            <a:ahLst/>
            <a:cxnLst/>
            <a:rect l="l" t="t" r="r" b="b"/>
            <a:pathLst>
              <a:path w="214313" h="285750">
                <a:moveTo>
                  <a:pt x="94543" y="280504"/>
                </a:moveTo>
                <a:cubicBezTo>
                  <a:pt x="101519" y="287480"/>
                  <a:pt x="112849" y="287480"/>
                  <a:pt x="119825" y="280504"/>
                </a:cubicBezTo>
                <a:lnTo>
                  <a:pt x="209122" y="191207"/>
                </a:lnTo>
                <a:cubicBezTo>
                  <a:pt x="216098" y="184231"/>
                  <a:pt x="216098" y="172901"/>
                  <a:pt x="209122" y="165925"/>
                </a:cubicBezTo>
                <a:cubicBezTo>
                  <a:pt x="202146" y="158948"/>
                  <a:pt x="190816" y="158948"/>
                  <a:pt x="183840" y="165925"/>
                </a:cubicBezTo>
                <a:lnTo>
                  <a:pt x="125016" y="224749"/>
                </a:lnTo>
                <a:lnTo>
                  <a:pt x="125016" y="17859"/>
                </a:lnTo>
                <a:cubicBezTo>
                  <a:pt x="125016" y="7981"/>
                  <a:pt x="117035" y="0"/>
                  <a:pt x="107156" y="0"/>
                </a:cubicBezTo>
                <a:cubicBezTo>
                  <a:pt x="97278" y="0"/>
                  <a:pt x="89297" y="7981"/>
                  <a:pt x="89297" y="17859"/>
                </a:cubicBezTo>
                <a:lnTo>
                  <a:pt x="89297" y="224749"/>
                </a:lnTo>
                <a:lnTo>
                  <a:pt x="30473" y="165925"/>
                </a:lnTo>
                <a:cubicBezTo>
                  <a:pt x="23496" y="158948"/>
                  <a:pt x="12167" y="158948"/>
                  <a:pt x="5190" y="165925"/>
                </a:cubicBezTo>
                <a:cubicBezTo>
                  <a:pt x="-1786" y="172901"/>
                  <a:pt x="-1786" y="184231"/>
                  <a:pt x="5190" y="191207"/>
                </a:cubicBezTo>
                <a:lnTo>
                  <a:pt x="94487" y="280504"/>
                </a:lnTo>
                <a:close/>
              </a:path>
            </a:pathLst>
          </a:custGeom>
          <a:solidFill>
            <a:srgbClr val="5F6B7A"/>
          </a:solidFill>
          <a:ln/>
        </p:spPr>
        <p:txBody>
          <a:bodyPr/>
          <a:lstStyle/>
          <a:p>
            <a:endParaRPr lang="zh-CN" altLang="en-US"/>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LAYER MAPPING</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各层映射与性能折中</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385763" y="1376363"/>
            <a:ext cx="11420475" cy="4791075"/>
          </a:xfrm>
          <a:custGeom>
            <a:avLst/>
            <a:gdLst/>
            <a:ahLst/>
            <a:cxnLst/>
            <a:rect l="l" t="t" r="r" b="b"/>
            <a:pathLst>
              <a:path w="11420475" h="4791075">
                <a:moveTo>
                  <a:pt x="76178" y="0"/>
                </a:moveTo>
                <a:lnTo>
                  <a:pt x="11344297" y="0"/>
                </a:lnTo>
                <a:cubicBezTo>
                  <a:pt x="11386369" y="0"/>
                  <a:pt x="11420475" y="34106"/>
                  <a:pt x="11420475" y="76178"/>
                </a:cubicBezTo>
                <a:lnTo>
                  <a:pt x="11420475" y="4714897"/>
                </a:lnTo>
                <a:cubicBezTo>
                  <a:pt x="11420475" y="4756969"/>
                  <a:pt x="11386369" y="4791075"/>
                  <a:pt x="11344297" y="4791075"/>
                </a:cubicBezTo>
                <a:lnTo>
                  <a:pt x="76178" y="4791075"/>
                </a:lnTo>
                <a:cubicBezTo>
                  <a:pt x="34106" y="4791075"/>
                  <a:pt x="0" y="4756969"/>
                  <a:pt x="0" y="4714897"/>
                </a:cubicBezTo>
                <a:lnTo>
                  <a:pt x="0" y="76178"/>
                </a:lnTo>
                <a:cubicBezTo>
                  <a:pt x="0" y="34134"/>
                  <a:pt x="34134" y="0"/>
                  <a:pt x="76178" y="0"/>
                </a:cubicBezTo>
                <a:close/>
              </a:path>
            </a:pathLst>
          </a:custGeom>
          <a:solidFill>
            <a:srgbClr val="5F6B7A">
              <a:alpha val="5098"/>
            </a:srgbClr>
          </a:solidFill>
          <a:ln w="12700">
            <a:solidFill>
              <a:srgbClr val="5F6B7A">
                <a:alpha val="20000"/>
              </a:srgbClr>
            </a:solidFill>
            <a:prstDash val="solid"/>
          </a:ln>
        </p:spPr>
        <p:txBody>
          <a:bodyPr/>
          <a:lstStyle/>
          <a:p>
            <a:endParaRPr lang="zh-CN" altLang="en-US"/>
          </a:p>
        </p:txBody>
      </p:sp>
      <p:graphicFrame>
        <p:nvGraphicFramePr>
          <p:cNvPr id="21" name="Table 0"/>
          <p:cNvGraphicFramePr>
            <a:graphicFrameLocks noGrp="1"/>
          </p:cNvGraphicFramePr>
          <p:nvPr>
            <p:extLst>
              <p:ext uri="{D42A27DB-BD31-4B8C-83A1-F6EECF244321}">
                <p14:modId xmlns:p14="http://schemas.microsoft.com/office/powerpoint/2010/main" val="3339336541"/>
              </p:ext>
            </p:extLst>
          </p:nvPr>
        </p:nvGraphicFramePr>
        <p:xfrm>
          <a:off x="542925" y="1533525"/>
          <a:ext cx="11106150" cy="4618530"/>
        </p:xfrm>
        <a:graphic>
          <a:graphicData uri="http://schemas.openxmlformats.org/drawingml/2006/table">
            <a:tbl>
              <a:tblPr/>
              <a:tblGrid>
                <a:gridCol w="1914525">
                  <a:extLst>
                    <a:ext uri="{9D8B030D-6E8A-4147-A177-3AD203B41FA5}">
                      <a16:colId xmlns:a16="http://schemas.microsoft.com/office/drawing/2014/main" val="20000"/>
                    </a:ext>
                  </a:extLst>
                </a:gridCol>
                <a:gridCol w="183832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3019425">
                  <a:extLst>
                    <a:ext uri="{9D8B030D-6E8A-4147-A177-3AD203B41FA5}">
                      <a16:colId xmlns:a16="http://schemas.microsoft.com/office/drawing/2014/main" val="20003"/>
                    </a:ext>
                  </a:extLst>
                </a:gridCol>
                <a:gridCol w="1076325">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tblGrid>
              <a:tr h="757730">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层级</a:t>
                      </a:r>
                      <a:endParaRPr lang="en-US" sz="13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压缩对象</a:t>
                      </a:r>
                      <a:endParaRPr lang="en-US" sz="13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核心方法</a:t>
                      </a:r>
                      <a:endParaRPr lang="en-US" sz="13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代表性工作</a:t>
                      </a:r>
                      <a:endParaRPr lang="en-US" sz="13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ctr"/>
                      <a:r>
                        <a:rPr lang="en-US" sz="1300" b="1" u="none" dirty="0">
                          <a:solidFill>
                            <a:srgbClr val="3D8B75"/>
                          </a:solidFill>
                          <a:latin typeface="微软雅黑" pitchFamily="34" charset="0"/>
                          <a:ea typeface="微软雅黑" pitchFamily="34" charset="-122"/>
                          <a:cs typeface="微软雅黑" pitchFamily="34" charset="-120"/>
                        </a:rPr>
                        <a:t>压缩率</a:t>
                      </a:r>
                      <a:endParaRPr lang="en-US" sz="13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ctr"/>
                      <a:r>
                        <a:rPr lang="en-US" sz="1300" b="1" u="none" dirty="0">
                          <a:solidFill>
                            <a:srgbClr val="3D8B75"/>
                          </a:solidFill>
                          <a:latin typeface="微软雅黑" pitchFamily="34" charset="0"/>
                          <a:ea typeface="微软雅黑" pitchFamily="34" charset="-122"/>
                          <a:cs typeface="微软雅黑" pitchFamily="34" charset="-120"/>
                        </a:rPr>
                        <a:t>精度代价</a:t>
                      </a:r>
                      <a:endParaRPr lang="en-US" sz="13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965200">
                <a:tc>
                  <a:txBody>
                    <a:bodyPr/>
                    <a:lstStyle/>
                    <a:p>
                      <a:r>
                        <a:rPr lang="en-US" sz="1200" u="none" dirty="0">
                          <a:solidFill>
                            <a:srgbClr val="E0E2E5"/>
                          </a:solidFill>
                          <a:latin typeface="微软雅黑" pitchFamily="34" charset="0"/>
                          <a:ea typeface="微软雅黑" pitchFamily="34" charset="-122"/>
                          <a:cs typeface="微软雅黑" pitchFamily="34" charset="-120"/>
                        </a:rPr>
                        <a:t>L1</a:t>
                      </a:r>
                    </a:p>
                    <a:p>
                      <a:endParaRPr lang="en-US" sz="1200" u="none" dirty="0">
                        <a:solidFill>
                          <a:schemeClr val="tx1"/>
                        </a:solidFill>
                        <a:latin typeface="微软雅黑" charset="0"/>
                        <a:ea typeface="微软雅黑" charset="0"/>
                        <a:cs typeface="微软雅黑" pitchFamily="34" charset="-120"/>
                      </a:endParaRPr>
                    </a:p>
                    <a:p>
                      <a:r>
                        <a:rPr lang="en-US" sz="1200" u="none" dirty="0">
                          <a:solidFill>
                            <a:srgbClr val="E0E2E5"/>
                          </a:solidFill>
                          <a:latin typeface="微软雅黑" pitchFamily="34" charset="0"/>
                          <a:ea typeface="微软雅黑" pitchFamily="34" charset="-122"/>
                          <a:cs typeface="微软雅黑" pitchFamily="34" charset="-120"/>
                        </a:rPr>
                        <a:t>Token 层</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Token-Level</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KV 序列长度</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Pruning / Eviction</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SnapKV, H2O, StreamingLLM, OBCache</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2×–5×</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低–中</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965200">
                <a:tc>
                  <a:txBody>
                    <a:bodyPr/>
                    <a:lstStyle/>
                    <a:p>
                      <a:r>
                        <a:rPr lang="en-US" sz="1200" u="none" dirty="0">
                          <a:solidFill>
                            <a:srgbClr val="E0E2E5"/>
                          </a:solidFill>
                          <a:latin typeface="微软雅黑" pitchFamily="34" charset="0"/>
                          <a:ea typeface="微软雅黑" pitchFamily="34" charset="-122"/>
                          <a:cs typeface="微软雅黑" pitchFamily="34" charset="-120"/>
                        </a:rPr>
                        <a:t>L2</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特征 层</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Feature-Level</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隐层维度 / 数值精度</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Quantization</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Low-rank</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KIVI, TurboQuant, KQ-SVD, ReCalKV</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3×–10×</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低</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965200">
                <a:tc>
                  <a:txBody>
                    <a:bodyPr/>
                    <a:lstStyle/>
                    <a:p>
                      <a:r>
                        <a:rPr lang="en-US" sz="1200" u="none" dirty="0">
                          <a:solidFill>
                            <a:srgbClr val="E0E2E5"/>
                          </a:solidFill>
                          <a:latin typeface="微软雅黑" pitchFamily="34" charset="0"/>
                          <a:ea typeface="微软雅黑" pitchFamily="34" charset="-122"/>
                          <a:cs typeface="微软雅黑" pitchFamily="34" charset="-120"/>
                        </a:rPr>
                        <a:t>L3</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结构 层</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Structure-Level</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层间冗余</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Cross-layer Sharing</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MiniCache, CommonKV, xKV</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2×–3×</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低</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965200">
                <a:tc>
                  <a:txBody>
                    <a:bodyPr/>
                    <a:lstStyle/>
                    <a:p>
                      <a:r>
                        <a:rPr lang="en-US" sz="1200" u="none" dirty="0">
                          <a:solidFill>
                            <a:srgbClr val="E0E2E5"/>
                          </a:solidFill>
                          <a:latin typeface="微软雅黑" pitchFamily="34" charset="0"/>
                          <a:ea typeface="微软雅黑" pitchFamily="34" charset="-122"/>
                          <a:cs typeface="微软雅黑" pitchFamily="34" charset="-120"/>
                        </a:rPr>
                        <a:t>L4</a:t>
                      </a:r>
                      <a:endParaRPr lang="en-US" sz="1200" dirty="0">
                        <a:latin typeface="微软雅黑" charset="0"/>
                        <a:ea typeface="微软雅黑" charset="0"/>
                        <a:cs typeface="微软雅黑" charset="0"/>
                      </a:endParaRPr>
                    </a:p>
                    <a:p>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系统 层</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System-Level</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存储位置 / 访问模式</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Offloading</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Paging</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PagedAttention, ShadowKV</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3×–6×</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无*</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4"/>
                  </a:ext>
                </a:extLst>
              </a:tr>
            </a:tbl>
          </a:graphicData>
        </a:graphic>
      </p:graphicFrame>
      <p:sp>
        <p:nvSpPr>
          <p:cNvPr id="7" name="Shape 4"/>
          <p:cNvSpPr/>
          <p:nvPr/>
        </p:nvSpPr>
        <p:spPr>
          <a:xfrm>
            <a:off x="400050" y="63150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E0E2E5">
              <a:alpha val="60000"/>
            </a:srgbClr>
          </a:solidFill>
          <a:ln/>
        </p:spPr>
        <p:txBody>
          <a:bodyPr/>
          <a:lstStyle/>
          <a:p>
            <a:endParaRPr lang="zh-CN" altLang="en-US"/>
          </a:p>
        </p:txBody>
      </p:sp>
      <p:sp>
        <p:nvSpPr>
          <p:cNvPr id="8" name="Text 5"/>
          <p:cNvSpPr/>
          <p:nvPr/>
        </p:nvSpPr>
        <p:spPr>
          <a:xfrm>
            <a:off x="581025" y="6286500"/>
            <a:ext cx="11296650" cy="190500"/>
          </a:xfrm>
          <a:prstGeom prst="rect">
            <a:avLst/>
          </a:prstGeom>
          <a:noFill/>
          <a:ln/>
        </p:spPr>
        <p:txBody>
          <a:bodyPr wrap="square" lIns="0" tIns="0" rIns="0" bIns="0" rtlCol="0" anchor="ctr"/>
          <a:lstStyle/>
          <a:p>
            <a:pPr>
              <a:lnSpc>
                <a:spcPct val="120000"/>
              </a:lnSpc>
            </a:pPr>
            <a:r>
              <a:rPr lang="en-US" sz="1050" dirty="0">
                <a:solidFill>
                  <a:srgbClr val="E0E2E5">
                    <a:alpha val="60000"/>
                  </a:srgbClr>
                </a:solidFill>
                <a:latin typeface="Noto Sans SC" pitchFamily="34" charset="0"/>
                <a:ea typeface="Noto Sans SC" pitchFamily="34" charset="-122"/>
                <a:cs typeface="Noto Sans SC" pitchFamily="34" charset="-120"/>
              </a:rPr>
              <a:t>* 系统层压缩不改变数学内容，但可能引入延迟代价</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78928" y="378928"/>
            <a:ext cx="11509930" cy="227357"/>
          </a:xfrm>
          <a:prstGeom prst="rect">
            <a:avLst/>
          </a:prstGeom>
          <a:noFill/>
          <a:ln/>
        </p:spPr>
        <p:txBody>
          <a:bodyPr wrap="square" lIns="0" tIns="0" rIns="0" bIns="0" rtlCol="0" anchor="ctr"/>
          <a:lstStyle/>
          <a:p>
            <a:pPr>
              <a:lnSpc>
                <a:spcPct val="130000"/>
              </a:lnSpc>
            </a:pPr>
            <a:r>
              <a:rPr lang="en-US" sz="1193" b="1" kern="0" spc="119" dirty="0">
                <a:solidFill>
                  <a:srgbClr val="3D8B75"/>
                </a:solidFill>
                <a:latin typeface="MiSans" pitchFamily="34" charset="0"/>
                <a:ea typeface="MiSans" pitchFamily="34" charset="-122"/>
                <a:cs typeface="MiSans" pitchFamily="34" charset="-120"/>
              </a:rPr>
              <a:t>CORE INSIGHTS</a:t>
            </a:r>
            <a:endParaRPr lang="en-US" sz="1600" dirty="0"/>
          </a:p>
        </p:txBody>
      </p:sp>
      <p:sp>
        <p:nvSpPr>
          <p:cNvPr id="3" name="Text 1"/>
          <p:cNvSpPr/>
          <p:nvPr/>
        </p:nvSpPr>
        <p:spPr>
          <a:xfrm>
            <a:off x="378928" y="682070"/>
            <a:ext cx="11604662" cy="378928"/>
          </a:xfrm>
          <a:prstGeom prst="rect">
            <a:avLst/>
          </a:prstGeom>
          <a:noFill/>
          <a:ln/>
        </p:spPr>
        <p:txBody>
          <a:bodyPr wrap="square" lIns="0" tIns="0" rIns="0" bIns="0" rtlCol="0" anchor="ctr"/>
          <a:lstStyle/>
          <a:p>
            <a:pPr>
              <a:lnSpc>
                <a:spcPct val="90000"/>
              </a:lnSpc>
            </a:pPr>
            <a:r>
              <a:rPr lang="en-US" sz="2685" b="1" dirty="0">
                <a:solidFill>
                  <a:srgbClr val="E0E2E5"/>
                </a:solidFill>
                <a:latin typeface="Noto Sans SC" pitchFamily="34" charset="0"/>
                <a:ea typeface="Noto Sans SC" pitchFamily="34" charset="-122"/>
                <a:cs typeface="Noto Sans SC" pitchFamily="34" charset="-120"/>
              </a:rPr>
              <a:t>四层模型的核心洞察</a:t>
            </a:r>
            <a:endParaRPr lang="en-US" sz="1600" dirty="0"/>
          </a:p>
        </p:txBody>
      </p:sp>
      <p:sp>
        <p:nvSpPr>
          <p:cNvPr id="4" name="Shape 2"/>
          <p:cNvSpPr/>
          <p:nvPr/>
        </p:nvSpPr>
        <p:spPr>
          <a:xfrm>
            <a:off x="378928" y="1174676"/>
            <a:ext cx="909427" cy="37893"/>
          </a:xfrm>
          <a:custGeom>
            <a:avLst/>
            <a:gdLst/>
            <a:ahLst/>
            <a:cxnLst/>
            <a:rect l="l" t="t" r="r" b="b"/>
            <a:pathLst>
              <a:path w="909427" h="37893">
                <a:moveTo>
                  <a:pt x="0" y="0"/>
                </a:moveTo>
                <a:lnTo>
                  <a:pt x="909427" y="0"/>
                </a:lnTo>
                <a:lnTo>
                  <a:pt x="909427" y="37893"/>
                </a:lnTo>
                <a:lnTo>
                  <a:pt x="0" y="37893"/>
                </a:lnTo>
                <a:lnTo>
                  <a:pt x="0" y="0"/>
                </a:lnTo>
                <a:close/>
              </a:path>
            </a:pathLst>
          </a:custGeom>
          <a:solidFill>
            <a:srgbClr val="C9A86A"/>
          </a:solidFill>
          <a:ln/>
        </p:spPr>
        <p:txBody>
          <a:bodyPr/>
          <a:lstStyle/>
          <a:p>
            <a:endParaRPr lang="zh-CN" altLang="en-US"/>
          </a:p>
        </p:txBody>
      </p:sp>
      <p:sp>
        <p:nvSpPr>
          <p:cNvPr id="5" name="Shape 3"/>
          <p:cNvSpPr/>
          <p:nvPr/>
        </p:nvSpPr>
        <p:spPr>
          <a:xfrm>
            <a:off x="397874" y="1364140"/>
            <a:ext cx="5627077" cy="2785119"/>
          </a:xfrm>
          <a:custGeom>
            <a:avLst/>
            <a:gdLst/>
            <a:ahLst/>
            <a:cxnLst/>
            <a:rect l="l" t="t" r="r" b="b"/>
            <a:pathLst>
              <a:path w="5627077" h="2785119">
                <a:moveTo>
                  <a:pt x="37893" y="0"/>
                </a:moveTo>
                <a:lnTo>
                  <a:pt x="5551294" y="0"/>
                </a:lnTo>
                <a:cubicBezTo>
                  <a:pt x="5593148" y="0"/>
                  <a:pt x="5627077" y="33929"/>
                  <a:pt x="5627077" y="75783"/>
                </a:cubicBezTo>
                <a:lnTo>
                  <a:pt x="5627077" y="2709336"/>
                </a:lnTo>
                <a:cubicBezTo>
                  <a:pt x="5627077" y="2751190"/>
                  <a:pt x="5593148" y="2785119"/>
                  <a:pt x="5551294" y="2785119"/>
                </a:cubicBezTo>
                <a:lnTo>
                  <a:pt x="37893" y="2785119"/>
                </a:lnTo>
                <a:cubicBezTo>
                  <a:pt x="16965" y="2785119"/>
                  <a:pt x="0" y="2768154"/>
                  <a:pt x="0" y="2747226"/>
                </a:cubicBezTo>
                <a:lnTo>
                  <a:pt x="0" y="37893"/>
                </a:lnTo>
                <a:cubicBezTo>
                  <a:pt x="0" y="16979"/>
                  <a:pt x="16979" y="0"/>
                  <a:pt x="37893" y="0"/>
                </a:cubicBezTo>
                <a:close/>
              </a:path>
            </a:pathLst>
          </a:custGeom>
          <a:solidFill>
            <a:srgbClr val="3D8B75">
              <a:alpha val="10196"/>
            </a:srgbClr>
          </a:solidFill>
          <a:ln/>
        </p:spPr>
        <p:txBody>
          <a:bodyPr/>
          <a:lstStyle/>
          <a:p>
            <a:endParaRPr lang="zh-CN" altLang="en-US"/>
          </a:p>
        </p:txBody>
      </p:sp>
      <p:sp>
        <p:nvSpPr>
          <p:cNvPr id="6" name="Shape 4"/>
          <p:cNvSpPr/>
          <p:nvPr/>
        </p:nvSpPr>
        <p:spPr>
          <a:xfrm>
            <a:off x="397874" y="1364140"/>
            <a:ext cx="37893" cy="2785119"/>
          </a:xfrm>
          <a:custGeom>
            <a:avLst/>
            <a:gdLst/>
            <a:ahLst/>
            <a:cxnLst/>
            <a:rect l="l" t="t" r="r" b="b"/>
            <a:pathLst>
              <a:path w="37893" h="2785119">
                <a:moveTo>
                  <a:pt x="37893" y="0"/>
                </a:moveTo>
                <a:lnTo>
                  <a:pt x="37893" y="0"/>
                </a:lnTo>
                <a:lnTo>
                  <a:pt x="37893" y="2785119"/>
                </a:lnTo>
                <a:lnTo>
                  <a:pt x="37893" y="2785119"/>
                </a:lnTo>
                <a:cubicBezTo>
                  <a:pt x="16965" y="2785119"/>
                  <a:pt x="0" y="2768154"/>
                  <a:pt x="0" y="2747226"/>
                </a:cubicBezTo>
                <a:lnTo>
                  <a:pt x="0" y="37893"/>
                </a:lnTo>
                <a:cubicBezTo>
                  <a:pt x="0" y="16965"/>
                  <a:pt x="16965" y="0"/>
                  <a:pt x="37893" y="0"/>
                </a:cubicBezTo>
                <a:close/>
              </a:path>
            </a:pathLst>
          </a:custGeom>
          <a:solidFill>
            <a:srgbClr val="3D8B75"/>
          </a:solidFill>
          <a:ln/>
        </p:spPr>
        <p:txBody>
          <a:bodyPr/>
          <a:lstStyle/>
          <a:p>
            <a:endParaRPr lang="zh-CN" altLang="en-US"/>
          </a:p>
        </p:txBody>
      </p:sp>
      <p:sp>
        <p:nvSpPr>
          <p:cNvPr id="7" name="Shape 5"/>
          <p:cNvSpPr/>
          <p:nvPr/>
        </p:nvSpPr>
        <p:spPr>
          <a:xfrm>
            <a:off x="618126" y="1591497"/>
            <a:ext cx="213147" cy="189464"/>
          </a:xfrm>
          <a:custGeom>
            <a:avLst/>
            <a:gdLst/>
            <a:ahLst/>
            <a:cxnLst/>
            <a:rect l="l" t="t" r="r" b="b"/>
            <a:pathLst>
              <a:path w="213147" h="189464">
                <a:moveTo>
                  <a:pt x="155235" y="35524"/>
                </a:moveTo>
                <a:cubicBezTo>
                  <a:pt x="149092" y="35524"/>
                  <a:pt x="143134" y="37190"/>
                  <a:pt x="137916" y="40224"/>
                </a:cubicBezTo>
                <a:cubicBezTo>
                  <a:pt x="132070" y="34303"/>
                  <a:pt x="125261" y="29345"/>
                  <a:pt x="117749" y="25607"/>
                </a:cubicBezTo>
                <a:cubicBezTo>
                  <a:pt x="128184" y="16726"/>
                  <a:pt x="141469" y="11841"/>
                  <a:pt x="155235" y="11841"/>
                </a:cubicBezTo>
                <a:cubicBezTo>
                  <a:pt x="187207" y="11841"/>
                  <a:pt x="213147" y="37745"/>
                  <a:pt x="213147" y="69754"/>
                </a:cubicBezTo>
                <a:cubicBezTo>
                  <a:pt x="213147" y="85111"/>
                  <a:pt x="207041" y="99839"/>
                  <a:pt x="196199" y="110681"/>
                </a:cubicBezTo>
                <a:lnTo>
                  <a:pt x="169888" y="136991"/>
                </a:lnTo>
                <a:cubicBezTo>
                  <a:pt x="159046" y="147834"/>
                  <a:pt x="144318" y="153939"/>
                  <a:pt x="128961" y="153939"/>
                </a:cubicBezTo>
                <a:cubicBezTo>
                  <a:pt x="96989" y="153939"/>
                  <a:pt x="71049" y="128036"/>
                  <a:pt x="71049" y="96027"/>
                </a:cubicBezTo>
                <a:cubicBezTo>
                  <a:pt x="71049" y="95472"/>
                  <a:pt x="71049" y="94917"/>
                  <a:pt x="71086" y="94362"/>
                </a:cubicBezTo>
                <a:cubicBezTo>
                  <a:pt x="71271" y="87812"/>
                  <a:pt x="76711" y="82668"/>
                  <a:pt x="83260" y="82853"/>
                </a:cubicBezTo>
                <a:cubicBezTo>
                  <a:pt x="89810" y="83038"/>
                  <a:pt x="94954" y="88478"/>
                  <a:pt x="94769" y="95028"/>
                </a:cubicBezTo>
                <a:cubicBezTo>
                  <a:pt x="94769" y="95361"/>
                  <a:pt x="94769" y="95694"/>
                  <a:pt x="94769" y="95990"/>
                </a:cubicBezTo>
                <a:cubicBezTo>
                  <a:pt x="94769" y="114899"/>
                  <a:pt x="110089" y="130219"/>
                  <a:pt x="128998" y="130219"/>
                </a:cubicBezTo>
                <a:cubicBezTo>
                  <a:pt x="138064" y="130219"/>
                  <a:pt x="146760" y="126630"/>
                  <a:pt x="153199" y="120191"/>
                </a:cubicBezTo>
                <a:lnTo>
                  <a:pt x="179510" y="93881"/>
                </a:lnTo>
                <a:cubicBezTo>
                  <a:pt x="185911" y="87479"/>
                  <a:pt x="189538" y="78746"/>
                  <a:pt x="189538" y="69680"/>
                </a:cubicBezTo>
                <a:cubicBezTo>
                  <a:pt x="189538" y="50770"/>
                  <a:pt x="174218" y="35450"/>
                  <a:pt x="155309" y="35450"/>
                </a:cubicBezTo>
                <a:close/>
                <a:moveTo>
                  <a:pt x="101837" y="64129"/>
                </a:moveTo>
                <a:cubicBezTo>
                  <a:pt x="101134" y="63833"/>
                  <a:pt x="100431" y="63426"/>
                  <a:pt x="99802" y="62982"/>
                </a:cubicBezTo>
                <a:cubicBezTo>
                  <a:pt x="95139" y="60577"/>
                  <a:pt x="89810" y="59207"/>
                  <a:pt x="84223" y="59207"/>
                </a:cubicBezTo>
                <a:cubicBezTo>
                  <a:pt x="75156" y="59207"/>
                  <a:pt x="66460" y="62797"/>
                  <a:pt x="60022" y="69236"/>
                </a:cubicBezTo>
                <a:lnTo>
                  <a:pt x="33711" y="95546"/>
                </a:lnTo>
                <a:cubicBezTo>
                  <a:pt x="27309" y="101948"/>
                  <a:pt x="23683" y="110681"/>
                  <a:pt x="23683" y="119747"/>
                </a:cubicBezTo>
                <a:cubicBezTo>
                  <a:pt x="23683" y="138656"/>
                  <a:pt x="39003" y="153976"/>
                  <a:pt x="57912" y="153976"/>
                </a:cubicBezTo>
                <a:cubicBezTo>
                  <a:pt x="64018" y="153976"/>
                  <a:pt x="69976" y="152348"/>
                  <a:pt x="75193" y="149314"/>
                </a:cubicBezTo>
                <a:cubicBezTo>
                  <a:pt x="81040" y="155235"/>
                  <a:pt x="87849" y="160193"/>
                  <a:pt x="95398" y="163931"/>
                </a:cubicBezTo>
                <a:cubicBezTo>
                  <a:pt x="84963" y="172775"/>
                  <a:pt x="71715" y="177696"/>
                  <a:pt x="57912" y="177696"/>
                </a:cubicBezTo>
                <a:cubicBezTo>
                  <a:pt x="25940" y="177696"/>
                  <a:pt x="0" y="151793"/>
                  <a:pt x="0" y="119784"/>
                </a:cubicBezTo>
                <a:cubicBezTo>
                  <a:pt x="0" y="104427"/>
                  <a:pt x="6106" y="89699"/>
                  <a:pt x="16948" y="78857"/>
                </a:cubicBezTo>
                <a:lnTo>
                  <a:pt x="43258" y="52547"/>
                </a:lnTo>
                <a:cubicBezTo>
                  <a:pt x="54101" y="41704"/>
                  <a:pt x="68829" y="35598"/>
                  <a:pt x="84186" y="35598"/>
                </a:cubicBezTo>
                <a:cubicBezTo>
                  <a:pt x="116232" y="35598"/>
                  <a:pt x="142098" y="61724"/>
                  <a:pt x="142098" y="93659"/>
                </a:cubicBezTo>
                <a:cubicBezTo>
                  <a:pt x="142098" y="94140"/>
                  <a:pt x="142098" y="94621"/>
                  <a:pt x="142098" y="95102"/>
                </a:cubicBezTo>
                <a:cubicBezTo>
                  <a:pt x="141950" y="101652"/>
                  <a:pt x="136510" y="106795"/>
                  <a:pt x="129960" y="106647"/>
                </a:cubicBezTo>
                <a:cubicBezTo>
                  <a:pt x="123411" y="106499"/>
                  <a:pt x="118267" y="101060"/>
                  <a:pt x="118415" y="94510"/>
                </a:cubicBezTo>
                <a:cubicBezTo>
                  <a:pt x="118415" y="94214"/>
                  <a:pt x="118415" y="93955"/>
                  <a:pt x="118415" y="93659"/>
                </a:cubicBezTo>
                <a:cubicBezTo>
                  <a:pt x="118415" y="81188"/>
                  <a:pt x="111754" y="70235"/>
                  <a:pt x="101837" y="64203"/>
                </a:cubicBezTo>
                <a:close/>
              </a:path>
            </a:pathLst>
          </a:custGeom>
          <a:solidFill>
            <a:srgbClr val="3D8B75"/>
          </a:solidFill>
          <a:ln/>
        </p:spPr>
        <p:txBody>
          <a:bodyPr/>
          <a:lstStyle/>
          <a:p>
            <a:endParaRPr lang="zh-CN" altLang="en-US"/>
          </a:p>
        </p:txBody>
      </p:sp>
      <p:sp>
        <p:nvSpPr>
          <p:cNvPr id="8" name="Text 6"/>
          <p:cNvSpPr/>
          <p:nvPr/>
        </p:nvSpPr>
        <p:spPr>
          <a:xfrm>
            <a:off x="843114" y="1553604"/>
            <a:ext cx="5087105" cy="265249"/>
          </a:xfrm>
          <a:prstGeom prst="rect">
            <a:avLst/>
          </a:prstGeom>
          <a:noFill/>
          <a:ln/>
        </p:spPr>
        <p:txBody>
          <a:bodyPr wrap="square" lIns="0" tIns="0" rIns="0" bIns="0" rtlCol="0" anchor="ctr"/>
          <a:lstStyle/>
          <a:p>
            <a:pPr>
              <a:lnSpc>
                <a:spcPct val="120000"/>
              </a:lnSpc>
            </a:pPr>
            <a:r>
              <a:rPr lang="en-US" sz="1492" b="1" dirty="0">
                <a:solidFill>
                  <a:srgbClr val="E0E2E5"/>
                </a:solidFill>
                <a:latin typeface="Noto Sans SC" pitchFamily="34" charset="0"/>
                <a:ea typeface="Noto Sans SC" pitchFamily="34" charset="-122"/>
                <a:cs typeface="Noto Sans SC" pitchFamily="34" charset="-120"/>
              </a:rPr>
              <a:t>互补关系与乘数效应</a:t>
            </a:r>
            <a:endParaRPr lang="en-US" sz="1600" dirty="0"/>
          </a:p>
        </p:txBody>
      </p:sp>
      <p:sp>
        <p:nvSpPr>
          <p:cNvPr id="9" name="Text 7"/>
          <p:cNvSpPr/>
          <p:nvPr/>
        </p:nvSpPr>
        <p:spPr>
          <a:xfrm>
            <a:off x="606284" y="1932531"/>
            <a:ext cx="5304988" cy="738909"/>
          </a:xfrm>
          <a:prstGeom prst="rect">
            <a:avLst/>
          </a:prstGeom>
          <a:noFill/>
          <a:ln/>
        </p:spPr>
        <p:txBody>
          <a:bodyPr wrap="square" lIns="0" tIns="0" rIns="0" bIns="0" rtlCol="0" anchor="ctr"/>
          <a:lstStyle/>
          <a:p>
            <a:pPr>
              <a:lnSpc>
                <a:spcPct val="140000"/>
              </a:lnSpc>
            </a:pPr>
            <a:r>
              <a:rPr lang="en-US" sz="1193" dirty="0">
                <a:solidFill>
                  <a:srgbClr val="E0E2E5">
                    <a:alpha val="80000"/>
                  </a:srgbClr>
                </a:solidFill>
                <a:latin typeface="Noto Sans SC" pitchFamily="34" charset="0"/>
                <a:ea typeface="Noto Sans SC" pitchFamily="34" charset="-122"/>
                <a:cs typeface="Noto Sans SC" pitchFamily="34" charset="-120"/>
              </a:rPr>
              <a:t>四层之间并非彼此孤立，而是存在着</a:t>
            </a:r>
            <a:r>
              <a:rPr lang="en-US" sz="1193" b="1" dirty="0">
                <a:solidFill>
                  <a:srgbClr val="3D8B75"/>
                </a:solidFill>
                <a:latin typeface="Noto Sans SC" pitchFamily="34" charset="0"/>
                <a:ea typeface="Noto Sans SC" pitchFamily="34" charset="-122"/>
                <a:cs typeface="Noto Sans SC" pitchFamily="34" charset="-120"/>
              </a:rPr>
              <a:t>强烈的互补关系</a:t>
            </a:r>
            <a:r>
              <a:rPr lang="en-US" sz="1193" dirty="0">
                <a:solidFill>
                  <a:srgbClr val="E0E2E5">
                    <a:alpha val="80000"/>
                  </a:srgbClr>
                </a:solidFill>
                <a:latin typeface="Noto Sans SC" pitchFamily="34" charset="0"/>
                <a:ea typeface="Noto Sans SC" pitchFamily="34" charset="-122"/>
                <a:cs typeface="Noto Sans SC" pitchFamily="34" charset="-120"/>
              </a:rPr>
              <a:t>。其中，Token 层（数量缩减）与 Feature 层（精度/维度缩减）的联合优化可以产生显著的乘数效应。</a:t>
            </a:r>
            <a:endParaRPr lang="en-US" sz="1600" dirty="0"/>
          </a:p>
        </p:txBody>
      </p:sp>
      <p:sp>
        <p:nvSpPr>
          <p:cNvPr id="10" name="Shape 8"/>
          <p:cNvSpPr/>
          <p:nvPr/>
        </p:nvSpPr>
        <p:spPr>
          <a:xfrm>
            <a:off x="611021" y="2789855"/>
            <a:ext cx="5219730" cy="558918"/>
          </a:xfrm>
          <a:custGeom>
            <a:avLst/>
            <a:gdLst/>
            <a:ahLst/>
            <a:cxnLst/>
            <a:rect l="l" t="t" r="r" b="b"/>
            <a:pathLst>
              <a:path w="5219730" h="558918">
                <a:moveTo>
                  <a:pt x="75784" y="0"/>
                </a:moveTo>
                <a:lnTo>
                  <a:pt x="5143946" y="0"/>
                </a:lnTo>
                <a:cubicBezTo>
                  <a:pt x="5185800" y="0"/>
                  <a:pt x="5219730" y="33930"/>
                  <a:pt x="5219730" y="75784"/>
                </a:cubicBezTo>
                <a:lnTo>
                  <a:pt x="5219730" y="483135"/>
                </a:lnTo>
                <a:cubicBezTo>
                  <a:pt x="5219730" y="524989"/>
                  <a:pt x="5185800" y="558918"/>
                  <a:pt x="5143946" y="558918"/>
                </a:cubicBezTo>
                <a:lnTo>
                  <a:pt x="75784" y="558918"/>
                </a:lnTo>
                <a:cubicBezTo>
                  <a:pt x="33930" y="558918"/>
                  <a:pt x="0" y="524989"/>
                  <a:pt x="0" y="483135"/>
                </a:cubicBezTo>
                <a:lnTo>
                  <a:pt x="0" y="75784"/>
                </a:lnTo>
                <a:cubicBezTo>
                  <a:pt x="0" y="33930"/>
                  <a:pt x="33930" y="0"/>
                  <a:pt x="75784" y="0"/>
                </a:cubicBezTo>
                <a:close/>
              </a:path>
            </a:pathLst>
          </a:custGeom>
          <a:solidFill>
            <a:srgbClr val="1A1D21">
              <a:alpha val="70196"/>
            </a:srgbClr>
          </a:solidFill>
          <a:ln w="12700">
            <a:solidFill>
              <a:srgbClr val="3D8B75">
                <a:alpha val="30196"/>
              </a:srgbClr>
            </a:solidFill>
            <a:prstDash val="solid"/>
          </a:ln>
        </p:spPr>
        <p:txBody>
          <a:bodyPr/>
          <a:lstStyle/>
          <a:p>
            <a:endParaRPr lang="zh-CN" altLang="en-US"/>
          </a:p>
        </p:txBody>
      </p:sp>
      <p:sp>
        <p:nvSpPr>
          <p:cNvPr id="11" name="Text 9"/>
          <p:cNvSpPr/>
          <p:nvPr/>
        </p:nvSpPr>
        <p:spPr>
          <a:xfrm>
            <a:off x="729436" y="2946163"/>
            <a:ext cx="4982900" cy="246303"/>
          </a:xfrm>
          <a:prstGeom prst="rect">
            <a:avLst/>
          </a:prstGeom>
          <a:noFill/>
          <a:ln/>
        </p:spPr>
        <p:txBody>
          <a:bodyPr wrap="square" lIns="0" tIns="0" rIns="0" bIns="0" rtlCol="0" anchor="ctr"/>
          <a:lstStyle/>
          <a:p>
            <a:pPr algn="ctr">
              <a:lnSpc>
                <a:spcPct val="140000"/>
              </a:lnSpc>
            </a:pPr>
            <a:r>
              <a:rPr lang="en-US" sz="1193" dirty="0">
                <a:solidFill>
                  <a:srgbClr val="E0E2E5"/>
                </a:solidFill>
                <a:latin typeface="MiSans" pitchFamily="34" charset="0"/>
                <a:ea typeface="MiSans" pitchFamily="34" charset="-122"/>
                <a:cs typeface="MiSans" pitchFamily="34" charset="-120"/>
              </a:rPr>
              <a:t>C</a:t>
            </a:r>
            <a:r>
              <a:rPr lang="en-US" sz="895" dirty="0">
                <a:solidFill>
                  <a:srgbClr val="E0E2E5"/>
                </a:solidFill>
                <a:latin typeface="MiSans" pitchFamily="34" charset="0"/>
                <a:ea typeface="MiSans" pitchFamily="34" charset="-122"/>
                <a:cs typeface="MiSans" pitchFamily="34" charset="-120"/>
              </a:rPr>
              <a:t>total</a:t>
            </a:r>
            <a:r>
              <a:rPr lang="en-US" sz="1193" dirty="0">
                <a:solidFill>
                  <a:srgbClr val="E0E2E5"/>
                </a:solidFill>
                <a:latin typeface="MiSans" pitchFamily="34" charset="0"/>
                <a:ea typeface="MiSans" pitchFamily="34" charset="-122"/>
                <a:cs typeface="MiSans" pitchFamily="34" charset="-120"/>
              </a:rPr>
              <a:t> ≈ C</a:t>
            </a:r>
            <a:r>
              <a:rPr lang="en-US" sz="895" dirty="0">
                <a:solidFill>
                  <a:srgbClr val="E0E2E5"/>
                </a:solidFill>
                <a:latin typeface="MiSans" pitchFamily="34" charset="0"/>
                <a:ea typeface="MiSans" pitchFamily="34" charset="-122"/>
                <a:cs typeface="MiSans" pitchFamily="34" charset="-120"/>
              </a:rPr>
              <a:t>token</a:t>
            </a:r>
            <a:r>
              <a:rPr lang="en-US" sz="1193" dirty="0">
                <a:solidFill>
                  <a:srgbClr val="E0E2E5"/>
                </a:solidFill>
                <a:latin typeface="MiSans" pitchFamily="34" charset="0"/>
                <a:ea typeface="MiSans" pitchFamily="34" charset="-122"/>
                <a:cs typeface="MiSans" pitchFamily="34" charset="-120"/>
              </a:rPr>
              <a:t> × C</a:t>
            </a:r>
            <a:r>
              <a:rPr lang="en-US" sz="895" dirty="0">
                <a:solidFill>
                  <a:srgbClr val="E0E2E5"/>
                </a:solidFill>
                <a:latin typeface="MiSans" pitchFamily="34" charset="0"/>
                <a:ea typeface="MiSans" pitchFamily="34" charset="-122"/>
                <a:cs typeface="MiSans" pitchFamily="34" charset="-120"/>
              </a:rPr>
              <a:t>feature</a:t>
            </a:r>
            <a:r>
              <a:rPr lang="en-US" sz="1193" dirty="0">
                <a:solidFill>
                  <a:srgbClr val="E0E2E5"/>
                </a:solidFill>
                <a:latin typeface="MiSans" pitchFamily="34" charset="0"/>
                <a:ea typeface="MiSans" pitchFamily="34" charset="-122"/>
                <a:cs typeface="MiSans" pitchFamily="34" charset="-120"/>
              </a:rPr>
              <a:t> × C</a:t>
            </a:r>
            <a:r>
              <a:rPr lang="en-US" sz="895" dirty="0">
                <a:solidFill>
                  <a:srgbClr val="E0E2E5"/>
                </a:solidFill>
                <a:latin typeface="MiSans" pitchFamily="34" charset="0"/>
                <a:ea typeface="MiSans" pitchFamily="34" charset="-122"/>
                <a:cs typeface="MiSans" pitchFamily="34" charset="-120"/>
              </a:rPr>
              <a:t>structure</a:t>
            </a:r>
            <a:r>
              <a:rPr lang="en-US" sz="1193" dirty="0">
                <a:solidFill>
                  <a:srgbClr val="E0E2E5"/>
                </a:solidFill>
                <a:latin typeface="MiSans" pitchFamily="34" charset="0"/>
                <a:ea typeface="MiSans" pitchFamily="34" charset="-122"/>
                <a:cs typeface="MiSans" pitchFamily="34" charset="-120"/>
              </a:rPr>
              <a:t> × C</a:t>
            </a:r>
            <a:r>
              <a:rPr lang="en-US" sz="895" dirty="0">
                <a:solidFill>
                  <a:srgbClr val="E0E2E5"/>
                </a:solidFill>
                <a:latin typeface="MiSans" pitchFamily="34" charset="0"/>
                <a:ea typeface="MiSans" pitchFamily="34" charset="-122"/>
                <a:cs typeface="MiSans" pitchFamily="34" charset="-120"/>
              </a:rPr>
              <a:t>system</a:t>
            </a:r>
            <a:endParaRPr lang="en-US" sz="1600" dirty="0"/>
          </a:p>
        </p:txBody>
      </p:sp>
      <p:sp>
        <p:nvSpPr>
          <p:cNvPr id="12" name="Text 10"/>
          <p:cNvSpPr/>
          <p:nvPr/>
        </p:nvSpPr>
        <p:spPr>
          <a:xfrm>
            <a:off x="606284" y="3467189"/>
            <a:ext cx="5304988" cy="492606"/>
          </a:xfrm>
          <a:prstGeom prst="rect">
            <a:avLst/>
          </a:prstGeom>
          <a:noFill/>
          <a:ln/>
        </p:spPr>
        <p:txBody>
          <a:bodyPr wrap="square" lIns="0" tIns="0" rIns="0" bIns="0" rtlCol="0" anchor="ctr"/>
          <a:lstStyle/>
          <a:p>
            <a:pPr>
              <a:lnSpc>
                <a:spcPct val="140000"/>
              </a:lnSpc>
            </a:pPr>
            <a:r>
              <a:rPr lang="en-US" sz="1193" dirty="0">
                <a:solidFill>
                  <a:srgbClr val="E0E2E5">
                    <a:alpha val="80000"/>
                  </a:srgbClr>
                </a:solidFill>
                <a:latin typeface="Noto Sans SC" pitchFamily="34" charset="0"/>
                <a:ea typeface="Noto Sans SC" pitchFamily="34" charset="-122"/>
                <a:cs typeface="Noto Sans SC" pitchFamily="34" charset="-120"/>
              </a:rPr>
              <a:t>但需注意各维度压缩的</a:t>
            </a:r>
            <a:r>
              <a:rPr lang="en-US" sz="1193" b="1" dirty="0">
                <a:solidFill>
                  <a:srgbClr val="C9A86A"/>
                </a:solidFill>
                <a:latin typeface="Noto Sans SC" pitchFamily="34" charset="0"/>
                <a:ea typeface="Noto Sans SC" pitchFamily="34" charset="-122"/>
                <a:cs typeface="Noto Sans SC" pitchFamily="34" charset="-120"/>
              </a:rPr>
              <a:t>相互作用</a:t>
            </a:r>
            <a:r>
              <a:rPr lang="en-US" sz="1193" dirty="0">
                <a:solidFill>
                  <a:srgbClr val="E0E2E5">
                    <a:alpha val="80000"/>
                  </a:srgbClr>
                </a:solidFill>
                <a:latin typeface="Noto Sans SC" pitchFamily="34" charset="0"/>
                <a:ea typeface="Noto Sans SC" pitchFamily="34" charset="-122"/>
                <a:cs typeface="Noto Sans SC" pitchFamily="34" charset="-120"/>
              </a:rPr>
              <a:t>（例如，Token 剪枝后序列长度缩短，会导致后续量化所能带来的"绝对显存节省量"相应缩减）。</a:t>
            </a:r>
            <a:endParaRPr lang="en-US" sz="1600" dirty="0"/>
          </a:p>
        </p:txBody>
      </p:sp>
      <p:sp>
        <p:nvSpPr>
          <p:cNvPr id="13" name="Shape 11"/>
          <p:cNvSpPr/>
          <p:nvPr/>
        </p:nvSpPr>
        <p:spPr>
          <a:xfrm>
            <a:off x="6191250" y="1364140"/>
            <a:ext cx="5627077" cy="2785119"/>
          </a:xfrm>
          <a:custGeom>
            <a:avLst/>
            <a:gdLst/>
            <a:ahLst/>
            <a:cxnLst/>
            <a:rect l="l" t="t" r="r" b="b"/>
            <a:pathLst>
              <a:path w="5627077" h="2785119">
                <a:moveTo>
                  <a:pt x="37893" y="0"/>
                </a:moveTo>
                <a:lnTo>
                  <a:pt x="5551294" y="0"/>
                </a:lnTo>
                <a:cubicBezTo>
                  <a:pt x="5593148" y="0"/>
                  <a:pt x="5627077" y="33929"/>
                  <a:pt x="5627077" y="75783"/>
                </a:cubicBezTo>
                <a:lnTo>
                  <a:pt x="5627077" y="2709336"/>
                </a:lnTo>
                <a:cubicBezTo>
                  <a:pt x="5627077" y="2751190"/>
                  <a:pt x="5593148" y="2785119"/>
                  <a:pt x="5551294" y="2785119"/>
                </a:cubicBezTo>
                <a:lnTo>
                  <a:pt x="37893" y="2785119"/>
                </a:lnTo>
                <a:cubicBezTo>
                  <a:pt x="16965" y="2785119"/>
                  <a:pt x="0" y="2768154"/>
                  <a:pt x="0" y="2747226"/>
                </a:cubicBezTo>
                <a:lnTo>
                  <a:pt x="0" y="37893"/>
                </a:lnTo>
                <a:cubicBezTo>
                  <a:pt x="0" y="16979"/>
                  <a:pt x="16979" y="0"/>
                  <a:pt x="37893" y="0"/>
                </a:cubicBezTo>
                <a:close/>
              </a:path>
            </a:pathLst>
          </a:custGeom>
          <a:solidFill>
            <a:srgbClr val="C9A86A">
              <a:alpha val="10196"/>
            </a:srgbClr>
          </a:solidFill>
          <a:ln/>
        </p:spPr>
        <p:txBody>
          <a:bodyPr/>
          <a:lstStyle/>
          <a:p>
            <a:endParaRPr lang="zh-CN" altLang="en-US"/>
          </a:p>
        </p:txBody>
      </p:sp>
      <p:sp>
        <p:nvSpPr>
          <p:cNvPr id="14" name="Shape 12"/>
          <p:cNvSpPr/>
          <p:nvPr/>
        </p:nvSpPr>
        <p:spPr>
          <a:xfrm>
            <a:off x="6191250" y="1364140"/>
            <a:ext cx="37893" cy="2785119"/>
          </a:xfrm>
          <a:custGeom>
            <a:avLst/>
            <a:gdLst/>
            <a:ahLst/>
            <a:cxnLst/>
            <a:rect l="l" t="t" r="r" b="b"/>
            <a:pathLst>
              <a:path w="37893" h="2785119">
                <a:moveTo>
                  <a:pt x="37893" y="0"/>
                </a:moveTo>
                <a:lnTo>
                  <a:pt x="37893" y="0"/>
                </a:lnTo>
                <a:lnTo>
                  <a:pt x="37893" y="2785119"/>
                </a:lnTo>
                <a:lnTo>
                  <a:pt x="37893" y="2785119"/>
                </a:lnTo>
                <a:cubicBezTo>
                  <a:pt x="16965" y="2785119"/>
                  <a:pt x="0" y="2768154"/>
                  <a:pt x="0" y="2747226"/>
                </a:cubicBezTo>
                <a:lnTo>
                  <a:pt x="0" y="37893"/>
                </a:lnTo>
                <a:cubicBezTo>
                  <a:pt x="0" y="16965"/>
                  <a:pt x="16965" y="0"/>
                  <a:pt x="37893" y="0"/>
                </a:cubicBezTo>
                <a:close/>
              </a:path>
            </a:pathLst>
          </a:custGeom>
          <a:solidFill>
            <a:srgbClr val="C9A86A"/>
          </a:solidFill>
          <a:ln/>
        </p:spPr>
        <p:txBody>
          <a:bodyPr/>
          <a:lstStyle/>
          <a:p>
            <a:endParaRPr lang="zh-CN" altLang="en-US"/>
          </a:p>
        </p:txBody>
      </p:sp>
      <p:sp>
        <p:nvSpPr>
          <p:cNvPr id="15" name="Shape 13"/>
          <p:cNvSpPr/>
          <p:nvPr/>
        </p:nvSpPr>
        <p:spPr>
          <a:xfrm>
            <a:off x="6423343" y="1591497"/>
            <a:ext cx="189464" cy="189464"/>
          </a:xfrm>
          <a:custGeom>
            <a:avLst/>
            <a:gdLst/>
            <a:ahLst/>
            <a:cxnLst/>
            <a:rect l="l" t="t" r="r" b="b"/>
            <a:pathLst>
              <a:path w="189464" h="189464">
                <a:moveTo>
                  <a:pt x="86036" y="1924"/>
                </a:moveTo>
                <a:cubicBezTo>
                  <a:pt x="91550" y="-629"/>
                  <a:pt x="97914" y="-629"/>
                  <a:pt x="103428" y="1924"/>
                </a:cubicBezTo>
                <a:lnTo>
                  <a:pt x="184320" y="39299"/>
                </a:lnTo>
                <a:cubicBezTo>
                  <a:pt x="187466" y="40742"/>
                  <a:pt x="189464" y="43888"/>
                  <a:pt x="189464" y="47366"/>
                </a:cubicBezTo>
                <a:cubicBezTo>
                  <a:pt x="189464" y="50844"/>
                  <a:pt x="187466" y="53990"/>
                  <a:pt x="184320" y="55433"/>
                </a:cubicBezTo>
                <a:lnTo>
                  <a:pt x="103428" y="92808"/>
                </a:lnTo>
                <a:cubicBezTo>
                  <a:pt x="97914" y="95361"/>
                  <a:pt x="91550" y="95361"/>
                  <a:pt x="86036" y="92808"/>
                </a:cubicBezTo>
                <a:lnTo>
                  <a:pt x="5144" y="55433"/>
                </a:lnTo>
                <a:cubicBezTo>
                  <a:pt x="1998" y="53953"/>
                  <a:pt x="0" y="50807"/>
                  <a:pt x="0" y="47366"/>
                </a:cubicBezTo>
                <a:cubicBezTo>
                  <a:pt x="0" y="43925"/>
                  <a:pt x="1998" y="40742"/>
                  <a:pt x="5144" y="39299"/>
                </a:cubicBezTo>
                <a:lnTo>
                  <a:pt x="86036" y="1924"/>
                </a:lnTo>
                <a:close/>
                <a:moveTo>
                  <a:pt x="17799" y="80818"/>
                </a:moveTo>
                <a:lnTo>
                  <a:pt x="78598" y="108905"/>
                </a:lnTo>
                <a:cubicBezTo>
                  <a:pt x="88848" y="113641"/>
                  <a:pt x="100653" y="113641"/>
                  <a:pt x="110903" y="108905"/>
                </a:cubicBezTo>
                <a:lnTo>
                  <a:pt x="171702" y="80818"/>
                </a:lnTo>
                <a:lnTo>
                  <a:pt x="184320" y="86665"/>
                </a:lnTo>
                <a:cubicBezTo>
                  <a:pt x="187466" y="88108"/>
                  <a:pt x="189464" y="91253"/>
                  <a:pt x="189464" y="94732"/>
                </a:cubicBezTo>
                <a:cubicBezTo>
                  <a:pt x="189464" y="98210"/>
                  <a:pt x="187466" y="101356"/>
                  <a:pt x="184320" y="102799"/>
                </a:cubicBezTo>
                <a:lnTo>
                  <a:pt x="103428" y="140174"/>
                </a:lnTo>
                <a:cubicBezTo>
                  <a:pt x="97914" y="142727"/>
                  <a:pt x="91550" y="142727"/>
                  <a:pt x="86036" y="140174"/>
                </a:cubicBezTo>
                <a:lnTo>
                  <a:pt x="5144" y="102799"/>
                </a:lnTo>
                <a:cubicBezTo>
                  <a:pt x="1998" y="101319"/>
                  <a:pt x="0" y="98173"/>
                  <a:pt x="0" y="94732"/>
                </a:cubicBezTo>
                <a:cubicBezTo>
                  <a:pt x="0" y="91291"/>
                  <a:pt x="1998" y="88108"/>
                  <a:pt x="5144" y="86665"/>
                </a:cubicBezTo>
                <a:lnTo>
                  <a:pt x="17762" y="80818"/>
                </a:lnTo>
                <a:close/>
                <a:moveTo>
                  <a:pt x="5144" y="134031"/>
                </a:moveTo>
                <a:lnTo>
                  <a:pt x="17762" y="128184"/>
                </a:lnTo>
                <a:lnTo>
                  <a:pt x="78561" y="156271"/>
                </a:lnTo>
                <a:cubicBezTo>
                  <a:pt x="88811" y="161007"/>
                  <a:pt x="100616" y="161007"/>
                  <a:pt x="110866" y="156271"/>
                </a:cubicBezTo>
                <a:lnTo>
                  <a:pt x="171665" y="128184"/>
                </a:lnTo>
                <a:lnTo>
                  <a:pt x="184283" y="134031"/>
                </a:lnTo>
                <a:cubicBezTo>
                  <a:pt x="187429" y="135474"/>
                  <a:pt x="189427" y="138619"/>
                  <a:pt x="189427" y="142098"/>
                </a:cubicBezTo>
                <a:cubicBezTo>
                  <a:pt x="189427" y="145576"/>
                  <a:pt x="187429" y="148722"/>
                  <a:pt x="184283" y="150165"/>
                </a:cubicBezTo>
                <a:lnTo>
                  <a:pt x="103391" y="187540"/>
                </a:lnTo>
                <a:cubicBezTo>
                  <a:pt x="97877" y="190093"/>
                  <a:pt x="91513" y="190093"/>
                  <a:pt x="85999" y="187540"/>
                </a:cubicBezTo>
                <a:lnTo>
                  <a:pt x="5144" y="150165"/>
                </a:lnTo>
                <a:cubicBezTo>
                  <a:pt x="1998" y="148685"/>
                  <a:pt x="0" y="145539"/>
                  <a:pt x="0" y="142098"/>
                </a:cubicBezTo>
                <a:cubicBezTo>
                  <a:pt x="0" y="138656"/>
                  <a:pt x="1998" y="135474"/>
                  <a:pt x="5144" y="134031"/>
                </a:cubicBezTo>
                <a:close/>
              </a:path>
            </a:pathLst>
          </a:custGeom>
          <a:solidFill>
            <a:srgbClr val="C9A86A"/>
          </a:solidFill>
          <a:ln/>
        </p:spPr>
        <p:txBody>
          <a:bodyPr/>
          <a:lstStyle/>
          <a:p>
            <a:endParaRPr lang="zh-CN" altLang="en-US"/>
          </a:p>
        </p:txBody>
      </p:sp>
      <p:sp>
        <p:nvSpPr>
          <p:cNvPr id="16" name="Text 14"/>
          <p:cNvSpPr/>
          <p:nvPr/>
        </p:nvSpPr>
        <p:spPr>
          <a:xfrm>
            <a:off x="6636490" y="1553604"/>
            <a:ext cx="5087105" cy="265249"/>
          </a:xfrm>
          <a:prstGeom prst="rect">
            <a:avLst/>
          </a:prstGeom>
          <a:noFill/>
          <a:ln/>
        </p:spPr>
        <p:txBody>
          <a:bodyPr wrap="square" lIns="0" tIns="0" rIns="0" bIns="0" rtlCol="0" anchor="ctr"/>
          <a:lstStyle/>
          <a:p>
            <a:pPr>
              <a:lnSpc>
                <a:spcPct val="120000"/>
              </a:lnSpc>
            </a:pPr>
            <a:r>
              <a:rPr lang="en-US" sz="1492" b="1" dirty="0">
                <a:solidFill>
                  <a:srgbClr val="E0E2E5"/>
                </a:solidFill>
                <a:latin typeface="Noto Sans SC" pitchFamily="34" charset="0"/>
                <a:ea typeface="Noto Sans SC" pitchFamily="34" charset="-122"/>
                <a:cs typeface="Noto Sans SC" pitchFamily="34" charset="-120"/>
              </a:rPr>
              <a:t>不同层级的本质差异</a:t>
            </a:r>
            <a:endParaRPr lang="en-US" sz="1600" dirty="0"/>
          </a:p>
        </p:txBody>
      </p:sp>
      <p:sp>
        <p:nvSpPr>
          <p:cNvPr id="17" name="Shape 15"/>
          <p:cNvSpPr/>
          <p:nvPr/>
        </p:nvSpPr>
        <p:spPr>
          <a:xfrm>
            <a:off x="6399660" y="1946741"/>
            <a:ext cx="5229203" cy="928373"/>
          </a:xfrm>
          <a:custGeom>
            <a:avLst/>
            <a:gdLst/>
            <a:ahLst/>
            <a:cxnLst/>
            <a:rect l="l" t="t" r="r" b="b"/>
            <a:pathLst>
              <a:path w="5229203" h="928373">
                <a:moveTo>
                  <a:pt x="75783" y="0"/>
                </a:moveTo>
                <a:lnTo>
                  <a:pt x="5153420" y="0"/>
                </a:lnTo>
                <a:cubicBezTo>
                  <a:pt x="5195246" y="0"/>
                  <a:pt x="5229203" y="33957"/>
                  <a:pt x="5229203" y="75783"/>
                </a:cubicBezTo>
                <a:lnTo>
                  <a:pt x="5229203" y="852590"/>
                </a:lnTo>
                <a:cubicBezTo>
                  <a:pt x="5229203" y="894416"/>
                  <a:pt x="5195246" y="928373"/>
                  <a:pt x="5153420" y="928373"/>
                </a:cubicBezTo>
                <a:lnTo>
                  <a:pt x="75783" y="928373"/>
                </a:lnTo>
                <a:cubicBezTo>
                  <a:pt x="33957" y="928373"/>
                  <a:pt x="0" y="894416"/>
                  <a:pt x="0" y="852590"/>
                </a:cubicBezTo>
                <a:lnTo>
                  <a:pt x="0" y="75783"/>
                </a:lnTo>
                <a:cubicBezTo>
                  <a:pt x="0" y="33957"/>
                  <a:pt x="33957" y="0"/>
                  <a:pt x="75783" y="0"/>
                </a:cubicBezTo>
                <a:close/>
              </a:path>
            </a:pathLst>
          </a:custGeom>
          <a:solidFill>
            <a:srgbClr val="1A1D21">
              <a:alpha val="50196"/>
            </a:srgbClr>
          </a:solidFill>
          <a:ln/>
        </p:spPr>
        <p:txBody>
          <a:bodyPr/>
          <a:lstStyle/>
          <a:p>
            <a:endParaRPr lang="zh-CN" altLang="en-US"/>
          </a:p>
        </p:txBody>
      </p:sp>
      <p:sp>
        <p:nvSpPr>
          <p:cNvPr id="18" name="Shape 16"/>
          <p:cNvSpPr/>
          <p:nvPr/>
        </p:nvSpPr>
        <p:spPr>
          <a:xfrm>
            <a:off x="6551231" y="2098312"/>
            <a:ext cx="303142" cy="303142"/>
          </a:xfrm>
          <a:custGeom>
            <a:avLst/>
            <a:gdLst/>
            <a:ahLst/>
            <a:cxnLst/>
            <a:rect l="l" t="t" r="r" b="b"/>
            <a:pathLst>
              <a:path w="303142" h="303142">
                <a:moveTo>
                  <a:pt x="37893" y="0"/>
                </a:moveTo>
                <a:lnTo>
                  <a:pt x="265249" y="0"/>
                </a:lnTo>
                <a:cubicBezTo>
                  <a:pt x="286177" y="0"/>
                  <a:pt x="303142" y="16965"/>
                  <a:pt x="303142" y="37893"/>
                </a:cubicBezTo>
                <a:lnTo>
                  <a:pt x="303142" y="265249"/>
                </a:lnTo>
                <a:cubicBezTo>
                  <a:pt x="303142" y="286177"/>
                  <a:pt x="286177" y="303142"/>
                  <a:pt x="265249" y="303142"/>
                </a:cubicBezTo>
                <a:lnTo>
                  <a:pt x="37893" y="303142"/>
                </a:lnTo>
                <a:cubicBezTo>
                  <a:pt x="16965" y="303142"/>
                  <a:pt x="0" y="286177"/>
                  <a:pt x="0" y="265249"/>
                </a:cubicBezTo>
                <a:lnTo>
                  <a:pt x="0" y="37893"/>
                </a:lnTo>
                <a:cubicBezTo>
                  <a:pt x="0" y="16965"/>
                  <a:pt x="16965" y="0"/>
                  <a:pt x="37893" y="0"/>
                </a:cubicBezTo>
                <a:close/>
              </a:path>
            </a:pathLst>
          </a:custGeom>
          <a:solidFill>
            <a:srgbClr val="3D8B75">
              <a:alpha val="20000"/>
            </a:srgbClr>
          </a:solidFill>
          <a:ln/>
        </p:spPr>
        <p:txBody>
          <a:bodyPr/>
          <a:lstStyle/>
          <a:p>
            <a:endParaRPr lang="zh-CN" altLang="en-US"/>
          </a:p>
        </p:txBody>
      </p:sp>
      <p:sp>
        <p:nvSpPr>
          <p:cNvPr id="19" name="Text 17"/>
          <p:cNvSpPr/>
          <p:nvPr/>
        </p:nvSpPr>
        <p:spPr>
          <a:xfrm>
            <a:off x="6626795" y="2136205"/>
            <a:ext cx="227357" cy="227357"/>
          </a:xfrm>
          <a:prstGeom prst="rect">
            <a:avLst/>
          </a:prstGeom>
          <a:noFill/>
          <a:ln/>
        </p:spPr>
        <p:txBody>
          <a:bodyPr wrap="square" lIns="0" tIns="0" rIns="0" bIns="0" rtlCol="0" anchor="ctr"/>
          <a:lstStyle/>
          <a:p>
            <a:pPr>
              <a:lnSpc>
                <a:spcPct val="130000"/>
              </a:lnSpc>
            </a:pPr>
            <a:r>
              <a:rPr lang="en-US" sz="1193" b="1" dirty="0">
                <a:solidFill>
                  <a:srgbClr val="3D8B75"/>
                </a:solidFill>
                <a:latin typeface="Noto Sans SC" pitchFamily="34" charset="0"/>
                <a:ea typeface="Noto Sans SC" pitchFamily="34" charset="-122"/>
                <a:cs typeface="Noto Sans SC" pitchFamily="34" charset="-120"/>
              </a:rPr>
              <a:t>L1</a:t>
            </a:r>
            <a:endParaRPr lang="en-US" sz="1600" dirty="0"/>
          </a:p>
        </p:txBody>
      </p:sp>
      <p:sp>
        <p:nvSpPr>
          <p:cNvPr id="20" name="Text 18"/>
          <p:cNvSpPr/>
          <p:nvPr/>
        </p:nvSpPr>
        <p:spPr>
          <a:xfrm>
            <a:off x="6968052" y="2136205"/>
            <a:ext cx="1686228" cy="227357"/>
          </a:xfrm>
          <a:prstGeom prst="rect">
            <a:avLst/>
          </a:prstGeom>
          <a:noFill/>
          <a:ln/>
        </p:spPr>
        <p:txBody>
          <a:bodyPr wrap="square" lIns="0" tIns="0" rIns="0" bIns="0" rtlCol="0" anchor="ctr"/>
          <a:lstStyle/>
          <a:p>
            <a:pPr>
              <a:lnSpc>
                <a:spcPct val="130000"/>
              </a:lnSpc>
            </a:pPr>
            <a:r>
              <a:rPr lang="en-US" sz="1193" b="1" dirty="0">
                <a:solidFill>
                  <a:srgbClr val="E0E2E5"/>
                </a:solidFill>
                <a:latin typeface="Noto Sans SC" pitchFamily="34" charset="0"/>
                <a:ea typeface="Noto Sans SC" pitchFamily="34" charset="-122"/>
                <a:cs typeface="Noto Sans SC" pitchFamily="34" charset="-120"/>
              </a:rPr>
              <a:t>Token 层 &amp; Feature 层</a:t>
            </a:r>
            <a:endParaRPr lang="en-US" sz="1600" dirty="0"/>
          </a:p>
        </p:txBody>
      </p:sp>
      <p:sp>
        <p:nvSpPr>
          <p:cNvPr id="21" name="Text 19"/>
          <p:cNvSpPr/>
          <p:nvPr/>
        </p:nvSpPr>
        <p:spPr>
          <a:xfrm>
            <a:off x="6551231" y="2477240"/>
            <a:ext cx="5001846" cy="246303"/>
          </a:xfrm>
          <a:prstGeom prst="rect">
            <a:avLst/>
          </a:prstGeom>
          <a:noFill/>
          <a:ln/>
        </p:spPr>
        <p:txBody>
          <a:bodyPr wrap="square" lIns="0" tIns="0" rIns="0" bIns="0" rtlCol="0" anchor="ctr"/>
          <a:lstStyle/>
          <a:p>
            <a:pPr>
              <a:lnSpc>
                <a:spcPct val="140000"/>
              </a:lnSpc>
            </a:pPr>
            <a:r>
              <a:rPr lang="en-US" sz="1193" dirty="0">
                <a:solidFill>
                  <a:srgbClr val="3D8B75"/>
                </a:solidFill>
                <a:highlight>
                  <a:srgbClr val="3D8B75">
                    <a:alpha val="20000"/>
                  </a:srgbClr>
                </a:highlight>
                <a:latin typeface="Noto Sans SC" pitchFamily="34" charset="0"/>
                <a:ea typeface="Noto Sans SC" pitchFamily="34" charset="-122"/>
                <a:cs typeface="Noto Sans SC" pitchFamily="34" charset="-120"/>
              </a:rPr>
              <a:t>直接改变 KV 数据内容 </a:t>
            </a:r>
            <a:r>
              <a:rPr lang="en-US" sz="1193" dirty="0">
                <a:solidFill>
                  <a:srgbClr val="E0E2E5">
                    <a:alpha val="80000"/>
                  </a:srgbClr>
                </a:solidFill>
                <a:latin typeface="Noto Sans SC" pitchFamily="34" charset="0"/>
                <a:ea typeface="Noto Sans SC" pitchFamily="34" charset="-122"/>
                <a:cs typeface="Noto Sans SC" pitchFamily="34" charset="-120"/>
              </a:rPr>
              <a:t>，通过数量或精度缩减实现压缩</a:t>
            </a:r>
            <a:endParaRPr lang="en-US" sz="1600" dirty="0"/>
          </a:p>
        </p:txBody>
      </p:sp>
      <p:sp>
        <p:nvSpPr>
          <p:cNvPr id="22" name="Shape 20"/>
          <p:cNvSpPr/>
          <p:nvPr/>
        </p:nvSpPr>
        <p:spPr>
          <a:xfrm>
            <a:off x="6399660" y="3017212"/>
            <a:ext cx="5229203" cy="928373"/>
          </a:xfrm>
          <a:custGeom>
            <a:avLst/>
            <a:gdLst/>
            <a:ahLst/>
            <a:cxnLst/>
            <a:rect l="l" t="t" r="r" b="b"/>
            <a:pathLst>
              <a:path w="5229203" h="928373">
                <a:moveTo>
                  <a:pt x="75783" y="0"/>
                </a:moveTo>
                <a:lnTo>
                  <a:pt x="5153420" y="0"/>
                </a:lnTo>
                <a:cubicBezTo>
                  <a:pt x="5195246" y="0"/>
                  <a:pt x="5229203" y="33957"/>
                  <a:pt x="5229203" y="75783"/>
                </a:cubicBezTo>
                <a:lnTo>
                  <a:pt x="5229203" y="852590"/>
                </a:lnTo>
                <a:cubicBezTo>
                  <a:pt x="5229203" y="894416"/>
                  <a:pt x="5195246" y="928373"/>
                  <a:pt x="5153420" y="928373"/>
                </a:cubicBezTo>
                <a:lnTo>
                  <a:pt x="75783" y="928373"/>
                </a:lnTo>
                <a:cubicBezTo>
                  <a:pt x="33957" y="928373"/>
                  <a:pt x="0" y="894416"/>
                  <a:pt x="0" y="852590"/>
                </a:cubicBezTo>
                <a:lnTo>
                  <a:pt x="0" y="75783"/>
                </a:lnTo>
                <a:cubicBezTo>
                  <a:pt x="0" y="33957"/>
                  <a:pt x="33957" y="0"/>
                  <a:pt x="75783" y="0"/>
                </a:cubicBezTo>
                <a:close/>
              </a:path>
            </a:pathLst>
          </a:custGeom>
          <a:solidFill>
            <a:srgbClr val="1A1D21">
              <a:alpha val="50196"/>
            </a:srgbClr>
          </a:solidFill>
          <a:ln/>
        </p:spPr>
        <p:txBody>
          <a:bodyPr/>
          <a:lstStyle/>
          <a:p>
            <a:endParaRPr lang="zh-CN" altLang="en-US"/>
          </a:p>
        </p:txBody>
      </p:sp>
      <p:sp>
        <p:nvSpPr>
          <p:cNvPr id="23" name="Shape 21"/>
          <p:cNvSpPr/>
          <p:nvPr/>
        </p:nvSpPr>
        <p:spPr>
          <a:xfrm>
            <a:off x="6551231" y="3168783"/>
            <a:ext cx="303142" cy="303142"/>
          </a:xfrm>
          <a:custGeom>
            <a:avLst/>
            <a:gdLst/>
            <a:ahLst/>
            <a:cxnLst/>
            <a:rect l="l" t="t" r="r" b="b"/>
            <a:pathLst>
              <a:path w="303142" h="303142">
                <a:moveTo>
                  <a:pt x="37893" y="0"/>
                </a:moveTo>
                <a:lnTo>
                  <a:pt x="265249" y="0"/>
                </a:lnTo>
                <a:cubicBezTo>
                  <a:pt x="286177" y="0"/>
                  <a:pt x="303142" y="16965"/>
                  <a:pt x="303142" y="37893"/>
                </a:cubicBezTo>
                <a:lnTo>
                  <a:pt x="303142" y="265249"/>
                </a:lnTo>
                <a:cubicBezTo>
                  <a:pt x="303142" y="286177"/>
                  <a:pt x="286177" y="303142"/>
                  <a:pt x="265249" y="303142"/>
                </a:cubicBezTo>
                <a:lnTo>
                  <a:pt x="37893" y="303142"/>
                </a:lnTo>
                <a:cubicBezTo>
                  <a:pt x="16965" y="303142"/>
                  <a:pt x="0" y="286177"/>
                  <a:pt x="0" y="265249"/>
                </a:cubicBezTo>
                <a:lnTo>
                  <a:pt x="0" y="37893"/>
                </a:lnTo>
                <a:cubicBezTo>
                  <a:pt x="0" y="16965"/>
                  <a:pt x="16965" y="0"/>
                  <a:pt x="37893" y="0"/>
                </a:cubicBezTo>
                <a:close/>
              </a:path>
            </a:pathLst>
          </a:custGeom>
          <a:solidFill>
            <a:srgbClr val="5F6B7A">
              <a:alpha val="20000"/>
            </a:srgbClr>
          </a:solidFill>
          <a:ln/>
        </p:spPr>
        <p:txBody>
          <a:bodyPr/>
          <a:lstStyle/>
          <a:p>
            <a:endParaRPr lang="zh-CN" altLang="en-US"/>
          </a:p>
        </p:txBody>
      </p:sp>
      <p:sp>
        <p:nvSpPr>
          <p:cNvPr id="24" name="Text 22"/>
          <p:cNvSpPr/>
          <p:nvPr/>
        </p:nvSpPr>
        <p:spPr>
          <a:xfrm>
            <a:off x="6612437" y="3206676"/>
            <a:ext cx="255776" cy="227357"/>
          </a:xfrm>
          <a:prstGeom prst="rect">
            <a:avLst/>
          </a:prstGeom>
          <a:noFill/>
          <a:ln/>
        </p:spPr>
        <p:txBody>
          <a:bodyPr wrap="square" lIns="0" tIns="0" rIns="0" bIns="0" rtlCol="0" anchor="ctr"/>
          <a:lstStyle/>
          <a:p>
            <a:pPr>
              <a:lnSpc>
                <a:spcPct val="130000"/>
              </a:lnSpc>
            </a:pPr>
            <a:r>
              <a:rPr lang="en-US" sz="1193" b="1" dirty="0">
                <a:solidFill>
                  <a:srgbClr val="5F6B7A"/>
                </a:solidFill>
                <a:latin typeface="Noto Sans SC" pitchFamily="34" charset="0"/>
                <a:ea typeface="Noto Sans SC" pitchFamily="34" charset="-122"/>
                <a:cs typeface="Noto Sans SC" pitchFamily="34" charset="-120"/>
              </a:rPr>
              <a:t>L2</a:t>
            </a:r>
            <a:endParaRPr lang="en-US" sz="1600" dirty="0"/>
          </a:p>
        </p:txBody>
      </p:sp>
      <p:sp>
        <p:nvSpPr>
          <p:cNvPr id="25" name="Text 23"/>
          <p:cNvSpPr/>
          <p:nvPr/>
        </p:nvSpPr>
        <p:spPr>
          <a:xfrm>
            <a:off x="6968052" y="3206676"/>
            <a:ext cx="1894639" cy="227357"/>
          </a:xfrm>
          <a:prstGeom prst="rect">
            <a:avLst/>
          </a:prstGeom>
          <a:noFill/>
          <a:ln/>
        </p:spPr>
        <p:txBody>
          <a:bodyPr wrap="square" lIns="0" tIns="0" rIns="0" bIns="0" rtlCol="0" anchor="ctr"/>
          <a:lstStyle/>
          <a:p>
            <a:pPr>
              <a:lnSpc>
                <a:spcPct val="130000"/>
              </a:lnSpc>
            </a:pPr>
            <a:r>
              <a:rPr lang="en-US" sz="1193" b="1" dirty="0">
                <a:solidFill>
                  <a:srgbClr val="E0E2E5"/>
                </a:solidFill>
                <a:latin typeface="Noto Sans SC" pitchFamily="34" charset="0"/>
                <a:ea typeface="Noto Sans SC" pitchFamily="34" charset="-122"/>
                <a:cs typeface="Noto Sans SC" pitchFamily="34" charset="-120"/>
              </a:rPr>
              <a:t>Structure 层 &amp; System 层</a:t>
            </a:r>
            <a:endParaRPr lang="en-US" sz="1600" dirty="0"/>
          </a:p>
        </p:txBody>
      </p:sp>
      <p:sp>
        <p:nvSpPr>
          <p:cNvPr id="26" name="Text 24"/>
          <p:cNvSpPr/>
          <p:nvPr/>
        </p:nvSpPr>
        <p:spPr>
          <a:xfrm>
            <a:off x="6551231" y="3547711"/>
            <a:ext cx="5001846" cy="246303"/>
          </a:xfrm>
          <a:prstGeom prst="rect">
            <a:avLst/>
          </a:prstGeom>
          <a:noFill/>
          <a:ln/>
        </p:spPr>
        <p:txBody>
          <a:bodyPr wrap="square" lIns="0" tIns="0" rIns="0" bIns="0" rtlCol="0" anchor="ctr"/>
          <a:lstStyle/>
          <a:p>
            <a:pPr>
              <a:lnSpc>
                <a:spcPct val="140000"/>
              </a:lnSpc>
            </a:pPr>
            <a:r>
              <a:rPr lang="en-US" sz="1193" dirty="0">
                <a:solidFill>
                  <a:srgbClr val="5F6B7A"/>
                </a:solidFill>
                <a:highlight>
                  <a:srgbClr val="5F6B7A">
                    <a:alpha val="20000"/>
                  </a:srgbClr>
                </a:highlight>
                <a:latin typeface="Noto Sans SC" pitchFamily="34" charset="0"/>
                <a:ea typeface="Noto Sans SC" pitchFamily="34" charset="-122"/>
                <a:cs typeface="Noto Sans SC" pitchFamily="34" charset="-120"/>
              </a:rPr>
              <a:t>不改变单个 KV 块数学内容 </a:t>
            </a:r>
            <a:r>
              <a:rPr lang="en-US" sz="1193" dirty="0">
                <a:solidFill>
                  <a:srgbClr val="E0E2E5">
                    <a:alpha val="80000"/>
                  </a:srgbClr>
                </a:solidFill>
                <a:latin typeface="Noto Sans SC" pitchFamily="34" charset="0"/>
                <a:ea typeface="Noto Sans SC" pitchFamily="34" charset="-122"/>
                <a:cs typeface="Noto Sans SC" pitchFamily="34" charset="-120"/>
              </a:rPr>
              <a:t>，通过共享或外存置换释放 GPU HBM 空间</a:t>
            </a:r>
            <a:endParaRPr lang="en-US" sz="1600" dirty="0"/>
          </a:p>
        </p:txBody>
      </p:sp>
      <p:sp>
        <p:nvSpPr>
          <p:cNvPr id="27" name="Shape 25"/>
          <p:cNvSpPr/>
          <p:nvPr/>
        </p:nvSpPr>
        <p:spPr>
          <a:xfrm>
            <a:off x="397874" y="4248280"/>
            <a:ext cx="11415198" cy="1856746"/>
          </a:xfrm>
          <a:custGeom>
            <a:avLst/>
            <a:gdLst/>
            <a:ahLst/>
            <a:cxnLst/>
            <a:rect l="l" t="t" r="r" b="b"/>
            <a:pathLst>
              <a:path w="11415198" h="1856746">
                <a:moveTo>
                  <a:pt x="37893" y="0"/>
                </a:moveTo>
                <a:lnTo>
                  <a:pt x="11339406" y="0"/>
                </a:lnTo>
                <a:cubicBezTo>
                  <a:pt x="11381265" y="0"/>
                  <a:pt x="11415198" y="33933"/>
                  <a:pt x="11415198" y="75792"/>
                </a:cubicBezTo>
                <a:lnTo>
                  <a:pt x="11415198" y="1780954"/>
                </a:lnTo>
                <a:cubicBezTo>
                  <a:pt x="11415198" y="1822813"/>
                  <a:pt x="11381265" y="1856746"/>
                  <a:pt x="11339406" y="1856746"/>
                </a:cubicBezTo>
                <a:lnTo>
                  <a:pt x="37893" y="1856746"/>
                </a:lnTo>
                <a:cubicBezTo>
                  <a:pt x="16965" y="1856746"/>
                  <a:pt x="0" y="1839781"/>
                  <a:pt x="0" y="1818853"/>
                </a:cubicBezTo>
                <a:lnTo>
                  <a:pt x="0" y="37893"/>
                </a:lnTo>
                <a:cubicBezTo>
                  <a:pt x="0" y="16979"/>
                  <a:pt x="16979" y="0"/>
                  <a:pt x="37893" y="0"/>
                </a:cubicBezTo>
                <a:close/>
              </a:path>
            </a:pathLst>
          </a:custGeom>
          <a:solidFill>
            <a:srgbClr val="5F6B7A">
              <a:alpha val="10196"/>
            </a:srgbClr>
          </a:solidFill>
          <a:ln/>
        </p:spPr>
        <p:txBody>
          <a:bodyPr/>
          <a:lstStyle/>
          <a:p>
            <a:endParaRPr lang="zh-CN" altLang="en-US"/>
          </a:p>
        </p:txBody>
      </p:sp>
      <p:sp>
        <p:nvSpPr>
          <p:cNvPr id="28" name="Shape 26"/>
          <p:cNvSpPr/>
          <p:nvPr/>
        </p:nvSpPr>
        <p:spPr>
          <a:xfrm>
            <a:off x="397874" y="4248280"/>
            <a:ext cx="37893" cy="1856746"/>
          </a:xfrm>
          <a:custGeom>
            <a:avLst/>
            <a:gdLst/>
            <a:ahLst/>
            <a:cxnLst/>
            <a:rect l="l" t="t" r="r" b="b"/>
            <a:pathLst>
              <a:path w="37893" h="1856746">
                <a:moveTo>
                  <a:pt x="37893" y="0"/>
                </a:moveTo>
                <a:lnTo>
                  <a:pt x="37893" y="0"/>
                </a:lnTo>
                <a:lnTo>
                  <a:pt x="37893" y="1856746"/>
                </a:lnTo>
                <a:lnTo>
                  <a:pt x="37893" y="1856746"/>
                </a:lnTo>
                <a:cubicBezTo>
                  <a:pt x="16965" y="1856746"/>
                  <a:pt x="0" y="1839781"/>
                  <a:pt x="0" y="1818853"/>
                </a:cubicBezTo>
                <a:lnTo>
                  <a:pt x="0" y="37893"/>
                </a:lnTo>
                <a:cubicBezTo>
                  <a:pt x="0" y="16965"/>
                  <a:pt x="16965" y="0"/>
                  <a:pt x="37893" y="0"/>
                </a:cubicBezTo>
                <a:close/>
              </a:path>
            </a:pathLst>
          </a:custGeom>
          <a:solidFill>
            <a:srgbClr val="5F6B7A"/>
          </a:solidFill>
          <a:ln/>
        </p:spPr>
        <p:txBody>
          <a:bodyPr/>
          <a:lstStyle/>
          <a:p>
            <a:endParaRPr lang="zh-CN" altLang="en-US"/>
          </a:p>
        </p:txBody>
      </p:sp>
      <p:sp>
        <p:nvSpPr>
          <p:cNvPr id="29" name="Shape 27"/>
          <p:cNvSpPr/>
          <p:nvPr/>
        </p:nvSpPr>
        <p:spPr>
          <a:xfrm>
            <a:off x="629967" y="4475636"/>
            <a:ext cx="189464" cy="189464"/>
          </a:xfrm>
          <a:custGeom>
            <a:avLst/>
            <a:gdLst/>
            <a:ahLst/>
            <a:cxnLst/>
            <a:rect l="l" t="t" r="r" b="b"/>
            <a:pathLst>
              <a:path w="189464" h="189464">
                <a:moveTo>
                  <a:pt x="94880" y="0"/>
                </a:moveTo>
                <a:cubicBezTo>
                  <a:pt x="88330" y="0"/>
                  <a:pt x="83038" y="5292"/>
                  <a:pt x="83038" y="11841"/>
                </a:cubicBezTo>
                <a:lnTo>
                  <a:pt x="83038" y="23683"/>
                </a:lnTo>
                <a:lnTo>
                  <a:pt x="23831" y="23683"/>
                </a:lnTo>
                <a:cubicBezTo>
                  <a:pt x="17281" y="23683"/>
                  <a:pt x="11990" y="28975"/>
                  <a:pt x="11990" y="35524"/>
                </a:cubicBezTo>
                <a:lnTo>
                  <a:pt x="11990" y="59207"/>
                </a:lnTo>
                <a:cubicBezTo>
                  <a:pt x="11990" y="65757"/>
                  <a:pt x="17281" y="71049"/>
                  <a:pt x="23831" y="71049"/>
                </a:cubicBezTo>
                <a:lnTo>
                  <a:pt x="83038" y="71049"/>
                </a:lnTo>
                <a:lnTo>
                  <a:pt x="83038" y="94732"/>
                </a:lnTo>
                <a:lnTo>
                  <a:pt x="26273" y="94732"/>
                </a:lnTo>
                <a:cubicBezTo>
                  <a:pt x="24719" y="94732"/>
                  <a:pt x="23202" y="95361"/>
                  <a:pt x="22092" y="96471"/>
                </a:cubicBezTo>
                <a:lnTo>
                  <a:pt x="4330" y="114233"/>
                </a:lnTo>
                <a:cubicBezTo>
                  <a:pt x="2035" y="116528"/>
                  <a:pt x="2035" y="120302"/>
                  <a:pt x="4330" y="122596"/>
                </a:cubicBezTo>
                <a:lnTo>
                  <a:pt x="22092" y="140359"/>
                </a:lnTo>
                <a:cubicBezTo>
                  <a:pt x="23202" y="141469"/>
                  <a:pt x="24719" y="142098"/>
                  <a:pt x="26273" y="142098"/>
                </a:cubicBezTo>
                <a:lnTo>
                  <a:pt x="83038" y="142098"/>
                </a:lnTo>
                <a:lnTo>
                  <a:pt x="83038" y="177622"/>
                </a:lnTo>
                <a:cubicBezTo>
                  <a:pt x="83038" y="184172"/>
                  <a:pt x="88330" y="189464"/>
                  <a:pt x="94880" y="189464"/>
                </a:cubicBezTo>
                <a:cubicBezTo>
                  <a:pt x="101430" y="189464"/>
                  <a:pt x="106721" y="184172"/>
                  <a:pt x="106721" y="177622"/>
                </a:cubicBezTo>
                <a:lnTo>
                  <a:pt x="106721" y="142098"/>
                </a:lnTo>
                <a:lnTo>
                  <a:pt x="165929" y="142098"/>
                </a:lnTo>
                <a:cubicBezTo>
                  <a:pt x="172479" y="142098"/>
                  <a:pt x="177770" y="136806"/>
                  <a:pt x="177770" y="130256"/>
                </a:cubicBezTo>
                <a:lnTo>
                  <a:pt x="177770" y="106573"/>
                </a:lnTo>
                <a:cubicBezTo>
                  <a:pt x="177770" y="100024"/>
                  <a:pt x="172479" y="94732"/>
                  <a:pt x="165929" y="94732"/>
                </a:cubicBezTo>
                <a:lnTo>
                  <a:pt x="106721" y="94732"/>
                </a:lnTo>
                <a:lnTo>
                  <a:pt x="106721" y="71049"/>
                </a:lnTo>
                <a:lnTo>
                  <a:pt x="163487" y="71049"/>
                </a:lnTo>
                <a:cubicBezTo>
                  <a:pt x="165041" y="71049"/>
                  <a:pt x="166558" y="70420"/>
                  <a:pt x="167668" y="69310"/>
                </a:cubicBezTo>
                <a:lnTo>
                  <a:pt x="185430" y="51547"/>
                </a:lnTo>
                <a:cubicBezTo>
                  <a:pt x="187725" y="49253"/>
                  <a:pt x="187725" y="45479"/>
                  <a:pt x="185430" y="43184"/>
                </a:cubicBezTo>
                <a:lnTo>
                  <a:pt x="167668" y="25422"/>
                </a:lnTo>
                <a:cubicBezTo>
                  <a:pt x="166558" y="24312"/>
                  <a:pt x="165041" y="23683"/>
                  <a:pt x="163487" y="23683"/>
                </a:cubicBezTo>
                <a:lnTo>
                  <a:pt x="106721" y="23683"/>
                </a:lnTo>
                <a:lnTo>
                  <a:pt x="106721" y="11841"/>
                </a:lnTo>
                <a:cubicBezTo>
                  <a:pt x="106721" y="5292"/>
                  <a:pt x="101430" y="0"/>
                  <a:pt x="94880" y="0"/>
                </a:cubicBezTo>
                <a:close/>
              </a:path>
            </a:pathLst>
          </a:custGeom>
          <a:solidFill>
            <a:srgbClr val="5F6B7A"/>
          </a:solidFill>
          <a:ln/>
        </p:spPr>
        <p:txBody>
          <a:bodyPr/>
          <a:lstStyle/>
          <a:p>
            <a:endParaRPr lang="zh-CN" altLang="en-US"/>
          </a:p>
        </p:txBody>
      </p:sp>
      <p:sp>
        <p:nvSpPr>
          <p:cNvPr id="30" name="Text 28"/>
          <p:cNvSpPr/>
          <p:nvPr/>
        </p:nvSpPr>
        <p:spPr>
          <a:xfrm>
            <a:off x="843114" y="4437744"/>
            <a:ext cx="10875226" cy="265249"/>
          </a:xfrm>
          <a:prstGeom prst="rect">
            <a:avLst/>
          </a:prstGeom>
          <a:noFill/>
          <a:ln/>
        </p:spPr>
        <p:txBody>
          <a:bodyPr wrap="square" lIns="0" tIns="0" rIns="0" bIns="0" rtlCol="0" anchor="ctr"/>
          <a:lstStyle/>
          <a:p>
            <a:pPr>
              <a:lnSpc>
                <a:spcPct val="120000"/>
              </a:lnSpc>
            </a:pPr>
            <a:r>
              <a:rPr lang="en-US" sz="1492" b="1" dirty="0">
                <a:solidFill>
                  <a:srgbClr val="E0E2E5"/>
                </a:solidFill>
                <a:latin typeface="Noto Sans SC" pitchFamily="34" charset="0"/>
                <a:ea typeface="Noto Sans SC" pitchFamily="34" charset="-122"/>
                <a:cs typeface="Noto Sans SC" pitchFamily="34" charset="-120"/>
              </a:rPr>
              <a:t>场景驱动的多维混合方案</a:t>
            </a:r>
            <a:endParaRPr lang="en-US" sz="1600" dirty="0"/>
          </a:p>
        </p:txBody>
      </p:sp>
      <p:sp>
        <p:nvSpPr>
          <p:cNvPr id="31" name="Shape 29"/>
          <p:cNvSpPr/>
          <p:nvPr/>
        </p:nvSpPr>
        <p:spPr>
          <a:xfrm>
            <a:off x="606284" y="4854564"/>
            <a:ext cx="3599814" cy="1060998"/>
          </a:xfrm>
          <a:custGeom>
            <a:avLst/>
            <a:gdLst/>
            <a:ahLst/>
            <a:cxnLst/>
            <a:rect l="l" t="t" r="r" b="b"/>
            <a:pathLst>
              <a:path w="3599814" h="1060998">
                <a:moveTo>
                  <a:pt x="75787" y="0"/>
                </a:moveTo>
                <a:lnTo>
                  <a:pt x="3524026" y="0"/>
                </a:lnTo>
                <a:cubicBezTo>
                  <a:pt x="3565882" y="0"/>
                  <a:pt x="3599814" y="33931"/>
                  <a:pt x="3599814" y="75787"/>
                </a:cubicBezTo>
                <a:lnTo>
                  <a:pt x="3599814" y="985211"/>
                </a:lnTo>
                <a:cubicBezTo>
                  <a:pt x="3599814" y="1027067"/>
                  <a:pt x="3565882" y="1060998"/>
                  <a:pt x="3524026" y="1060998"/>
                </a:cubicBezTo>
                <a:lnTo>
                  <a:pt x="75787" y="1060998"/>
                </a:lnTo>
                <a:cubicBezTo>
                  <a:pt x="33931" y="1060998"/>
                  <a:pt x="0" y="1027067"/>
                  <a:pt x="0" y="985211"/>
                </a:cubicBezTo>
                <a:lnTo>
                  <a:pt x="0" y="75787"/>
                </a:lnTo>
                <a:cubicBezTo>
                  <a:pt x="0" y="33959"/>
                  <a:pt x="33959" y="0"/>
                  <a:pt x="75787" y="0"/>
                </a:cubicBezTo>
                <a:close/>
              </a:path>
            </a:pathLst>
          </a:custGeom>
          <a:solidFill>
            <a:srgbClr val="1A1D21">
              <a:alpha val="50196"/>
            </a:srgbClr>
          </a:solidFill>
          <a:ln/>
        </p:spPr>
        <p:txBody>
          <a:bodyPr/>
          <a:lstStyle/>
          <a:p>
            <a:endParaRPr lang="zh-CN" altLang="en-US"/>
          </a:p>
        </p:txBody>
      </p:sp>
      <p:sp>
        <p:nvSpPr>
          <p:cNvPr id="32" name="Shape 30"/>
          <p:cNvSpPr/>
          <p:nvPr/>
        </p:nvSpPr>
        <p:spPr>
          <a:xfrm>
            <a:off x="786275" y="5044028"/>
            <a:ext cx="132625" cy="151571"/>
          </a:xfrm>
          <a:custGeom>
            <a:avLst/>
            <a:gdLst/>
            <a:ahLst/>
            <a:cxnLst/>
            <a:rect l="l" t="t" r="r" b="b"/>
            <a:pathLst>
              <a:path w="132625" h="151571">
                <a:moveTo>
                  <a:pt x="100297" y="-2931"/>
                </a:moveTo>
                <a:cubicBezTo>
                  <a:pt x="103820" y="-385"/>
                  <a:pt x="105123" y="4233"/>
                  <a:pt x="103524" y="8259"/>
                </a:cubicBezTo>
                <a:lnTo>
                  <a:pt x="80315" y="66312"/>
                </a:lnTo>
                <a:lnTo>
                  <a:pt x="123152" y="66312"/>
                </a:lnTo>
                <a:cubicBezTo>
                  <a:pt x="127148" y="66312"/>
                  <a:pt x="130700" y="68799"/>
                  <a:pt x="132062" y="72559"/>
                </a:cubicBezTo>
                <a:cubicBezTo>
                  <a:pt x="133424" y="76318"/>
                  <a:pt x="132269" y="80522"/>
                  <a:pt x="129220" y="83068"/>
                </a:cubicBezTo>
                <a:lnTo>
                  <a:pt x="43962" y="154117"/>
                </a:lnTo>
                <a:cubicBezTo>
                  <a:pt x="40616" y="156900"/>
                  <a:pt x="35850" y="157048"/>
                  <a:pt x="32327" y="154502"/>
                </a:cubicBezTo>
                <a:cubicBezTo>
                  <a:pt x="28804" y="151956"/>
                  <a:pt x="27502" y="147338"/>
                  <a:pt x="29100" y="143312"/>
                </a:cubicBezTo>
                <a:lnTo>
                  <a:pt x="52310" y="85259"/>
                </a:lnTo>
                <a:lnTo>
                  <a:pt x="9473" y="85259"/>
                </a:lnTo>
                <a:cubicBezTo>
                  <a:pt x="5477" y="85259"/>
                  <a:pt x="1924" y="82772"/>
                  <a:pt x="562" y="79012"/>
                </a:cubicBezTo>
                <a:cubicBezTo>
                  <a:pt x="-799" y="75253"/>
                  <a:pt x="355" y="71049"/>
                  <a:pt x="3404" y="68503"/>
                </a:cubicBezTo>
                <a:lnTo>
                  <a:pt x="88663" y="-2546"/>
                </a:lnTo>
                <a:cubicBezTo>
                  <a:pt x="92008" y="-5329"/>
                  <a:pt x="96775" y="-5477"/>
                  <a:pt x="100297" y="-2931"/>
                </a:cubicBezTo>
                <a:close/>
              </a:path>
            </a:pathLst>
          </a:custGeom>
          <a:solidFill>
            <a:srgbClr val="3D8B75"/>
          </a:solidFill>
          <a:ln/>
        </p:spPr>
        <p:txBody>
          <a:bodyPr/>
          <a:lstStyle/>
          <a:p>
            <a:endParaRPr lang="zh-CN" altLang="en-US"/>
          </a:p>
        </p:txBody>
      </p:sp>
      <p:sp>
        <p:nvSpPr>
          <p:cNvPr id="33" name="Text 31"/>
          <p:cNvSpPr/>
          <p:nvPr/>
        </p:nvSpPr>
        <p:spPr>
          <a:xfrm>
            <a:off x="1023105" y="5006135"/>
            <a:ext cx="1288354" cy="227357"/>
          </a:xfrm>
          <a:prstGeom prst="rect">
            <a:avLst/>
          </a:prstGeom>
          <a:noFill/>
          <a:ln/>
        </p:spPr>
        <p:txBody>
          <a:bodyPr wrap="square" lIns="0" tIns="0" rIns="0" bIns="0" rtlCol="0" anchor="ctr"/>
          <a:lstStyle/>
          <a:p>
            <a:pPr>
              <a:lnSpc>
                <a:spcPct val="130000"/>
              </a:lnSpc>
            </a:pPr>
            <a:r>
              <a:rPr lang="en-US" sz="1193" b="1" dirty="0">
                <a:solidFill>
                  <a:srgbClr val="E0E2E5"/>
                </a:solidFill>
                <a:latin typeface="Noto Sans SC" pitchFamily="34" charset="0"/>
                <a:ea typeface="Noto Sans SC" pitchFamily="34" charset="-122"/>
                <a:cs typeface="Noto Sans SC" pitchFamily="34" charset="-120"/>
              </a:rPr>
              <a:t>高并发短文本场景</a:t>
            </a:r>
            <a:endParaRPr lang="en-US" sz="1600" dirty="0"/>
          </a:p>
        </p:txBody>
      </p:sp>
      <p:sp>
        <p:nvSpPr>
          <p:cNvPr id="34" name="Text 32"/>
          <p:cNvSpPr/>
          <p:nvPr/>
        </p:nvSpPr>
        <p:spPr>
          <a:xfrm>
            <a:off x="757855" y="5309278"/>
            <a:ext cx="3362984" cy="189464"/>
          </a:xfrm>
          <a:prstGeom prst="rect">
            <a:avLst/>
          </a:prstGeom>
          <a:noFill/>
          <a:ln/>
        </p:spPr>
        <p:txBody>
          <a:bodyPr wrap="square" lIns="0" tIns="0" rIns="0" bIns="0" rtlCol="0" anchor="ctr"/>
          <a:lstStyle/>
          <a:p>
            <a:pPr>
              <a:lnSpc>
                <a:spcPct val="120000"/>
              </a:lnSpc>
            </a:pPr>
            <a:r>
              <a:rPr lang="en-US" sz="1044" dirty="0">
                <a:solidFill>
                  <a:srgbClr val="E0E2E5">
                    <a:alpha val="70000"/>
                  </a:srgbClr>
                </a:solidFill>
                <a:latin typeface="Noto Sans SC" pitchFamily="34" charset="0"/>
                <a:ea typeface="Noto Sans SC" pitchFamily="34" charset="-122"/>
                <a:cs typeface="Noto Sans SC" pitchFamily="34" charset="-120"/>
              </a:rPr>
              <a:t>API 问答</a:t>
            </a:r>
            <a:endParaRPr lang="en-US" sz="1600" dirty="0"/>
          </a:p>
        </p:txBody>
      </p:sp>
      <p:sp>
        <p:nvSpPr>
          <p:cNvPr id="35" name="Text 33"/>
          <p:cNvSpPr/>
          <p:nvPr/>
        </p:nvSpPr>
        <p:spPr>
          <a:xfrm>
            <a:off x="757855" y="5574527"/>
            <a:ext cx="3362984" cy="189464"/>
          </a:xfrm>
          <a:prstGeom prst="rect">
            <a:avLst/>
          </a:prstGeom>
          <a:noFill/>
          <a:ln/>
        </p:spPr>
        <p:txBody>
          <a:bodyPr wrap="square" lIns="0" tIns="0" rIns="0" bIns="0" rtlCol="0" anchor="ctr"/>
          <a:lstStyle/>
          <a:p>
            <a:pPr>
              <a:lnSpc>
                <a:spcPct val="120000"/>
              </a:lnSpc>
            </a:pPr>
            <a:r>
              <a:rPr lang="en-US" sz="1044" b="1" dirty="0">
                <a:solidFill>
                  <a:srgbClr val="3D8B75"/>
                </a:solidFill>
                <a:latin typeface="Noto Sans SC" pitchFamily="34" charset="0"/>
                <a:ea typeface="Noto Sans SC" pitchFamily="34" charset="-122"/>
                <a:cs typeface="Noto Sans SC" pitchFamily="34" charset="-120"/>
              </a:rPr>
              <a:t>推荐：</a:t>
            </a:r>
            <a:r>
              <a:rPr lang="en-US" sz="1044" dirty="0">
                <a:solidFill>
                  <a:srgbClr val="3D8B75"/>
                </a:solidFill>
                <a:latin typeface="Noto Sans SC" pitchFamily="34" charset="0"/>
                <a:ea typeface="Noto Sans SC" pitchFamily="34" charset="-122"/>
                <a:cs typeface="Noto Sans SC" pitchFamily="34" charset="-120"/>
              </a:rPr>
              <a:t>Paging + Prefix Caching</a:t>
            </a:r>
            <a:endParaRPr lang="en-US" sz="1600" dirty="0"/>
          </a:p>
        </p:txBody>
      </p:sp>
      <p:sp>
        <p:nvSpPr>
          <p:cNvPr id="36" name="Shape 34"/>
          <p:cNvSpPr/>
          <p:nvPr/>
        </p:nvSpPr>
        <p:spPr>
          <a:xfrm>
            <a:off x="4316964" y="4854564"/>
            <a:ext cx="3599814" cy="1060998"/>
          </a:xfrm>
          <a:custGeom>
            <a:avLst/>
            <a:gdLst/>
            <a:ahLst/>
            <a:cxnLst/>
            <a:rect l="l" t="t" r="r" b="b"/>
            <a:pathLst>
              <a:path w="3599814" h="1060998">
                <a:moveTo>
                  <a:pt x="75787" y="0"/>
                </a:moveTo>
                <a:lnTo>
                  <a:pt x="3524026" y="0"/>
                </a:lnTo>
                <a:cubicBezTo>
                  <a:pt x="3565882" y="0"/>
                  <a:pt x="3599814" y="33931"/>
                  <a:pt x="3599814" y="75787"/>
                </a:cubicBezTo>
                <a:lnTo>
                  <a:pt x="3599814" y="985211"/>
                </a:lnTo>
                <a:cubicBezTo>
                  <a:pt x="3599814" y="1027067"/>
                  <a:pt x="3565882" y="1060998"/>
                  <a:pt x="3524026" y="1060998"/>
                </a:cubicBezTo>
                <a:lnTo>
                  <a:pt x="75787" y="1060998"/>
                </a:lnTo>
                <a:cubicBezTo>
                  <a:pt x="33931" y="1060998"/>
                  <a:pt x="0" y="1027067"/>
                  <a:pt x="0" y="985211"/>
                </a:cubicBezTo>
                <a:lnTo>
                  <a:pt x="0" y="75787"/>
                </a:lnTo>
                <a:cubicBezTo>
                  <a:pt x="0" y="33959"/>
                  <a:pt x="33959" y="0"/>
                  <a:pt x="75787" y="0"/>
                </a:cubicBezTo>
                <a:close/>
              </a:path>
            </a:pathLst>
          </a:custGeom>
          <a:solidFill>
            <a:srgbClr val="1A1D21">
              <a:alpha val="50196"/>
            </a:srgbClr>
          </a:solidFill>
          <a:ln/>
        </p:spPr>
        <p:txBody>
          <a:bodyPr/>
          <a:lstStyle/>
          <a:p>
            <a:endParaRPr lang="zh-CN" altLang="en-US"/>
          </a:p>
        </p:txBody>
      </p:sp>
      <p:sp>
        <p:nvSpPr>
          <p:cNvPr id="37" name="Shape 35"/>
          <p:cNvSpPr/>
          <p:nvPr/>
        </p:nvSpPr>
        <p:spPr>
          <a:xfrm>
            <a:off x="4506428" y="5044028"/>
            <a:ext cx="113678" cy="151571"/>
          </a:xfrm>
          <a:custGeom>
            <a:avLst/>
            <a:gdLst/>
            <a:ahLst/>
            <a:cxnLst/>
            <a:rect l="l" t="t" r="r" b="b"/>
            <a:pathLst>
              <a:path w="113678" h="151571">
                <a:moveTo>
                  <a:pt x="0" y="18946"/>
                </a:moveTo>
                <a:cubicBezTo>
                  <a:pt x="0" y="8496"/>
                  <a:pt x="8496" y="0"/>
                  <a:pt x="18946" y="0"/>
                </a:cubicBezTo>
                <a:lnTo>
                  <a:pt x="63204" y="0"/>
                </a:lnTo>
                <a:cubicBezTo>
                  <a:pt x="68237" y="0"/>
                  <a:pt x="73062" y="1983"/>
                  <a:pt x="76614" y="5536"/>
                </a:cubicBezTo>
                <a:lnTo>
                  <a:pt x="108142" y="37093"/>
                </a:lnTo>
                <a:cubicBezTo>
                  <a:pt x="111695" y="40646"/>
                  <a:pt x="113678" y="45471"/>
                  <a:pt x="113678" y="50504"/>
                </a:cubicBezTo>
                <a:lnTo>
                  <a:pt x="113678" y="132625"/>
                </a:lnTo>
                <a:cubicBezTo>
                  <a:pt x="113678" y="143075"/>
                  <a:pt x="105182" y="151571"/>
                  <a:pt x="94732" y="151571"/>
                </a:cubicBezTo>
                <a:lnTo>
                  <a:pt x="18946" y="151571"/>
                </a:lnTo>
                <a:cubicBezTo>
                  <a:pt x="8496" y="151571"/>
                  <a:pt x="0" y="143075"/>
                  <a:pt x="0" y="132625"/>
                </a:cubicBezTo>
                <a:lnTo>
                  <a:pt x="0" y="18946"/>
                </a:lnTo>
                <a:close/>
                <a:moveTo>
                  <a:pt x="61576" y="17318"/>
                </a:moveTo>
                <a:lnTo>
                  <a:pt x="61576" y="44998"/>
                </a:lnTo>
                <a:cubicBezTo>
                  <a:pt x="61576" y="48935"/>
                  <a:pt x="64743" y="52103"/>
                  <a:pt x="68681" y="52103"/>
                </a:cubicBezTo>
                <a:lnTo>
                  <a:pt x="96360" y="52103"/>
                </a:lnTo>
                <a:lnTo>
                  <a:pt x="61576" y="17318"/>
                </a:lnTo>
                <a:close/>
                <a:moveTo>
                  <a:pt x="35524" y="75786"/>
                </a:moveTo>
                <a:cubicBezTo>
                  <a:pt x="31587" y="75786"/>
                  <a:pt x="28420" y="78953"/>
                  <a:pt x="28420" y="82890"/>
                </a:cubicBezTo>
                <a:cubicBezTo>
                  <a:pt x="28420" y="86828"/>
                  <a:pt x="31587" y="89995"/>
                  <a:pt x="35524" y="89995"/>
                </a:cubicBezTo>
                <a:lnTo>
                  <a:pt x="78154" y="89995"/>
                </a:lnTo>
                <a:cubicBezTo>
                  <a:pt x="82091" y="89995"/>
                  <a:pt x="85259" y="86828"/>
                  <a:pt x="85259" y="82890"/>
                </a:cubicBezTo>
                <a:cubicBezTo>
                  <a:pt x="85259" y="78953"/>
                  <a:pt x="82091" y="75786"/>
                  <a:pt x="78154" y="75786"/>
                </a:cubicBezTo>
                <a:lnTo>
                  <a:pt x="35524" y="75786"/>
                </a:lnTo>
                <a:close/>
                <a:moveTo>
                  <a:pt x="35524" y="104205"/>
                </a:moveTo>
                <a:cubicBezTo>
                  <a:pt x="31587" y="104205"/>
                  <a:pt x="28420" y="107373"/>
                  <a:pt x="28420" y="111310"/>
                </a:cubicBezTo>
                <a:cubicBezTo>
                  <a:pt x="28420" y="115247"/>
                  <a:pt x="31587" y="118415"/>
                  <a:pt x="35524" y="118415"/>
                </a:cubicBezTo>
                <a:lnTo>
                  <a:pt x="78154" y="118415"/>
                </a:lnTo>
                <a:cubicBezTo>
                  <a:pt x="82091" y="118415"/>
                  <a:pt x="85259" y="115247"/>
                  <a:pt x="85259" y="111310"/>
                </a:cubicBezTo>
                <a:cubicBezTo>
                  <a:pt x="85259" y="107373"/>
                  <a:pt x="82091" y="104205"/>
                  <a:pt x="78154" y="104205"/>
                </a:cubicBezTo>
                <a:lnTo>
                  <a:pt x="35524" y="104205"/>
                </a:lnTo>
                <a:close/>
              </a:path>
            </a:pathLst>
          </a:custGeom>
          <a:solidFill>
            <a:srgbClr val="C9A86A"/>
          </a:solidFill>
          <a:ln/>
        </p:spPr>
        <p:txBody>
          <a:bodyPr/>
          <a:lstStyle/>
          <a:p>
            <a:endParaRPr lang="zh-CN" altLang="en-US"/>
          </a:p>
        </p:txBody>
      </p:sp>
      <p:sp>
        <p:nvSpPr>
          <p:cNvPr id="38" name="Text 36"/>
          <p:cNvSpPr/>
          <p:nvPr/>
        </p:nvSpPr>
        <p:spPr>
          <a:xfrm>
            <a:off x="4733784" y="5006135"/>
            <a:ext cx="1136783" cy="227357"/>
          </a:xfrm>
          <a:prstGeom prst="rect">
            <a:avLst/>
          </a:prstGeom>
          <a:noFill/>
          <a:ln/>
        </p:spPr>
        <p:txBody>
          <a:bodyPr wrap="square" lIns="0" tIns="0" rIns="0" bIns="0" rtlCol="0" anchor="ctr"/>
          <a:lstStyle/>
          <a:p>
            <a:pPr>
              <a:lnSpc>
                <a:spcPct val="130000"/>
              </a:lnSpc>
            </a:pPr>
            <a:r>
              <a:rPr lang="en-US" sz="1193" b="1" dirty="0">
                <a:solidFill>
                  <a:srgbClr val="E0E2E5"/>
                </a:solidFill>
                <a:latin typeface="Noto Sans SC" pitchFamily="34" charset="0"/>
                <a:ea typeface="Noto Sans SC" pitchFamily="34" charset="-122"/>
                <a:cs typeface="Noto Sans SC" pitchFamily="34" charset="-120"/>
              </a:rPr>
              <a:t>超长上下文场景</a:t>
            </a:r>
            <a:endParaRPr lang="en-US" sz="1600" dirty="0"/>
          </a:p>
        </p:txBody>
      </p:sp>
      <p:sp>
        <p:nvSpPr>
          <p:cNvPr id="39" name="Text 37"/>
          <p:cNvSpPr/>
          <p:nvPr/>
        </p:nvSpPr>
        <p:spPr>
          <a:xfrm>
            <a:off x="4468535" y="5309278"/>
            <a:ext cx="3362984" cy="189464"/>
          </a:xfrm>
          <a:prstGeom prst="rect">
            <a:avLst/>
          </a:prstGeom>
          <a:noFill/>
          <a:ln/>
        </p:spPr>
        <p:txBody>
          <a:bodyPr wrap="square" lIns="0" tIns="0" rIns="0" bIns="0" rtlCol="0" anchor="ctr"/>
          <a:lstStyle/>
          <a:p>
            <a:pPr>
              <a:lnSpc>
                <a:spcPct val="120000"/>
              </a:lnSpc>
            </a:pPr>
            <a:r>
              <a:rPr lang="en-US" sz="1044" dirty="0">
                <a:solidFill>
                  <a:srgbClr val="E0E2E5">
                    <a:alpha val="70000"/>
                  </a:srgbClr>
                </a:solidFill>
                <a:latin typeface="Noto Sans SC" pitchFamily="34" charset="0"/>
                <a:ea typeface="Noto Sans SC" pitchFamily="34" charset="-122"/>
                <a:cs typeface="Noto Sans SC" pitchFamily="34" charset="-120"/>
              </a:rPr>
              <a:t>RAG / 文档分析</a:t>
            </a:r>
            <a:endParaRPr lang="en-US" sz="1600" dirty="0"/>
          </a:p>
        </p:txBody>
      </p:sp>
      <p:sp>
        <p:nvSpPr>
          <p:cNvPr id="40" name="Text 38"/>
          <p:cNvSpPr/>
          <p:nvPr/>
        </p:nvSpPr>
        <p:spPr>
          <a:xfrm>
            <a:off x="4468535" y="5574527"/>
            <a:ext cx="3362984" cy="189464"/>
          </a:xfrm>
          <a:prstGeom prst="rect">
            <a:avLst/>
          </a:prstGeom>
          <a:noFill/>
          <a:ln/>
        </p:spPr>
        <p:txBody>
          <a:bodyPr wrap="square" lIns="0" tIns="0" rIns="0" bIns="0" rtlCol="0" anchor="ctr"/>
          <a:lstStyle/>
          <a:p>
            <a:pPr>
              <a:lnSpc>
                <a:spcPct val="120000"/>
              </a:lnSpc>
            </a:pPr>
            <a:r>
              <a:rPr lang="en-US" sz="1044" b="1" dirty="0">
                <a:solidFill>
                  <a:srgbClr val="C9A86A"/>
                </a:solidFill>
                <a:latin typeface="Noto Sans SC" pitchFamily="34" charset="0"/>
                <a:ea typeface="Noto Sans SC" pitchFamily="34" charset="-122"/>
                <a:cs typeface="Noto Sans SC" pitchFamily="34" charset="-120"/>
              </a:rPr>
              <a:t>推荐：</a:t>
            </a:r>
            <a:r>
              <a:rPr lang="en-US" sz="1044" dirty="0">
                <a:solidFill>
                  <a:srgbClr val="C9A86A"/>
                </a:solidFill>
                <a:latin typeface="Noto Sans SC" pitchFamily="34" charset="0"/>
                <a:ea typeface="Noto Sans SC" pitchFamily="34" charset="-122"/>
                <a:cs typeface="Noto Sans SC" pitchFamily="34" charset="-120"/>
              </a:rPr>
              <a:t>Token Pruning + 3-bit 量化</a:t>
            </a:r>
            <a:endParaRPr lang="en-US" sz="1600" dirty="0"/>
          </a:p>
        </p:txBody>
      </p:sp>
      <p:sp>
        <p:nvSpPr>
          <p:cNvPr id="41" name="Shape 39"/>
          <p:cNvSpPr/>
          <p:nvPr/>
        </p:nvSpPr>
        <p:spPr>
          <a:xfrm>
            <a:off x="8027643" y="4854564"/>
            <a:ext cx="3599814" cy="1060998"/>
          </a:xfrm>
          <a:custGeom>
            <a:avLst/>
            <a:gdLst/>
            <a:ahLst/>
            <a:cxnLst/>
            <a:rect l="l" t="t" r="r" b="b"/>
            <a:pathLst>
              <a:path w="3599814" h="1060998">
                <a:moveTo>
                  <a:pt x="75787" y="0"/>
                </a:moveTo>
                <a:lnTo>
                  <a:pt x="3524026" y="0"/>
                </a:lnTo>
                <a:cubicBezTo>
                  <a:pt x="3565882" y="0"/>
                  <a:pt x="3599814" y="33931"/>
                  <a:pt x="3599814" y="75787"/>
                </a:cubicBezTo>
                <a:lnTo>
                  <a:pt x="3599814" y="985211"/>
                </a:lnTo>
                <a:cubicBezTo>
                  <a:pt x="3599814" y="1027067"/>
                  <a:pt x="3565882" y="1060998"/>
                  <a:pt x="3524026" y="1060998"/>
                </a:cubicBezTo>
                <a:lnTo>
                  <a:pt x="75787" y="1060998"/>
                </a:lnTo>
                <a:cubicBezTo>
                  <a:pt x="33931" y="1060998"/>
                  <a:pt x="0" y="1027067"/>
                  <a:pt x="0" y="985211"/>
                </a:cubicBezTo>
                <a:lnTo>
                  <a:pt x="0" y="75787"/>
                </a:lnTo>
                <a:cubicBezTo>
                  <a:pt x="0" y="33959"/>
                  <a:pt x="33959" y="0"/>
                  <a:pt x="75787" y="0"/>
                </a:cubicBezTo>
                <a:close/>
              </a:path>
            </a:pathLst>
          </a:custGeom>
          <a:solidFill>
            <a:srgbClr val="1A1D21">
              <a:alpha val="50196"/>
            </a:srgbClr>
          </a:solidFill>
          <a:ln/>
        </p:spPr>
        <p:txBody>
          <a:bodyPr/>
          <a:lstStyle/>
          <a:p>
            <a:endParaRPr lang="zh-CN" altLang="en-US"/>
          </a:p>
        </p:txBody>
      </p:sp>
      <p:sp>
        <p:nvSpPr>
          <p:cNvPr id="42" name="Shape 40"/>
          <p:cNvSpPr/>
          <p:nvPr/>
        </p:nvSpPr>
        <p:spPr>
          <a:xfrm>
            <a:off x="8198161" y="5044028"/>
            <a:ext cx="151571" cy="151571"/>
          </a:xfrm>
          <a:custGeom>
            <a:avLst/>
            <a:gdLst/>
            <a:ahLst/>
            <a:cxnLst/>
            <a:rect l="l" t="t" r="r" b="b"/>
            <a:pathLst>
              <a:path w="151571" h="151571">
                <a:moveTo>
                  <a:pt x="119540" y="10184"/>
                </a:moveTo>
                <a:cubicBezTo>
                  <a:pt x="123092" y="8703"/>
                  <a:pt x="127148" y="9532"/>
                  <a:pt x="129872" y="12226"/>
                </a:cubicBezTo>
                <a:lnTo>
                  <a:pt x="148818" y="31173"/>
                </a:lnTo>
                <a:cubicBezTo>
                  <a:pt x="150594" y="32949"/>
                  <a:pt x="151601" y="35347"/>
                  <a:pt x="151601" y="37863"/>
                </a:cubicBezTo>
                <a:cubicBezTo>
                  <a:pt x="151601" y="40379"/>
                  <a:pt x="150594" y="42777"/>
                  <a:pt x="148818" y="44554"/>
                </a:cubicBezTo>
                <a:lnTo>
                  <a:pt x="129872" y="63500"/>
                </a:lnTo>
                <a:cubicBezTo>
                  <a:pt x="127148" y="66224"/>
                  <a:pt x="123092" y="67023"/>
                  <a:pt x="119540" y="65543"/>
                </a:cubicBezTo>
                <a:cubicBezTo>
                  <a:pt x="115987" y="64062"/>
                  <a:pt x="113678" y="60658"/>
                  <a:pt x="113678" y="56839"/>
                </a:cubicBezTo>
                <a:lnTo>
                  <a:pt x="113678" y="47366"/>
                </a:lnTo>
                <a:lnTo>
                  <a:pt x="104205" y="47366"/>
                </a:lnTo>
                <a:cubicBezTo>
                  <a:pt x="101215" y="47366"/>
                  <a:pt x="98403" y="48757"/>
                  <a:pt x="96627" y="51155"/>
                </a:cubicBezTo>
                <a:lnTo>
                  <a:pt x="87035" y="63944"/>
                </a:lnTo>
                <a:lnTo>
                  <a:pt x="75193" y="48165"/>
                </a:lnTo>
                <a:lnTo>
                  <a:pt x="81469" y="39787"/>
                </a:lnTo>
                <a:cubicBezTo>
                  <a:pt x="86828" y="32623"/>
                  <a:pt x="95265" y="28420"/>
                  <a:pt x="104205" y="28420"/>
                </a:cubicBezTo>
                <a:lnTo>
                  <a:pt x="113678" y="28420"/>
                </a:lnTo>
                <a:lnTo>
                  <a:pt x="113678" y="18946"/>
                </a:lnTo>
                <a:cubicBezTo>
                  <a:pt x="113678" y="15128"/>
                  <a:pt x="115987" y="11664"/>
                  <a:pt x="119540" y="10184"/>
                </a:cubicBezTo>
                <a:close/>
                <a:moveTo>
                  <a:pt x="45590" y="87627"/>
                </a:moveTo>
                <a:lnTo>
                  <a:pt x="57431" y="103406"/>
                </a:lnTo>
                <a:lnTo>
                  <a:pt x="51155" y="111784"/>
                </a:lnTo>
                <a:cubicBezTo>
                  <a:pt x="45797" y="118948"/>
                  <a:pt x="37360" y="123152"/>
                  <a:pt x="28420" y="123152"/>
                </a:cubicBezTo>
                <a:lnTo>
                  <a:pt x="9473" y="123152"/>
                </a:lnTo>
                <a:cubicBezTo>
                  <a:pt x="4233" y="123152"/>
                  <a:pt x="0" y="118918"/>
                  <a:pt x="0" y="113678"/>
                </a:cubicBezTo>
                <a:cubicBezTo>
                  <a:pt x="0" y="108438"/>
                  <a:pt x="4233" y="104205"/>
                  <a:pt x="9473" y="104205"/>
                </a:cubicBezTo>
                <a:lnTo>
                  <a:pt x="28420" y="104205"/>
                </a:lnTo>
                <a:cubicBezTo>
                  <a:pt x="31410" y="104205"/>
                  <a:pt x="34222" y="102814"/>
                  <a:pt x="35998" y="100416"/>
                </a:cubicBezTo>
                <a:lnTo>
                  <a:pt x="45590" y="87627"/>
                </a:lnTo>
                <a:close/>
                <a:moveTo>
                  <a:pt x="129842" y="139315"/>
                </a:moveTo>
                <a:cubicBezTo>
                  <a:pt x="127118" y="142039"/>
                  <a:pt x="123063" y="142838"/>
                  <a:pt x="119510" y="141358"/>
                </a:cubicBezTo>
                <a:cubicBezTo>
                  <a:pt x="115958" y="139878"/>
                  <a:pt x="113678" y="136444"/>
                  <a:pt x="113678" y="132625"/>
                </a:cubicBezTo>
                <a:lnTo>
                  <a:pt x="113678" y="123152"/>
                </a:lnTo>
                <a:lnTo>
                  <a:pt x="104205" y="123152"/>
                </a:lnTo>
                <a:cubicBezTo>
                  <a:pt x="95265" y="123152"/>
                  <a:pt x="86828" y="118948"/>
                  <a:pt x="81469" y="111784"/>
                </a:cubicBezTo>
                <a:lnTo>
                  <a:pt x="35998" y="51155"/>
                </a:lnTo>
                <a:cubicBezTo>
                  <a:pt x="34222" y="48757"/>
                  <a:pt x="31410" y="47366"/>
                  <a:pt x="28420" y="47366"/>
                </a:cubicBezTo>
                <a:lnTo>
                  <a:pt x="9473" y="47366"/>
                </a:lnTo>
                <a:cubicBezTo>
                  <a:pt x="4233" y="47366"/>
                  <a:pt x="0" y="43133"/>
                  <a:pt x="0" y="37893"/>
                </a:cubicBezTo>
                <a:cubicBezTo>
                  <a:pt x="0" y="32653"/>
                  <a:pt x="4233" y="28420"/>
                  <a:pt x="9473" y="28420"/>
                </a:cubicBezTo>
                <a:lnTo>
                  <a:pt x="28420" y="28420"/>
                </a:lnTo>
                <a:cubicBezTo>
                  <a:pt x="37360" y="28420"/>
                  <a:pt x="45797" y="32623"/>
                  <a:pt x="51155" y="39787"/>
                </a:cubicBezTo>
                <a:lnTo>
                  <a:pt x="96627" y="100416"/>
                </a:lnTo>
                <a:cubicBezTo>
                  <a:pt x="98403" y="102814"/>
                  <a:pt x="101215" y="104205"/>
                  <a:pt x="104205" y="104205"/>
                </a:cubicBezTo>
                <a:lnTo>
                  <a:pt x="113678" y="104205"/>
                </a:lnTo>
                <a:lnTo>
                  <a:pt x="113678" y="94732"/>
                </a:lnTo>
                <a:cubicBezTo>
                  <a:pt x="113678" y="90913"/>
                  <a:pt x="115987" y="87449"/>
                  <a:pt x="119540" y="85969"/>
                </a:cubicBezTo>
                <a:cubicBezTo>
                  <a:pt x="123092" y="84489"/>
                  <a:pt x="127148" y="85318"/>
                  <a:pt x="129872" y="88012"/>
                </a:cubicBezTo>
                <a:lnTo>
                  <a:pt x="148818" y="106958"/>
                </a:lnTo>
                <a:cubicBezTo>
                  <a:pt x="150594" y="108734"/>
                  <a:pt x="151601" y="111132"/>
                  <a:pt x="151601" y="113649"/>
                </a:cubicBezTo>
                <a:cubicBezTo>
                  <a:pt x="151601" y="116165"/>
                  <a:pt x="150594" y="118563"/>
                  <a:pt x="148818" y="120339"/>
                </a:cubicBezTo>
                <a:lnTo>
                  <a:pt x="129872" y="139286"/>
                </a:lnTo>
                <a:close/>
              </a:path>
            </a:pathLst>
          </a:custGeom>
          <a:solidFill>
            <a:srgbClr val="5F6B7A"/>
          </a:solidFill>
          <a:ln/>
        </p:spPr>
        <p:txBody>
          <a:bodyPr/>
          <a:lstStyle/>
          <a:p>
            <a:endParaRPr lang="zh-CN" altLang="en-US"/>
          </a:p>
        </p:txBody>
      </p:sp>
      <p:sp>
        <p:nvSpPr>
          <p:cNvPr id="43" name="Text 41"/>
          <p:cNvSpPr/>
          <p:nvPr/>
        </p:nvSpPr>
        <p:spPr>
          <a:xfrm>
            <a:off x="8444464" y="5006135"/>
            <a:ext cx="1136783" cy="227357"/>
          </a:xfrm>
          <a:prstGeom prst="rect">
            <a:avLst/>
          </a:prstGeom>
          <a:noFill/>
          <a:ln/>
        </p:spPr>
        <p:txBody>
          <a:bodyPr wrap="square" lIns="0" tIns="0" rIns="0" bIns="0" rtlCol="0" anchor="ctr"/>
          <a:lstStyle/>
          <a:p>
            <a:pPr>
              <a:lnSpc>
                <a:spcPct val="130000"/>
              </a:lnSpc>
            </a:pPr>
            <a:r>
              <a:rPr lang="en-US" sz="1193" b="1" dirty="0">
                <a:solidFill>
                  <a:srgbClr val="E0E2E5"/>
                </a:solidFill>
                <a:latin typeface="Noto Sans SC" pitchFamily="34" charset="0"/>
                <a:ea typeface="Noto Sans SC" pitchFamily="34" charset="-122"/>
                <a:cs typeface="Noto Sans SC" pitchFamily="34" charset="-120"/>
              </a:rPr>
              <a:t>多模型路由服务</a:t>
            </a:r>
            <a:endParaRPr lang="en-US" sz="1600" dirty="0"/>
          </a:p>
        </p:txBody>
      </p:sp>
      <p:sp>
        <p:nvSpPr>
          <p:cNvPr id="44" name="Text 42"/>
          <p:cNvSpPr/>
          <p:nvPr/>
        </p:nvSpPr>
        <p:spPr>
          <a:xfrm>
            <a:off x="8179214" y="5309278"/>
            <a:ext cx="3362984" cy="189464"/>
          </a:xfrm>
          <a:prstGeom prst="rect">
            <a:avLst/>
          </a:prstGeom>
          <a:noFill/>
          <a:ln/>
        </p:spPr>
        <p:txBody>
          <a:bodyPr wrap="square" lIns="0" tIns="0" rIns="0" bIns="0" rtlCol="0" anchor="ctr"/>
          <a:lstStyle/>
          <a:p>
            <a:pPr>
              <a:lnSpc>
                <a:spcPct val="120000"/>
              </a:lnSpc>
            </a:pPr>
            <a:r>
              <a:rPr lang="en-US" sz="1044" dirty="0">
                <a:solidFill>
                  <a:srgbClr val="E0E2E5">
                    <a:alpha val="70000"/>
                  </a:srgbClr>
                </a:solidFill>
                <a:latin typeface="Noto Sans SC" pitchFamily="34" charset="0"/>
                <a:ea typeface="Noto Sans SC" pitchFamily="34" charset="-122"/>
                <a:cs typeface="Noto Sans SC" pitchFamily="34" charset="-120"/>
              </a:rPr>
              <a:t>平台型服务</a:t>
            </a:r>
            <a:endParaRPr lang="en-US" sz="1600" dirty="0"/>
          </a:p>
        </p:txBody>
      </p:sp>
      <p:sp>
        <p:nvSpPr>
          <p:cNvPr id="45" name="Text 43"/>
          <p:cNvSpPr/>
          <p:nvPr/>
        </p:nvSpPr>
        <p:spPr>
          <a:xfrm>
            <a:off x="8179214" y="5574527"/>
            <a:ext cx="3362984" cy="189464"/>
          </a:xfrm>
          <a:prstGeom prst="rect">
            <a:avLst/>
          </a:prstGeom>
          <a:noFill/>
          <a:ln/>
        </p:spPr>
        <p:txBody>
          <a:bodyPr wrap="square" lIns="0" tIns="0" rIns="0" bIns="0" rtlCol="0" anchor="ctr"/>
          <a:lstStyle/>
          <a:p>
            <a:pPr>
              <a:lnSpc>
                <a:spcPct val="120000"/>
              </a:lnSpc>
            </a:pPr>
            <a:r>
              <a:rPr lang="en-US" sz="1044" b="1" dirty="0">
                <a:solidFill>
                  <a:srgbClr val="5F6B7A"/>
                </a:solidFill>
                <a:latin typeface="Noto Sans SC" pitchFamily="34" charset="0"/>
                <a:ea typeface="Noto Sans SC" pitchFamily="34" charset="-122"/>
                <a:cs typeface="Noto Sans SC" pitchFamily="34" charset="-120"/>
              </a:rPr>
              <a:t>推荐：</a:t>
            </a:r>
            <a:r>
              <a:rPr lang="en-US" sz="1044" dirty="0">
                <a:solidFill>
                  <a:srgbClr val="5F6B7A"/>
                </a:solidFill>
                <a:latin typeface="Noto Sans SC" pitchFamily="34" charset="0"/>
                <a:ea typeface="Noto Sans SC" pitchFamily="34" charset="-122"/>
                <a:cs typeface="Noto Sans SC" pitchFamily="34" charset="-120"/>
              </a:rPr>
              <a:t>统一低秩投影（Structure 层）</a:t>
            </a:r>
            <a:endParaRPr lang="en-US" sz="1600" dirty="0"/>
          </a:p>
        </p:txBody>
      </p:sp>
      <p:sp>
        <p:nvSpPr>
          <p:cNvPr id="46" name="Shape 44"/>
          <p:cNvSpPr/>
          <p:nvPr/>
        </p:nvSpPr>
        <p:spPr>
          <a:xfrm>
            <a:off x="397874" y="6256597"/>
            <a:ext cx="11415198" cy="549445"/>
          </a:xfrm>
          <a:custGeom>
            <a:avLst/>
            <a:gdLst/>
            <a:ahLst/>
            <a:cxnLst/>
            <a:rect l="l" t="t" r="r" b="b"/>
            <a:pathLst>
              <a:path w="11415198" h="549445">
                <a:moveTo>
                  <a:pt x="37893" y="0"/>
                </a:moveTo>
                <a:lnTo>
                  <a:pt x="11339413" y="0"/>
                </a:lnTo>
                <a:cubicBezTo>
                  <a:pt x="11381268" y="0"/>
                  <a:pt x="11415198" y="33930"/>
                  <a:pt x="11415198" y="75785"/>
                </a:cubicBezTo>
                <a:lnTo>
                  <a:pt x="11415198" y="473660"/>
                </a:lnTo>
                <a:cubicBezTo>
                  <a:pt x="11415198" y="515515"/>
                  <a:pt x="11381268" y="549445"/>
                  <a:pt x="11339413" y="549445"/>
                </a:cubicBezTo>
                <a:lnTo>
                  <a:pt x="37893" y="549445"/>
                </a:lnTo>
                <a:cubicBezTo>
                  <a:pt x="16965" y="549445"/>
                  <a:pt x="0" y="532480"/>
                  <a:pt x="0" y="511552"/>
                </a:cubicBezTo>
                <a:lnTo>
                  <a:pt x="0" y="37893"/>
                </a:lnTo>
                <a:cubicBezTo>
                  <a:pt x="0" y="16965"/>
                  <a:pt x="16965" y="0"/>
                  <a:pt x="37893" y="0"/>
                </a:cubicBezTo>
                <a:close/>
              </a:path>
            </a:pathLst>
          </a:custGeom>
          <a:solidFill>
            <a:srgbClr val="3D8B75">
              <a:alpha val="20000"/>
            </a:srgbClr>
          </a:solidFill>
          <a:ln/>
        </p:spPr>
        <p:txBody>
          <a:bodyPr/>
          <a:lstStyle/>
          <a:p>
            <a:endParaRPr lang="zh-CN" altLang="en-US"/>
          </a:p>
        </p:txBody>
      </p:sp>
      <p:sp>
        <p:nvSpPr>
          <p:cNvPr id="47" name="Shape 45"/>
          <p:cNvSpPr/>
          <p:nvPr/>
        </p:nvSpPr>
        <p:spPr>
          <a:xfrm>
            <a:off x="397874" y="6256597"/>
            <a:ext cx="37893" cy="549445"/>
          </a:xfrm>
          <a:custGeom>
            <a:avLst/>
            <a:gdLst/>
            <a:ahLst/>
            <a:cxnLst/>
            <a:rect l="l" t="t" r="r" b="b"/>
            <a:pathLst>
              <a:path w="37893" h="549445">
                <a:moveTo>
                  <a:pt x="37893" y="0"/>
                </a:moveTo>
                <a:lnTo>
                  <a:pt x="37893" y="0"/>
                </a:lnTo>
                <a:lnTo>
                  <a:pt x="37893" y="549445"/>
                </a:lnTo>
                <a:lnTo>
                  <a:pt x="37893" y="549445"/>
                </a:lnTo>
                <a:cubicBezTo>
                  <a:pt x="16965" y="549445"/>
                  <a:pt x="0" y="532480"/>
                  <a:pt x="0" y="511552"/>
                </a:cubicBezTo>
                <a:lnTo>
                  <a:pt x="0" y="37893"/>
                </a:lnTo>
                <a:cubicBezTo>
                  <a:pt x="0" y="16965"/>
                  <a:pt x="16965" y="0"/>
                  <a:pt x="37893" y="0"/>
                </a:cubicBezTo>
                <a:close/>
              </a:path>
            </a:pathLst>
          </a:custGeom>
          <a:solidFill>
            <a:srgbClr val="3D8B75"/>
          </a:solidFill>
          <a:ln/>
        </p:spPr>
        <p:txBody>
          <a:bodyPr/>
          <a:lstStyle/>
          <a:p>
            <a:endParaRPr lang="zh-CN" altLang="en-US"/>
          </a:p>
        </p:txBody>
      </p:sp>
      <p:sp>
        <p:nvSpPr>
          <p:cNvPr id="48" name="Shape 46"/>
          <p:cNvSpPr/>
          <p:nvPr/>
        </p:nvSpPr>
        <p:spPr>
          <a:xfrm>
            <a:off x="606284" y="6455534"/>
            <a:ext cx="113678" cy="151571"/>
          </a:xfrm>
          <a:custGeom>
            <a:avLst/>
            <a:gdLst/>
            <a:ahLst/>
            <a:cxnLst/>
            <a:rect l="l" t="t" r="r" b="b"/>
            <a:pathLst>
              <a:path w="113678" h="151571">
                <a:moveTo>
                  <a:pt x="86709" y="113678"/>
                </a:moveTo>
                <a:cubicBezTo>
                  <a:pt x="88870" y="107077"/>
                  <a:pt x="93193" y="101097"/>
                  <a:pt x="98077" y="95946"/>
                </a:cubicBezTo>
                <a:cubicBezTo>
                  <a:pt x="107758" y="85762"/>
                  <a:pt x="113678" y="71996"/>
                  <a:pt x="113678" y="56839"/>
                </a:cubicBezTo>
                <a:cubicBezTo>
                  <a:pt x="113678" y="25459"/>
                  <a:pt x="88219" y="0"/>
                  <a:pt x="56839" y="0"/>
                </a:cubicBezTo>
                <a:cubicBezTo>
                  <a:pt x="25459" y="0"/>
                  <a:pt x="0" y="25459"/>
                  <a:pt x="0" y="56839"/>
                </a:cubicBezTo>
                <a:cubicBezTo>
                  <a:pt x="0" y="71996"/>
                  <a:pt x="5921" y="85762"/>
                  <a:pt x="15601" y="95946"/>
                </a:cubicBezTo>
                <a:cubicBezTo>
                  <a:pt x="20486" y="101097"/>
                  <a:pt x="24838" y="107077"/>
                  <a:pt x="26969" y="113678"/>
                </a:cubicBezTo>
                <a:lnTo>
                  <a:pt x="86680" y="113678"/>
                </a:lnTo>
                <a:close/>
                <a:moveTo>
                  <a:pt x="85259" y="127888"/>
                </a:moveTo>
                <a:lnTo>
                  <a:pt x="28420" y="127888"/>
                </a:lnTo>
                <a:lnTo>
                  <a:pt x="28420" y="132625"/>
                </a:lnTo>
                <a:cubicBezTo>
                  <a:pt x="28420" y="145710"/>
                  <a:pt x="39018" y="156308"/>
                  <a:pt x="52103" y="156308"/>
                </a:cubicBezTo>
                <a:lnTo>
                  <a:pt x="61576" y="156308"/>
                </a:lnTo>
                <a:cubicBezTo>
                  <a:pt x="74661" y="156308"/>
                  <a:pt x="85259" y="145710"/>
                  <a:pt x="85259" y="132625"/>
                </a:cubicBezTo>
                <a:lnTo>
                  <a:pt x="85259" y="127888"/>
                </a:lnTo>
                <a:close/>
                <a:moveTo>
                  <a:pt x="54471" y="33156"/>
                </a:moveTo>
                <a:cubicBezTo>
                  <a:pt x="42689" y="33156"/>
                  <a:pt x="33156" y="42689"/>
                  <a:pt x="33156" y="54471"/>
                </a:cubicBezTo>
                <a:cubicBezTo>
                  <a:pt x="33156" y="58408"/>
                  <a:pt x="29989" y="61576"/>
                  <a:pt x="26051" y="61576"/>
                </a:cubicBezTo>
                <a:cubicBezTo>
                  <a:pt x="22114" y="61576"/>
                  <a:pt x="18946" y="58408"/>
                  <a:pt x="18946" y="54471"/>
                </a:cubicBezTo>
                <a:cubicBezTo>
                  <a:pt x="18946" y="34844"/>
                  <a:pt x="34844" y="18946"/>
                  <a:pt x="54471" y="18946"/>
                </a:cubicBezTo>
                <a:cubicBezTo>
                  <a:pt x="58408" y="18946"/>
                  <a:pt x="61576" y="22114"/>
                  <a:pt x="61576" y="26051"/>
                </a:cubicBezTo>
                <a:cubicBezTo>
                  <a:pt x="61576" y="29989"/>
                  <a:pt x="58408" y="33156"/>
                  <a:pt x="54471" y="33156"/>
                </a:cubicBezTo>
                <a:close/>
              </a:path>
            </a:pathLst>
          </a:custGeom>
          <a:solidFill>
            <a:srgbClr val="C9A86A"/>
          </a:solidFill>
          <a:ln/>
        </p:spPr>
        <p:txBody>
          <a:bodyPr/>
          <a:lstStyle/>
          <a:p>
            <a:endParaRPr lang="zh-CN" altLang="en-US"/>
          </a:p>
        </p:txBody>
      </p:sp>
      <p:sp>
        <p:nvSpPr>
          <p:cNvPr id="49" name="Text 47"/>
          <p:cNvSpPr/>
          <p:nvPr/>
        </p:nvSpPr>
        <p:spPr>
          <a:xfrm>
            <a:off x="814385" y="6408168"/>
            <a:ext cx="10922901" cy="246303"/>
          </a:xfrm>
          <a:prstGeom prst="rect">
            <a:avLst/>
          </a:prstGeom>
          <a:noFill/>
          <a:ln/>
        </p:spPr>
        <p:txBody>
          <a:bodyPr wrap="square" lIns="0" tIns="0" rIns="0" bIns="0" rtlCol="0" anchor="ctr"/>
          <a:lstStyle/>
          <a:p>
            <a:pPr>
              <a:lnSpc>
                <a:spcPct val="140000"/>
              </a:lnSpc>
            </a:pPr>
            <a:r>
              <a:rPr lang="en-US" sz="1193" b="1" dirty="0">
                <a:solidFill>
                  <a:srgbClr val="E0E2E5"/>
                </a:solidFill>
                <a:latin typeface="Noto Sans SC" pitchFamily="34" charset="0"/>
                <a:ea typeface="Noto Sans SC" pitchFamily="34" charset="-122"/>
                <a:cs typeface="Noto Sans SC" pitchFamily="34" charset="-120"/>
              </a:rPr>
              <a:t>核心洞察：</a:t>
            </a:r>
            <a:r>
              <a:rPr lang="en-US" sz="1193" dirty="0">
                <a:solidFill>
                  <a:srgbClr val="E0E2E5"/>
                </a:solidFill>
                <a:latin typeface="Noto Sans SC" pitchFamily="34" charset="0"/>
                <a:ea typeface="Noto Sans SC" pitchFamily="34" charset="-122"/>
                <a:cs typeface="Noto Sans SC" pitchFamily="34" charset="-120"/>
              </a:rPr>
              <a:t>所有方法本质上都是在消除模型运转不同维度的冗余。由于四个维度各有侧重、优劣互补，</a:t>
            </a:r>
            <a:r>
              <a:rPr lang="en-US" sz="1193" dirty="0">
                <a:solidFill>
                  <a:srgbClr val="C9A86A"/>
                </a:solidFill>
                <a:highlight>
                  <a:srgbClr val="C9A86A">
                    <a:alpha val="20000"/>
                  </a:srgbClr>
                </a:highlight>
                <a:latin typeface="Noto Sans SC" pitchFamily="34" charset="0"/>
                <a:ea typeface="Noto Sans SC" pitchFamily="34" charset="-122"/>
                <a:cs typeface="Noto Sans SC" pitchFamily="34" charset="-120"/>
              </a:rPr>
              <a:t> 未来的最优方案必然是场景驱动的多维混合 </a:t>
            </a:r>
            <a:r>
              <a:rPr lang="en-US" sz="1193" dirty="0">
                <a:solidFill>
                  <a:srgbClr val="E0E2E5"/>
                </a:solidFill>
                <a:latin typeface="Noto Sans SC" pitchFamily="34" charset="0"/>
                <a:ea typeface="Noto Sans SC" pitchFamily="34" charset="-122"/>
                <a:cs typeface="Noto Sans SC" pitchFamily="34" charset="-120"/>
              </a:rPr>
              <a:t>。</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400050" y="1787128"/>
            <a:ext cx="1790700" cy="419100"/>
          </a:xfrm>
          <a:custGeom>
            <a:avLst/>
            <a:gdLst/>
            <a:ahLst/>
            <a:cxnLst/>
            <a:rect l="l" t="t" r="r" b="b"/>
            <a:pathLst>
              <a:path w="1790700" h="419100">
                <a:moveTo>
                  <a:pt x="0" y="0"/>
                </a:moveTo>
                <a:lnTo>
                  <a:pt x="1790700" y="0"/>
                </a:lnTo>
                <a:lnTo>
                  <a:pt x="1790700" y="419100"/>
                </a:lnTo>
                <a:lnTo>
                  <a:pt x="0" y="419100"/>
                </a:lnTo>
                <a:lnTo>
                  <a:pt x="0" y="0"/>
                </a:lnTo>
                <a:close/>
              </a:path>
            </a:pathLst>
          </a:custGeom>
          <a:solidFill>
            <a:srgbClr val="3D8B75">
              <a:alpha val="20000"/>
            </a:srgbClr>
          </a:solidFill>
          <a:ln/>
        </p:spPr>
        <p:txBody>
          <a:bodyPr/>
          <a:lstStyle/>
          <a:p>
            <a:endParaRPr lang="zh-CN" altLang="en-US"/>
          </a:p>
        </p:txBody>
      </p:sp>
      <p:sp>
        <p:nvSpPr>
          <p:cNvPr id="5" name="Shape 2"/>
          <p:cNvSpPr/>
          <p:nvPr/>
        </p:nvSpPr>
        <p:spPr>
          <a:xfrm>
            <a:off x="400050" y="1787128"/>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3D8B75"/>
          </a:solidFill>
          <a:ln/>
        </p:spPr>
        <p:txBody>
          <a:bodyPr/>
          <a:lstStyle/>
          <a:p>
            <a:endParaRPr lang="zh-CN" altLang="en-US"/>
          </a:p>
        </p:txBody>
      </p:sp>
      <p:sp>
        <p:nvSpPr>
          <p:cNvPr id="6" name="Text 3"/>
          <p:cNvSpPr/>
          <p:nvPr/>
        </p:nvSpPr>
        <p:spPr>
          <a:xfrm>
            <a:off x="609600" y="1863328"/>
            <a:ext cx="1485900" cy="266700"/>
          </a:xfrm>
          <a:prstGeom prst="rect">
            <a:avLst/>
          </a:prstGeom>
          <a:noFill/>
          <a:ln/>
        </p:spPr>
        <p:txBody>
          <a:bodyPr wrap="square" lIns="0" tIns="0" rIns="0" bIns="0" rtlCol="0" anchor="ctr"/>
          <a:lstStyle/>
          <a:p>
            <a:pPr>
              <a:lnSpc>
                <a:spcPct val="120000"/>
              </a:lnSpc>
            </a:pPr>
            <a:r>
              <a:rPr lang="en-US" sz="1500" b="1" kern="0" spc="150" dirty="0">
                <a:solidFill>
                  <a:srgbClr val="3D8B75"/>
                </a:solidFill>
                <a:latin typeface="Noto Sans SC" pitchFamily="34" charset="0"/>
                <a:ea typeface="Noto Sans SC" pitchFamily="34" charset="-122"/>
                <a:cs typeface="Noto Sans SC" pitchFamily="34" charset="-120"/>
              </a:rPr>
              <a:t>CHAPTER 04</a:t>
            </a:r>
            <a:endParaRPr lang="en-US" sz="1600" dirty="0"/>
          </a:p>
        </p:txBody>
      </p:sp>
      <p:sp>
        <p:nvSpPr>
          <p:cNvPr id="7" name="Text 4"/>
          <p:cNvSpPr/>
          <p:nvPr/>
        </p:nvSpPr>
        <p:spPr>
          <a:xfrm>
            <a:off x="381000" y="2511028"/>
            <a:ext cx="11715750" cy="1428750"/>
          </a:xfrm>
          <a:prstGeom prst="rect">
            <a:avLst/>
          </a:prstGeom>
          <a:noFill/>
          <a:ln/>
        </p:spPr>
        <p:txBody>
          <a:bodyPr wrap="square" lIns="0" tIns="0" rIns="0" bIns="0" rtlCol="0" anchor="ctr"/>
          <a:lstStyle/>
          <a:p>
            <a:pPr>
              <a:lnSpc>
                <a:spcPct val="100000"/>
              </a:lnSpc>
            </a:pPr>
            <a:r>
              <a:rPr lang="en-US" sz="4500" b="1" dirty="0">
                <a:solidFill>
                  <a:srgbClr val="E0E2E5"/>
                </a:solidFill>
                <a:latin typeface="Noto Sans SC" pitchFamily="34" charset="0"/>
                <a:ea typeface="Noto Sans SC" pitchFamily="34" charset="-122"/>
                <a:cs typeface="Noto Sans SC" pitchFamily="34" charset="-120"/>
              </a:rPr>
              <a:t>系统视角：</a:t>
            </a:r>
            <a:endParaRPr lang="en-US" sz="1600" dirty="0"/>
          </a:p>
          <a:p>
            <a:pPr>
              <a:lnSpc>
                <a:spcPct val="100000"/>
              </a:lnSpc>
            </a:pPr>
            <a:r>
              <a:rPr lang="en-US" sz="4500" b="1" dirty="0">
                <a:solidFill>
                  <a:srgbClr val="E0E2E5"/>
                </a:solidFill>
                <a:latin typeface="Noto Sans SC" pitchFamily="34" charset="0"/>
                <a:ea typeface="Noto Sans SC" pitchFamily="34" charset="-122"/>
                <a:cs typeface="Noto Sans SC" pitchFamily="34" charset="-120"/>
              </a:rPr>
              <a:t>工程落地的现实约束</a:t>
            </a:r>
            <a:endParaRPr lang="en-US" sz="1600" dirty="0"/>
          </a:p>
        </p:txBody>
      </p:sp>
      <p:sp>
        <p:nvSpPr>
          <p:cNvPr id="8" name="Shape 5"/>
          <p:cNvSpPr/>
          <p:nvPr/>
        </p:nvSpPr>
        <p:spPr>
          <a:xfrm>
            <a:off x="381000" y="4244578"/>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9A86A"/>
          </a:solidFill>
          <a:ln/>
        </p:spPr>
        <p:txBody>
          <a:bodyPr/>
          <a:lstStyle/>
          <a:p>
            <a:endParaRPr lang="zh-CN" altLang="en-US"/>
          </a:p>
        </p:txBody>
      </p:sp>
      <p:sp>
        <p:nvSpPr>
          <p:cNvPr id="9" name="Text 6"/>
          <p:cNvSpPr/>
          <p:nvPr/>
        </p:nvSpPr>
        <p:spPr>
          <a:xfrm>
            <a:off x="381000" y="4606528"/>
            <a:ext cx="8677275" cy="466725"/>
          </a:xfrm>
          <a:prstGeom prst="rect">
            <a:avLst/>
          </a:prstGeom>
          <a:noFill/>
          <a:ln/>
        </p:spPr>
        <p:txBody>
          <a:bodyPr wrap="square" lIns="0" tIns="0" rIns="0" bIns="0" rtlCol="0" anchor="ctr"/>
          <a:lstStyle/>
          <a:p>
            <a:pPr>
              <a:lnSpc>
                <a:spcPct val="140000"/>
              </a:lnSpc>
            </a:pPr>
            <a:r>
              <a:rPr lang="en-US" sz="2250" dirty="0">
                <a:solidFill>
                  <a:srgbClr val="E0E2E5">
                    <a:alpha val="80000"/>
                  </a:srgbClr>
                </a:solidFill>
                <a:latin typeface="Noto Sans SC" pitchFamily="34" charset="0"/>
                <a:ea typeface="Noto Sans SC" pitchFamily="34" charset="-122"/>
                <a:cs typeface="Noto Sans SC" pitchFamily="34" charset="-120"/>
              </a:rPr>
              <a:t>技术论文中的压缩率和精度曲线必须接受底层推理框架的现实考验</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29736" y="329736"/>
            <a:ext cx="11598475" cy="197842"/>
          </a:xfrm>
          <a:prstGeom prst="rect">
            <a:avLst/>
          </a:prstGeom>
          <a:noFill/>
          <a:ln/>
        </p:spPr>
        <p:txBody>
          <a:bodyPr wrap="square" lIns="0" tIns="0" rIns="0" bIns="0" rtlCol="0" anchor="ctr"/>
          <a:lstStyle/>
          <a:p>
            <a:pPr>
              <a:lnSpc>
                <a:spcPct val="130000"/>
              </a:lnSpc>
            </a:pPr>
            <a:r>
              <a:rPr lang="en-US" sz="1039" b="1" kern="0" spc="104" dirty="0">
                <a:solidFill>
                  <a:srgbClr val="3D8B75"/>
                </a:solidFill>
                <a:latin typeface="MiSans" pitchFamily="34" charset="0"/>
                <a:ea typeface="MiSans" pitchFamily="34" charset="-122"/>
                <a:cs typeface="MiSans" pitchFamily="34" charset="-120"/>
              </a:rPr>
              <a:t>FRAMEWORK INTEGRATION</a:t>
            </a:r>
            <a:endParaRPr lang="en-US" sz="1600" dirty="0"/>
          </a:p>
        </p:txBody>
      </p:sp>
      <p:sp>
        <p:nvSpPr>
          <p:cNvPr id="3" name="Text 1"/>
          <p:cNvSpPr/>
          <p:nvPr/>
        </p:nvSpPr>
        <p:spPr>
          <a:xfrm>
            <a:off x="329736" y="593525"/>
            <a:ext cx="11680909" cy="329736"/>
          </a:xfrm>
          <a:prstGeom prst="rect">
            <a:avLst/>
          </a:prstGeom>
          <a:noFill/>
          <a:ln/>
        </p:spPr>
        <p:txBody>
          <a:bodyPr wrap="square" lIns="0" tIns="0" rIns="0" bIns="0" rtlCol="0" anchor="ctr"/>
          <a:lstStyle/>
          <a:p>
            <a:pPr>
              <a:lnSpc>
                <a:spcPct val="90000"/>
              </a:lnSpc>
            </a:pPr>
            <a:r>
              <a:rPr lang="en-US" sz="2337" b="1" dirty="0">
                <a:solidFill>
                  <a:srgbClr val="E0E2E5"/>
                </a:solidFill>
                <a:latin typeface="Noto Sans SC" pitchFamily="34" charset="0"/>
                <a:ea typeface="Noto Sans SC" pitchFamily="34" charset="-122"/>
                <a:cs typeface="Noto Sans SC" pitchFamily="34" charset="-120"/>
              </a:rPr>
              <a:t>与推理框架的耦合</a:t>
            </a:r>
            <a:endParaRPr lang="en-US" sz="1600" dirty="0"/>
          </a:p>
        </p:txBody>
      </p:sp>
      <p:sp>
        <p:nvSpPr>
          <p:cNvPr id="4" name="Shape 2"/>
          <p:cNvSpPr/>
          <p:nvPr/>
        </p:nvSpPr>
        <p:spPr>
          <a:xfrm>
            <a:off x="329736" y="1022183"/>
            <a:ext cx="791367" cy="32974"/>
          </a:xfrm>
          <a:custGeom>
            <a:avLst/>
            <a:gdLst/>
            <a:ahLst/>
            <a:cxnLst/>
            <a:rect l="l" t="t" r="r" b="b"/>
            <a:pathLst>
              <a:path w="791367" h="32974">
                <a:moveTo>
                  <a:pt x="0" y="0"/>
                </a:moveTo>
                <a:lnTo>
                  <a:pt x="791367" y="0"/>
                </a:lnTo>
                <a:lnTo>
                  <a:pt x="791367" y="32974"/>
                </a:lnTo>
                <a:lnTo>
                  <a:pt x="0" y="32974"/>
                </a:lnTo>
                <a:lnTo>
                  <a:pt x="0" y="0"/>
                </a:lnTo>
                <a:close/>
              </a:path>
            </a:pathLst>
          </a:custGeom>
          <a:solidFill>
            <a:srgbClr val="C9A86A"/>
          </a:solidFill>
          <a:ln/>
        </p:spPr>
        <p:txBody>
          <a:bodyPr/>
          <a:lstStyle/>
          <a:p>
            <a:endParaRPr lang="zh-CN" altLang="en-US"/>
          </a:p>
        </p:txBody>
      </p:sp>
      <p:sp>
        <p:nvSpPr>
          <p:cNvPr id="5" name="Shape 3"/>
          <p:cNvSpPr/>
          <p:nvPr/>
        </p:nvSpPr>
        <p:spPr>
          <a:xfrm>
            <a:off x="346223" y="1187051"/>
            <a:ext cx="3742507" cy="2769785"/>
          </a:xfrm>
          <a:custGeom>
            <a:avLst/>
            <a:gdLst/>
            <a:ahLst/>
            <a:cxnLst/>
            <a:rect l="l" t="t" r="r" b="b"/>
            <a:pathLst>
              <a:path w="3742507" h="2769785">
                <a:moveTo>
                  <a:pt x="32974" y="0"/>
                </a:moveTo>
                <a:lnTo>
                  <a:pt x="3676559" y="0"/>
                </a:lnTo>
                <a:cubicBezTo>
                  <a:pt x="3712981" y="0"/>
                  <a:pt x="3742507" y="29526"/>
                  <a:pt x="3742507" y="65949"/>
                </a:cubicBezTo>
                <a:lnTo>
                  <a:pt x="3742507" y="2703836"/>
                </a:lnTo>
                <a:cubicBezTo>
                  <a:pt x="3742507" y="2740259"/>
                  <a:pt x="3712981" y="2769785"/>
                  <a:pt x="3676559" y="2769785"/>
                </a:cubicBezTo>
                <a:lnTo>
                  <a:pt x="32974" y="2769785"/>
                </a:lnTo>
                <a:cubicBezTo>
                  <a:pt x="14763" y="2769785"/>
                  <a:pt x="0" y="2755022"/>
                  <a:pt x="0" y="2736811"/>
                </a:cubicBezTo>
                <a:lnTo>
                  <a:pt x="0" y="32974"/>
                </a:lnTo>
                <a:cubicBezTo>
                  <a:pt x="0" y="14775"/>
                  <a:pt x="14775" y="0"/>
                  <a:pt x="32974" y="0"/>
                </a:cubicBezTo>
                <a:close/>
              </a:path>
            </a:pathLst>
          </a:custGeom>
          <a:solidFill>
            <a:srgbClr val="3D8B75">
              <a:alpha val="10196"/>
            </a:srgbClr>
          </a:solidFill>
          <a:ln/>
        </p:spPr>
        <p:txBody>
          <a:bodyPr/>
          <a:lstStyle/>
          <a:p>
            <a:endParaRPr lang="zh-CN" altLang="en-US"/>
          </a:p>
        </p:txBody>
      </p:sp>
      <p:sp>
        <p:nvSpPr>
          <p:cNvPr id="6" name="Shape 4"/>
          <p:cNvSpPr/>
          <p:nvPr/>
        </p:nvSpPr>
        <p:spPr>
          <a:xfrm>
            <a:off x="346223" y="1187051"/>
            <a:ext cx="32974" cy="2769785"/>
          </a:xfrm>
          <a:custGeom>
            <a:avLst/>
            <a:gdLst/>
            <a:ahLst/>
            <a:cxnLst/>
            <a:rect l="l" t="t" r="r" b="b"/>
            <a:pathLst>
              <a:path w="32974" h="2769785">
                <a:moveTo>
                  <a:pt x="32974" y="0"/>
                </a:moveTo>
                <a:lnTo>
                  <a:pt x="32974" y="0"/>
                </a:lnTo>
                <a:lnTo>
                  <a:pt x="32974" y="2769785"/>
                </a:lnTo>
                <a:lnTo>
                  <a:pt x="32974" y="2769785"/>
                </a:lnTo>
                <a:cubicBezTo>
                  <a:pt x="14763" y="2769785"/>
                  <a:pt x="0" y="2755022"/>
                  <a:pt x="0" y="2736811"/>
                </a:cubicBezTo>
                <a:lnTo>
                  <a:pt x="0" y="32974"/>
                </a:lnTo>
                <a:cubicBezTo>
                  <a:pt x="0" y="14775"/>
                  <a:pt x="14775" y="0"/>
                  <a:pt x="32974" y="0"/>
                </a:cubicBezTo>
                <a:close/>
              </a:path>
            </a:pathLst>
          </a:custGeom>
          <a:solidFill>
            <a:srgbClr val="3D8B75"/>
          </a:solidFill>
          <a:ln/>
        </p:spPr>
        <p:txBody>
          <a:bodyPr/>
          <a:lstStyle/>
          <a:p>
            <a:endParaRPr lang="zh-CN" altLang="en-US"/>
          </a:p>
        </p:txBody>
      </p:sp>
      <p:sp>
        <p:nvSpPr>
          <p:cNvPr id="7" name="Shape 5"/>
          <p:cNvSpPr/>
          <p:nvPr/>
        </p:nvSpPr>
        <p:spPr>
          <a:xfrm>
            <a:off x="527578" y="1351919"/>
            <a:ext cx="395684" cy="395684"/>
          </a:xfrm>
          <a:custGeom>
            <a:avLst/>
            <a:gdLst/>
            <a:ahLst/>
            <a:cxnLst/>
            <a:rect l="l" t="t" r="r" b="b"/>
            <a:pathLst>
              <a:path w="395684" h="395684">
                <a:moveTo>
                  <a:pt x="65949" y="0"/>
                </a:moveTo>
                <a:lnTo>
                  <a:pt x="329735" y="0"/>
                </a:lnTo>
                <a:cubicBezTo>
                  <a:pt x="366133" y="0"/>
                  <a:pt x="395684" y="29551"/>
                  <a:pt x="395684" y="65949"/>
                </a:cubicBezTo>
                <a:lnTo>
                  <a:pt x="395684" y="329735"/>
                </a:lnTo>
                <a:cubicBezTo>
                  <a:pt x="395684" y="366157"/>
                  <a:pt x="366157" y="395684"/>
                  <a:pt x="329735" y="395684"/>
                </a:cubicBezTo>
                <a:lnTo>
                  <a:pt x="65949" y="395684"/>
                </a:lnTo>
                <a:cubicBezTo>
                  <a:pt x="29551" y="395684"/>
                  <a:pt x="0" y="366133"/>
                  <a:pt x="0" y="329735"/>
                </a:cubicBezTo>
                <a:lnTo>
                  <a:pt x="0" y="65949"/>
                </a:lnTo>
                <a:cubicBezTo>
                  <a:pt x="0" y="29551"/>
                  <a:pt x="29551" y="0"/>
                  <a:pt x="65949" y="0"/>
                </a:cubicBezTo>
                <a:close/>
              </a:path>
            </a:pathLst>
          </a:custGeom>
          <a:solidFill>
            <a:srgbClr val="3D8B75"/>
          </a:solidFill>
          <a:ln/>
        </p:spPr>
        <p:txBody>
          <a:bodyPr/>
          <a:lstStyle/>
          <a:p>
            <a:endParaRPr lang="zh-CN" altLang="en-US"/>
          </a:p>
        </p:txBody>
      </p:sp>
      <p:sp>
        <p:nvSpPr>
          <p:cNvPr id="8" name="Shape 6"/>
          <p:cNvSpPr/>
          <p:nvPr/>
        </p:nvSpPr>
        <p:spPr>
          <a:xfrm>
            <a:off x="653290" y="1467327"/>
            <a:ext cx="144260" cy="164868"/>
          </a:xfrm>
          <a:custGeom>
            <a:avLst/>
            <a:gdLst/>
            <a:ahLst/>
            <a:cxnLst/>
            <a:rect l="l" t="t" r="r" b="b"/>
            <a:pathLst>
              <a:path w="144260" h="164868">
                <a:moveTo>
                  <a:pt x="20609" y="10304"/>
                </a:moveTo>
                <a:cubicBezTo>
                  <a:pt x="9242" y="10304"/>
                  <a:pt x="0" y="19546"/>
                  <a:pt x="0" y="30913"/>
                </a:cubicBezTo>
                <a:lnTo>
                  <a:pt x="0" y="51521"/>
                </a:lnTo>
                <a:cubicBezTo>
                  <a:pt x="0" y="62888"/>
                  <a:pt x="9242" y="72130"/>
                  <a:pt x="20609" y="72130"/>
                </a:cubicBezTo>
                <a:lnTo>
                  <a:pt x="123651" y="72130"/>
                </a:lnTo>
                <a:cubicBezTo>
                  <a:pt x="135018" y="72130"/>
                  <a:pt x="144260" y="62888"/>
                  <a:pt x="144260" y="51521"/>
                </a:cubicBezTo>
                <a:lnTo>
                  <a:pt x="144260" y="30913"/>
                </a:lnTo>
                <a:cubicBezTo>
                  <a:pt x="144260" y="19546"/>
                  <a:pt x="135018" y="10304"/>
                  <a:pt x="123651" y="10304"/>
                </a:cubicBezTo>
                <a:lnTo>
                  <a:pt x="20609" y="10304"/>
                </a:lnTo>
                <a:close/>
                <a:moveTo>
                  <a:pt x="90162" y="33489"/>
                </a:moveTo>
                <a:cubicBezTo>
                  <a:pt x="94428" y="33489"/>
                  <a:pt x="97890" y="36952"/>
                  <a:pt x="97890" y="41217"/>
                </a:cubicBezTo>
                <a:cubicBezTo>
                  <a:pt x="97890" y="45482"/>
                  <a:pt x="94428" y="48945"/>
                  <a:pt x="90162" y="48945"/>
                </a:cubicBezTo>
                <a:cubicBezTo>
                  <a:pt x="85897" y="48945"/>
                  <a:pt x="82434" y="45482"/>
                  <a:pt x="82434" y="41217"/>
                </a:cubicBezTo>
                <a:cubicBezTo>
                  <a:pt x="82434" y="36952"/>
                  <a:pt x="85897" y="33489"/>
                  <a:pt x="90162" y="33489"/>
                </a:cubicBezTo>
                <a:close/>
                <a:moveTo>
                  <a:pt x="108195" y="41217"/>
                </a:moveTo>
                <a:cubicBezTo>
                  <a:pt x="108195" y="36952"/>
                  <a:pt x="111658" y="33489"/>
                  <a:pt x="115923" y="33489"/>
                </a:cubicBezTo>
                <a:cubicBezTo>
                  <a:pt x="120188" y="33489"/>
                  <a:pt x="123651" y="36952"/>
                  <a:pt x="123651" y="41217"/>
                </a:cubicBezTo>
                <a:cubicBezTo>
                  <a:pt x="123651" y="45482"/>
                  <a:pt x="120188" y="48945"/>
                  <a:pt x="115923" y="48945"/>
                </a:cubicBezTo>
                <a:cubicBezTo>
                  <a:pt x="111658" y="48945"/>
                  <a:pt x="108195" y="45482"/>
                  <a:pt x="108195" y="41217"/>
                </a:cubicBezTo>
                <a:close/>
                <a:moveTo>
                  <a:pt x="20609" y="92738"/>
                </a:moveTo>
                <a:cubicBezTo>
                  <a:pt x="9242" y="92738"/>
                  <a:pt x="0" y="101980"/>
                  <a:pt x="0" y="113347"/>
                </a:cubicBezTo>
                <a:lnTo>
                  <a:pt x="0" y="133955"/>
                </a:lnTo>
                <a:cubicBezTo>
                  <a:pt x="0" y="145322"/>
                  <a:pt x="9242" y="154564"/>
                  <a:pt x="20609" y="154564"/>
                </a:cubicBezTo>
                <a:lnTo>
                  <a:pt x="123651" y="154564"/>
                </a:lnTo>
                <a:cubicBezTo>
                  <a:pt x="135018" y="154564"/>
                  <a:pt x="144260" y="145322"/>
                  <a:pt x="144260" y="133955"/>
                </a:cubicBezTo>
                <a:lnTo>
                  <a:pt x="144260" y="113347"/>
                </a:lnTo>
                <a:cubicBezTo>
                  <a:pt x="144260" y="101980"/>
                  <a:pt x="135018" y="92738"/>
                  <a:pt x="123651" y="92738"/>
                </a:cubicBezTo>
                <a:lnTo>
                  <a:pt x="20609" y="92738"/>
                </a:lnTo>
                <a:close/>
                <a:moveTo>
                  <a:pt x="90162" y="115923"/>
                </a:moveTo>
                <a:cubicBezTo>
                  <a:pt x="94428" y="115923"/>
                  <a:pt x="97890" y="119386"/>
                  <a:pt x="97890" y="123651"/>
                </a:cubicBezTo>
                <a:cubicBezTo>
                  <a:pt x="97890" y="127916"/>
                  <a:pt x="94428" y="131379"/>
                  <a:pt x="90162" y="131379"/>
                </a:cubicBezTo>
                <a:cubicBezTo>
                  <a:pt x="85897" y="131379"/>
                  <a:pt x="82434" y="127916"/>
                  <a:pt x="82434" y="123651"/>
                </a:cubicBezTo>
                <a:cubicBezTo>
                  <a:pt x="82434" y="119386"/>
                  <a:pt x="85897" y="115923"/>
                  <a:pt x="90162" y="115923"/>
                </a:cubicBezTo>
                <a:close/>
                <a:moveTo>
                  <a:pt x="108195" y="123651"/>
                </a:moveTo>
                <a:cubicBezTo>
                  <a:pt x="108195" y="119386"/>
                  <a:pt x="111658" y="115923"/>
                  <a:pt x="115923" y="115923"/>
                </a:cubicBezTo>
                <a:cubicBezTo>
                  <a:pt x="120188" y="115923"/>
                  <a:pt x="123651" y="119386"/>
                  <a:pt x="123651" y="123651"/>
                </a:cubicBezTo>
                <a:cubicBezTo>
                  <a:pt x="123651" y="127916"/>
                  <a:pt x="120188" y="131379"/>
                  <a:pt x="115923" y="131379"/>
                </a:cubicBezTo>
                <a:cubicBezTo>
                  <a:pt x="111658" y="131379"/>
                  <a:pt x="108195" y="127916"/>
                  <a:pt x="108195" y="123651"/>
                </a:cubicBezTo>
                <a:close/>
              </a:path>
            </a:pathLst>
          </a:custGeom>
          <a:solidFill>
            <a:srgbClr val="FFFFFF"/>
          </a:solidFill>
          <a:ln/>
        </p:spPr>
        <p:txBody>
          <a:bodyPr/>
          <a:lstStyle/>
          <a:p>
            <a:endParaRPr lang="zh-CN" altLang="en-US"/>
          </a:p>
        </p:txBody>
      </p:sp>
      <p:sp>
        <p:nvSpPr>
          <p:cNvPr id="9" name="Text 7"/>
          <p:cNvSpPr/>
          <p:nvPr/>
        </p:nvSpPr>
        <p:spPr>
          <a:xfrm>
            <a:off x="1022183" y="1434353"/>
            <a:ext cx="511091" cy="230815"/>
          </a:xfrm>
          <a:prstGeom prst="rect">
            <a:avLst/>
          </a:prstGeom>
          <a:noFill/>
          <a:ln/>
        </p:spPr>
        <p:txBody>
          <a:bodyPr wrap="square" lIns="0" tIns="0" rIns="0" bIns="0" rtlCol="0" anchor="ctr"/>
          <a:lstStyle/>
          <a:p>
            <a:pPr>
              <a:lnSpc>
                <a:spcPct val="120000"/>
              </a:lnSpc>
            </a:pPr>
            <a:r>
              <a:rPr lang="en-US" sz="1298" b="1" dirty="0">
                <a:solidFill>
                  <a:srgbClr val="E0E2E5"/>
                </a:solidFill>
                <a:latin typeface="Noto Sans SC" pitchFamily="34" charset="0"/>
                <a:ea typeface="Noto Sans SC" pitchFamily="34" charset="-122"/>
                <a:cs typeface="Noto Sans SC" pitchFamily="34" charset="-120"/>
              </a:rPr>
              <a:t>vLLM</a:t>
            </a:r>
            <a:endParaRPr lang="en-US" sz="1600" dirty="0"/>
          </a:p>
        </p:txBody>
      </p:sp>
      <p:sp>
        <p:nvSpPr>
          <p:cNvPr id="10" name="Shape 8"/>
          <p:cNvSpPr/>
          <p:nvPr/>
        </p:nvSpPr>
        <p:spPr>
          <a:xfrm>
            <a:off x="527578" y="1879497"/>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11" name="Text 9"/>
          <p:cNvSpPr/>
          <p:nvPr/>
        </p:nvSpPr>
        <p:spPr>
          <a:xfrm>
            <a:off x="626499" y="1978418"/>
            <a:ext cx="3264389" cy="197842"/>
          </a:xfrm>
          <a:prstGeom prst="rect">
            <a:avLst/>
          </a:prstGeom>
          <a:noFill/>
          <a:ln/>
        </p:spPr>
        <p:txBody>
          <a:bodyPr wrap="square" lIns="0" tIns="0" rIns="0" bIns="0" rtlCol="0" anchor="ctr"/>
          <a:lstStyle/>
          <a:p>
            <a:pPr>
              <a:lnSpc>
                <a:spcPct val="130000"/>
              </a:lnSpc>
            </a:pPr>
            <a:r>
              <a:rPr lang="en-US" sz="1039" b="1" dirty="0">
                <a:solidFill>
                  <a:srgbClr val="3D8B75"/>
                </a:solidFill>
                <a:latin typeface="Noto Sans SC" pitchFamily="34" charset="0"/>
                <a:ea typeface="Noto Sans SC" pitchFamily="34" charset="-122"/>
                <a:cs typeface="Noto Sans SC" pitchFamily="34" charset="-120"/>
              </a:rPr>
              <a:t>核心技术</a:t>
            </a:r>
            <a:endParaRPr lang="en-US" sz="1600" dirty="0"/>
          </a:p>
        </p:txBody>
      </p:sp>
      <p:sp>
        <p:nvSpPr>
          <p:cNvPr id="12" name="Text 10"/>
          <p:cNvSpPr/>
          <p:nvPr/>
        </p:nvSpPr>
        <p:spPr>
          <a:xfrm>
            <a:off x="626499" y="2209233"/>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以 PagedAttention 为核心消除内存碎片</a:t>
            </a:r>
            <a:endParaRPr lang="en-US" sz="1600" dirty="0"/>
          </a:p>
        </p:txBody>
      </p:sp>
      <p:sp>
        <p:nvSpPr>
          <p:cNvPr id="13" name="Shape 11"/>
          <p:cNvSpPr/>
          <p:nvPr/>
        </p:nvSpPr>
        <p:spPr>
          <a:xfrm>
            <a:off x="527578" y="2538970"/>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14" name="Text 12"/>
          <p:cNvSpPr/>
          <p:nvPr/>
        </p:nvSpPr>
        <p:spPr>
          <a:xfrm>
            <a:off x="626499" y="2637890"/>
            <a:ext cx="3264389" cy="197842"/>
          </a:xfrm>
          <a:prstGeom prst="rect">
            <a:avLst/>
          </a:prstGeom>
          <a:noFill/>
          <a:ln/>
        </p:spPr>
        <p:txBody>
          <a:bodyPr wrap="square" lIns="0" tIns="0" rIns="0" bIns="0" rtlCol="0" anchor="ctr"/>
          <a:lstStyle/>
          <a:p>
            <a:pPr>
              <a:lnSpc>
                <a:spcPct val="130000"/>
              </a:lnSpc>
            </a:pPr>
            <a:r>
              <a:rPr lang="en-US" sz="1039" b="1" dirty="0">
                <a:solidFill>
                  <a:srgbClr val="3D8B75"/>
                </a:solidFill>
                <a:latin typeface="Noto Sans SC" pitchFamily="34" charset="0"/>
                <a:ea typeface="Noto Sans SC" pitchFamily="34" charset="-122"/>
                <a:cs typeface="Noto Sans SC" pitchFamily="34" charset="-120"/>
              </a:rPr>
              <a:t>精度支持</a:t>
            </a:r>
            <a:endParaRPr lang="en-US" sz="1600" dirty="0"/>
          </a:p>
        </p:txBody>
      </p:sp>
      <p:sp>
        <p:nvSpPr>
          <p:cNvPr id="15" name="Text 13"/>
          <p:cNvSpPr/>
          <p:nvPr/>
        </p:nvSpPr>
        <p:spPr>
          <a:xfrm>
            <a:off x="626499" y="2868706"/>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支持 FP8 等低精度 KV Cache 格式</a:t>
            </a:r>
            <a:endParaRPr lang="en-US" sz="1600" dirty="0"/>
          </a:p>
        </p:txBody>
      </p:sp>
      <p:sp>
        <p:nvSpPr>
          <p:cNvPr id="16" name="Shape 14"/>
          <p:cNvSpPr/>
          <p:nvPr/>
        </p:nvSpPr>
        <p:spPr>
          <a:xfrm>
            <a:off x="527578" y="3198442"/>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17" name="Text 15"/>
          <p:cNvSpPr/>
          <p:nvPr/>
        </p:nvSpPr>
        <p:spPr>
          <a:xfrm>
            <a:off x="626499" y="3297363"/>
            <a:ext cx="3264389" cy="197842"/>
          </a:xfrm>
          <a:prstGeom prst="rect">
            <a:avLst/>
          </a:prstGeom>
          <a:noFill/>
          <a:ln/>
        </p:spPr>
        <p:txBody>
          <a:bodyPr wrap="square" lIns="0" tIns="0" rIns="0" bIns="0" rtlCol="0" anchor="ctr"/>
          <a:lstStyle/>
          <a:p>
            <a:pPr>
              <a:lnSpc>
                <a:spcPct val="130000"/>
              </a:lnSpc>
            </a:pPr>
            <a:r>
              <a:rPr lang="en-US" sz="1039" b="1" dirty="0">
                <a:solidFill>
                  <a:srgbClr val="3D8B75"/>
                </a:solidFill>
                <a:latin typeface="Noto Sans SC" pitchFamily="34" charset="0"/>
                <a:ea typeface="Noto Sans SC" pitchFamily="34" charset="-122"/>
                <a:cs typeface="Noto Sans SC" pitchFamily="34" charset="-120"/>
              </a:rPr>
              <a:t>最新功能</a:t>
            </a:r>
            <a:endParaRPr lang="en-US" sz="1600" dirty="0"/>
          </a:p>
        </p:txBody>
      </p:sp>
      <p:sp>
        <p:nvSpPr>
          <p:cNvPr id="18" name="Text 16"/>
          <p:cNvSpPr/>
          <p:nvPr/>
        </p:nvSpPr>
        <p:spPr>
          <a:xfrm>
            <a:off x="626499" y="3528178"/>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0.11.0 版本引入分层卸载（Offloading）</a:t>
            </a:r>
            <a:endParaRPr lang="en-US" sz="1600" dirty="0"/>
          </a:p>
        </p:txBody>
      </p:sp>
      <p:sp>
        <p:nvSpPr>
          <p:cNvPr id="19" name="Shape 17"/>
          <p:cNvSpPr/>
          <p:nvPr/>
        </p:nvSpPr>
        <p:spPr>
          <a:xfrm>
            <a:off x="4234664" y="1187051"/>
            <a:ext cx="3742507" cy="2769785"/>
          </a:xfrm>
          <a:custGeom>
            <a:avLst/>
            <a:gdLst/>
            <a:ahLst/>
            <a:cxnLst/>
            <a:rect l="l" t="t" r="r" b="b"/>
            <a:pathLst>
              <a:path w="3742507" h="2769785">
                <a:moveTo>
                  <a:pt x="32974" y="0"/>
                </a:moveTo>
                <a:lnTo>
                  <a:pt x="3676559" y="0"/>
                </a:lnTo>
                <a:cubicBezTo>
                  <a:pt x="3712981" y="0"/>
                  <a:pt x="3742507" y="29526"/>
                  <a:pt x="3742507" y="65949"/>
                </a:cubicBezTo>
                <a:lnTo>
                  <a:pt x="3742507" y="2703836"/>
                </a:lnTo>
                <a:cubicBezTo>
                  <a:pt x="3742507" y="2740259"/>
                  <a:pt x="3712981" y="2769785"/>
                  <a:pt x="3676559" y="2769785"/>
                </a:cubicBezTo>
                <a:lnTo>
                  <a:pt x="32974" y="2769785"/>
                </a:lnTo>
                <a:cubicBezTo>
                  <a:pt x="14763" y="2769785"/>
                  <a:pt x="0" y="2755022"/>
                  <a:pt x="0" y="2736811"/>
                </a:cubicBezTo>
                <a:lnTo>
                  <a:pt x="0" y="32974"/>
                </a:lnTo>
                <a:cubicBezTo>
                  <a:pt x="0" y="14775"/>
                  <a:pt x="14775" y="0"/>
                  <a:pt x="32974" y="0"/>
                </a:cubicBezTo>
                <a:close/>
              </a:path>
            </a:pathLst>
          </a:custGeom>
          <a:solidFill>
            <a:srgbClr val="C9A86A">
              <a:alpha val="10196"/>
            </a:srgbClr>
          </a:solidFill>
          <a:ln/>
        </p:spPr>
        <p:txBody>
          <a:bodyPr/>
          <a:lstStyle/>
          <a:p>
            <a:endParaRPr lang="zh-CN" altLang="en-US"/>
          </a:p>
        </p:txBody>
      </p:sp>
      <p:sp>
        <p:nvSpPr>
          <p:cNvPr id="20" name="Shape 18"/>
          <p:cNvSpPr/>
          <p:nvPr/>
        </p:nvSpPr>
        <p:spPr>
          <a:xfrm>
            <a:off x="4234664" y="1187051"/>
            <a:ext cx="32974" cy="2769785"/>
          </a:xfrm>
          <a:custGeom>
            <a:avLst/>
            <a:gdLst/>
            <a:ahLst/>
            <a:cxnLst/>
            <a:rect l="l" t="t" r="r" b="b"/>
            <a:pathLst>
              <a:path w="32974" h="2769785">
                <a:moveTo>
                  <a:pt x="32974" y="0"/>
                </a:moveTo>
                <a:lnTo>
                  <a:pt x="32974" y="0"/>
                </a:lnTo>
                <a:lnTo>
                  <a:pt x="32974" y="2769785"/>
                </a:lnTo>
                <a:lnTo>
                  <a:pt x="32974" y="2769785"/>
                </a:lnTo>
                <a:cubicBezTo>
                  <a:pt x="14763" y="2769785"/>
                  <a:pt x="0" y="2755022"/>
                  <a:pt x="0" y="2736811"/>
                </a:cubicBezTo>
                <a:lnTo>
                  <a:pt x="0" y="32974"/>
                </a:lnTo>
                <a:cubicBezTo>
                  <a:pt x="0" y="14775"/>
                  <a:pt x="14775" y="0"/>
                  <a:pt x="32974" y="0"/>
                </a:cubicBezTo>
                <a:close/>
              </a:path>
            </a:pathLst>
          </a:custGeom>
          <a:solidFill>
            <a:srgbClr val="C9A86A"/>
          </a:solidFill>
          <a:ln/>
        </p:spPr>
        <p:txBody>
          <a:bodyPr/>
          <a:lstStyle/>
          <a:p>
            <a:endParaRPr lang="zh-CN" altLang="en-US"/>
          </a:p>
        </p:txBody>
      </p:sp>
      <p:sp>
        <p:nvSpPr>
          <p:cNvPr id="21" name="Shape 19"/>
          <p:cNvSpPr/>
          <p:nvPr/>
        </p:nvSpPr>
        <p:spPr>
          <a:xfrm>
            <a:off x="4416019" y="1351919"/>
            <a:ext cx="395684" cy="395684"/>
          </a:xfrm>
          <a:custGeom>
            <a:avLst/>
            <a:gdLst/>
            <a:ahLst/>
            <a:cxnLst/>
            <a:rect l="l" t="t" r="r" b="b"/>
            <a:pathLst>
              <a:path w="395684" h="395684">
                <a:moveTo>
                  <a:pt x="65949" y="0"/>
                </a:moveTo>
                <a:lnTo>
                  <a:pt x="329735" y="0"/>
                </a:lnTo>
                <a:cubicBezTo>
                  <a:pt x="366133" y="0"/>
                  <a:pt x="395684" y="29551"/>
                  <a:pt x="395684" y="65949"/>
                </a:cubicBezTo>
                <a:lnTo>
                  <a:pt x="395684" y="329735"/>
                </a:lnTo>
                <a:cubicBezTo>
                  <a:pt x="395684" y="366157"/>
                  <a:pt x="366157" y="395684"/>
                  <a:pt x="329735" y="395684"/>
                </a:cubicBezTo>
                <a:lnTo>
                  <a:pt x="65949" y="395684"/>
                </a:lnTo>
                <a:cubicBezTo>
                  <a:pt x="29551" y="395684"/>
                  <a:pt x="0" y="366133"/>
                  <a:pt x="0" y="329735"/>
                </a:cubicBezTo>
                <a:lnTo>
                  <a:pt x="0" y="65949"/>
                </a:lnTo>
                <a:cubicBezTo>
                  <a:pt x="0" y="29551"/>
                  <a:pt x="29551" y="0"/>
                  <a:pt x="65949" y="0"/>
                </a:cubicBezTo>
                <a:close/>
              </a:path>
            </a:pathLst>
          </a:custGeom>
          <a:solidFill>
            <a:srgbClr val="C9A86A"/>
          </a:solidFill>
          <a:ln/>
        </p:spPr>
        <p:txBody>
          <a:bodyPr/>
          <a:lstStyle/>
          <a:p>
            <a:endParaRPr lang="zh-CN" altLang="en-US"/>
          </a:p>
        </p:txBody>
      </p:sp>
      <p:sp>
        <p:nvSpPr>
          <p:cNvPr id="22" name="Shape 20"/>
          <p:cNvSpPr/>
          <p:nvPr/>
        </p:nvSpPr>
        <p:spPr>
          <a:xfrm>
            <a:off x="4531427" y="1467327"/>
            <a:ext cx="164868" cy="164868"/>
          </a:xfrm>
          <a:custGeom>
            <a:avLst/>
            <a:gdLst/>
            <a:ahLst/>
            <a:cxnLst/>
            <a:rect l="l" t="t" r="r" b="b"/>
            <a:pathLst>
              <a:path w="164868" h="164868">
                <a:moveTo>
                  <a:pt x="56673" y="7728"/>
                </a:moveTo>
                <a:cubicBezTo>
                  <a:pt x="56673" y="3445"/>
                  <a:pt x="53228" y="0"/>
                  <a:pt x="48945" y="0"/>
                </a:cubicBezTo>
                <a:cubicBezTo>
                  <a:pt x="44663" y="0"/>
                  <a:pt x="41217" y="3445"/>
                  <a:pt x="41217" y="7728"/>
                </a:cubicBezTo>
                <a:lnTo>
                  <a:pt x="41217" y="20609"/>
                </a:lnTo>
                <a:cubicBezTo>
                  <a:pt x="29850" y="20609"/>
                  <a:pt x="20609" y="29850"/>
                  <a:pt x="20609" y="41217"/>
                </a:cubicBezTo>
                <a:lnTo>
                  <a:pt x="7728" y="41217"/>
                </a:lnTo>
                <a:cubicBezTo>
                  <a:pt x="3445" y="41217"/>
                  <a:pt x="0" y="44663"/>
                  <a:pt x="0" y="48945"/>
                </a:cubicBezTo>
                <a:cubicBezTo>
                  <a:pt x="0" y="53228"/>
                  <a:pt x="3445" y="56673"/>
                  <a:pt x="7728" y="56673"/>
                </a:cubicBezTo>
                <a:lnTo>
                  <a:pt x="20609" y="56673"/>
                </a:lnTo>
                <a:lnTo>
                  <a:pt x="20609" y="74706"/>
                </a:lnTo>
                <a:lnTo>
                  <a:pt x="7728" y="74706"/>
                </a:lnTo>
                <a:cubicBezTo>
                  <a:pt x="3445" y="74706"/>
                  <a:pt x="0" y="78151"/>
                  <a:pt x="0" y="82434"/>
                </a:cubicBezTo>
                <a:cubicBezTo>
                  <a:pt x="0" y="86717"/>
                  <a:pt x="3445" y="90162"/>
                  <a:pt x="7728" y="90162"/>
                </a:cubicBezTo>
                <a:lnTo>
                  <a:pt x="20609" y="90162"/>
                </a:lnTo>
                <a:lnTo>
                  <a:pt x="20609" y="108195"/>
                </a:lnTo>
                <a:lnTo>
                  <a:pt x="7728" y="108195"/>
                </a:lnTo>
                <a:cubicBezTo>
                  <a:pt x="3445" y="108195"/>
                  <a:pt x="0" y="111640"/>
                  <a:pt x="0" y="115923"/>
                </a:cubicBezTo>
                <a:cubicBezTo>
                  <a:pt x="0" y="120206"/>
                  <a:pt x="3445" y="123651"/>
                  <a:pt x="7728" y="123651"/>
                </a:cubicBezTo>
                <a:lnTo>
                  <a:pt x="20609" y="123651"/>
                </a:lnTo>
                <a:cubicBezTo>
                  <a:pt x="20609" y="135018"/>
                  <a:pt x="29850" y="144260"/>
                  <a:pt x="41217" y="144260"/>
                </a:cubicBezTo>
                <a:lnTo>
                  <a:pt x="41217" y="157140"/>
                </a:lnTo>
                <a:cubicBezTo>
                  <a:pt x="41217" y="161423"/>
                  <a:pt x="44663" y="164868"/>
                  <a:pt x="48945" y="164868"/>
                </a:cubicBezTo>
                <a:cubicBezTo>
                  <a:pt x="53228" y="164868"/>
                  <a:pt x="56673" y="161423"/>
                  <a:pt x="56673" y="157140"/>
                </a:cubicBezTo>
                <a:lnTo>
                  <a:pt x="56673" y="144260"/>
                </a:lnTo>
                <a:lnTo>
                  <a:pt x="74706" y="144260"/>
                </a:lnTo>
                <a:lnTo>
                  <a:pt x="74706" y="157140"/>
                </a:lnTo>
                <a:cubicBezTo>
                  <a:pt x="74706" y="161423"/>
                  <a:pt x="78151" y="164868"/>
                  <a:pt x="82434" y="164868"/>
                </a:cubicBezTo>
                <a:cubicBezTo>
                  <a:pt x="86717" y="164868"/>
                  <a:pt x="90162" y="161423"/>
                  <a:pt x="90162" y="157140"/>
                </a:cubicBezTo>
                <a:lnTo>
                  <a:pt x="90162" y="144260"/>
                </a:lnTo>
                <a:lnTo>
                  <a:pt x="108195" y="144260"/>
                </a:lnTo>
                <a:lnTo>
                  <a:pt x="108195" y="157140"/>
                </a:lnTo>
                <a:cubicBezTo>
                  <a:pt x="108195" y="161423"/>
                  <a:pt x="111640" y="164868"/>
                  <a:pt x="115923" y="164868"/>
                </a:cubicBezTo>
                <a:cubicBezTo>
                  <a:pt x="120206" y="164868"/>
                  <a:pt x="123651" y="161423"/>
                  <a:pt x="123651" y="157140"/>
                </a:cubicBezTo>
                <a:lnTo>
                  <a:pt x="123651" y="144260"/>
                </a:lnTo>
                <a:cubicBezTo>
                  <a:pt x="135018" y="144260"/>
                  <a:pt x="144260" y="135018"/>
                  <a:pt x="144260" y="123651"/>
                </a:cubicBezTo>
                <a:lnTo>
                  <a:pt x="157140" y="123651"/>
                </a:lnTo>
                <a:cubicBezTo>
                  <a:pt x="161423" y="123651"/>
                  <a:pt x="164868" y="120206"/>
                  <a:pt x="164868" y="115923"/>
                </a:cubicBezTo>
                <a:cubicBezTo>
                  <a:pt x="164868" y="111640"/>
                  <a:pt x="161423" y="108195"/>
                  <a:pt x="157140" y="108195"/>
                </a:cubicBezTo>
                <a:lnTo>
                  <a:pt x="144260" y="108195"/>
                </a:lnTo>
                <a:lnTo>
                  <a:pt x="144260" y="90162"/>
                </a:lnTo>
                <a:lnTo>
                  <a:pt x="157140" y="90162"/>
                </a:lnTo>
                <a:cubicBezTo>
                  <a:pt x="161423" y="90162"/>
                  <a:pt x="164868" y="86717"/>
                  <a:pt x="164868" y="82434"/>
                </a:cubicBezTo>
                <a:cubicBezTo>
                  <a:pt x="164868" y="78151"/>
                  <a:pt x="161423" y="74706"/>
                  <a:pt x="157140" y="74706"/>
                </a:cubicBezTo>
                <a:lnTo>
                  <a:pt x="144260" y="74706"/>
                </a:lnTo>
                <a:lnTo>
                  <a:pt x="144260" y="56673"/>
                </a:lnTo>
                <a:lnTo>
                  <a:pt x="157140" y="56673"/>
                </a:lnTo>
                <a:cubicBezTo>
                  <a:pt x="161423" y="56673"/>
                  <a:pt x="164868" y="53228"/>
                  <a:pt x="164868" y="48945"/>
                </a:cubicBezTo>
                <a:cubicBezTo>
                  <a:pt x="164868" y="44663"/>
                  <a:pt x="161423" y="41217"/>
                  <a:pt x="157140" y="41217"/>
                </a:cubicBezTo>
                <a:lnTo>
                  <a:pt x="144260" y="41217"/>
                </a:lnTo>
                <a:cubicBezTo>
                  <a:pt x="144260" y="29850"/>
                  <a:pt x="135018" y="20609"/>
                  <a:pt x="123651" y="20609"/>
                </a:cubicBezTo>
                <a:lnTo>
                  <a:pt x="123651" y="7728"/>
                </a:lnTo>
                <a:cubicBezTo>
                  <a:pt x="123651" y="3445"/>
                  <a:pt x="120206" y="0"/>
                  <a:pt x="115923" y="0"/>
                </a:cubicBezTo>
                <a:cubicBezTo>
                  <a:pt x="111640" y="0"/>
                  <a:pt x="108195" y="3445"/>
                  <a:pt x="108195" y="7728"/>
                </a:cubicBezTo>
                <a:lnTo>
                  <a:pt x="108195" y="20609"/>
                </a:lnTo>
                <a:lnTo>
                  <a:pt x="90162" y="20609"/>
                </a:lnTo>
                <a:lnTo>
                  <a:pt x="90162" y="7728"/>
                </a:lnTo>
                <a:cubicBezTo>
                  <a:pt x="90162" y="3445"/>
                  <a:pt x="86717" y="0"/>
                  <a:pt x="82434" y="0"/>
                </a:cubicBezTo>
                <a:cubicBezTo>
                  <a:pt x="78151" y="0"/>
                  <a:pt x="74706" y="3445"/>
                  <a:pt x="74706" y="7728"/>
                </a:cubicBezTo>
                <a:lnTo>
                  <a:pt x="74706" y="20609"/>
                </a:lnTo>
                <a:lnTo>
                  <a:pt x="56673" y="20609"/>
                </a:lnTo>
                <a:lnTo>
                  <a:pt x="56673" y="7728"/>
                </a:lnTo>
                <a:close/>
                <a:moveTo>
                  <a:pt x="51521" y="41217"/>
                </a:moveTo>
                <a:lnTo>
                  <a:pt x="113347" y="41217"/>
                </a:lnTo>
                <a:cubicBezTo>
                  <a:pt x="119046" y="41217"/>
                  <a:pt x="123651" y="45822"/>
                  <a:pt x="123651" y="51521"/>
                </a:cubicBezTo>
                <a:lnTo>
                  <a:pt x="123651" y="113347"/>
                </a:lnTo>
                <a:cubicBezTo>
                  <a:pt x="123651" y="119046"/>
                  <a:pt x="119046" y="123651"/>
                  <a:pt x="113347" y="123651"/>
                </a:cubicBezTo>
                <a:lnTo>
                  <a:pt x="51521" y="123651"/>
                </a:lnTo>
                <a:cubicBezTo>
                  <a:pt x="45822" y="123651"/>
                  <a:pt x="41217" y="119046"/>
                  <a:pt x="41217" y="113347"/>
                </a:cubicBezTo>
                <a:lnTo>
                  <a:pt x="41217" y="51521"/>
                </a:lnTo>
                <a:cubicBezTo>
                  <a:pt x="41217" y="45822"/>
                  <a:pt x="45822" y="41217"/>
                  <a:pt x="51521" y="41217"/>
                </a:cubicBezTo>
                <a:close/>
                <a:moveTo>
                  <a:pt x="56673" y="56673"/>
                </a:moveTo>
                <a:lnTo>
                  <a:pt x="56673" y="108195"/>
                </a:lnTo>
                <a:lnTo>
                  <a:pt x="108195" y="108195"/>
                </a:lnTo>
                <a:lnTo>
                  <a:pt x="108195" y="56673"/>
                </a:lnTo>
                <a:lnTo>
                  <a:pt x="56673" y="56673"/>
                </a:lnTo>
                <a:close/>
              </a:path>
            </a:pathLst>
          </a:custGeom>
          <a:solidFill>
            <a:srgbClr val="FFFFFF"/>
          </a:solidFill>
          <a:ln/>
        </p:spPr>
        <p:txBody>
          <a:bodyPr/>
          <a:lstStyle/>
          <a:p>
            <a:endParaRPr lang="zh-CN" altLang="en-US"/>
          </a:p>
        </p:txBody>
      </p:sp>
      <p:sp>
        <p:nvSpPr>
          <p:cNvPr id="23" name="Text 21"/>
          <p:cNvSpPr/>
          <p:nvPr/>
        </p:nvSpPr>
        <p:spPr>
          <a:xfrm>
            <a:off x="4910624" y="1434353"/>
            <a:ext cx="1277728" cy="230815"/>
          </a:xfrm>
          <a:prstGeom prst="rect">
            <a:avLst/>
          </a:prstGeom>
          <a:noFill/>
          <a:ln/>
        </p:spPr>
        <p:txBody>
          <a:bodyPr wrap="square" lIns="0" tIns="0" rIns="0" bIns="0" rtlCol="0" anchor="ctr"/>
          <a:lstStyle/>
          <a:p>
            <a:pPr>
              <a:lnSpc>
                <a:spcPct val="120000"/>
              </a:lnSpc>
            </a:pPr>
            <a:r>
              <a:rPr lang="en-US" sz="1298" b="1" dirty="0">
                <a:solidFill>
                  <a:srgbClr val="E0E2E5"/>
                </a:solidFill>
                <a:latin typeface="Noto Sans SC" pitchFamily="34" charset="0"/>
                <a:ea typeface="Noto Sans SC" pitchFamily="34" charset="-122"/>
                <a:cs typeface="Noto Sans SC" pitchFamily="34" charset="-120"/>
              </a:rPr>
              <a:t>TensorRT-LLM</a:t>
            </a:r>
            <a:endParaRPr lang="en-US" sz="1600" dirty="0"/>
          </a:p>
        </p:txBody>
      </p:sp>
      <p:sp>
        <p:nvSpPr>
          <p:cNvPr id="24" name="Shape 22"/>
          <p:cNvSpPr/>
          <p:nvPr/>
        </p:nvSpPr>
        <p:spPr>
          <a:xfrm>
            <a:off x="4416019" y="1879497"/>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25" name="Text 23"/>
          <p:cNvSpPr/>
          <p:nvPr/>
        </p:nvSpPr>
        <p:spPr>
          <a:xfrm>
            <a:off x="4514940" y="1978418"/>
            <a:ext cx="3264389" cy="197842"/>
          </a:xfrm>
          <a:prstGeom prst="rect">
            <a:avLst/>
          </a:prstGeom>
          <a:noFill/>
          <a:ln/>
        </p:spPr>
        <p:txBody>
          <a:bodyPr wrap="square" lIns="0" tIns="0" rIns="0" bIns="0" rtlCol="0" anchor="ctr"/>
          <a:lstStyle/>
          <a:p>
            <a:pPr>
              <a:lnSpc>
                <a:spcPct val="130000"/>
              </a:lnSpc>
            </a:pPr>
            <a:r>
              <a:rPr lang="en-US" sz="1039" b="1" dirty="0">
                <a:solidFill>
                  <a:srgbClr val="C9A86A"/>
                </a:solidFill>
                <a:latin typeface="Noto Sans SC" pitchFamily="34" charset="0"/>
                <a:ea typeface="Noto Sans SC" pitchFamily="34" charset="-122"/>
                <a:cs typeface="Noto Sans SC" pitchFamily="34" charset="-120"/>
              </a:rPr>
              <a:t>优化策略</a:t>
            </a:r>
            <a:endParaRPr lang="en-US" sz="1600" dirty="0"/>
          </a:p>
        </p:txBody>
      </p:sp>
      <p:sp>
        <p:nvSpPr>
          <p:cNvPr id="26" name="Text 24"/>
          <p:cNvSpPr/>
          <p:nvPr/>
        </p:nvSpPr>
        <p:spPr>
          <a:xfrm>
            <a:off x="4514940" y="2209233"/>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追求极致的 Kernel 融合与量化深度集成</a:t>
            </a:r>
            <a:endParaRPr lang="en-US" sz="1600" dirty="0"/>
          </a:p>
        </p:txBody>
      </p:sp>
      <p:sp>
        <p:nvSpPr>
          <p:cNvPr id="27" name="Shape 25"/>
          <p:cNvSpPr/>
          <p:nvPr/>
        </p:nvSpPr>
        <p:spPr>
          <a:xfrm>
            <a:off x="4416019" y="2538970"/>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28" name="Text 26"/>
          <p:cNvSpPr/>
          <p:nvPr/>
        </p:nvSpPr>
        <p:spPr>
          <a:xfrm>
            <a:off x="4514940" y="2637890"/>
            <a:ext cx="3264389" cy="197842"/>
          </a:xfrm>
          <a:prstGeom prst="rect">
            <a:avLst/>
          </a:prstGeom>
          <a:noFill/>
          <a:ln/>
        </p:spPr>
        <p:txBody>
          <a:bodyPr wrap="square" lIns="0" tIns="0" rIns="0" bIns="0" rtlCol="0" anchor="ctr"/>
          <a:lstStyle/>
          <a:p>
            <a:pPr>
              <a:lnSpc>
                <a:spcPct val="130000"/>
              </a:lnSpc>
            </a:pPr>
            <a:r>
              <a:rPr lang="en-US" sz="1039" b="1" dirty="0">
                <a:solidFill>
                  <a:srgbClr val="C9A86A"/>
                </a:solidFill>
                <a:latin typeface="Noto Sans SC" pitchFamily="34" charset="0"/>
                <a:ea typeface="Noto Sans SC" pitchFamily="34" charset="-122"/>
                <a:cs typeface="Noto Sans SC" pitchFamily="34" charset="-120"/>
              </a:rPr>
              <a:t>实现方式</a:t>
            </a:r>
            <a:endParaRPr lang="en-US" sz="1600" dirty="0"/>
          </a:p>
        </p:txBody>
      </p:sp>
      <p:sp>
        <p:nvSpPr>
          <p:cNvPr id="29" name="Text 27"/>
          <p:cNvSpPr/>
          <p:nvPr/>
        </p:nvSpPr>
        <p:spPr>
          <a:xfrm>
            <a:off x="4514940" y="2868706"/>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通过 C++ 层面的定制化算子提供端到端优化</a:t>
            </a:r>
            <a:endParaRPr lang="en-US" sz="1600" dirty="0"/>
          </a:p>
        </p:txBody>
      </p:sp>
      <p:sp>
        <p:nvSpPr>
          <p:cNvPr id="30" name="Shape 28"/>
          <p:cNvSpPr/>
          <p:nvPr/>
        </p:nvSpPr>
        <p:spPr>
          <a:xfrm>
            <a:off x="4416019" y="3198442"/>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31" name="Text 29"/>
          <p:cNvSpPr/>
          <p:nvPr/>
        </p:nvSpPr>
        <p:spPr>
          <a:xfrm>
            <a:off x="4514940" y="3297363"/>
            <a:ext cx="3264389" cy="197842"/>
          </a:xfrm>
          <a:prstGeom prst="rect">
            <a:avLst/>
          </a:prstGeom>
          <a:noFill/>
          <a:ln/>
        </p:spPr>
        <p:txBody>
          <a:bodyPr wrap="square" lIns="0" tIns="0" rIns="0" bIns="0" rtlCol="0" anchor="ctr"/>
          <a:lstStyle/>
          <a:p>
            <a:pPr>
              <a:lnSpc>
                <a:spcPct val="130000"/>
              </a:lnSpc>
            </a:pPr>
            <a:r>
              <a:rPr lang="en-US" sz="1039" b="1" dirty="0">
                <a:solidFill>
                  <a:srgbClr val="C9A86A"/>
                </a:solidFill>
                <a:latin typeface="Noto Sans SC" pitchFamily="34" charset="0"/>
                <a:ea typeface="Noto Sans SC" pitchFamily="34" charset="-122"/>
                <a:cs typeface="Noto Sans SC" pitchFamily="34" charset="-120"/>
              </a:rPr>
              <a:t>特点</a:t>
            </a:r>
            <a:endParaRPr lang="en-US" sz="1600" dirty="0"/>
          </a:p>
        </p:txBody>
      </p:sp>
      <p:sp>
        <p:nvSpPr>
          <p:cNvPr id="32" name="Text 30"/>
          <p:cNvSpPr/>
          <p:nvPr/>
        </p:nvSpPr>
        <p:spPr>
          <a:xfrm>
            <a:off x="4514940" y="3528178"/>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极致性能，高度定制化</a:t>
            </a:r>
            <a:endParaRPr lang="en-US" sz="1600" dirty="0"/>
          </a:p>
        </p:txBody>
      </p:sp>
      <p:sp>
        <p:nvSpPr>
          <p:cNvPr id="33" name="Shape 31"/>
          <p:cNvSpPr/>
          <p:nvPr/>
        </p:nvSpPr>
        <p:spPr>
          <a:xfrm>
            <a:off x="8123105" y="1187051"/>
            <a:ext cx="3742507" cy="2769785"/>
          </a:xfrm>
          <a:custGeom>
            <a:avLst/>
            <a:gdLst/>
            <a:ahLst/>
            <a:cxnLst/>
            <a:rect l="l" t="t" r="r" b="b"/>
            <a:pathLst>
              <a:path w="3742507" h="2769785">
                <a:moveTo>
                  <a:pt x="32974" y="0"/>
                </a:moveTo>
                <a:lnTo>
                  <a:pt x="3676559" y="0"/>
                </a:lnTo>
                <a:cubicBezTo>
                  <a:pt x="3712981" y="0"/>
                  <a:pt x="3742507" y="29526"/>
                  <a:pt x="3742507" y="65949"/>
                </a:cubicBezTo>
                <a:lnTo>
                  <a:pt x="3742507" y="2703836"/>
                </a:lnTo>
                <a:cubicBezTo>
                  <a:pt x="3742507" y="2740259"/>
                  <a:pt x="3712981" y="2769785"/>
                  <a:pt x="3676559" y="2769785"/>
                </a:cubicBezTo>
                <a:lnTo>
                  <a:pt x="32974" y="2769785"/>
                </a:lnTo>
                <a:cubicBezTo>
                  <a:pt x="14763" y="2769785"/>
                  <a:pt x="0" y="2755022"/>
                  <a:pt x="0" y="2736811"/>
                </a:cubicBezTo>
                <a:lnTo>
                  <a:pt x="0" y="32974"/>
                </a:lnTo>
                <a:cubicBezTo>
                  <a:pt x="0" y="14775"/>
                  <a:pt x="14775" y="0"/>
                  <a:pt x="32974" y="0"/>
                </a:cubicBezTo>
                <a:close/>
              </a:path>
            </a:pathLst>
          </a:custGeom>
          <a:solidFill>
            <a:srgbClr val="5F6B7A">
              <a:alpha val="10196"/>
            </a:srgbClr>
          </a:solidFill>
          <a:ln/>
        </p:spPr>
        <p:txBody>
          <a:bodyPr/>
          <a:lstStyle/>
          <a:p>
            <a:endParaRPr lang="zh-CN" altLang="en-US"/>
          </a:p>
        </p:txBody>
      </p:sp>
      <p:sp>
        <p:nvSpPr>
          <p:cNvPr id="34" name="Shape 32"/>
          <p:cNvSpPr/>
          <p:nvPr/>
        </p:nvSpPr>
        <p:spPr>
          <a:xfrm>
            <a:off x="8123105" y="1187051"/>
            <a:ext cx="32974" cy="2769785"/>
          </a:xfrm>
          <a:custGeom>
            <a:avLst/>
            <a:gdLst/>
            <a:ahLst/>
            <a:cxnLst/>
            <a:rect l="l" t="t" r="r" b="b"/>
            <a:pathLst>
              <a:path w="32974" h="2769785">
                <a:moveTo>
                  <a:pt x="32974" y="0"/>
                </a:moveTo>
                <a:lnTo>
                  <a:pt x="32974" y="0"/>
                </a:lnTo>
                <a:lnTo>
                  <a:pt x="32974" y="2769785"/>
                </a:lnTo>
                <a:lnTo>
                  <a:pt x="32974" y="2769785"/>
                </a:lnTo>
                <a:cubicBezTo>
                  <a:pt x="14763" y="2769785"/>
                  <a:pt x="0" y="2755022"/>
                  <a:pt x="0" y="2736811"/>
                </a:cubicBezTo>
                <a:lnTo>
                  <a:pt x="0" y="32974"/>
                </a:lnTo>
                <a:cubicBezTo>
                  <a:pt x="0" y="14775"/>
                  <a:pt x="14775" y="0"/>
                  <a:pt x="32974" y="0"/>
                </a:cubicBezTo>
                <a:close/>
              </a:path>
            </a:pathLst>
          </a:custGeom>
          <a:solidFill>
            <a:srgbClr val="5F6B7A"/>
          </a:solidFill>
          <a:ln/>
        </p:spPr>
        <p:txBody>
          <a:bodyPr/>
          <a:lstStyle/>
          <a:p>
            <a:endParaRPr lang="zh-CN" altLang="en-US"/>
          </a:p>
        </p:txBody>
      </p:sp>
      <p:sp>
        <p:nvSpPr>
          <p:cNvPr id="35" name="Shape 33"/>
          <p:cNvSpPr/>
          <p:nvPr/>
        </p:nvSpPr>
        <p:spPr>
          <a:xfrm>
            <a:off x="8304460" y="1351919"/>
            <a:ext cx="395684" cy="395684"/>
          </a:xfrm>
          <a:custGeom>
            <a:avLst/>
            <a:gdLst/>
            <a:ahLst/>
            <a:cxnLst/>
            <a:rect l="l" t="t" r="r" b="b"/>
            <a:pathLst>
              <a:path w="395684" h="395684">
                <a:moveTo>
                  <a:pt x="65949" y="0"/>
                </a:moveTo>
                <a:lnTo>
                  <a:pt x="329735" y="0"/>
                </a:lnTo>
                <a:cubicBezTo>
                  <a:pt x="366133" y="0"/>
                  <a:pt x="395684" y="29551"/>
                  <a:pt x="395684" y="65949"/>
                </a:cubicBezTo>
                <a:lnTo>
                  <a:pt x="395684" y="329735"/>
                </a:lnTo>
                <a:cubicBezTo>
                  <a:pt x="395684" y="366157"/>
                  <a:pt x="366157" y="395684"/>
                  <a:pt x="329735" y="395684"/>
                </a:cubicBezTo>
                <a:lnTo>
                  <a:pt x="65949" y="395684"/>
                </a:lnTo>
                <a:cubicBezTo>
                  <a:pt x="29551" y="395684"/>
                  <a:pt x="0" y="366133"/>
                  <a:pt x="0" y="329735"/>
                </a:cubicBezTo>
                <a:lnTo>
                  <a:pt x="0" y="65949"/>
                </a:lnTo>
                <a:cubicBezTo>
                  <a:pt x="0" y="29551"/>
                  <a:pt x="29551" y="0"/>
                  <a:pt x="65949" y="0"/>
                </a:cubicBezTo>
                <a:close/>
              </a:path>
            </a:pathLst>
          </a:custGeom>
          <a:solidFill>
            <a:srgbClr val="5F6B7A"/>
          </a:solidFill>
          <a:ln/>
        </p:spPr>
        <p:txBody>
          <a:bodyPr/>
          <a:lstStyle/>
          <a:p>
            <a:endParaRPr lang="zh-CN" altLang="en-US"/>
          </a:p>
        </p:txBody>
      </p:sp>
      <p:sp>
        <p:nvSpPr>
          <p:cNvPr id="36" name="Shape 34"/>
          <p:cNvSpPr/>
          <p:nvPr/>
        </p:nvSpPr>
        <p:spPr>
          <a:xfrm>
            <a:off x="8430172" y="1467327"/>
            <a:ext cx="144260" cy="164868"/>
          </a:xfrm>
          <a:custGeom>
            <a:avLst/>
            <a:gdLst/>
            <a:ahLst/>
            <a:cxnLst/>
            <a:rect l="l" t="t" r="r" b="b"/>
            <a:pathLst>
              <a:path w="144260" h="164868">
                <a:moveTo>
                  <a:pt x="25761" y="33489"/>
                </a:moveTo>
                <a:cubicBezTo>
                  <a:pt x="30026" y="33489"/>
                  <a:pt x="33489" y="30026"/>
                  <a:pt x="33489" y="25761"/>
                </a:cubicBezTo>
                <a:cubicBezTo>
                  <a:pt x="33489" y="21495"/>
                  <a:pt x="30026" y="18032"/>
                  <a:pt x="25761" y="18032"/>
                </a:cubicBezTo>
                <a:cubicBezTo>
                  <a:pt x="21495" y="18032"/>
                  <a:pt x="18032" y="21495"/>
                  <a:pt x="18032" y="25761"/>
                </a:cubicBezTo>
                <a:cubicBezTo>
                  <a:pt x="18032" y="30026"/>
                  <a:pt x="21495" y="33489"/>
                  <a:pt x="25761" y="33489"/>
                </a:cubicBezTo>
                <a:close/>
                <a:moveTo>
                  <a:pt x="51521" y="25761"/>
                </a:moveTo>
                <a:cubicBezTo>
                  <a:pt x="51521" y="36323"/>
                  <a:pt x="45178" y="45403"/>
                  <a:pt x="36065" y="49364"/>
                </a:cubicBezTo>
                <a:lnTo>
                  <a:pt x="36065" y="72130"/>
                </a:lnTo>
                <a:lnTo>
                  <a:pt x="92738" y="72130"/>
                </a:lnTo>
                <a:cubicBezTo>
                  <a:pt x="101272" y="72130"/>
                  <a:pt x="108195" y="65207"/>
                  <a:pt x="108195" y="56673"/>
                </a:cubicBezTo>
                <a:lnTo>
                  <a:pt x="108195" y="49364"/>
                </a:lnTo>
                <a:cubicBezTo>
                  <a:pt x="99082" y="45403"/>
                  <a:pt x="92738" y="36323"/>
                  <a:pt x="92738" y="25761"/>
                </a:cubicBezTo>
                <a:cubicBezTo>
                  <a:pt x="92738" y="11528"/>
                  <a:pt x="104266" y="0"/>
                  <a:pt x="118499" y="0"/>
                </a:cubicBezTo>
                <a:cubicBezTo>
                  <a:pt x="132732" y="0"/>
                  <a:pt x="144260" y="11528"/>
                  <a:pt x="144260" y="25761"/>
                </a:cubicBezTo>
                <a:cubicBezTo>
                  <a:pt x="144260" y="36323"/>
                  <a:pt x="137916" y="45403"/>
                  <a:pt x="128803" y="49364"/>
                </a:cubicBezTo>
                <a:lnTo>
                  <a:pt x="128803" y="56673"/>
                </a:lnTo>
                <a:cubicBezTo>
                  <a:pt x="128803" y="76606"/>
                  <a:pt x="112671" y="92738"/>
                  <a:pt x="92738" y="92738"/>
                </a:cubicBezTo>
                <a:lnTo>
                  <a:pt x="36065" y="92738"/>
                </a:lnTo>
                <a:lnTo>
                  <a:pt x="36065" y="115504"/>
                </a:lnTo>
                <a:cubicBezTo>
                  <a:pt x="45178" y="119465"/>
                  <a:pt x="51521" y="128546"/>
                  <a:pt x="51521" y="139108"/>
                </a:cubicBezTo>
                <a:cubicBezTo>
                  <a:pt x="51521" y="153340"/>
                  <a:pt x="39993" y="164868"/>
                  <a:pt x="25761" y="164868"/>
                </a:cubicBezTo>
                <a:cubicBezTo>
                  <a:pt x="11528" y="164868"/>
                  <a:pt x="0" y="153340"/>
                  <a:pt x="0" y="139108"/>
                </a:cubicBezTo>
                <a:cubicBezTo>
                  <a:pt x="0" y="128546"/>
                  <a:pt x="6344" y="119465"/>
                  <a:pt x="15456" y="115504"/>
                </a:cubicBezTo>
                <a:lnTo>
                  <a:pt x="15456" y="49396"/>
                </a:lnTo>
                <a:cubicBezTo>
                  <a:pt x="6344" y="45403"/>
                  <a:pt x="0" y="36323"/>
                  <a:pt x="0" y="25761"/>
                </a:cubicBezTo>
                <a:cubicBezTo>
                  <a:pt x="0" y="11528"/>
                  <a:pt x="11528" y="0"/>
                  <a:pt x="25761" y="0"/>
                </a:cubicBezTo>
                <a:cubicBezTo>
                  <a:pt x="39993" y="0"/>
                  <a:pt x="51521" y="11528"/>
                  <a:pt x="51521" y="25761"/>
                </a:cubicBezTo>
                <a:close/>
                <a:moveTo>
                  <a:pt x="126227" y="25761"/>
                </a:moveTo>
                <a:cubicBezTo>
                  <a:pt x="126227" y="21495"/>
                  <a:pt x="122764" y="18032"/>
                  <a:pt x="118499" y="18032"/>
                </a:cubicBezTo>
                <a:cubicBezTo>
                  <a:pt x="114234" y="18032"/>
                  <a:pt x="110771" y="21495"/>
                  <a:pt x="110771" y="25761"/>
                </a:cubicBezTo>
                <a:cubicBezTo>
                  <a:pt x="110771" y="30026"/>
                  <a:pt x="114234" y="33489"/>
                  <a:pt x="118499" y="33489"/>
                </a:cubicBezTo>
                <a:cubicBezTo>
                  <a:pt x="122764" y="33489"/>
                  <a:pt x="126227" y="30026"/>
                  <a:pt x="126227" y="25761"/>
                </a:cubicBezTo>
                <a:close/>
                <a:moveTo>
                  <a:pt x="25761" y="146836"/>
                </a:moveTo>
                <a:cubicBezTo>
                  <a:pt x="30026" y="146836"/>
                  <a:pt x="33489" y="143373"/>
                  <a:pt x="33489" y="139108"/>
                </a:cubicBezTo>
                <a:cubicBezTo>
                  <a:pt x="33489" y="134842"/>
                  <a:pt x="30026" y="131379"/>
                  <a:pt x="25761" y="131379"/>
                </a:cubicBezTo>
                <a:cubicBezTo>
                  <a:pt x="21495" y="131379"/>
                  <a:pt x="18032" y="134842"/>
                  <a:pt x="18032" y="139108"/>
                </a:cubicBezTo>
                <a:cubicBezTo>
                  <a:pt x="18032" y="143373"/>
                  <a:pt x="21495" y="146836"/>
                  <a:pt x="25761" y="146836"/>
                </a:cubicBezTo>
                <a:close/>
              </a:path>
            </a:pathLst>
          </a:custGeom>
          <a:solidFill>
            <a:srgbClr val="FFFFFF"/>
          </a:solidFill>
          <a:ln/>
        </p:spPr>
        <p:txBody>
          <a:bodyPr/>
          <a:lstStyle/>
          <a:p>
            <a:endParaRPr lang="zh-CN" altLang="en-US"/>
          </a:p>
        </p:txBody>
      </p:sp>
      <p:sp>
        <p:nvSpPr>
          <p:cNvPr id="37" name="Text 35"/>
          <p:cNvSpPr/>
          <p:nvPr/>
        </p:nvSpPr>
        <p:spPr>
          <a:xfrm>
            <a:off x="8799065" y="1434353"/>
            <a:ext cx="700690" cy="230815"/>
          </a:xfrm>
          <a:prstGeom prst="rect">
            <a:avLst/>
          </a:prstGeom>
          <a:noFill/>
          <a:ln/>
        </p:spPr>
        <p:txBody>
          <a:bodyPr wrap="square" lIns="0" tIns="0" rIns="0" bIns="0" rtlCol="0" anchor="ctr"/>
          <a:lstStyle/>
          <a:p>
            <a:pPr>
              <a:lnSpc>
                <a:spcPct val="120000"/>
              </a:lnSpc>
            </a:pPr>
            <a:r>
              <a:rPr lang="en-US" sz="1298" b="1" dirty="0">
                <a:solidFill>
                  <a:srgbClr val="E0E2E5"/>
                </a:solidFill>
                <a:latin typeface="Noto Sans SC" pitchFamily="34" charset="0"/>
                <a:ea typeface="Noto Sans SC" pitchFamily="34" charset="-122"/>
                <a:cs typeface="Noto Sans SC" pitchFamily="34" charset="-120"/>
              </a:rPr>
              <a:t>SGLang</a:t>
            </a:r>
            <a:endParaRPr lang="en-US" sz="1600" dirty="0"/>
          </a:p>
        </p:txBody>
      </p:sp>
      <p:sp>
        <p:nvSpPr>
          <p:cNvPr id="38" name="Shape 36"/>
          <p:cNvSpPr/>
          <p:nvPr/>
        </p:nvSpPr>
        <p:spPr>
          <a:xfrm>
            <a:off x="8304460" y="1879497"/>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39" name="Text 37"/>
          <p:cNvSpPr/>
          <p:nvPr/>
        </p:nvSpPr>
        <p:spPr>
          <a:xfrm>
            <a:off x="8403381" y="1978418"/>
            <a:ext cx="3264389" cy="197842"/>
          </a:xfrm>
          <a:prstGeom prst="rect">
            <a:avLst/>
          </a:prstGeom>
          <a:noFill/>
          <a:ln/>
        </p:spPr>
        <p:txBody>
          <a:bodyPr wrap="square" lIns="0" tIns="0" rIns="0" bIns="0" rtlCol="0" anchor="ctr"/>
          <a:lstStyle/>
          <a:p>
            <a:pPr>
              <a:lnSpc>
                <a:spcPct val="130000"/>
              </a:lnSpc>
            </a:pPr>
            <a:r>
              <a:rPr lang="en-US" sz="1039" b="1" dirty="0">
                <a:solidFill>
                  <a:srgbClr val="5F6B7A"/>
                </a:solidFill>
                <a:latin typeface="Noto Sans SC" pitchFamily="34" charset="0"/>
                <a:ea typeface="Noto Sans SC" pitchFamily="34" charset="-122"/>
                <a:cs typeface="Noto Sans SC" pitchFamily="34" charset="-120"/>
              </a:rPr>
              <a:t>核心特性</a:t>
            </a:r>
            <a:endParaRPr lang="en-US" sz="1600" dirty="0"/>
          </a:p>
        </p:txBody>
      </p:sp>
      <p:sp>
        <p:nvSpPr>
          <p:cNvPr id="40" name="Text 38"/>
          <p:cNvSpPr/>
          <p:nvPr/>
        </p:nvSpPr>
        <p:spPr>
          <a:xfrm>
            <a:off x="8403381" y="2209233"/>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利用 RadixAttention 实现精细化前缀缓存</a:t>
            </a:r>
            <a:endParaRPr lang="en-US" sz="1600" dirty="0"/>
          </a:p>
        </p:txBody>
      </p:sp>
      <p:sp>
        <p:nvSpPr>
          <p:cNvPr id="41" name="Shape 39"/>
          <p:cNvSpPr/>
          <p:nvPr/>
        </p:nvSpPr>
        <p:spPr>
          <a:xfrm>
            <a:off x="8304460" y="2538970"/>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42" name="Text 40"/>
          <p:cNvSpPr/>
          <p:nvPr/>
        </p:nvSpPr>
        <p:spPr>
          <a:xfrm>
            <a:off x="8403381" y="2637890"/>
            <a:ext cx="3264389" cy="197842"/>
          </a:xfrm>
          <a:prstGeom prst="rect">
            <a:avLst/>
          </a:prstGeom>
          <a:noFill/>
          <a:ln/>
        </p:spPr>
        <p:txBody>
          <a:bodyPr wrap="square" lIns="0" tIns="0" rIns="0" bIns="0" rtlCol="0" anchor="ctr"/>
          <a:lstStyle/>
          <a:p>
            <a:pPr>
              <a:lnSpc>
                <a:spcPct val="130000"/>
              </a:lnSpc>
            </a:pPr>
            <a:r>
              <a:rPr lang="en-US" sz="1039" b="1" dirty="0">
                <a:solidFill>
                  <a:srgbClr val="5F6B7A"/>
                </a:solidFill>
                <a:latin typeface="Noto Sans SC" pitchFamily="34" charset="0"/>
                <a:ea typeface="Noto Sans SC" pitchFamily="34" charset="-122"/>
                <a:cs typeface="Noto Sans SC" pitchFamily="34" charset="-120"/>
              </a:rPr>
              <a:t>创新点</a:t>
            </a:r>
            <a:endParaRPr lang="en-US" sz="1600" dirty="0"/>
          </a:p>
        </p:txBody>
      </p:sp>
      <p:sp>
        <p:nvSpPr>
          <p:cNvPr id="43" name="Text 41"/>
          <p:cNvSpPr/>
          <p:nvPr/>
        </p:nvSpPr>
        <p:spPr>
          <a:xfrm>
            <a:off x="8403381" y="2868706"/>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基于基数树的前缀缓存复用机制</a:t>
            </a:r>
            <a:endParaRPr lang="en-US" sz="1600" dirty="0"/>
          </a:p>
        </p:txBody>
      </p:sp>
      <p:sp>
        <p:nvSpPr>
          <p:cNvPr id="44" name="Shape 42"/>
          <p:cNvSpPr/>
          <p:nvPr/>
        </p:nvSpPr>
        <p:spPr>
          <a:xfrm>
            <a:off x="8304460" y="3198442"/>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45" name="Text 43"/>
          <p:cNvSpPr/>
          <p:nvPr/>
        </p:nvSpPr>
        <p:spPr>
          <a:xfrm>
            <a:off x="8403381" y="3297363"/>
            <a:ext cx="3264389" cy="197842"/>
          </a:xfrm>
          <a:prstGeom prst="rect">
            <a:avLst/>
          </a:prstGeom>
          <a:noFill/>
          <a:ln/>
        </p:spPr>
        <p:txBody>
          <a:bodyPr wrap="square" lIns="0" tIns="0" rIns="0" bIns="0" rtlCol="0" anchor="ctr"/>
          <a:lstStyle/>
          <a:p>
            <a:pPr>
              <a:lnSpc>
                <a:spcPct val="130000"/>
              </a:lnSpc>
            </a:pPr>
            <a:r>
              <a:rPr lang="en-US" sz="1039" b="1" dirty="0">
                <a:solidFill>
                  <a:srgbClr val="5F6B7A"/>
                </a:solidFill>
                <a:latin typeface="Noto Sans SC" pitchFamily="34" charset="0"/>
                <a:ea typeface="Noto Sans SC" pitchFamily="34" charset="-122"/>
                <a:cs typeface="Noto Sans SC" pitchFamily="34" charset="-120"/>
              </a:rPr>
              <a:t>优势</a:t>
            </a:r>
            <a:endParaRPr lang="en-US" sz="1600" dirty="0"/>
          </a:p>
        </p:txBody>
      </p:sp>
      <p:sp>
        <p:nvSpPr>
          <p:cNvPr id="46" name="Text 44"/>
          <p:cNvSpPr/>
          <p:nvPr/>
        </p:nvSpPr>
        <p:spPr>
          <a:xfrm>
            <a:off x="8403381" y="3528178"/>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多轮对话场景性能卓越</a:t>
            </a:r>
            <a:endParaRPr lang="en-US" sz="1600" dirty="0"/>
          </a:p>
        </p:txBody>
      </p:sp>
      <p:sp>
        <p:nvSpPr>
          <p:cNvPr id="47" name="Shape 45"/>
          <p:cNvSpPr/>
          <p:nvPr/>
        </p:nvSpPr>
        <p:spPr>
          <a:xfrm>
            <a:off x="346223" y="4036180"/>
            <a:ext cx="3742507" cy="2769785"/>
          </a:xfrm>
          <a:custGeom>
            <a:avLst/>
            <a:gdLst/>
            <a:ahLst/>
            <a:cxnLst/>
            <a:rect l="l" t="t" r="r" b="b"/>
            <a:pathLst>
              <a:path w="3742507" h="2769785">
                <a:moveTo>
                  <a:pt x="32974" y="0"/>
                </a:moveTo>
                <a:lnTo>
                  <a:pt x="3676559" y="0"/>
                </a:lnTo>
                <a:cubicBezTo>
                  <a:pt x="3712981" y="0"/>
                  <a:pt x="3742507" y="29526"/>
                  <a:pt x="3742507" y="65949"/>
                </a:cubicBezTo>
                <a:lnTo>
                  <a:pt x="3742507" y="2703836"/>
                </a:lnTo>
                <a:cubicBezTo>
                  <a:pt x="3742507" y="2740259"/>
                  <a:pt x="3712981" y="2769785"/>
                  <a:pt x="3676559" y="2769785"/>
                </a:cubicBezTo>
                <a:lnTo>
                  <a:pt x="32974" y="2769785"/>
                </a:lnTo>
                <a:cubicBezTo>
                  <a:pt x="14763" y="2769785"/>
                  <a:pt x="0" y="2755022"/>
                  <a:pt x="0" y="2736811"/>
                </a:cubicBezTo>
                <a:lnTo>
                  <a:pt x="0" y="32974"/>
                </a:lnTo>
                <a:cubicBezTo>
                  <a:pt x="0" y="14775"/>
                  <a:pt x="14775" y="0"/>
                  <a:pt x="32974" y="0"/>
                </a:cubicBezTo>
                <a:close/>
              </a:path>
            </a:pathLst>
          </a:custGeom>
          <a:solidFill>
            <a:srgbClr val="3D8B75">
              <a:alpha val="10196"/>
            </a:srgbClr>
          </a:solidFill>
          <a:ln/>
        </p:spPr>
        <p:txBody>
          <a:bodyPr/>
          <a:lstStyle/>
          <a:p>
            <a:endParaRPr lang="zh-CN" altLang="en-US"/>
          </a:p>
        </p:txBody>
      </p:sp>
      <p:sp>
        <p:nvSpPr>
          <p:cNvPr id="48" name="Shape 46"/>
          <p:cNvSpPr/>
          <p:nvPr/>
        </p:nvSpPr>
        <p:spPr>
          <a:xfrm>
            <a:off x="346223" y="4036180"/>
            <a:ext cx="32974" cy="2769785"/>
          </a:xfrm>
          <a:custGeom>
            <a:avLst/>
            <a:gdLst/>
            <a:ahLst/>
            <a:cxnLst/>
            <a:rect l="l" t="t" r="r" b="b"/>
            <a:pathLst>
              <a:path w="32974" h="2769785">
                <a:moveTo>
                  <a:pt x="32974" y="0"/>
                </a:moveTo>
                <a:lnTo>
                  <a:pt x="32974" y="0"/>
                </a:lnTo>
                <a:lnTo>
                  <a:pt x="32974" y="2769785"/>
                </a:lnTo>
                <a:lnTo>
                  <a:pt x="32974" y="2769785"/>
                </a:lnTo>
                <a:cubicBezTo>
                  <a:pt x="14763" y="2769785"/>
                  <a:pt x="0" y="2755022"/>
                  <a:pt x="0" y="2736811"/>
                </a:cubicBezTo>
                <a:lnTo>
                  <a:pt x="0" y="32974"/>
                </a:lnTo>
                <a:cubicBezTo>
                  <a:pt x="0" y="14775"/>
                  <a:pt x="14775" y="0"/>
                  <a:pt x="32974" y="0"/>
                </a:cubicBezTo>
                <a:close/>
              </a:path>
            </a:pathLst>
          </a:custGeom>
          <a:solidFill>
            <a:srgbClr val="3D8B75"/>
          </a:solidFill>
          <a:ln/>
        </p:spPr>
        <p:txBody>
          <a:bodyPr/>
          <a:lstStyle/>
          <a:p>
            <a:endParaRPr lang="zh-CN" altLang="en-US"/>
          </a:p>
        </p:txBody>
      </p:sp>
      <p:sp>
        <p:nvSpPr>
          <p:cNvPr id="49" name="Shape 47"/>
          <p:cNvSpPr/>
          <p:nvPr/>
        </p:nvSpPr>
        <p:spPr>
          <a:xfrm>
            <a:off x="527578" y="4201048"/>
            <a:ext cx="395684" cy="395684"/>
          </a:xfrm>
          <a:custGeom>
            <a:avLst/>
            <a:gdLst/>
            <a:ahLst/>
            <a:cxnLst/>
            <a:rect l="l" t="t" r="r" b="b"/>
            <a:pathLst>
              <a:path w="395684" h="395684">
                <a:moveTo>
                  <a:pt x="65949" y="0"/>
                </a:moveTo>
                <a:lnTo>
                  <a:pt x="329735" y="0"/>
                </a:lnTo>
                <a:cubicBezTo>
                  <a:pt x="366133" y="0"/>
                  <a:pt x="395684" y="29551"/>
                  <a:pt x="395684" y="65949"/>
                </a:cubicBezTo>
                <a:lnTo>
                  <a:pt x="395684" y="329735"/>
                </a:lnTo>
                <a:cubicBezTo>
                  <a:pt x="395684" y="366157"/>
                  <a:pt x="366157" y="395684"/>
                  <a:pt x="329735" y="395684"/>
                </a:cubicBezTo>
                <a:lnTo>
                  <a:pt x="65949" y="395684"/>
                </a:lnTo>
                <a:cubicBezTo>
                  <a:pt x="29551" y="395684"/>
                  <a:pt x="0" y="366133"/>
                  <a:pt x="0" y="329735"/>
                </a:cubicBezTo>
                <a:lnTo>
                  <a:pt x="0" y="65949"/>
                </a:lnTo>
                <a:cubicBezTo>
                  <a:pt x="0" y="29551"/>
                  <a:pt x="29551" y="0"/>
                  <a:pt x="65949" y="0"/>
                </a:cubicBezTo>
                <a:close/>
              </a:path>
            </a:pathLst>
          </a:custGeom>
          <a:solidFill>
            <a:srgbClr val="3D8B75"/>
          </a:solidFill>
          <a:ln/>
        </p:spPr>
        <p:txBody>
          <a:bodyPr/>
          <a:lstStyle/>
          <a:p>
            <a:endParaRPr lang="zh-CN" altLang="en-US"/>
          </a:p>
        </p:txBody>
      </p:sp>
      <p:sp>
        <p:nvSpPr>
          <p:cNvPr id="50" name="Shape 48"/>
          <p:cNvSpPr/>
          <p:nvPr/>
        </p:nvSpPr>
        <p:spPr>
          <a:xfrm>
            <a:off x="632682" y="4316456"/>
            <a:ext cx="185477" cy="164868"/>
          </a:xfrm>
          <a:custGeom>
            <a:avLst/>
            <a:gdLst/>
            <a:ahLst/>
            <a:cxnLst/>
            <a:rect l="l" t="t" r="r" b="b"/>
            <a:pathLst>
              <a:path w="185477" h="164868">
                <a:moveTo>
                  <a:pt x="0" y="108195"/>
                </a:moveTo>
                <a:cubicBezTo>
                  <a:pt x="0" y="133794"/>
                  <a:pt x="20770" y="154564"/>
                  <a:pt x="46369" y="154564"/>
                </a:cubicBezTo>
                <a:lnTo>
                  <a:pt x="144260" y="154564"/>
                </a:lnTo>
                <a:cubicBezTo>
                  <a:pt x="167026" y="154564"/>
                  <a:pt x="185477" y="136113"/>
                  <a:pt x="185477" y="113347"/>
                </a:cubicBezTo>
                <a:cubicBezTo>
                  <a:pt x="185477" y="96731"/>
                  <a:pt x="175655" y="82402"/>
                  <a:pt x="161487" y="75897"/>
                </a:cubicBezTo>
                <a:cubicBezTo>
                  <a:pt x="163645" y="71679"/>
                  <a:pt x="164868" y="66881"/>
                  <a:pt x="164868" y="61826"/>
                </a:cubicBezTo>
                <a:cubicBezTo>
                  <a:pt x="164868" y="44759"/>
                  <a:pt x="151022" y="30913"/>
                  <a:pt x="133955" y="30913"/>
                </a:cubicBezTo>
                <a:cubicBezTo>
                  <a:pt x="128256" y="30913"/>
                  <a:pt x="122943" y="32458"/>
                  <a:pt x="118370" y="35131"/>
                </a:cubicBezTo>
                <a:cubicBezTo>
                  <a:pt x="110610" y="20383"/>
                  <a:pt x="95121" y="10304"/>
                  <a:pt x="77282" y="10304"/>
                </a:cubicBezTo>
                <a:cubicBezTo>
                  <a:pt x="51682" y="10304"/>
                  <a:pt x="30913" y="31074"/>
                  <a:pt x="30913" y="56673"/>
                </a:cubicBezTo>
                <a:cubicBezTo>
                  <a:pt x="30913" y="59249"/>
                  <a:pt x="31138" y="61793"/>
                  <a:pt x="31525" y="64241"/>
                </a:cubicBezTo>
                <a:cubicBezTo>
                  <a:pt x="13202" y="70423"/>
                  <a:pt x="0" y="87779"/>
                  <a:pt x="0" y="108195"/>
                </a:cubicBezTo>
                <a:close/>
              </a:path>
            </a:pathLst>
          </a:custGeom>
          <a:solidFill>
            <a:srgbClr val="FFFFFF"/>
          </a:solidFill>
          <a:ln/>
        </p:spPr>
        <p:txBody>
          <a:bodyPr/>
          <a:lstStyle/>
          <a:p>
            <a:endParaRPr lang="zh-CN" altLang="en-US"/>
          </a:p>
        </p:txBody>
      </p:sp>
      <p:sp>
        <p:nvSpPr>
          <p:cNvPr id="51" name="Text 49"/>
          <p:cNvSpPr/>
          <p:nvPr/>
        </p:nvSpPr>
        <p:spPr>
          <a:xfrm>
            <a:off x="1022183" y="4283482"/>
            <a:ext cx="931505" cy="230815"/>
          </a:xfrm>
          <a:prstGeom prst="rect">
            <a:avLst/>
          </a:prstGeom>
          <a:noFill/>
          <a:ln/>
        </p:spPr>
        <p:txBody>
          <a:bodyPr wrap="square" lIns="0" tIns="0" rIns="0" bIns="0" rtlCol="0" anchor="ctr"/>
          <a:lstStyle/>
          <a:p>
            <a:pPr>
              <a:lnSpc>
                <a:spcPct val="120000"/>
              </a:lnSpc>
            </a:pPr>
            <a:r>
              <a:rPr lang="en-US" sz="1298" b="1" dirty="0">
                <a:solidFill>
                  <a:srgbClr val="E0E2E5"/>
                </a:solidFill>
                <a:latin typeface="Noto Sans SC" pitchFamily="34" charset="0"/>
                <a:ea typeface="Noto Sans SC" pitchFamily="34" charset="-122"/>
                <a:cs typeface="Noto Sans SC" pitchFamily="34" charset="-120"/>
              </a:rPr>
              <a:t>ShadowKV</a:t>
            </a:r>
            <a:endParaRPr lang="en-US" sz="1600" dirty="0"/>
          </a:p>
        </p:txBody>
      </p:sp>
      <p:sp>
        <p:nvSpPr>
          <p:cNvPr id="52" name="Shape 50"/>
          <p:cNvSpPr/>
          <p:nvPr/>
        </p:nvSpPr>
        <p:spPr>
          <a:xfrm>
            <a:off x="527578" y="4728626"/>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53" name="Text 51"/>
          <p:cNvSpPr/>
          <p:nvPr/>
        </p:nvSpPr>
        <p:spPr>
          <a:xfrm>
            <a:off x="626499" y="4827547"/>
            <a:ext cx="3264389" cy="197842"/>
          </a:xfrm>
          <a:prstGeom prst="rect">
            <a:avLst/>
          </a:prstGeom>
          <a:noFill/>
          <a:ln/>
        </p:spPr>
        <p:txBody>
          <a:bodyPr wrap="square" lIns="0" tIns="0" rIns="0" bIns="0" rtlCol="0" anchor="ctr"/>
          <a:lstStyle/>
          <a:p>
            <a:pPr>
              <a:lnSpc>
                <a:spcPct val="130000"/>
              </a:lnSpc>
            </a:pPr>
            <a:r>
              <a:rPr lang="en-US" sz="1039" b="1" dirty="0">
                <a:solidFill>
                  <a:srgbClr val="3D8B75"/>
                </a:solidFill>
                <a:latin typeface="Noto Sans SC" pitchFamily="34" charset="0"/>
                <a:ea typeface="Noto Sans SC" pitchFamily="34" charset="-122"/>
                <a:cs typeface="Noto Sans SC" pitchFamily="34" charset="-120"/>
              </a:rPr>
              <a:t>异构模式</a:t>
            </a:r>
            <a:endParaRPr lang="en-US" sz="1600" dirty="0"/>
          </a:p>
        </p:txBody>
      </p:sp>
      <p:sp>
        <p:nvSpPr>
          <p:cNvPr id="54" name="Text 52"/>
          <p:cNvSpPr/>
          <p:nvPr/>
        </p:nvSpPr>
        <p:spPr>
          <a:xfrm>
            <a:off x="626499" y="5058363"/>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Key 低秩存储 + Value 卸载</a:t>
            </a:r>
            <a:endParaRPr lang="en-US" sz="1600" dirty="0"/>
          </a:p>
        </p:txBody>
      </p:sp>
      <p:sp>
        <p:nvSpPr>
          <p:cNvPr id="55" name="Shape 53"/>
          <p:cNvSpPr/>
          <p:nvPr/>
        </p:nvSpPr>
        <p:spPr>
          <a:xfrm>
            <a:off x="527578" y="5388099"/>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56" name="Text 54"/>
          <p:cNvSpPr/>
          <p:nvPr/>
        </p:nvSpPr>
        <p:spPr>
          <a:xfrm>
            <a:off x="626499" y="5487020"/>
            <a:ext cx="3264389" cy="197842"/>
          </a:xfrm>
          <a:prstGeom prst="rect">
            <a:avLst/>
          </a:prstGeom>
          <a:noFill/>
          <a:ln/>
        </p:spPr>
        <p:txBody>
          <a:bodyPr wrap="square" lIns="0" tIns="0" rIns="0" bIns="0" rtlCol="0" anchor="ctr"/>
          <a:lstStyle/>
          <a:p>
            <a:pPr>
              <a:lnSpc>
                <a:spcPct val="130000"/>
              </a:lnSpc>
            </a:pPr>
            <a:r>
              <a:rPr lang="en-US" sz="1039" b="1" dirty="0">
                <a:solidFill>
                  <a:srgbClr val="3D8B75"/>
                </a:solidFill>
                <a:latin typeface="Noto Sans SC" pitchFamily="34" charset="0"/>
                <a:ea typeface="Noto Sans SC" pitchFamily="34" charset="-122"/>
                <a:cs typeface="Noto Sans SC" pitchFamily="34" charset="-120"/>
              </a:rPr>
              <a:t>突破</a:t>
            </a:r>
            <a:endParaRPr lang="en-US" sz="1600" dirty="0"/>
          </a:p>
        </p:txBody>
      </p:sp>
      <p:sp>
        <p:nvSpPr>
          <p:cNvPr id="57" name="Text 55"/>
          <p:cNvSpPr/>
          <p:nvPr/>
        </p:nvSpPr>
        <p:spPr>
          <a:xfrm>
            <a:off x="626499" y="5717835"/>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超越内存物理上限的理论批处理性能</a:t>
            </a:r>
            <a:endParaRPr lang="en-US" sz="1600" dirty="0"/>
          </a:p>
        </p:txBody>
      </p:sp>
      <p:sp>
        <p:nvSpPr>
          <p:cNvPr id="58" name="Shape 56"/>
          <p:cNvSpPr/>
          <p:nvPr/>
        </p:nvSpPr>
        <p:spPr>
          <a:xfrm>
            <a:off x="527578" y="6047572"/>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59" name="Text 57"/>
          <p:cNvSpPr/>
          <p:nvPr/>
        </p:nvSpPr>
        <p:spPr>
          <a:xfrm>
            <a:off x="626499" y="6146493"/>
            <a:ext cx="3264389" cy="197842"/>
          </a:xfrm>
          <a:prstGeom prst="rect">
            <a:avLst/>
          </a:prstGeom>
          <a:noFill/>
          <a:ln/>
        </p:spPr>
        <p:txBody>
          <a:bodyPr wrap="square" lIns="0" tIns="0" rIns="0" bIns="0" rtlCol="0" anchor="ctr"/>
          <a:lstStyle/>
          <a:p>
            <a:pPr>
              <a:lnSpc>
                <a:spcPct val="130000"/>
              </a:lnSpc>
            </a:pPr>
            <a:r>
              <a:rPr lang="en-US" sz="1039" b="1" dirty="0">
                <a:solidFill>
                  <a:srgbClr val="3D8B75"/>
                </a:solidFill>
                <a:latin typeface="Noto Sans SC" pitchFamily="34" charset="0"/>
                <a:ea typeface="Noto Sans SC" pitchFamily="34" charset="-122"/>
                <a:cs typeface="Noto Sans SC" pitchFamily="34" charset="-120"/>
              </a:rPr>
              <a:t>平台</a:t>
            </a:r>
            <a:endParaRPr lang="en-US" sz="1600" dirty="0"/>
          </a:p>
        </p:txBody>
      </p:sp>
      <p:sp>
        <p:nvSpPr>
          <p:cNvPr id="60" name="Text 58"/>
          <p:cNvSpPr/>
          <p:nvPr/>
        </p:nvSpPr>
        <p:spPr>
          <a:xfrm>
            <a:off x="626499" y="6377308"/>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A100 GPU 验证</a:t>
            </a:r>
            <a:endParaRPr lang="en-US" sz="1600" dirty="0"/>
          </a:p>
        </p:txBody>
      </p:sp>
      <p:sp>
        <p:nvSpPr>
          <p:cNvPr id="61" name="Shape 59"/>
          <p:cNvSpPr/>
          <p:nvPr/>
        </p:nvSpPr>
        <p:spPr>
          <a:xfrm>
            <a:off x="4234664" y="4036180"/>
            <a:ext cx="3742507" cy="2769785"/>
          </a:xfrm>
          <a:custGeom>
            <a:avLst/>
            <a:gdLst/>
            <a:ahLst/>
            <a:cxnLst/>
            <a:rect l="l" t="t" r="r" b="b"/>
            <a:pathLst>
              <a:path w="3742507" h="2769785">
                <a:moveTo>
                  <a:pt x="32974" y="0"/>
                </a:moveTo>
                <a:lnTo>
                  <a:pt x="3676559" y="0"/>
                </a:lnTo>
                <a:cubicBezTo>
                  <a:pt x="3712981" y="0"/>
                  <a:pt x="3742507" y="29526"/>
                  <a:pt x="3742507" y="65949"/>
                </a:cubicBezTo>
                <a:lnTo>
                  <a:pt x="3742507" y="2703836"/>
                </a:lnTo>
                <a:cubicBezTo>
                  <a:pt x="3742507" y="2740259"/>
                  <a:pt x="3712981" y="2769785"/>
                  <a:pt x="3676559" y="2769785"/>
                </a:cubicBezTo>
                <a:lnTo>
                  <a:pt x="32974" y="2769785"/>
                </a:lnTo>
                <a:cubicBezTo>
                  <a:pt x="14763" y="2769785"/>
                  <a:pt x="0" y="2755022"/>
                  <a:pt x="0" y="2736811"/>
                </a:cubicBezTo>
                <a:lnTo>
                  <a:pt x="0" y="32974"/>
                </a:lnTo>
                <a:cubicBezTo>
                  <a:pt x="0" y="14775"/>
                  <a:pt x="14775" y="0"/>
                  <a:pt x="32974" y="0"/>
                </a:cubicBezTo>
                <a:close/>
              </a:path>
            </a:pathLst>
          </a:custGeom>
          <a:solidFill>
            <a:srgbClr val="C9A86A">
              <a:alpha val="10196"/>
            </a:srgbClr>
          </a:solidFill>
          <a:ln/>
        </p:spPr>
        <p:txBody>
          <a:bodyPr/>
          <a:lstStyle/>
          <a:p>
            <a:endParaRPr lang="zh-CN" altLang="en-US"/>
          </a:p>
        </p:txBody>
      </p:sp>
      <p:sp>
        <p:nvSpPr>
          <p:cNvPr id="62" name="Shape 60"/>
          <p:cNvSpPr/>
          <p:nvPr/>
        </p:nvSpPr>
        <p:spPr>
          <a:xfrm>
            <a:off x="4234664" y="4036180"/>
            <a:ext cx="32974" cy="2769785"/>
          </a:xfrm>
          <a:custGeom>
            <a:avLst/>
            <a:gdLst/>
            <a:ahLst/>
            <a:cxnLst/>
            <a:rect l="l" t="t" r="r" b="b"/>
            <a:pathLst>
              <a:path w="32974" h="2769785">
                <a:moveTo>
                  <a:pt x="32974" y="0"/>
                </a:moveTo>
                <a:lnTo>
                  <a:pt x="32974" y="0"/>
                </a:lnTo>
                <a:lnTo>
                  <a:pt x="32974" y="2769785"/>
                </a:lnTo>
                <a:lnTo>
                  <a:pt x="32974" y="2769785"/>
                </a:lnTo>
                <a:cubicBezTo>
                  <a:pt x="14763" y="2769785"/>
                  <a:pt x="0" y="2755022"/>
                  <a:pt x="0" y="2736811"/>
                </a:cubicBezTo>
                <a:lnTo>
                  <a:pt x="0" y="32974"/>
                </a:lnTo>
                <a:cubicBezTo>
                  <a:pt x="0" y="14775"/>
                  <a:pt x="14775" y="0"/>
                  <a:pt x="32974" y="0"/>
                </a:cubicBezTo>
                <a:close/>
              </a:path>
            </a:pathLst>
          </a:custGeom>
          <a:solidFill>
            <a:srgbClr val="C9A86A"/>
          </a:solidFill>
          <a:ln/>
        </p:spPr>
        <p:txBody>
          <a:bodyPr/>
          <a:lstStyle/>
          <a:p>
            <a:endParaRPr lang="zh-CN" altLang="en-US"/>
          </a:p>
        </p:txBody>
      </p:sp>
      <p:sp>
        <p:nvSpPr>
          <p:cNvPr id="63" name="Shape 61"/>
          <p:cNvSpPr/>
          <p:nvPr/>
        </p:nvSpPr>
        <p:spPr>
          <a:xfrm>
            <a:off x="4416019" y="4201048"/>
            <a:ext cx="395684" cy="395684"/>
          </a:xfrm>
          <a:custGeom>
            <a:avLst/>
            <a:gdLst/>
            <a:ahLst/>
            <a:cxnLst/>
            <a:rect l="l" t="t" r="r" b="b"/>
            <a:pathLst>
              <a:path w="395684" h="395684">
                <a:moveTo>
                  <a:pt x="65949" y="0"/>
                </a:moveTo>
                <a:lnTo>
                  <a:pt x="329735" y="0"/>
                </a:lnTo>
                <a:cubicBezTo>
                  <a:pt x="366133" y="0"/>
                  <a:pt x="395684" y="29551"/>
                  <a:pt x="395684" y="65949"/>
                </a:cubicBezTo>
                <a:lnTo>
                  <a:pt x="395684" y="329735"/>
                </a:lnTo>
                <a:cubicBezTo>
                  <a:pt x="395684" y="366157"/>
                  <a:pt x="366157" y="395684"/>
                  <a:pt x="329735" y="395684"/>
                </a:cubicBezTo>
                <a:lnTo>
                  <a:pt x="65949" y="395684"/>
                </a:lnTo>
                <a:cubicBezTo>
                  <a:pt x="29551" y="395684"/>
                  <a:pt x="0" y="366133"/>
                  <a:pt x="0" y="329735"/>
                </a:cubicBezTo>
                <a:lnTo>
                  <a:pt x="0" y="65949"/>
                </a:lnTo>
                <a:cubicBezTo>
                  <a:pt x="0" y="29551"/>
                  <a:pt x="29551" y="0"/>
                  <a:pt x="65949" y="0"/>
                </a:cubicBezTo>
                <a:close/>
              </a:path>
            </a:pathLst>
          </a:custGeom>
          <a:solidFill>
            <a:srgbClr val="C9A86A"/>
          </a:solidFill>
          <a:ln/>
        </p:spPr>
        <p:txBody>
          <a:bodyPr/>
          <a:lstStyle/>
          <a:p>
            <a:endParaRPr lang="zh-CN" altLang="en-US"/>
          </a:p>
        </p:txBody>
      </p:sp>
      <p:sp>
        <p:nvSpPr>
          <p:cNvPr id="64" name="Shape 62"/>
          <p:cNvSpPr/>
          <p:nvPr/>
        </p:nvSpPr>
        <p:spPr>
          <a:xfrm>
            <a:off x="4541731" y="4316456"/>
            <a:ext cx="144260" cy="164868"/>
          </a:xfrm>
          <a:custGeom>
            <a:avLst/>
            <a:gdLst/>
            <a:ahLst/>
            <a:cxnLst/>
            <a:rect l="l" t="t" r="r" b="b"/>
            <a:pathLst>
              <a:path w="144260" h="164868">
                <a:moveTo>
                  <a:pt x="144260" y="66269"/>
                </a:moveTo>
                <a:cubicBezTo>
                  <a:pt x="139494" y="69425"/>
                  <a:pt x="134020" y="71969"/>
                  <a:pt x="128320" y="73997"/>
                </a:cubicBezTo>
                <a:cubicBezTo>
                  <a:pt x="113186" y="79407"/>
                  <a:pt x="93318" y="82434"/>
                  <a:pt x="72130" y="82434"/>
                </a:cubicBezTo>
                <a:cubicBezTo>
                  <a:pt x="50942" y="82434"/>
                  <a:pt x="31042" y="79375"/>
                  <a:pt x="15939" y="73997"/>
                </a:cubicBezTo>
                <a:cubicBezTo>
                  <a:pt x="10272" y="71969"/>
                  <a:pt x="4766" y="69425"/>
                  <a:pt x="0" y="66269"/>
                </a:cubicBezTo>
                <a:lnTo>
                  <a:pt x="0" y="92738"/>
                </a:lnTo>
                <a:cubicBezTo>
                  <a:pt x="0" y="106971"/>
                  <a:pt x="32297" y="118499"/>
                  <a:pt x="72130" y="118499"/>
                </a:cubicBezTo>
                <a:cubicBezTo>
                  <a:pt x="111962" y="118499"/>
                  <a:pt x="144260" y="106971"/>
                  <a:pt x="144260" y="92738"/>
                </a:cubicBezTo>
                <a:lnTo>
                  <a:pt x="144260" y="66269"/>
                </a:lnTo>
                <a:close/>
                <a:moveTo>
                  <a:pt x="144260" y="41217"/>
                </a:moveTo>
                <a:lnTo>
                  <a:pt x="144260" y="25761"/>
                </a:lnTo>
                <a:cubicBezTo>
                  <a:pt x="144260" y="11528"/>
                  <a:pt x="111962" y="0"/>
                  <a:pt x="72130" y="0"/>
                </a:cubicBezTo>
                <a:cubicBezTo>
                  <a:pt x="32297" y="0"/>
                  <a:pt x="0" y="11528"/>
                  <a:pt x="0" y="25761"/>
                </a:cubicBezTo>
                <a:lnTo>
                  <a:pt x="0" y="41217"/>
                </a:lnTo>
                <a:cubicBezTo>
                  <a:pt x="0" y="55450"/>
                  <a:pt x="32297" y="66978"/>
                  <a:pt x="72130" y="66978"/>
                </a:cubicBezTo>
                <a:cubicBezTo>
                  <a:pt x="111962" y="66978"/>
                  <a:pt x="144260" y="55450"/>
                  <a:pt x="144260" y="41217"/>
                </a:cubicBezTo>
                <a:close/>
                <a:moveTo>
                  <a:pt x="128320" y="125519"/>
                </a:moveTo>
                <a:cubicBezTo>
                  <a:pt x="113218" y="130896"/>
                  <a:pt x="93350" y="133955"/>
                  <a:pt x="72130" y="133955"/>
                </a:cubicBezTo>
                <a:cubicBezTo>
                  <a:pt x="50909" y="133955"/>
                  <a:pt x="31042" y="130896"/>
                  <a:pt x="15939" y="125519"/>
                </a:cubicBezTo>
                <a:cubicBezTo>
                  <a:pt x="10272" y="123490"/>
                  <a:pt x="4766" y="120946"/>
                  <a:pt x="0" y="117791"/>
                </a:cubicBezTo>
                <a:lnTo>
                  <a:pt x="0" y="139108"/>
                </a:lnTo>
                <a:cubicBezTo>
                  <a:pt x="0" y="153340"/>
                  <a:pt x="32297" y="164868"/>
                  <a:pt x="72130" y="164868"/>
                </a:cubicBezTo>
                <a:cubicBezTo>
                  <a:pt x="111962" y="164868"/>
                  <a:pt x="144260" y="153340"/>
                  <a:pt x="144260" y="139108"/>
                </a:cubicBezTo>
                <a:lnTo>
                  <a:pt x="144260" y="117791"/>
                </a:lnTo>
                <a:cubicBezTo>
                  <a:pt x="139494" y="120946"/>
                  <a:pt x="134020" y="123490"/>
                  <a:pt x="128320" y="125519"/>
                </a:cubicBezTo>
                <a:close/>
              </a:path>
            </a:pathLst>
          </a:custGeom>
          <a:solidFill>
            <a:srgbClr val="FFFFFF"/>
          </a:solidFill>
          <a:ln/>
        </p:spPr>
        <p:txBody>
          <a:bodyPr/>
          <a:lstStyle/>
          <a:p>
            <a:endParaRPr lang="zh-CN" altLang="en-US"/>
          </a:p>
        </p:txBody>
      </p:sp>
      <p:sp>
        <p:nvSpPr>
          <p:cNvPr id="65" name="Text 63"/>
          <p:cNvSpPr/>
          <p:nvPr/>
        </p:nvSpPr>
        <p:spPr>
          <a:xfrm>
            <a:off x="4910624" y="4283482"/>
            <a:ext cx="824341" cy="230815"/>
          </a:xfrm>
          <a:prstGeom prst="rect">
            <a:avLst/>
          </a:prstGeom>
          <a:noFill/>
          <a:ln/>
        </p:spPr>
        <p:txBody>
          <a:bodyPr wrap="square" lIns="0" tIns="0" rIns="0" bIns="0" rtlCol="0" anchor="ctr"/>
          <a:lstStyle/>
          <a:p>
            <a:pPr>
              <a:lnSpc>
                <a:spcPct val="120000"/>
              </a:lnSpc>
            </a:pPr>
            <a:r>
              <a:rPr lang="en-US" sz="1298" b="1" dirty="0">
                <a:solidFill>
                  <a:srgbClr val="E0E2E5"/>
                </a:solidFill>
                <a:latin typeface="Noto Sans SC" pitchFamily="34" charset="0"/>
                <a:ea typeface="Noto Sans SC" pitchFamily="34" charset="-122"/>
                <a:cs typeface="Noto Sans SC" pitchFamily="34" charset="-120"/>
              </a:rPr>
              <a:t>LMCache</a:t>
            </a:r>
            <a:endParaRPr lang="en-US" sz="1600" dirty="0"/>
          </a:p>
        </p:txBody>
      </p:sp>
      <p:sp>
        <p:nvSpPr>
          <p:cNvPr id="66" name="Shape 64"/>
          <p:cNvSpPr/>
          <p:nvPr/>
        </p:nvSpPr>
        <p:spPr>
          <a:xfrm>
            <a:off x="4416019" y="4728626"/>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67" name="Text 65"/>
          <p:cNvSpPr/>
          <p:nvPr/>
        </p:nvSpPr>
        <p:spPr>
          <a:xfrm>
            <a:off x="4514940" y="4827547"/>
            <a:ext cx="3264389" cy="197842"/>
          </a:xfrm>
          <a:prstGeom prst="rect">
            <a:avLst/>
          </a:prstGeom>
          <a:noFill/>
          <a:ln/>
        </p:spPr>
        <p:txBody>
          <a:bodyPr wrap="square" lIns="0" tIns="0" rIns="0" bIns="0" rtlCol="0" anchor="ctr"/>
          <a:lstStyle/>
          <a:p>
            <a:pPr>
              <a:lnSpc>
                <a:spcPct val="130000"/>
              </a:lnSpc>
            </a:pPr>
            <a:r>
              <a:rPr lang="en-US" sz="1039" b="1" dirty="0">
                <a:solidFill>
                  <a:srgbClr val="C9A86A"/>
                </a:solidFill>
                <a:latin typeface="Noto Sans SC" pitchFamily="34" charset="0"/>
                <a:ea typeface="Noto Sans SC" pitchFamily="34" charset="-122"/>
                <a:cs typeface="Noto Sans SC" pitchFamily="34" charset="-120"/>
              </a:rPr>
              <a:t>定位</a:t>
            </a:r>
            <a:endParaRPr lang="en-US" sz="1600" dirty="0"/>
          </a:p>
        </p:txBody>
      </p:sp>
      <p:sp>
        <p:nvSpPr>
          <p:cNvPr id="68" name="Text 66"/>
          <p:cNvSpPr/>
          <p:nvPr/>
        </p:nvSpPr>
        <p:spPr>
          <a:xfrm>
            <a:off x="4514940" y="5058363"/>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高性能层级缓存管理系统</a:t>
            </a:r>
            <a:endParaRPr lang="en-US" sz="1600" dirty="0"/>
          </a:p>
        </p:txBody>
      </p:sp>
      <p:sp>
        <p:nvSpPr>
          <p:cNvPr id="69" name="Shape 67"/>
          <p:cNvSpPr/>
          <p:nvPr/>
        </p:nvSpPr>
        <p:spPr>
          <a:xfrm>
            <a:off x="4416019" y="5388099"/>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70" name="Text 68"/>
          <p:cNvSpPr/>
          <p:nvPr/>
        </p:nvSpPr>
        <p:spPr>
          <a:xfrm>
            <a:off x="4514940" y="5487020"/>
            <a:ext cx="3264389" cy="197842"/>
          </a:xfrm>
          <a:prstGeom prst="rect">
            <a:avLst/>
          </a:prstGeom>
          <a:noFill/>
          <a:ln/>
        </p:spPr>
        <p:txBody>
          <a:bodyPr wrap="square" lIns="0" tIns="0" rIns="0" bIns="0" rtlCol="0" anchor="ctr"/>
          <a:lstStyle/>
          <a:p>
            <a:pPr>
              <a:lnSpc>
                <a:spcPct val="130000"/>
              </a:lnSpc>
            </a:pPr>
            <a:r>
              <a:rPr lang="en-US" sz="1039" b="1" dirty="0">
                <a:solidFill>
                  <a:srgbClr val="C9A86A"/>
                </a:solidFill>
                <a:latin typeface="Noto Sans SC" pitchFamily="34" charset="0"/>
                <a:ea typeface="Noto Sans SC" pitchFamily="34" charset="-122"/>
                <a:cs typeface="Noto Sans SC" pitchFamily="34" charset="-120"/>
              </a:rPr>
              <a:t>功能</a:t>
            </a:r>
            <a:endParaRPr lang="en-US" sz="1600" dirty="0"/>
          </a:p>
        </p:txBody>
      </p:sp>
      <p:sp>
        <p:nvSpPr>
          <p:cNvPr id="71" name="Text 69"/>
          <p:cNvSpPr/>
          <p:nvPr/>
        </p:nvSpPr>
        <p:spPr>
          <a:xfrm>
            <a:off x="4514940" y="5717835"/>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支持多种存储后端的跨请求缓存复用</a:t>
            </a:r>
            <a:endParaRPr lang="en-US" sz="1600" dirty="0"/>
          </a:p>
        </p:txBody>
      </p:sp>
      <p:sp>
        <p:nvSpPr>
          <p:cNvPr id="72" name="Shape 70"/>
          <p:cNvSpPr/>
          <p:nvPr/>
        </p:nvSpPr>
        <p:spPr>
          <a:xfrm>
            <a:off x="4416019" y="6047572"/>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73" name="Text 71"/>
          <p:cNvSpPr/>
          <p:nvPr/>
        </p:nvSpPr>
        <p:spPr>
          <a:xfrm>
            <a:off x="4514940" y="6146493"/>
            <a:ext cx="3264389" cy="197842"/>
          </a:xfrm>
          <a:prstGeom prst="rect">
            <a:avLst/>
          </a:prstGeom>
          <a:noFill/>
          <a:ln/>
        </p:spPr>
        <p:txBody>
          <a:bodyPr wrap="square" lIns="0" tIns="0" rIns="0" bIns="0" rtlCol="0" anchor="ctr"/>
          <a:lstStyle/>
          <a:p>
            <a:pPr>
              <a:lnSpc>
                <a:spcPct val="130000"/>
              </a:lnSpc>
            </a:pPr>
            <a:r>
              <a:rPr lang="en-US" sz="1039" b="1" dirty="0">
                <a:solidFill>
                  <a:srgbClr val="C9A86A"/>
                </a:solidFill>
                <a:latin typeface="Noto Sans SC" pitchFamily="34" charset="0"/>
                <a:ea typeface="Noto Sans SC" pitchFamily="34" charset="-122"/>
                <a:cs typeface="Noto Sans SC" pitchFamily="34" charset="-120"/>
              </a:rPr>
              <a:t>价值</a:t>
            </a:r>
            <a:endParaRPr lang="en-US" sz="1600" dirty="0"/>
          </a:p>
        </p:txBody>
      </p:sp>
      <p:sp>
        <p:nvSpPr>
          <p:cNvPr id="74" name="Text 72"/>
          <p:cNvSpPr/>
          <p:nvPr/>
        </p:nvSpPr>
        <p:spPr>
          <a:xfrm>
            <a:off x="4514940" y="6377308"/>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系统级缓存调度优化</a:t>
            </a:r>
            <a:endParaRPr lang="en-US" sz="1600" dirty="0"/>
          </a:p>
        </p:txBody>
      </p:sp>
      <p:sp>
        <p:nvSpPr>
          <p:cNvPr id="75" name="Shape 73"/>
          <p:cNvSpPr/>
          <p:nvPr/>
        </p:nvSpPr>
        <p:spPr>
          <a:xfrm>
            <a:off x="8123105" y="4036180"/>
            <a:ext cx="3742507" cy="2769785"/>
          </a:xfrm>
          <a:custGeom>
            <a:avLst/>
            <a:gdLst/>
            <a:ahLst/>
            <a:cxnLst/>
            <a:rect l="l" t="t" r="r" b="b"/>
            <a:pathLst>
              <a:path w="3742507" h="2769785">
                <a:moveTo>
                  <a:pt x="32974" y="0"/>
                </a:moveTo>
                <a:lnTo>
                  <a:pt x="3676559" y="0"/>
                </a:lnTo>
                <a:cubicBezTo>
                  <a:pt x="3712981" y="0"/>
                  <a:pt x="3742507" y="29526"/>
                  <a:pt x="3742507" y="65949"/>
                </a:cubicBezTo>
                <a:lnTo>
                  <a:pt x="3742507" y="2703836"/>
                </a:lnTo>
                <a:cubicBezTo>
                  <a:pt x="3742507" y="2740259"/>
                  <a:pt x="3712981" y="2769785"/>
                  <a:pt x="3676559" y="2769785"/>
                </a:cubicBezTo>
                <a:lnTo>
                  <a:pt x="32974" y="2769785"/>
                </a:lnTo>
                <a:cubicBezTo>
                  <a:pt x="14763" y="2769785"/>
                  <a:pt x="0" y="2755022"/>
                  <a:pt x="0" y="2736811"/>
                </a:cubicBezTo>
                <a:lnTo>
                  <a:pt x="0" y="32974"/>
                </a:lnTo>
                <a:cubicBezTo>
                  <a:pt x="0" y="14775"/>
                  <a:pt x="14775" y="0"/>
                  <a:pt x="32974" y="0"/>
                </a:cubicBezTo>
                <a:close/>
              </a:path>
            </a:pathLst>
          </a:custGeom>
          <a:solidFill>
            <a:srgbClr val="5F6B7A">
              <a:alpha val="10196"/>
            </a:srgbClr>
          </a:solidFill>
          <a:ln/>
        </p:spPr>
        <p:txBody>
          <a:bodyPr/>
          <a:lstStyle/>
          <a:p>
            <a:endParaRPr lang="zh-CN" altLang="en-US"/>
          </a:p>
        </p:txBody>
      </p:sp>
      <p:sp>
        <p:nvSpPr>
          <p:cNvPr id="76" name="Shape 74"/>
          <p:cNvSpPr/>
          <p:nvPr/>
        </p:nvSpPr>
        <p:spPr>
          <a:xfrm>
            <a:off x="8123105" y="4036180"/>
            <a:ext cx="32974" cy="2769785"/>
          </a:xfrm>
          <a:custGeom>
            <a:avLst/>
            <a:gdLst/>
            <a:ahLst/>
            <a:cxnLst/>
            <a:rect l="l" t="t" r="r" b="b"/>
            <a:pathLst>
              <a:path w="32974" h="2769785">
                <a:moveTo>
                  <a:pt x="32974" y="0"/>
                </a:moveTo>
                <a:lnTo>
                  <a:pt x="32974" y="0"/>
                </a:lnTo>
                <a:lnTo>
                  <a:pt x="32974" y="2769785"/>
                </a:lnTo>
                <a:lnTo>
                  <a:pt x="32974" y="2769785"/>
                </a:lnTo>
                <a:cubicBezTo>
                  <a:pt x="14763" y="2769785"/>
                  <a:pt x="0" y="2755022"/>
                  <a:pt x="0" y="2736811"/>
                </a:cubicBezTo>
                <a:lnTo>
                  <a:pt x="0" y="32974"/>
                </a:lnTo>
                <a:cubicBezTo>
                  <a:pt x="0" y="14775"/>
                  <a:pt x="14775" y="0"/>
                  <a:pt x="32974" y="0"/>
                </a:cubicBezTo>
                <a:close/>
              </a:path>
            </a:pathLst>
          </a:custGeom>
          <a:solidFill>
            <a:srgbClr val="5F6B7A"/>
          </a:solidFill>
          <a:ln/>
        </p:spPr>
        <p:txBody>
          <a:bodyPr/>
          <a:lstStyle/>
          <a:p>
            <a:endParaRPr lang="zh-CN" altLang="en-US"/>
          </a:p>
        </p:txBody>
      </p:sp>
      <p:sp>
        <p:nvSpPr>
          <p:cNvPr id="77" name="Shape 75"/>
          <p:cNvSpPr/>
          <p:nvPr/>
        </p:nvSpPr>
        <p:spPr>
          <a:xfrm>
            <a:off x="8304460" y="4201048"/>
            <a:ext cx="395684" cy="395684"/>
          </a:xfrm>
          <a:custGeom>
            <a:avLst/>
            <a:gdLst/>
            <a:ahLst/>
            <a:cxnLst/>
            <a:rect l="l" t="t" r="r" b="b"/>
            <a:pathLst>
              <a:path w="395684" h="395684">
                <a:moveTo>
                  <a:pt x="65949" y="0"/>
                </a:moveTo>
                <a:lnTo>
                  <a:pt x="329735" y="0"/>
                </a:lnTo>
                <a:cubicBezTo>
                  <a:pt x="366133" y="0"/>
                  <a:pt x="395684" y="29551"/>
                  <a:pt x="395684" y="65949"/>
                </a:cubicBezTo>
                <a:lnTo>
                  <a:pt x="395684" y="329735"/>
                </a:lnTo>
                <a:cubicBezTo>
                  <a:pt x="395684" y="366157"/>
                  <a:pt x="366157" y="395684"/>
                  <a:pt x="329735" y="395684"/>
                </a:cubicBezTo>
                <a:lnTo>
                  <a:pt x="65949" y="395684"/>
                </a:lnTo>
                <a:cubicBezTo>
                  <a:pt x="29551" y="395684"/>
                  <a:pt x="0" y="366133"/>
                  <a:pt x="0" y="329735"/>
                </a:cubicBezTo>
                <a:lnTo>
                  <a:pt x="0" y="65949"/>
                </a:lnTo>
                <a:cubicBezTo>
                  <a:pt x="0" y="29551"/>
                  <a:pt x="29551" y="0"/>
                  <a:pt x="65949" y="0"/>
                </a:cubicBezTo>
                <a:close/>
              </a:path>
            </a:pathLst>
          </a:custGeom>
          <a:solidFill>
            <a:srgbClr val="5F6B7A"/>
          </a:solidFill>
          <a:ln/>
        </p:spPr>
        <p:txBody>
          <a:bodyPr/>
          <a:lstStyle/>
          <a:p>
            <a:endParaRPr lang="zh-CN" altLang="en-US"/>
          </a:p>
        </p:txBody>
      </p:sp>
      <p:sp>
        <p:nvSpPr>
          <p:cNvPr id="78" name="Shape 76"/>
          <p:cNvSpPr/>
          <p:nvPr/>
        </p:nvSpPr>
        <p:spPr>
          <a:xfrm>
            <a:off x="8419868" y="4316456"/>
            <a:ext cx="164868" cy="164868"/>
          </a:xfrm>
          <a:custGeom>
            <a:avLst/>
            <a:gdLst/>
            <a:ahLst/>
            <a:cxnLst/>
            <a:rect l="l" t="t" r="r" b="b"/>
            <a:pathLst>
              <a:path w="164868" h="164868">
                <a:moveTo>
                  <a:pt x="61826" y="82434"/>
                </a:moveTo>
                <a:lnTo>
                  <a:pt x="49106" y="95153"/>
                </a:lnTo>
                <a:cubicBezTo>
                  <a:pt x="45049" y="93576"/>
                  <a:pt x="40670" y="92738"/>
                  <a:pt x="36065" y="92738"/>
                </a:cubicBezTo>
                <a:cubicBezTo>
                  <a:pt x="16133" y="92738"/>
                  <a:pt x="0" y="108871"/>
                  <a:pt x="0" y="128803"/>
                </a:cubicBezTo>
                <a:cubicBezTo>
                  <a:pt x="0" y="148736"/>
                  <a:pt x="16133" y="164868"/>
                  <a:pt x="36065" y="164868"/>
                </a:cubicBezTo>
                <a:cubicBezTo>
                  <a:pt x="55997" y="164868"/>
                  <a:pt x="72130" y="148736"/>
                  <a:pt x="72130" y="128803"/>
                </a:cubicBezTo>
                <a:cubicBezTo>
                  <a:pt x="72130" y="124199"/>
                  <a:pt x="71260" y="119819"/>
                  <a:pt x="69715" y="115762"/>
                </a:cubicBezTo>
                <a:lnTo>
                  <a:pt x="160746" y="24730"/>
                </a:lnTo>
                <a:cubicBezTo>
                  <a:pt x="163033" y="22444"/>
                  <a:pt x="163033" y="18773"/>
                  <a:pt x="160746" y="16487"/>
                </a:cubicBezTo>
                <a:cubicBezTo>
                  <a:pt x="151634" y="7374"/>
                  <a:pt x="136886" y="7374"/>
                  <a:pt x="127773" y="16487"/>
                </a:cubicBezTo>
                <a:lnTo>
                  <a:pt x="82434" y="61826"/>
                </a:lnTo>
                <a:lnTo>
                  <a:pt x="69715" y="49106"/>
                </a:lnTo>
                <a:cubicBezTo>
                  <a:pt x="71293" y="45049"/>
                  <a:pt x="72130" y="40670"/>
                  <a:pt x="72130" y="36065"/>
                </a:cubicBezTo>
                <a:cubicBezTo>
                  <a:pt x="72130" y="16133"/>
                  <a:pt x="55997" y="0"/>
                  <a:pt x="36065" y="0"/>
                </a:cubicBezTo>
                <a:cubicBezTo>
                  <a:pt x="16133" y="0"/>
                  <a:pt x="0" y="16133"/>
                  <a:pt x="0" y="36065"/>
                </a:cubicBezTo>
                <a:cubicBezTo>
                  <a:pt x="0" y="55997"/>
                  <a:pt x="16133" y="72130"/>
                  <a:pt x="36065" y="72130"/>
                </a:cubicBezTo>
                <a:cubicBezTo>
                  <a:pt x="40670" y="72130"/>
                  <a:pt x="45049" y="71260"/>
                  <a:pt x="49106" y="69715"/>
                </a:cubicBezTo>
                <a:lnTo>
                  <a:pt x="61826" y="82434"/>
                </a:lnTo>
                <a:close/>
                <a:moveTo>
                  <a:pt x="93350" y="113959"/>
                </a:moveTo>
                <a:lnTo>
                  <a:pt x="127773" y="148381"/>
                </a:lnTo>
                <a:cubicBezTo>
                  <a:pt x="136886" y="157494"/>
                  <a:pt x="151634" y="157494"/>
                  <a:pt x="160746" y="148381"/>
                </a:cubicBezTo>
                <a:cubicBezTo>
                  <a:pt x="163033" y="146095"/>
                  <a:pt x="163033" y="142424"/>
                  <a:pt x="160746" y="140138"/>
                </a:cubicBezTo>
                <a:lnTo>
                  <a:pt x="113959" y="93350"/>
                </a:lnTo>
                <a:lnTo>
                  <a:pt x="93350" y="113959"/>
                </a:lnTo>
                <a:close/>
                <a:moveTo>
                  <a:pt x="20609" y="36065"/>
                </a:moveTo>
                <a:cubicBezTo>
                  <a:pt x="20609" y="27534"/>
                  <a:pt x="27534" y="20609"/>
                  <a:pt x="36065" y="20609"/>
                </a:cubicBezTo>
                <a:cubicBezTo>
                  <a:pt x="44596" y="20609"/>
                  <a:pt x="51521" y="27534"/>
                  <a:pt x="51521" y="36065"/>
                </a:cubicBezTo>
                <a:cubicBezTo>
                  <a:pt x="51521" y="44596"/>
                  <a:pt x="44596" y="51521"/>
                  <a:pt x="36065" y="51521"/>
                </a:cubicBezTo>
                <a:cubicBezTo>
                  <a:pt x="27534" y="51521"/>
                  <a:pt x="20609" y="44596"/>
                  <a:pt x="20609" y="36065"/>
                </a:cubicBezTo>
                <a:close/>
                <a:moveTo>
                  <a:pt x="36065" y="113347"/>
                </a:moveTo>
                <a:cubicBezTo>
                  <a:pt x="44596" y="113347"/>
                  <a:pt x="51521" y="120273"/>
                  <a:pt x="51521" y="128803"/>
                </a:cubicBezTo>
                <a:cubicBezTo>
                  <a:pt x="51521" y="137334"/>
                  <a:pt x="44596" y="144260"/>
                  <a:pt x="36065" y="144260"/>
                </a:cubicBezTo>
                <a:cubicBezTo>
                  <a:pt x="27534" y="144260"/>
                  <a:pt x="20609" y="137334"/>
                  <a:pt x="20609" y="128803"/>
                </a:cubicBezTo>
                <a:cubicBezTo>
                  <a:pt x="20609" y="120273"/>
                  <a:pt x="27534" y="113347"/>
                  <a:pt x="36065" y="113347"/>
                </a:cubicBezTo>
                <a:close/>
              </a:path>
            </a:pathLst>
          </a:custGeom>
          <a:solidFill>
            <a:srgbClr val="FFFFFF"/>
          </a:solidFill>
          <a:ln/>
        </p:spPr>
        <p:txBody>
          <a:bodyPr/>
          <a:lstStyle/>
          <a:p>
            <a:endParaRPr lang="zh-CN" altLang="en-US"/>
          </a:p>
        </p:txBody>
      </p:sp>
      <p:sp>
        <p:nvSpPr>
          <p:cNvPr id="79" name="Text 77"/>
          <p:cNvSpPr/>
          <p:nvPr/>
        </p:nvSpPr>
        <p:spPr>
          <a:xfrm>
            <a:off x="8799065" y="4283482"/>
            <a:ext cx="1318945" cy="230815"/>
          </a:xfrm>
          <a:prstGeom prst="rect">
            <a:avLst/>
          </a:prstGeom>
          <a:noFill/>
          <a:ln/>
        </p:spPr>
        <p:txBody>
          <a:bodyPr wrap="square" lIns="0" tIns="0" rIns="0" bIns="0" rtlCol="0" anchor="ctr"/>
          <a:lstStyle/>
          <a:p>
            <a:pPr>
              <a:lnSpc>
                <a:spcPct val="120000"/>
              </a:lnSpc>
            </a:pPr>
            <a:r>
              <a:rPr lang="en-US" sz="1298" b="1" dirty="0">
                <a:solidFill>
                  <a:srgbClr val="E0E2E5"/>
                </a:solidFill>
                <a:latin typeface="Noto Sans SC" pitchFamily="34" charset="0"/>
                <a:ea typeface="Noto Sans SC" pitchFamily="34" charset="-122"/>
                <a:cs typeface="Noto Sans SC" pitchFamily="34" charset="-120"/>
              </a:rPr>
              <a:t>H2O / InfiniGen</a:t>
            </a:r>
            <a:endParaRPr lang="en-US" sz="1600" dirty="0"/>
          </a:p>
        </p:txBody>
      </p:sp>
      <p:sp>
        <p:nvSpPr>
          <p:cNvPr id="80" name="Shape 78"/>
          <p:cNvSpPr/>
          <p:nvPr/>
        </p:nvSpPr>
        <p:spPr>
          <a:xfrm>
            <a:off x="8304460" y="4728626"/>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81" name="Text 79"/>
          <p:cNvSpPr/>
          <p:nvPr/>
        </p:nvSpPr>
        <p:spPr>
          <a:xfrm>
            <a:off x="8403381" y="4827547"/>
            <a:ext cx="3264389" cy="197842"/>
          </a:xfrm>
          <a:prstGeom prst="rect">
            <a:avLst/>
          </a:prstGeom>
          <a:noFill/>
          <a:ln/>
        </p:spPr>
        <p:txBody>
          <a:bodyPr wrap="square" lIns="0" tIns="0" rIns="0" bIns="0" rtlCol="0" anchor="ctr"/>
          <a:lstStyle/>
          <a:p>
            <a:pPr>
              <a:lnSpc>
                <a:spcPct val="130000"/>
              </a:lnSpc>
            </a:pPr>
            <a:r>
              <a:rPr lang="en-US" sz="1039" b="1" dirty="0">
                <a:solidFill>
                  <a:srgbClr val="5F6B7A"/>
                </a:solidFill>
                <a:latin typeface="Noto Sans SC" pitchFamily="34" charset="0"/>
                <a:ea typeface="Noto Sans SC" pitchFamily="34" charset="-122"/>
                <a:cs typeface="Noto Sans SC" pitchFamily="34" charset="-120"/>
              </a:rPr>
              <a:t>技术路线</a:t>
            </a:r>
            <a:endParaRPr lang="en-US" sz="1600" dirty="0"/>
          </a:p>
        </p:txBody>
      </p:sp>
      <p:sp>
        <p:nvSpPr>
          <p:cNvPr id="82" name="Text 80"/>
          <p:cNvSpPr/>
          <p:nvPr/>
        </p:nvSpPr>
        <p:spPr>
          <a:xfrm>
            <a:off x="8403381" y="5058363"/>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Token 剪枝启发式算法</a:t>
            </a:r>
            <a:endParaRPr lang="en-US" sz="1600" dirty="0"/>
          </a:p>
        </p:txBody>
      </p:sp>
      <p:sp>
        <p:nvSpPr>
          <p:cNvPr id="83" name="Shape 81"/>
          <p:cNvSpPr/>
          <p:nvPr/>
        </p:nvSpPr>
        <p:spPr>
          <a:xfrm>
            <a:off x="8304460" y="5388099"/>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84" name="Text 82"/>
          <p:cNvSpPr/>
          <p:nvPr/>
        </p:nvSpPr>
        <p:spPr>
          <a:xfrm>
            <a:off x="8403381" y="5487020"/>
            <a:ext cx="3264389" cy="197842"/>
          </a:xfrm>
          <a:prstGeom prst="rect">
            <a:avLst/>
          </a:prstGeom>
          <a:noFill/>
          <a:ln/>
        </p:spPr>
        <p:txBody>
          <a:bodyPr wrap="square" lIns="0" tIns="0" rIns="0" bIns="0" rtlCol="0" anchor="ctr"/>
          <a:lstStyle/>
          <a:p>
            <a:pPr>
              <a:lnSpc>
                <a:spcPct val="130000"/>
              </a:lnSpc>
            </a:pPr>
            <a:r>
              <a:rPr lang="en-US" sz="1039" b="1" dirty="0">
                <a:solidFill>
                  <a:srgbClr val="5F6B7A"/>
                </a:solidFill>
                <a:latin typeface="Noto Sans SC" pitchFamily="34" charset="0"/>
                <a:ea typeface="Noto Sans SC" pitchFamily="34" charset="-122"/>
                <a:cs typeface="Noto Sans SC" pitchFamily="34" charset="-120"/>
              </a:rPr>
              <a:t>结合</a:t>
            </a:r>
            <a:endParaRPr lang="en-US" sz="1600" dirty="0"/>
          </a:p>
        </p:txBody>
      </p:sp>
      <p:sp>
        <p:nvSpPr>
          <p:cNvPr id="85" name="Text 83"/>
          <p:cNvSpPr/>
          <p:nvPr/>
        </p:nvSpPr>
        <p:spPr>
          <a:xfrm>
            <a:off x="8403381" y="5717835"/>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与张量卸载技术联合优化</a:t>
            </a:r>
            <a:endParaRPr lang="en-US" sz="1600" dirty="0"/>
          </a:p>
        </p:txBody>
      </p:sp>
      <p:sp>
        <p:nvSpPr>
          <p:cNvPr id="86" name="Shape 84"/>
          <p:cNvSpPr/>
          <p:nvPr/>
        </p:nvSpPr>
        <p:spPr>
          <a:xfrm>
            <a:off x="8304460" y="6047572"/>
            <a:ext cx="3396284" cy="593525"/>
          </a:xfrm>
          <a:custGeom>
            <a:avLst/>
            <a:gdLst/>
            <a:ahLst/>
            <a:cxnLst/>
            <a:rect l="l" t="t" r="r" b="b"/>
            <a:pathLst>
              <a:path w="3396284" h="593525">
                <a:moveTo>
                  <a:pt x="65947" y="0"/>
                </a:moveTo>
                <a:lnTo>
                  <a:pt x="3330337" y="0"/>
                </a:lnTo>
                <a:cubicBezTo>
                  <a:pt x="3366759" y="0"/>
                  <a:pt x="3396284" y="29525"/>
                  <a:pt x="3396284" y="65947"/>
                </a:cubicBezTo>
                <a:lnTo>
                  <a:pt x="3396284" y="527579"/>
                </a:lnTo>
                <a:cubicBezTo>
                  <a:pt x="3396284" y="564000"/>
                  <a:pt x="3366759" y="593525"/>
                  <a:pt x="3330337" y="593525"/>
                </a:cubicBezTo>
                <a:lnTo>
                  <a:pt x="65947" y="593525"/>
                </a:lnTo>
                <a:cubicBezTo>
                  <a:pt x="29525" y="593525"/>
                  <a:pt x="0" y="564000"/>
                  <a:pt x="0" y="527579"/>
                </a:cubicBezTo>
                <a:lnTo>
                  <a:pt x="0" y="65947"/>
                </a:lnTo>
                <a:cubicBezTo>
                  <a:pt x="0" y="29550"/>
                  <a:pt x="29550" y="0"/>
                  <a:pt x="65947" y="0"/>
                </a:cubicBezTo>
                <a:close/>
              </a:path>
            </a:pathLst>
          </a:custGeom>
          <a:solidFill>
            <a:srgbClr val="1A1D21">
              <a:alpha val="50196"/>
            </a:srgbClr>
          </a:solidFill>
          <a:ln/>
        </p:spPr>
        <p:txBody>
          <a:bodyPr/>
          <a:lstStyle/>
          <a:p>
            <a:endParaRPr lang="zh-CN" altLang="en-US"/>
          </a:p>
        </p:txBody>
      </p:sp>
      <p:sp>
        <p:nvSpPr>
          <p:cNvPr id="87" name="Text 85"/>
          <p:cNvSpPr/>
          <p:nvPr/>
        </p:nvSpPr>
        <p:spPr>
          <a:xfrm>
            <a:off x="8403381" y="6146493"/>
            <a:ext cx="3264389" cy="197842"/>
          </a:xfrm>
          <a:prstGeom prst="rect">
            <a:avLst/>
          </a:prstGeom>
          <a:noFill/>
          <a:ln/>
        </p:spPr>
        <p:txBody>
          <a:bodyPr wrap="square" lIns="0" tIns="0" rIns="0" bIns="0" rtlCol="0" anchor="ctr"/>
          <a:lstStyle/>
          <a:p>
            <a:pPr>
              <a:lnSpc>
                <a:spcPct val="130000"/>
              </a:lnSpc>
            </a:pPr>
            <a:r>
              <a:rPr lang="en-US" sz="1039" b="1" dirty="0">
                <a:solidFill>
                  <a:srgbClr val="5F6B7A"/>
                </a:solidFill>
                <a:latin typeface="Noto Sans SC" pitchFamily="34" charset="0"/>
                <a:ea typeface="Noto Sans SC" pitchFamily="34" charset="-122"/>
                <a:cs typeface="Noto Sans SC" pitchFamily="34" charset="-120"/>
              </a:rPr>
              <a:t>特点</a:t>
            </a:r>
            <a:endParaRPr lang="en-US" sz="1600" dirty="0"/>
          </a:p>
        </p:txBody>
      </p:sp>
      <p:sp>
        <p:nvSpPr>
          <p:cNvPr id="88" name="Text 86"/>
          <p:cNvSpPr/>
          <p:nvPr/>
        </p:nvSpPr>
        <p:spPr>
          <a:xfrm>
            <a:off x="8403381" y="6377308"/>
            <a:ext cx="3256146" cy="164868"/>
          </a:xfrm>
          <a:prstGeom prst="rect">
            <a:avLst/>
          </a:prstGeom>
          <a:noFill/>
          <a:ln/>
        </p:spPr>
        <p:txBody>
          <a:bodyPr wrap="square" lIns="0" tIns="0" rIns="0" bIns="0" rtlCol="0" anchor="ctr"/>
          <a:lstStyle/>
          <a:p>
            <a:pPr>
              <a:lnSpc>
                <a:spcPct val="120000"/>
              </a:lnSpc>
            </a:pPr>
            <a:r>
              <a:rPr lang="en-US" sz="909" dirty="0">
                <a:solidFill>
                  <a:srgbClr val="E0E2E5">
                    <a:alpha val="80000"/>
                  </a:srgbClr>
                </a:solidFill>
                <a:latin typeface="Noto Sans SC" pitchFamily="34" charset="0"/>
                <a:ea typeface="Noto Sans SC" pitchFamily="34" charset="-122"/>
                <a:cs typeface="Noto Sans SC" pitchFamily="34" charset="-120"/>
              </a:rPr>
              <a:t>算法与系统协同设计</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INTEGRATION MODES</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三种集成模式</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371600"/>
            <a:ext cx="3686175" cy="4514850"/>
          </a:xfrm>
          <a:custGeom>
            <a:avLst/>
            <a:gdLst/>
            <a:ahLst/>
            <a:cxnLst/>
            <a:rect l="l" t="t" r="r" b="b"/>
            <a:pathLst>
              <a:path w="3686175" h="4514850">
                <a:moveTo>
                  <a:pt x="38100" y="0"/>
                </a:moveTo>
                <a:lnTo>
                  <a:pt x="3609982" y="0"/>
                </a:lnTo>
                <a:cubicBezTo>
                  <a:pt x="3652062" y="0"/>
                  <a:pt x="3686175" y="34113"/>
                  <a:pt x="3686175" y="76193"/>
                </a:cubicBezTo>
                <a:lnTo>
                  <a:pt x="3686175" y="4438657"/>
                </a:lnTo>
                <a:cubicBezTo>
                  <a:pt x="3686175" y="4480737"/>
                  <a:pt x="3652062" y="4514850"/>
                  <a:pt x="3609982" y="4514850"/>
                </a:cubicBezTo>
                <a:lnTo>
                  <a:pt x="38100" y="4514850"/>
                </a:lnTo>
                <a:cubicBezTo>
                  <a:pt x="17072" y="4514850"/>
                  <a:pt x="0" y="4497778"/>
                  <a:pt x="0" y="447675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371600"/>
            <a:ext cx="38100" cy="4514850"/>
          </a:xfrm>
          <a:custGeom>
            <a:avLst/>
            <a:gdLst/>
            <a:ahLst/>
            <a:cxnLst/>
            <a:rect l="l" t="t" r="r" b="b"/>
            <a:pathLst>
              <a:path w="38100" h="4514850">
                <a:moveTo>
                  <a:pt x="38100" y="0"/>
                </a:moveTo>
                <a:lnTo>
                  <a:pt x="38100" y="0"/>
                </a:lnTo>
                <a:lnTo>
                  <a:pt x="38100" y="4514850"/>
                </a:lnTo>
                <a:lnTo>
                  <a:pt x="38100" y="4514850"/>
                </a:lnTo>
                <a:cubicBezTo>
                  <a:pt x="17072" y="4514850"/>
                  <a:pt x="0" y="4497778"/>
                  <a:pt x="0" y="447675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Shape 5"/>
          <p:cNvSpPr/>
          <p:nvPr/>
        </p:nvSpPr>
        <p:spPr>
          <a:xfrm>
            <a:off x="609600" y="1562100"/>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3D8B75"/>
          </a:solidFill>
          <a:ln/>
        </p:spPr>
        <p:txBody>
          <a:bodyPr/>
          <a:lstStyle/>
          <a:p>
            <a:endParaRPr lang="zh-CN" altLang="en-US"/>
          </a:p>
        </p:txBody>
      </p:sp>
      <p:sp>
        <p:nvSpPr>
          <p:cNvPr id="8" name="Shape 6"/>
          <p:cNvSpPr/>
          <p:nvPr/>
        </p:nvSpPr>
        <p:spPr>
          <a:xfrm>
            <a:off x="762000" y="1714500"/>
            <a:ext cx="228600" cy="228600"/>
          </a:xfrm>
          <a:custGeom>
            <a:avLst/>
            <a:gdLst/>
            <a:ahLst/>
            <a:cxnLst/>
            <a:rect l="l" t="t" r="r" b="b"/>
            <a:pathLst>
              <a:path w="228600" h="228600">
                <a:moveTo>
                  <a:pt x="196230" y="3125"/>
                </a:moveTo>
                <a:cubicBezTo>
                  <a:pt x="200427" y="-1072"/>
                  <a:pt x="207213" y="-1072"/>
                  <a:pt x="211366" y="3125"/>
                </a:cubicBezTo>
                <a:lnTo>
                  <a:pt x="225653" y="17413"/>
                </a:lnTo>
                <a:cubicBezTo>
                  <a:pt x="229850" y="21610"/>
                  <a:pt x="229850" y="28396"/>
                  <a:pt x="225653" y="32549"/>
                </a:cubicBezTo>
                <a:lnTo>
                  <a:pt x="186809" y="71393"/>
                </a:lnTo>
                <a:lnTo>
                  <a:pt x="204222" y="88806"/>
                </a:lnTo>
                <a:cubicBezTo>
                  <a:pt x="207303" y="91886"/>
                  <a:pt x="208196" y="96485"/>
                  <a:pt x="206544" y="100504"/>
                </a:cubicBezTo>
                <a:cubicBezTo>
                  <a:pt x="204892" y="104522"/>
                  <a:pt x="201007" y="107156"/>
                  <a:pt x="196676" y="107156"/>
                </a:cubicBezTo>
                <a:lnTo>
                  <a:pt x="132383" y="107156"/>
                </a:lnTo>
                <a:cubicBezTo>
                  <a:pt x="126444" y="107156"/>
                  <a:pt x="121667" y="102379"/>
                  <a:pt x="121667" y="96441"/>
                </a:cubicBezTo>
                <a:lnTo>
                  <a:pt x="121667" y="32147"/>
                </a:lnTo>
                <a:cubicBezTo>
                  <a:pt x="121667" y="27816"/>
                  <a:pt x="124257" y="23887"/>
                  <a:pt x="128275" y="22235"/>
                </a:cubicBezTo>
                <a:cubicBezTo>
                  <a:pt x="132293" y="20583"/>
                  <a:pt x="136892" y="21476"/>
                  <a:pt x="139973" y="24557"/>
                </a:cubicBezTo>
                <a:lnTo>
                  <a:pt x="157386" y="41970"/>
                </a:lnTo>
                <a:lnTo>
                  <a:pt x="196230" y="3125"/>
                </a:lnTo>
                <a:close/>
                <a:moveTo>
                  <a:pt x="32370" y="121444"/>
                </a:moveTo>
                <a:lnTo>
                  <a:pt x="96664" y="121444"/>
                </a:lnTo>
                <a:cubicBezTo>
                  <a:pt x="102602" y="121444"/>
                  <a:pt x="107379" y="126221"/>
                  <a:pt x="107379" y="132159"/>
                </a:cubicBezTo>
                <a:lnTo>
                  <a:pt x="107379" y="196453"/>
                </a:lnTo>
                <a:cubicBezTo>
                  <a:pt x="107379" y="200784"/>
                  <a:pt x="104790" y="204713"/>
                  <a:pt x="100772" y="206365"/>
                </a:cubicBezTo>
                <a:cubicBezTo>
                  <a:pt x="96753" y="208017"/>
                  <a:pt x="92154" y="207124"/>
                  <a:pt x="89074" y="204043"/>
                </a:cubicBezTo>
                <a:lnTo>
                  <a:pt x="71661" y="186630"/>
                </a:lnTo>
                <a:lnTo>
                  <a:pt x="32817" y="225475"/>
                </a:lnTo>
                <a:cubicBezTo>
                  <a:pt x="28620" y="229672"/>
                  <a:pt x="21833" y="229672"/>
                  <a:pt x="17681" y="225475"/>
                </a:cubicBezTo>
                <a:lnTo>
                  <a:pt x="3393" y="211187"/>
                </a:lnTo>
                <a:cubicBezTo>
                  <a:pt x="-804" y="206990"/>
                  <a:pt x="-804" y="200204"/>
                  <a:pt x="3393" y="196051"/>
                </a:cubicBezTo>
                <a:lnTo>
                  <a:pt x="42237" y="157207"/>
                </a:lnTo>
                <a:lnTo>
                  <a:pt x="24825" y="139794"/>
                </a:lnTo>
                <a:cubicBezTo>
                  <a:pt x="21744" y="136714"/>
                  <a:pt x="20851" y="132115"/>
                  <a:pt x="22503" y="128096"/>
                </a:cubicBezTo>
                <a:cubicBezTo>
                  <a:pt x="24155" y="124078"/>
                  <a:pt x="28039" y="121444"/>
                  <a:pt x="32370" y="121444"/>
                </a:cubicBezTo>
                <a:close/>
              </a:path>
            </a:pathLst>
          </a:custGeom>
          <a:solidFill>
            <a:srgbClr val="FFFFFF"/>
          </a:solidFill>
          <a:ln/>
        </p:spPr>
        <p:txBody>
          <a:bodyPr/>
          <a:lstStyle/>
          <a:p>
            <a:endParaRPr lang="zh-CN" altLang="en-US"/>
          </a:p>
        </p:txBody>
      </p:sp>
      <p:sp>
        <p:nvSpPr>
          <p:cNvPr id="9" name="Text 7"/>
          <p:cNvSpPr/>
          <p:nvPr/>
        </p:nvSpPr>
        <p:spPr>
          <a:xfrm>
            <a:off x="1257300" y="1676400"/>
            <a:ext cx="1028700"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Noto Sans SC" pitchFamily="34" charset="0"/>
                <a:ea typeface="Noto Sans SC" pitchFamily="34" charset="-122"/>
                <a:cs typeface="Noto Sans SC" pitchFamily="34" charset="-120"/>
              </a:rPr>
              <a:t>内联压缩</a:t>
            </a:r>
            <a:endParaRPr lang="en-US" sz="1600" dirty="0"/>
          </a:p>
        </p:txBody>
      </p:sp>
      <p:sp>
        <p:nvSpPr>
          <p:cNvPr id="10" name="Text 8"/>
          <p:cNvSpPr/>
          <p:nvPr/>
        </p:nvSpPr>
        <p:spPr>
          <a:xfrm>
            <a:off x="609600" y="2247900"/>
            <a:ext cx="3362325" cy="228600"/>
          </a:xfrm>
          <a:prstGeom prst="rect">
            <a:avLst/>
          </a:prstGeom>
          <a:noFill/>
          <a:ln/>
        </p:spPr>
        <p:txBody>
          <a:bodyPr wrap="square" lIns="0" tIns="0" rIns="0" bIns="0" rtlCol="0" anchor="ctr"/>
          <a:lstStyle/>
          <a:p>
            <a:pPr>
              <a:lnSpc>
                <a:spcPct val="130000"/>
              </a:lnSpc>
            </a:pPr>
            <a:r>
              <a:rPr lang="en-US" sz="1200" b="1" dirty="0">
                <a:solidFill>
                  <a:srgbClr val="3D8B75"/>
                </a:solidFill>
                <a:latin typeface="Noto Sans SC" pitchFamily="34" charset="0"/>
                <a:ea typeface="Noto Sans SC" pitchFamily="34" charset="-122"/>
                <a:cs typeface="Noto Sans SC" pitchFamily="34" charset="-120"/>
              </a:rPr>
              <a:t>Inline Compression</a:t>
            </a:r>
            <a:endParaRPr lang="en-US" sz="1600" dirty="0"/>
          </a:p>
        </p:txBody>
      </p:sp>
      <p:sp>
        <p:nvSpPr>
          <p:cNvPr id="11" name="Shape 9"/>
          <p:cNvSpPr/>
          <p:nvPr/>
        </p:nvSpPr>
        <p:spPr>
          <a:xfrm>
            <a:off x="609600" y="2590800"/>
            <a:ext cx="3286125" cy="1352550"/>
          </a:xfrm>
          <a:custGeom>
            <a:avLst/>
            <a:gdLst/>
            <a:ahLst/>
            <a:cxnLst/>
            <a:rect l="l" t="t" r="r" b="b"/>
            <a:pathLst>
              <a:path w="3286125" h="1352550">
                <a:moveTo>
                  <a:pt x="76203" y="0"/>
                </a:moveTo>
                <a:lnTo>
                  <a:pt x="3209922" y="0"/>
                </a:lnTo>
                <a:cubicBezTo>
                  <a:pt x="3252008" y="0"/>
                  <a:pt x="3286125" y="34117"/>
                  <a:pt x="3286125" y="76203"/>
                </a:cubicBezTo>
                <a:lnTo>
                  <a:pt x="3286125" y="1276347"/>
                </a:lnTo>
                <a:cubicBezTo>
                  <a:pt x="3286125" y="1318433"/>
                  <a:pt x="3252008" y="1352550"/>
                  <a:pt x="3209922" y="1352550"/>
                </a:cubicBezTo>
                <a:lnTo>
                  <a:pt x="76203" y="1352550"/>
                </a:lnTo>
                <a:cubicBezTo>
                  <a:pt x="34117" y="1352550"/>
                  <a:pt x="0" y="1318433"/>
                  <a:pt x="0" y="1276347"/>
                </a:cubicBezTo>
                <a:lnTo>
                  <a:pt x="0" y="76203"/>
                </a:lnTo>
                <a:cubicBezTo>
                  <a:pt x="0" y="34145"/>
                  <a:pt x="34145" y="0"/>
                  <a:pt x="76203" y="0"/>
                </a:cubicBezTo>
                <a:close/>
              </a:path>
            </a:pathLst>
          </a:custGeom>
          <a:solidFill>
            <a:srgbClr val="1A1D21">
              <a:alpha val="50196"/>
            </a:srgbClr>
          </a:solidFill>
          <a:ln/>
        </p:spPr>
        <p:txBody>
          <a:bodyPr/>
          <a:lstStyle/>
          <a:p>
            <a:endParaRPr lang="zh-CN" altLang="en-US"/>
          </a:p>
        </p:txBody>
      </p:sp>
      <p:sp>
        <p:nvSpPr>
          <p:cNvPr id="12" name="Text 10"/>
          <p:cNvSpPr/>
          <p:nvPr/>
        </p:nvSpPr>
        <p:spPr>
          <a:xfrm>
            <a:off x="762000" y="2743200"/>
            <a:ext cx="30575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核心机制</a:t>
            </a:r>
            <a:endParaRPr lang="en-US" sz="1600" dirty="0"/>
          </a:p>
        </p:txBody>
      </p:sp>
      <p:sp>
        <p:nvSpPr>
          <p:cNvPr id="13" name="Text 11"/>
          <p:cNvSpPr/>
          <p:nvPr/>
        </p:nvSpPr>
        <p:spPr>
          <a:xfrm>
            <a:off x="762000" y="3048000"/>
            <a:ext cx="3057525" cy="7429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量化、剪枝与注意力 Kernel </a:t>
            </a:r>
            <a:r>
              <a:rPr lang="en-US" sz="1200" b="1" dirty="0">
                <a:solidFill>
                  <a:srgbClr val="3D8B75"/>
                </a:solidFill>
                <a:latin typeface="Noto Sans SC" pitchFamily="34" charset="0"/>
                <a:ea typeface="Noto Sans SC" pitchFamily="34" charset="-122"/>
                <a:cs typeface="Noto Sans SC" pitchFamily="34" charset="-120"/>
              </a:rPr>
              <a:t>深度融合</a:t>
            </a:r>
            <a:r>
              <a:rPr lang="en-US" sz="1200" dirty="0">
                <a:solidFill>
                  <a:srgbClr val="E0E2E5">
                    <a:alpha val="80000"/>
                  </a:srgbClr>
                </a:solidFill>
                <a:latin typeface="Noto Sans SC" pitchFamily="34" charset="0"/>
                <a:ea typeface="Noto Sans SC" pitchFamily="34" charset="-122"/>
                <a:cs typeface="Noto Sans SC" pitchFamily="34" charset="-120"/>
              </a:rPr>
              <a:t>。压缩、计算与解压缩在同一次 Kernel 调用中在 GPU SRAM 内完成。</a:t>
            </a:r>
            <a:endParaRPr lang="en-US" sz="1600" dirty="0"/>
          </a:p>
        </p:txBody>
      </p:sp>
      <p:sp>
        <p:nvSpPr>
          <p:cNvPr id="14" name="Shape 12"/>
          <p:cNvSpPr/>
          <p:nvPr/>
        </p:nvSpPr>
        <p:spPr>
          <a:xfrm>
            <a:off x="628650" y="4057650"/>
            <a:ext cx="3267075" cy="685800"/>
          </a:xfrm>
          <a:custGeom>
            <a:avLst/>
            <a:gdLst/>
            <a:ahLst/>
            <a:cxnLst/>
            <a:rect l="l" t="t" r="r" b="b"/>
            <a:pathLst>
              <a:path w="3267075" h="685800">
                <a:moveTo>
                  <a:pt x="38100" y="0"/>
                </a:moveTo>
                <a:lnTo>
                  <a:pt x="3190876" y="0"/>
                </a:lnTo>
                <a:cubicBezTo>
                  <a:pt x="3232959" y="0"/>
                  <a:pt x="3267075" y="34116"/>
                  <a:pt x="3267075" y="76199"/>
                </a:cubicBezTo>
                <a:lnTo>
                  <a:pt x="3267075" y="609601"/>
                </a:lnTo>
                <a:cubicBezTo>
                  <a:pt x="3267075" y="651684"/>
                  <a:pt x="3232959" y="685800"/>
                  <a:pt x="3190876" y="685800"/>
                </a:cubicBezTo>
                <a:lnTo>
                  <a:pt x="38100" y="685800"/>
                </a:lnTo>
                <a:cubicBezTo>
                  <a:pt x="17072" y="685800"/>
                  <a:pt x="0" y="668728"/>
                  <a:pt x="0" y="64770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15" name="Shape 13"/>
          <p:cNvSpPr/>
          <p:nvPr/>
        </p:nvSpPr>
        <p:spPr>
          <a:xfrm>
            <a:off x="628650" y="405765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16" name="Shape 14"/>
          <p:cNvSpPr/>
          <p:nvPr/>
        </p:nvSpPr>
        <p:spPr>
          <a:xfrm>
            <a:off x="781050" y="421005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9056" y="102394"/>
                </a:moveTo>
                <a:lnTo>
                  <a:pt x="69056" y="83344"/>
                </a:lnTo>
                <a:lnTo>
                  <a:pt x="50006" y="83344"/>
                </a:lnTo>
                <a:cubicBezTo>
                  <a:pt x="46047" y="83344"/>
                  <a:pt x="42863" y="80159"/>
                  <a:pt x="42863" y="76200"/>
                </a:cubicBezTo>
                <a:cubicBezTo>
                  <a:pt x="42863" y="72241"/>
                  <a:pt x="46047" y="69056"/>
                  <a:pt x="50006" y="69056"/>
                </a:cubicBezTo>
                <a:lnTo>
                  <a:pt x="69056" y="69056"/>
                </a:lnTo>
                <a:lnTo>
                  <a:pt x="69056" y="50006"/>
                </a:lnTo>
                <a:cubicBezTo>
                  <a:pt x="69056" y="46047"/>
                  <a:pt x="72241" y="42863"/>
                  <a:pt x="76200" y="42863"/>
                </a:cubicBezTo>
                <a:cubicBezTo>
                  <a:pt x="80159" y="42863"/>
                  <a:pt x="83344" y="46047"/>
                  <a:pt x="83344" y="50006"/>
                </a:cubicBezTo>
                <a:lnTo>
                  <a:pt x="83344" y="69056"/>
                </a:lnTo>
                <a:lnTo>
                  <a:pt x="102394" y="69056"/>
                </a:lnTo>
                <a:cubicBezTo>
                  <a:pt x="106353" y="69056"/>
                  <a:pt x="109537" y="72241"/>
                  <a:pt x="109537" y="76200"/>
                </a:cubicBezTo>
                <a:cubicBezTo>
                  <a:pt x="109537" y="80159"/>
                  <a:pt x="106353" y="83344"/>
                  <a:pt x="102394" y="83344"/>
                </a:cubicBezTo>
                <a:lnTo>
                  <a:pt x="83344" y="83344"/>
                </a:lnTo>
                <a:lnTo>
                  <a:pt x="83344" y="102394"/>
                </a:lnTo>
                <a:cubicBezTo>
                  <a:pt x="83344" y="106353"/>
                  <a:pt x="80159" y="109537"/>
                  <a:pt x="76200" y="109537"/>
                </a:cubicBezTo>
                <a:cubicBezTo>
                  <a:pt x="72241" y="109537"/>
                  <a:pt x="69056" y="106353"/>
                  <a:pt x="69056" y="102394"/>
                </a:cubicBezTo>
                <a:close/>
              </a:path>
            </a:pathLst>
          </a:custGeom>
          <a:solidFill>
            <a:srgbClr val="3D8B75"/>
          </a:solidFill>
          <a:ln/>
        </p:spPr>
        <p:txBody>
          <a:bodyPr/>
          <a:lstStyle/>
          <a:p>
            <a:endParaRPr lang="zh-CN" altLang="en-US"/>
          </a:p>
        </p:txBody>
      </p:sp>
      <p:sp>
        <p:nvSpPr>
          <p:cNvPr id="17" name="Text 15"/>
          <p:cNvSpPr/>
          <p:nvPr/>
        </p:nvSpPr>
        <p:spPr>
          <a:xfrm>
            <a:off x="1028700" y="4171950"/>
            <a:ext cx="381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优势</a:t>
            </a:r>
            <a:endParaRPr lang="en-US" sz="1600" dirty="0"/>
          </a:p>
        </p:txBody>
      </p:sp>
      <p:sp>
        <p:nvSpPr>
          <p:cNvPr id="18" name="Text 16"/>
          <p:cNvSpPr/>
          <p:nvPr/>
        </p:nvSpPr>
        <p:spPr>
          <a:xfrm>
            <a:off x="762000" y="4438650"/>
            <a:ext cx="3086100" cy="190500"/>
          </a:xfrm>
          <a:prstGeom prst="rect">
            <a:avLst/>
          </a:prstGeom>
          <a:noFill/>
          <a:ln/>
        </p:spPr>
        <p:txBody>
          <a:bodyPr wrap="square" lIns="0" tIns="0" rIns="0" bIns="0" rtlCol="0" anchor="ctr"/>
          <a:lstStyle/>
          <a:p>
            <a:pPr>
              <a:lnSpc>
                <a:spcPct val="120000"/>
              </a:lnSpc>
            </a:pPr>
            <a:r>
              <a:rPr lang="en-US" sz="1050" dirty="0">
                <a:solidFill>
                  <a:srgbClr val="E0E2E5">
                    <a:alpha val="80000"/>
                  </a:srgbClr>
                </a:solidFill>
                <a:latin typeface="Noto Sans SC" pitchFamily="34" charset="0"/>
                <a:ea typeface="Noto Sans SC" pitchFamily="34" charset="-122"/>
                <a:cs typeface="Noto Sans SC" pitchFamily="34" charset="-120"/>
              </a:rPr>
              <a:t>延迟极低，计算效率高</a:t>
            </a:r>
            <a:endParaRPr lang="en-US" sz="1600" dirty="0"/>
          </a:p>
        </p:txBody>
      </p:sp>
      <p:sp>
        <p:nvSpPr>
          <p:cNvPr id="19" name="Shape 17"/>
          <p:cNvSpPr/>
          <p:nvPr/>
        </p:nvSpPr>
        <p:spPr>
          <a:xfrm>
            <a:off x="628650" y="4819650"/>
            <a:ext cx="3267075" cy="876300"/>
          </a:xfrm>
          <a:custGeom>
            <a:avLst/>
            <a:gdLst/>
            <a:ahLst/>
            <a:cxnLst/>
            <a:rect l="l" t="t" r="r" b="b"/>
            <a:pathLst>
              <a:path w="3267075" h="876300">
                <a:moveTo>
                  <a:pt x="38100" y="0"/>
                </a:moveTo>
                <a:lnTo>
                  <a:pt x="3190872" y="0"/>
                </a:lnTo>
                <a:cubicBezTo>
                  <a:pt x="3232958" y="0"/>
                  <a:pt x="3267075" y="34117"/>
                  <a:pt x="3267075" y="76203"/>
                </a:cubicBezTo>
                <a:lnTo>
                  <a:pt x="3267075" y="800097"/>
                </a:lnTo>
                <a:cubicBezTo>
                  <a:pt x="3267075" y="842183"/>
                  <a:pt x="3232958" y="876300"/>
                  <a:pt x="3190872" y="876300"/>
                </a:cubicBezTo>
                <a:lnTo>
                  <a:pt x="38100" y="876300"/>
                </a:lnTo>
                <a:cubicBezTo>
                  <a:pt x="17072" y="876300"/>
                  <a:pt x="0" y="859228"/>
                  <a:pt x="0" y="838200"/>
                </a:cubicBezTo>
                <a:lnTo>
                  <a:pt x="0" y="38100"/>
                </a:lnTo>
                <a:cubicBezTo>
                  <a:pt x="0" y="17072"/>
                  <a:pt x="17072" y="0"/>
                  <a:pt x="38100" y="0"/>
                </a:cubicBezTo>
                <a:close/>
              </a:path>
            </a:pathLst>
          </a:custGeom>
          <a:solidFill>
            <a:srgbClr val="C9A86A">
              <a:alpha val="20000"/>
            </a:srgbClr>
          </a:solidFill>
          <a:ln/>
        </p:spPr>
        <p:txBody>
          <a:bodyPr/>
          <a:lstStyle/>
          <a:p>
            <a:endParaRPr lang="zh-CN" altLang="en-US"/>
          </a:p>
        </p:txBody>
      </p:sp>
      <p:sp>
        <p:nvSpPr>
          <p:cNvPr id="20" name="Shape 18"/>
          <p:cNvSpPr/>
          <p:nvPr/>
        </p:nvSpPr>
        <p:spPr>
          <a:xfrm>
            <a:off x="628650" y="4819650"/>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21" name="Shape 19"/>
          <p:cNvSpPr/>
          <p:nvPr/>
        </p:nvSpPr>
        <p:spPr>
          <a:xfrm>
            <a:off x="781050" y="497205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50006" y="69056"/>
                </a:moveTo>
                <a:lnTo>
                  <a:pt x="102394" y="69056"/>
                </a:lnTo>
                <a:cubicBezTo>
                  <a:pt x="106353" y="69056"/>
                  <a:pt x="109537" y="72241"/>
                  <a:pt x="109537" y="76200"/>
                </a:cubicBezTo>
                <a:cubicBezTo>
                  <a:pt x="109537" y="80159"/>
                  <a:pt x="106353" y="83344"/>
                  <a:pt x="102394" y="83344"/>
                </a:cubicBezTo>
                <a:lnTo>
                  <a:pt x="50006" y="83344"/>
                </a:lnTo>
                <a:cubicBezTo>
                  <a:pt x="46047" y="83344"/>
                  <a:pt x="42863" y="80159"/>
                  <a:pt x="42863" y="76200"/>
                </a:cubicBezTo>
                <a:cubicBezTo>
                  <a:pt x="42863" y="72241"/>
                  <a:pt x="46047" y="69056"/>
                  <a:pt x="50006" y="69056"/>
                </a:cubicBezTo>
                <a:close/>
              </a:path>
            </a:pathLst>
          </a:custGeom>
          <a:solidFill>
            <a:srgbClr val="C9A86A"/>
          </a:solidFill>
          <a:ln/>
        </p:spPr>
        <p:txBody>
          <a:bodyPr/>
          <a:lstStyle/>
          <a:p>
            <a:endParaRPr lang="zh-CN" altLang="en-US"/>
          </a:p>
        </p:txBody>
      </p:sp>
      <p:sp>
        <p:nvSpPr>
          <p:cNvPr id="22" name="Text 20"/>
          <p:cNvSpPr/>
          <p:nvPr/>
        </p:nvSpPr>
        <p:spPr>
          <a:xfrm>
            <a:off x="1028700" y="4933950"/>
            <a:ext cx="381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挑战</a:t>
            </a:r>
            <a:endParaRPr lang="en-US" sz="1600" dirty="0"/>
          </a:p>
        </p:txBody>
      </p:sp>
      <p:sp>
        <p:nvSpPr>
          <p:cNvPr id="23" name="Text 21"/>
          <p:cNvSpPr/>
          <p:nvPr/>
        </p:nvSpPr>
        <p:spPr>
          <a:xfrm>
            <a:off x="762000" y="5200650"/>
            <a:ext cx="3086100" cy="381000"/>
          </a:xfrm>
          <a:prstGeom prst="rect">
            <a:avLst/>
          </a:prstGeom>
          <a:noFill/>
          <a:ln/>
        </p:spPr>
        <p:txBody>
          <a:bodyPr wrap="square" lIns="0" tIns="0" rIns="0" bIns="0" rtlCol="0" anchor="ctr"/>
          <a:lstStyle/>
          <a:p>
            <a:pPr>
              <a:lnSpc>
                <a:spcPct val="120000"/>
              </a:lnSpc>
            </a:pPr>
            <a:r>
              <a:rPr lang="en-US" sz="1050" dirty="0">
                <a:solidFill>
                  <a:srgbClr val="E0E2E5">
                    <a:alpha val="80000"/>
                  </a:srgbClr>
                </a:solidFill>
                <a:latin typeface="Noto Sans SC" pitchFamily="34" charset="0"/>
                <a:ea typeface="Noto Sans SC" pitchFamily="34" charset="-122"/>
                <a:cs typeface="Noto Sans SC" pitchFamily="34" charset="-120"/>
              </a:rPr>
              <a:t>需要复杂的 CUDA/Triton 算子重写，工程门槛最高</a:t>
            </a:r>
            <a:endParaRPr lang="en-US" sz="1600" dirty="0"/>
          </a:p>
        </p:txBody>
      </p:sp>
      <p:sp>
        <p:nvSpPr>
          <p:cNvPr id="24" name="Shape 22"/>
          <p:cNvSpPr/>
          <p:nvPr/>
        </p:nvSpPr>
        <p:spPr>
          <a:xfrm>
            <a:off x="4260800" y="1371600"/>
            <a:ext cx="3686175" cy="4514850"/>
          </a:xfrm>
          <a:custGeom>
            <a:avLst/>
            <a:gdLst/>
            <a:ahLst/>
            <a:cxnLst/>
            <a:rect l="l" t="t" r="r" b="b"/>
            <a:pathLst>
              <a:path w="3686175" h="4514850">
                <a:moveTo>
                  <a:pt x="38100" y="0"/>
                </a:moveTo>
                <a:lnTo>
                  <a:pt x="3609982" y="0"/>
                </a:lnTo>
                <a:cubicBezTo>
                  <a:pt x="3652062" y="0"/>
                  <a:pt x="3686175" y="34113"/>
                  <a:pt x="3686175" y="76193"/>
                </a:cubicBezTo>
                <a:lnTo>
                  <a:pt x="3686175" y="4438657"/>
                </a:lnTo>
                <a:cubicBezTo>
                  <a:pt x="3686175" y="4480737"/>
                  <a:pt x="3652062" y="4514850"/>
                  <a:pt x="3609982" y="4514850"/>
                </a:cubicBezTo>
                <a:lnTo>
                  <a:pt x="38100" y="4514850"/>
                </a:lnTo>
                <a:cubicBezTo>
                  <a:pt x="17072" y="4514850"/>
                  <a:pt x="0" y="4497778"/>
                  <a:pt x="0" y="447675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25" name="Shape 23"/>
          <p:cNvSpPr/>
          <p:nvPr/>
        </p:nvSpPr>
        <p:spPr>
          <a:xfrm>
            <a:off x="4260800" y="1371600"/>
            <a:ext cx="38100" cy="4514850"/>
          </a:xfrm>
          <a:custGeom>
            <a:avLst/>
            <a:gdLst/>
            <a:ahLst/>
            <a:cxnLst/>
            <a:rect l="l" t="t" r="r" b="b"/>
            <a:pathLst>
              <a:path w="38100" h="4514850">
                <a:moveTo>
                  <a:pt x="38100" y="0"/>
                </a:moveTo>
                <a:lnTo>
                  <a:pt x="38100" y="0"/>
                </a:lnTo>
                <a:lnTo>
                  <a:pt x="38100" y="4514850"/>
                </a:lnTo>
                <a:lnTo>
                  <a:pt x="38100" y="4514850"/>
                </a:lnTo>
                <a:cubicBezTo>
                  <a:pt x="17072" y="4514850"/>
                  <a:pt x="0" y="4497778"/>
                  <a:pt x="0" y="447675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26" name="Shape 24"/>
          <p:cNvSpPr/>
          <p:nvPr/>
        </p:nvSpPr>
        <p:spPr>
          <a:xfrm>
            <a:off x="4470350" y="1562100"/>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C9A86A"/>
          </a:solidFill>
          <a:ln/>
        </p:spPr>
        <p:txBody>
          <a:bodyPr/>
          <a:lstStyle/>
          <a:p>
            <a:endParaRPr lang="zh-CN" altLang="en-US"/>
          </a:p>
        </p:txBody>
      </p:sp>
      <p:sp>
        <p:nvSpPr>
          <p:cNvPr id="27" name="Shape 25"/>
          <p:cNvSpPr/>
          <p:nvPr/>
        </p:nvSpPr>
        <p:spPr>
          <a:xfrm>
            <a:off x="4637038" y="1714500"/>
            <a:ext cx="200025" cy="228600"/>
          </a:xfrm>
          <a:custGeom>
            <a:avLst/>
            <a:gdLst/>
            <a:ahLst/>
            <a:cxnLst/>
            <a:rect l="l" t="t" r="r" b="b"/>
            <a:pathLst>
              <a:path w="200025" h="228600">
                <a:moveTo>
                  <a:pt x="75009" y="14288"/>
                </a:moveTo>
                <a:lnTo>
                  <a:pt x="10716" y="14288"/>
                </a:lnTo>
                <a:cubicBezTo>
                  <a:pt x="4777" y="14288"/>
                  <a:pt x="0" y="19065"/>
                  <a:pt x="0" y="25003"/>
                </a:cubicBezTo>
                <a:lnTo>
                  <a:pt x="0" y="89297"/>
                </a:lnTo>
                <a:cubicBezTo>
                  <a:pt x="0" y="93628"/>
                  <a:pt x="2590" y="97557"/>
                  <a:pt x="6608" y="99209"/>
                </a:cubicBezTo>
                <a:cubicBezTo>
                  <a:pt x="10626" y="100861"/>
                  <a:pt x="15225" y="99923"/>
                  <a:pt x="18306" y="96887"/>
                </a:cubicBezTo>
                <a:lnTo>
                  <a:pt x="36165" y="79028"/>
                </a:lnTo>
                <a:lnTo>
                  <a:pt x="71438" y="114300"/>
                </a:lnTo>
                <a:lnTo>
                  <a:pt x="36165" y="149572"/>
                </a:lnTo>
                <a:lnTo>
                  <a:pt x="18306" y="131713"/>
                </a:lnTo>
                <a:cubicBezTo>
                  <a:pt x="15225" y="128632"/>
                  <a:pt x="10626" y="127739"/>
                  <a:pt x="6608" y="129391"/>
                </a:cubicBezTo>
                <a:cubicBezTo>
                  <a:pt x="2590" y="131043"/>
                  <a:pt x="0" y="134972"/>
                  <a:pt x="0" y="139303"/>
                </a:cubicBezTo>
                <a:lnTo>
                  <a:pt x="0" y="203597"/>
                </a:lnTo>
                <a:cubicBezTo>
                  <a:pt x="0" y="209535"/>
                  <a:pt x="4777" y="214313"/>
                  <a:pt x="10716" y="214313"/>
                </a:cubicBezTo>
                <a:lnTo>
                  <a:pt x="75009" y="214313"/>
                </a:lnTo>
                <a:cubicBezTo>
                  <a:pt x="79340" y="214313"/>
                  <a:pt x="83269" y="211723"/>
                  <a:pt x="84921" y="207705"/>
                </a:cubicBezTo>
                <a:cubicBezTo>
                  <a:pt x="86573" y="203686"/>
                  <a:pt x="85680" y="199087"/>
                  <a:pt x="82600" y="196007"/>
                </a:cubicBezTo>
                <a:lnTo>
                  <a:pt x="64740" y="178147"/>
                </a:lnTo>
                <a:lnTo>
                  <a:pt x="100013" y="142875"/>
                </a:lnTo>
                <a:lnTo>
                  <a:pt x="135285" y="178147"/>
                </a:lnTo>
                <a:lnTo>
                  <a:pt x="117425" y="196007"/>
                </a:lnTo>
                <a:cubicBezTo>
                  <a:pt x="114345" y="199087"/>
                  <a:pt x="113452" y="203686"/>
                  <a:pt x="115104" y="207705"/>
                </a:cubicBezTo>
                <a:cubicBezTo>
                  <a:pt x="116756" y="211723"/>
                  <a:pt x="120685" y="214313"/>
                  <a:pt x="125016" y="214313"/>
                </a:cubicBezTo>
                <a:lnTo>
                  <a:pt x="189309" y="214313"/>
                </a:lnTo>
                <a:cubicBezTo>
                  <a:pt x="195248" y="214313"/>
                  <a:pt x="200025" y="209535"/>
                  <a:pt x="200025" y="203597"/>
                </a:cubicBezTo>
                <a:lnTo>
                  <a:pt x="200025" y="139303"/>
                </a:lnTo>
                <a:cubicBezTo>
                  <a:pt x="200025" y="134972"/>
                  <a:pt x="197435" y="131043"/>
                  <a:pt x="193417" y="129391"/>
                </a:cubicBezTo>
                <a:cubicBezTo>
                  <a:pt x="189399" y="127739"/>
                  <a:pt x="184800" y="128632"/>
                  <a:pt x="181719" y="131713"/>
                </a:cubicBezTo>
                <a:lnTo>
                  <a:pt x="163860" y="149572"/>
                </a:lnTo>
                <a:lnTo>
                  <a:pt x="128588" y="114300"/>
                </a:lnTo>
                <a:lnTo>
                  <a:pt x="163860" y="79028"/>
                </a:lnTo>
                <a:lnTo>
                  <a:pt x="181719" y="96887"/>
                </a:lnTo>
                <a:cubicBezTo>
                  <a:pt x="184800" y="99968"/>
                  <a:pt x="189399" y="100861"/>
                  <a:pt x="193417" y="99209"/>
                </a:cubicBezTo>
                <a:cubicBezTo>
                  <a:pt x="197435" y="97557"/>
                  <a:pt x="200025" y="93628"/>
                  <a:pt x="200025" y="89297"/>
                </a:cubicBezTo>
                <a:lnTo>
                  <a:pt x="200025" y="25003"/>
                </a:lnTo>
                <a:cubicBezTo>
                  <a:pt x="200025" y="19065"/>
                  <a:pt x="195248" y="14288"/>
                  <a:pt x="189309" y="14288"/>
                </a:cubicBezTo>
                <a:lnTo>
                  <a:pt x="125016" y="14288"/>
                </a:lnTo>
                <a:cubicBezTo>
                  <a:pt x="120685" y="14288"/>
                  <a:pt x="116756" y="16877"/>
                  <a:pt x="115104" y="20895"/>
                </a:cubicBezTo>
                <a:cubicBezTo>
                  <a:pt x="113452" y="24914"/>
                  <a:pt x="114389" y="29513"/>
                  <a:pt x="117425" y="32593"/>
                </a:cubicBezTo>
                <a:lnTo>
                  <a:pt x="135285" y="50453"/>
                </a:lnTo>
                <a:lnTo>
                  <a:pt x="100013" y="85725"/>
                </a:lnTo>
                <a:lnTo>
                  <a:pt x="64740" y="50453"/>
                </a:lnTo>
                <a:lnTo>
                  <a:pt x="82600" y="32593"/>
                </a:lnTo>
                <a:cubicBezTo>
                  <a:pt x="85680" y="29513"/>
                  <a:pt x="86573" y="24914"/>
                  <a:pt x="84921" y="20895"/>
                </a:cubicBezTo>
                <a:cubicBezTo>
                  <a:pt x="83269" y="16877"/>
                  <a:pt x="79340" y="14288"/>
                  <a:pt x="75009" y="14288"/>
                </a:cubicBezTo>
                <a:close/>
              </a:path>
            </a:pathLst>
          </a:custGeom>
          <a:solidFill>
            <a:srgbClr val="FFFFFF"/>
          </a:solidFill>
          <a:ln/>
        </p:spPr>
        <p:txBody>
          <a:bodyPr/>
          <a:lstStyle/>
          <a:p>
            <a:endParaRPr lang="zh-CN" altLang="en-US"/>
          </a:p>
        </p:txBody>
      </p:sp>
      <p:sp>
        <p:nvSpPr>
          <p:cNvPr id="28" name="Text 26"/>
          <p:cNvSpPr/>
          <p:nvPr/>
        </p:nvSpPr>
        <p:spPr>
          <a:xfrm>
            <a:off x="5118050" y="1676400"/>
            <a:ext cx="1028700"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Noto Sans SC" pitchFamily="34" charset="0"/>
                <a:ea typeface="Noto Sans SC" pitchFamily="34" charset="-122"/>
                <a:cs typeface="Noto Sans SC" pitchFamily="34" charset="-120"/>
              </a:rPr>
              <a:t>核外压缩</a:t>
            </a:r>
            <a:endParaRPr lang="en-US" sz="1600" dirty="0"/>
          </a:p>
        </p:txBody>
      </p:sp>
      <p:sp>
        <p:nvSpPr>
          <p:cNvPr id="29" name="Text 27"/>
          <p:cNvSpPr/>
          <p:nvPr/>
        </p:nvSpPr>
        <p:spPr>
          <a:xfrm>
            <a:off x="4470350" y="2247900"/>
            <a:ext cx="3362325" cy="228600"/>
          </a:xfrm>
          <a:prstGeom prst="rect">
            <a:avLst/>
          </a:prstGeom>
          <a:noFill/>
          <a:ln/>
        </p:spPr>
        <p:txBody>
          <a:bodyPr wrap="square" lIns="0" tIns="0" rIns="0" bIns="0" rtlCol="0" anchor="ctr"/>
          <a:lstStyle/>
          <a:p>
            <a:pPr>
              <a:lnSpc>
                <a:spcPct val="130000"/>
              </a:lnSpc>
            </a:pPr>
            <a:r>
              <a:rPr lang="en-US" sz="1200" b="1" dirty="0">
                <a:solidFill>
                  <a:srgbClr val="C9A86A"/>
                </a:solidFill>
                <a:latin typeface="Noto Sans SC" pitchFamily="34" charset="0"/>
                <a:ea typeface="Noto Sans SC" pitchFamily="34" charset="-122"/>
                <a:cs typeface="Noto Sans SC" pitchFamily="34" charset="-120"/>
              </a:rPr>
              <a:t>Out-of-core Compression</a:t>
            </a:r>
            <a:endParaRPr lang="en-US" sz="1600" dirty="0"/>
          </a:p>
        </p:txBody>
      </p:sp>
      <p:sp>
        <p:nvSpPr>
          <p:cNvPr id="30" name="Shape 28"/>
          <p:cNvSpPr/>
          <p:nvPr/>
        </p:nvSpPr>
        <p:spPr>
          <a:xfrm>
            <a:off x="4470350" y="2590800"/>
            <a:ext cx="3286125" cy="1543050"/>
          </a:xfrm>
          <a:custGeom>
            <a:avLst/>
            <a:gdLst/>
            <a:ahLst/>
            <a:cxnLst/>
            <a:rect l="l" t="t" r="r" b="b"/>
            <a:pathLst>
              <a:path w="3286125" h="1543050">
                <a:moveTo>
                  <a:pt x="76196" y="0"/>
                </a:moveTo>
                <a:lnTo>
                  <a:pt x="3209929" y="0"/>
                </a:lnTo>
                <a:cubicBezTo>
                  <a:pt x="3252011" y="0"/>
                  <a:pt x="3286125" y="34114"/>
                  <a:pt x="3286125" y="76196"/>
                </a:cubicBezTo>
                <a:lnTo>
                  <a:pt x="3286125" y="1466854"/>
                </a:lnTo>
                <a:cubicBezTo>
                  <a:pt x="3286125" y="1508936"/>
                  <a:pt x="3252011" y="1543050"/>
                  <a:pt x="3209929" y="1543050"/>
                </a:cubicBezTo>
                <a:lnTo>
                  <a:pt x="76196" y="1543050"/>
                </a:lnTo>
                <a:cubicBezTo>
                  <a:pt x="34114" y="1543050"/>
                  <a:pt x="0" y="1508936"/>
                  <a:pt x="0" y="1466854"/>
                </a:cubicBezTo>
                <a:lnTo>
                  <a:pt x="0" y="76196"/>
                </a:lnTo>
                <a:cubicBezTo>
                  <a:pt x="0" y="34142"/>
                  <a:pt x="34142" y="0"/>
                  <a:pt x="76196" y="0"/>
                </a:cubicBezTo>
                <a:close/>
              </a:path>
            </a:pathLst>
          </a:custGeom>
          <a:solidFill>
            <a:srgbClr val="1A1D21">
              <a:alpha val="50196"/>
            </a:srgbClr>
          </a:solidFill>
          <a:ln/>
        </p:spPr>
        <p:txBody>
          <a:bodyPr/>
          <a:lstStyle/>
          <a:p>
            <a:endParaRPr lang="zh-CN" altLang="en-US"/>
          </a:p>
        </p:txBody>
      </p:sp>
      <p:sp>
        <p:nvSpPr>
          <p:cNvPr id="31" name="Text 29"/>
          <p:cNvSpPr/>
          <p:nvPr/>
        </p:nvSpPr>
        <p:spPr>
          <a:xfrm>
            <a:off x="4622750" y="2743200"/>
            <a:ext cx="30575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核心机制</a:t>
            </a:r>
            <a:endParaRPr lang="en-US" sz="1600" dirty="0"/>
          </a:p>
        </p:txBody>
      </p:sp>
      <p:sp>
        <p:nvSpPr>
          <p:cNvPr id="32" name="Text 30"/>
          <p:cNvSpPr/>
          <p:nvPr/>
        </p:nvSpPr>
        <p:spPr>
          <a:xfrm>
            <a:off x="4622750" y="3048000"/>
            <a:ext cx="3057525" cy="7429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将温冷状态的 KV Cache </a:t>
            </a:r>
            <a:r>
              <a:rPr lang="en-US" sz="1200" b="1" dirty="0">
                <a:solidFill>
                  <a:srgbClr val="C9A86A"/>
                </a:solidFill>
                <a:latin typeface="Noto Sans SC" pitchFamily="34" charset="0"/>
                <a:ea typeface="Noto Sans SC" pitchFamily="34" charset="-122"/>
                <a:cs typeface="Noto Sans SC" pitchFamily="34" charset="-120"/>
              </a:rPr>
              <a:t>卸载至 CPU 内存或 SSD</a:t>
            </a:r>
            <a:r>
              <a:rPr lang="en-US" sz="1200" dirty="0">
                <a:solidFill>
                  <a:srgbClr val="E0E2E5">
                    <a:alpha val="80000"/>
                  </a:srgbClr>
                </a:solidFill>
                <a:latin typeface="Noto Sans SC" pitchFamily="34" charset="0"/>
                <a:ea typeface="Noto Sans SC" pitchFamily="34" charset="-122"/>
                <a:cs typeface="Noto Sans SC" pitchFamily="34" charset="-120"/>
              </a:rPr>
              <a:t> 并进行高压缩比存储，仅在注意力计算时按需加载至 GPU。</a:t>
            </a:r>
            <a:endParaRPr lang="en-US" sz="1600" dirty="0"/>
          </a:p>
        </p:txBody>
      </p:sp>
      <p:sp>
        <p:nvSpPr>
          <p:cNvPr id="33" name="Shape 31"/>
          <p:cNvSpPr/>
          <p:nvPr/>
        </p:nvSpPr>
        <p:spPr>
          <a:xfrm>
            <a:off x="4489400" y="4248150"/>
            <a:ext cx="3267075" cy="685800"/>
          </a:xfrm>
          <a:custGeom>
            <a:avLst/>
            <a:gdLst/>
            <a:ahLst/>
            <a:cxnLst/>
            <a:rect l="l" t="t" r="r" b="b"/>
            <a:pathLst>
              <a:path w="3267075" h="685800">
                <a:moveTo>
                  <a:pt x="38100" y="0"/>
                </a:moveTo>
                <a:lnTo>
                  <a:pt x="3190876" y="0"/>
                </a:lnTo>
                <a:cubicBezTo>
                  <a:pt x="3232959" y="0"/>
                  <a:pt x="3267075" y="34116"/>
                  <a:pt x="3267075" y="76199"/>
                </a:cubicBezTo>
                <a:lnTo>
                  <a:pt x="3267075" y="609601"/>
                </a:lnTo>
                <a:cubicBezTo>
                  <a:pt x="3267075" y="651684"/>
                  <a:pt x="3232959" y="685800"/>
                  <a:pt x="3190876" y="685800"/>
                </a:cubicBezTo>
                <a:lnTo>
                  <a:pt x="38100" y="685800"/>
                </a:lnTo>
                <a:cubicBezTo>
                  <a:pt x="17072" y="685800"/>
                  <a:pt x="0" y="668728"/>
                  <a:pt x="0" y="64770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34" name="Shape 32"/>
          <p:cNvSpPr/>
          <p:nvPr/>
        </p:nvSpPr>
        <p:spPr>
          <a:xfrm>
            <a:off x="4489400" y="424815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35" name="Shape 33"/>
          <p:cNvSpPr/>
          <p:nvPr/>
        </p:nvSpPr>
        <p:spPr>
          <a:xfrm>
            <a:off x="4641800" y="440055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9056" y="102394"/>
                </a:moveTo>
                <a:lnTo>
                  <a:pt x="69056" y="83344"/>
                </a:lnTo>
                <a:lnTo>
                  <a:pt x="50006" y="83344"/>
                </a:lnTo>
                <a:cubicBezTo>
                  <a:pt x="46047" y="83344"/>
                  <a:pt x="42863" y="80159"/>
                  <a:pt x="42863" y="76200"/>
                </a:cubicBezTo>
                <a:cubicBezTo>
                  <a:pt x="42863" y="72241"/>
                  <a:pt x="46047" y="69056"/>
                  <a:pt x="50006" y="69056"/>
                </a:cubicBezTo>
                <a:lnTo>
                  <a:pt x="69056" y="69056"/>
                </a:lnTo>
                <a:lnTo>
                  <a:pt x="69056" y="50006"/>
                </a:lnTo>
                <a:cubicBezTo>
                  <a:pt x="69056" y="46047"/>
                  <a:pt x="72241" y="42863"/>
                  <a:pt x="76200" y="42863"/>
                </a:cubicBezTo>
                <a:cubicBezTo>
                  <a:pt x="80159" y="42863"/>
                  <a:pt x="83344" y="46047"/>
                  <a:pt x="83344" y="50006"/>
                </a:cubicBezTo>
                <a:lnTo>
                  <a:pt x="83344" y="69056"/>
                </a:lnTo>
                <a:lnTo>
                  <a:pt x="102394" y="69056"/>
                </a:lnTo>
                <a:cubicBezTo>
                  <a:pt x="106353" y="69056"/>
                  <a:pt x="109537" y="72241"/>
                  <a:pt x="109537" y="76200"/>
                </a:cubicBezTo>
                <a:cubicBezTo>
                  <a:pt x="109537" y="80159"/>
                  <a:pt x="106353" y="83344"/>
                  <a:pt x="102394" y="83344"/>
                </a:cubicBezTo>
                <a:lnTo>
                  <a:pt x="83344" y="83344"/>
                </a:lnTo>
                <a:lnTo>
                  <a:pt x="83344" y="102394"/>
                </a:lnTo>
                <a:cubicBezTo>
                  <a:pt x="83344" y="106353"/>
                  <a:pt x="80159" y="109537"/>
                  <a:pt x="76200" y="109537"/>
                </a:cubicBezTo>
                <a:cubicBezTo>
                  <a:pt x="72241" y="109537"/>
                  <a:pt x="69056" y="106353"/>
                  <a:pt x="69056" y="102394"/>
                </a:cubicBezTo>
                <a:close/>
              </a:path>
            </a:pathLst>
          </a:custGeom>
          <a:solidFill>
            <a:srgbClr val="3D8B75"/>
          </a:solidFill>
          <a:ln/>
        </p:spPr>
        <p:txBody>
          <a:bodyPr/>
          <a:lstStyle/>
          <a:p>
            <a:endParaRPr lang="zh-CN" altLang="en-US"/>
          </a:p>
        </p:txBody>
      </p:sp>
      <p:sp>
        <p:nvSpPr>
          <p:cNvPr id="36" name="Text 34"/>
          <p:cNvSpPr/>
          <p:nvPr/>
        </p:nvSpPr>
        <p:spPr>
          <a:xfrm>
            <a:off x="4889450" y="4362450"/>
            <a:ext cx="381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优势</a:t>
            </a:r>
            <a:endParaRPr lang="en-US" sz="1600" dirty="0"/>
          </a:p>
        </p:txBody>
      </p:sp>
      <p:sp>
        <p:nvSpPr>
          <p:cNvPr id="37" name="Text 35"/>
          <p:cNvSpPr/>
          <p:nvPr/>
        </p:nvSpPr>
        <p:spPr>
          <a:xfrm>
            <a:off x="4622750" y="4629150"/>
            <a:ext cx="3086100" cy="190500"/>
          </a:xfrm>
          <a:prstGeom prst="rect">
            <a:avLst/>
          </a:prstGeom>
          <a:noFill/>
          <a:ln/>
        </p:spPr>
        <p:txBody>
          <a:bodyPr wrap="square" lIns="0" tIns="0" rIns="0" bIns="0" rtlCol="0" anchor="ctr"/>
          <a:lstStyle/>
          <a:p>
            <a:pPr>
              <a:lnSpc>
                <a:spcPct val="120000"/>
              </a:lnSpc>
            </a:pPr>
            <a:r>
              <a:rPr lang="en-US" sz="1050" dirty="0">
                <a:solidFill>
                  <a:srgbClr val="E0E2E5">
                    <a:alpha val="80000"/>
                  </a:srgbClr>
                </a:solidFill>
                <a:latin typeface="Noto Sans SC" pitchFamily="34" charset="0"/>
                <a:ea typeface="Noto Sans SC" pitchFamily="34" charset="-122"/>
                <a:cs typeface="Noto Sans SC" pitchFamily="34" charset="-120"/>
              </a:rPr>
              <a:t>非常适合超长上下文场景</a:t>
            </a:r>
            <a:endParaRPr lang="en-US" sz="1600" dirty="0"/>
          </a:p>
        </p:txBody>
      </p:sp>
      <p:sp>
        <p:nvSpPr>
          <p:cNvPr id="38" name="Shape 36"/>
          <p:cNvSpPr/>
          <p:nvPr/>
        </p:nvSpPr>
        <p:spPr>
          <a:xfrm>
            <a:off x="4489400" y="5010150"/>
            <a:ext cx="3267075" cy="685800"/>
          </a:xfrm>
          <a:custGeom>
            <a:avLst/>
            <a:gdLst/>
            <a:ahLst/>
            <a:cxnLst/>
            <a:rect l="l" t="t" r="r" b="b"/>
            <a:pathLst>
              <a:path w="3267075" h="685800">
                <a:moveTo>
                  <a:pt x="38100" y="0"/>
                </a:moveTo>
                <a:lnTo>
                  <a:pt x="3190876" y="0"/>
                </a:lnTo>
                <a:cubicBezTo>
                  <a:pt x="3232959" y="0"/>
                  <a:pt x="3267075" y="34116"/>
                  <a:pt x="3267075" y="76199"/>
                </a:cubicBezTo>
                <a:lnTo>
                  <a:pt x="3267075" y="609601"/>
                </a:lnTo>
                <a:cubicBezTo>
                  <a:pt x="3267075" y="651684"/>
                  <a:pt x="3232959" y="685800"/>
                  <a:pt x="3190876" y="685800"/>
                </a:cubicBezTo>
                <a:lnTo>
                  <a:pt x="38100" y="685800"/>
                </a:lnTo>
                <a:cubicBezTo>
                  <a:pt x="17072" y="685800"/>
                  <a:pt x="0" y="668728"/>
                  <a:pt x="0" y="647700"/>
                </a:cubicBezTo>
                <a:lnTo>
                  <a:pt x="0" y="38100"/>
                </a:lnTo>
                <a:cubicBezTo>
                  <a:pt x="0" y="17072"/>
                  <a:pt x="17072" y="0"/>
                  <a:pt x="38100" y="0"/>
                </a:cubicBezTo>
                <a:close/>
              </a:path>
            </a:pathLst>
          </a:custGeom>
          <a:solidFill>
            <a:srgbClr val="C9A86A">
              <a:alpha val="20000"/>
            </a:srgbClr>
          </a:solidFill>
          <a:ln/>
        </p:spPr>
        <p:txBody>
          <a:bodyPr/>
          <a:lstStyle/>
          <a:p>
            <a:endParaRPr lang="zh-CN" altLang="en-US"/>
          </a:p>
        </p:txBody>
      </p:sp>
      <p:sp>
        <p:nvSpPr>
          <p:cNvPr id="39" name="Shape 37"/>
          <p:cNvSpPr/>
          <p:nvPr/>
        </p:nvSpPr>
        <p:spPr>
          <a:xfrm>
            <a:off x="4489400" y="501015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40" name="Shape 38"/>
          <p:cNvSpPr/>
          <p:nvPr/>
        </p:nvSpPr>
        <p:spPr>
          <a:xfrm>
            <a:off x="4641800" y="516255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50006" y="69056"/>
                </a:moveTo>
                <a:lnTo>
                  <a:pt x="102394" y="69056"/>
                </a:lnTo>
                <a:cubicBezTo>
                  <a:pt x="106353" y="69056"/>
                  <a:pt x="109537" y="72241"/>
                  <a:pt x="109537" y="76200"/>
                </a:cubicBezTo>
                <a:cubicBezTo>
                  <a:pt x="109537" y="80159"/>
                  <a:pt x="106353" y="83344"/>
                  <a:pt x="102394" y="83344"/>
                </a:cubicBezTo>
                <a:lnTo>
                  <a:pt x="50006" y="83344"/>
                </a:lnTo>
                <a:cubicBezTo>
                  <a:pt x="46047" y="83344"/>
                  <a:pt x="42863" y="80159"/>
                  <a:pt x="42863" y="76200"/>
                </a:cubicBezTo>
                <a:cubicBezTo>
                  <a:pt x="42863" y="72241"/>
                  <a:pt x="46047" y="69056"/>
                  <a:pt x="50006" y="69056"/>
                </a:cubicBezTo>
                <a:close/>
              </a:path>
            </a:pathLst>
          </a:custGeom>
          <a:solidFill>
            <a:srgbClr val="C9A86A"/>
          </a:solidFill>
          <a:ln/>
        </p:spPr>
        <p:txBody>
          <a:bodyPr/>
          <a:lstStyle/>
          <a:p>
            <a:endParaRPr lang="zh-CN" altLang="en-US"/>
          </a:p>
        </p:txBody>
      </p:sp>
      <p:sp>
        <p:nvSpPr>
          <p:cNvPr id="41" name="Text 39"/>
          <p:cNvSpPr/>
          <p:nvPr/>
        </p:nvSpPr>
        <p:spPr>
          <a:xfrm>
            <a:off x="4889450" y="5124450"/>
            <a:ext cx="381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挑战</a:t>
            </a:r>
            <a:endParaRPr lang="en-US" sz="1600" dirty="0"/>
          </a:p>
        </p:txBody>
      </p:sp>
      <p:sp>
        <p:nvSpPr>
          <p:cNvPr id="42" name="Text 40"/>
          <p:cNvSpPr/>
          <p:nvPr/>
        </p:nvSpPr>
        <p:spPr>
          <a:xfrm>
            <a:off x="4622750" y="5391150"/>
            <a:ext cx="3086100" cy="190500"/>
          </a:xfrm>
          <a:prstGeom prst="rect">
            <a:avLst/>
          </a:prstGeom>
          <a:noFill/>
          <a:ln/>
        </p:spPr>
        <p:txBody>
          <a:bodyPr wrap="square" lIns="0" tIns="0" rIns="0" bIns="0" rtlCol="0" anchor="ctr"/>
          <a:lstStyle/>
          <a:p>
            <a:pPr>
              <a:lnSpc>
                <a:spcPct val="120000"/>
              </a:lnSpc>
            </a:pPr>
            <a:r>
              <a:rPr lang="en-US" sz="1050" dirty="0">
                <a:solidFill>
                  <a:srgbClr val="E0E2E5">
                    <a:alpha val="80000"/>
                  </a:srgbClr>
                </a:solidFill>
                <a:latin typeface="Noto Sans SC" pitchFamily="34" charset="0"/>
                <a:ea typeface="Noto Sans SC" pitchFamily="34" charset="-122"/>
                <a:cs typeface="Noto Sans SC" pitchFamily="34" charset="-120"/>
              </a:rPr>
              <a:t>会引入显著的 PCIe 数据搬运延迟</a:t>
            </a:r>
            <a:endParaRPr lang="en-US" sz="1600" dirty="0"/>
          </a:p>
        </p:txBody>
      </p:sp>
      <p:sp>
        <p:nvSpPr>
          <p:cNvPr id="43" name="Shape 41"/>
          <p:cNvSpPr/>
          <p:nvPr/>
        </p:nvSpPr>
        <p:spPr>
          <a:xfrm>
            <a:off x="8121625" y="1371600"/>
            <a:ext cx="3686175" cy="4514850"/>
          </a:xfrm>
          <a:custGeom>
            <a:avLst/>
            <a:gdLst/>
            <a:ahLst/>
            <a:cxnLst/>
            <a:rect l="l" t="t" r="r" b="b"/>
            <a:pathLst>
              <a:path w="3686175" h="4514850">
                <a:moveTo>
                  <a:pt x="38100" y="0"/>
                </a:moveTo>
                <a:lnTo>
                  <a:pt x="3609982" y="0"/>
                </a:lnTo>
                <a:cubicBezTo>
                  <a:pt x="3652062" y="0"/>
                  <a:pt x="3686175" y="34113"/>
                  <a:pt x="3686175" y="76193"/>
                </a:cubicBezTo>
                <a:lnTo>
                  <a:pt x="3686175" y="4438657"/>
                </a:lnTo>
                <a:cubicBezTo>
                  <a:pt x="3686175" y="4480737"/>
                  <a:pt x="3652062" y="4514850"/>
                  <a:pt x="3609982" y="4514850"/>
                </a:cubicBezTo>
                <a:lnTo>
                  <a:pt x="38100" y="4514850"/>
                </a:lnTo>
                <a:cubicBezTo>
                  <a:pt x="17072" y="4514850"/>
                  <a:pt x="0" y="4497778"/>
                  <a:pt x="0" y="447675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44" name="Shape 42"/>
          <p:cNvSpPr/>
          <p:nvPr/>
        </p:nvSpPr>
        <p:spPr>
          <a:xfrm>
            <a:off x="8121625" y="1371600"/>
            <a:ext cx="38100" cy="4514850"/>
          </a:xfrm>
          <a:custGeom>
            <a:avLst/>
            <a:gdLst/>
            <a:ahLst/>
            <a:cxnLst/>
            <a:rect l="l" t="t" r="r" b="b"/>
            <a:pathLst>
              <a:path w="38100" h="4514850">
                <a:moveTo>
                  <a:pt x="38100" y="0"/>
                </a:moveTo>
                <a:lnTo>
                  <a:pt x="38100" y="0"/>
                </a:lnTo>
                <a:lnTo>
                  <a:pt x="38100" y="4514850"/>
                </a:lnTo>
                <a:lnTo>
                  <a:pt x="38100" y="4514850"/>
                </a:lnTo>
                <a:cubicBezTo>
                  <a:pt x="17072" y="4514850"/>
                  <a:pt x="0" y="4497778"/>
                  <a:pt x="0" y="447675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45" name="Shape 43"/>
          <p:cNvSpPr/>
          <p:nvPr/>
        </p:nvSpPr>
        <p:spPr>
          <a:xfrm>
            <a:off x="8331175" y="1562100"/>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5F6B7A"/>
          </a:solidFill>
          <a:ln/>
        </p:spPr>
        <p:txBody>
          <a:bodyPr/>
          <a:lstStyle/>
          <a:p>
            <a:endParaRPr lang="zh-CN" altLang="en-US"/>
          </a:p>
        </p:txBody>
      </p:sp>
      <p:sp>
        <p:nvSpPr>
          <p:cNvPr id="46" name="Shape 44"/>
          <p:cNvSpPr/>
          <p:nvPr/>
        </p:nvSpPr>
        <p:spPr>
          <a:xfrm>
            <a:off x="8483575" y="1714500"/>
            <a:ext cx="228600" cy="228600"/>
          </a:xfrm>
          <a:custGeom>
            <a:avLst/>
            <a:gdLst/>
            <a:ahLst/>
            <a:cxn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FFFFFF"/>
          </a:solidFill>
          <a:ln/>
        </p:spPr>
        <p:txBody>
          <a:bodyPr/>
          <a:lstStyle/>
          <a:p>
            <a:endParaRPr lang="zh-CN" altLang="en-US"/>
          </a:p>
        </p:txBody>
      </p:sp>
      <p:sp>
        <p:nvSpPr>
          <p:cNvPr id="47" name="Text 45"/>
          <p:cNvSpPr/>
          <p:nvPr/>
        </p:nvSpPr>
        <p:spPr>
          <a:xfrm>
            <a:off x="8978875" y="1676400"/>
            <a:ext cx="1028700"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Noto Sans SC" pitchFamily="34" charset="0"/>
                <a:ea typeface="Noto Sans SC" pitchFamily="34" charset="-122"/>
                <a:cs typeface="Noto Sans SC" pitchFamily="34" charset="-120"/>
              </a:rPr>
              <a:t>混合压缩</a:t>
            </a:r>
            <a:endParaRPr lang="en-US" sz="1600" dirty="0"/>
          </a:p>
        </p:txBody>
      </p:sp>
      <p:sp>
        <p:nvSpPr>
          <p:cNvPr id="48" name="Text 46"/>
          <p:cNvSpPr/>
          <p:nvPr/>
        </p:nvSpPr>
        <p:spPr>
          <a:xfrm>
            <a:off x="8331175" y="2247900"/>
            <a:ext cx="3362325" cy="228600"/>
          </a:xfrm>
          <a:prstGeom prst="rect">
            <a:avLst/>
          </a:prstGeom>
          <a:noFill/>
          <a:ln/>
        </p:spPr>
        <p:txBody>
          <a:bodyPr wrap="square" lIns="0" tIns="0" rIns="0" bIns="0" rtlCol="0" anchor="ctr"/>
          <a:lstStyle/>
          <a:p>
            <a:pPr>
              <a:lnSpc>
                <a:spcPct val="130000"/>
              </a:lnSpc>
            </a:pPr>
            <a:r>
              <a:rPr lang="en-US" sz="1200" b="1" dirty="0">
                <a:solidFill>
                  <a:srgbClr val="5F6B7A"/>
                </a:solidFill>
                <a:latin typeface="Noto Sans SC" pitchFamily="34" charset="0"/>
                <a:ea typeface="Noto Sans SC" pitchFamily="34" charset="-122"/>
                <a:cs typeface="Noto Sans SC" pitchFamily="34" charset="-120"/>
              </a:rPr>
              <a:t>Hybrid Compression</a:t>
            </a:r>
            <a:endParaRPr lang="en-US" sz="1600" dirty="0"/>
          </a:p>
        </p:txBody>
      </p:sp>
      <p:sp>
        <p:nvSpPr>
          <p:cNvPr id="49" name="Shape 47"/>
          <p:cNvSpPr/>
          <p:nvPr/>
        </p:nvSpPr>
        <p:spPr>
          <a:xfrm>
            <a:off x="8331175" y="2590800"/>
            <a:ext cx="3286125" cy="1543050"/>
          </a:xfrm>
          <a:custGeom>
            <a:avLst/>
            <a:gdLst/>
            <a:ahLst/>
            <a:cxnLst/>
            <a:rect l="l" t="t" r="r" b="b"/>
            <a:pathLst>
              <a:path w="3286125" h="1543050">
                <a:moveTo>
                  <a:pt x="76196" y="0"/>
                </a:moveTo>
                <a:lnTo>
                  <a:pt x="3209929" y="0"/>
                </a:lnTo>
                <a:cubicBezTo>
                  <a:pt x="3252011" y="0"/>
                  <a:pt x="3286125" y="34114"/>
                  <a:pt x="3286125" y="76196"/>
                </a:cubicBezTo>
                <a:lnTo>
                  <a:pt x="3286125" y="1466854"/>
                </a:lnTo>
                <a:cubicBezTo>
                  <a:pt x="3286125" y="1508936"/>
                  <a:pt x="3252011" y="1543050"/>
                  <a:pt x="3209929" y="1543050"/>
                </a:cubicBezTo>
                <a:lnTo>
                  <a:pt x="76196" y="1543050"/>
                </a:lnTo>
                <a:cubicBezTo>
                  <a:pt x="34114" y="1543050"/>
                  <a:pt x="0" y="1508936"/>
                  <a:pt x="0" y="1466854"/>
                </a:cubicBezTo>
                <a:lnTo>
                  <a:pt x="0" y="76196"/>
                </a:lnTo>
                <a:cubicBezTo>
                  <a:pt x="0" y="34142"/>
                  <a:pt x="34142" y="0"/>
                  <a:pt x="76196" y="0"/>
                </a:cubicBezTo>
                <a:close/>
              </a:path>
            </a:pathLst>
          </a:custGeom>
          <a:solidFill>
            <a:srgbClr val="1A1D21">
              <a:alpha val="50196"/>
            </a:srgbClr>
          </a:solidFill>
          <a:ln/>
        </p:spPr>
        <p:txBody>
          <a:bodyPr/>
          <a:lstStyle/>
          <a:p>
            <a:endParaRPr lang="zh-CN" altLang="en-US"/>
          </a:p>
        </p:txBody>
      </p:sp>
      <p:sp>
        <p:nvSpPr>
          <p:cNvPr id="50" name="Text 48"/>
          <p:cNvSpPr/>
          <p:nvPr/>
        </p:nvSpPr>
        <p:spPr>
          <a:xfrm>
            <a:off x="8483575" y="2743200"/>
            <a:ext cx="30575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核心机制</a:t>
            </a:r>
            <a:endParaRPr lang="en-US" sz="1600" dirty="0"/>
          </a:p>
        </p:txBody>
      </p:sp>
      <p:sp>
        <p:nvSpPr>
          <p:cNvPr id="51" name="Text 49"/>
          <p:cNvSpPr/>
          <p:nvPr/>
        </p:nvSpPr>
        <p:spPr>
          <a:xfrm>
            <a:off x="8483575" y="3048000"/>
            <a:ext cx="3057525"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分级存储策略——</a:t>
            </a:r>
            <a:r>
              <a:rPr lang="en-US" sz="1200" b="1" dirty="0">
                <a:solidFill>
                  <a:srgbClr val="5F6B7A"/>
                </a:solidFill>
                <a:latin typeface="Noto Sans SC" pitchFamily="34" charset="0"/>
                <a:ea typeface="Noto Sans SC" pitchFamily="34" charset="-122"/>
                <a:cs typeface="Noto Sans SC" pitchFamily="34" charset="-120"/>
              </a:rPr>
              <a:t>热 KV 高精度驻留 GPU、温 KV 降精度存储、冷 KV 卸载至 CPU</a:t>
            </a:r>
            <a:r>
              <a:rPr lang="en-US" sz="12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52" name="Shape 50"/>
          <p:cNvSpPr/>
          <p:nvPr/>
        </p:nvSpPr>
        <p:spPr>
          <a:xfrm>
            <a:off x="8350225" y="4248150"/>
            <a:ext cx="3267075" cy="685800"/>
          </a:xfrm>
          <a:custGeom>
            <a:avLst/>
            <a:gdLst/>
            <a:ahLst/>
            <a:cxnLst/>
            <a:rect l="l" t="t" r="r" b="b"/>
            <a:pathLst>
              <a:path w="3267075" h="685800">
                <a:moveTo>
                  <a:pt x="38100" y="0"/>
                </a:moveTo>
                <a:lnTo>
                  <a:pt x="3190876" y="0"/>
                </a:lnTo>
                <a:cubicBezTo>
                  <a:pt x="3232959" y="0"/>
                  <a:pt x="3267075" y="34116"/>
                  <a:pt x="3267075" y="76199"/>
                </a:cubicBezTo>
                <a:lnTo>
                  <a:pt x="3267075" y="609601"/>
                </a:lnTo>
                <a:cubicBezTo>
                  <a:pt x="3267075" y="651684"/>
                  <a:pt x="3232959" y="685800"/>
                  <a:pt x="3190876" y="685800"/>
                </a:cubicBezTo>
                <a:lnTo>
                  <a:pt x="38100" y="685800"/>
                </a:lnTo>
                <a:cubicBezTo>
                  <a:pt x="17072" y="685800"/>
                  <a:pt x="0" y="668728"/>
                  <a:pt x="0" y="64770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53" name="Shape 51"/>
          <p:cNvSpPr/>
          <p:nvPr/>
        </p:nvSpPr>
        <p:spPr>
          <a:xfrm>
            <a:off x="8350225" y="424815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54" name="Shape 52"/>
          <p:cNvSpPr/>
          <p:nvPr/>
        </p:nvSpPr>
        <p:spPr>
          <a:xfrm>
            <a:off x="8502625" y="440055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9056" y="102394"/>
                </a:moveTo>
                <a:lnTo>
                  <a:pt x="69056" y="83344"/>
                </a:lnTo>
                <a:lnTo>
                  <a:pt x="50006" y="83344"/>
                </a:lnTo>
                <a:cubicBezTo>
                  <a:pt x="46047" y="83344"/>
                  <a:pt x="42863" y="80159"/>
                  <a:pt x="42863" y="76200"/>
                </a:cubicBezTo>
                <a:cubicBezTo>
                  <a:pt x="42863" y="72241"/>
                  <a:pt x="46047" y="69056"/>
                  <a:pt x="50006" y="69056"/>
                </a:cubicBezTo>
                <a:lnTo>
                  <a:pt x="69056" y="69056"/>
                </a:lnTo>
                <a:lnTo>
                  <a:pt x="69056" y="50006"/>
                </a:lnTo>
                <a:cubicBezTo>
                  <a:pt x="69056" y="46047"/>
                  <a:pt x="72241" y="42863"/>
                  <a:pt x="76200" y="42863"/>
                </a:cubicBezTo>
                <a:cubicBezTo>
                  <a:pt x="80159" y="42863"/>
                  <a:pt x="83344" y="46047"/>
                  <a:pt x="83344" y="50006"/>
                </a:cubicBezTo>
                <a:lnTo>
                  <a:pt x="83344" y="69056"/>
                </a:lnTo>
                <a:lnTo>
                  <a:pt x="102394" y="69056"/>
                </a:lnTo>
                <a:cubicBezTo>
                  <a:pt x="106353" y="69056"/>
                  <a:pt x="109537" y="72241"/>
                  <a:pt x="109537" y="76200"/>
                </a:cubicBezTo>
                <a:cubicBezTo>
                  <a:pt x="109537" y="80159"/>
                  <a:pt x="106353" y="83344"/>
                  <a:pt x="102394" y="83344"/>
                </a:cubicBezTo>
                <a:lnTo>
                  <a:pt x="83344" y="83344"/>
                </a:lnTo>
                <a:lnTo>
                  <a:pt x="83344" y="102394"/>
                </a:lnTo>
                <a:cubicBezTo>
                  <a:pt x="83344" y="106353"/>
                  <a:pt x="80159" y="109537"/>
                  <a:pt x="76200" y="109537"/>
                </a:cubicBezTo>
                <a:cubicBezTo>
                  <a:pt x="72241" y="109537"/>
                  <a:pt x="69056" y="106353"/>
                  <a:pt x="69056" y="102394"/>
                </a:cubicBezTo>
                <a:close/>
              </a:path>
            </a:pathLst>
          </a:custGeom>
          <a:solidFill>
            <a:srgbClr val="3D8B75"/>
          </a:solidFill>
          <a:ln/>
        </p:spPr>
        <p:txBody>
          <a:bodyPr/>
          <a:lstStyle/>
          <a:p>
            <a:endParaRPr lang="zh-CN" altLang="en-US"/>
          </a:p>
        </p:txBody>
      </p:sp>
      <p:sp>
        <p:nvSpPr>
          <p:cNvPr id="55" name="Text 53"/>
          <p:cNvSpPr/>
          <p:nvPr/>
        </p:nvSpPr>
        <p:spPr>
          <a:xfrm>
            <a:off x="8750275" y="4362450"/>
            <a:ext cx="381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优势</a:t>
            </a:r>
            <a:endParaRPr lang="en-US" sz="1600" dirty="0"/>
          </a:p>
        </p:txBody>
      </p:sp>
      <p:sp>
        <p:nvSpPr>
          <p:cNvPr id="56" name="Text 54"/>
          <p:cNvSpPr/>
          <p:nvPr/>
        </p:nvSpPr>
        <p:spPr>
          <a:xfrm>
            <a:off x="8483575" y="4629150"/>
            <a:ext cx="3086100" cy="190500"/>
          </a:xfrm>
          <a:prstGeom prst="rect">
            <a:avLst/>
          </a:prstGeom>
          <a:noFill/>
          <a:ln/>
        </p:spPr>
        <p:txBody>
          <a:bodyPr wrap="square" lIns="0" tIns="0" rIns="0" bIns="0" rtlCol="0" anchor="ctr"/>
          <a:lstStyle/>
          <a:p>
            <a:pPr>
              <a:lnSpc>
                <a:spcPct val="120000"/>
              </a:lnSpc>
            </a:pPr>
            <a:r>
              <a:rPr lang="en-US" sz="1050" dirty="0">
                <a:solidFill>
                  <a:srgbClr val="E0E2E5">
                    <a:alpha val="80000"/>
                  </a:srgbClr>
                </a:solidFill>
                <a:latin typeface="Noto Sans SC" pitchFamily="34" charset="0"/>
                <a:ea typeface="Noto Sans SC" pitchFamily="34" charset="-122"/>
                <a:cs typeface="Noto Sans SC" pitchFamily="34" charset="-120"/>
              </a:rPr>
              <a:t>最具弹性和性价比的折中方案</a:t>
            </a:r>
            <a:endParaRPr lang="en-US" sz="1600" dirty="0"/>
          </a:p>
        </p:txBody>
      </p:sp>
      <p:sp>
        <p:nvSpPr>
          <p:cNvPr id="57" name="Shape 55"/>
          <p:cNvSpPr/>
          <p:nvPr/>
        </p:nvSpPr>
        <p:spPr>
          <a:xfrm>
            <a:off x="8350225" y="5010150"/>
            <a:ext cx="3267075" cy="685800"/>
          </a:xfrm>
          <a:custGeom>
            <a:avLst/>
            <a:gdLst/>
            <a:ahLst/>
            <a:cxnLst/>
            <a:rect l="l" t="t" r="r" b="b"/>
            <a:pathLst>
              <a:path w="3267075" h="685800">
                <a:moveTo>
                  <a:pt x="38100" y="0"/>
                </a:moveTo>
                <a:lnTo>
                  <a:pt x="3190876" y="0"/>
                </a:lnTo>
                <a:cubicBezTo>
                  <a:pt x="3232959" y="0"/>
                  <a:pt x="3267075" y="34116"/>
                  <a:pt x="3267075" y="76199"/>
                </a:cubicBezTo>
                <a:lnTo>
                  <a:pt x="3267075" y="609601"/>
                </a:lnTo>
                <a:cubicBezTo>
                  <a:pt x="3267075" y="651684"/>
                  <a:pt x="3232959" y="685800"/>
                  <a:pt x="3190876" y="685800"/>
                </a:cubicBezTo>
                <a:lnTo>
                  <a:pt x="38100" y="685800"/>
                </a:lnTo>
                <a:cubicBezTo>
                  <a:pt x="17072" y="685800"/>
                  <a:pt x="0" y="668728"/>
                  <a:pt x="0" y="647700"/>
                </a:cubicBezTo>
                <a:lnTo>
                  <a:pt x="0" y="38100"/>
                </a:lnTo>
                <a:cubicBezTo>
                  <a:pt x="0" y="17072"/>
                  <a:pt x="17072" y="0"/>
                  <a:pt x="38100" y="0"/>
                </a:cubicBezTo>
                <a:close/>
              </a:path>
            </a:pathLst>
          </a:custGeom>
          <a:solidFill>
            <a:srgbClr val="5F6B7A">
              <a:alpha val="20000"/>
            </a:srgbClr>
          </a:solidFill>
          <a:ln/>
        </p:spPr>
        <p:txBody>
          <a:bodyPr/>
          <a:lstStyle/>
          <a:p>
            <a:endParaRPr lang="zh-CN" altLang="en-US"/>
          </a:p>
        </p:txBody>
      </p:sp>
      <p:sp>
        <p:nvSpPr>
          <p:cNvPr id="58" name="Shape 56"/>
          <p:cNvSpPr/>
          <p:nvPr/>
        </p:nvSpPr>
        <p:spPr>
          <a:xfrm>
            <a:off x="8350225" y="501015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59" name="Shape 57"/>
          <p:cNvSpPr/>
          <p:nvPr/>
        </p:nvSpPr>
        <p:spPr>
          <a:xfrm>
            <a:off x="8502625" y="516255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5F6B7A"/>
          </a:solidFill>
          <a:ln/>
        </p:spPr>
        <p:txBody>
          <a:bodyPr/>
          <a:lstStyle/>
          <a:p>
            <a:endParaRPr lang="zh-CN" altLang="en-US"/>
          </a:p>
        </p:txBody>
      </p:sp>
      <p:sp>
        <p:nvSpPr>
          <p:cNvPr id="60" name="Text 58"/>
          <p:cNvSpPr/>
          <p:nvPr/>
        </p:nvSpPr>
        <p:spPr>
          <a:xfrm>
            <a:off x="8750275" y="5124450"/>
            <a:ext cx="3810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适用</a:t>
            </a:r>
            <a:endParaRPr lang="en-US" sz="1600" dirty="0"/>
          </a:p>
        </p:txBody>
      </p:sp>
      <p:sp>
        <p:nvSpPr>
          <p:cNvPr id="61" name="Text 59"/>
          <p:cNvSpPr/>
          <p:nvPr/>
        </p:nvSpPr>
        <p:spPr>
          <a:xfrm>
            <a:off x="8483575" y="5391150"/>
            <a:ext cx="3086100" cy="190500"/>
          </a:xfrm>
          <a:prstGeom prst="rect">
            <a:avLst/>
          </a:prstGeom>
          <a:noFill/>
          <a:ln/>
        </p:spPr>
        <p:txBody>
          <a:bodyPr wrap="square" lIns="0" tIns="0" rIns="0" bIns="0" rtlCol="0" anchor="ctr"/>
          <a:lstStyle/>
          <a:p>
            <a:pPr>
              <a:lnSpc>
                <a:spcPct val="120000"/>
              </a:lnSpc>
            </a:pPr>
            <a:r>
              <a:rPr lang="en-US" sz="1050" dirty="0">
                <a:solidFill>
                  <a:srgbClr val="E0E2E5">
                    <a:alpha val="80000"/>
                  </a:srgbClr>
                </a:solidFill>
                <a:latin typeface="Noto Sans SC" pitchFamily="34" charset="0"/>
                <a:ea typeface="Noto Sans SC" pitchFamily="34" charset="-122"/>
                <a:cs typeface="Noto Sans SC" pitchFamily="34" charset="-120"/>
              </a:rPr>
              <a:t>实际生产环境中最具实践价值</a:t>
            </a:r>
            <a:endParaRPr lang="en-US" sz="1600" dirty="0"/>
          </a:p>
        </p:txBody>
      </p:sp>
      <p:sp>
        <p:nvSpPr>
          <p:cNvPr id="62" name="Shape 60"/>
          <p:cNvSpPr/>
          <p:nvPr/>
        </p:nvSpPr>
        <p:spPr>
          <a:xfrm>
            <a:off x="400050" y="6038850"/>
            <a:ext cx="11410950" cy="552450"/>
          </a:xfrm>
          <a:custGeom>
            <a:avLst/>
            <a:gdLst/>
            <a:ahLst/>
            <a:cxnLst/>
            <a:rect l="l" t="t" r="r" b="b"/>
            <a:pathLst>
              <a:path w="11410950" h="552450">
                <a:moveTo>
                  <a:pt x="38100" y="0"/>
                </a:moveTo>
                <a:lnTo>
                  <a:pt x="11334751" y="0"/>
                </a:lnTo>
                <a:cubicBezTo>
                  <a:pt x="11376834" y="0"/>
                  <a:pt x="11410950" y="34116"/>
                  <a:pt x="11410950" y="76199"/>
                </a:cubicBezTo>
                <a:lnTo>
                  <a:pt x="11410950" y="476251"/>
                </a:lnTo>
                <a:cubicBezTo>
                  <a:pt x="11410950" y="518334"/>
                  <a:pt x="11376834" y="552450"/>
                  <a:pt x="11334751" y="552450"/>
                </a:cubicBezTo>
                <a:lnTo>
                  <a:pt x="38100" y="552450"/>
                </a:lnTo>
                <a:cubicBezTo>
                  <a:pt x="17072" y="552450"/>
                  <a:pt x="0" y="535378"/>
                  <a:pt x="0" y="51435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63" name="Shape 61"/>
          <p:cNvSpPr/>
          <p:nvPr/>
        </p:nvSpPr>
        <p:spPr>
          <a:xfrm>
            <a:off x="400050" y="6038850"/>
            <a:ext cx="38100" cy="552450"/>
          </a:xfrm>
          <a:custGeom>
            <a:avLst/>
            <a:gdLst/>
            <a:ahLst/>
            <a:cxnLst/>
            <a:rect l="l" t="t" r="r" b="b"/>
            <a:pathLst>
              <a:path w="38100" h="552450">
                <a:moveTo>
                  <a:pt x="38100" y="0"/>
                </a:moveTo>
                <a:lnTo>
                  <a:pt x="38100" y="0"/>
                </a:lnTo>
                <a:lnTo>
                  <a:pt x="38100" y="552450"/>
                </a:lnTo>
                <a:lnTo>
                  <a:pt x="38100" y="552450"/>
                </a:lnTo>
                <a:cubicBezTo>
                  <a:pt x="17072" y="552450"/>
                  <a:pt x="0" y="535378"/>
                  <a:pt x="0" y="51435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64" name="Shape 62"/>
          <p:cNvSpPr/>
          <p:nvPr/>
        </p:nvSpPr>
        <p:spPr>
          <a:xfrm>
            <a:off x="609600" y="6238875"/>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C9A86A"/>
          </a:solidFill>
          <a:ln/>
        </p:spPr>
        <p:txBody>
          <a:bodyPr/>
          <a:lstStyle/>
          <a:p>
            <a:endParaRPr lang="zh-CN" altLang="en-US"/>
          </a:p>
        </p:txBody>
      </p:sp>
      <p:sp>
        <p:nvSpPr>
          <p:cNvPr id="65" name="Text 63"/>
          <p:cNvSpPr/>
          <p:nvPr/>
        </p:nvSpPr>
        <p:spPr>
          <a:xfrm>
            <a:off x="819150" y="6191250"/>
            <a:ext cx="10915650" cy="247650"/>
          </a:xfrm>
          <a:prstGeom prst="rect">
            <a:avLst/>
          </a:prstGeom>
          <a:noFill/>
          <a:ln/>
        </p:spPr>
        <p:txBody>
          <a:bodyPr wrap="square" lIns="0" tIns="0" rIns="0" bIns="0" rtlCol="0" anchor="ctr"/>
          <a:lstStyle/>
          <a:p>
            <a:pPr>
              <a:lnSpc>
                <a:spcPct val="140000"/>
              </a:lnSpc>
            </a:pPr>
            <a:r>
              <a:rPr lang="en-US" sz="1200" b="1" dirty="0">
                <a:solidFill>
                  <a:srgbClr val="E0E2E5"/>
                </a:solidFill>
                <a:latin typeface="Noto Sans SC" pitchFamily="34" charset="0"/>
                <a:ea typeface="Noto Sans SC" pitchFamily="34" charset="-122"/>
                <a:cs typeface="Noto Sans SC" pitchFamily="34" charset="-120"/>
              </a:rPr>
              <a:t>选择策略：</a:t>
            </a:r>
            <a:r>
              <a:rPr lang="en-US" sz="1200" dirty="0">
                <a:solidFill>
                  <a:srgbClr val="E0E2E5"/>
                </a:solidFill>
                <a:latin typeface="Noto Sans SC" pitchFamily="34" charset="0"/>
                <a:ea typeface="Noto Sans SC" pitchFamily="34" charset="-122"/>
                <a:cs typeface="Noto Sans SC" pitchFamily="34" charset="-120"/>
              </a:rPr>
              <a:t>将压缩算法集成到推理框架中，需要基于具体应用场景的延迟要求、上下文长度、硬件配置等因素，在三种模式间进行权衡选择。</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45382" y="345382"/>
            <a:ext cx="11570312" cy="207229"/>
          </a:xfrm>
          <a:prstGeom prst="rect">
            <a:avLst/>
          </a:prstGeom>
          <a:noFill/>
          <a:ln/>
        </p:spPr>
        <p:txBody>
          <a:bodyPr wrap="square" lIns="0" tIns="0" rIns="0" bIns="0" rtlCol="0" anchor="ctr"/>
          <a:lstStyle/>
          <a:p>
            <a:pPr>
              <a:lnSpc>
                <a:spcPct val="130000"/>
              </a:lnSpc>
            </a:pPr>
            <a:r>
              <a:rPr lang="en-US" sz="1088" b="1" kern="0" spc="109" dirty="0">
                <a:solidFill>
                  <a:srgbClr val="3D8B75"/>
                </a:solidFill>
                <a:latin typeface="MiSans" pitchFamily="34" charset="0"/>
                <a:ea typeface="MiSans" pitchFamily="34" charset="-122"/>
                <a:cs typeface="MiSans" pitchFamily="34" charset="-120"/>
              </a:rPr>
              <a:t>SYSTEM CONSTRAINTS</a:t>
            </a:r>
            <a:endParaRPr lang="en-US" sz="1600" dirty="0"/>
          </a:p>
        </p:txBody>
      </p:sp>
      <p:sp>
        <p:nvSpPr>
          <p:cNvPr id="3" name="Text 1"/>
          <p:cNvSpPr/>
          <p:nvPr/>
        </p:nvSpPr>
        <p:spPr>
          <a:xfrm>
            <a:off x="345382" y="621688"/>
            <a:ext cx="11656657" cy="345382"/>
          </a:xfrm>
          <a:prstGeom prst="rect">
            <a:avLst/>
          </a:prstGeom>
          <a:noFill/>
          <a:ln/>
        </p:spPr>
        <p:txBody>
          <a:bodyPr wrap="square" lIns="0" tIns="0" rIns="0" bIns="0" rtlCol="0" anchor="ctr"/>
          <a:lstStyle/>
          <a:p>
            <a:pPr>
              <a:lnSpc>
                <a:spcPct val="90000"/>
              </a:lnSpc>
            </a:pPr>
            <a:r>
              <a:rPr lang="en-US" sz="2448" b="1" dirty="0">
                <a:solidFill>
                  <a:srgbClr val="E0E2E5"/>
                </a:solidFill>
                <a:latin typeface="Noto Sans SC" pitchFamily="34" charset="0"/>
                <a:ea typeface="Noto Sans SC" pitchFamily="34" charset="-122"/>
                <a:cs typeface="Noto Sans SC" pitchFamily="34" charset="-120"/>
              </a:rPr>
              <a:t>系统关键约束</a:t>
            </a:r>
            <a:endParaRPr lang="en-US" sz="1600" dirty="0"/>
          </a:p>
        </p:txBody>
      </p:sp>
      <p:sp>
        <p:nvSpPr>
          <p:cNvPr id="4" name="Shape 2"/>
          <p:cNvSpPr/>
          <p:nvPr/>
        </p:nvSpPr>
        <p:spPr>
          <a:xfrm>
            <a:off x="345382" y="1070686"/>
            <a:ext cx="828918" cy="34538"/>
          </a:xfrm>
          <a:custGeom>
            <a:avLst/>
            <a:gdLst/>
            <a:ahLst/>
            <a:cxnLst/>
            <a:rect l="l" t="t" r="r" b="b"/>
            <a:pathLst>
              <a:path w="828918" h="34538">
                <a:moveTo>
                  <a:pt x="0" y="0"/>
                </a:moveTo>
                <a:lnTo>
                  <a:pt x="828918" y="0"/>
                </a:lnTo>
                <a:lnTo>
                  <a:pt x="828918" y="34538"/>
                </a:lnTo>
                <a:lnTo>
                  <a:pt x="0" y="34538"/>
                </a:lnTo>
                <a:lnTo>
                  <a:pt x="0" y="0"/>
                </a:lnTo>
                <a:close/>
              </a:path>
            </a:pathLst>
          </a:custGeom>
          <a:solidFill>
            <a:srgbClr val="C9A86A"/>
          </a:solidFill>
          <a:ln/>
        </p:spPr>
        <p:txBody>
          <a:bodyPr/>
          <a:lstStyle/>
          <a:p>
            <a:endParaRPr lang="zh-CN" altLang="en-US"/>
          </a:p>
        </p:txBody>
      </p:sp>
      <p:sp>
        <p:nvSpPr>
          <p:cNvPr id="5" name="Shape 3"/>
          <p:cNvSpPr/>
          <p:nvPr/>
        </p:nvSpPr>
        <p:spPr>
          <a:xfrm>
            <a:off x="362652" y="1243377"/>
            <a:ext cx="11483966" cy="1070686"/>
          </a:xfrm>
          <a:custGeom>
            <a:avLst/>
            <a:gdLst/>
            <a:ahLst/>
            <a:cxnLst/>
            <a:rect l="l" t="t" r="r" b="b"/>
            <a:pathLst>
              <a:path w="11483966" h="1070686">
                <a:moveTo>
                  <a:pt x="34538" y="0"/>
                </a:moveTo>
                <a:lnTo>
                  <a:pt x="11414885" y="0"/>
                </a:lnTo>
                <a:cubicBezTo>
                  <a:pt x="11453012" y="0"/>
                  <a:pt x="11483966" y="30954"/>
                  <a:pt x="11483966" y="69081"/>
                </a:cubicBezTo>
                <a:lnTo>
                  <a:pt x="11483966" y="1001605"/>
                </a:lnTo>
                <a:cubicBezTo>
                  <a:pt x="11483966" y="1039757"/>
                  <a:pt x="11453038" y="1070686"/>
                  <a:pt x="11414885" y="1070686"/>
                </a:cubicBezTo>
                <a:lnTo>
                  <a:pt x="34538" y="1070686"/>
                </a:lnTo>
                <a:cubicBezTo>
                  <a:pt x="15463" y="1070686"/>
                  <a:pt x="0" y="1055222"/>
                  <a:pt x="0" y="1036147"/>
                </a:cubicBezTo>
                <a:lnTo>
                  <a:pt x="0" y="34538"/>
                </a:lnTo>
                <a:cubicBezTo>
                  <a:pt x="0" y="15476"/>
                  <a:pt x="15476" y="0"/>
                  <a:pt x="34538" y="0"/>
                </a:cubicBezTo>
                <a:close/>
              </a:path>
            </a:pathLst>
          </a:custGeom>
          <a:solidFill>
            <a:srgbClr val="3D8B75">
              <a:alpha val="10196"/>
            </a:srgbClr>
          </a:solidFill>
          <a:ln/>
        </p:spPr>
        <p:txBody>
          <a:bodyPr/>
          <a:lstStyle/>
          <a:p>
            <a:endParaRPr lang="zh-CN" altLang="en-US"/>
          </a:p>
        </p:txBody>
      </p:sp>
      <p:sp>
        <p:nvSpPr>
          <p:cNvPr id="6" name="Shape 4"/>
          <p:cNvSpPr/>
          <p:nvPr/>
        </p:nvSpPr>
        <p:spPr>
          <a:xfrm>
            <a:off x="362652" y="1243377"/>
            <a:ext cx="34538" cy="1070686"/>
          </a:xfrm>
          <a:custGeom>
            <a:avLst/>
            <a:gdLst/>
            <a:ahLst/>
            <a:cxnLst/>
            <a:rect l="l" t="t" r="r" b="b"/>
            <a:pathLst>
              <a:path w="34538" h="1070686">
                <a:moveTo>
                  <a:pt x="34538" y="0"/>
                </a:moveTo>
                <a:lnTo>
                  <a:pt x="34538" y="0"/>
                </a:lnTo>
                <a:lnTo>
                  <a:pt x="34538" y="1070686"/>
                </a:lnTo>
                <a:lnTo>
                  <a:pt x="34538" y="1070686"/>
                </a:lnTo>
                <a:cubicBezTo>
                  <a:pt x="15463" y="1070686"/>
                  <a:pt x="0" y="1055222"/>
                  <a:pt x="0" y="1036147"/>
                </a:cubicBezTo>
                <a:lnTo>
                  <a:pt x="0" y="34538"/>
                </a:lnTo>
                <a:cubicBezTo>
                  <a:pt x="0" y="15476"/>
                  <a:pt x="15476" y="0"/>
                  <a:pt x="34538" y="0"/>
                </a:cubicBezTo>
                <a:close/>
              </a:path>
            </a:pathLst>
          </a:custGeom>
          <a:solidFill>
            <a:srgbClr val="3D8B75"/>
          </a:solidFill>
          <a:ln/>
        </p:spPr>
        <p:txBody>
          <a:bodyPr/>
          <a:lstStyle/>
          <a:p>
            <a:endParaRPr lang="zh-CN" altLang="en-US"/>
          </a:p>
        </p:txBody>
      </p:sp>
      <p:sp>
        <p:nvSpPr>
          <p:cNvPr id="7" name="Text 5"/>
          <p:cNvSpPr/>
          <p:nvPr/>
        </p:nvSpPr>
        <p:spPr>
          <a:xfrm>
            <a:off x="518074" y="1381530"/>
            <a:ext cx="11276737" cy="241768"/>
          </a:xfrm>
          <a:prstGeom prst="rect">
            <a:avLst/>
          </a:prstGeom>
          <a:noFill/>
          <a:ln/>
        </p:spPr>
        <p:txBody>
          <a:bodyPr wrap="square" lIns="0" tIns="0" rIns="0" bIns="0" rtlCol="0" anchor="ctr"/>
          <a:lstStyle/>
          <a:p>
            <a:pPr>
              <a:lnSpc>
                <a:spcPct val="120000"/>
              </a:lnSpc>
            </a:pPr>
            <a:r>
              <a:rPr lang="en-US" sz="1360" b="1" dirty="0">
                <a:solidFill>
                  <a:srgbClr val="E0E2E5"/>
                </a:solidFill>
                <a:latin typeface="Noto Sans SC" pitchFamily="34" charset="0"/>
                <a:ea typeface="Noto Sans SC" pitchFamily="34" charset="-122"/>
                <a:cs typeface="Noto Sans SC" pitchFamily="34" charset="-120"/>
              </a:rPr>
              <a:t>内存布局背景</a:t>
            </a:r>
            <a:endParaRPr lang="en-US" sz="1600" dirty="0"/>
          </a:p>
        </p:txBody>
      </p:sp>
      <p:sp>
        <p:nvSpPr>
          <p:cNvPr id="8" name="Text 6"/>
          <p:cNvSpPr/>
          <p:nvPr/>
        </p:nvSpPr>
        <p:spPr>
          <a:xfrm>
            <a:off x="518074" y="1726912"/>
            <a:ext cx="11259467" cy="448997"/>
          </a:xfrm>
          <a:prstGeom prst="rect">
            <a:avLst/>
          </a:prstGeom>
          <a:noFill/>
          <a:ln/>
        </p:spPr>
        <p:txBody>
          <a:bodyPr wrap="square" lIns="0" tIns="0" rIns="0" bIns="0" rtlCol="0" anchor="ctr"/>
          <a:lstStyle/>
          <a:p>
            <a:pPr>
              <a:lnSpc>
                <a:spcPct val="140000"/>
              </a:lnSpc>
            </a:pPr>
            <a:r>
              <a:rPr lang="en-US" sz="1088" dirty="0">
                <a:solidFill>
                  <a:srgbClr val="E0E2E5">
                    <a:alpha val="80000"/>
                  </a:srgbClr>
                </a:solidFill>
                <a:latin typeface="Noto Sans SC" pitchFamily="34" charset="0"/>
                <a:ea typeface="Noto Sans SC" pitchFamily="34" charset="-122"/>
                <a:cs typeface="Noto Sans SC" pitchFamily="34" charset="-120"/>
              </a:rPr>
              <a:t>KV Cache 的逻辑内存布局通常是 </a:t>
            </a:r>
            <a:r>
              <a:rPr lang="en-US" sz="1088" b="1" dirty="0">
                <a:solidFill>
                  <a:srgbClr val="3D8B75"/>
                </a:solidFill>
                <a:latin typeface="Noto Sans SC" pitchFamily="34" charset="0"/>
                <a:ea typeface="Noto Sans SC" pitchFamily="34" charset="-122"/>
                <a:cs typeface="Noto Sans SC" pitchFamily="34" charset="-120"/>
              </a:rPr>
              <a:t>[L, H, T, D]</a:t>
            </a:r>
            <a:r>
              <a:rPr lang="en-US" sz="1088" dirty="0">
                <a:solidFill>
                  <a:srgbClr val="E0E2E5">
                    <a:alpha val="80000"/>
                  </a:srgbClr>
                </a:solidFill>
                <a:latin typeface="Noto Sans SC" pitchFamily="34" charset="0"/>
                <a:ea typeface="Noto Sans SC" pitchFamily="34" charset="-122"/>
                <a:cs typeface="Noto Sans SC" pitchFamily="34" charset="-120"/>
              </a:rPr>
              <a:t>（层数、头数、序列长度、特征维度）的四维张量结构，但在 PagedAttention 等机制下，其物理布局因分页而碎片化，常被重构为 </a:t>
            </a:r>
            <a:r>
              <a:rPr lang="en-US" sz="1088" b="1" dirty="0">
                <a:solidFill>
                  <a:srgbClr val="3D8B75"/>
                </a:solidFill>
                <a:latin typeface="Noto Sans SC" pitchFamily="34" charset="0"/>
                <a:ea typeface="Noto Sans SC" pitchFamily="34" charset="-122"/>
                <a:cs typeface="Noto Sans SC" pitchFamily="34" charset="-120"/>
              </a:rPr>
              <a:t>[num_blocks, block_size, num_heads, head_dim]</a:t>
            </a:r>
            <a:r>
              <a:rPr lang="en-US" sz="1088" dirty="0">
                <a:solidFill>
                  <a:srgbClr val="E0E2E5">
                    <a:alpha val="80000"/>
                  </a:srgbClr>
                </a:solidFill>
                <a:latin typeface="Noto Sans SC" pitchFamily="34" charset="0"/>
                <a:ea typeface="Noto Sans SC" pitchFamily="34" charset="-122"/>
                <a:cs typeface="Noto Sans SC" pitchFamily="34" charset="-120"/>
              </a:rPr>
              <a:t> 的块状结构。</a:t>
            </a:r>
            <a:endParaRPr lang="en-US" sz="1600" dirty="0"/>
          </a:p>
        </p:txBody>
      </p:sp>
      <p:sp>
        <p:nvSpPr>
          <p:cNvPr id="9" name="Shape 7"/>
          <p:cNvSpPr/>
          <p:nvPr/>
        </p:nvSpPr>
        <p:spPr>
          <a:xfrm>
            <a:off x="362652" y="2452215"/>
            <a:ext cx="3721496" cy="3419286"/>
          </a:xfrm>
          <a:custGeom>
            <a:avLst/>
            <a:gdLst/>
            <a:ahLst/>
            <a:cxnLst/>
            <a:rect l="l" t="t" r="r" b="b"/>
            <a:pathLst>
              <a:path w="3721496" h="3419286">
                <a:moveTo>
                  <a:pt x="34538" y="0"/>
                </a:moveTo>
                <a:lnTo>
                  <a:pt x="3652426" y="0"/>
                </a:lnTo>
                <a:cubicBezTo>
                  <a:pt x="3690572" y="0"/>
                  <a:pt x="3721496" y="30924"/>
                  <a:pt x="3721496" y="69070"/>
                </a:cubicBezTo>
                <a:lnTo>
                  <a:pt x="3721496" y="3350217"/>
                </a:lnTo>
                <a:cubicBezTo>
                  <a:pt x="3721496" y="3388363"/>
                  <a:pt x="3690572" y="3419286"/>
                  <a:pt x="3652426" y="3419286"/>
                </a:cubicBezTo>
                <a:lnTo>
                  <a:pt x="34538" y="3419286"/>
                </a:lnTo>
                <a:cubicBezTo>
                  <a:pt x="15463" y="3419286"/>
                  <a:pt x="0" y="3403823"/>
                  <a:pt x="0" y="3384748"/>
                </a:cubicBezTo>
                <a:lnTo>
                  <a:pt x="0" y="34538"/>
                </a:lnTo>
                <a:cubicBezTo>
                  <a:pt x="0" y="15476"/>
                  <a:pt x="15476" y="0"/>
                  <a:pt x="34538" y="0"/>
                </a:cubicBezTo>
                <a:close/>
              </a:path>
            </a:pathLst>
          </a:custGeom>
          <a:solidFill>
            <a:srgbClr val="C9A86A">
              <a:alpha val="10196"/>
            </a:srgbClr>
          </a:solidFill>
          <a:ln/>
        </p:spPr>
        <p:txBody>
          <a:bodyPr/>
          <a:lstStyle/>
          <a:p>
            <a:endParaRPr lang="zh-CN" altLang="en-US"/>
          </a:p>
        </p:txBody>
      </p:sp>
      <p:sp>
        <p:nvSpPr>
          <p:cNvPr id="10" name="Shape 8"/>
          <p:cNvSpPr/>
          <p:nvPr/>
        </p:nvSpPr>
        <p:spPr>
          <a:xfrm>
            <a:off x="362652" y="2452215"/>
            <a:ext cx="34538" cy="3419286"/>
          </a:xfrm>
          <a:custGeom>
            <a:avLst/>
            <a:gdLst/>
            <a:ahLst/>
            <a:cxnLst/>
            <a:rect l="l" t="t" r="r" b="b"/>
            <a:pathLst>
              <a:path w="34538" h="3419286">
                <a:moveTo>
                  <a:pt x="34538" y="0"/>
                </a:moveTo>
                <a:lnTo>
                  <a:pt x="34538" y="0"/>
                </a:lnTo>
                <a:lnTo>
                  <a:pt x="34538" y="3419286"/>
                </a:lnTo>
                <a:lnTo>
                  <a:pt x="34538" y="3419286"/>
                </a:lnTo>
                <a:cubicBezTo>
                  <a:pt x="15463" y="3419286"/>
                  <a:pt x="0" y="3403823"/>
                  <a:pt x="0" y="3384748"/>
                </a:cubicBezTo>
                <a:lnTo>
                  <a:pt x="0" y="34538"/>
                </a:lnTo>
                <a:cubicBezTo>
                  <a:pt x="0" y="15476"/>
                  <a:pt x="15476" y="0"/>
                  <a:pt x="34538" y="0"/>
                </a:cubicBezTo>
                <a:close/>
              </a:path>
            </a:pathLst>
          </a:custGeom>
          <a:solidFill>
            <a:srgbClr val="C9A86A"/>
          </a:solidFill>
          <a:ln/>
        </p:spPr>
        <p:txBody>
          <a:bodyPr/>
          <a:lstStyle/>
          <a:p>
            <a:endParaRPr lang="zh-CN" altLang="en-US"/>
          </a:p>
        </p:txBody>
      </p:sp>
      <p:sp>
        <p:nvSpPr>
          <p:cNvPr id="11" name="Shape 9"/>
          <p:cNvSpPr/>
          <p:nvPr/>
        </p:nvSpPr>
        <p:spPr>
          <a:xfrm>
            <a:off x="552612" y="2624907"/>
            <a:ext cx="414459" cy="414459"/>
          </a:xfrm>
          <a:custGeom>
            <a:avLst/>
            <a:gdLst/>
            <a:ahLst/>
            <a:cxnLst/>
            <a:rect l="l" t="t" r="r" b="b"/>
            <a:pathLst>
              <a:path w="414459" h="414459">
                <a:moveTo>
                  <a:pt x="69078" y="0"/>
                </a:moveTo>
                <a:lnTo>
                  <a:pt x="345381" y="0"/>
                </a:lnTo>
                <a:cubicBezTo>
                  <a:pt x="383532" y="0"/>
                  <a:pt x="414459" y="30927"/>
                  <a:pt x="414459" y="69078"/>
                </a:cubicBezTo>
                <a:lnTo>
                  <a:pt x="414459" y="345381"/>
                </a:lnTo>
                <a:cubicBezTo>
                  <a:pt x="414459" y="383532"/>
                  <a:pt x="383532" y="414459"/>
                  <a:pt x="345381" y="414459"/>
                </a:cubicBezTo>
                <a:lnTo>
                  <a:pt x="69078" y="414459"/>
                </a:lnTo>
                <a:cubicBezTo>
                  <a:pt x="30927" y="414459"/>
                  <a:pt x="0" y="383532"/>
                  <a:pt x="0" y="345381"/>
                </a:cubicBezTo>
                <a:lnTo>
                  <a:pt x="0" y="69078"/>
                </a:lnTo>
                <a:cubicBezTo>
                  <a:pt x="0" y="30927"/>
                  <a:pt x="30927" y="0"/>
                  <a:pt x="69078" y="0"/>
                </a:cubicBezTo>
                <a:close/>
              </a:path>
            </a:pathLst>
          </a:custGeom>
          <a:solidFill>
            <a:srgbClr val="C9A86A"/>
          </a:solidFill>
          <a:ln/>
        </p:spPr>
        <p:txBody>
          <a:bodyPr/>
          <a:lstStyle/>
          <a:p>
            <a:endParaRPr lang="zh-CN" altLang="en-US"/>
          </a:p>
        </p:txBody>
      </p:sp>
      <p:sp>
        <p:nvSpPr>
          <p:cNvPr id="12" name="Text 10"/>
          <p:cNvSpPr/>
          <p:nvPr/>
        </p:nvSpPr>
        <p:spPr>
          <a:xfrm>
            <a:off x="655147" y="2693983"/>
            <a:ext cx="310844" cy="276306"/>
          </a:xfrm>
          <a:prstGeom prst="rect">
            <a:avLst/>
          </a:prstGeom>
          <a:noFill/>
          <a:ln/>
        </p:spPr>
        <p:txBody>
          <a:bodyPr wrap="square" lIns="0" tIns="0" rIns="0" bIns="0" rtlCol="0" anchor="ctr"/>
          <a:lstStyle/>
          <a:p>
            <a:pPr>
              <a:lnSpc>
                <a:spcPct val="110000"/>
              </a:lnSpc>
            </a:pPr>
            <a:r>
              <a:rPr lang="en-US" sz="1632" b="1" dirty="0">
                <a:solidFill>
                  <a:srgbClr val="FFFFFF"/>
                </a:solidFill>
                <a:latin typeface="Noto Sans SC" pitchFamily="34" charset="0"/>
                <a:ea typeface="Noto Sans SC" pitchFamily="34" charset="-122"/>
                <a:cs typeface="Noto Sans SC" pitchFamily="34" charset="-120"/>
              </a:rPr>
              <a:t>01</a:t>
            </a:r>
            <a:endParaRPr lang="en-US" sz="1600" dirty="0"/>
          </a:p>
        </p:txBody>
      </p:sp>
      <p:sp>
        <p:nvSpPr>
          <p:cNvPr id="13" name="Text 11"/>
          <p:cNvSpPr/>
          <p:nvPr/>
        </p:nvSpPr>
        <p:spPr>
          <a:xfrm>
            <a:off x="1070686" y="2711252"/>
            <a:ext cx="1364261" cy="241768"/>
          </a:xfrm>
          <a:prstGeom prst="rect">
            <a:avLst/>
          </a:prstGeom>
          <a:noFill/>
          <a:ln/>
        </p:spPr>
        <p:txBody>
          <a:bodyPr wrap="square" lIns="0" tIns="0" rIns="0" bIns="0" rtlCol="0" anchor="ctr"/>
          <a:lstStyle/>
          <a:p>
            <a:pPr>
              <a:lnSpc>
                <a:spcPct val="120000"/>
              </a:lnSpc>
            </a:pPr>
            <a:r>
              <a:rPr lang="en-US" sz="1360" b="1" dirty="0">
                <a:solidFill>
                  <a:srgbClr val="E0E2E5"/>
                </a:solidFill>
                <a:latin typeface="Noto Sans SC" pitchFamily="34" charset="0"/>
                <a:ea typeface="Noto Sans SC" pitchFamily="34" charset="-122"/>
                <a:cs typeface="Noto Sans SC" pitchFamily="34" charset="-120"/>
              </a:rPr>
              <a:t>Kernel 融合难度</a:t>
            </a:r>
            <a:endParaRPr lang="en-US" sz="1600" dirty="0"/>
          </a:p>
        </p:txBody>
      </p:sp>
      <p:sp>
        <p:nvSpPr>
          <p:cNvPr id="14" name="Shape 12"/>
          <p:cNvSpPr/>
          <p:nvPr/>
        </p:nvSpPr>
        <p:spPr>
          <a:xfrm>
            <a:off x="552612" y="3259547"/>
            <a:ext cx="3358844" cy="932533"/>
          </a:xfrm>
          <a:custGeom>
            <a:avLst/>
            <a:gdLst/>
            <a:ahLst/>
            <a:cxnLst/>
            <a:rect l="l" t="t" r="r" b="b"/>
            <a:pathLst>
              <a:path w="3358844" h="932533">
                <a:moveTo>
                  <a:pt x="69073" y="0"/>
                </a:moveTo>
                <a:lnTo>
                  <a:pt x="3289772" y="0"/>
                </a:lnTo>
                <a:cubicBezTo>
                  <a:pt x="3327919" y="0"/>
                  <a:pt x="3358844" y="30925"/>
                  <a:pt x="3358844" y="69073"/>
                </a:cubicBezTo>
                <a:lnTo>
                  <a:pt x="3358844" y="863460"/>
                </a:lnTo>
                <a:cubicBezTo>
                  <a:pt x="3358844" y="901608"/>
                  <a:pt x="3327919" y="932533"/>
                  <a:pt x="3289772" y="932533"/>
                </a:cubicBezTo>
                <a:lnTo>
                  <a:pt x="69073" y="932533"/>
                </a:lnTo>
                <a:cubicBezTo>
                  <a:pt x="30925" y="932533"/>
                  <a:pt x="0" y="901608"/>
                  <a:pt x="0" y="863460"/>
                </a:cubicBezTo>
                <a:lnTo>
                  <a:pt x="0" y="69073"/>
                </a:lnTo>
                <a:cubicBezTo>
                  <a:pt x="0" y="30950"/>
                  <a:pt x="30950" y="0"/>
                  <a:pt x="69073" y="0"/>
                </a:cubicBezTo>
                <a:close/>
              </a:path>
            </a:pathLst>
          </a:custGeom>
          <a:solidFill>
            <a:srgbClr val="1A1D21">
              <a:alpha val="50196"/>
            </a:srgbClr>
          </a:solidFill>
          <a:ln/>
        </p:spPr>
        <p:txBody>
          <a:bodyPr/>
          <a:lstStyle/>
          <a:p>
            <a:endParaRPr lang="zh-CN" altLang="en-US"/>
          </a:p>
        </p:txBody>
      </p:sp>
      <p:sp>
        <p:nvSpPr>
          <p:cNvPr id="15" name="Text 13"/>
          <p:cNvSpPr/>
          <p:nvPr/>
        </p:nvSpPr>
        <p:spPr>
          <a:xfrm>
            <a:off x="656227" y="3363161"/>
            <a:ext cx="3220691" cy="207229"/>
          </a:xfrm>
          <a:prstGeom prst="rect">
            <a:avLst/>
          </a:prstGeom>
          <a:noFill/>
          <a:ln/>
        </p:spPr>
        <p:txBody>
          <a:bodyPr wrap="square" lIns="0" tIns="0" rIns="0" bIns="0" rtlCol="0" anchor="ctr"/>
          <a:lstStyle/>
          <a:p>
            <a:pPr>
              <a:lnSpc>
                <a:spcPct val="130000"/>
              </a:lnSpc>
            </a:pPr>
            <a:r>
              <a:rPr lang="en-US" sz="1088" b="1" dirty="0">
                <a:solidFill>
                  <a:srgbClr val="E0E2E5"/>
                </a:solidFill>
                <a:latin typeface="Noto Sans SC" pitchFamily="34" charset="0"/>
                <a:ea typeface="Noto Sans SC" pitchFamily="34" charset="-122"/>
                <a:cs typeface="Noto Sans SC" pitchFamily="34" charset="-120"/>
              </a:rPr>
              <a:t>核心问题</a:t>
            </a:r>
            <a:endParaRPr lang="en-US" sz="1600" dirty="0"/>
          </a:p>
        </p:txBody>
      </p:sp>
      <p:sp>
        <p:nvSpPr>
          <p:cNvPr id="16" name="Text 14"/>
          <p:cNvSpPr/>
          <p:nvPr/>
        </p:nvSpPr>
        <p:spPr>
          <a:xfrm>
            <a:off x="656227" y="3639467"/>
            <a:ext cx="3220691" cy="448997"/>
          </a:xfrm>
          <a:prstGeom prst="rect">
            <a:avLst/>
          </a:prstGeom>
          <a:noFill/>
          <a:ln/>
        </p:spPr>
        <p:txBody>
          <a:bodyPr wrap="square" lIns="0" tIns="0" rIns="0" bIns="0" rtlCol="0" anchor="ctr"/>
          <a:lstStyle/>
          <a:p>
            <a:pPr>
              <a:lnSpc>
                <a:spcPct val="140000"/>
              </a:lnSpc>
            </a:pPr>
            <a:r>
              <a:rPr lang="en-US" sz="1088" dirty="0">
                <a:solidFill>
                  <a:srgbClr val="E0E2E5">
                    <a:alpha val="80000"/>
                  </a:srgbClr>
                </a:solidFill>
                <a:latin typeface="Noto Sans SC" pitchFamily="34" charset="0"/>
                <a:ea typeface="Noto Sans SC" pitchFamily="34" charset="-122"/>
                <a:cs typeface="Noto Sans SC" pitchFamily="34" charset="-120"/>
              </a:rPr>
              <a:t>压缩粒度（如 Per-token 还是 Per-channel 量化）是否能与底层注意力计算的矩阵分块大小对齐？</a:t>
            </a:r>
            <a:endParaRPr lang="en-US" sz="1600" dirty="0"/>
          </a:p>
        </p:txBody>
      </p:sp>
      <p:sp>
        <p:nvSpPr>
          <p:cNvPr id="17" name="Shape 15"/>
          <p:cNvSpPr/>
          <p:nvPr/>
        </p:nvSpPr>
        <p:spPr>
          <a:xfrm>
            <a:off x="569881" y="4459751"/>
            <a:ext cx="3341575" cy="1157031"/>
          </a:xfrm>
          <a:custGeom>
            <a:avLst/>
            <a:gdLst/>
            <a:ahLst/>
            <a:cxnLst/>
            <a:rect l="l" t="t" r="r" b="b"/>
            <a:pathLst>
              <a:path w="3341575" h="1157031">
                <a:moveTo>
                  <a:pt x="34538" y="0"/>
                </a:moveTo>
                <a:lnTo>
                  <a:pt x="3272500" y="0"/>
                </a:lnTo>
                <a:cubicBezTo>
                  <a:pt x="3310649" y="0"/>
                  <a:pt x="3341575" y="30926"/>
                  <a:pt x="3341575" y="69075"/>
                </a:cubicBezTo>
                <a:lnTo>
                  <a:pt x="3341575" y="1087956"/>
                </a:lnTo>
                <a:cubicBezTo>
                  <a:pt x="3341575" y="1126105"/>
                  <a:pt x="3310649" y="1157031"/>
                  <a:pt x="3272500" y="1157031"/>
                </a:cubicBezTo>
                <a:lnTo>
                  <a:pt x="34538" y="1157031"/>
                </a:lnTo>
                <a:cubicBezTo>
                  <a:pt x="15463" y="1157031"/>
                  <a:pt x="0" y="1141568"/>
                  <a:pt x="0" y="1122493"/>
                </a:cubicBezTo>
                <a:lnTo>
                  <a:pt x="0" y="34538"/>
                </a:lnTo>
                <a:cubicBezTo>
                  <a:pt x="0" y="15476"/>
                  <a:pt x="15476" y="0"/>
                  <a:pt x="34538" y="0"/>
                </a:cubicBezTo>
                <a:close/>
              </a:path>
            </a:pathLst>
          </a:custGeom>
          <a:solidFill>
            <a:srgbClr val="C9A86A">
              <a:alpha val="20000"/>
            </a:srgbClr>
          </a:solidFill>
          <a:ln/>
        </p:spPr>
        <p:txBody>
          <a:bodyPr/>
          <a:lstStyle/>
          <a:p>
            <a:endParaRPr lang="zh-CN" altLang="en-US"/>
          </a:p>
        </p:txBody>
      </p:sp>
      <p:sp>
        <p:nvSpPr>
          <p:cNvPr id="18" name="Shape 16"/>
          <p:cNvSpPr/>
          <p:nvPr/>
        </p:nvSpPr>
        <p:spPr>
          <a:xfrm>
            <a:off x="569881" y="4459751"/>
            <a:ext cx="34538" cy="1157031"/>
          </a:xfrm>
          <a:custGeom>
            <a:avLst/>
            <a:gdLst/>
            <a:ahLst/>
            <a:cxnLst/>
            <a:rect l="l" t="t" r="r" b="b"/>
            <a:pathLst>
              <a:path w="34538" h="1157031">
                <a:moveTo>
                  <a:pt x="34538" y="0"/>
                </a:moveTo>
                <a:lnTo>
                  <a:pt x="34538" y="0"/>
                </a:lnTo>
                <a:lnTo>
                  <a:pt x="34538" y="1157031"/>
                </a:lnTo>
                <a:lnTo>
                  <a:pt x="34538" y="1157031"/>
                </a:lnTo>
                <a:cubicBezTo>
                  <a:pt x="15463" y="1157031"/>
                  <a:pt x="0" y="1141568"/>
                  <a:pt x="0" y="1122493"/>
                </a:cubicBezTo>
                <a:lnTo>
                  <a:pt x="0" y="34538"/>
                </a:lnTo>
                <a:cubicBezTo>
                  <a:pt x="0" y="15476"/>
                  <a:pt x="15476" y="0"/>
                  <a:pt x="34538" y="0"/>
                </a:cubicBezTo>
                <a:close/>
              </a:path>
            </a:pathLst>
          </a:custGeom>
          <a:solidFill>
            <a:srgbClr val="C9A86A"/>
          </a:solidFill>
          <a:ln/>
        </p:spPr>
        <p:txBody>
          <a:bodyPr/>
          <a:lstStyle/>
          <a:p>
            <a:endParaRPr lang="zh-CN" altLang="en-US"/>
          </a:p>
        </p:txBody>
      </p:sp>
      <p:sp>
        <p:nvSpPr>
          <p:cNvPr id="19" name="Text 17"/>
          <p:cNvSpPr/>
          <p:nvPr/>
        </p:nvSpPr>
        <p:spPr>
          <a:xfrm>
            <a:off x="690765" y="4563365"/>
            <a:ext cx="3186153" cy="207229"/>
          </a:xfrm>
          <a:prstGeom prst="rect">
            <a:avLst/>
          </a:prstGeom>
          <a:noFill/>
          <a:ln/>
        </p:spPr>
        <p:txBody>
          <a:bodyPr wrap="square" lIns="0" tIns="0" rIns="0" bIns="0" rtlCol="0" anchor="ctr"/>
          <a:lstStyle/>
          <a:p>
            <a:pPr>
              <a:lnSpc>
                <a:spcPct val="130000"/>
              </a:lnSpc>
            </a:pPr>
            <a:r>
              <a:rPr lang="en-US" sz="1088" b="1" dirty="0">
                <a:solidFill>
                  <a:srgbClr val="E0E2E5"/>
                </a:solidFill>
                <a:latin typeface="Noto Sans SC" pitchFamily="34" charset="0"/>
                <a:ea typeface="Noto Sans SC" pitchFamily="34" charset="-122"/>
                <a:cs typeface="Noto Sans SC" pitchFamily="34" charset="-120"/>
              </a:rPr>
              <a:t>风险</a:t>
            </a:r>
            <a:endParaRPr lang="en-US" sz="1600" dirty="0"/>
          </a:p>
        </p:txBody>
      </p:sp>
      <p:sp>
        <p:nvSpPr>
          <p:cNvPr id="20" name="Text 18"/>
          <p:cNvSpPr/>
          <p:nvPr/>
        </p:nvSpPr>
        <p:spPr>
          <a:xfrm>
            <a:off x="690765" y="4839671"/>
            <a:ext cx="3186153" cy="673496"/>
          </a:xfrm>
          <a:prstGeom prst="rect">
            <a:avLst/>
          </a:prstGeom>
          <a:noFill/>
          <a:ln/>
        </p:spPr>
        <p:txBody>
          <a:bodyPr wrap="square" lIns="0" tIns="0" rIns="0" bIns="0" rtlCol="0" anchor="ctr"/>
          <a:lstStyle/>
          <a:p>
            <a:pPr>
              <a:lnSpc>
                <a:spcPct val="140000"/>
              </a:lnSpc>
            </a:pPr>
            <a:r>
              <a:rPr lang="en-US" sz="1088" dirty="0">
                <a:solidFill>
                  <a:srgbClr val="E0E2E5">
                    <a:alpha val="80000"/>
                  </a:srgbClr>
                </a:solidFill>
                <a:latin typeface="Noto Sans SC" pitchFamily="34" charset="0"/>
                <a:ea typeface="Noto Sans SC" pitchFamily="34" charset="-122"/>
                <a:cs typeface="Noto Sans SC" pitchFamily="34" charset="-120"/>
              </a:rPr>
              <a:t>如果解压缩过程不能在极快的 SRAM 内顺滑完成，而是需要频繁访问全局显存，</a:t>
            </a:r>
            <a:r>
              <a:rPr lang="en-US" sz="1088" dirty="0">
                <a:solidFill>
                  <a:srgbClr val="C9A86A"/>
                </a:solidFill>
                <a:highlight>
                  <a:srgbClr val="C9A86A">
                    <a:alpha val="20000"/>
                  </a:srgbClr>
                </a:highlight>
                <a:latin typeface="Noto Sans SC" pitchFamily="34" charset="0"/>
                <a:ea typeface="Noto Sans SC" pitchFamily="34" charset="-122"/>
                <a:cs typeface="Noto Sans SC" pitchFamily="34" charset="-120"/>
              </a:rPr>
              <a:t> 压缩带来的速度红利将被访存延迟彻底抹平 </a:t>
            </a:r>
            <a:r>
              <a:rPr lang="en-US" sz="1088"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21" name="Shape 19"/>
          <p:cNvSpPr/>
          <p:nvPr/>
        </p:nvSpPr>
        <p:spPr>
          <a:xfrm>
            <a:off x="4241121" y="2452215"/>
            <a:ext cx="3721496" cy="3419286"/>
          </a:xfrm>
          <a:custGeom>
            <a:avLst/>
            <a:gdLst/>
            <a:ahLst/>
            <a:cxnLst/>
            <a:rect l="l" t="t" r="r" b="b"/>
            <a:pathLst>
              <a:path w="3721496" h="3419286">
                <a:moveTo>
                  <a:pt x="34538" y="0"/>
                </a:moveTo>
                <a:lnTo>
                  <a:pt x="3652426" y="0"/>
                </a:lnTo>
                <a:cubicBezTo>
                  <a:pt x="3690572" y="0"/>
                  <a:pt x="3721496" y="30924"/>
                  <a:pt x="3721496" y="69070"/>
                </a:cubicBezTo>
                <a:lnTo>
                  <a:pt x="3721496" y="3350217"/>
                </a:lnTo>
                <a:cubicBezTo>
                  <a:pt x="3721496" y="3388363"/>
                  <a:pt x="3690572" y="3419286"/>
                  <a:pt x="3652426" y="3419286"/>
                </a:cubicBezTo>
                <a:lnTo>
                  <a:pt x="34538" y="3419286"/>
                </a:lnTo>
                <a:cubicBezTo>
                  <a:pt x="15463" y="3419286"/>
                  <a:pt x="0" y="3403823"/>
                  <a:pt x="0" y="3384748"/>
                </a:cubicBezTo>
                <a:lnTo>
                  <a:pt x="0" y="34538"/>
                </a:lnTo>
                <a:cubicBezTo>
                  <a:pt x="0" y="15476"/>
                  <a:pt x="15476" y="0"/>
                  <a:pt x="34538" y="0"/>
                </a:cubicBezTo>
                <a:close/>
              </a:path>
            </a:pathLst>
          </a:custGeom>
          <a:solidFill>
            <a:srgbClr val="5F6B7A">
              <a:alpha val="10196"/>
            </a:srgbClr>
          </a:solidFill>
          <a:ln/>
        </p:spPr>
        <p:txBody>
          <a:bodyPr/>
          <a:lstStyle/>
          <a:p>
            <a:endParaRPr lang="zh-CN" altLang="en-US"/>
          </a:p>
        </p:txBody>
      </p:sp>
      <p:sp>
        <p:nvSpPr>
          <p:cNvPr id="22" name="Shape 20"/>
          <p:cNvSpPr/>
          <p:nvPr/>
        </p:nvSpPr>
        <p:spPr>
          <a:xfrm>
            <a:off x="4241121" y="2452215"/>
            <a:ext cx="34538" cy="3419286"/>
          </a:xfrm>
          <a:custGeom>
            <a:avLst/>
            <a:gdLst/>
            <a:ahLst/>
            <a:cxnLst/>
            <a:rect l="l" t="t" r="r" b="b"/>
            <a:pathLst>
              <a:path w="34538" h="3419286">
                <a:moveTo>
                  <a:pt x="34538" y="0"/>
                </a:moveTo>
                <a:lnTo>
                  <a:pt x="34538" y="0"/>
                </a:lnTo>
                <a:lnTo>
                  <a:pt x="34538" y="3419286"/>
                </a:lnTo>
                <a:lnTo>
                  <a:pt x="34538" y="3419286"/>
                </a:lnTo>
                <a:cubicBezTo>
                  <a:pt x="15463" y="3419286"/>
                  <a:pt x="0" y="3403823"/>
                  <a:pt x="0" y="3384748"/>
                </a:cubicBezTo>
                <a:lnTo>
                  <a:pt x="0" y="34538"/>
                </a:lnTo>
                <a:cubicBezTo>
                  <a:pt x="0" y="15476"/>
                  <a:pt x="15476" y="0"/>
                  <a:pt x="34538" y="0"/>
                </a:cubicBezTo>
                <a:close/>
              </a:path>
            </a:pathLst>
          </a:custGeom>
          <a:solidFill>
            <a:srgbClr val="5F6B7A"/>
          </a:solidFill>
          <a:ln/>
        </p:spPr>
        <p:txBody>
          <a:bodyPr/>
          <a:lstStyle/>
          <a:p>
            <a:endParaRPr lang="zh-CN" altLang="en-US"/>
          </a:p>
        </p:txBody>
      </p:sp>
      <p:sp>
        <p:nvSpPr>
          <p:cNvPr id="23" name="Shape 21"/>
          <p:cNvSpPr/>
          <p:nvPr/>
        </p:nvSpPr>
        <p:spPr>
          <a:xfrm>
            <a:off x="4431081" y="2624907"/>
            <a:ext cx="414459" cy="414459"/>
          </a:xfrm>
          <a:custGeom>
            <a:avLst/>
            <a:gdLst/>
            <a:ahLst/>
            <a:cxnLst/>
            <a:rect l="l" t="t" r="r" b="b"/>
            <a:pathLst>
              <a:path w="414459" h="414459">
                <a:moveTo>
                  <a:pt x="69078" y="0"/>
                </a:moveTo>
                <a:lnTo>
                  <a:pt x="345381" y="0"/>
                </a:lnTo>
                <a:cubicBezTo>
                  <a:pt x="383532" y="0"/>
                  <a:pt x="414459" y="30927"/>
                  <a:pt x="414459" y="69078"/>
                </a:cubicBezTo>
                <a:lnTo>
                  <a:pt x="414459" y="345381"/>
                </a:lnTo>
                <a:cubicBezTo>
                  <a:pt x="414459" y="383532"/>
                  <a:pt x="383532" y="414459"/>
                  <a:pt x="345381" y="414459"/>
                </a:cubicBezTo>
                <a:lnTo>
                  <a:pt x="69078" y="414459"/>
                </a:lnTo>
                <a:cubicBezTo>
                  <a:pt x="30927" y="414459"/>
                  <a:pt x="0" y="383532"/>
                  <a:pt x="0" y="345381"/>
                </a:cubicBezTo>
                <a:lnTo>
                  <a:pt x="0" y="69078"/>
                </a:lnTo>
                <a:cubicBezTo>
                  <a:pt x="0" y="30927"/>
                  <a:pt x="30927" y="0"/>
                  <a:pt x="69078" y="0"/>
                </a:cubicBezTo>
                <a:close/>
              </a:path>
            </a:pathLst>
          </a:custGeom>
          <a:solidFill>
            <a:srgbClr val="5F6B7A"/>
          </a:solidFill>
          <a:ln/>
        </p:spPr>
        <p:txBody>
          <a:bodyPr/>
          <a:lstStyle/>
          <a:p>
            <a:endParaRPr lang="zh-CN" altLang="en-US"/>
          </a:p>
        </p:txBody>
      </p:sp>
      <p:sp>
        <p:nvSpPr>
          <p:cNvPr id="24" name="Text 22"/>
          <p:cNvSpPr/>
          <p:nvPr/>
        </p:nvSpPr>
        <p:spPr>
          <a:xfrm>
            <a:off x="4513919" y="2693983"/>
            <a:ext cx="354017" cy="276306"/>
          </a:xfrm>
          <a:prstGeom prst="rect">
            <a:avLst/>
          </a:prstGeom>
          <a:noFill/>
          <a:ln/>
        </p:spPr>
        <p:txBody>
          <a:bodyPr wrap="square" lIns="0" tIns="0" rIns="0" bIns="0" rtlCol="0" anchor="ctr"/>
          <a:lstStyle/>
          <a:p>
            <a:pPr>
              <a:lnSpc>
                <a:spcPct val="110000"/>
              </a:lnSpc>
            </a:pPr>
            <a:r>
              <a:rPr lang="en-US" sz="1632" b="1" dirty="0">
                <a:solidFill>
                  <a:srgbClr val="FFFFFF"/>
                </a:solidFill>
                <a:latin typeface="Noto Sans SC" pitchFamily="34" charset="0"/>
                <a:ea typeface="Noto Sans SC" pitchFamily="34" charset="-122"/>
                <a:cs typeface="Noto Sans SC" pitchFamily="34" charset="-120"/>
              </a:rPr>
              <a:t>02</a:t>
            </a:r>
            <a:endParaRPr lang="en-US" sz="1600" dirty="0"/>
          </a:p>
        </p:txBody>
      </p:sp>
      <p:sp>
        <p:nvSpPr>
          <p:cNvPr id="25" name="Text 23"/>
          <p:cNvSpPr/>
          <p:nvPr/>
        </p:nvSpPr>
        <p:spPr>
          <a:xfrm>
            <a:off x="4949155" y="2711252"/>
            <a:ext cx="1122493" cy="241768"/>
          </a:xfrm>
          <a:prstGeom prst="rect">
            <a:avLst/>
          </a:prstGeom>
          <a:noFill/>
          <a:ln/>
        </p:spPr>
        <p:txBody>
          <a:bodyPr wrap="square" lIns="0" tIns="0" rIns="0" bIns="0" rtlCol="0" anchor="ctr"/>
          <a:lstStyle/>
          <a:p>
            <a:pPr>
              <a:lnSpc>
                <a:spcPct val="120000"/>
              </a:lnSpc>
            </a:pPr>
            <a:r>
              <a:rPr lang="en-US" sz="1360" b="1" dirty="0">
                <a:solidFill>
                  <a:srgbClr val="E0E2E5"/>
                </a:solidFill>
                <a:latin typeface="Noto Sans SC" pitchFamily="34" charset="0"/>
                <a:ea typeface="Noto Sans SC" pitchFamily="34" charset="-122"/>
                <a:cs typeface="Noto Sans SC" pitchFamily="34" charset="-120"/>
              </a:rPr>
              <a:t>分页对齐问题</a:t>
            </a:r>
            <a:endParaRPr lang="en-US" sz="1600" dirty="0"/>
          </a:p>
        </p:txBody>
      </p:sp>
      <p:sp>
        <p:nvSpPr>
          <p:cNvPr id="26" name="Shape 24"/>
          <p:cNvSpPr/>
          <p:nvPr/>
        </p:nvSpPr>
        <p:spPr>
          <a:xfrm>
            <a:off x="4431081" y="3203422"/>
            <a:ext cx="3358844" cy="1157031"/>
          </a:xfrm>
          <a:custGeom>
            <a:avLst/>
            <a:gdLst/>
            <a:ahLst/>
            <a:cxnLst/>
            <a:rect l="l" t="t" r="r" b="b"/>
            <a:pathLst>
              <a:path w="3358844" h="1157031">
                <a:moveTo>
                  <a:pt x="69075" y="0"/>
                </a:moveTo>
                <a:lnTo>
                  <a:pt x="3289769" y="0"/>
                </a:lnTo>
                <a:cubicBezTo>
                  <a:pt x="3327918" y="0"/>
                  <a:pt x="3358844" y="30926"/>
                  <a:pt x="3358844" y="69075"/>
                </a:cubicBezTo>
                <a:lnTo>
                  <a:pt x="3358844" y="1087956"/>
                </a:lnTo>
                <a:cubicBezTo>
                  <a:pt x="3358844" y="1126105"/>
                  <a:pt x="3327918" y="1157031"/>
                  <a:pt x="3289769" y="1157031"/>
                </a:cubicBezTo>
                <a:lnTo>
                  <a:pt x="69075" y="1157031"/>
                </a:lnTo>
                <a:cubicBezTo>
                  <a:pt x="30926" y="1157031"/>
                  <a:pt x="0" y="1126105"/>
                  <a:pt x="0" y="1087956"/>
                </a:cubicBezTo>
                <a:lnTo>
                  <a:pt x="0" y="69075"/>
                </a:lnTo>
                <a:cubicBezTo>
                  <a:pt x="0" y="30951"/>
                  <a:pt x="30951" y="0"/>
                  <a:pt x="69075" y="0"/>
                </a:cubicBezTo>
                <a:close/>
              </a:path>
            </a:pathLst>
          </a:custGeom>
          <a:solidFill>
            <a:srgbClr val="1A1D21">
              <a:alpha val="50196"/>
            </a:srgbClr>
          </a:solidFill>
          <a:ln/>
        </p:spPr>
        <p:txBody>
          <a:bodyPr/>
          <a:lstStyle/>
          <a:p>
            <a:endParaRPr lang="zh-CN" altLang="en-US"/>
          </a:p>
        </p:txBody>
      </p:sp>
      <p:sp>
        <p:nvSpPr>
          <p:cNvPr id="27" name="Text 25"/>
          <p:cNvSpPr/>
          <p:nvPr/>
        </p:nvSpPr>
        <p:spPr>
          <a:xfrm>
            <a:off x="4534696" y="3307037"/>
            <a:ext cx="3220691" cy="207229"/>
          </a:xfrm>
          <a:prstGeom prst="rect">
            <a:avLst/>
          </a:prstGeom>
          <a:noFill/>
          <a:ln/>
        </p:spPr>
        <p:txBody>
          <a:bodyPr wrap="square" lIns="0" tIns="0" rIns="0" bIns="0" rtlCol="0" anchor="ctr"/>
          <a:lstStyle/>
          <a:p>
            <a:pPr>
              <a:lnSpc>
                <a:spcPct val="130000"/>
              </a:lnSpc>
            </a:pPr>
            <a:r>
              <a:rPr lang="en-US" sz="1088" b="1" dirty="0">
                <a:solidFill>
                  <a:srgbClr val="E0E2E5"/>
                </a:solidFill>
                <a:latin typeface="Noto Sans SC" pitchFamily="34" charset="0"/>
                <a:ea typeface="Noto Sans SC" pitchFamily="34" charset="-122"/>
                <a:cs typeface="Noto Sans SC" pitchFamily="34" charset="-120"/>
              </a:rPr>
              <a:t>核心问题</a:t>
            </a:r>
            <a:endParaRPr lang="en-US" sz="1600" dirty="0"/>
          </a:p>
        </p:txBody>
      </p:sp>
      <p:sp>
        <p:nvSpPr>
          <p:cNvPr id="28" name="Text 26"/>
          <p:cNvSpPr/>
          <p:nvPr/>
        </p:nvSpPr>
        <p:spPr>
          <a:xfrm>
            <a:off x="4534696" y="3583343"/>
            <a:ext cx="3220691" cy="673496"/>
          </a:xfrm>
          <a:prstGeom prst="rect">
            <a:avLst/>
          </a:prstGeom>
          <a:noFill/>
          <a:ln/>
        </p:spPr>
        <p:txBody>
          <a:bodyPr wrap="square" lIns="0" tIns="0" rIns="0" bIns="0" rtlCol="0" anchor="ctr"/>
          <a:lstStyle/>
          <a:p>
            <a:pPr>
              <a:lnSpc>
                <a:spcPct val="140000"/>
              </a:lnSpc>
            </a:pPr>
            <a:r>
              <a:rPr lang="en-US" sz="1088" dirty="0">
                <a:solidFill>
                  <a:srgbClr val="E0E2E5">
                    <a:alpha val="80000"/>
                  </a:srgbClr>
                </a:solidFill>
                <a:latin typeface="Noto Sans SC" pitchFamily="34" charset="0"/>
                <a:ea typeface="Noto Sans SC" pitchFamily="34" charset="-122"/>
                <a:cs typeface="Noto Sans SC" pitchFamily="34" charset="-120"/>
              </a:rPr>
              <a:t>在 PagedAttention 机制下，Token 是按固定大小的 Block 分页存储的。如果剪枝算法随机删除了某些 Token，将导致物理 Block 内部出现空洞。</a:t>
            </a:r>
            <a:endParaRPr lang="en-US" sz="1600" dirty="0"/>
          </a:p>
        </p:txBody>
      </p:sp>
      <p:sp>
        <p:nvSpPr>
          <p:cNvPr id="29" name="Shape 27"/>
          <p:cNvSpPr/>
          <p:nvPr/>
        </p:nvSpPr>
        <p:spPr>
          <a:xfrm>
            <a:off x="4448350" y="4515875"/>
            <a:ext cx="3341575" cy="1157031"/>
          </a:xfrm>
          <a:custGeom>
            <a:avLst/>
            <a:gdLst/>
            <a:ahLst/>
            <a:cxnLst/>
            <a:rect l="l" t="t" r="r" b="b"/>
            <a:pathLst>
              <a:path w="3341575" h="1157031">
                <a:moveTo>
                  <a:pt x="34538" y="0"/>
                </a:moveTo>
                <a:lnTo>
                  <a:pt x="3272500" y="0"/>
                </a:lnTo>
                <a:cubicBezTo>
                  <a:pt x="3310649" y="0"/>
                  <a:pt x="3341575" y="30926"/>
                  <a:pt x="3341575" y="69075"/>
                </a:cubicBezTo>
                <a:lnTo>
                  <a:pt x="3341575" y="1087956"/>
                </a:lnTo>
                <a:cubicBezTo>
                  <a:pt x="3341575" y="1126105"/>
                  <a:pt x="3310649" y="1157031"/>
                  <a:pt x="3272500" y="1157031"/>
                </a:cubicBezTo>
                <a:lnTo>
                  <a:pt x="34538" y="1157031"/>
                </a:lnTo>
                <a:cubicBezTo>
                  <a:pt x="15463" y="1157031"/>
                  <a:pt x="0" y="1141568"/>
                  <a:pt x="0" y="1122493"/>
                </a:cubicBezTo>
                <a:lnTo>
                  <a:pt x="0" y="34538"/>
                </a:lnTo>
                <a:cubicBezTo>
                  <a:pt x="0" y="15476"/>
                  <a:pt x="15476" y="0"/>
                  <a:pt x="34538" y="0"/>
                </a:cubicBezTo>
                <a:close/>
              </a:path>
            </a:pathLst>
          </a:custGeom>
          <a:solidFill>
            <a:srgbClr val="5F6B7A">
              <a:alpha val="20000"/>
            </a:srgbClr>
          </a:solidFill>
          <a:ln/>
        </p:spPr>
        <p:txBody>
          <a:bodyPr/>
          <a:lstStyle/>
          <a:p>
            <a:endParaRPr lang="zh-CN" altLang="en-US"/>
          </a:p>
        </p:txBody>
      </p:sp>
      <p:sp>
        <p:nvSpPr>
          <p:cNvPr id="30" name="Shape 28"/>
          <p:cNvSpPr/>
          <p:nvPr/>
        </p:nvSpPr>
        <p:spPr>
          <a:xfrm>
            <a:off x="4448350" y="4515875"/>
            <a:ext cx="34538" cy="1157031"/>
          </a:xfrm>
          <a:custGeom>
            <a:avLst/>
            <a:gdLst/>
            <a:ahLst/>
            <a:cxnLst/>
            <a:rect l="l" t="t" r="r" b="b"/>
            <a:pathLst>
              <a:path w="34538" h="1157031">
                <a:moveTo>
                  <a:pt x="34538" y="0"/>
                </a:moveTo>
                <a:lnTo>
                  <a:pt x="34538" y="0"/>
                </a:lnTo>
                <a:lnTo>
                  <a:pt x="34538" y="1157031"/>
                </a:lnTo>
                <a:lnTo>
                  <a:pt x="34538" y="1157031"/>
                </a:lnTo>
                <a:cubicBezTo>
                  <a:pt x="15463" y="1157031"/>
                  <a:pt x="0" y="1141568"/>
                  <a:pt x="0" y="1122493"/>
                </a:cubicBezTo>
                <a:lnTo>
                  <a:pt x="0" y="34538"/>
                </a:lnTo>
                <a:cubicBezTo>
                  <a:pt x="0" y="15476"/>
                  <a:pt x="15476" y="0"/>
                  <a:pt x="34538" y="0"/>
                </a:cubicBezTo>
                <a:close/>
              </a:path>
            </a:pathLst>
          </a:custGeom>
          <a:solidFill>
            <a:srgbClr val="5F6B7A"/>
          </a:solidFill>
          <a:ln/>
        </p:spPr>
        <p:txBody>
          <a:bodyPr/>
          <a:lstStyle/>
          <a:p>
            <a:endParaRPr lang="zh-CN" altLang="en-US"/>
          </a:p>
        </p:txBody>
      </p:sp>
      <p:sp>
        <p:nvSpPr>
          <p:cNvPr id="31" name="Text 29"/>
          <p:cNvSpPr/>
          <p:nvPr/>
        </p:nvSpPr>
        <p:spPr>
          <a:xfrm>
            <a:off x="4569234" y="4619490"/>
            <a:ext cx="3186153" cy="207229"/>
          </a:xfrm>
          <a:prstGeom prst="rect">
            <a:avLst/>
          </a:prstGeom>
          <a:noFill/>
          <a:ln/>
        </p:spPr>
        <p:txBody>
          <a:bodyPr wrap="square" lIns="0" tIns="0" rIns="0" bIns="0" rtlCol="0" anchor="ctr"/>
          <a:lstStyle/>
          <a:p>
            <a:pPr>
              <a:lnSpc>
                <a:spcPct val="130000"/>
              </a:lnSpc>
            </a:pPr>
            <a:r>
              <a:rPr lang="en-US" sz="1088" b="1" dirty="0">
                <a:solidFill>
                  <a:srgbClr val="E0E2E5"/>
                </a:solidFill>
                <a:latin typeface="Noto Sans SC" pitchFamily="34" charset="0"/>
                <a:ea typeface="Noto Sans SC" pitchFamily="34" charset="-122"/>
                <a:cs typeface="Noto Sans SC" pitchFamily="34" charset="-120"/>
              </a:rPr>
              <a:t>后果</a:t>
            </a:r>
            <a:endParaRPr lang="en-US" sz="1600" dirty="0"/>
          </a:p>
        </p:txBody>
      </p:sp>
      <p:sp>
        <p:nvSpPr>
          <p:cNvPr id="32" name="Text 30"/>
          <p:cNvSpPr/>
          <p:nvPr/>
        </p:nvSpPr>
        <p:spPr>
          <a:xfrm>
            <a:off x="4569234" y="4895796"/>
            <a:ext cx="3186153" cy="673496"/>
          </a:xfrm>
          <a:prstGeom prst="rect">
            <a:avLst/>
          </a:prstGeom>
          <a:noFill/>
          <a:ln/>
        </p:spPr>
        <p:txBody>
          <a:bodyPr wrap="square" lIns="0" tIns="0" rIns="0" bIns="0" rtlCol="0" anchor="ctr"/>
          <a:lstStyle/>
          <a:p>
            <a:pPr>
              <a:lnSpc>
                <a:spcPct val="140000"/>
              </a:lnSpc>
            </a:pPr>
            <a:r>
              <a:rPr lang="en-US" sz="1088" dirty="0">
                <a:solidFill>
                  <a:srgbClr val="E0E2E5">
                    <a:alpha val="80000"/>
                  </a:srgbClr>
                </a:solidFill>
                <a:latin typeface="Noto Sans SC" pitchFamily="34" charset="0"/>
                <a:ea typeface="Noto Sans SC" pitchFamily="34" charset="-122"/>
                <a:cs typeface="Noto Sans SC" pitchFamily="34" charset="-120"/>
              </a:rPr>
              <a:t>破坏了连续的内存读取效率，</a:t>
            </a:r>
            <a:r>
              <a:rPr lang="en-US" sz="1088" dirty="0">
                <a:solidFill>
                  <a:srgbClr val="5F6B7A"/>
                </a:solidFill>
                <a:highlight>
                  <a:srgbClr val="5F6B7A">
                    <a:alpha val="20000"/>
                  </a:srgbClr>
                </a:highlight>
                <a:latin typeface="Noto Sans SC" pitchFamily="34" charset="0"/>
                <a:ea typeface="Noto Sans SC" pitchFamily="34" charset="-122"/>
                <a:cs typeface="Noto Sans SC" pitchFamily="34" charset="-120"/>
              </a:rPr>
              <a:t> 目前业界的折中方案是在 Block 粒度上进行淘汰 </a:t>
            </a:r>
            <a:r>
              <a:rPr lang="en-US" sz="1088" dirty="0">
                <a:solidFill>
                  <a:srgbClr val="E0E2E5">
                    <a:alpha val="80000"/>
                  </a:srgbClr>
                </a:solidFill>
                <a:latin typeface="Noto Sans SC" pitchFamily="34" charset="0"/>
                <a:ea typeface="Noto Sans SC" pitchFamily="34" charset="-122"/>
                <a:cs typeface="Noto Sans SC" pitchFamily="34" charset="-120"/>
              </a:rPr>
              <a:t>，但这会牺牲细粒度的 Token 选择精度。</a:t>
            </a:r>
            <a:endParaRPr lang="en-US" sz="1600" dirty="0"/>
          </a:p>
        </p:txBody>
      </p:sp>
      <p:sp>
        <p:nvSpPr>
          <p:cNvPr id="33" name="Shape 31"/>
          <p:cNvSpPr/>
          <p:nvPr/>
        </p:nvSpPr>
        <p:spPr>
          <a:xfrm>
            <a:off x="8119658" y="2452215"/>
            <a:ext cx="3721496" cy="3419286"/>
          </a:xfrm>
          <a:custGeom>
            <a:avLst/>
            <a:gdLst/>
            <a:ahLst/>
            <a:cxnLst/>
            <a:rect l="l" t="t" r="r" b="b"/>
            <a:pathLst>
              <a:path w="3721496" h="3419286">
                <a:moveTo>
                  <a:pt x="34538" y="0"/>
                </a:moveTo>
                <a:lnTo>
                  <a:pt x="3652426" y="0"/>
                </a:lnTo>
                <a:cubicBezTo>
                  <a:pt x="3690572" y="0"/>
                  <a:pt x="3721496" y="30924"/>
                  <a:pt x="3721496" y="69070"/>
                </a:cubicBezTo>
                <a:lnTo>
                  <a:pt x="3721496" y="3350217"/>
                </a:lnTo>
                <a:cubicBezTo>
                  <a:pt x="3721496" y="3388363"/>
                  <a:pt x="3690572" y="3419286"/>
                  <a:pt x="3652426" y="3419286"/>
                </a:cubicBezTo>
                <a:lnTo>
                  <a:pt x="34538" y="3419286"/>
                </a:lnTo>
                <a:cubicBezTo>
                  <a:pt x="15463" y="3419286"/>
                  <a:pt x="0" y="3403823"/>
                  <a:pt x="0" y="3384748"/>
                </a:cubicBezTo>
                <a:lnTo>
                  <a:pt x="0" y="34538"/>
                </a:lnTo>
                <a:cubicBezTo>
                  <a:pt x="0" y="15476"/>
                  <a:pt x="15476" y="0"/>
                  <a:pt x="34538" y="0"/>
                </a:cubicBezTo>
                <a:close/>
              </a:path>
            </a:pathLst>
          </a:custGeom>
          <a:solidFill>
            <a:srgbClr val="3D8B75">
              <a:alpha val="10196"/>
            </a:srgbClr>
          </a:solidFill>
          <a:ln/>
        </p:spPr>
        <p:txBody>
          <a:bodyPr/>
          <a:lstStyle/>
          <a:p>
            <a:endParaRPr lang="zh-CN" altLang="en-US"/>
          </a:p>
        </p:txBody>
      </p:sp>
      <p:sp>
        <p:nvSpPr>
          <p:cNvPr id="34" name="Shape 32"/>
          <p:cNvSpPr/>
          <p:nvPr/>
        </p:nvSpPr>
        <p:spPr>
          <a:xfrm>
            <a:off x="8119658" y="2452215"/>
            <a:ext cx="34538" cy="3419286"/>
          </a:xfrm>
          <a:custGeom>
            <a:avLst/>
            <a:gdLst/>
            <a:ahLst/>
            <a:cxnLst/>
            <a:rect l="l" t="t" r="r" b="b"/>
            <a:pathLst>
              <a:path w="34538" h="3419286">
                <a:moveTo>
                  <a:pt x="34538" y="0"/>
                </a:moveTo>
                <a:lnTo>
                  <a:pt x="34538" y="0"/>
                </a:lnTo>
                <a:lnTo>
                  <a:pt x="34538" y="3419286"/>
                </a:lnTo>
                <a:lnTo>
                  <a:pt x="34538" y="3419286"/>
                </a:lnTo>
                <a:cubicBezTo>
                  <a:pt x="15463" y="3419286"/>
                  <a:pt x="0" y="3403823"/>
                  <a:pt x="0" y="3384748"/>
                </a:cubicBezTo>
                <a:lnTo>
                  <a:pt x="0" y="34538"/>
                </a:lnTo>
                <a:cubicBezTo>
                  <a:pt x="0" y="15476"/>
                  <a:pt x="15476" y="0"/>
                  <a:pt x="34538" y="0"/>
                </a:cubicBezTo>
                <a:close/>
              </a:path>
            </a:pathLst>
          </a:custGeom>
          <a:solidFill>
            <a:srgbClr val="3D8B75"/>
          </a:solidFill>
          <a:ln/>
        </p:spPr>
        <p:txBody>
          <a:bodyPr/>
          <a:lstStyle/>
          <a:p>
            <a:endParaRPr lang="zh-CN" altLang="en-US"/>
          </a:p>
        </p:txBody>
      </p:sp>
      <p:sp>
        <p:nvSpPr>
          <p:cNvPr id="35" name="Shape 33"/>
          <p:cNvSpPr/>
          <p:nvPr/>
        </p:nvSpPr>
        <p:spPr>
          <a:xfrm>
            <a:off x="8309618" y="2624907"/>
            <a:ext cx="414459" cy="414459"/>
          </a:xfrm>
          <a:custGeom>
            <a:avLst/>
            <a:gdLst/>
            <a:ahLst/>
            <a:cxnLst/>
            <a:rect l="l" t="t" r="r" b="b"/>
            <a:pathLst>
              <a:path w="414459" h="414459">
                <a:moveTo>
                  <a:pt x="69078" y="0"/>
                </a:moveTo>
                <a:lnTo>
                  <a:pt x="345381" y="0"/>
                </a:lnTo>
                <a:cubicBezTo>
                  <a:pt x="383532" y="0"/>
                  <a:pt x="414459" y="30927"/>
                  <a:pt x="414459" y="69078"/>
                </a:cubicBezTo>
                <a:lnTo>
                  <a:pt x="414459" y="345381"/>
                </a:lnTo>
                <a:cubicBezTo>
                  <a:pt x="414459" y="383532"/>
                  <a:pt x="383532" y="414459"/>
                  <a:pt x="345381" y="414459"/>
                </a:cubicBezTo>
                <a:lnTo>
                  <a:pt x="69078" y="414459"/>
                </a:lnTo>
                <a:cubicBezTo>
                  <a:pt x="30927" y="414459"/>
                  <a:pt x="0" y="383532"/>
                  <a:pt x="0" y="345381"/>
                </a:cubicBezTo>
                <a:lnTo>
                  <a:pt x="0" y="69078"/>
                </a:lnTo>
                <a:cubicBezTo>
                  <a:pt x="0" y="30927"/>
                  <a:pt x="30927" y="0"/>
                  <a:pt x="69078" y="0"/>
                </a:cubicBezTo>
                <a:close/>
              </a:path>
            </a:pathLst>
          </a:custGeom>
          <a:solidFill>
            <a:srgbClr val="3D8B75"/>
          </a:solidFill>
          <a:ln/>
        </p:spPr>
        <p:txBody>
          <a:bodyPr/>
          <a:lstStyle/>
          <a:p>
            <a:endParaRPr lang="zh-CN" altLang="en-US"/>
          </a:p>
        </p:txBody>
      </p:sp>
      <p:sp>
        <p:nvSpPr>
          <p:cNvPr id="36" name="Text 34"/>
          <p:cNvSpPr/>
          <p:nvPr/>
        </p:nvSpPr>
        <p:spPr>
          <a:xfrm>
            <a:off x="8392456" y="2693983"/>
            <a:ext cx="354017" cy="276306"/>
          </a:xfrm>
          <a:prstGeom prst="rect">
            <a:avLst/>
          </a:prstGeom>
          <a:noFill/>
          <a:ln/>
        </p:spPr>
        <p:txBody>
          <a:bodyPr wrap="square" lIns="0" tIns="0" rIns="0" bIns="0" rtlCol="0" anchor="ctr"/>
          <a:lstStyle/>
          <a:p>
            <a:pPr>
              <a:lnSpc>
                <a:spcPct val="110000"/>
              </a:lnSpc>
            </a:pPr>
            <a:r>
              <a:rPr lang="en-US" sz="1632" b="1" dirty="0">
                <a:solidFill>
                  <a:srgbClr val="FFFFFF"/>
                </a:solidFill>
                <a:latin typeface="Noto Sans SC" pitchFamily="34" charset="0"/>
                <a:ea typeface="Noto Sans SC" pitchFamily="34" charset="-122"/>
                <a:cs typeface="Noto Sans SC" pitchFamily="34" charset="-120"/>
              </a:rPr>
              <a:t>03</a:t>
            </a:r>
            <a:endParaRPr lang="en-US" sz="1600" dirty="0"/>
          </a:p>
        </p:txBody>
      </p:sp>
      <p:sp>
        <p:nvSpPr>
          <p:cNvPr id="37" name="Text 35"/>
          <p:cNvSpPr/>
          <p:nvPr/>
        </p:nvSpPr>
        <p:spPr>
          <a:xfrm>
            <a:off x="8827692" y="2711252"/>
            <a:ext cx="949802" cy="241768"/>
          </a:xfrm>
          <a:prstGeom prst="rect">
            <a:avLst/>
          </a:prstGeom>
          <a:noFill/>
          <a:ln/>
        </p:spPr>
        <p:txBody>
          <a:bodyPr wrap="square" lIns="0" tIns="0" rIns="0" bIns="0" rtlCol="0" anchor="ctr"/>
          <a:lstStyle/>
          <a:p>
            <a:pPr>
              <a:lnSpc>
                <a:spcPct val="120000"/>
              </a:lnSpc>
            </a:pPr>
            <a:r>
              <a:rPr lang="en-US" sz="1360" b="1" dirty="0">
                <a:solidFill>
                  <a:srgbClr val="E0E2E5"/>
                </a:solidFill>
                <a:latin typeface="Noto Sans SC" pitchFamily="34" charset="0"/>
                <a:ea typeface="Noto Sans SC" pitchFamily="34" charset="-122"/>
                <a:cs typeface="Noto Sans SC" pitchFamily="34" charset="-120"/>
              </a:rPr>
              <a:t>编解码延迟</a:t>
            </a:r>
            <a:endParaRPr lang="en-US" sz="1600" dirty="0"/>
          </a:p>
        </p:txBody>
      </p:sp>
      <p:sp>
        <p:nvSpPr>
          <p:cNvPr id="38" name="Shape 36"/>
          <p:cNvSpPr/>
          <p:nvPr/>
        </p:nvSpPr>
        <p:spPr>
          <a:xfrm>
            <a:off x="8309618" y="3328623"/>
            <a:ext cx="3358844" cy="932533"/>
          </a:xfrm>
          <a:custGeom>
            <a:avLst/>
            <a:gdLst/>
            <a:ahLst/>
            <a:cxnLst/>
            <a:rect l="l" t="t" r="r" b="b"/>
            <a:pathLst>
              <a:path w="3358844" h="932533">
                <a:moveTo>
                  <a:pt x="69073" y="0"/>
                </a:moveTo>
                <a:lnTo>
                  <a:pt x="3289772" y="0"/>
                </a:lnTo>
                <a:cubicBezTo>
                  <a:pt x="3327919" y="0"/>
                  <a:pt x="3358844" y="30925"/>
                  <a:pt x="3358844" y="69073"/>
                </a:cubicBezTo>
                <a:lnTo>
                  <a:pt x="3358844" y="863460"/>
                </a:lnTo>
                <a:cubicBezTo>
                  <a:pt x="3358844" y="901608"/>
                  <a:pt x="3327919" y="932533"/>
                  <a:pt x="3289772" y="932533"/>
                </a:cubicBezTo>
                <a:lnTo>
                  <a:pt x="69073" y="932533"/>
                </a:lnTo>
                <a:cubicBezTo>
                  <a:pt x="30925" y="932533"/>
                  <a:pt x="0" y="901608"/>
                  <a:pt x="0" y="863460"/>
                </a:cubicBezTo>
                <a:lnTo>
                  <a:pt x="0" y="69073"/>
                </a:lnTo>
                <a:cubicBezTo>
                  <a:pt x="0" y="30950"/>
                  <a:pt x="30950" y="0"/>
                  <a:pt x="69073" y="0"/>
                </a:cubicBezTo>
                <a:close/>
              </a:path>
            </a:pathLst>
          </a:custGeom>
          <a:solidFill>
            <a:srgbClr val="1A1D21">
              <a:alpha val="50196"/>
            </a:srgbClr>
          </a:solidFill>
          <a:ln/>
        </p:spPr>
        <p:txBody>
          <a:bodyPr/>
          <a:lstStyle/>
          <a:p>
            <a:endParaRPr lang="zh-CN" altLang="en-US"/>
          </a:p>
        </p:txBody>
      </p:sp>
      <p:sp>
        <p:nvSpPr>
          <p:cNvPr id="39" name="Text 37"/>
          <p:cNvSpPr/>
          <p:nvPr/>
        </p:nvSpPr>
        <p:spPr>
          <a:xfrm>
            <a:off x="8413233" y="3432238"/>
            <a:ext cx="3220691" cy="207229"/>
          </a:xfrm>
          <a:prstGeom prst="rect">
            <a:avLst/>
          </a:prstGeom>
          <a:noFill/>
          <a:ln/>
        </p:spPr>
        <p:txBody>
          <a:bodyPr wrap="square" lIns="0" tIns="0" rIns="0" bIns="0" rtlCol="0" anchor="ctr"/>
          <a:lstStyle/>
          <a:p>
            <a:pPr>
              <a:lnSpc>
                <a:spcPct val="130000"/>
              </a:lnSpc>
            </a:pPr>
            <a:r>
              <a:rPr lang="en-US" sz="1088" b="1" dirty="0">
                <a:solidFill>
                  <a:srgbClr val="E0E2E5"/>
                </a:solidFill>
                <a:latin typeface="Noto Sans SC" pitchFamily="34" charset="0"/>
                <a:ea typeface="Noto Sans SC" pitchFamily="34" charset="-122"/>
                <a:cs typeface="Noto Sans SC" pitchFamily="34" charset="-120"/>
              </a:rPr>
              <a:t>正反案例</a:t>
            </a:r>
            <a:endParaRPr lang="en-US" sz="1600" dirty="0"/>
          </a:p>
        </p:txBody>
      </p:sp>
      <p:sp>
        <p:nvSpPr>
          <p:cNvPr id="40" name="Text 38"/>
          <p:cNvSpPr/>
          <p:nvPr/>
        </p:nvSpPr>
        <p:spPr>
          <a:xfrm>
            <a:off x="8413233" y="3708544"/>
            <a:ext cx="3220691" cy="448997"/>
          </a:xfrm>
          <a:prstGeom prst="rect">
            <a:avLst/>
          </a:prstGeom>
          <a:noFill/>
          <a:ln/>
        </p:spPr>
        <p:txBody>
          <a:bodyPr wrap="square" lIns="0" tIns="0" rIns="0" bIns="0" rtlCol="0" anchor="ctr"/>
          <a:lstStyle/>
          <a:p>
            <a:pPr>
              <a:lnSpc>
                <a:spcPct val="140000"/>
              </a:lnSpc>
            </a:pPr>
            <a:r>
              <a:rPr lang="en-US" sz="1088" b="1" dirty="0">
                <a:solidFill>
                  <a:srgbClr val="3D8B75"/>
                </a:solidFill>
                <a:latin typeface="Noto Sans SC" pitchFamily="34" charset="0"/>
                <a:ea typeface="Noto Sans SC" pitchFamily="34" charset="-122"/>
                <a:cs typeface="Noto Sans SC" pitchFamily="34" charset="-120"/>
              </a:rPr>
              <a:t>TurboQuant-vLLM 插件</a:t>
            </a:r>
            <a:r>
              <a:rPr lang="en-US" sz="1088" dirty="0">
                <a:solidFill>
                  <a:srgbClr val="E0E2E5">
                    <a:alpha val="80000"/>
                  </a:srgbClr>
                </a:solidFill>
                <a:latin typeface="Noto Sans SC" pitchFamily="34" charset="0"/>
                <a:ea typeface="Noto Sans SC" pitchFamily="34" charset="-122"/>
                <a:cs typeface="Noto Sans SC" pitchFamily="34" charset="-120"/>
              </a:rPr>
              <a:t>：在 SRAM 中完成解压缩与注意力计算一体化处理。</a:t>
            </a:r>
            <a:endParaRPr lang="en-US" sz="1600" dirty="0"/>
          </a:p>
        </p:txBody>
      </p:sp>
      <p:sp>
        <p:nvSpPr>
          <p:cNvPr id="41" name="Shape 39"/>
          <p:cNvSpPr/>
          <p:nvPr/>
        </p:nvSpPr>
        <p:spPr>
          <a:xfrm>
            <a:off x="8326887" y="4666980"/>
            <a:ext cx="3341575" cy="880725"/>
          </a:xfrm>
          <a:custGeom>
            <a:avLst/>
            <a:gdLst/>
            <a:ahLst/>
            <a:cxnLst/>
            <a:rect l="l" t="t" r="r" b="b"/>
            <a:pathLst>
              <a:path w="3341575" h="880725">
                <a:moveTo>
                  <a:pt x="34538" y="0"/>
                </a:moveTo>
                <a:lnTo>
                  <a:pt x="3272500" y="0"/>
                </a:lnTo>
                <a:cubicBezTo>
                  <a:pt x="3310649" y="0"/>
                  <a:pt x="3341575" y="30926"/>
                  <a:pt x="3341575" y="69075"/>
                </a:cubicBezTo>
                <a:lnTo>
                  <a:pt x="3341575" y="811650"/>
                </a:lnTo>
                <a:cubicBezTo>
                  <a:pt x="3341575" y="849799"/>
                  <a:pt x="3310649" y="880725"/>
                  <a:pt x="3272500" y="880725"/>
                </a:cubicBezTo>
                <a:lnTo>
                  <a:pt x="34538" y="880725"/>
                </a:lnTo>
                <a:cubicBezTo>
                  <a:pt x="15463" y="880725"/>
                  <a:pt x="0" y="865262"/>
                  <a:pt x="0" y="846187"/>
                </a:cubicBezTo>
                <a:lnTo>
                  <a:pt x="0" y="34538"/>
                </a:lnTo>
                <a:cubicBezTo>
                  <a:pt x="0" y="15476"/>
                  <a:pt x="15476" y="0"/>
                  <a:pt x="34538" y="0"/>
                </a:cubicBezTo>
                <a:close/>
              </a:path>
            </a:pathLst>
          </a:custGeom>
          <a:solidFill>
            <a:srgbClr val="C9A86A">
              <a:alpha val="20000"/>
            </a:srgbClr>
          </a:solidFill>
          <a:ln/>
        </p:spPr>
        <p:txBody>
          <a:bodyPr/>
          <a:lstStyle/>
          <a:p>
            <a:endParaRPr lang="zh-CN" altLang="en-US"/>
          </a:p>
        </p:txBody>
      </p:sp>
      <p:sp>
        <p:nvSpPr>
          <p:cNvPr id="42" name="Shape 40"/>
          <p:cNvSpPr/>
          <p:nvPr/>
        </p:nvSpPr>
        <p:spPr>
          <a:xfrm>
            <a:off x="8326887" y="4666980"/>
            <a:ext cx="34538" cy="880725"/>
          </a:xfrm>
          <a:custGeom>
            <a:avLst/>
            <a:gdLst/>
            <a:ahLst/>
            <a:cxnLst/>
            <a:rect l="l" t="t" r="r" b="b"/>
            <a:pathLst>
              <a:path w="34538" h="880725">
                <a:moveTo>
                  <a:pt x="34538" y="0"/>
                </a:moveTo>
                <a:lnTo>
                  <a:pt x="34538" y="0"/>
                </a:lnTo>
                <a:lnTo>
                  <a:pt x="34538" y="880725"/>
                </a:lnTo>
                <a:lnTo>
                  <a:pt x="34538" y="880725"/>
                </a:lnTo>
                <a:cubicBezTo>
                  <a:pt x="15463" y="880725"/>
                  <a:pt x="0" y="865262"/>
                  <a:pt x="0" y="846187"/>
                </a:cubicBezTo>
                <a:lnTo>
                  <a:pt x="0" y="34538"/>
                </a:lnTo>
                <a:cubicBezTo>
                  <a:pt x="0" y="15476"/>
                  <a:pt x="15476" y="0"/>
                  <a:pt x="34538" y="0"/>
                </a:cubicBezTo>
                <a:close/>
              </a:path>
            </a:pathLst>
          </a:custGeom>
          <a:solidFill>
            <a:srgbClr val="C9A86A"/>
          </a:solidFill>
          <a:ln/>
        </p:spPr>
        <p:txBody>
          <a:bodyPr/>
          <a:lstStyle/>
          <a:p>
            <a:endParaRPr lang="zh-CN" altLang="en-US"/>
          </a:p>
        </p:txBody>
      </p:sp>
      <p:sp>
        <p:nvSpPr>
          <p:cNvPr id="43" name="Text 41"/>
          <p:cNvSpPr/>
          <p:nvPr/>
        </p:nvSpPr>
        <p:spPr>
          <a:xfrm>
            <a:off x="8447771" y="4770595"/>
            <a:ext cx="3186153" cy="673496"/>
          </a:xfrm>
          <a:prstGeom prst="rect">
            <a:avLst/>
          </a:prstGeom>
          <a:noFill/>
          <a:ln/>
        </p:spPr>
        <p:txBody>
          <a:bodyPr wrap="square" lIns="0" tIns="0" rIns="0" bIns="0" rtlCol="0" anchor="ctr"/>
          <a:lstStyle/>
          <a:p>
            <a:pPr>
              <a:lnSpc>
                <a:spcPct val="140000"/>
              </a:lnSpc>
            </a:pPr>
            <a:r>
              <a:rPr lang="en-US" sz="1088" b="1" dirty="0">
                <a:solidFill>
                  <a:srgbClr val="C9A86A"/>
                </a:solidFill>
                <a:latin typeface="Noto Sans SC" pitchFamily="34" charset="0"/>
                <a:ea typeface="Noto Sans SC" pitchFamily="34" charset="-122"/>
                <a:cs typeface="Noto Sans SC" pitchFamily="34" charset="-120"/>
              </a:rPr>
              <a:t>复杂编码方法（如哈夫曼编码）</a:t>
            </a:r>
            <a:r>
              <a:rPr lang="en-US" sz="1088" dirty="0">
                <a:solidFill>
                  <a:srgbClr val="E0E2E5">
                    <a:alpha val="80000"/>
                  </a:srgbClr>
                </a:solidFill>
                <a:latin typeface="Noto Sans SC" pitchFamily="34" charset="0"/>
                <a:ea typeface="Noto Sans SC" pitchFamily="34" charset="-122"/>
                <a:cs typeface="Noto Sans SC" pitchFamily="34" charset="-120"/>
              </a:rPr>
              <a:t>：由于其 Encode/Decode 延迟与 Attention Kernel 存在本质的融合困难，短期内难以成为主流。</a:t>
            </a:r>
            <a:endParaRPr lang="en-US" sz="1600" dirty="0"/>
          </a:p>
        </p:txBody>
      </p:sp>
      <p:sp>
        <p:nvSpPr>
          <p:cNvPr id="44" name="Shape 42"/>
          <p:cNvSpPr/>
          <p:nvPr/>
        </p:nvSpPr>
        <p:spPr>
          <a:xfrm>
            <a:off x="362652" y="6009654"/>
            <a:ext cx="11483966" cy="500805"/>
          </a:xfrm>
          <a:custGeom>
            <a:avLst/>
            <a:gdLst/>
            <a:ahLst/>
            <a:cxnLst/>
            <a:rect l="l" t="t" r="r" b="b"/>
            <a:pathLst>
              <a:path w="11483966" h="500805">
                <a:moveTo>
                  <a:pt x="34538" y="0"/>
                </a:moveTo>
                <a:lnTo>
                  <a:pt x="11414890" y="0"/>
                </a:lnTo>
                <a:cubicBezTo>
                  <a:pt x="11453040" y="0"/>
                  <a:pt x="11483966" y="30926"/>
                  <a:pt x="11483966" y="69076"/>
                </a:cubicBezTo>
                <a:lnTo>
                  <a:pt x="11483966" y="431729"/>
                </a:lnTo>
                <a:cubicBezTo>
                  <a:pt x="11483966" y="469878"/>
                  <a:pt x="11453040" y="500805"/>
                  <a:pt x="11414890" y="500805"/>
                </a:cubicBezTo>
                <a:lnTo>
                  <a:pt x="34538" y="500805"/>
                </a:lnTo>
                <a:cubicBezTo>
                  <a:pt x="15463" y="500805"/>
                  <a:pt x="0" y="485341"/>
                  <a:pt x="0" y="466266"/>
                </a:cubicBezTo>
                <a:lnTo>
                  <a:pt x="0" y="34538"/>
                </a:lnTo>
                <a:cubicBezTo>
                  <a:pt x="0" y="15476"/>
                  <a:pt x="15476" y="0"/>
                  <a:pt x="34538" y="0"/>
                </a:cubicBezTo>
                <a:close/>
              </a:path>
            </a:pathLst>
          </a:custGeom>
          <a:solidFill>
            <a:srgbClr val="C9A86A">
              <a:alpha val="20000"/>
            </a:srgbClr>
          </a:solidFill>
          <a:ln/>
        </p:spPr>
        <p:txBody>
          <a:bodyPr/>
          <a:lstStyle/>
          <a:p>
            <a:endParaRPr lang="zh-CN" altLang="en-US"/>
          </a:p>
        </p:txBody>
      </p:sp>
      <p:sp>
        <p:nvSpPr>
          <p:cNvPr id="45" name="Shape 43"/>
          <p:cNvSpPr/>
          <p:nvPr/>
        </p:nvSpPr>
        <p:spPr>
          <a:xfrm>
            <a:off x="362652" y="6009654"/>
            <a:ext cx="34538" cy="500805"/>
          </a:xfrm>
          <a:custGeom>
            <a:avLst/>
            <a:gdLst/>
            <a:ahLst/>
            <a:cxnLst/>
            <a:rect l="l" t="t" r="r" b="b"/>
            <a:pathLst>
              <a:path w="34538" h="500805">
                <a:moveTo>
                  <a:pt x="34538" y="0"/>
                </a:moveTo>
                <a:lnTo>
                  <a:pt x="34538" y="0"/>
                </a:lnTo>
                <a:lnTo>
                  <a:pt x="34538" y="500805"/>
                </a:lnTo>
                <a:lnTo>
                  <a:pt x="34538" y="500805"/>
                </a:lnTo>
                <a:cubicBezTo>
                  <a:pt x="15463" y="500805"/>
                  <a:pt x="0" y="485341"/>
                  <a:pt x="0" y="466266"/>
                </a:cubicBezTo>
                <a:lnTo>
                  <a:pt x="0" y="34538"/>
                </a:lnTo>
                <a:cubicBezTo>
                  <a:pt x="0" y="15476"/>
                  <a:pt x="15476" y="0"/>
                  <a:pt x="34538" y="0"/>
                </a:cubicBezTo>
                <a:close/>
              </a:path>
            </a:pathLst>
          </a:custGeom>
          <a:solidFill>
            <a:srgbClr val="C9A86A"/>
          </a:solidFill>
          <a:ln/>
        </p:spPr>
        <p:txBody>
          <a:bodyPr/>
          <a:lstStyle/>
          <a:p>
            <a:endParaRPr lang="zh-CN" altLang="en-US"/>
          </a:p>
        </p:txBody>
      </p:sp>
      <p:sp>
        <p:nvSpPr>
          <p:cNvPr id="46" name="Shape 44"/>
          <p:cNvSpPr/>
          <p:nvPr/>
        </p:nvSpPr>
        <p:spPr>
          <a:xfrm>
            <a:off x="535343" y="6190980"/>
            <a:ext cx="138153" cy="138153"/>
          </a:xfrm>
          <a:custGeom>
            <a:avLst/>
            <a:gdLst/>
            <a:ahLst/>
            <a:cxnLst/>
            <a:rect l="l" t="t" r="r" b="b"/>
            <a:pathLst>
              <a:path w="138153" h="138153">
                <a:moveTo>
                  <a:pt x="69076" y="0"/>
                </a:moveTo>
                <a:cubicBezTo>
                  <a:pt x="73043" y="0"/>
                  <a:pt x="76686" y="2186"/>
                  <a:pt x="78575" y="5666"/>
                </a:cubicBezTo>
                <a:lnTo>
                  <a:pt x="136858" y="113598"/>
                </a:lnTo>
                <a:cubicBezTo>
                  <a:pt x="138666" y="116944"/>
                  <a:pt x="138585" y="120992"/>
                  <a:pt x="136642" y="124257"/>
                </a:cubicBezTo>
                <a:cubicBezTo>
                  <a:pt x="134699" y="127522"/>
                  <a:pt x="131164" y="129518"/>
                  <a:pt x="127360" y="129518"/>
                </a:cubicBezTo>
                <a:lnTo>
                  <a:pt x="10793" y="129518"/>
                </a:lnTo>
                <a:cubicBezTo>
                  <a:pt x="6989" y="129518"/>
                  <a:pt x="3481" y="127522"/>
                  <a:pt x="1511" y="124257"/>
                </a:cubicBezTo>
                <a:cubicBezTo>
                  <a:pt x="-459" y="120992"/>
                  <a:pt x="-513" y="116944"/>
                  <a:pt x="1295" y="113598"/>
                </a:cubicBezTo>
                <a:lnTo>
                  <a:pt x="59578" y="5666"/>
                </a:lnTo>
                <a:cubicBezTo>
                  <a:pt x="61467" y="2186"/>
                  <a:pt x="65110" y="0"/>
                  <a:pt x="69076" y="0"/>
                </a:cubicBezTo>
                <a:close/>
                <a:moveTo>
                  <a:pt x="69076" y="45331"/>
                </a:moveTo>
                <a:cubicBezTo>
                  <a:pt x="65488" y="45331"/>
                  <a:pt x="62601" y="48219"/>
                  <a:pt x="62601" y="51807"/>
                </a:cubicBezTo>
                <a:lnTo>
                  <a:pt x="62601" y="82028"/>
                </a:lnTo>
                <a:cubicBezTo>
                  <a:pt x="62601" y="85617"/>
                  <a:pt x="65488" y="88504"/>
                  <a:pt x="69076" y="88504"/>
                </a:cubicBezTo>
                <a:cubicBezTo>
                  <a:pt x="72665" y="88504"/>
                  <a:pt x="75552" y="85617"/>
                  <a:pt x="75552" y="82028"/>
                </a:cubicBezTo>
                <a:lnTo>
                  <a:pt x="75552" y="51807"/>
                </a:lnTo>
                <a:cubicBezTo>
                  <a:pt x="75552" y="48219"/>
                  <a:pt x="72665" y="45331"/>
                  <a:pt x="69076" y="45331"/>
                </a:cubicBezTo>
                <a:close/>
                <a:moveTo>
                  <a:pt x="76281" y="103615"/>
                </a:moveTo>
                <a:cubicBezTo>
                  <a:pt x="76445" y="100941"/>
                  <a:pt x="75111" y="98396"/>
                  <a:pt x="72819" y="97010"/>
                </a:cubicBezTo>
                <a:cubicBezTo>
                  <a:pt x="70526" y="95623"/>
                  <a:pt x="67654" y="95623"/>
                  <a:pt x="65361" y="97010"/>
                </a:cubicBezTo>
                <a:cubicBezTo>
                  <a:pt x="63069" y="98396"/>
                  <a:pt x="61735" y="100941"/>
                  <a:pt x="61899" y="103615"/>
                </a:cubicBezTo>
                <a:cubicBezTo>
                  <a:pt x="61735" y="106289"/>
                  <a:pt x="63069" y="108833"/>
                  <a:pt x="65361" y="110220"/>
                </a:cubicBezTo>
                <a:cubicBezTo>
                  <a:pt x="67654" y="111607"/>
                  <a:pt x="70526" y="111607"/>
                  <a:pt x="72819" y="110220"/>
                </a:cubicBezTo>
                <a:cubicBezTo>
                  <a:pt x="75111" y="108833"/>
                  <a:pt x="76445" y="106289"/>
                  <a:pt x="76281" y="103615"/>
                </a:cubicBezTo>
                <a:close/>
              </a:path>
            </a:pathLst>
          </a:custGeom>
          <a:solidFill>
            <a:srgbClr val="C9A86A"/>
          </a:solidFill>
          <a:ln/>
        </p:spPr>
        <p:txBody>
          <a:bodyPr/>
          <a:lstStyle/>
          <a:p>
            <a:endParaRPr lang="zh-CN" altLang="en-US"/>
          </a:p>
        </p:txBody>
      </p:sp>
      <p:sp>
        <p:nvSpPr>
          <p:cNvPr id="47" name="Text 45"/>
          <p:cNvSpPr/>
          <p:nvPr/>
        </p:nvSpPr>
        <p:spPr>
          <a:xfrm>
            <a:off x="737729" y="6147807"/>
            <a:ext cx="11039812" cy="224499"/>
          </a:xfrm>
          <a:prstGeom prst="rect">
            <a:avLst/>
          </a:prstGeom>
          <a:noFill/>
          <a:ln/>
        </p:spPr>
        <p:txBody>
          <a:bodyPr wrap="square" lIns="0" tIns="0" rIns="0" bIns="0" rtlCol="0" anchor="ctr"/>
          <a:lstStyle/>
          <a:p>
            <a:pPr>
              <a:lnSpc>
                <a:spcPct val="140000"/>
              </a:lnSpc>
            </a:pPr>
            <a:r>
              <a:rPr lang="en-US" sz="1088" b="1" dirty="0">
                <a:solidFill>
                  <a:srgbClr val="E0E2E5"/>
                </a:solidFill>
                <a:latin typeface="Noto Sans SC" pitchFamily="34" charset="0"/>
                <a:ea typeface="Noto Sans SC" pitchFamily="34" charset="-122"/>
                <a:cs typeface="Noto Sans SC" pitchFamily="34" charset="-120"/>
              </a:rPr>
              <a:t>核心门槛：</a:t>
            </a:r>
            <a:r>
              <a:rPr lang="en-US" sz="1088" dirty="0">
                <a:solidFill>
                  <a:srgbClr val="E0E2E5"/>
                </a:solidFill>
                <a:latin typeface="Noto Sans SC" pitchFamily="34" charset="0"/>
                <a:ea typeface="Noto Sans SC" pitchFamily="34" charset="-122"/>
                <a:cs typeface="Noto Sans SC" pitchFamily="34" charset="-120"/>
              </a:rPr>
              <a:t>这些约束是压缩算法从论文走向生产的核心门槛。在评估压缩方法的落地可行性时，必须综合考虑 Kernel 融合、分页对齐、编解码延迟等系统级因素。</a:t>
            </a:r>
            <a:endParaRPr lang="en-US" sz="160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400050" y="1644253"/>
            <a:ext cx="1790700" cy="419100"/>
          </a:xfrm>
          <a:custGeom>
            <a:avLst/>
            <a:gdLst/>
            <a:ahLst/>
            <a:cxnLst/>
            <a:rect l="l" t="t" r="r" b="b"/>
            <a:pathLst>
              <a:path w="1790700" h="419100">
                <a:moveTo>
                  <a:pt x="0" y="0"/>
                </a:moveTo>
                <a:lnTo>
                  <a:pt x="1790700" y="0"/>
                </a:lnTo>
                <a:lnTo>
                  <a:pt x="1790700" y="419100"/>
                </a:lnTo>
                <a:lnTo>
                  <a:pt x="0" y="419100"/>
                </a:lnTo>
                <a:lnTo>
                  <a:pt x="0" y="0"/>
                </a:lnTo>
                <a:close/>
              </a:path>
            </a:pathLst>
          </a:custGeom>
          <a:solidFill>
            <a:srgbClr val="C9A86A">
              <a:alpha val="20000"/>
            </a:srgbClr>
          </a:solidFill>
          <a:ln/>
        </p:spPr>
        <p:txBody>
          <a:bodyPr/>
          <a:lstStyle/>
          <a:p>
            <a:endParaRPr lang="zh-CN" altLang="en-US"/>
          </a:p>
        </p:txBody>
      </p:sp>
      <p:sp>
        <p:nvSpPr>
          <p:cNvPr id="5" name="Shape 2"/>
          <p:cNvSpPr/>
          <p:nvPr/>
        </p:nvSpPr>
        <p:spPr>
          <a:xfrm>
            <a:off x="400050" y="1644253"/>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C9A86A"/>
          </a:solidFill>
          <a:ln/>
        </p:spPr>
        <p:txBody>
          <a:bodyPr/>
          <a:lstStyle/>
          <a:p>
            <a:endParaRPr lang="zh-CN" altLang="en-US"/>
          </a:p>
        </p:txBody>
      </p:sp>
      <p:sp>
        <p:nvSpPr>
          <p:cNvPr id="6" name="Text 3"/>
          <p:cNvSpPr/>
          <p:nvPr/>
        </p:nvSpPr>
        <p:spPr>
          <a:xfrm>
            <a:off x="609600" y="1720453"/>
            <a:ext cx="1485900" cy="266700"/>
          </a:xfrm>
          <a:prstGeom prst="rect">
            <a:avLst/>
          </a:prstGeom>
          <a:noFill/>
          <a:ln/>
        </p:spPr>
        <p:txBody>
          <a:bodyPr wrap="square" lIns="0" tIns="0" rIns="0" bIns="0" rtlCol="0" anchor="ctr"/>
          <a:lstStyle/>
          <a:p>
            <a:pPr>
              <a:lnSpc>
                <a:spcPct val="120000"/>
              </a:lnSpc>
            </a:pPr>
            <a:r>
              <a:rPr lang="en-US" sz="1500" b="1" kern="0" spc="150" dirty="0">
                <a:solidFill>
                  <a:srgbClr val="C9A86A"/>
                </a:solidFill>
                <a:latin typeface="Noto Sans SC" pitchFamily="34" charset="0"/>
                <a:ea typeface="Noto Sans SC" pitchFamily="34" charset="-122"/>
                <a:cs typeface="Noto Sans SC" pitchFamily="34" charset="-120"/>
              </a:rPr>
              <a:t>CHAPTER 05</a:t>
            </a:r>
            <a:endParaRPr lang="en-US" sz="1600" dirty="0"/>
          </a:p>
        </p:txBody>
      </p:sp>
      <p:sp>
        <p:nvSpPr>
          <p:cNvPr id="7" name="Text 4"/>
          <p:cNvSpPr/>
          <p:nvPr/>
        </p:nvSpPr>
        <p:spPr>
          <a:xfrm>
            <a:off x="381000" y="2368153"/>
            <a:ext cx="11772900" cy="1714500"/>
          </a:xfrm>
          <a:prstGeom prst="rect">
            <a:avLst/>
          </a:prstGeom>
          <a:noFill/>
          <a:ln/>
        </p:spPr>
        <p:txBody>
          <a:bodyPr wrap="square" lIns="0" tIns="0" rIns="0" bIns="0" rtlCol="0" anchor="ctr"/>
          <a:lstStyle/>
          <a:p>
            <a:pPr>
              <a:lnSpc>
                <a:spcPct val="100000"/>
              </a:lnSpc>
            </a:pPr>
            <a:r>
              <a:rPr lang="en-US" sz="5400" b="1" dirty="0">
                <a:solidFill>
                  <a:srgbClr val="E0E2E5"/>
                </a:solidFill>
                <a:latin typeface="Noto Sans SC" pitchFamily="34" charset="0"/>
                <a:ea typeface="Noto Sans SC" pitchFamily="34" charset="-122"/>
                <a:cs typeface="Noto Sans SC" pitchFamily="34" charset="-120"/>
              </a:rPr>
              <a:t>2026</a:t>
            </a:r>
            <a:endParaRPr lang="en-US" sz="1600" dirty="0"/>
          </a:p>
          <a:p>
            <a:pPr>
              <a:lnSpc>
                <a:spcPct val="100000"/>
              </a:lnSpc>
            </a:pPr>
            <a:r>
              <a:rPr lang="en-US" sz="5400" b="1" dirty="0">
                <a:solidFill>
                  <a:srgbClr val="E0E2E5"/>
                </a:solidFill>
                <a:latin typeface="Noto Sans SC" pitchFamily="34" charset="0"/>
                <a:ea typeface="Noto Sans SC" pitchFamily="34" charset="-122"/>
                <a:cs typeface="Noto Sans SC" pitchFamily="34" charset="-120"/>
              </a:rPr>
              <a:t>技术趋势预测</a:t>
            </a:r>
            <a:endParaRPr lang="en-US" sz="1600" dirty="0"/>
          </a:p>
        </p:txBody>
      </p:sp>
      <p:sp>
        <p:nvSpPr>
          <p:cNvPr id="8" name="Shape 5"/>
          <p:cNvSpPr/>
          <p:nvPr/>
        </p:nvSpPr>
        <p:spPr>
          <a:xfrm>
            <a:off x="381000" y="4387453"/>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9A86A"/>
          </a:solidFill>
          <a:ln/>
        </p:spPr>
        <p:txBody>
          <a:bodyPr/>
          <a:lstStyle/>
          <a:p>
            <a:endParaRPr lang="zh-CN" altLang="en-US"/>
          </a:p>
        </p:txBody>
      </p:sp>
      <p:sp>
        <p:nvSpPr>
          <p:cNvPr id="9" name="Text 6"/>
          <p:cNvSpPr/>
          <p:nvPr/>
        </p:nvSpPr>
        <p:spPr>
          <a:xfrm>
            <a:off x="381000" y="4749403"/>
            <a:ext cx="8677275" cy="466725"/>
          </a:xfrm>
          <a:prstGeom prst="rect">
            <a:avLst/>
          </a:prstGeom>
          <a:noFill/>
          <a:ln/>
        </p:spPr>
        <p:txBody>
          <a:bodyPr wrap="square" lIns="0" tIns="0" rIns="0" bIns="0" rtlCol="0" anchor="ctr"/>
          <a:lstStyle/>
          <a:p>
            <a:pPr>
              <a:lnSpc>
                <a:spcPct val="140000"/>
              </a:lnSpc>
            </a:pPr>
            <a:r>
              <a:rPr lang="en-US" sz="2250" dirty="0">
                <a:solidFill>
                  <a:srgbClr val="E0E2E5">
                    <a:alpha val="80000"/>
                  </a:srgbClr>
                </a:solidFill>
                <a:latin typeface="Noto Sans SC" pitchFamily="34" charset="0"/>
                <a:ea typeface="Noto Sans SC" pitchFamily="34" charset="-122"/>
                <a:cs typeface="Noto Sans SC" pitchFamily="34" charset="-120"/>
              </a:rPr>
              <a:t>基于技术梳理与业界最新动态，预判七大核心演进趋势</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2026 TRENDS (1/2)</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趋势一至三：量化、混合、低秩</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371600"/>
            <a:ext cx="3686175" cy="4400550"/>
          </a:xfrm>
          <a:custGeom>
            <a:avLst/>
            <a:gdLst/>
            <a:ahLst/>
            <a:cxnLst/>
            <a:rect l="l" t="t" r="r" b="b"/>
            <a:pathLst>
              <a:path w="3686175" h="4400550">
                <a:moveTo>
                  <a:pt x="38100" y="0"/>
                </a:moveTo>
                <a:lnTo>
                  <a:pt x="3609982" y="0"/>
                </a:lnTo>
                <a:cubicBezTo>
                  <a:pt x="3652062" y="0"/>
                  <a:pt x="3686175" y="34113"/>
                  <a:pt x="3686175" y="76193"/>
                </a:cubicBezTo>
                <a:lnTo>
                  <a:pt x="3686175" y="4324357"/>
                </a:lnTo>
                <a:cubicBezTo>
                  <a:pt x="3686175" y="4366437"/>
                  <a:pt x="3652062" y="4400550"/>
                  <a:pt x="3609982" y="4400550"/>
                </a:cubicBezTo>
                <a:lnTo>
                  <a:pt x="38100" y="4400550"/>
                </a:lnTo>
                <a:cubicBezTo>
                  <a:pt x="17072" y="4400550"/>
                  <a:pt x="0" y="4383478"/>
                  <a:pt x="0" y="436245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371600"/>
            <a:ext cx="38100" cy="4400550"/>
          </a:xfrm>
          <a:custGeom>
            <a:avLst/>
            <a:gdLst/>
            <a:ahLst/>
            <a:cxnLst/>
            <a:rect l="l" t="t" r="r" b="b"/>
            <a:pathLst>
              <a:path w="38100" h="4400550">
                <a:moveTo>
                  <a:pt x="38100" y="0"/>
                </a:moveTo>
                <a:lnTo>
                  <a:pt x="38100" y="0"/>
                </a:lnTo>
                <a:lnTo>
                  <a:pt x="38100" y="4400550"/>
                </a:lnTo>
                <a:lnTo>
                  <a:pt x="38100" y="4400550"/>
                </a:lnTo>
                <a:cubicBezTo>
                  <a:pt x="17072" y="4400550"/>
                  <a:pt x="0" y="4383478"/>
                  <a:pt x="0" y="436245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Shape 5"/>
          <p:cNvSpPr/>
          <p:nvPr/>
        </p:nvSpPr>
        <p:spPr>
          <a:xfrm>
            <a:off x="609600" y="1562100"/>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3D8B75"/>
          </a:solidFill>
          <a:ln/>
        </p:spPr>
        <p:txBody>
          <a:bodyPr/>
          <a:lstStyle/>
          <a:p>
            <a:endParaRPr lang="zh-CN" altLang="en-US"/>
          </a:p>
        </p:txBody>
      </p:sp>
      <p:sp>
        <p:nvSpPr>
          <p:cNvPr id="8" name="Text 6"/>
          <p:cNvSpPr/>
          <p:nvPr/>
        </p:nvSpPr>
        <p:spPr>
          <a:xfrm>
            <a:off x="760809" y="1676400"/>
            <a:ext cx="342900"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Noto Sans SC" pitchFamily="34" charset="0"/>
                <a:ea typeface="Noto Sans SC" pitchFamily="34" charset="-122"/>
                <a:cs typeface="Noto Sans SC" pitchFamily="34" charset="-120"/>
              </a:rPr>
              <a:t>01</a:t>
            </a:r>
            <a:endParaRPr lang="en-US" sz="1600" dirty="0"/>
          </a:p>
        </p:txBody>
      </p:sp>
      <p:sp>
        <p:nvSpPr>
          <p:cNvPr id="9" name="Text 7"/>
          <p:cNvSpPr/>
          <p:nvPr/>
        </p:nvSpPr>
        <p:spPr>
          <a:xfrm>
            <a:off x="1257300" y="1695450"/>
            <a:ext cx="19526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量化进入"3-bit 时代"</a:t>
            </a:r>
            <a:endParaRPr lang="en-US" sz="1600" dirty="0"/>
          </a:p>
        </p:txBody>
      </p:sp>
      <p:sp>
        <p:nvSpPr>
          <p:cNvPr id="10" name="Shape 8"/>
          <p:cNvSpPr/>
          <p:nvPr/>
        </p:nvSpPr>
        <p:spPr>
          <a:xfrm>
            <a:off x="609600" y="2333625"/>
            <a:ext cx="3286125" cy="781050"/>
          </a:xfrm>
          <a:custGeom>
            <a:avLst/>
            <a:gdLst/>
            <a:ahLst/>
            <a:cxnLst/>
            <a:rect l="l" t="t" r="r" b="b"/>
            <a:pathLst>
              <a:path w="3286125" h="781050">
                <a:moveTo>
                  <a:pt x="76199" y="0"/>
                </a:moveTo>
                <a:lnTo>
                  <a:pt x="3209926" y="0"/>
                </a:lnTo>
                <a:cubicBezTo>
                  <a:pt x="3252009" y="0"/>
                  <a:pt x="3286125" y="34116"/>
                  <a:pt x="3286125" y="76199"/>
                </a:cubicBezTo>
                <a:lnTo>
                  <a:pt x="3286125" y="704851"/>
                </a:lnTo>
                <a:cubicBezTo>
                  <a:pt x="3286125" y="746934"/>
                  <a:pt x="3252009" y="781050"/>
                  <a:pt x="3209926" y="781050"/>
                </a:cubicBezTo>
                <a:lnTo>
                  <a:pt x="76199" y="781050"/>
                </a:lnTo>
                <a:cubicBezTo>
                  <a:pt x="34116" y="781050"/>
                  <a:pt x="0" y="746934"/>
                  <a:pt x="0" y="704851"/>
                </a:cubicBezTo>
                <a:lnTo>
                  <a:pt x="0" y="76199"/>
                </a:lnTo>
                <a:cubicBezTo>
                  <a:pt x="0" y="34144"/>
                  <a:pt x="34144" y="0"/>
                  <a:pt x="76199" y="0"/>
                </a:cubicBezTo>
                <a:close/>
              </a:path>
            </a:pathLst>
          </a:custGeom>
          <a:solidFill>
            <a:srgbClr val="1A1D21">
              <a:alpha val="50196"/>
            </a:srgbClr>
          </a:solidFill>
          <a:ln/>
        </p:spPr>
        <p:txBody>
          <a:bodyPr/>
          <a:lstStyle/>
          <a:p>
            <a:endParaRPr lang="zh-CN" altLang="en-US"/>
          </a:p>
        </p:txBody>
      </p:sp>
      <p:sp>
        <p:nvSpPr>
          <p:cNvPr id="11" name="Text 9"/>
          <p:cNvSpPr/>
          <p:nvPr/>
        </p:nvSpPr>
        <p:spPr>
          <a:xfrm>
            <a:off x="723900" y="2447925"/>
            <a:ext cx="3133725" cy="228600"/>
          </a:xfrm>
          <a:prstGeom prst="rect">
            <a:avLst/>
          </a:prstGeom>
          <a:noFill/>
          <a:ln/>
        </p:spPr>
        <p:txBody>
          <a:bodyPr wrap="square" lIns="0" tIns="0" rIns="0" bIns="0" rtlCol="0" anchor="ctr"/>
          <a:lstStyle/>
          <a:p>
            <a:pPr>
              <a:lnSpc>
                <a:spcPct val="130000"/>
              </a:lnSpc>
            </a:pPr>
            <a:r>
              <a:rPr lang="en-US" sz="1200" b="1" dirty="0">
                <a:solidFill>
                  <a:srgbClr val="3D8B75"/>
                </a:solidFill>
                <a:latin typeface="Noto Sans SC" pitchFamily="34" charset="0"/>
                <a:ea typeface="Noto Sans SC" pitchFamily="34" charset="-122"/>
                <a:cs typeface="Noto Sans SC" pitchFamily="34" charset="-120"/>
              </a:rPr>
              <a:t>技术突破</a:t>
            </a:r>
            <a:endParaRPr lang="en-US" sz="1600" dirty="0"/>
          </a:p>
        </p:txBody>
      </p:sp>
      <p:sp>
        <p:nvSpPr>
          <p:cNvPr id="12" name="Text 10"/>
          <p:cNvSpPr/>
          <p:nvPr/>
        </p:nvSpPr>
        <p:spPr>
          <a:xfrm>
            <a:off x="723900" y="2752725"/>
            <a:ext cx="3133725" cy="247650"/>
          </a:xfrm>
          <a:prstGeom prst="rect">
            <a:avLst/>
          </a:prstGeom>
          <a:noFill/>
          <a:ln/>
        </p:spPr>
        <p:txBody>
          <a:bodyPr wrap="square" lIns="0" tIns="0" rIns="0" bIns="0" rtlCol="0" anchor="ctr"/>
          <a:lstStyle/>
          <a:p>
            <a:pPr>
              <a:lnSpc>
                <a:spcPct val="140000"/>
              </a:lnSpc>
            </a:pPr>
            <a:r>
              <a:rPr lang="en-US" sz="1200" b="1" dirty="0">
                <a:solidFill>
                  <a:srgbClr val="3D8B75"/>
                </a:solidFill>
                <a:latin typeface="Noto Sans SC" pitchFamily="34" charset="0"/>
                <a:ea typeface="Noto Sans SC" pitchFamily="34" charset="-122"/>
                <a:cs typeface="Noto Sans SC" pitchFamily="34" charset="-120"/>
              </a:rPr>
              <a:t>TurboQuant</a:t>
            </a:r>
            <a:r>
              <a:rPr lang="en-US" sz="1200" dirty="0">
                <a:solidFill>
                  <a:srgbClr val="E0E2E5">
                    <a:alpha val="80000"/>
                  </a:srgbClr>
                </a:solidFill>
                <a:latin typeface="Noto Sans SC" pitchFamily="34" charset="0"/>
                <a:ea typeface="Noto Sans SC" pitchFamily="34" charset="-122"/>
                <a:cs typeface="Noto Sans SC" pitchFamily="34" charset="-120"/>
              </a:rPr>
              <a:t> 已证明 3-bit 无损量化的可行性</a:t>
            </a:r>
            <a:endParaRPr lang="en-US" sz="1600" dirty="0"/>
          </a:p>
        </p:txBody>
      </p:sp>
      <p:sp>
        <p:nvSpPr>
          <p:cNvPr id="13" name="Shape 11"/>
          <p:cNvSpPr/>
          <p:nvPr/>
        </p:nvSpPr>
        <p:spPr>
          <a:xfrm>
            <a:off x="609600" y="3400425"/>
            <a:ext cx="3286125" cy="781050"/>
          </a:xfrm>
          <a:custGeom>
            <a:avLst/>
            <a:gdLst/>
            <a:ahLst/>
            <a:cxnLst/>
            <a:rect l="l" t="t" r="r" b="b"/>
            <a:pathLst>
              <a:path w="3286125" h="781050">
                <a:moveTo>
                  <a:pt x="76199" y="0"/>
                </a:moveTo>
                <a:lnTo>
                  <a:pt x="3209926" y="0"/>
                </a:lnTo>
                <a:cubicBezTo>
                  <a:pt x="3252009" y="0"/>
                  <a:pt x="3286125" y="34116"/>
                  <a:pt x="3286125" y="76199"/>
                </a:cubicBezTo>
                <a:lnTo>
                  <a:pt x="3286125" y="704851"/>
                </a:lnTo>
                <a:cubicBezTo>
                  <a:pt x="3286125" y="746934"/>
                  <a:pt x="3252009" y="781050"/>
                  <a:pt x="3209926" y="781050"/>
                </a:cubicBezTo>
                <a:lnTo>
                  <a:pt x="76199" y="781050"/>
                </a:lnTo>
                <a:cubicBezTo>
                  <a:pt x="34116" y="781050"/>
                  <a:pt x="0" y="746934"/>
                  <a:pt x="0" y="704851"/>
                </a:cubicBezTo>
                <a:lnTo>
                  <a:pt x="0" y="76199"/>
                </a:lnTo>
                <a:cubicBezTo>
                  <a:pt x="0" y="34144"/>
                  <a:pt x="34144" y="0"/>
                  <a:pt x="76199" y="0"/>
                </a:cubicBezTo>
                <a:close/>
              </a:path>
            </a:pathLst>
          </a:custGeom>
          <a:solidFill>
            <a:srgbClr val="1A1D21">
              <a:alpha val="50196"/>
            </a:srgbClr>
          </a:solidFill>
          <a:ln/>
        </p:spPr>
        <p:txBody>
          <a:bodyPr/>
          <a:lstStyle/>
          <a:p>
            <a:endParaRPr lang="zh-CN" altLang="en-US"/>
          </a:p>
        </p:txBody>
      </p:sp>
      <p:sp>
        <p:nvSpPr>
          <p:cNvPr id="14" name="Text 12"/>
          <p:cNvSpPr/>
          <p:nvPr/>
        </p:nvSpPr>
        <p:spPr>
          <a:xfrm>
            <a:off x="723900" y="3514725"/>
            <a:ext cx="3133725" cy="228600"/>
          </a:xfrm>
          <a:prstGeom prst="rect">
            <a:avLst/>
          </a:prstGeom>
          <a:noFill/>
          <a:ln/>
        </p:spPr>
        <p:txBody>
          <a:bodyPr wrap="square" lIns="0" tIns="0" rIns="0" bIns="0" rtlCol="0" anchor="ctr"/>
          <a:lstStyle/>
          <a:p>
            <a:pPr>
              <a:lnSpc>
                <a:spcPct val="130000"/>
              </a:lnSpc>
            </a:pPr>
            <a:r>
              <a:rPr lang="en-US" sz="1200" b="1" dirty="0">
                <a:solidFill>
                  <a:srgbClr val="3D8B75"/>
                </a:solidFill>
                <a:latin typeface="Noto Sans SC" pitchFamily="34" charset="0"/>
                <a:ea typeface="Noto Sans SC" pitchFamily="34" charset="-122"/>
                <a:cs typeface="Noto Sans SC" pitchFamily="34" charset="-120"/>
              </a:rPr>
              <a:t>演进方向</a:t>
            </a:r>
            <a:endParaRPr lang="en-US" sz="1600" dirty="0"/>
          </a:p>
        </p:txBody>
      </p:sp>
      <p:sp>
        <p:nvSpPr>
          <p:cNvPr id="15" name="Shape 13"/>
          <p:cNvSpPr/>
          <p:nvPr/>
        </p:nvSpPr>
        <p:spPr>
          <a:xfrm>
            <a:off x="723900" y="3833812"/>
            <a:ext cx="2865611" cy="214313"/>
          </a:xfrm>
          <a:custGeom>
            <a:avLst/>
            <a:gdLst/>
            <a:ahLst/>
            <a:cxnLst/>
            <a:rect l="l" t="t" r="r" b="b"/>
            <a:pathLst>
              <a:path w="2865611" h="214313">
                <a:moveTo>
                  <a:pt x="0" y="0"/>
                </a:moveTo>
                <a:lnTo>
                  <a:pt x="2865611" y="0"/>
                </a:lnTo>
                <a:lnTo>
                  <a:pt x="2865611" y="214313"/>
                </a:lnTo>
                <a:lnTo>
                  <a:pt x="0" y="214313"/>
                </a:lnTo>
                <a:lnTo>
                  <a:pt x="0" y="0"/>
                </a:lnTo>
                <a:close/>
              </a:path>
            </a:pathLst>
          </a:custGeom>
          <a:solidFill>
            <a:srgbClr val="3D8B75">
              <a:alpha val="20000"/>
            </a:srgbClr>
          </a:solidFill>
          <a:ln/>
        </p:spPr>
        <p:txBody>
          <a:bodyPr/>
          <a:lstStyle/>
          <a:p>
            <a:endParaRPr lang="zh-CN" altLang="en-US"/>
          </a:p>
        </p:txBody>
      </p:sp>
      <p:sp>
        <p:nvSpPr>
          <p:cNvPr id="16" name="Text 14"/>
          <p:cNvSpPr/>
          <p:nvPr/>
        </p:nvSpPr>
        <p:spPr>
          <a:xfrm>
            <a:off x="723900" y="3833812"/>
            <a:ext cx="2941811" cy="214313"/>
          </a:xfrm>
          <a:prstGeom prst="rect">
            <a:avLst/>
          </a:prstGeom>
          <a:noFill/>
          <a:ln/>
        </p:spPr>
        <p:txBody>
          <a:bodyPr wrap="square" lIns="0" tIns="0" rIns="0" bIns="0" rtlCol="0" anchor="ctr"/>
          <a:lstStyle/>
          <a:p>
            <a:pPr>
              <a:lnSpc>
                <a:spcPct val="140000"/>
              </a:lnSpc>
            </a:pPr>
            <a:r>
              <a:rPr lang="en-US" sz="1200" dirty="0">
                <a:solidFill>
                  <a:srgbClr val="3D8B75"/>
                </a:solidFill>
                <a:latin typeface="Noto Sans SC" pitchFamily="34" charset="0"/>
                <a:ea typeface="Noto Sans SC" pitchFamily="34" charset="-122"/>
                <a:cs typeface="Noto Sans SC" pitchFamily="34" charset="-120"/>
              </a:rPr>
              <a:t>4-bit → 3-bit 的迁移将加速成为标准配置</a:t>
            </a:r>
            <a:endParaRPr lang="en-US" sz="1600" dirty="0"/>
          </a:p>
        </p:txBody>
      </p:sp>
      <p:sp>
        <p:nvSpPr>
          <p:cNvPr id="17" name="Shape 15"/>
          <p:cNvSpPr/>
          <p:nvPr/>
        </p:nvSpPr>
        <p:spPr>
          <a:xfrm>
            <a:off x="628650" y="4467225"/>
            <a:ext cx="3267075" cy="1028700"/>
          </a:xfrm>
          <a:custGeom>
            <a:avLst/>
            <a:gdLst/>
            <a:ahLst/>
            <a:cxnLst/>
            <a:rect l="l" t="t" r="r" b="b"/>
            <a:pathLst>
              <a:path w="3267075" h="1028700">
                <a:moveTo>
                  <a:pt x="38100" y="0"/>
                </a:moveTo>
                <a:lnTo>
                  <a:pt x="3190879" y="0"/>
                </a:lnTo>
                <a:cubicBezTo>
                  <a:pt x="3232961" y="0"/>
                  <a:pt x="3267075" y="34114"/>
                  <a:pt x="3267075" y="76196"/>
                </a:cubicBezTo>
                <a:lnTo>
                  <a:pt x="3267075" y="952504"/>
                </a:lnTo>
                <a:cubicBezTo>
                  <a:pt x="3267075" y="994586"/>
                  <a:pt x="3232961" y="1028700"/>
                  <a:pt x="3190879" y="1028700"/>
                </a:cubicBezTo>
                <a:lnTo>
                  <a:pt x="38100" y="1028700"/>
                </a:lnTo>
                <a:cubicBezTo>
                  <a:pt x="17072" y="1028700"/>
                  <a:pt x="0" y="1011628"/>
                  <a:pt x="0" y="990600"/>
                </a:cubicBezTo>
                <a:lnTo>
                  <a:pt x="0" y="38100"/>
                </a:lnTo>
                <a:cubicBezTo>
                  <a:pt x="0" y="17072"/>
                  <a:pt x="17072" y="0"/>
                  <a:pt x="38100" y="0"/>
                </a:cubicBezTo>
                <a:close/>
              </a:path>
            </a:pathLst>
          </a:custGeom>
          <a:solidFill>
            <a:srgbClr val="C9A86A">
              <a:alpha val="20000"/>
            </a:srgbClr>
          </a:solidFill>
          <a:ln/>
        </p:spPr>
        <p:txBody>
          <a:bodyPr/>
          <a:lstStyle/>
          <a:p>
            <a:endParaRPr lang="zh-CN" altLang="en-US"/>
          </a:p>
        </p:txBody>
      </p:sp>
      <p:sp>
        <p:nvSpPr>
          <p:cNvPr id="18" name="Shape 16"/>
          <p:cNvSpPr/>
          <p:nvPr/>
        </p:nvSpPr>
        <p:spPr>
          <a:xfrm>
            <a:off x="628650" y="4467225"/>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19" name="Text 17"/>
          <p:cNvSpPr/>
          <p:nvPr/>
        </p:nvSpPr>
        <p:spPr>
          <a:xfrm>
            <a:off x="762000" y="4581525"/>
            <a:ext cx="30956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审慎观点</a:t>
            </a:r>
            <a:endParaRPr lang="en-US" sz="1600" dirty="0"/>
          </a:p>
        </p:txBody>
      </p:sp>
      <p:sp>
        <p:nvSpPr>
          <p:cNvPr id="20" name="Text 18"/>
          <p:cNvSpPr/>
          <p:nvPr/>
        </p:nvSpPr>
        <p:spPr>
          <a:xfrm>
            <a:off x="762000" y="4886325"/>
            <a:ext cx="3095625"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"零损失"声明存在场景依赖性，3-bit 是否已逼近极限仍是开放问题</a:t>
            </a:r>
            <a:endParaRPr lang="en-US" sz="1600" dirty="0"/>
          </a:p>
        </p:txBody>
      </p:sp>
      <p:sp>
        <p:nvSpPr>
          <p:cNvPr id="21" name="Shape 19"/>
          <p:cNvSpPr/>
          <p:nvPr/>
        </p:nvSpPr>
        <p:spPr>
          <a:xfrm>
            <a:off x="4260800" y="1371600"/>
            <a:ext cx="3686175" cy="4400550"/>
          </a:xfrm>
          <a:custGeom>
            <a:avLst/>
            <a:gdLst/>
            <a:ahLst/>
            <a:cxnLst/>
            <a:rect l="l" t="t" r="r" b="b"/>
            <a:pathLst>
              <a:path w="3686175" h="4400550">
                <a:moveTo>
                  <a:pt x="38100" y="0"/>
                </a:moveTo>
                <a:lnTo>
                  <a:pt x="3609982" y="0"/>
                </a:lnTo>
                <a:cubicBezTo>
                  <a:pt x="3652062" y="0"/>
                  <a:pt x="3686175" y="34113"/>
                  <a:pt x="3686175" y="76193"/>
                </a:cubicBezTo>
                <a:lnTo>
                  <a:pt x="3686175" y="4324357"/>
                </a:lnTo>
                <a:cubicBezTo>
                  <a:pt x="3686175" y="4366437"/>
                  <a:pt x="3652062" y="4400550"/>
                  <a:pt x="3609982" y="4400550"/>
                </a:cubicBezTo>
                <a:lnTo>
                  <a:pt x="38100" y="4400550"/>
                </a:lnTo>
                <a:cubicBezTo>
                  <a:pt x="17072" y="4400550"/>
                  <a:pt x="0" y="4383478"/>
                  <a:pt x="0" y="436245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22" name="Shape 20"/>
          <p:cNvSpPr/>
          <p:nvPr/>
        </p:nvSpPr>
        <p:spPr>
          <a:xfrm>
            <a:off x="4260800" y="1371600"/>
            <a:ext cx="38100" cy="4400550"/>
          </a:xfrm>
          <a:custGeom>
            <a:avLst/>
            <a:gdLst/>
            <a:ahLst/>
            <a:cxnLst/>
            <a:rect l="l" t="t" r="r" b="b"/>
            <a:pathLst>
              <a:path w="38100" h="4400550">
                <a:moveTo>
                  <a:pt x="38100" y="0"/>
                </a:moveTo>
                <a:lnTo>
                  <a:pt x="38100" y="0"/>
                </a:lnTo>
                <a:lnTo>
                  <a:pt x="38100" y="4400550"/>
                </a:lnTo>
                <a:lnTo>
                  <a:pt x="38100" y="4400550"/>
                </a:lnTo>
                <a:cubicBezTo>
                  <a:pt x="17072" y="4400550"/>
                  <a:pt x="0" y="4383478"/>
                  <a:pt x="0" y="436245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23" name="Shape 21"/>
          <p:cNvSpPr/>
          <p:nvPr/>
        </p:nvSpPr>
        <p:spPr>
          <a:xfrm>
            <a:off x="4470350" y="1562100"/>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C9A86A"/>
          </a:solidFill>
          <a:ln/>
        </p:spPr>
        <p:txBody>
          <a:bodyPr/>
          <a:lstStyle/>
          <a:p>
            <a:endParaRPr lang="zh-CN" altLang="en-US"/>
          </a:p>
        </p:txBody>
      </p:sp>
      <p:sp>
        <p:nvSpPr>
          <p:cNvPr id="24" name="Text 22"/>
          <p:cNvSpPr/>
          <p:nvPr/>
        </p:nvSpPr>
        <p:spPr>
          <a:xfrm>
            <a:off x="4599831" y="1676400"/>
            <a:ext cx="39052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Noto Sans SC" pitchFamily="34" charset="0"/>
                <a:ea typeface="Noto Sans SC" pitchFamily="34" charset="-122"/>
                <a:cs typeface="Noto Sans SC" pitchFamily="34" charset="-120"/>
              </a:rPr>
              <a:t>02</a:t>
            </a:r>
            <a:endParaRPr lang="en-US" sz="1600" dirty="0"/>
          </a:p>
        </p:txBody>
      </p:sp>
      <p:sp>
        <p:nvSpPr>
          <p:cNvPr id="25" name="Text 23"/>
          <p:cNvSpPr/>
          <p:nvPr/>
        </p:nvSpPr>
        <p:spPr>
          <a:xfrm>
            <a:off x="5118050" y="1695450"/>
            <a:ext cx="16192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混合压缩成为首选</a:t>
            </a:r>
            <a:endParaRPr lang="en-US" sz="1600" dirty="0"/>
          </a:p>
        </p:txBody>
      </p:sp>
      <p:sp>
        <p:nvSpPr>
          <p:cNvPr id="26" name="Shape 24"/>
          <p:cNvSpPr/>
          <p:nvPr/>
        </p:nvSpPr>
        <p:spPr>
          <a:xfrm>
            <a:off x="4470350" y="2251025"/>
            <a:ext cx="3286125" cy="1028700"/>
          </a:xfrm>
          <a:custGeom>
            <a:avLst/>
            <a:gdLst/>
            <a:ahLst/>
            <a:cxnLst/>
            <a:rect l="l" t="t" r="r" b="b"/>
            <a:pathLst>
              <a:path w="3286125" h="1028700">
                <a:moveTo>
                  <a:pt x="76196" y="0"/>
                </a:moveTo>
                <a:lnTo>
                  <a:pt x="3209929" y="0"/>
                </a:lnTo>
                <a:cubicBezTo>
                  <a:pt x="3252011" y="0"/>
                  <a:pt x="3286125" y="34114"/>
                  <a:pt x="3286125" y="76196"/>
                </a:cubicBezTo>
                <a:lnTo>
                  <a:pt x="3286125" y="952504"/>
                </a:lnTo>
                <a:cubicBezTo>
                  <a:pt x="3286125" y="994586"/>
                  <a:pt x="3252011" y="1028700"/>
                  <a:pt x="3209929" y="1028700"/>
                </a:cubicBezTo>
                <a:lnTo>
                  <a:pt x="76196" y="1028700"/>
                </a:lnTo>
                <a:cubicBezTo>
                  <a:pt x="34114" y="1028700"/>
                  <a:pt x="0" y="994586"/>
                  <a:pt x="0" y="952504"/>
                </a:cubicBezTo>
                <a:lnTo>
                  <a:pt x="0" y="76196"/>
                </a:lnTo>
                <a:cubicBezTo>
                  <a:pt x="0" y="34142"/>
                  <a:pt x="34142" y="0"/>
                  <a:pt x="76196" y="0"/>
                </a:cubicBezTo>
                <a:close/>
              </a:path>
            </a:pathLst>
          </a:custGeom>
          <a:solidFill>
            <a:srgbClr val="1A1D21">
              <a:alpha val="50196"/>
            </a:srgbClr>
          </a:solidFill>
          <a:ln/>
        </p:spPr>
        <p:txBody>
          <a:bodyPr/>
          <a:lstStyle/>
          <a:p>
            <a:endParaRPr lang="zh-CN" altLang="en-US"/>
          </a:p>
        </p:txBody>
      </p:sp>
      <p:sp>
        <p:nvSpPr>
          <p:cNvPr id="27" name="Text 25"/>
          <p:cNvSpPr/>
          <p:nvPr/>
        </p:nvSpPr>
        <p:spPr>
          <a:xfrm>
            <a:off x="4584650" y="2365325"/>
            <a:ext cx="3133725" cy="228600"/>
          </a:xfrm>
          <a:prstGeom prst="rect">
            <a:avLst/>
          </a:prstGeom>
          <a:noFill/>
          <a:ln/>
        </p:spPr>
        <p:txBody>
          <a:bodyPr wrap="square" lIns="0" tIns="0" rIns="0" bIns="0" rtlCol="0" anchor="ctr"/>
          <a:lstStyle/>
          <a:p>
            <a:pPr>
              <a:lnSpc>
                <a:spcPct val="130000"/>
              </a:lnSpc>
            </a:pPr>
            <a:r>
              <a:rPr lang="en-US" sz="1200" b="1" dirty="0">
                <a:solidFill>
                  <a:srgbClr val="C9A86A"/>
                </a:solidFill>
                <a:latin typeface="Noto Sans SC" pitchFamily="34" charset="0"/>
                <a:ea typeface="Noto Sans SC" pitchFamily="34" charset="-122"/>
                <a:cs typeface="Noto Sans SC" pitchFamily="34" charset="-120"/>
              </a:rPr>
              <a:t>标准范式</a:t>
            </a:r>
            <a:endParaRPr lang="en-US" sz="1600" dirty="0"/>
          </a:p>
        </p:txBody>
      </p:sp>
      <p:sp>
        <p:nvSpPr>
          <p:cNvPr id="28" name="Text 26"/>
          <p:cNvSpPr/>
          <p:nvPr/>
        </p:nvSpPr>
        <p:spPr>
          <a:xfrm>
            <a:off x="4584650" y="2670125"/>
            <a:ext cx="3133725" cy="495300"/>
          </a:xfrm>
          <a:prstGeom prst="rect">
            <a:avLst/>
          </a:prstGeom>
          <a:noFill/>
          <a:ln/>
        </p:spPr>
        <p:txBody>
          <a:bodyPr wrap="square" lIns="0" tIns="0" rIns="0" bIns="0" rtlCol="0" anchor="ctr"/>
          <a:lstStyle/>
          <a:p>
            <a:pPr>
              <a:lnSpc>
                <a:spcPct val="140000"/>
              </a:lnSpc>
            </a:pPr>
            <a:r>
              <a:rPr lang="en-US" sz="1200" b="1" dirty="0">
                <a:solidFill>
                  <a:srgbClr val="C9A86A"/>
                </a:solidFill>
                <a:latin typeface="Noto Sans SC" pitchFamily="34" charset="0"/>
                <a:ea typeface="Noto Sans SC" pitchFamily="34" charset="-122"/>
                <a:cs typeface="Noto Sans SC" pitchFamily="34" charset="-120"/>
              </a:rPr>
              <a:t>Pruning + Quantization + Offloading</a:t>
            </a:r>
            <a:r>
              <a:rPr lang="en-US" sz="1200" dirty="0">
                <a:solidFill>
                  <a:srgbClr val="E0E2E5">
                    <a:alpha val="80000"/>
                  </a:srgbClr>
                </a:solidFill>
                <a:latin typeface="Noto Sans SC" pitchFamily="34" charset="0"/>
                <a:ea typeface="Noto Sans SC" pitchFamily="34" charset="-122"/>
                <a:cs typeface="Noto Sans SC" pitchFamily="34" charset="-120"/>
              </a:rPr>
              <a:t> 三位一体方案</a:t>
            </a:r>
            <a:endParaRPr lang="en-US" sz="1600" dirty="0"/>
          </a:p>
        </p:txBody>
      </p:sp>
      <p:sp>
        <p:nvSpPr>
          <p:cNvPr id="29" name="Shape 27"/>
          <p:cNvSpPr/>
          <p:nvPr/>
        </p:nvSpPr>
        <p:spPr>
          <a:xfrm>
            <a:off x="4470350" y="3400351"/>
            <a:ext cx="3286125" cy="1028700"/>
          </a:xfrm>
          <a:custGeom>
            <a:avLst/>
            <a:gdLst/>
            <a:ahLst/>
            <a:cxnLst/>
            <a:rect l="l" t="t" r="r" b="b"/>
            <a:pathLst>
              <a:path w="3286125" h="1028700">
                <a:moveTo>
                  <a:pt x="76196" y="0"/>
                </a:moveTo>
                <a:lnTo>
                  <a:pt x="3209929" y="0"/>
                </a:lnTo>
                <a:cubicBezTo>
                  <a:pt x="3252011" y="0"/>
                  <a:pt x="3286125" y="34114"/>
                  <a:pt x="3286125" y="76196"/>
                </a:cubicBezTo>
                <a:lnTo>
                  <a:pt x="3286125" y="952504"/>
                </a:lnTo>
                <a:cubicBezTo>
                  <a:pt x="3286125" y="994586"/>
                  <a:pt x="3252011" y="1028700"/>
                  <a:pt x="3209929" y="1028700"/>
                </a:cubicBezTo>
                <a:lnTo>
                  <a:pt x="76196" y="1028700"/>
                </a:lnTo>
                <a:cubicBezTo>
                  <a:pt x="34114" y="1028700"/>
                  <a:pt x="0" y="994586"/>
                  <a:pt x="0" y="952504"/>
                </a:cubicBezTo>
                <a:lnTo>
                  <a:pt x="0" y="76196"/>
                </a:lnTo>
                <a:cubicBezTo>
                  <a:pt x="0" y="34142"/>
                  <a:pt x="34142" y="0"/>
                  <a:pt x="76196" y="0"/>
                </a:cubicBezTo>
                <a:close/>
              </a:path>
            </a:pathLst>
          </a:custGeom>
          <a:solidFill>
            <a:srgbClr val="1A1D21">
              <a:alpha val="50196"/>
            </a:srgbClr>
          </a:solidFill>
          <a:ln/>
        </p:spPr>
        <p:txBody>
          <a:bodyPr/>
          <a:lstStyle/>
          <a:p>
            <a:endParaRPr lang="zh-CN" altLang="en-US"/>
          </a:p>
        </p:txBody>
      </p:sp>
      <p:sp>
        <p:nvSpPr>
          <p:cNvPr id="30" name="Text 28"/>
          <p:cNvSpPr/>
          <p:nvPr/>
        </p:nvSpPr>
        <p:spPr>
          <a:xfrm>
            <a:off x="4584650" y="3514651"/>
            <a:ext cx="3133725" cy="228600"/>
          </a:xfrm>
          <a:prstGeom prst="rect">
            <a:avLst/>
          </a:prstGeom>
          <a:noFill/>
          <a:ln/>
        </p:spPr>
        <p:txBody>
          <a:bodyPr wrap="square" lIns="0" tIns="0" rIns="0" bIns="0" rtlCol="0" anchor="ctr"/>
          <a:lstStyle/>
          <a:p>
            <a:pPr>
              <a:lnSpc>
                <a:spcPct val="130000"/>
              </a:lnSpc>
            </a:pPr>
            <a:r>
              <a:rPr lang="en-US" sz="1200" b="1" dirty="0">
                <a:solidFill>
                  <a:srgbClr val="C9A86A"/>
                </a:solidFill>
                <a:latin typeface="Noto Sans SC" pitchFamily="34" charset="0"/>
                <a:ea typeface="Noto Sans SC" pitchFamily="34" charset="-122"/>
                <a:cs typeface="Noto Sans SC" pitchFamily="34" charset="-120"/>
              </a:rPr>
              <a:t>潜力展示</a:t>
            </a:r>
            <a:endParaRPr lang="en-US" sz="1600" dirty="0"/>
          </a:p>
        </p:txBody>
      </p:sp>
      <p:sp>
        <p:nvSpPr>
          <p:cNvPr id="31" name="Text 29"/>
          <p:cNvSpPr/>
          <p:nvPr/>
        </p:nvSpPr>
        <p:spPr>
          <a:xfrm>
            <a:off x="4584650" y="3819451"/>
            <a:ext cx="3133725"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LeanKV、Compactor 等框架展示 </a:t>
            </a:r>
            <a:r>
              <a:rPr lang="en-US" sz="1200" dirty="0">
                <a:solidFill>
                  <a:srgbClr val="C9A86A"/>
                </a:solidFill>
                <a:highlight>
                  <a:srgbClr val="C9A86A">
                    <a:alpha val="20000"/>
                  </a:srgbClr>
                </a:highlight>
                <a:latin typeface="Noto Sans SC" pitchFamily="34" charset="0"/>
                <a:ea typeface="Noto Sans SC" pitchFamily="34" charset="-122"/>
                <a:cs typeface="Noto Sans SC" pitchFamily="34" charset="-120"/>
              </a:rPr>
              <a:t>2.7× 到接近 10× 的综合压缩比潜力</a:t>
            </a:r>
            <a:endParaRPr lang="en-US" sz="1600" dirty="0"/>
          </a:p>
        </p:txBody>
      </p:sp>
      <p:sp>
        <p:nvSpPr>
          <p:cNvPr id="32" name="Shape 30"/>
          <p:cNvSpPr/>
          <p:nvPr/>
        </p:nvSpPr>
        <p:spPr>
          <a:xfrm>
            <a:off x="4489400" y="4549750"/>
            <a:ext cx="3267075" cy="1028700"/>
          </a:xfrm>
          <a:custGeom>
            <a:avLst/>
            <a:gdLst/>
            <a:ahLst/>
            <a:cxnLst/>
            <a:rect l="l" t="t" r="r" b="b"/>
            <a:pathLst>
              <a:path w="3267075" h="1028700">
                <a:moveTo>
                  <a:pt x="38100" y="0"/>
                </a:moveTo>
                <a:lnTo>
                  <a:pt x="3190879" y="0"/>
                </a:lnTo>
                <a:cubicBezTo>
                  <a:pt x="3232961" y="0"/>
                  <a:pt x="3267075" y="34114"/>
                  <a:pt x="3267075" y="76196"/>
                </a:cubicBezTo>
                <a:lnTo>
                  <a:pt x="3267075" y="952504"/>
                </a:lnTo>
                <a:cubicBezTo>
                  <a:pt x="3267075" y="994586"/>
                  <a:pt x="3232961" y="1028700"/>
                  <a:pt x="3190879" y="1028700"/>
                </a:cubicBezTo>
                <a:lnTo>
                  <a:pt x="38100" y="1028700"/>
                </a:lnTo>
                <a:cubicBezTo>
                  <a:pt x="17072" y="1028700"/>
                  <a:pt x="0" y="1011628"/>
                  <a:pt x="0" y="990600"/>
                </a:cubicBezTo>
                <a:lnTo>
                  <a:pt x="0" y="38100"/>
                </a:lnTo>
                <a:cubicBezTo>
                  <a:pt x="0" y="17072"/>
                  <a:pt x="17072" y="0"/>
                  <a:pt x="38100" y="0"/>
                </a:cubicBezTo>
                <a:close/>
              </a:path>
            </a:pathLst>
          </a:custGeom>
          <a:solidFill>
            <a:srgbClr val="5F6B7A">
              <a:alpha val="20000"/>
            </a:srgbClr>
          </a:solidFill>
          <a:ln/>
        </p:spPr>
        <p:txBody>
          <a:bodyPr/>
          <a:lstStyle/>
          <a:p>
            <a:endParaRPr lang="zh-CN" altLang="en-US"/>
          </a:p>
        </p:txBody>
      </p:sp>
      <p:sp>
        <p:nvSpPr>
          <p:cNvPr id="33" name="Shape 31"/>
          <p:cNvSpPr/>
          <p:nvPr/>
        </p:nvSpPr>
        <p:spPr>
          <a:xfrm>
            <a:off x="4489400" y="4549750"/>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34" name="Text 32"/>
          <p:cNvSpPr/>
          <p:nvPr/>
        </p:nvSpPr>
        <p:spPr>
          <a:xfrm>
            <a:off x="4622750" y="4664050"/>
            <a:ext cx="30956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基础设施需求</a:t>
            </a:r>
            <a:endParaRPr lang="en-US" sz="1600" dirty="0"/>
          </a:p>
        </p:txBody>
      </p:sp>
      <p:sp>
        <p:nvSpPr>
          <p:cNvPr id="35" name="Text 33"/>
          <p:cNvSpPr/>
          <p:nvPr/>
        </p:nvSpPr>
        <p:spPr>
          <a:xfrm>
            <a:off x="4622750" y="4968850"/>
            <a:ext cx="3095625" cy="4953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推理引擎需要提供更加模块化、可插拔的 Cache Manager</a:t>
            </a:r>
            <a:endParaRPr lang="en-US" sz="1600" dirty="0"/>
          </a:p>
        </p:txBody>
      </p:sp>
      <p:sp>
        <p:nvSpPr>
          <p:cNvPr id="36" name="Shape 34"/>
          <p:cNvSpPr/>
          <p:nvPr/>
        </p:nvSpPr>
        <p:spPr>
          <a:xfrm>
            <a:off x="8121625" y="1371600"/>
            <a:ext cx="3686175" cy="4400550"/>
          </a:xfrm>
          <a:custGeom>
            <a:avLst/>
            <a:gdLst/>
            <a:ahLst/>
            <a:cxnLst/>
            <a:rect l="l" t="t" r="r" b="b"/>
            <a:pathLst>
              <a:path w="3686175" h="4400550">
                <a:moveTo>
                  <a:pt x="38100" y="0"/>
                </a:moveTo>
                <a:lnTo>
                  <a:pt x="3609982" y="0"/>
                </a:lnTo>
                <a:cubicBezTo>
                  <a:pt x="3652062" y="0"/>
                  <a:pt x="3686175" y="34113"/>
                  <a:pt x="3686175" y="76193"/>
                </a:cubicBezTo>
                <a:lnTo>
                  <a:pt x="3686175" y="4324357"/>
                </a:lnTo>
                <a:cubicBezTo>
                  <a:pt x="3686175" y="4366437"/>
                  <a:pt x="3652062" y="4400550"/>
                  <a:pt x="3609982" y="4400550"/>
                </a:cubicBezTo>
                <a:lnTo>
                  <a:pt x="38100" y="4400550"/>
                </a:lnTo>
                <a:cubicBezTo>
                  <a:pt x="17072" y="4400550"/>
                  <a:pt x="0" y="4383478"/>
                  <a:pt x="0" y="436245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37" name="Shape 35"/>
          <p:cNvSpPr/>
          <p:nvPr/>
        </p:nvSpPr>
        <p:spPr>
          <a:xfrm>
            <a:off x="8121625" y="1371600"/>
            <a:ext cx="38100" cy="4400550"/>
          </a:xfrm>
          <a:custGeom>
            <a:avLst/>
            <a:gdLst/>
            <a:ahLst/>
            <a:cxnLst/>
            <a:rect l="l" t="t" r="r" b="b"/>
            <a:pathLst>
              <a:path w="38100" h="4400550">
                <a:moveTo>
                  <a:pt x="38100" y="0"/>
                </a:moveTo>
                <a:lnTo>
                  <a:pt x="38100" y="0"/>
                </a:lnTo>
                <a:lnTo>
                  <a:pt x="38100" y="4400550"/>
                </a:lnTo>
                <a:lnTo>
                  <a:pt x="38100" y="4400550"/>
                </a:lnTo>
                <a:cubicBezTo>
                  <a:pt x="17072" y="4400550"/>
                  <a:pt x="0" y="4383478"/>
                  <a:pt x="0" y="436245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38" name="Shape 36"/>
          <p:cNvSpPr/>
          <p:nvPr/>
        </p:nvSpPr>
        <p:spPr>
          <a:xfrm>
            <a:off x="8331175" y="1562100"/>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5F6B7A"/>
          </a:solidFill>
          <a:ln/>
        </p:spPr>
        <p:txBody>
          <a:bodyPr/>
          <a:lstStyle/>
          <a:p>
            <a:endParaRPr lang="zh-CN" altLang="en-US"/>
          </a:p>
        </p:txBody>
      </p:sp>
      <p:sp>
        <p:nvSpPr>
          <p:cNvPr id="39" name="Text 37"/>
          <p:cNvSpPr/>
          <p:nvPr/>
        </p:nvSpPr>
        <p:spPr>
          <a:xfrm>
            <a:off x="8460656" y="1676400"/>
            <a:ext cx="390525"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Noto Sans SC" pitchFamily="34" charset="0"/>
                <a:ea typeface="Noto Sans SC" pitchFamily="34" charset="-122"/>
                <a:cs typeface="Noto Sans SC" pitchFamily="34" charset="-120"/>
              </a:rPr>
              <a:t>03</a:t>
            </a:r>
            <a:endParaRPr lang="en-US" sz="1600" dirty="0"/>
          </a:p>
        </p:txBody>
      </p:sp>
      <p:sp>
        <p:nvSpPr>
          <p:cNvPr id="40" name="Text 38"/>
          <p:cNvSpPr/>
          <p:nvPr/>
        </p:nvSpPr>
        <p:spPr>
          <a:xfrm>
            <a:off x="8978875" y="1695450"/>
            <a:ext cx="16192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低秩方法走向工程</a:t>
            </a:r>
            <a:endParaRPr lang="en-US" sz="1600" dirty="0"/>
          </a:p>
        </p:txBody>
      </p:sp>
      <p:sp>
        <p:nvSpPr>
          <p:cNvPr id="41" name="Shape 39"/>
          <p:cNvSpPr/>
          <p:nvPr/>
        </p:nvSpPr>
        <p:spPr>
          <a:xfrm>
            <a:off x="8331175" y="2251025"/>
            <a:ext cx="3286125" cy="1028700"/>
          </a:xfrm>
          <a:custGeom>
            <a:avLst/>
            <a:gdLst/>
            <a:ahLst/>
            <a:cxnLst/>
            <a:rect l="l" t="t" r="r" b="b"/>
            <a:pathLst>
              <a:path w="3286125" h="1028700">
                <a:moveTo>
                  <a:pt x="76196" y="0"/>
                </a:moveTo>
                <a:lnTo>
                  <a:pt x="3209929" y="0"/>
                </a:lnTo>
                <a:cubicBezTo>
                  <a:pt x="3252011" y="0"/>
                  <a:pt x="3286125" y="34114"/>
                  <a:pt x="3286125" y="76196"/>
                </a:cubicBezTo>
                <a:lnTo>
                  <a:pt x="3286125" y="952504"/>
                </a:lnTo>
                <a:cubicBezTo>
                  <a:pt x="3286125" y="994586"/>
                  <a:pt x="3252011" y="1028700"/>
                  <a:pt x="3209929" y="1028700"/>
                </a:cubicBezTo>
                <a:lnTo>
                  <a:pt x="76196" y="1028700"/>
                </a:lnTo>
                <a:cubicBezTo>
                  <a:pt x="34114" y="1028700"/>
                  <a:pt x="0" y="994586"/>
                  <a:pt x="0" y="952504"/>
                </a:cubicBezTo>
                <a:lnTo>
                  <a:pt x="0" y="76196"/>
                </a:lnTo>
                <a:cubicBezTo>
                  <a:pt x="0" y="34142"/>
                  <a:pt x="34142" y="0"/>
                  <a:pt x="76196" y="0"/>
                </a:cubicBezTo>
                <a:close/>
              </a:path>
            </a:pathLst>
          </a:custGeom>
          <a:solidFill>
            <a:srgbClr val="1A1D21">
              <a:alpha val="50196"/>
            </a:srgbClr>
          </a:solidFill>
          <a:ln/>
        </p:spPr>
        <p:txBody>
          <a:bodyPr/>
          <a:lstStyle/>
          <a:p>
            <a:endParaRPr lang="zh-CN" altLang="en-US"/>
          </a:p>
        </p:txBody>
      </p:sp>
      <p:sp>
        <p:nvSpPr>
          <p:cNvPr id="42" name="Text 40"/>
          <p:cNvSpPr/>
          <p:nvPr/>
        </p:nvSpPr>
        <p:spPr>
          <a:xfrm>
            <a:off x="8445475" y="2365325"/>
            <a:ext cx="3133725" cy="228600"/>
          </a:xfrm>
          <a:prstGeom prst="rect">
            <a:avLst/>
          </a:prstGeom>
          <a:noFill/>
          <a:ln/>
        </p:spPr>
        <p:txBody>
          <a:bodyPr wrap="square" lIns="0" tIns="0" rIns="0" bIns="0" rtlCol="0" anchor="ctr"/>
          <a:lstStyle/>
          <a:p>
            <a:pPr>
              <a:lnSpc>
                <a:spcPct val="130000"/>
              </a:lnSpc>
            </a:pPr>
            <a:r>
              <a:rPr lang="en-US" sz="1200" b="1" dirty="0">
                <a:solidFill>
                  <a:srgbClr val="5F6B7A"/>
                </a:solidFill>
                <a:latin typeface="Noto Sans SC" pitchFamily="34" charset="0"/>
                <a:ea typeface="Noto Sans SC" pitchFamily="34" charset="-122"/>
                <a:cs typeface="Noto Sans SC" pitchFamily="34" charset="-120"/>
              </a:rPr>
              <a:t>理论基础</a:t>
            </a:r>
            <a:endParaRPr lang="en-US" sz="1600" dirty="0"/>
          </a:p>
        </p:txBody>
      </p:sp>
      <p:sp>
        <p:nvSpPr>
          <p:cNvPr id="43" name="Text 41"/>
          <p:cNvSpPr/>
          <p:nvPr/>
        </p:nvSpPr>
        <p:spPr>
          <a:xfrm>
            <a:off x="8445475" y="2670125"/>
            <a:ext cx="3133725" cy="495300"/>
          </a:xfrm>
          <a:prstGeom prst="rect">
            <a:avLst/>
          </a:prstGeom>
          <a:noFill/>
          <a:ln/>
        </p:spPr>
        <p:txBody>
          <a:bodyPr wrap="square" lIns="0" tIns="0" rIns="0" bIns="0" rtlCol="0" anchor="ctr"/>
          <a:lstStyle/>
          <a:p>
            <a:pPr>
              <a:lnSpc>
                <a:spcPct val="140000"/>
              </a:lnSpc>
            </a:pPr>
            <a:r>
              <a:rPr lang="en-US" sz="1200" b="1" dirty="0">
                <a:solidFill>
                  <a:srgbClr val="5F6B7A"/>
                </a:solidFill>
                <a:latin typeface="Noto Sans SC" pitchFamily="34" charset="0"/>
                <a:ea typeface="Noto Sans SC" pitchFamily="34" charset="-122"/>
                <a:cs typeface="Noto Sans SC" pitchFamily="34" charset="-120"/>
              </a:rPr>
              <a:t>KQ-SVD</a:t>
            </a:r>
            <a:r>
              <a:rPr lang="en-US" sz="1200" dirty="0">
                <a:solidFill>
                  <a:srgbClr val="E0E2E5">
                    <a:alpha val="80000"/>
                  </a:srgbClr>
                </a:solidFill>
                <a:latin typeface="Noto Sans SC" pitchFamily="34" charset="0"/>
                <a:ea typeface="Noto Sans SC" pitchFamily="34" charset="-122"/>
                <a:cs typeface="Noto Sans SC" pitchFamily="34" charset="-120"/>
              </a:rPr>
              <a:t> 的可证明保真度保证，</a:t>
            </a:r>
            <a:r>
              <a:rPr lang="en-US" sz="1200" b="1" dirty="0">
                <a:solidFill>
                  <a:srgbClr val="5F6B7A"/>
                </a:solidFill>
                <a:latin typeface="Noto Sans SC" pitchFamily="34" charset="0"/>
                <a:ea typeface="Noto Sans SC" pitchFamily="34" charset="-122"/>
                <a:cs typeface="Noto Sans SC" pitchFamily="34" charset="-120"/>
              </a:rPr>
              <a:t>ReCalKV</a:t>
            </a:r>
            <a:r>
              <a:rPr lang="en-US" sz="1200" dirty="0">
                <a:solidFill>
                  <a:srgbClr val="E0E2E5">
                    <a:alpha val="80000"/>
                  </a:srgbClr>
                </a:solidFill>
                <a:latin typeface="Noto Sans SC" pitchFamily="34" charset="0"/>
                <a:ea typeface="Noto Sans SC" pitchFamily="34" charset="-122"/>
                <a:cs typeface="Noto Sans SC" pitchFamily="34" charset="-120"/>
              </a:rPr>
              <a:t> 的差异化策略</a:t>
            </a:r>
            <a:endParaRPr lang="en-US" sz="1600" dirty="0"/>
          </a:p>
        </p:txBody>
      </p:sp>
      <p:sp>
        <p:nvSpPr>
          <p:cNvPr id="44" name="Shape 42"/>
          <p:cNvSpPr/>
          <p:nvPr/>
        </p:nvSpPr>
        <p:spPr>
          <a:xfrm>
            <a:off x="8331175" y="3400351"/>
            <a:ext cx="3286125" cy="1028700"/>
          </a:xfrm>
          <a:custGeom>
            <a:avLst/>
            <a:gdLst/>
            <a:ahLst/>
            <a:cxnLst/>
            <a:rect l="l" t="t" r="r" b="b"/>
            <a:pathLst>
              <a:path w="3286125" h="1028700">
                <a:moveTo>
                  <a:pt x="76196" y="0"/>
                </a:moveTo>
                <a:lnTo>
                  <a:pt x="3209929" y="0"/>
                </a:lnTo>
                <a:cubicBezTo>
                  <a:pt x="3252011" y="0"/>
                  <a:pt x="3286125" y="34114"/>
                  <a:pt x="3286125" y="76196"/>
                </a:cubicBezTo>
                <a:lnTo>
                  <a:pt x="3286125" y="952504"/>
                </a:lnTo>
                <a:cubicBezTo>
                  <a:pt x="3286125" y="994586"/>
                  <a:pt x="3252011" y="1028700"/>
                  <a:pt x="3209929" y="1028700"/>
                </a:cubicBezTo>
                <a:lnTo>
                  <a:pt x="76196" y="1028700"/>
                </a:lnTo>
                <a:cubicBezTo>
                  <a:pt x="34114" y="1028700"/>
                  <a:pt x="0" y="994586"/>
                  <a:pt x="0" y="952504"/>
                </a:cubicBezTo>
                <a:lnTo>
                  <a:pt x="0" y="76196"/>
                </a:lnTo>
                <a:cubicBezTo>
                  <a:pt x="0" y="34142"/>
                  <a:pt x="34142" y="0"/>
                  <a:pt x="76196" y="0"/>
                </a:cubicBezTo>
                <a:close/>
              </a:path>
            </a:pathLst>
          </a:custGeom>
          <a:solidFill>
            <a:srgbClr val="1A1D21">
              <a:alpha val="50196"/>
            </a:srgbClr>
          </a:solidFill>
          <a:ln/>
        </p:spPr>
        <p:txBody>
          <a:bodyPr/>
          <a:lstStyle/>
          <a:p>
            <a:endParaRPr lang="zh-CN" altLang="en-US"/>
          </a:p>
        </p:txBody>
      </p:sp>
      <p:sp>
        <p:nvSpPr>
          <p:cNvPr id="45" name="Text 43"/>
          <p:cNvSpPr/>
          <p:nvPr/>
        </p:nvSpPr>
        <p:spPr>
          <a:xfrm>
            <a:off x="8445475" y="3514651"/>
            <a:ext cx="3133725" cy="228600"/>
          </a:xfrm>
          <a:prstGeom prst="rect">
            <a:avLst/>
          </a:prstGeom>
          <a:noFill/>
          <a:ln/>
        </p:spPr>
        <p:txBody>
          <a:bodyPr wrap="square" lIns="0" tIns="0" rIns="0" bIns="0" rtlCol="0" anchor="ctr"/>
          <a:lstStyle/>
          <a:p>
            <a:pPr>
              <a:lnSpc>
                <a:spcPct val="130000"/>
              </a:lnSpc>
            </a:pPr>
            <a:r>
              <a:rPr lang="en-US" sz="1200" b="1" dirty="0">
                <a:solidFill>
                  <a:srgbClr val="5F6B7A"/>
                </a:solidFill>
                <a:latin typeface="Noto Sans SC" pitchFamily="34" charset="0"/>
                <a:ea typeface="Noto Sans SC" pitchFamily="34" charset="-122"/>
                <a:cs typeface="Noto Sans SC" pitchFamily="34" charset="-120"/>
              </a:rPr>
              <a:t>扩展潜力</a:t>
            </a:r>
            <a:endParaRPr lang="en-US" sz="1600" dirty="0"/>
          </a:p>
        </p:txBody>
      </p:sp>
      <p:sp>
        <p:nvSpPr>
          <p:cNvPr id="46" name="Text 44"/>
          <p:cNvSpPr/>
          <p:nvPr/>
        </p:nvSpPr>
        <p:spPr>
          <a:xfrm>
            <a:off x="8445475" y="3819451"/>
            <a:ext cx="3133725" cy="495300"/>
          </a:xfrm>
          <a:prstGeom prst="rect">
            <a:avLst/>
          </a:prstGeom>
          <a:noFill/>
          <a:ln/>
        </p:spPr>
        <p:txBody>
          <a:bodyPr wrap="square" lIns="0" tIns="0" rIns="0" bIns="0" rtlCol="0" anchor="ctr"/>
          <a:lstStyle/>
          <a:p>
            <a:pPr>
              <a:lnSpc>
                <a:spcPct val="140000"/>
              </a:lnSpc>
            </a:pPr>
            <a:r>
              <a:rPr lang="en-US" sz="1200" b="1" dirty="0">
                <a:solidFill>
                  <a:srgbClr val="5F6B7A"/>
                </a:solidFill>
                <a:latin typeface="Noto Sans SC" pitchFamily="34" charset="0"/>
                <a:ea typeface="Noto Sans SC" pitchFamily="34" charset="-122"/>
                <a:cs typeface="Noto Sans SC" pitchFamily="34" charset="-120"/>
              </a:rPr>
              <a:t>xKV</a:t>
            </a:r>
            <a:r>
              <a:rPr lang="en-US" sz="1200" dirty="0">
                <a:solidFill>
                  <a:srgbClr val="E0E2E5">
                    <a:alpha val="80000"/>
                  </a:srgbClr>
                </a:solidFill>
                <a:latin typeface="Noto Sans SC" pitchFamily="34" charset="0"/>
                <a:ea typeface="Noto Sans SC" pitchFamily="34" charset="-122"/>
                <a:cs typeface="Noto Sans SC" pitchFamily="34" charset="-120"/>
              </a:rPr>
              <a:t> 的跨层 SVD 共享展示低秩方法在结构维度的扩展潜力</a:t>
            </a:r>
            <a:endParaRPr lang="en-US" sz="1600" dirty="0"/>
          </a:p>
        </p:txBody>
      </p:sp>
      <p:sp>
        <p:nvSpPr>
          <p:cNvPr id="47" name="Shape 45"/>
          <p:cNvSpPr/>
          <p:nvPr/>
        </p:nvSpPr>
        <p:spPr>
          <a:xfrm>
            <a:off x="8350225" y="4549750"/>
            <a:ext cx="3267075" cy="1028700"/>
          </a:xfrm>
          <a:custGeom>
            <a:avLst/>
            <a:gdLst/>
            <a:ahLst/>
            <a:cxnLst/>
            <a:rect l="l" t="t" r="r" b="b"/>
            <a:pathLst>
              <a:path w="3267075" h="1028700">
                <a:moveTo>
                  <a:pt x="38100" y="0"/>
                </a:moveTo>
                <a:lnTo>
                  <a:pt x="3190879" y="0"/>
                </a:lnTo>
                <a:cubicBezTo>
                  <a:pt x="3232961" y="0"/>
                  <a:pt x="3267075" y="34114"/>
                  <a:pt x="3267075" y="76196"/>
                </a:cubicBezTo>
                <a:lnTo>
                  <a:pt x="3267075" y="952504"/>
                </a:lnTo>
                <a:cubicBezTo>
                  <a:pt x="3267075" y="994586"/>
                  <a:pt x="3232961" y="1028700"/>
                  <a:pt x="3190879" y="1028700"/>
                </a:cubicBezTo>
                <a:lnTo>
                  <a:pt x="38100" y="1028700"/>
                </a:lnTo>
                <a:cubicBezTo>
                  <a:pt x="17072" y="1028700"/>
                  <a:pt x="0" y="1011628"/>
                  <a:pt x="0" y="99060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48" name="Shape 46"/>
          <p:cNvSpPr/>
          <p:nvPr/>
        </p:nvSpPr>
        <p:spPr>
          <a:xfrm>
            <a:off x="8350225" y="4549750"/>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49" name="Text 47"/>
          <p:cNvSpPr/>
          <p:nvPr/>
        </p:nvSpPr>
        <p:spPr>
          <a:xfrm>
            <a:off x="8483575" y="4664050"/>
            <a:ext cx="309562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Noto Sans SC" pitchFamily="34" charset="0"/>
                <a:ea typeface="Noto Sans SC" pitchFamily="34" charset="-122"/>
                <a:cs typeface="Noto Sans SC" pitchFamily="34" charset="-120"/>
              </a:rPr>
              <a:t>工程突破方向</a:t>
            </a:r>
            <a:endParaRPr lang="en-US" sz="1600" dirty="0"/>
          </a:p>
        </p:txBody>
      </p:sp>
      <p:sp>
        <p:nvSpPr>
          <p:cNvPr id="50" name="Text 48"/>
          <p:cNvSpPr/>
          <p:nvPr/>
        </p:nvSpPr>
        <p:spPr>
          <a:xfrm>
            <a:off x="8483575" y="4968850"/>
            <a:ext cx="3095625" cy="495300"/>
          </a:xfrm>
          <a:prstGeom prst="rect">
            <a:avLst/>
          </a:prstGeom>
          <a:noFill/>
          <a:ln/>
        </p:spPr>
        <p:txBody>
          <a:bodyPr wrap="square" lIns="0" tIns="0" rIns="0" bIns="0" rtlCol="0" anchor="ctr"/>
          <a:lstStyle/>
          <a:p>
            <a:pPr>
              <a:lnSpc>
                <a:spcPct val="140000"/>
              </a:lnSpc>
            </a:pPr>
            <a:r>
              <a:rPr lang="en-US" sz="1200" dirty="0">
                <a:solidFill>
                  <a:srgbClr val="3D8B75"/>
                </a:solidFill>
                <a:highlight>
                  <a:srgbClr val="3D8B75">
                    <a:alpha val="20000"/>
                  </a:srgbClr>
                </a:highlight>
                <a:latin typeface="Noto Sans SC" pitchFamily="34" charset="0"/>
                <a:ea typeface="Noto Sans SC" pitchFamily="34" charset="-122"/>
                <a:cs typeface="Noto Sans SC" pitchFamily="34" charset="-120"/>
              </a:rPr>
              <a:t>"离线特征预处理配合在线轻量级更新" </a:t>
            </a:r>
            <a:r>
              <a:rPr lang="en-US" sz="1200" dirty="0">
                <a:solidFill>
                  <a:srgbClr val="E0E2E5">
                    <a:alpha val="80000"/>
                  </a:srgbClr>
                </a:solidFill>
                <a:latin typeface="Noto Sans SC" pitchFamily="34" charset="0"/>
                <a:ea typeface="Noto Sans SC" pitchFamily="34" charset="-122"/>
                <a:cs typeface="Noto Sans SC" pitchFamily="34" charset="-120"/>
              </a:rPr>
              <a:t>范式有望在 2026 年取得突破</a:t>
            </a:r>
            <a:endParaRPr lang="en-US" sz="1600" dirty="0"/>
          </a:p>
        </p:txBody>
      </p:sp>
      <p:sp>
        <p:nvSpPr>
          <p:cNvPr id="51" name="Shape 49"/>
          <p:cNvSpPr/>
          <p:nvPr/>
        </p:nvSpPr>
        <p:spPr>
          <a:xfrm>
            <a:off x="400050" y="5924550"/>
            <a:ext cx="11410950" cy="552450"/>
          </a:xfrm>
          <a:custGeom>
            <a:avLst/>
            <a:gdLst/>
            <a:ahLst/>
            <a:cxnLst/>
            <a:rect l="l" t="t" r="r" b="b"/>
            <a:pathLst>
              <a:path w="11410950" h="552450">
                <a:moveTo>
                  <a:pt x="38100" y="0"/>
                </a:moveTo>
                <a:lnTo>
                  <a:pt x="11334751" y="0"/>
                </a:lnTo>
                <a:cubicBezTo>
                  <a:pt x="11376834" y="0"/>
                  <a:pt x="11410950" y="34116"/>
                  <a:pt x="11410950" y="76199"/>
                </a:cubicBezTo>
                <a:lnTo>
                  <a:pt x="11410950" y="476251"/>
                </a:lnTo>
                <a:cubicBezTo>
                  <a:pt x="11410950" y="518334"/>
                  <a:pt x="11376834" y="552450"/>
                  <a:pt x="11334751" y="552450"/>
                </a:cubicBezTo>
                <a:lnTo>
                  <a:pt x="38100" y="552450"/>
                </a:lnTo>
                <a:cubicBezTo>
                  <a:pt x="17072" y="552450"/>
                  <a:pt x="0" y="535378"/>
                  <a:pt x="0" y="514350"/>
                </a:cubicBezTo>
                <a:lnTo>
                  <a:pt x="0" y="38100"/>
                </a:lnTo>
                <a:cubicBezTo>
                  <a:pt x="0" y="17072"/>
                  <a:pt x="17072" y="0"/>
                  <a:pt x="38100" y="0"/>
                </a:cubicBezTo>
                <a:close/>
              </a:path>
            </a:pathLst>
          </a:custGeom>
          <a:solidFill>
            <a:srgbClr val="3D8B75">
              <a:alpha val="20000"/>
            </a:srgbClr>
          </a:solidFill>
          <a:ln/>
        </p:spPr>
        <p:txBody>
          <a:bodyPr/>
          <a:lstStyle/>
          <a:p>
            <a:endParaRPr lang="zh-CN" altLang="en-US"/>
          </a:p>
        </p:txBody>
      </p:sp>
      <p:sp>
        <p:nvSpPr>
          <p:cNvPr id="52" name="Shape 50"/>
          <p:cNvSpPr/>
          <p:nvPr/>
        </p:nvSpPr>
        <p:spPr>
          <a:xfrm>
            <a:off x="400050" y="5924550"/>
            <a:ext cx="38100" cy="552450"/>
          </a:xfrm>
          <a:custGeom>
            <a:avLst/>
            <a:gdLst/>
            <a:ahLst/>
            <a:cxnLst/>
            <a:rect l="l" t="t" r="r" b="b"/>
            <a:pathLst>
              <a:path w="38100" h="552450">
                <a:moveTo>
                  <a:pt x="38100" y="0"/>
                </a:moveTo>
                <a:lnTo>
                  <a:pt x="38100" y="0"/>
                </a:lnTo>
                <a:lnTo>
                  <a:pt x="38100" y="552450"/>
                </a:lnTo>
                <a:lnTo>
                  <a:pt x="38100" y="552450"/>
                </a:lnTo>
                <a:cubicBezTo>
                  <a:pt x="17072" y="552450"/>
                  <a:pt x="0" y="535378"/>
                  <a:pt x="0" y="51435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53" name="Shape 51"/>
          <p:cNvSpPr/>
          <p:nvPr/>
        </p:nvSpPr>
        <p:spPr>
          <a:xfrm>
            <a:off x="590550" y="6124575"/>
            <a:ext cx="152400" cy="152400"/>
          </a:xfrm>
          <a:custGeom>
            <a:avLst/>
            <a:gdLst/>
            <a:ahLst/>
            <a:cxnLst/>
            <a:rect l="l" t="t" r="r" b="b"/>
            <a:pathLst>
              <a:path w="152400" h="152400">
                <a:moveTo>
                  <a:pt x="19050" y="19050"/>
                </a:moveTo>
                <a:cubicBezTo>
                  <a:pt x="19050" y="13781"/>
                  <a:pt x="14794" y="9525"/>
                  <a:pt x="9525" y="9525"/>
                </a:cubicBezTo>
                <a:cubicBezTo>
                  <a:pt x="4256" y="9525"/>
                  <a:pt x="0" y="13781"/>
                  <a:pt x="0" y="19050"/>
                </a:cubicBezTo>
                <a:lnTo>
                  <a:pt x="0" y="119062"/>
                </a:lnTo>
                <a:cubicBezTo>
                  <a:pt x="0" y="132219"/>
                  <a:pt x="10656" y="142875"/>
                  <a:pt x="23813" y="142875"/>
                </a:cubicBezTo>
                <a:lnTo>
                  <a:pt x="142875" y="142875"/>
                </a:lnTo>
                <a:cubicBezTo>
                  <a:pt x="148144" y="142875"/>
                  <a:pt x="152400" y="138619"/>
                  <a:pt x="152400" y="133350"/>
                </a:cubicBezTo>
                <a:cubicBezTo>
                  <a:pt x="152400" y="128081"/>
                  <a:pt x="148144" y="123825"/>
                  <a:pt x="142875" y="123825"/>
                </a:cubicBezTo>
                <a:lnTo>
                  <a:pt x="23813" y="123825"/>
                </a:lnTo>
                <a:cubicBezTo>
                  <a:pt x="21193" y="123825"/>
                  <a:pt x="19050" y="121682"/>
                  <a:pt x="19050" y="119062"/>
                </a:cubicBezTo>
                <a:lnTo>
                  <a:pt x="19050" y="19050"/>
                </a:lnTo>
                <a:close/>
                <a:moveTo>
                  <a:pt x="140077" y="44827"/>
                </a:moveTo>
                <a:cubicBezTo>
                  <a:pt x="143798" y="41106"/>
                  <a:pt x="143798" y="35064"/>
                  <a:pt x="140077" y="31343"/>
                </a:cubicBezTo>
                <a:cubicBezTo>
                  <a:pt x="136356" y="27622"/>
                  <a:pt x="130314" y="27622"/>
                  <a:pt x="126593" y="31343"/>
                </a:cubicBezTo>
                <a:lnTo>
                  <a:pt x="95250" y="62716"/>
                </a:lnTo>
                <a:lnTo>
                  <a:pt x="78165" y="45660"/>
                </a:lnTo>
                <a:cubicBezTo>
                  <a:pt x="74444" y="41940"/>
                  <a:pt x="68401" y="41940"/>
                  <a:pt x="64681" y="45660"/>
                </a:cubicBezTo>
                <a:lnTo>
                  <a:pt x="36106" y="74235"/>
                </a:lnTo>
                <a:cubicBezTo>
                  <a:pt x="32385" y="77956"/>
                  <a:pt x="32385" y="83999"/>
                  <a:pt x="36106" y="87719"/>
                </a:cubicBezTo>
                <a:cubicBezTo>
                  <a:pt x="39826" y="91440"/>
                  <a:pt x="45869" y="91440"/>
                  <a:pt x="49590" y="87719"/>
                </a:cubicBezTo>
                <a:lnTo>
                  <a:pt x="71438" y="65871"/>
                </a:lnTo>
                <a:lnTo>
                  <a:pt x="88523" y="82957"/>
                </a:lnTo>
                <a:cubicBezTo>
                  <a:pt x="92244" y="86678"/>
                  <a:pt x="98286" y="86678"/>
                  <a:pt x="102007" y="82957"/>
                </a:cubicBezTo>
                <a:lnTo>
                  <a:pt x="140107" y="44857"/>
                </a:lnTo>
                <a:close/>
              </a:path>
            </a:pathLst>
          </a:custGeom>
          <a:solidFill>
            <a:srgbClr val="C9A86A"/>
          </a:solidFill>
          <a:ln/>
        </p:spPr>
        <p:txBody>
          <a:bodyPr/>
          <a:lstStyle/>
          <a:p>
            <a:endParaRPr lang="zh-CN" altLang="en-US"/>
          </a:p>
        </p:txBody>
      </p:sp>
      <p:sp>
        <p:nvSpPr>
          <p:cNvPr id="54" name="Text 52"/>
          <p:cNvSpPr/>
          <p:nvPr/>
        </p:nvSpPr>
        <p:spPr>
          <a:xfrm>
            <a:off x="819150" y="6076950"/>
            <a:ext cx="10915650" cy="247650"/>
          </a:xfrm>
          <a:prstGeom prst="rect">
            <a:avLst/>
          </a:prstGeom>
          <a:noFill/>
          <a:ln/>
        </p:spPr>
        <p:txBody>
          <a:bodyPr wrap="square" lIns="0" tIns="0" rIns="0" bIns="0" rtlCol="0" anchor="ctr"/>
          <a:lstStyle/>
          <a:p>
            <a:pPr>
              <a:lnSpc>
                <a:spcPct val="140000"/>
              </a:lnSpc>
            </a:pPr>
            <a:r>
              <a:rPr lang="en-US" sz="1200" b="1" dirty="0">
                <a:solidFill>
                  <a:srgbClr val="E0E2E5"/>
                </a:solidFill>
                <a:latin typeface="Noto Sans SC" pitchFamily="34" charset="0"/>
                <a:ea typeface="Noto Sans SC" pitchFamily="34" charset="-122"/>
                <a:cs typeface="Noto Sans SC" pitchFamily="34" charset="-120"/>
              </a:rPr>
              <a:t>共同特征：</a:t>
            </a:r>
            <a:r>
              <a:rPr lang="en-US" sz="1200" dirty="0">
                <a:solidFill>
                  <a:srgbClr val="E0E2E5"/>
                </a:solidFill>
                <a:latin typeface="Noto Sans SC" pitchFamily="34" charset="0"/>
                <a:ea typeface="Noto Sans SC" pitchFamily="34" charset="-122"/>
                <a:cs typeface="Noto Sans SC" pitchFamily="34" charset="-120"/>
              </a:rPr>
              <a:t>这三个趋势都指向一个核心方向——</a:t>
            </a:r>
            <a:r>
              <a:rPr lang="en-US" sz="1200" dirty="0">
                <a:solidFill>
                  <a:srgbClr val="C9A86A"/>
                </a:solidFill>
                <a:highlight>
                  <a:srgbClr val="C9A86A">
                    <a:alpha val="20000"/>
                  </a:srgbClr>
                </a:highlight>
                <a:latin typeface="Noto Sans SC" pitchFamily="34" charset="0"/>
                <a:ea typeface="Noto Sans SC" pitchFamily="34" charset="-122"/>
                <a:cs typeface="Noto Sans SC" pitchFamily="34" charset="-120"/>
              </a:rPr>
              <a:t> 从单一维度的极致优化走向多维度的协同压缩 </a:t>
            </a:r>
            <a:r>
              <a:rPr lang="en-US" sz="1200" dirty="0">
                <a:solidFill>
                  <a:srgbClr val="E0E2E5"/>
                </a:solidFill>
                <a:latin typeface="Noto Sans SC" pitchFamily="34" charset="0"/>
                <a:ea typeface="Noto Sans SC" pitchFamily="34" charset="-122"/>
                <a:cs typeface="Noto Sans SC" pitchFamily="34" charset="-120"/>
              </a:rPr>
              <a:t>，在保持精度的前提下追求更高的压缩率和工程可行性。</a:t>
            </a:r>
            <a:endParaRPr lang="en-US" sz="1600"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22753" y="322753"/>
            <a:ext cx="11611044" cy="193652"/>
          </a:xfrm>
          <a:prstGeom prst="rect">
            <a:avLst/>
          </a:prstGeom>
          <a:noFill/>
          <a:ln/>
        </p:spPr>
        <p:txBody>
          <a:bodyPr wrap="square" lIns="0" tIns="0" rIns="0" bIns="0" rtlCol="0" anchor="ctr"/>
          <a:lstStyle/>
          <a:p>
            <a:pPr>
              <a:lnSpc>
                <a:spcPct val="130000"/>
              </a:lnSpc>
            </a:pPr>
            <a:r>
              <a:rPr lang="en-US" sz="1017" b="1" kern="0" spc="102" dirty="0">
                <a:solidFill>
                  <a:srgbClr val="3D8B75"/>
                </a:solidFill>
                <a:latin typeface="MiSans" pitchFamily="34" charset="0"/>
                <a:ea typeface="MiSans" pitchFamily="34" charset="-122"/>
                <a:cs typeface="MiSans" pitchFamily="34" charset="-120"/>
              </a:rPr>
              <a:t>2026 TRENDS (2/2)</a:t>
            </a:r>
            <a:endParaRPr lang="en-US" sz="1600" dirty="0"/>
          </a:p>
        </p:txBody>
      </p:sp>
      <p:sp>
        <p:nvSpPr>
          <p:cNvPr id="3" name="Text 1"/>
          <p:cNvSpPr/>
          <p:nvPr/>
        </p:nvSpPr>
        <p:spPr>
          <a:xfrm>
            <a:off x="322753" y="580956"/>
            <a:ext cx="11691733" cy="322753"/>
          </a:xfrm>
          <a:prstGeom prst="rect">
            <a:avLst/>
          </a:prstGeom>
          <a:noFill/>
          <a:ln/>
        </p:spPr>
        <p:txBody>
          <a:bodyPr wrap="square" lIns="0" tIns="0" rIns="0" bIns="0" rtlCol="0" anchor="ctr"/>
          <a:lstStyle/>
          <a:p>
            <a:pPr>
              <a:lnSpc>
                <a:spcPct val="90000"/>
              </a:lnSpc>
            </a:pPr>
            <a:r>
              <a:rPr lang="en-US" sz="2287" b="1" dirty="0">
                <a:solidFill>
                  <a:srgbClr val="E0E2E5"/>
                </a:solidFill>
                <a:latin typeface="Noto Sans SC" pitchFamily="34" charset="0"/>
                <a:ea typeface="Noto Sans SC" pitchFamily="34" charset="-122"/>
                <a:cs typeface="Noto Sans SC" pitchFamily="34" charset="-120"/>
              </a:rPr>
              <a:t>趋势四至七：分层存储、系统融合、评测标准化、范式探索</a:t>
            </a:r>
            <a:endParaRPr lang="en-US" sz="1600" dirty="0"/>
          </a:p>
        </p:txBody>
      </p:sp>
      <p:sp>
        <p:nvSpPr>
          <p:cNvPr id="4" name="Shape 2"/>
          <p:cNvSpPr/>
          <p:nvPr/>
        </p:nvSpPr>
        <p:spPr>
          <a:xfrm>
            <a:off x="322753" y="1000535"/>
            <a:ext cx="774608" cy="32275"/>
          </a:xfrm>
          <a:custGeom>
            <a:avLst/>
            <a:gdLst/>
            <a:ahLst/>
            <a:cxnLst/>
            <a:rect l="l" t="t" r="r" b="b"/>
            <a:pathLst>
              <a:path w="774608" h="32275">
                <a:moveTo>
                  <a:pt x="0" y="0"/>
                </a:moveTo>
                <a:lnTo>
                  <a:pt x="774608" y="0"/>
                </a:lnTo>
                <a:lnTo>
                  <a:pt x="774608" y="32275"/>
                </a:lnTo>
                <a:lnTo>
                  <a:pt x="0" y="32275"/>
                </a:lnTo>
                <a:lnTo>
                  <a:pt x="0" y="0"/>
                </a:lnTo>
                <a:close/>
              </a:path>
            </a:pathLst>
          </a:custGeom>
          <a:solidFill>
            <a:srgbClr val="C9A86A"/>
          </a:solidFill>
          <a:ln/>
        </p:spPr>
        <p:txBody>
          <a:bodyPr/>
          <a:lstStyle/>
          <a:p>
            <a:endParaRPr lang="zh-CN" altLang="en-US"/>
          </a:p>
        </p:txBody>
      </p:sp>
      <p:sp>
        <p:nvSpPr>
          <p:cNvPr id="5" name="Shape 3"/>
          <p:cNvSpPr/>
          <p:nvPr/>
        </p:nvSpPr>
        <p:spPr>
          <a:xfrm>
            <a:off x="338891" y="1161911"/>
            <a:ext cx="5696593" cy="3808487"/>
          </a:xfrm>
          <a:custGeom>
            <a:avLst/>
            <a:gdLst/>
            <a:ahLst/>
            <a:cxnLst/>
            <a:rect l="l" t="t" r="r" b="b"/>
            <a:pathLst>
              <a:path w="5696593" h="3808487">
                <a:moveTo>
                  <a:pt x="32275" y="0"/>
                </a:moveTo>
                <a:lnTo>
                  <a:pt x="5632039" y="0"/>
                </a:lnTo>
                <a:cubicBezTo>
                  <a:pt x="5667691" y="0"/>
                  <a:pt x="5696593" y="28902"/>
                  <a:pt x="5696593" y="64554"/>
                </a:cubicBezTo>
                <a:lnTo>
                  <a:pt x="5696593" y="3743933"/>
                </a:lnTo>
                <a:cubicBezTo>
                  <a:pt x="5696593" y="3779585"/>
                  <a:pt x="5667691" y="3808487"/>
                  <a:pt x="5632039" y="3808487"/>
                </a:cubicBezTo>
                <a:lnTo>
                  <a:pt x="32275" y="3808487"/>
                </a:lnTo>
                <a:cubicBezTo>
                  <a:pt x="14450" y="3808487"/>
                  <a:pt x="0" y="3794037"/>
                  <a:pt x="0" y="3776212"/>
                </a:cubicBezTo>
                <a:lnTo>
                  <a:pt x="0" y="32275"/>
                </a:lnTo>
                <a:cubicBezTo>
                  <a:pt x="0" y="14450"/>
                  <a:pt x="14450" y="0"/>
                  <a:pt x="32275" y="0"/>
                </a:cubicBezTo>
                <a:close/>
              </a:path>
            </a:pathLst>
          </a:custGeom>
          <a:solidFill>
            <a:srgbClr val="3D8B75">
              <a:alpha val="10196"/>
            </a:srgbClr>
          </a:solidFill>
          <a:ln/>
        </p:spPr>
        <p:txBody>
          <a:bodyPr/>
          <a:lstStyle/>
          <a:p>
            <a:endParaRPr lang="zh-CN" altLang="en-US"/>
          </a:p>
        </p:txBody>
      </p:sp>
      <p:sp>
        <p:nvSpPr>
          <p:cNvPr id="6" name="Shape 4"/>
          <p:cNvSpPr/>
          <p:nvPr/>
        </p:nvSpPr>
        <p:spPr>
          <a:xfrm>
            <a:off x="338891" y="1161911"/>
            <a:ext cx="32275" cy="3808487"/>
          </a:xfrm>
          <a:custGeom>
            <a:avLst/>
            <a:gdLst/>
            <a:ahLst/>
            <a:cxnLst/>
            <a:rect l="l" t="t" r="r" b="b"/>
            <a:pathLst>
              <a:path w="32275" h="3808487">
                <a:moveTo>
                  <a:pt x="32275" y="0"/>
                </a:moveTo>
                <a:lnTo>
                  <a:pt x="32275" y="0"/>
                </a:lnTo>
                <a:lnTo>
                  <a:pt x="32275" y="3808487"/>
                </a:lnTo>
                <a:lnTo>
                  <a:pt x="32275" y="3808487"/>
                </a:lnTo>
                <a:cubicBezTo>
                  <a:pt x="14450" y="3808487"/>
                  <a:pt x="0" y="3794037"/>
                  <a:pt x="0" y="3776212"/>
                </a:cubicBezTo>
                <a:lnTo>
                  <a:pt x="0" y="32275"/>
                </a:lnTo>
                <a:cubicBezTo>
                  <a:pt x="0" y="14462"/>
                  <a:pt x="14462" y="0"/>
                  <a:pt x="32275" y="0"/>
                </a:cubicBezTo>
                <a:close/>
              </a:path>
            </a:pathLst>
          </a:custGeom>
          <a:solidFill>
            <a:srgbClr val="3D8B75"/>
          </a:solidFill>
          <a:ln/>
        </p:spPr>
        <p:txBody>
          <a:bodyPr/>
          <a:lstStyle/>
          <a:p>
            <a:endParaRPr lang="zh-CN" altLang="en-US"/>
          </a:p>
        </p:txBody>
      </p:sp>
      <p:sp>
        <p:nvSpPr>
          <p:cNvPr id="7" name="Shape 5"/>
          <p:cNvSpPr/>
          <p:nvPr/>
        </p:nvSpPr>
        <p:spPr>
          <a:xfrm>
            <a:off x="516405" y="1323288"/>
            <a:ext cx="387304" cy="387304"/>
          </a:xfrm>
          <a:custGeom>
            <a:avLst/>
            <a:gdLst/>
            <a:ahLst/>
            <a:cxnLst/>
            <a:rect l="l" t="t" r="r" b="b"/>
            <a:pathLst>
              <a:path w="387304" h="387304">
                <a:moveTo>
                  <a:pt x="64552" y="0"/>
                </a:moveTo>
                <a:lnTo>
                  <a:pt x="322752" y="0"/>
                </a:lnTo>
                <a:cubicBezTo>
                  <a:pt x="358403" y="0"/>
                  <a:pt x="387304" y="28901"/>
                  <a:pt x="387304" y="64552"/>
                </a:cubicBezTo>
                <a:lnTo>
                  <a:pt x="387304" y="322752"/>
                </a:lnTo>
                <a:cubicBezTo>
                  <a:pt x="387304" y="358403"/>
                  <a:pt x="358403" y="387304"/>
                  <a:pt x="322752" y="387304"/>
                </a:cubicBezTo>
                <a:lnTo>
                  <a:pt x="64552" y="387304"/>
                </a:lnTo>
                <a:cubicBezTo>
                  <a:pt x="28901" y="387304"/>
                  <a:pt x="0" y="358403"/>
                  <a:pt x="0" y="322752"/>
                </a:cubicBezTo>
                <a:lnTo>
                  <a:pt x="0" y="64552"/>
                </a:lnTo>
                <a:cubicBezTo>
                  <a:pt x="0" y="28901"/>
                  <a:pt x="28901" y="0"/>
                  <a:pt x="64552" y="0"/>
                </a:cubicBezTo>
                <a:close/>
              </a:path>
            </a:pathLst>
          </a:custGeom>
          <a:solidFill>
            <a:srgbClr val="3D8B75"/>
          </a:solidFill>
          <a:ln/>
        </p:spPr>
        <p:txBody>
          <a:bodyPr/>
          <a:lstStyle/>
          <a:p>
            <a:endParaRPr lang="zh-CN" altLang="en-US"/>
          </a:p>
        </p:txBody>
      </p:sp>
      <p:sp>
        <p:nvSpPr>
          <p:cNvPr id="8" name="Text 6"/>
          <p:cNvSpPr/>
          <p:nvPr/>
        </p:nvSpPr>
        <p:spPr>
          <a:xfrm>
            <a:off x="613231" y="1403976"/>
            <a:ext cx="274340" cy="225927"/>
          </a:xfrm>
          <a:prstGeom prst="rect">
            <a:avLst/>
          </a:prstGeom>
          <a:noFill/>
          <a:ln/>
        </p:spPr>
        <p:txBody>
          <a:bodyPr wrap="square" lIns="0" tIns="0" rIns="0" bIns="0" rtlCol="0" anchor="ctr"/>
          <a:lstStyle/>
          <a:p>
            <a:pPr>
              <a:lnSpc>
                <a:spcPct val="120000"/>
              </a:lnSpc>
            </a:pPr>
            <a:r>
              <a:rPr lang="en-US" sz="1271" b="1" dirty="0">
                <a:solidFill>
                  <a:srgbClr val="FFFFFF"/>
                </a:solidFill>
                <a:latin typeface="Noto Sans SC" pitchFamily="34" charset="0"/>
                <a:ea typeface="Noto Sans SC" pitchFamily="34" charset="-122"/>
                <a:cs typeface="Noto Sans SC" pitchFamily="34" charset="-120"/>
              </a:rPr>
              <a:t>04</a:t>
            </a:r>
            <a:endParaRPr lang="en-US" sz="1600" dirty="0"/>
          </a:p>
        </p:txBody>
      </p:sp>
      <p:sp>
        <p:nvSpPr>
          <p:cNvPr id="9" name="Text 7"/>
          <p:cNvSpPr/>
          <p:nvPr/>
        </p:nvSpPr>
        <p:spPr>
          <a:xfrm>
            <a:off x="1000535" y="1403976"/>
            <a:ext cx="2348029" cy="225927"/>
          </a:xfrm>
          <a:prstGeom prst="rect">
            <a:avLst/>
          </a:prstGeom>
          <a:noFill/>
          <a:ln/>
        </p:spPr>
        <p:txBody>
          <a:bodyPr wrap="square" lIns="0" tIns="0" rIns="0" bIns="0" rtlCol="0" anchor="ctr"/>
          <a:lstStyle/>
          <a:p>
            <a:pPr>
              <a:lnSpc>
                <a:spcPct val="120000"/>
              </a:lnSpc>
            </a:pPr>
            <a:r>
              <a:rPr lang="en-US" sz="1271" b="1" dirty="0">
                <a:solidFill>
                  <a:srgbClr val="E0E2E5"/>
                </a:solidFill>
                <a:latin typeface="Noto Sans SC" pitchFamily="34" charset="0"/>
                <a:ea typeface="Noto Sans SC" pitchFamily="34" charset="-122"/>
                <a:cs typeface="Noto Sans SC" pitchFamily="34" charset="-120"/>
              </a:rPr>
              <a:t>KV Cache 演变为分层存储系统</a:t>
            </a:r>
            <a:endParaRPr lang="en-US" sz="1600" dirty="0"/>
          </a:p>
        </p:txBody>
      </p:sp>
      <p:sp>
        <p:nvSpPr>
          <p:cNvPr id="10" name="Text 8"/>
          <p:cNvSpPr/>
          <p:nvPr/>
        </p:nvSpPr>
        <p:spPr>
          <a:xfrm>
            <a:off x="516405" y="1807418"/>
            <a:ext cx="5422253" cy="209790"/>
          </a:xfrm>
          <a:prstGeom prst="rect">
            <a:avLst/>
          </a:prstGeom>
          <a:noFill/>
          <a:ln/>
        </p:spPr>
        <p:txBody>
          <a:bodyPr wrap="square" lIns="0" tIns="0" rIns="0" bIns="0" rtlCol="0" anchor="ctr"/>
          <a:lstStyle/>
          <a:p>
            <a:pPr>
              <a:lnSpc>
                <a:spcPct val="140000"/>
              </a:lnSpc>
            </a:pPr>
            <a:r>
              <a:rPr lang="en-US" sz="1017" dirty="0">
                <a:solidFill>
                  <a:srgbClr val="E0E2E5">
                    <a:alpha val="80000"/>
                  </a:srgbClr>
                </a:solidFill>
                <a:latin typeface="Noto Sans SC" pitchFamily="34" charset="0"/>
                <a:ea typeface="Noto Sans SC" pitchFamily="34" charset="-122"/>
                <a:cs typeface="Noto Sans SC" pitchFamily="34" charset="-120"/>
              </a:rPr>
              <a:t>从 GPU HBM 到 CPU DRAM 再到 NVMe SSD 的</a:t>
            </a:r>
            <a:r>
              <a:rPr lang="en-US" sz="1017" dirty="0">
                <a:solidFill>
                  <a:srgbClr val="3D8B75"/>
                </a:solidFill>
                <a:highlight>
                  <a:srgbClr val="3D8B75">
                    <a:alpha val="20000"/>
                  </a:srgbClr>
                </a:highlight>
                <a:latin typeface="Noto Sans SC" pitchFamily="34" charset="0"/>
                <a:ea typeface="Noto Sans SC" pitchFamily="34" charset="-122"/>
                <a:cs typeface="Noto Sans SC" pitchFamily="34" charset="-120"/>
              </a:rPr>
              <a:t> 三级存储体系 </a:t>
            </a:r>
            <a:r>
              <a:rPr lang="en-US" sz="1017" dirty="0">
                <a:solidFill>
                  <a:srgbClr val="E0E2E5">
                    <a:alpha val="80000"/>
                  </a:srgbClr>
                </a:solidFill>
                <a:latin typeface="Noto Sans SC" pitchFamily="34" charset="0"/>
                <a:ea typeface="Noto Sans SC" pitchFamily="34" charset="-122"/>
                <a:cs typeface="Noto Sans SC" pitchFamily="34" charset="-120"/>
              </a:rPr>
              <a:t>正在成型。</a:t>
            </a:r>
            <a:endParaRPr lang="en-US" sz="1600" dirty="0"/>
          </a:p>
        </p:txBody>
      </p:sp>
      <p:sp>
        <p:nvSpPr>
          <p:cNvPr id="11" name="Shape 9"/>
          <p:cNvSpPr/>
          <p:nvPr/>
        </p:nvSpPr>
        <p:spPr>
          <a:xfrm>
            <a:off x="516405" y="2267341"/>
            <a:ext cx="5357702" cy="548680"/>
          </a:xfrm>
          <a:custGeom>
            <a:avLst/>
            <a:gdLst/>
            <a:ahLst/>
            <a:cxnLst/>
            <a:rect l="l" t="t" r="r" b="b"/>
            <a:pathLst>
              <a:path w="5357702" h="548680">
                <a:moveTo>
                  <a:pt x="64552" y="0"/>
                </a:moveTo>
                <a:lnTo>
                  <a:pt x="5293150" y="0"/>
                </a:lnTo>
                <a:cubicBezTo>
                  <a:pt x="5328801" y="0"/>
                  <a:pt x="5357702" y="28901"/>
                  <a:pt x="5357702" y="64552"/>
                </a:cubicBezTo>
                <a:lnTo>
                  <a:pt x="5357702" y="484128"/>
                </a:lnTo>
                <a:cubicBezTo>
                  <a:pt x="5357702" y="519779"/>
                  <a:pt x="5328801" y="548680"/>
                  <a:pt x="5293150" y="548680"/>
                </a:cubicBezTo>
                <a:lnTo>
                  <a:pt x="64552" y="548680"/>
                </a:lnTo>
                <a:cubicBezTo>
                  <a:pt x="28901" y="548680"/>
                  <a:pt x="0" y="519779"/>
                  <a:pt x="0" y="484128"/>
                </a:cubicBezTo>
                <a:lnTo>
                  <a:pt x="0" y="64552"/>
                </a:lnTo>
                <a:cubicBezTo>
                  <a:pt x="0" y="28901"/>
                  <a:pt x="28901" y="0"/>
                  <a:pt x="64552" y="0"/>
                </a:cubicBezTo>
                <a:close/>
              </a:path>
            </a:pathLst>
          </a:custGeom>
          <a:solidFill>
            <a:srgbClr val="1A1D21">
              <a:alpha val="50196"/>
            </a:srgbClr>
          </a:solidFill>
          <a:ln/>
        </p:spPr>
        <p:txBody>
          <a:bodyPr/>
          <a:lstStyle/>
          <a:p>
            <a:endParaRPr lang="zh-CN" altLang="en-US"/>
          </a:p>
        </p:txBody>
      </p:sp>
      <p:sp>
        <p:nvSpPr>
          <p:cNvPr id="12" name="Shape 10"/>
          <p:cNvSpPr/>
          <p:nvPr/>
        </p:nvSpPr>
        <p:spPr>
          <a:xfrm>
            <a:off x="613231" y="2493268"/>
            <a:ext cx="96826" cy="96826"/>
          </a:xfrm>
          <a:custGeom>
            <a:avLst/>
            <a:gdLst/>
            <a:ahLst/>
            <a:cxnLst/>
            <a:rect l="l" t="t" r="r" b="b"/>
            <a:pathLst>
              <a:path w="96826" h="96826">
                <a:moveTo>
                  <a:pt x="48413" y="0"/>
                </a:moveTo>
                <a:lnTo>
                  <a:pt x="48413" y="0"/>
                </a:lnTo>
                <a:cubicBezTo>
                  <a:pt x="75133" y="0"/>
                  <a:pt x="96826" y="21693"/>
                  <a:pt x="96826" y="48413"/>
                </a:cubicBezTo>
                <a:lnTo>
                  <a:pt x="96826" y="48413"/>
                </a:lnTo>
                <a:cubicBezTo>
                  <a:pt x="96826" y="75133"/>
                  <a:pt x="75133" y="96826"/>
                  <a:pt x="48413" y="96826"/>
                </a:cubicBezTo>
                <a:lnTo>
                  <a:pt x="48413" y="96826"/>
                </a:lnTo>
                <a:cubicBezTo>
                  <a:pt x="21693" y="96826"/>
                  <a:pt x="0" y="75133"/>
                  <a:pt x="0" y="48413"/>
                </a:cubicBezTo>
                <a:lnTo>
                  <a:pt x="0" y="48413"/>
                </a:lnTo>
                <a:cubicBezTo>
                  <a:pt x="0" y="21693"/>
                  <a:pt x="21693" y="0"/>
                  <a:pt x="48413" y="0"/>
                </a:cubicBezTo>
                <a:close/>
              </a:path>
            </a:pathLst>
          </a:custGeom>
          <a:solidFill>
            <a:srgbClr val="C9A86A"/>
          </a:solidFill>
          <a:ln/>
        </p:spPr>
        <p:txBody>
          <a:bodyPr/>
          <a:lstStyle/>
          <a:p>
            <a:endParaRPr lang="zh-CN" altLang="en-US"/>
          </a:p>
        </p:txBody>
      </p:sp>
      <p:sp>
        <p:nvSpPr>
          <p:cNvPr id="13" name="Text 11"/>
          <p:cNvSpPr/>
          <p:nvPr/>
        </p:nvSpPr>
        <p:spPr>
          <a:xfrm>
            <a:off x="806883" y="2364167"/>
            <a:ext cx="903709" cy="193652"/>
          </a:xfrm>
          <a:prstGeom prst="rect">
            <a:avLst/>
          </a:prstGeom>
          <a:noFill/>
          <a:ln/>
        </p:spPr>
        <p:txBody>
          <a:bodyPr wrap="square" lIns="0" tIns="0" rIns="0" bIns="0" rtlCol="0" anchor="ctr"/>
          <a:lstStyle/>
          <a:p>
            <a:pPr>
              <a:lnSpc>
                <a:spcPct val="130000"/>
              </a:lnSpc>
            </a:pPr>
            <a:r>
              <a:rPr lang="en-US" sz="1017" b="1" dirty="0">
                <a:solidFill>
                  <a:srgbClr val="E0E2E5"/>
                </a:solidFill>
                <a:latin typeface="Noto Sans SC" pitchFamily="34" charset="0"/>
                <a:ea typeface="Noto Sans SC" pitchFamily="34" charset="-122"/>
                <a:cs typeface="Noto Sans SC" pitchFamily="34" charset="-120"/>
              </a:rPr>
              <a:t>Hot KV</a:t>
            </a:r>
            <a:endParaRPr lang="en-US" sz="1600" dirty="0"/>
          </a:p>
        </p:txBody>
      </p:sp>
      <p:sp>
        <p:nvSpPr>
          <p:cNvPr id="14" name="Text 12"/>
          <p:cNvSpPr/>
          <p:nvPr/>
        </p:nvSpPr>
        <p:spPr>
          <a:xfrm>
            <a:off x="806883" y="2557819"/>
            <a:ext cx="895640" cy="161377"/>
          </a:xfrm>
          <a:prstGeom prst="rect">
            <a:avLst/>
          </a:prstGeom>
          <a:noFill/>
          <a:ln/>
        </p:spPr>
        <p:txBody>
          <a:bodyPr wrap="square" lIns="0" tIns="0" rIns="0" bIns="0" rtlCol="0" anchor="ctr"/>
          <a:lstStyle/>
          <a:p>
            <a:pPr>
              <a:lnSpc>
                <a:spcPct val="120000"/>
              </a:lnSpc>
            </a:pPr>
            <a:r>
              <a:rPr lang="en-US" sz="889" dirty="0">
                <a:solidFill>
                  <a:srgbClr val="E0E2E5">
                    <a:alpha val="70000"/>
                  </a:srgbClr>
                </a:solidFill>
                <a:latin typeface="Noto Sans SC" pitchFamily="34" charset="0"/>
                <a:ea typeface="Noto Sans SC" pitchFamily="34" charset="-122"/>
                <a:cs typeface="Noto Sans SC" pitchFamily="34" charset="-120"/>
              </a:rPr>
              <a:t>高精度驻留 GPU</a:t>
            </a:r>
            <a:endParaRPr lang="en-US" sz="1600" dirty="0"/>
          </a:p>
        </p:txBody>
      </p:sp>
      <p:sp>
        <p:nvSpPr>
          <p:cNvPr id="15" name="Shape 13"/>
          <p:cNvSpPr/>
          <p:nvPr/>
        </p:nvSpPr>
        <p:spPr>
          <a:xfrm>
            <a:off x="516405" y="3187187"/>
            <a:ext cx="5357702" cy="548680"/>
          </a:xfrm>
          <a:custGeom>
            <a:avLst/>
            <a:gdLst/>
            <a:ahLst/>
            <a:cxnLst/>
            <a:rect l="l" t="t" r="r" b="b"/>
            <a:pathLst>
              <a:path w="5357702" h="548680">
                <a:moveTo>
                  <a:pt x="64552" y="0"/>
                </a:moveTo>
                <a:lnTo>
                  <a:pt x="5293150" y="0"/>
                </a:lnTo>
                <a:cubicBezTo>
                  <a:pt x="5328801" y="0"/>
                  <a:pt x="5357702" y="28901"/>
                  <a:pt x="5357702" y="64552"/>
                </a:cubicBezTo>
                <a:lnTo>
                  <a:pt x="5357702" y="484128"/>
                </a:lnTo>
                <a:cubicBezTo>
                  <a:pt x="5357702" y="519779"/>
                  <a:pt x="5328801" y="548680"/>
                  <a:pt x="5293150" y="548680"/>
                </a:cubicBezTo>
                <a:lnTo>
                  <a:pt x="64552" y="548680"/>
                </a:lnTo>
                <a:cubicBezTo>
                  <a:pt x="28901" y="548680"/>
                  <a:pt x="0" y="519779"/>
                  <a:pt x="0" y="484128"/>
                </a:cubicBezTo>
                <a:lnTo>
                  <a:pt x="0" y="64552"/>
                </a:lnTo>
                <a:cubicBezTo>
                  <a:pt x="0" y="28901"/>
                  <a:pt x="28901" y="0"/>
                  <a:pt x="64552" y="0"/>
                </a:cubicBezTo>
                <a:close/>
              </a:path>
            </a:pathLst>
          </a:custGeom>
          <a:solidFill>
            <a:srgbClr val="1A1D21">
              <a:alpha val="50196"/>
            </a:srgbClr>
          </a:solidFill>
          <a:ln/>
        </p:spPr>
        <p:txBody>
          <a:bodyPr/>
          <a:lstStyle/>
          <a:p>
            <a:endParaRPr lang="zh-CN" altLang="en-US"/>
          </a:p>
        </p:txBody>
      </p:sp>
      <p:sp>
        <p:nvSpPr>
          <p:cNvPr id="16" name="Shape 14"/>
          <p:cNvSpPr/>
          <p:nvPr/>
        </p:nvSpPr>
        <p:spPr>
          <a:xfrm>
            <a:off x="613231" y="3413114"/>
            <a:ext cx="96826" cy="96826"/>
          </a:xfrm>
          <a:custGeom>
            <a:avLst/>
            <a:gdLst/>
            <a:ahLst/>
            <a:cxnLst/>
            <a:rect l="l" t="t" r="r" b="b"/>
            <a:pathLst>
              <a:path w="96826" h="96826">
                <a:moveTo>
                  <a:pt x="48413" y="0"/>
                </a:moveTo>
                <a:lnTo>
                  <a:pt x="48413" y="0"/>
                </a:lnTo>
                <a:cubicBezTo>
                  <a:pt x="75133" y="0"/>
                  <a:pt x="96826" y="21693"/>
                  <a:pt x="96826" y="48413"/>
                </a:cubicBezTo>
                <a:lnTo>
                  <a:pt x="96826" y="48413"/>
                </a:lnTo>
                <a:cubicBezTo>
                  <a:pt x="96826" y="75133"/>
                  <a:pt x="75133" y="96826"/>
                  <a:pt x="48413" y="96826"/>
                </a:cubicBezTo>
                <a:lnTo>
                  <a:pt x="48413" y="96826"/>
                </a:lnTo>
                <a:cubicBezTo>
                  <a:pt x="21693" y="96826"/>
                  <a:pt x="0" y="75133"/>
                  <a:pt x="0" y="48413"/>
                </a:cubicBezTo>
                <a:lnTo>
                  <a:pt x="0" y="48413"/>
                </a:lnTo>
                <a:cubicBezTo>
                  <a:pt x="0" y="21693"/>
                  <a:pt x="21693" y="0"/>
                  <a:pt x="48413" y="0"/>
                </a:cubicBezTo>
                <a:close/>
              </a:path>
            </a:pathLst>
          </a:custGeom>
          <a:solidFill>
            <a:srgbClr val="5F6B7A"/>
          </a:solidFill>
          <a:ln/>
        </p:spPr>
        <p:txBody>
          <a:bodyPr/>
          <a:lstStyle/>
          <a:p>
            <a:endParaRPr lang="zh-CN" altLang="en-US"/>
          </a:p>
        </p:txBody>
      </p:sp>
      <p:sp>
        <p:nvSpPr>
          <p:cNvPr id="17" name="Text 15"/>
          <p:cNvSpPr/>
          <p:nvPr/>
        </p:nvSpPr>
        <p:spPr>
          <a:xfrm>
            <a:off x="806883" y="3284013"/>
            <a:ext cx="1355563" cy="193652"/>
          </a:xfrm>
          <a:prstGeom prst="rect">
            <a:avLst/>
          </a:prstGeom>
          <a:noFill/>
          <a:ln/>
        </p:spPr>
        <p:txBody>
          <a:bodyPr wrap="square" lIns="0" tIns="0" rIns="0" bIns="0" rtlCol="0" anchor="ctr"/>
          <a:lstStyle/>
          <a:p>
            <a:pPr>
              <a:lnSpc>
                <a:spcPct val="130000"/>
              </a:lnSpc>
            </a:pPr>
            <a:r>
              <a:rPr lang="en-US" sz="1017" b="1" dirty="0">
                <a:solidFill>
                  <a:srgbClr val="E0E2E5"/>
                </a:solidFill>
                <a:latin typeface="Noto Sans SC" pitchFamily="34" charset="0"/>
                <a:ea typeface="Noto Sans SC" pitchFamily="34" charset="-122"/>
                <a:cs typeface="Noto Sans SC" pitchFamily="34" charset="-120"/>
              </a:rPr>
              <a:t>Warm KV</a:t>
            </a:r>
            <a:endParaRPr lang="en-US" sz="1600" dirty="0"/>
          </a:p>
        </p:txBody>
      </p:sp>
      <p:sp>
        <p:nvSpPr>
          <p:cNvPr id="18" name="Text 16"/>
          <p:cNvSpPr/>
          <p:nvPr/>
        </p:nvSpPr>
        <p:spPr>
          <a:xfrm>
            <a:off x="806883" y="3477665"/>
            <a:ext cx="1347494" cy="161377"/>
          </a:xfrm>
          <a:prstGeom prst="rect">
            <a:avLst/>
          </a:prstGeom>
          <a:noFill/>
          <a:ln/>
        </p:spPr>
        <p:txBody>
          <a:bodyPr wrap="square" lIns="0" tIns="0" rIns="0" bIns="0" rtlCol="0" anchor="ctr"/>
          <a:lstStyle/>
          <a:p>
            <a:pPr>
              <a:lnSpc>
                <a:spcPct val="120000"/>
              </a:lnSpc>
            </a:pPr>
            <a:r>
              <a:rPr lang="en-US" sz="889" dirty="0">
                <a:solidFill>
                  <a:srgbClr val="E0E2E5">
                    <a:alpha val="70000"/>
                  </a:srgbClr>
                </a:solidFill>
                <a:latin typeface="Noto Sans SC" pitchFamily="34" charset="0"/>
                <a:ea typeface="Noto Sans SC" pitchFamily="34" charset="-122"/>
                <a:cs typeface="Noto Sans SC" pitchFamily="34" charset="-120"/>
              </a:rPr>
              <a:t>降精度存储或卸载至 CPU</a:t>
            </a:r>
            <a:endParaRPr lang="en-US" sz="1600" dirty="0"/>
          </a:p>
        </p:txBody>
      </p:sp>
      <p:sp>
        <p:nvSpPr>
          <p:cNvPr id="19" name="Shape 17"/>
          <p:cNvSpPr/>
          <p:nvPr/>
        </p:nvSpPr>
        <p:spPr>
          <a:xfrm>
            <a:off x="516405" y="4107034"/>
            <a:ext cx="5357702" cy="548680"/>
          </a:xfrm>
          <a:custGeom>
            <a:avLst/>
            <a:gdLst/>
            <a:ahLst/>
            <a:cxnLst/>
            <a:rect l="l" t="t" r="r" b="b"/>
            <a:pathLst>
              <a:path w="5357702" h="548680">
                <a:moveTo>
                  <a:pt x="64552" y="0"/>
                </a:moveTo>
                <a:lnTo>
                  <a:pt x="5293150" y="0"/>
                </a:lnTo>
                <a:cubicBezTo>
                  <a:pt x="5328801" y="0"/>
                  <a:pt x="5357702" y="28901"/>
                  <a:pt x="5357702" y="64552"/>
                </a:cubicBezTo>
                <a:lnTo>
                  <a:pt x="5357702" y="484128"/>
                </a:lnTo>
                <a:cubicBezTo>
                  <a:pt x="5357702" y="519779"/>
                  <a:pt x="5328801" y="548680"/>
                  <a:pt x="5293150" y="548680"/>
                </a:cubicBezTo>
                <a:lnTo>
                  <a:pt x="64552" y="548680"/>
                </a:lnTo>
                <a:cubicBezTo>
                  <a:pt x="28901" y="548680"/>
                  <a:pt x="0" y="519779"/>
                  <a:pt x="0" y="484128"/>
                </a:cubicBezTo>
                <a:lnTo>
                  <a:pt x="0" y="64552"/>
                </a:lnTo>
                <a:cubicBezTo>
                  <a:pt x="0" y="28901"/>
                  <a:pt x="28901" y="0"/>
                  <a:pt x="64552" y="0"/>
                </a:cubicBezTo>
                <a:close/>
              </a:path>
            </a:pathLst>
          </a:custGeom>
          <a:solidFill>
            <a:srgbClr val="1A1D21">
              <a:alpha val="50196"/>
            </a:srgbClr>
          </a:solidFill>
          <a:ln/>
        </p:spPr>
        <p:txBody>
          <a:bodyPr/>
          <a:lstStyle/>
          <a:p>
            <a:endParaRPr lang="zh-CN" altLang="en-US"/>
          </a:p>
        </p:txBody>
      </p:sp>
      <p:sp>
        <p:nvSpPr>
          <p:cNvPr id="20" name="Shape 18"/>
          <p:cNvSpPr/>
          <p:nvPr/>
        </p:nvSpPr>
        <p:spPr>
          <a:xfrm>
            <a:off x="613231" y="4332961"/>
            <a:ext cx="96826" cy="96826"/>
          </a:xfrm>
          <a:custGeom>
            <a:avLst/>
            <a:gdLst/>
            <a:ahLst/>
            <a:cxnLst/>
            <a:rect l="l" t="t" r="r" b="b"/>
            <a:pathLst>
              <a:path w="96826" h="96826">
                <a:moveTo>
                  <a:pt x="48413" y="0"/>
                </a:moveTo>
                <a:lnTo>
                  <a:pt x="48413" y="0"/>
                </a:lnTo>
                <a:cubicBezTo>
                  <a:pt x="75133" y="0"/>
                  <a:pt x="96826" y="21693"/>
                  <a:pt x="96826" y="48413"/>
                </a:cubicBezTo>
                <a:lnTo>
                  <a:pt x="96826" y="48413"/>
                </a:lnTo>
                <a:cubicBezTo>
                  <a:pt x="96826" y="75133"/>
                  <a:pt x="75133" y="96826"/>
                  <a:pt x="48413" y="96826"/>
                </a:cubicBezTo>
                <a:lnTo>
                  <a:pt x="48413" y="96826"/>
                </a:lnTo>
                <a:cubicBezTo>
                  <a:pt x="21693" y="96826"/>
                  <a:pt x="0" y="75133"/>
                  <a:pt x="0" y="48413"/>
                </a:cubicBezTo>
                <a:lnTo>
                  <a:pt x="0" y="48413"/>
                </a:lnTo>
                <a:cubicBezTo>
                  <a:pt x="0" y="21693"/>
                  <a:pt x="21693" y="0"/>
                  <a:pt x="48413" y="0"/>
                </a:cubicBezTo>
                <a:close/>
              </a:path>
            </a:pathLst>
          </a:custGeom>
          <a:solidFill>
            <a:srgbClr val="3D8B75"/>
          </a:solidFill>
          <a:ln/>
        </p:spPr>
        <p:txBody>
          <a:bodyPr/>
          <a:lstStyle/>
          <a:p>
            <a:endParaRPr lang="zh-CN" altLang="en-US"/>
          </a:p>
        </p:txBody>
      </p:sp>
      <p:sp>
        <p:nvSpPr>
          <p:cNvPr id="21" name="Text 19"/>
          <p:cNvSpPr/>
          <p:nvPr/>
        </p:nvSpPr>
        <p:spPr>
          <a:xfrm>
            <a:off x="806883" y="4203860"/>
            <a:ext cx="1113498" cy="193652"/>
          </a:xfrm>
          <a:prstGeom prst="rect">
            <a:avLst/>
          </a:prstGeom>
          <a:noFill/>
          <a:ln/>
        </p:spPr>
        <p:txBody>
          <a:bodyPr wrap="square" lIns="0" tIns="0" rIns="0" bIns="0" rtlCol="0" anchor="ctr"/>
          <a:lstStyle/>
          <a:p>
            <a:pPr>
              <a:lnSpc>
                <a:spcPct val="130000"/>
              </a:lnSpc>
            </a:pPr>
            <a:r>
              <a:rPr lang="en-US" sz="1017" b="1" dirty="0">
                <a:solidFill>
                  <a:srgbClr val="E0E2E5"/>
                </a:solidFill>
                <a:latin typeface="Noto Sans SC" pitchFamily="34" charset="0"/>
                <a:ea typeface="Noto Sans SC" pitchFamily="34" charset="-122"/>
                <a:cs typeface="Noto Sans SC" pitchFamily="34" charset="-120"/>
              </a:rPr>
              <a:t>Cold KV</a:t>
            </a:r>
            <a:endParaRPr lang="en-US" sz="1600" dirty="0"/>
          </a:p>
        </p:txBody>
      </p:sp>
      <p:sp>
        <p:nvSpPr>
          <p:cNvPr id="22" name="Text 20"/>
          <p:cNvSpPr/>
          <p:nvPr/>
        </p:nvSpPr>
        <p:spPr>
          <a:xfrm>
            <a:off x="806883" y="4397512"/>
            <a:ext cx="1105430" cy="161377"/>
          </a:xfrm>
          <a:prstGeom prst="rect">
            <a:avLst/>
          </a:prstGeom>
          <a:noFill/>
          <a:ln/>
        </p:spPr>
        <p:txBody>
          <a:bodyPr wrap="square" lIns="0" tIns="0" rIns="0" bIns="0" rtlCol="0" anchor="ctr"/>
          <a:lstStyle/>
          <a:p>
            <a:pPr>
              <a:lnSpc>
                <a:spcPct val="120000"/>
              </a:lnSpc>
            </a:pPr>
            <a:r>
              <a:rPr lang="en-US" sz="889" dirty="0">
                <a:solidFill>
                  <a:srgbClr val="E0E2E5">
                    <a:alpha val="70000"/>
                  </a:srgbClr>
                </a:solidFill>
                <a:latin typeface="Noto Sans SC" pitchFamily="34" charset="0"/>
                <a:ea typeface="Noto Sans SC" pitchFamily="34" charset="-122"/>
                <a:cs typeface="Noto Sans SC" pitchFamily="34" charset="-120"/>
              </a:rPr>
              <a:t>压缩编码后存入 SSD</a:t>
            </a:r>
            <a:endParaRPr lang="en-US" sz="1600" dirty="0"/>
          </a:p>
        </p:txBody>
      </p:sp>
      <p:sp>
        <p:nvSpPr>
          <p:cNvPr id="23" name="Shape 21"/>
          <p:cNvSpPr/>
          <p:nvPr/>
        </p:nvSpPr>
        <p:spPr>
          <a:xfrm>
            <a:off x="338891" y="5099500"/>
            <a:ext cx="5696593" cy="1436251"/>
          </a:xfrm>
          <a:custGeom>
            <a:avLst/>
            <a:gdLst/>
            <a:ahLst/>
            <a:cxnLst/>
            <a:rect l="l" t="t" r="r" b="b"/>
            <a:pathLst>
              <a:path w="5696593" h="1436251">
                <a:moveTo>
                  <a:pt x="32275" y="0"/>
                </a:moveTo>
                <a:lnTo>
                  <a:pt x="5632048" y="0"/>
                </a:lnTo>
                <a:cubicBezTo>
                  <a:pt x="5667695" y="0"/>
                  <a:pt x="5696593" y="28898"/>
                  <a:pt x="5696593" y="64545"/>
                </a:cubicBezTo>
                <a:lnTo>
                  <a:pt x="5696593" y="1371706"/>
                </a:lnTo>
                <a:cubicBezTo>
                  <a:pt x="5696593" y="1407354"/>
                  <a:pt x="5667695" y="1436251"/>
                  <a:pt x="5632048" y="1436251"/>
                </a:cubicBezTo>
                <a:lnTo>
                  <a:pt x="32275" y="1436251"/>
                </a:lnTo>
                <a:cubicBezTo>
                  <a:pt x="14450" y="1436251"/>
                  <a:pt x="0" y="1421801"/>
                  <a:pt x="0" y="1403976"/>
                </a:cubicBezTo>
                <a:lnTo>
                  <a:pt x="0" y="32275"/>
                </a:lnTo>
                <a:cubicBezTo>
                  <a:pt x="0" y="14462"/>
                  <a:pt x="14462" y="0"/>
                  <a:pt x="32275" y="0"/>
                </a:cubicBezTo>
                <a:close/>
              </a:path>
            </a:pathLst>
          </a:custGeom>
          <a:solidFill>
            <a:srgbClr val="C9A86A">
              <a:alpha val="10196"/>
            </a:srgbClr>
          </a:solidFill>
          <a:ln/>
        </p:spPr>
        <p:txBody>
          <a:bodyPr/>
          <a:lstStyle/>
          <a:p>
            <a:endParaRPr lang="zh-CN" altLang="en-US"/>
          </a:p>
        </p:txBody>
      </p:sp>
      <p:sp>
        <p:nvSpPr>
          <p:cNvPr id="24" name="Shape 22"/>
          <p:cNvSpPr/>
          <p:nvPr/>
        </p:nvSpPr>
        <p:spPr>
          <a:xfrm>
            <a:off x="338891" y="5099500"/>
            <a:ext cx="32275" cy="1436251"/>
          </a:xfrm>
          <a:custGeom>
            <a:avLst/>
            <a:gdLst/>
            <a:ahLst/>
            <a:cxnLst/>
            <a:rect l="l" t="t" r="r" b="b"/>
            <a:pathLst>
              <a:path w="32275" h="1436251">
                <a:moveTo>
                  <a:pt x="32275" y="0"/>
                </a:moveTo>
                <a:lnTo>
                  <a:pt x="32275" y="0"/>
                </a:lnTo>
                <a:lnTo>
                  <a:pt x="32275" y="1436251"/>
                </a:lnTo>
                <a:lnTo>
                  <a:pt x="32275" y="1436251"/>
                </a:lnTo>
                <a:cubicBezTo>
                  <a:pt x="14450" y="1436251"/>
                  <a:pt x="0" y="1421801"/>
                  <a:pt x="0" y="1403976"/>
                </a:cubicBezTo>
                <a:lnTo>
                  <a:pt x="0" y="32275"/>
                </a:lnTo>
                <a:cubicBezTo>
                  <a:pt x="0" y="14462"/>
                  <a:pt x="14462" y="0"/>
                  <a:pt x="32275" y="0"/>
                </a:cubicBezTo>
                <a:close/>
              </a:path>
            </a:pathLst>
          </a:custGeom>
          <a:solidFill>
            <a:srgbClr val="C9A86A"/>
          </a:solidFill>
          <a:ln/>
        </p:spPr>
        <p:txBody>
          <a:bodyPr/>
          <a:lstStyle/>
          <a:p>
            <a:endParaRPr lang="zh-CN" altLang="en-US"/>
          </a:p>
        </p:txBody>
      </p:sp>
      <p:sp>
        <p:nvSpPr>
          <p:cNvPr id="25" name="Shape 23"/>
          <p:cNvSpPr/>
          <p:nvPr/>
        </p:nvSpPr>
        <p:spPr>
          <a:xfrm>
            <a:off x="516405" y="5260876"/>
            <a:ext cx="387304" cy="387304"/>
          </a:xfrm>
          <a:custGeom>
            <a:avLst/>
            <a:gdLst/>
            <a:ahLst/>
            <a:cxnLst/>
            <a:rect l="l" t="t" r="r" b="b"/>
            <a:pathLst>
              <a:path w="387304" h="387304">
                <a:moveTo>
                  <a:pt x="64552" y="0"/>
                </a:moveTo>
                <a:lnTo>
                  <a:pt x="322752" y="0"/>
                </a:lnTo>
                <a:cubicBezTo>
                  <a:pt x="358403" y="0"/>
                  <a:pt x="387304" y="28901"/>
                  <a:pt x="387304" y="64552"/>
                </a:cubicBezTo>
                <a:lnTo>
                  <a:pt x="387304" y="322752"/>
                </a:lnTo>
                <a:cubicBezTo>
                  <a:pt x="387304" y="358403"/>
                  <a:pt x="358403" y="387304"/>
                  <a:pt x="322752" y="387304"/>
                </a:cubicBezTo>
                <a:lnTo>
                  <a:pt x="64552" y="387304"/>
                </a:lnTo>
                <a:cubicBezTo>
                  <a:pt x="28901" y="387304"/>
                  <a:pt x="0" y="358403"/>
                  <a:pt x="0" y="322752"/>
                </a:cubicBezTo>
                <a:lnTo>
                  <a:pt x="0" y="64552"/>
                </a:lnTo>
                <a:cubicBezTo>
                  <a:pt x="0" y="28901"/>
                  <a:pt x="28901" y="0"/>
                  <a:pt x="64552" y="0"/>
                </a:cubicBezTo>
                <a:close/>
              </a:path>
            </a:pathLst>
          </a:custGeom>
          <a:solidFill>
            <a:srgbClr val="C9A86A"/>
          </a:solidFill>
          <a:ln/>
        </p:spPr>
        <p:txBody>
          <a:bodyPr/>
          <a:lstStyle/>
          <a:p>
            <a:endParaRPr lang="zh-CN" altLang="en-US"/>
          </a:p>
        </p:txBody>
      </p:sp>
      <p:sp>
        <p:nvSpPr>
          <p:cNvPr id="26" name="Text 24"/>
          <p:cNvSpPr/>
          <p:nvPr/>
        </p:nvSpPr>
        <p:spPr>
          <a:xfrm>
            <a:off x="613231" y="5341565"/>
            <a:ext cx="274340" cy="225927"/>
          </a:xfrm>
          <a:prstGeom prst="rect">
            <a:avLst/>
          </a:prstGeom>
          <a:noFill/>
          <a:ln/>
        </p:spPr>
        <p:txBody>
          <a:bodyPr wrap="square" lIns="0" tIns="0" rIns="0" bIns="0" rtlCol="0" anchor="ctr"/>
          <a:lstStyle/>
          <a:p>
            <a:pPr>
              <a:lnSpc>
                <a:spcPct val="120000"/>
              </a:lnSpc>
            </a:pPr>
            <a:r>
              <a:rPr lang="en-US" sz="1271" b="1" dirty="0">
                <a:solidFill>
                  <a:srgbClr val="FFFFFF"/>
                </a:solidFill>
                <a:latin typeface="Noto Sans SC" pitchFamily="34" charset="0"/>
                <a:ea typeface="Noto Sans SC" pitchFamily="34" charset="-122"/>
                <a:cs typeface="Noto Sans SC" pitchFamily="34" charset="-120"/>
              </a:rPr>
              <a:t>05</a:t>
            </a:r>
            <a:endParaRPr lang="en-US" sz="1600" dirty="0"/>
          </a:p>
        </p:txBody>
      </p:sp>
      <p:sp>
        <p:nvSpPr>
          <p:cNvPr id="27" name="Text 25"/>
          <p:cNvSpPr/>
          <p:nvPr/>
        </p:nvSpPr>
        <p:spPr>
          <a:xfrm>
            <a:off x="1000535" y="5341565"/>
            <a:ext cx="1533077" cy="225927"/>
          </a:xfrm>
          <a:prstGeom prst="rect">
            <a:avLst/>
          </a:prstGeom>
          <a:noFill/>
          <a:ln/>
        </p:spPr>
        <p:txBody>
          <a:bodyPr wrap="square" lIns="0" tIns="0" rIns="0" bIns="0" rtlCol="0" anchor="ctr"/>
          <a:lstStyle/>
          <a:p>
            <a:pPr>
              <a:lnSpc>
                <a:spcPct val="120000"/>
              </a:lnSpc>
            </a:pPr>
            <a:r>
              <a:rPr lang="en-US" sz="1271" b="1" dirty="0">
                <a:solidFill>
                  <a:srgbClr val="E0E2E5"/>
                </a:solidFill>
                <a:latin typeface="Noto Sans SC" pitchFamily="34" charset="0"/>
                <a:ea typeface="Noto Sans SC" pitchFamily="34" charset="-122"/>
                <a:cs typeface="Noto Sans SC" pitchFamily="34" charset="-120"/>
              </a:rPr>
              <a:t>系统与算法深度融合</a:t>
            </a:r>
            <a:endParaRPr lang="en-US" sz="1600" dirty="0"/>
          </a:p>
        </p:txBody>
      </p:sp>
      <p:sp>
        <p:nvSpPr>
          <p:cNvPr id="28" name="Text 26"/>
          <p:cNvSpPr/>
          <p:nvPr/>
        </p:nvSpPr>
        <p:spPr>
          <a:xfrm>
            <a:off x="516405" y="5745006"/>
            <a:ext cx="5422253" cy="629369"/>
          </a:xfrm>
          <a:prstGeom prst="rect">
            <a:avLst/>
          </a:prstGeom>
          <a:noFill/>
          <a:ln/>
        </p:spPr>
        <p:txBody>
          <a:bodyPr wrap="square" lIns="0" tIns="0" rIns="0" bIns="0" rtlCol="0" anchor="ctr"/>
          <a:lstStyle/>
          <a:p>
            <a:pPr>
              <a:lnSpc>
                <a:spcPct val="140000"/>
              </a:lnSpc>
            </a:pPr>
            <a:r>
              <a:rPr lang="en-US" sz="1017" b="1" dirty="0">
                <a:solidFill>
                  <a:srgbClr val="C9A86A"/>
                </a:solidFill>
                <a:latin typeface="Noto Sans SC" pitchFamily="34" charset="0"/>
                <a:ea typeface="Noto Sans SC" pitchFamily="34" charset="-122"/>
                <a:cs typeface="Noto Sans SC" pitchFamily="34" charset="-120"/>
              </a:rPr>
              <a:t>Kernel-aware Compression</a:t>
            </a:r>
            <a:r>
              <a:rPr lang="en-US" sz="1017" dirty="0">
                <a:solidFill>
                  <a:srgbClr val="E0E2E5">
                    <a:alpha val="80000"/>
                  </a:srgbClr>
                </a:solidFill>
                <a:latin typeface="Noto Sans SC" pitchFamily="34" charset="0"/>
                <a:ea typeface="Noto Sans SC" pitchFamily="34" charset="-122"/>
                <a:cs typeface="Noto Sans SC" pitchFamily="34" charset="-120"/>
              </a:rPr>
              <a:t> 将成为 2026 年一个重要且主流的设计范式。ShadowKV 的异构模式和 TurboQuant-vLLM 的端到端集成设计清晰表明：</a:t>
            </a:r>
            <a:r>
              <a:rPr lang="en-US" sz="1017" dirty="0">
                <a:solidFill>
                  <a:srgbClr val="C9A86A"/>
                </a:solidFill>
                <a:highlight>
                  <a:srgbClr val="C9A86A">
                    <a:alpha val="20000"/>
                  </a:srgbClr>
                </a:highlight>
                <a:latin typeface="Noto Sans SC" pitchFamily="34" charset="0"/>
                <a:ea typeface="Noto Sans SC" pitchFamily="34" charset="-122"/>
                <a:cs typeface="Noto Sans SC" pitchFamily="34" charset="-120"/>
              </a:rPr>
              <a:t> 最优的 KV Cache 压缩必须在算法设计阶段就充分考虑底层 Kernel 融合、SRAM 内存布局对齐和硬件带宽瓶颈 </a:t>
            </a:r>
            <a:r>
              <a:rPr lang="en-US" sz="1017"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29" name="Shape 27"/>
          <p:cNvSpPr/>
          <p:nvPr/>
        </p:nvSpPr>
        <p:spPr>
          <a:xfrm>
            <a:off x="6177130" y="1161911"/>
            <a:ext cx="5696593" cy="3308220"/>
          </a:xfrm>
          <a:custGeom>
            <a:avLst/>
            <a:gdLst/>
            <a:ahLst/>
            <a:cxnLst/>
            <a:rect l="l" t="t" r="r" b="b"/>
            <a:pathLst>
              <a:path w="5696593" h="3308220">
                <a:moveTo>
                  <a:pt x="32275" y="0"/>
                </a:moveTo>
                <a:lnTo>
                  <a:pt x="5632050" y="0"/>
                </a:lnTo>
                <a:cubicBezTo>
                  <a:pt x="5667696" y="0"/>
                  <a:pt x="5696593" y="28897"/>
                  <a:pt x="5696593" y="64543"/>
                </a:cubicBezTo>
                <a:lnTo>
                  <a:pt x="5696593" y="3243676"/>
                </a:lnTo>
                <a:cubicBezTo>
                  <a:pt x="5696593" y="3279323"/>
                  <a:pt x="5667696" y="3308220"/>
                  <a:pt x="5632050" y="3308220"/>
                </a:cubicBezTo>
                <a:lnTo>
                  <a:pt x="32275" y="3308220"/>
                </a:lnTo>
                <a:cubicBezTo>
                  <a:pt x="14450" y="3308220"/>
                  <a:pt x="0" y="3293770"/>
                  <a:pt x="0" y="3275944"/>
                </a:cubicBezTo>
                <a:lnTo>
                  <a:pt x="0" y="32275"/>
                </a:lnTo>
                <a:cubicBezTo>
                  <a:pt x="0" y="14450"/>
                  <a:pt x="14450" y="0"/>
                  <a:pt x="32275" y="0"/>
                </a:cubicBezTo>
                <a:close/>
              </a:path>
            </a:pathLst>
          </a:custGeom>
          <a:solidFill>
            <a:srgbClr val="5F6B7A">
              <a:alpha val="10196"/>
            </a:srgbClr>
          </a:solidFill>
          <a:ln/>
        </p:spPr>
        <p:txBody>
          <a:bodyPr/>
          <a:lstStyle/>
          <a:p>
            <a:endParaRPr lang="zh-CN" altLang="en-US"/>
          </a:p>
        </p:txBody>
      </p:sp>
      <p:sp>
        <p:nvSpPr>
          <p:cNvPr id="30" name="Shape 28"/>
          <p:cNvSpPr/>
          <p:nvPr/>
        </p:nvSpPr>
        <p:spPr>
          <a:xfrm>
            <a:off x="6177130" y="1161911"/>
            <a:ext cx="32275" cy="3308220"/>
          </a:xfrm>
          <a:custGeom>
            <a:avLst/>
            <a:gdLst/>
            <a:ahLst/>
            <a:cxnLst/>
            <a:rect l="l" t="t" r="r" b="b"/>
            <a:pathLst>
              <a:path w="32275" h="3308220">
                <a:moveTo>
                  <a:pt x="32275" y="0"/>
                </a:moveTo>
                <a:lnTo>
                  <a:pt x="32275" y="0"/>
                </a:lnTo>
                <a:lnTo>
                  <a:pt x="32275" y="3308220"/>
                </a:lnTo>
                <a:lnTo>
                  <a:pt x="32275" y="3308220"/>
                </a:lnTo>
                <a:cubicBezTo>
                  <a:pt x="14450" y="3308220"/>
                  <a:pt x="0" y="3293770"/>
                  <a:pt x="0" y="3275944"/>
                </a:cubicBezTo>
                <a:lnTo>
                  <a:pt x="0" y="32275"/>
                </a:lnTo>
                <a:cubicBezTo>
                  <a:pt x="0" y="14462"/>
                  <a:pt x="14462" y="0"/>
                  <a:pt x="32275" y="0"/>
                </a:cubicBezTo>
                <a:close/>
              </a:path>
            </a:pathLst>
          </a:custGeom>
          <a:solidFill>
            <a:srgbClr val="5F6B7A"/>
          </a:solidFill>
          <a:ln/>
        </p:spPr>
        <p:txBody>
          <a:bodyPr/>
          <a:lstStyle/>
          <a:p>
            <a:endParaRPr lang="zh-CN" altLang="en-US"/>
          </a:p>
        </p:txBody>
      </p:sp>
      <p:sp>
        <p:nvSpPr>
          <p:cNvPr id="31" name="Shape 29"/>
          <p:cNvSpPr/>
          <p:nvPr/>
        </p:nvSpPr>
        <p:spPr>
          <a:xfrm>
            <a:off x="6354644" y="1323288"/>
            <a:ext cx="387304" cy="387304"/>
          </a:xfrm>
          <a:custGeom>
            <a:avLst/>
            <a:gdLst/>
            <a:ahLst/>
            <a:cxnLst/>
            <a:rect l="l" t="t" r="r" b="b"/>
            <a:pathLst>
              <a:path w="387304" h="387304">
                <a:moveTo>
                  <a:pt x="64552" y="0"/>
                </a:moveTo>
                <a:lnTo>
                  <a:pt x="322752" y="0"/>
                </a:lnTo>
                <a:cubicBezTo>
                  <a:pt x="358403" y="0"/>
                  <a:pt x="387304" y="28901"/>
                  <a:pt x="387304" y="64552"/>
                </a:cubicBezTo>
                <a:lnTo>
                  <a:pt x="387304" y="322752"/>
                </a:lnTo>
                <a:cubicBezTo>
                  <a:pt x="387304" y="358403"/>
                  <a:pt x="358403" y="387304"/>
                  <a:pt x="322752" y="387304"/>
                </a:cubicBezTo>
                <a:lnTo>
                  <a:pt x="64552" y="387304"/>
                </a:lnTo>
                <a:cubicBezTo>
                  <a:pt x="28901" y="387304"/>
                  <a:pt x="0" y="358403"/>
                  <a:pt x="0" y="322752"/>
                </a:cubicBezTo>
                <a:lnTo>
                  <a:pt x="0" y="64552"/>
                </a:lnTo>
                <a:cubicBezTo>
                  <a:pt x="0" y="28901"/>
                  <a:pt x="28901" y="0"/>
                  <a:pt x="64552" y="0"/>
                </a:cubicBezTo>
                <a:close/>
              </a:path>
            </a:pathLst>
          </a:custGeom>
          <a:solidFill>
            <a:srgbClr val="5F6B7A"/>
          </a:solidFill>
          <a:ln/>
        </p:spPr>
        <p:txBody>
          <a:bodyPr/>
          <a:lstStyle/>
          <a:p>
            <a:endParaRPr lang="zh-CN" altLang="en-US"/>
          </a:p>
        </p:txBody>
      </p:sp>
      <p:sp>
        <p:nvSpPr>
          <p:cNvPr id="32" name="Text 30"/>
          <p:cNvSpPr/>
          <p:nvPr/>
        </p:nvSpPr>
        <p:spPr>
          <a:xfrm>
            <a:off x="6451470" y="1403976"/>
            <a:ext cx="274340" cy="225927"/>
          </a:xfrm>
          <a:prstGeom prst="rect">
            <a:avLst/>
          </a:prstGeom>
          <a:noFill/>
          <a:ln/>
        </p:spPr>
        <p:txBody>
          <a:bodyPr wrap="square" lIns="0" tIns="0" rIns="0" bIns="0" rtlCol="0" anchor="ctr"/>
          <a:lstStyle/>
          <a:p>
            <a:pPr>
              <a:lnSpc>
                <a:spcPct val="120000"/>
              </a:lnSpc>
            </a:pPr>
            <a:r>
              <a:rPr lang="en-US" sz="1271" b="1" dirty="0">
                <a:solidFill>
                  <a:srgbClr val="FFFFFF"/>
                </a:solidFill>
                <a:latin typeface="Noto Sans SC" pitchFamily="34" charset="0"/>
                <a:ea typeface="Noto Sans SC" pitchFamily="34" charset="-122"/>
                <a:cs typeface="Noto Sans SC" pitchFamily="34" charset="-120"/>
              </a:rPr>
              <a:t>06</a:t>
            </a:r>
            <a:endParaRPr lang="en-US" sz="1600" dirty="0"/>
          </a:p>
        </p:txBody>
      </p:sp>
      <p:sp>
        <p:nvSpPr>
          <p:cNvPr id="33" name="Text 31"/>
          <p:cNvSpPr/>
          <p:nvPr/>
        </p:nvSpPr>
        <p:spPr>
          <a:xfrm>
            <a:off x="6838773" y="1403976"/>
            <a:ext cx="2291547" cy="225927"/>
          </a:xfrm>
          <a:prstGeom prst="rect">
            <a:avLst/>
          </a:prstGeom>
          <a:noFill/>
          <a:ln/>
        </p:spPr>
        <p:txBody>
          <a:bodyPr wrap="square" lIns="0" tIns="0" rIns="0" bIns="0" rtlCol="0" anchor="ctr"/>
          <a:lstStyle/>
          <a:p>
            <a:pPr>
              <a:lnSpc>
                <a:spcPct val="120000"/>
              </a:lnSpc>
            </a:pPr>
            <a:r>
              <a:rPr lang="en-US" sz="1271" b="1" dirty="0">
                <a:solidFill>
                  <a:srgbClr val="E0E2E5"/>
                </a:solidFill>
                <a:latin typeface="Noto Sans SC" pitchFamily="34" charset="0"/>
                <a:ea typeface="Noto Sans SC" pitchFamily="34" charset="-122"/>
                <a:cs typeface="Noto Sans SC" pitchFamily="34" charset="-120"/>
              </a:rPr>
              <a:t>Benchmark 与评测体系标准化</a:t>
            </a:r>
            <a:endParaRPr lang="en-US" sz="1600" dirty="0"/>
          </a:p>
        </p:txBody>
      </p:sp>
      <p:sp>
        <p:nvSpPr>
          <p:cNvPr id="34" name="Shape 32"/>
          <p:cNvSpPr/>
          <p:nvPr/>
        </p:nvSpPr>
        <p:spPr>
          <a:xfrm>
            <a:off x="6354644" y="1823555"/>
            <a:ext cx="5357702" cy="677782"/>
          </a:xfrm>
          <a:custGeom>
            <a:avLst/>
            <a:gdLst/>
            <a:ahLst/>
            <a:cxnLst/>
            <a:rect l="l" t="t" r="r" b="b"/>
            <a:pathLst>
              <a:path w="5357702" h="677782">
                <a:moveTo>
                  <a:pt x="64552" y="0"/>
                </a:moveTo>
                <a:lnTo>
                  <a:pt x="5293150" y="0"/>
                </a:lnTo>
                <a:cubicBezTo>
                  <a:pt x="5328801" y="0"/>
                  <a:pt x="5357702" y="28901"/>
                  <a:pt x="5357702" y="64552"/>
                </a:cubicBezTo>
                <a:lnTo>
                  <a:pt x="5357702" y="613230"/>
                </a:lnTo>
                <a:cubicBezTo>
                  <a:pt x="5357702" y="648881"/>
                  <a:pt x="5328801" y="677782"/>
                  <a:pt x="5293150" y="677782"/>
                </a:cubicBezTo>
                <a:lnTo>
                  <a:pt x="64552" y="677782"/>
                </a:lnTo>
                <a:cubicBezTo>
                  <a:pt x="28901" y="677782"/>
                  <a:pt x="0" y="648881"/>
                  <a:pt x="0" y="613230"/>
                </a:cubicBezTo>
                <a:lnTo>
                  <a:pt x="0" y="64552"/>
                </a:lnTo>
                <a:cubicBezTo>
                  <a:pt x="0" y="28901"/>
                  <a:pt x="28901" y="0"/>
                  <a:pt x="64552" y="0"/>
                </a:cubicBezTo>
                <a:close/>
              </a:path>
            </a:pathLst>
          </a:custGeom>
          <a:solidFill>
            <a:srgbClr val="1A1D21">
              <a:alpha val="50196"/>
            </a:srgbClr>
          </a:solidFill>
          <a:ln/>
        </p:spPr>
        <p:txBody>
          <a:bodyPr/>
          <a:lstStyle/>
          <a:p>
            <a:endParaRPr lang="zh-CN" altLang="en-US"/>
          </a:p>
        </p:txBody>
      </p:sp>
      <p:sp>
        <p:nvSpPr>
          <p:cNvPr id="35" name="Text 33"/>
          <p:cNvSpPr/>
          <p:nvPr/>
        </p:nvSpPr>
        <p:spPr>
          <a:xfrm>
            <a:off x="6451470" y="1920381"/>
            <a:ext cx="5228601" cy="193652"/>
          </a:xfrm>
          <a:prstGeom prst="rect">
            <a:avLst/>
          </a:prstGeom>
          <a:noFill/>
          <a:ln/>
        </p:spPr>
        <p:txBody>
          <a:bodyPr wrap="square" lIns="0" tIns="0" rIns="0" bIns="0" rtlCol="0" anchor="ctr"/>
          <a:lstStyle/>
          <a:p>
            <a:pPr>
              <a:lnSpc>
                <a:spcPct val="130000"/>
              </a:lnSpc>
            </a:pPr>
            <a:r>
              <a:rPr lang="en-US" sz="1017" b="1" dirty="0">
                <a:solidFill>
                  <a:srgbClr val="5F6B7A"/>
                </a:solidFill>
                <a:latin typeface="Noto Sans SC" pitchFamily="34" charset="0"/>
                <a:ea typeface="Noto Sans SC" pitchFamily="34" charset="-122"/>
                <a:cs typeface="Noto Sans SC" pitchFamily="34" charset="-120"/>
              </a:rPr>
              <a:t>当前主流基准</a:t>
            </a:r>
            <a:endParaRPr lang="en-US" sz="1600" dirty="0"/>
          </a:p>
        </p:txBody>
      </p:sp>
      <p:sp>
        <p:nvSpPr>
          <p:cNvPr id="36" name="Shape 34"/>
          <p:cNvSpPr/>
          <p:nvPr/>
        </p:nvSpPr>
        <p:spPr>
          <a:xfrm>
            <a:off x="6451470" y="2178584"/>
            <a:ext cx="718126" cy="225927"/>
          </a:xfrm>
          <a:custGeom>
            <a:avLst/>
            <a:gdLst/>
            <a:ahLst/>
            <a:cxnLst/>
            <a:rect l="l" t="t" r="r" b="b"/>
            <a:pathLst>
              <a:path w="718126" h="225927">
                <a:moveTo>
                  <a:pt x="32276" y="0"/>
                </a:moveTo>
                <a:lnTo>
                  <a:pt x="685850" y="0"/>
                </a:lnTo>
                <a:cubicBezTo>
                  <a:pt x="703675" y="0"/>
                  <a:pt x="718126" y="14450"/>
                  <a:pt x="718126" y="32276"/>
                </a:cubicBezTo>
                <a:lnTo>
                  <a:pt x="718126" y="193651"/>
                </a:lnTo>
                <a:cubicBezTo>
                  <a:pt x="718126" y="211477"/>
                  <a:pt x="703675" y="225927"/>
                  <a:pt x="685850" y="225927"/>
                </a:cubicBezTo>
                <a:lnTo>
                  <a:pt x="32276" y="225927"/>
                </a:lnTo>
                <a:cubicBezTo>
                  <a:pt x="14450" y="225927"/>
                  <a:pt x="0" y="211477"/>
                  <a:pt x="0" y="193651"/>
                </a:cubicBezTo>
                <a:lnTo>
                  <a:pt x="0" y="32276"/>
                </a:lnTo>
                <a:cubicBezTo>
                  <a:pt x="0" y="14450"/>
                  <a:pt x="14450" y="0"/>
                  <a:pt x="32276" y="0"/>
                </a:cubicBezTo>
                <a:close/>
              </a:path>
            </a:pathLst>
          </a:custGeom>
          <a:solidFill>
            <a:srgbClr val="5F6B7A">
              <a:alpha val="20000"/>
            </a:srgbClr>
          </a:solidFill>
          <a:ln/>
        </p:spPr>
        <p:txBody>
          <a:bodyPr/>
          <a:lstStyle/>
          <a:p>
            <a:endParaRPr lang="zh-CN" altLang="en-US"/>
          </a:p>
        </p:txBody>
      </p:sp>
      <p:sp>
        <p:nvSpPr>
          <p:cNvPr id="37" name="Text 35"/>
          <p:cNvSpPr/>
          <p:nvPr/>
        </p:nvSpPr>
        <p:spPr>
          <a:xfrm>
            <a:off x="6451470" y="2178584"/>
            <a:ext cx="774608" cy="225927"/>
          </a:xfrm>
          <a:prstGeom prst="rect">
            <a:avLst/>
          </a:prstGeom>
          <a:noFill/>
          <a:ln/>
        </p:spPr>
        <p:txBody>
          <a:bodyPr wrap="square" lIns="64551" tIns="32275" rIns="64551" bIns="32275" rtlCol="0" anchor="ctr"/>
          <a:lstStyle/>
          <a:p>
            <a:pPr>
              <a:lnSpc>
                <a:spcPct val="120000"/>
              </a:lnSpc>
            </a:pPr>
            <a:r>
              <a:rPr lang="en-US" sz="889" dirty="0">
                <a:solidFill>
                  <a:srgbClr val="5F6B7A"/>
                </a:solidFill>
                <a:latin typeface="Noto Sans SC" pitchFamily="34" charset="0"/>
                <a:ea typeface="Noto Sans SC" pitchFamily="34" charset="-122"/>
                <a:cs typeface="Noto Sans SC" pitchFamily="34" charset="-120"/>
              </a:rPr>
              <a:t>LongBench</a:t>
            </a:r>
            <a:endParaRPr lang="en-US" sz="1600" dirty="0"/>
          </a:p>
        </p:txBody>
      </p:sp>
      <p:sp>
        <p:nvSpPr>
          <p:cNvPr id="38" name="Shape 36"/>
          <p:cNvSpPr/>
          <p:nvPr/>
        </p:nvSpPr>
        <p:spPr>
          <a:xfrm>
            <a:off x="7234587" y="2178584"/>
            <a:ext cx="500267" cy="225927"/>
          </a:xfrm>
          <a:custGeom>
            <a:avLst/>
            <a:gdLst/>
            <a:ahLst/>
            <a:cxnLst/>
            <a:rect l="l" t="t" r="r" b="b"/>
            <a:pathLst>
              <a:path w="500267" h="225927">
                <a:moveTo>
                  <a:pt x="32276" y="0"/>
                </a:moveTo>
                <a:lnTo>
                  <a:pt x="467991" y="0"/>
                </a:lnTo>
                <a:cubicBezTo>
                  <a:pt x="485817" y="0"/>
                  <a:pt x="500267" y="14450"/>
                  <a:pt x="500267" y="32276"/>
                </a:cubicBezTo>
                <a:lnTo>
                  <a:pt x="500267" y="193651"/>
                </a:lnTo>
                <a:cubicBezTo>
                  <a:pt x="500267" y="211477"/>
                  <a:pt x="485817" y="225927"/>
                  <a:pt x="467991" y="225927"/>
                </a:cubicBezTo>
                <a:lnTo>
                  <a:pt x="32276" y="225927"/>
                </a:lnTo>
                <a:cubicBezTo>
                  <a:pt x="14450" y="225927"/>
                  <a:pt x="0" y="211477"/>
                  <a:pt x="0" y="193651"/>
                </a:cubicBezTo>
                <a:lnTo>
                  <a:pt x="0" y="32276"/>
                </a:lnTo>
                <a:cubicBezTo>
                  <a:pt x="0" y="14450"/>
                  <a:pt x="14450" y="0"/>
                  <a:pt x="32276" y="0"/>
                </a:cubicBezTo>
                <a:close/>
              </a:path>
            </a:pathLst>
          </a:custGeom>
          <a:solidFill>
            <a:srgbClr val="5F6B7A">
              <a:alpha val="20000"/>
            </a:srgbClr>
          </a:solidFill>
          <a:ln/>
        </p:spPr>
        <p:txBody>
          <a:bodyPr/>
          <a:lstStyle/>
          <a:p>
            <a:endParaRPr lang="zh-CN" altLang="en-US"/>
          </a:p>
        </p:txBody>
      </p:sp>
      <p:sp>
        <p:nvSpPr>
          <p:cNvPr id="39" name="Text 37"/>
          <p:cNvSpPr/>
          <p:nvPr/>
        </p:nvSpPr>
        <p:spPr>
          <a:xfrm>
            <a:off x="7234587" y="2178584"/>
            <a:ext cx="556749" cy="225927"/>
          </a:xfrm>
          <a:prstGeom prst="rect">
            <a:avLst/>
          </a:prstGeom>
          <a:noFill/>
          <a:ln/>
        </p:spPr>
        <p:txBody>
          <a:bodyPr wrap="square" lIns="64551" tIns="32275" rIns="64551" bIns="32275" rtlCol="0" anchor="ctr"/>
          <a:lstStyle/>
          <a:p>
            <a:pPr>
              <a:lnSpc>
                <a:spcPct val="120000"/>
              </a:lnSpc>
            </a:pPr>
            <a:r>
              <a:rPr lang="en-US" sz="889" dirty="0">
                <a:solidFill>
                  <a:srgbClr val="5F6B7A"/>
                </a:solidFill>
                <a:latin typeface="Noto Sans SC" pitchFamily="34" charset="0"/>
                <a:ea typeface="Noto Sans SC" pitchFamily="34" charset="-122"/>
                <a:cs typeface="Noto Sans SC" pitchFamily="34" charset="-120"/>
              </a:rPr>
              <a:t>RULER</a:t>
            </a:r>
            <a:endParaRPr lang="en-US" sz="1600" dirty="0"/>
          </a:p>
        </p:txBody>
      </p:sp>
      <p:sp>
        <p:nvSpPr>
          <p:cNvPr id="40" name="Shape 38"/>
          <p:cNvSpPr/>
          <p:nvPr/>
        </p:nvSpPr>
        <p:spPr>
          <a:xfrm>
            <a:off x="7800036" y="2178584"/>
            <a:ext cx="395373" cy="225927"/>
          </a:xfrm>
          <a:custGeom>
            <a:avLst/>
            <a:gdLst/>
            <a:ahLst/>
            <a:cxnLst/>
            <a:rect l="l" t="t" r="r" b="b"/>
            <a:pathLst>
              <a:path w="395373" h="225927">
                <a:moveTo>
                  <a:pt x="32276" y="0"/>
                </a:moveTo>
                <a:lnTo>
                  <a:pt x="363097" y="0"/>
                </a:lnTo>
                <a:cubicBezTo>
                  <a:pt x="380922" y="0"/>
                  <a:pt x="395373" y="14450"/>
                  <a:pt x="395373" y="32276"/>
                </a:cubicBezTo>
                <a:lnTo>
                  <a:pt x="395373" y="193651"/>
                </a:lnTo>
                <a:cubicBezTo>
                  <a:pt x="395373" y="211477"/>
                  <a:pt x="380922" y="225927"/>
                  <a:pt x="363097" y="225927"/>
                </a:cubicBezTo>
                <a:lnTo>
                  <a:pt x="32276" y="225927"/>
                </a:lnTo>
                <a:cubicBezTo>
                  <a:pt x="14450" y="225927"/>
                  <a:pt x="0" y="211477"/>
                  <a:pt x="0" y="193651"/>
                </a:cubicBezTo>
                <a:lnTo>
                  <a:pt x="0" y="32276"/>
                </a:lnTo>
                <a:cubicBezTo>
                  <a:pt x="0" y="14450"/>
                  <a:pt x="14450" y="0"/>
                  <a:pt x="32276" y="0"/>
                </a:cubicBezTo>
                <a:close/>
              </a:path>
            </a:pathLst>
          </a:custGeom>
          <a:solidFill>
            <a:srgbClr val="5F6B7A">
              <a:alpha val="20000"/>
            </a:srgbClr>
          </a:solidFill>
          <a:ln/>
        </p:spPr>
        <p:txBody>
          <a:bodyPr/>
          <a:lstStyle/>
          <a:p>
            <a:endParaRPr lang="zh-CN" altLang="en-US"/>
          </a:p>
        </p:txBody>
      </p:sp>
      <p:sp>
        <p:nvSpPr>
          <p:cNvPr id="41" name="Text 39"/>
          <p:cNvSpPr/>
          <p:nvPr/>
        </p:nvSpPr>
        <p:spPr>
          <a:xfrm>
            <a:off x="7800036" y="2178584"/>
            <a:ext cx="451854" cy="225927"/>
          </a:xfrm>
          <a:prstGeom prst="rect">
            <a:avLst/>
          </a:prstGeom>
          <a:noFill/>
          <a:ln/>
        </p:spPr>
        <p:txBody>
          <a:bodyPr wrap="square" lIns="64551" tIns="32275" rIns="64551" bIns="32275" rtlCol="0" anchor="ctr"/>
          <a:lstStyle/>
          <a:p>
            <a:pPr>
              <a:lnSpc>
                <a:spcPct val="120000"/>
              </a:lnSpc>
            </a:pPr>
            <a:r>
              <a:rPr lang="en-US" sz="889" dirty="0">
                <a:solidFill>
                  <a:srgbClr val="5F6B7A"/>
                </a:solidFill>
                <a:latin typeface="Noto Sans SC" pitchFamily="34" charset="0"/>
                <a:ea typeface="Noto Sans SC" pitchFamily="34" charset="-122"/>
                <a:cs typeface="Noto Sans SC" pitchFamily="34" charset="-120"/>
              </a:rPr>
              <a:t>NIAH</a:t>
            </a:r>
            <a:endParaRPr lang="en-US" sz="1600" dirty="0"/>
          </a:p>
        </p:txBody>
      </p:sp>
      <p:sp>
        <p:nvSpPr>
          <p:cNvPr id="42" name="Shape 40"/>
          <p:cNvSpPr/>
          <p:nvPr/>
        </p:nvSpPr>
        <p:spPr>
          <a:xfrm>
            <a:off x="6354644" y="2630438"/>
            <a:ext cx="5357702" cy="661644"/>
          </a:xfrm>
          <a:custGeom>
            <a:avLst/>
            <a:gdLst/>
            <a:ahLst/>
            <a:cxnLst/>
            <a:rect l="l" t="t" r="r" b="b"/>
            <a:pathLst>
              <a:path w="5357702" h="661644">
                <a:moveTo>
                  <a:pt x="64550" y="0"/>
                </a:moveTo>
                <a:lnTo>
                  <a:pt x="5293152" y="0"/>
                </a:lnTo>
                <a:cubicBezTo>
                  <a:pt x="5328802" y="0"/>
                  <a:pt x="5357702" y="28900"/>
                  <a:pt x="5357702" y="64550"/>
                </a:cubicBezTo>
                <a:lnTo>
                  <a:pt x="5357702" y="597094"/>
                </a:lnTo>
                <a:cubicBezTo>
                  <a:pt x="5357702" y="632744"/>
                  <a:pt x="5328802" y="661644"/>
                  <a:pt x="5293152" y="661644"/>
                </a:cubicBezTo>
                <a:lnTo>
                  <a:pt x="64550" y="661644"/>
                </a:lnTo>
                <a:cubicBezTo>
                  <a:pt x="28900" y="661644"/>
                  <a:pt x="0" y="632744"/>
                  <a:pt x="0" y="597094"/>
                </a:cubicBezTo>
                <a:lnTo>
                  <a:pt x="0" y="64550"/>
                </a:lnTo>
                <a:cubicBezTo>
                  <a:pt x="0" y="28924"/>
                  <a:pt x="28924" y="0"/>
                  <a:pt x="64550" y="0"/>
                </a:cubicBezTo>
                <a:close/>
              </a:path>
            </a:pathLst>
          </a:custGeom>
          <a:solidFill>
            <a:srgbClr val="1A1D21">
              <a:alpha val="50196"/>
            </a:srgbClr>
          </a:solidFill>
          <a:ln/>
        </p:spPr>
        <p:txBody>
          <a:bodyPr/>
          <a:lstStyle/>
          <a:p>
            <a:endParaRPr lang="zh-CN" altLang="en-US"/>
          </a:p>
        </p:txBody>
      </p:sp>
      <p:sp>
        <p:nvSpPr>
          <p:cNvPr id="43" name="Text 41"/>
          <p:cNvSpPr/>
          <p:nvPr/>
        </p:nvSpPr>
        <p:spPr>
          <a:xfrm>
            <a:off x="6451470" y="2727264"/>
            <a:ext cx="5228601" cy="193652"/>
          </a:xfrm>
          <a:prstGeom prst="rect">
            <a:avLst/>
          </a:prstGeom>
          <a:noFill/>
          <a:ln/>
        </p:spPr>
        <p:txBody>
          <a:bodyPr wrap="square" lIns="0" tIns="0" rIns="0" bIns="0" rtlCol="0" anchor="ctr"/>
          <a:lstStyle/>
          <a:p>
            <a:pPr>
              <a:lnSpc>
                <a:spcPct val="130000"/>
              </a:lnSpc>
            </a:pPr>
            <a:r>
              <a:rPr lang="en-US" sz="1017" b="1" dirty="0">
                <a:solidFill>
                  <a:srgbClr val="5F6B7A"/>
                </a:solidFill>
                <a:latin typeface="Noto Sans SC" pitchFamily="34" charset="0"/>
                <a:ea typeface="Noto Sans SC" pitchFamily="34" charset="-122"/>
                <a:cs typeface="Noto Sans SC" pitchFamily="34" charset="-120"/>
              </a:rPr>
              <a:t>突破性工作</a:t>
            </a:r>
            <a:endParaRPr lang="en-US" sz="1600" dirty="0"/>
          </a:p>
        </p:txBody>
      </p:sp>
      <p:sp>
        <p:nvSpPr>
          <p:cNvPr id="44" name="Text 42"/>
          <p:cNvSpPr/>
          <p:nvPr/>
        </p:nvSpPr>
        <p:spPr>
          <a:xfrm>
            <a:off x="6451470" y="2985467"/>
            <a:ext cx="5228601" cy="209790"/>
          </a:xfrm>
          <a:prstGeom prst="rect">
            <a:avLst/>
          </a:prstGeom>
          <a:noFill/>
          <a:ln/>
        </p:spPr>
        <p:txBody>
          <a:bodyPr wrap="square" lIns="0" tIns="0" rIns="0" bIns="0" rtlCol="0" anchor="ctr"/>
          <a:lstStyle/>
          <a:p>
            <a:pPr>
              <a:lnSpc>
                <a:spcPct val="140000"/>
              </a:lnSpc>
            </a:pPr>
            <a:r>
              <a:rPr lang="en-US" sz="1017" b="1" dirty="0">
                <a:solidFill>
                  <a:srgbClr val="5F6B7A"/>
                </a:solidFill>
                <a:latin typeface="Noto Sans SC" pitchFamily="34" charset="0"/>
                <a:ea typeface="Noto Sans SC" pitchFamily="34" charset="-122"/>
                <a:cs typeface="Noto Sans SC" pitchFamily="34" charset="-120"/>
              </a:rPr>
              <a:t>KV-CoRE (2026.02)</a:t>
            </a:r>
            <a:r>
              <a:rPr lang="en-US" sz="1017" dirty="0">
                <a:solidFill>
                  <a:srgbClr val="E0E2E5">
                    <a:alpha val="80000"/>
                  </a:srgbClr>
                </a:solidFill>
                <a:latin typeface="Noto Sans SC" pitchFamily="34" charset="0"/>
                <a:ea typeface="Noto Sans SC" pitchFamily="34" charset="-122"/>
                <a:cs typeface="Noto Sans SC" pitchFamily="34" charset="-120"/>
              </a:rPr>
              <a:t>：首个系统性评估 KV Cache 数据依赖低秩可压缩性的基准框架</a:t>
            </a:r>
            <a:endParaRPr lang="en-US" sz="1600" dirty="0"/>
          </a:p>
        </p:txBody>
      </p:sp>
      <p:sp>
        <p:nvSpPr>
          <p:cNvPr id="45" name="Shape 43"/>
          <p:cNvSpPr/>
          <p:nvPr/>
        </p:nvSpPr>
        <p:spPr>
          <a:xfrm>
            <a:off x="6370781" y="3421183"/>
            <a:ext cx="5341565" cy="871433"/>
          </a:xfrm>
          <a:custGeom>
            <a:avLst/>
            <a:gdLst/>
            <a:ahLst/>
            <a:cxnLst/>
            <a:rect l="l" t="t" r="r" b="b"/>
            <a:pathLst>
              <a:path w="5341565" h="871433">
                <a:moveTo>
                  <a:pt x="32275" y="0"/>
                </a:moveTo>
                <a:lnTo>
                  <a:pt x="5277017" y="0"/>
                </a:lnTo>
                <a:cubicBezTo>
                  <a:pt x="5312666" y="0"/>
                  <a:pt x="5341565" y="28899"/>
                  <a:pt x="5341565" y="64547"/>
                </a:cubicBezTo>
                <a:lnTo>
                  <a:pt x="5341565" y="806886"/>
                </a:lnTo>
                <a:cubicBezTo>
                  <a:pt x="5341565" y="842535"/>
                  <a:pt x="5312666" y="871433"/>
                  <a:pt x="5277017" y="871433"/>
                </a:cubicBezTo>
                <a:lnTo>
                  <a:pt x="32275" y="871433"/>
                </a:lnTo>
                <a:cubicBezTo>
                  <a:pt x="14450" y="871433"/>
                  <a:pt x="0" y="856983"/>
                  <a:pt x="0" y="839158"/>
                </a:cubicBezTo>
                <a:lnTo>
                  <a:pt x="0" y="32275"/>
                </a:lnTo>
                <a:cubicBezTo>
                  <a:pt x="0" y="14450"/>
                  <a:pt x="14450" y="0"/>
                  <a:pt x="32275" y="0"/>
                </a:cubicBezTo>
                <a:close/>
              </a:path>
            </a:pathLst>
          </a:custGeom>
          <a:solidFill>
            <a:srgbClr val="3D8B75">
              <a:alpha val="20000"/>
            </a:srgbClr>
          </a:solidFill>
          <a:ln/>
        </p:spPr>
        <p:txBody>
          <a:bodyPr/>
          <a:lstStyle/>
          <a:p>
            <a:endParaRPr lang="zh-CN" altLang="en-US"/>
          </a:p>
        </p:txBody>
      </p:sp>
      <p:sp>
        <p:nvSpPr>
          <p:cNvPr id="46" name="Shape 44"/>
          <p:cNvSpPr/>
          <p:nvPr/>
        </p:nvSpPr>
        <p:spPr>
          <a:xfrm>
            <a:off x="6370781" y="3421183"/>
            <a:ext cx="32275" cy="871433"/>
          </a:xfrm>
          <a:custGeom>
            <a:avLst/>
            <a:gdLst/>
            <a:ahLst/>
            <a:cxnLst/>
            <a:rect l="l" t="t" r="r" b="b"/>
            <a:pathLst>
              <a:path w="32275" h="871433">
                <a:moveTo>
                  <a:pt x="32275" y="0"/>
                </a:moveTo>
                <a:lnTo>
                  <a:pt x="32275" y="0"/>
                </a:lnTo>
                <a:lnTo>
                  <a:pt x="32275" y="871433"/>
                </a:lnTo>
                <a:lnTo>
                  <a:pt x="32275" y="871433"/>
                </a:lnTo>
                <a:cubicBezTo>
                  <a:pt x="14450" y="871433"/>
                  <a:pt x="0" y="856983"/>
                  <a:pt x="0" y="839158"/>
                </a:cubicBezTo>
                <a:lnTo>
                  <a:pt x="0" y="32275"/>
                </a:lnTo>
                <a:cubicBezTo>
                  <a:pt x="0" y="14462"/>
                  <a:pt x="14462" y="0"/>
                  <a:pt x="32275" y="0"/>
                </a:cubicBezTo>
                <a:close/>
              </a:path>
            </a:pathLst>
          </a:custGeom>
          <a:solidFill>
            <a:srgbClr val="3D8B75"/>
          </a:solidFill>
          <a:ln/>
        </p:spPr>
        <p:txBody>
          <a:bodyPr/>
          <a:lstStyle/>
          <a:p>
            <a:endParaRPr lang="zh-CN" altLang="en-US"/>
          </a:p>
        </p:txBody>
      </p:sp>
      <p:sp>
        <p:nvSpPr>
          <p:cNvPr id="47" name="Text 45"/>
          <p:cNvSpPr/>
          <p:nvPr/>
        </p:nvSpPr>
        <p:spPr>
          <a:xfrm>
            <a:off x="6483745" y="3518009"/>
            <a:ext cx="5196326" cy="193652"/>
          </a:xfrm>
          <a:prstGeom prst="rect">
            <a:avLst/>
          </a:prstGeom>
          <a:noFill/>
          <a:ln/>
        </p:spPr>
        <p:txBody>
          <a:bodyPr wrap="square" lIns="0" tIns="0" rIns="0" bIns="0" rtlCol="0" anchor="ctr"/>
          <a:lstStyle/>
          <a:p>
            <a:pPr>
              <a:lnSpc>
                <a:spcPct val="130000"/>
              </a:lnSpc>
            </a:pPr>
            <a:r>
              <a:rPr lang="en-US" sz="1017" b="1" dirty="0">
                <a:solidFill>
                  <a:srgbClr val="E0E2E5"/>
                </a:solidFill>
                <a:latin typeface="Noto Sans SC" pitchFamily="34" charset="0"/>
                <a:ea typeface="Noto Sans SC" pitchFamily="34" charset="-122"/>
                <a:cs typeface="Noto Sans SC" pitchFamily="34" charset="-120"/>
              </a:rPr>
              <a:t>价值</a:t>
            </a:r>
            <a:endParaRPr lang="en-US" sz="1600" dirty="0"/>
          </a:p>
        </p:txBody>
      </p:sp>
      <p:sp>
        <p:nvSpPr>
          <p:cNvPr id="48" name="Text 46"/>
          <p:cNvSpPr/>
          <p:nvPr/>
        </p:nvSpPr>
        <p:spPr>
          <a:xfrm>
            <a:off x="6483745" y="3776212"/>
            <a:ext cx="5196326" cy="419579"/>
          </a:xfrm>
          <a:prstGeom prst="rect">
            <a:avLst/>
          </a:prstGeom>
          <a:noFill/>
          <a:ln/>
        </p:spPr>
        <p:txBody>
          <a:bodyPr wrap="square" lIns="0" tIns="0" rIns="0" bIns="0" rtlCol="0" anchor="ctr"/>
          <a:lstStyle/>
          <a:p>
            <a:pPr>
              <a:lnSpc>
                <a:spcPct val="140000"/>
              </a:lnSpc>
            </a:pPr>
            <a:r>
              <a:rPr lang="en-US" sz="1017" dirty="0">
                <a:solidFill>
                  <a:srgbClr val="E0E2E5">
                    <a:alpha val="80000"/>
                  </a:srgbClr>
                </a:solidFill>
                <a:latin typeface="Noto Sans SC" pitchFamily="34" charset="0"/>
                <a:ea typeface="Noto Sans SC" pitchFamily="34" charset="-122"/>
                <a:cs typeface="Noto Sans SC" pitchFamily="34" charset="-120"/>
              </a:rPr>
              <a:t>通过 Normalized Effective Rank 等指标在事前评估不同模型和数据集对低秩压缩的适应潜力</a:t>
            </a:r>
            <a:endParaRPr lang="en-US" sz="1600" dirty="0"/>
          </a:p>
        </p:txBody>
      </p:sp>
      <p:sp>
        <p:nvSpPr>
          <p:cNvPr id="49" name="Shape 47"/>
          <p:cNvSpPr/>
          <p:nvPr/>
        </p:nvSpPr>
        <p:spPr>
          <a:xfrm>
            <a:off x="6177130" y="4599232"/>
            <a:ext cx="5696593" cy="1936519"/>
          </a:xfrm>
          <a:custGeom>
            <a:avLst/>
            <a:gdLst/>
            <a:ahLst/>
            <a:cxnLst/>
            <a:rect l="l" t="t" r="r" b="b"/>
            <a:pathLst>
              <a:path w="5696593" h="1936519">
                <a:moveTo>
                  <a:pt x="32275" y="0"/>
                </a:moveTo>
                <a:lnTo>
                  <a:pt x="5632049" y="0"/>
                </a:lnTo>
                <a:cubicBezTo>
                  <a:pt x="5667696" y="0"/>
                  <a:pt x="5696593" y="28897"/>
                  <a:pt x="5696593" y="64544"/>
                </a:cubicBezTo>
                <a:lnTo>
                  <a:pt x="5696593" y="1871975"/>
                </a:lnTo>
                <a:cubicBezTo>
                  <a:pt x="5696593" y="1907621"/>
                  <a:pt x="5667696" y="1936519"/>
                  <a:pt x="5632049" y="1936519"/>
                </a:cubicBezTo>
                <a:lnTo>
                  <a:pt x="32275" y="1936519"/>
                </a:lnTo>
                <a:cubicBezTo>
                  <a:pt x="14450" y="1936519"/>
                  <a:pt x="0" y="1922069"/>
                  <a:pt x="0" y="1904244"/>
                </a:cubicBezTo>
                <a:lnTo>
                  <a:pt x="0" y="32275"/>
                </a:lnTo>
                <a:cubicBezTo>
                  <a:pt x="0" y="14462"/>
                  <a:pt x="14462" y="0"/>
                  <a:pt x="32275" y="0"/>
                </a:cubicBezTo>
                <a:close/>
              </a:path>
            </a:pathLst>
          </a:custGeom>
          <a:solidFill>
            <a:srgbClr val="3D8B75">
              <a:alpha val="10196"/>
            </a:srgbClr>
          </a:solidFill>
          <a:ln/>
        </p:spPr>
        <p:txBody>
          <a:bodyPr/>
          <a:lstStyle/>
          <a:p>
            <a:endParaRPr lang="zh-CN" altLang="en-US"/>
          </a:p>
        </p:txBody>
      </p:sp>
      <p:sp>
        <p:nvSpPr>
          <p:cNvPr id="50" name="Shape 48"/>
          <p:cNvSpPr/>
          <p:nvPr/>
        </p:nvSpPr>
        <p:spPr>
          <a:xfrm>
            <a:off x="6177130" y="4599232"/>
            <a:ext cx="32275" cy="1936519"/>
          </a:xfrm>
          <a:custGeom>
            <a:avLst/>
            <a:gdLst/>
            <a:ahLst/>
            <a:cxnLst/>
            <a:rect l="l" t="t" r="r" b="b"/>
            <a:pathLst>
              <a:path w="32275" h="1936519">
                <a:moveTo>
                  <a:pt x="32275" y="0"/>
                </a:moveTo>
                <a:lnTo>
                  <a:pt x="32275" y="0"/>
                </a:lnTo>
                <a:lnTo>
                  <a:pt x="32275" y="1936519"/>
                </a:lnTo>
                <a:lnTo>
                  <a:pt x="32275" y="1936519"/>
                </a:lnTo>
                <a:cubicBezTo>
                  <a:pt x="14450" y="1936519"/>
                  <a:pt x="0" y="1922069"/>
                  <a:pt x="0" y="1904244"/>
                </a:cubicBezTo>
                <a:lnTo>
                  <a:pt x="0" y="32275"/>
                </a:lnTo>
                <a:cubicBezTo>
                  <a:pt x="0" y="14462"/>
                  <a:pt x="14462" y="0"/>
                  <a:pt x="32275" y="0"/>
                </a:cubicBezTo>
                <a:close/>
              </a:path>
            </a:pathLst>
          </a:custGeom>
          <a:solidFill>
            <a:srgbClr val="3D8B75"/>
          </a:solidFill>
          <a:ln/>
        </p:spPr>
        <p:txBody>
          <a:bodyPr/>
          <a:lstStyle/>
          <a:p>
            <a:endParaRPr lang="zh-CN" altLang="en-US"/>
          </a:p>
        </p:txBody>
      </p:sp>
      <p:sp>
        <p:nvSpPr>
          <p:cNvPr id="51" name="Shape 49"/>
          <p:cNvSpPr/>
          <p:nvPr/>
        </p:nvSpPr>
        <p:spPr>
          <a:xfrm>
            <a:off x="6354644" y="4760609"/>
            <a:ext cx="387304" cy="387304"/>
          </a:xfrm>
          <a:custGeom>
            <a:avLst/>
            <a:gdLst/>
            <a:ahLst/>
            <a:cxnLst/>
            <a:rect l="l" t="t" r="r" b="b"/>
            <a:pathLst>
              <a:path w="387304" h="387304">
                <a:moveTo>
                  <a:pt x="64552" y="0"/>
                </a:moveTo>
                <a:lnTo>
                  <a:pt x="322752" y="0"/>
                </a:lnTo>
                <a:cubicBezTo>
                  <a:pt x="358403" y="0"/>
                  <a:pt x="387304" y="28901"/>
                  <a:pt x="387304" y="64552"/>
                </a:cubicBezTo>
                <a:lnTo>
                  <a:pt x="387304" y="322752"/>
                </a:lnTo>
                <a:cubicBezTo>
                  <a:pt x="387304" y="358403"/>
                  <a:pt x="358403" y="387304"/>
                  <a:pt x="322752" y="387304"/>
                </a:cubicBezTo>
                <a:lnTo>
                  <a:pt x="64552" y="387304"/>
                </a:lnTo>
                <a:cubicBezTo>
                  <a:pt x="28901" y="387304"/>
                  <a:pt x="0" y="358403"/>
                  <a:pt x="0" y="322752"/>
                </a:cubicBezTo>
                <a:lnTo>
                  <a:pt x="0" y="64552"/>
                </a:lnTo>
                <a:cubicBezTo>
                  <a:pt x="0" y="28901"/>
                  <a:pt x="28901" y="0"/>
                  <a:pt x="64552" y="0"/>
                </a:cubicBezTo>
                <a:close/>
              </a:path>
            </a:pathLst>
          </a:custGeom>
          <a:solidFill>
            <a:srgbClr val="3D8B75"/>
          </a:solidFill>
          <a:ln/>
        </p:spPr>
        <p:txBody>
          <a:bodyPr/>
          <a:lstStyle/>
          <a:p>
            <a:endParaRPr lang="zh-CN" altLang="en-US"/>
          </a:p>
        </p:txBody>
      </p:sp>
      <p:sp>
        <p:nvSpPr>
          <p:cNvPr id="52" name="Text 50"/>
          <p:cNvSpPr/>
          <p:nvPr/>
        </p:nvSpPr>
        <p:spPr>
          <a:xfrm>
            <a:off x="6455252" y="4841297"/>
            <a:ext cx="266271" cy="225927"/>
          </a:xfrm>
          <a:prstGeom prst="rect">
            <a:avLst/>
          </a:prstGeom>
          <a:noFill/>
          <a:ln/>
        </p:spPr>
        <p:txBody>
          <a:bodyPr wrap="square" lIns="0" tIns="0" rIns="0" bIns="0" rtlCol="0" anchor="ctr"/>
          <a:lstStyle/>
          <a:p>
            <a:pPr>
              <a:lnSpc>
                <a:spcPct val="120000"/>
              </a:lnSpc>
            </a:pPr>
            <a:r>
              <a:rPr lang="en-US" sz="1271" b="1" dirty="0">
                <a:solidFill>
                  <a:srgbClr val="FFFFFF"/>
                </a:solidFill>
                <a:latin typeface="Noto Sans SC" pitchFamily="34" charset="0"/>
                <a:ea typeface="Noto Sans SC" pitchFamily="34" charset="-122"/>
                <a:cs typeface="Noto Sans SC" pitchFamily="34" charset="-120"/>
              </a:rPr>
              <a:t>07</a:t>
            </a:r>
            <a:endParaRPr lang="en-US" sz="1600" dirty="0"/>
          </a:p>
        </p:txBody>
      </p:sp>
      <p:sp>
        <p:nvSpPr>
          <p:cNvPr id="53" name="Text 51"/>
          <p:cNvSpPr/>
          <p:nvPr/>
        </p:nvSpPr>
        <p:spPr>
          <a:xfrm>
            <a:off x="6838773" y="4841297"/>
            <a:ext cx="2170515" cy="225927"/>
          </a:xfrm>
          <a:prstGeom prst="rect">
            <a:avLst/>
          </a:prstGeom>
          <a:noFill/>
          <a:ln/>
        </p:spPr>
        <p:txBody>
          <a:bodyPr wrap="square" lIns="0" tIns="0" rIns="0" bIns="0" rtlCol="0" anchor="ctr"/>
          <a:lstStyle/>
          <a:p>
            <a:pPr>
              <a:lnSpc>
                <a:spcPct val="120000"/>
              </a:lnSpc>
            </a:pPr>
            <a:r>
              <a:rPr lang="en-US" sz="1271" b="1" dirty="0">
                <a:solidFill>
                  <a:srgbClr val="E0E2E5"/>
                </a:solidFill>
                <a:latin typeface="Noto Sans SC" pitchFamily="34" charset="0"/>
                <a:ea typeface="Noto Sans SC" pitchFamily="34" charset="-122"/>
                <a:cs typeface="Noto Sans SC" pitchFamily="34" charset="-120"/>
              </a:rPr>
              <a:t>从"压缩"到"预测"的范式探索</a:t>
            </a:r>
            <a:endParaRPr lang="en-US" sz="1600" dirty="0"/>
          </a:p>
        </p:txBody>
      </p:sp>
      <p:sp>
        <p:nvSpPr>
          <p:cNvPr id="54" name="Text 52"/>
          <p:cNvSpPr/>
          <p:nvPr/>
        </p:nvSpPr>
        <p:spPr>
          <a:xfrm>
            <a:off x="6354644" y="5244739"/>
            <a:ext cx="5422253" cy="419579"/>
          </a:xfrm>
          <a:prstGeom prst="rect">
            <a:avLst/>
          </a:prstGeom>
          <a:noFill/>
          <a:ln/>
        </p:spPr>
        <p:txBody>
          <a:bodyPr wrap="square" lIns="0" tIns="0" rIns="0" bIns="0" rtlCol="0" anchor="ctr"/>
          <a:lstStyle/>
          <a:p>
            <a:pPr>
              <a:lnSpc>
                <a:spcPct val="140000"/>
              </a:lnSpc>
            </a:pPr>
            <a:r>
              <a:rPr lang="en-US" sz="1017" dirty="0">
                <a:solidFill>
                  <a:srgbClr val="E0E2E5">
                    <a:alpha val="80000"/>
                  </a:srgbClr>
                </a:solidFill>
                <a:latin typeface="Noto Sans SC" pitchFamily="34" charset="0"/>
                <a:ea typeface="Noto Sans SC" pitchFamily="34" charset="-122"/>
                <a:cs typeface="Noto Sans SC" pitchFamily="34" charset="-120"/>
              </a:rPr>
              <a:t>一个更长远、更根本的问题是：</a:t>
            </a:r>
            <a:r>
              <a:rPr lang="en-US" sz="1017" dirty="0">
                <a:solidFill>
                  <a:srgbClr val="3D8B75"/>
                </a:solidFill>
                <a:highlight>
                  <a:srgbClr val="3D8B75">
                    <a:alpha val="20000"/>
                  </a:srgbClr>
                </a:highlight>
                <a:latin typeface="Noto Sans SC" pitchFamily="34" charset="0"/>
                <a:ea typeface="Noto Sans SC" pitchFamily="34" charset="-122"/>
                <a:cs typeface="Noto Sans SC" pitchFamily="34" charset="-120"/>
              </a:rPr>
              <a:t> KV Cache 是否一定要被物理存储？ </a:t>
            </a:r>
            <a:r>
              <a:rPr lang="en-US" sz="1017" dirty="0">
                <a:solidFill>
                  <a:srgbClr val="E0E2E5">
                    <a:alpha val="80000"/>
                  </a:srgbClr>
                </a:solidFill>
                <a:latin typeface="Noto Sans SC" pitchFamily="34" charset="0"/>
                <a:ea typeface="Noto Sans SC" pitchFamily="34" charset="-122"/>
                <a:cs typeface="Noto Sans SC" pitchFamily="34" charset="-120"/>
              </a:rPr>
              <a:t>是否可以通过学习模型的隐状态流形（Manifold）来实时预测或生成 KV？</a:t>
            </a:r>
            <a:endParaRPr lang="en-US" sz="1600" dirty="0"/>
          </a:p>
        </p:txBody>
      </p:sp>
      <p:sp>
        <p:nvSpPr>
          <p:cNvPr id="55" name="Shape 53"/>
          <p:cNvSpPr/>
          <p:nvPr/>
        </p:nvSpPr>
        <p:spPr>
          <a:xfrm>
            <a:off x="6370781" y="5761144"/>
            <a:ext cx="5341565" cy="613231"/>
          </a:xfrm>
          <a:custGeom>
            <a:avLst/>
            <a:gdLst/>
            <a:ahLst/>
            <a:cxnLst/>
            <a:rect l="l" t="t" r="r" b="b"/>
            <a:pathLst>
              <a:path w="5341565" h="613231">
                <a:moveTo>
                  <a:pt x="32275" y="0"/>
                </a:moveTo>
                <a:lnTo>
                  <a:pt x="5277016" y="0"/>
                </a:lnTo>
                <a:cubicBezTo>
                  <a:pt x="5312665" y="0"/>
                  <a:pt x="5341565" y="28899"/>
                  <a:pt x="5341565" y="64549"/>
                </a:cubicBezTo>
                <a:lnTo>
                  <a:pt x="5341565" y="548682"/>
                </a:lnTo>
                <a:cubicBezTo>
                  <a:pt x="5341565" y="584332"/>
                  <a:pt x="5312665" y="613231"/>
                  <a:pt x="5277016" y="613231"/>
                </a:cubicBezTo>
                <a:lnTo>
                  <a:pt x="32275" y="613231"/>
                </a:lnTo>
                <a:cubicBezTo>
                  <a:pt x="14450" y="613231"/>
                  <a:pt x="0" y="598781"/>
                  <a:pt x="0" y="580956"/>
                </a:cubicBezTo>
                <a:lnTo>
                  <a:pt x="0" y="32275"/>
                </a:lnTo>
                <a:cubicBezTo>
                  <a:pt x="0" y="14450"/>
                  <a:pt x="14450" y="0"/>
                  <a:pt x="32275" y="0"/>
                </a:cubicBezTo>
                <a:close/>
              </a:path>
            </a:pathLst>
          </a:custGeom>
          <a:solidFill>
            <a:srgbClr val="C9A86A">
              <a:alpha val="20000"/>
            </a:srgbClr>
          </a:solidFill>
          <a:ln/>
        </p:spPr>
        <p:txBody>
          <a:bodyPr/>
          <a:lstStyle/>
          <a:p>
            <a:endParaRPr lang="zh-CN" altLang="en-US"/>
          </a:p>
        </p:txBody>
      </p:sp>
      <p:sp>
        <p:nvSpPr>
          <p:cNvPr id="56" name="Shape 54"/>
          <p:cNvSpPr/>
          <p:nvPr/>
        </p:nvSpPr>
        <p:spPr>
          <a:xfrm>
            <a:off x="6370781" y="5761144"/>
            <a:ext cx="32275" cy="613231"/>
          </a:xfrm>
          <a:custGeom>
            <a:avLst/>
            <a:gdLst/>
            <a:ahLst/>
            <a:cxnLst/>
            <a:rect l="l" t="t" r="r" b="b"/>
            <a:pathLst>
              <a:path w="32275" h="613231">
                <a:moveTo>
                  <a:pt x="32275" y="0"/>
                </a:moveTo>
                <a:lnTo>
                  <a:pt x="32275" y="0"/>
                </a:lnTo>
                <a:lnTo>
                  <a:pt x="32275" y="613231"/>
                </a:lnTo>
                <a:lnTo>
                  <a:pt x="32275" y="613231"/>
                </a:lnTo>
                <a:cubicBezTo>
                  <a:pt x="14450" y="613231"/>
                  <a:pt x="0" y="598781"/>
                  <a:pt x="0" y="580956"/>
                </a:cubicBezTo>
                <a:lnTo>
                  <a:pt x="0" y="32275"/>
                </a:lnTo>
                <a:cubicBezTo>
                  <a:pt x="0" y="14462"/>
                  <a:pt x="14462" y="0"/>
                  <a:pt x="32275" y="0"/>
                </a:cubicBezTo>
                <a:close/>
              </a:path>
            </a:pathLst>
          </a:custGeom>
          <a:solidFill>
            <a:srgbClr val="C9A86A"/>
          </a:solidFill>
          <a:ln/>
        </p:spPr>
        <p:txBody>
          <a:bodyPr/>
          <a:lstStyle/>
          <a:p>
            <a:endParaRPr lang="zh-CN" altLang="en-US"/>
          </a:p>
        </p:txBody>
      </p:sp>
      <p:sp>
        <p:nvSpPr>
          <p:cNvPr id="57" name="Shape 55"/>
          <p:cNvSpPr/>
          <p:nvPr/>
        </p:nvSpPr>
        <p:spPr>
          <a:xfrm>
            <a:off x="6499883" y="5898314"/>
            <a:ext cx="129101" cy="129101"/>
          </a:xfrm>
          <a:custGeom>
            <a:avLst/>
            <a:gdLst/>
            <a:ahLst/>
            <a:cxnLst/>
            <a:rect l="l" t="t" r="r" b="b"/>
            <a:pathLst>
              <a:path w="129101" h="129101">
                <a:moveTo>
                  <a:pt x="32275" y="80688"/>
                </a:moveTo>
                <a:lnTo>
                  <a:pt x="6178" y="80688"/>
                </a:lnTo>
                <a:cubicBezTo>
                  <a:pt x="-101" y="80688"/>
                  <a:pt x="-3959" y="73855"/>
                  <a:pt x="-731" y="68459"/>
                </a:cubicBezTo>
                <a:lnTo>
                  <a:pt x="12608" y="46219"/>
                </a:lnTo>
                <a:cubicBezTo>
                  <a:pt x="14801" y="42563"/>
                  <a:pt x="18735" y="40344"/>
                  <a:pt x="22996" y="40344"/>
                </a:cubicBezTo>
                <a:lnTo>
                  <a:pt x="46950" y="40344"/>
                </a:lnTo>
                <a:cubicBezTo>
                  <a:pt x="66139" y="7842"/>
                  <a:pt x="94758" y="6203"/>
                  <a:pt x="113897" y="9002"/>
                </a:cubicBezTo>
                <a:cubicBezTo>
                  <a:pt x="117124" y="9481"/>
                  <a:pt x="119646" y="12002"/>
                  <a:pt x="120099" y="15205"/>
                </a:cubicBezTo>
                <a:cubicBezTo>
                  <a:pt x="122898" y="34343"/>
                  <a:pt x="121259" y="62962"/>
                  <a:pt x="88757" y="82151"/>
                </a:cubicBezTo>
                <a:lnTo>
                  <a:pt x="88757" y="106105"/>
                </a:lnTo>
                <a:cubicBezTo>
                  <a:pt x="88757" y="110366"/>
                  <a:pt x="86538" y="114300"/>
                  <a:pt x="82882" y="116494"/>
                </a:cubicBezTo>
                <a:lnTo>
                  <a:pt x="60642" y="129832"/>
                </a:lnTo>
                <a:cubicBezTo>
                  <a:pt x="55271" y="133060"/>
                  <a:pt x="48413" y="129177"/>
                  <a:pt x="48413" y="122924"/>
                </a:cubicBezTo>
                <a:lnTo>
                  <a:pt x="48413" y="96826"/>
                </a:lnTo>
                <a:cubicBezTo>
                  <a:pt x="48413" y="87925"/>
                  <a:pt x="41176" y="80688"/>
                  <a:pt x="32275" y="80688"/>
                </a:cubicBezTo>
                <a:lnTo>
                  <a:pt x="32250" y="80688"/>
                </a:lnTo>
                <a:close/>
                <a:moveTo>
                  <a:pt x="100860" y="40344"/>
                </a:moveTo>
                <a:cubicBezTo>
                  <a:pt x="100860" y="33664"/>
                  <a:pt x="95437" y="28241"/>
                  <a:pt x="88757" y="28241"/>
                </a:cubicBezTo>
                <a:cubicBezTo>
                  <a:pt x="82077" y="28241"/>
                  <a:pt x="76654" y="33664"/>
                  <a:pt x="76654" y="40344"/>
                </a:cubicBezTo>
                <a:cubicBezTo>
                  <a:pt x="76654" y="47024"/>
                  <a:pt x="82077" y="52447"/>
                  <a:pt x="88757" y="52447"/>
                </a:cubicBezTo>
                <a:cubicBezTo>
                  <a:pt x="95437" y="52447"/>
                  <a:pt x="100860" y="47024"/>
                  <a:pt x="100860" y="40344"/>
                </a:cubicBezTo>
                <a:close/>
              </a:path>
            </a:pathLst>
          </a:custGeom>
          <a:solidFill>
            <a:srgbClr val="C9A86A"/>
          </a:solidFill>
          <a:ln/>
        </p:spPr>
        <p:txBody>
          <a:bodyPr/>
          <a:lstStyle/>
          <a:p>
            <a:endParaRPr lang="zh-CN" altLang="en-US"/>
          </a:p>
        </p:txBody>
      </p:sp>
      <p:sp>
        <p:nvSpPr>
          <p:cNvPr id="58" name="Text 56"/>
          <p:cNvSpPr/>
          <p:nvPr/>
        </p:nvSpPr>
        <p:spPr>
          <a:xfrm>
            <a:off x="6686133" y="5857970"/>
            <a:ext cx="4993937" cy="419579"/>
          </a:xfrm>
          <a:prstGeom prst="rect">
            <a:avLst/>
          </a:prstGeom>
          <a:noFill/>
          <a:ln/>
        </p:spPr>
        <p:txBody>
          <a:bodyPr wrap="square" lIns="0" tIns="0" rIns="0" bIns="0" rtlCol="0" anchor="ctr"/>
          <a:lstStyle/>
          <a:p>
            <a:pPr>
              <a:lnSpc>
                <a:spcPct val="140000"/>
              </a:lnSpc>
            </a:pPr>
            <a:r>
              <a:rPr lang="en-US" sz="1017" dirty="0">
                <a:solidFill>
                  <a:srgbClr val="E0E2E5">
                    <a:alpha val="80000"/>
                  </a:srgbClr>
                </a:solidFill>
                <a:latin typeface="Noto Sans SC" pitchFamily="34" charset="0"/>
                <a:ea typeface="Noto Sans SC" pitchFamily="34" charset="-122"/>
                <a:cs typeface="Noto Sans SC" pitchFamily="34" charset="-120"/>
              </a:rPr>
              <a:t>这是一个将 KV Cache 问题从</a:t>
            </a:r>
            <a:r>
              <a:rPr lang="en-US" sz="1017" b="1" dirty="0">
                <a:solidFill>
                  <a:srgbClr val="E0E2E5">
                    <a:alpha val="80000"/>
                  </a:srgbClr>
                </a:solidFill>
                <a:latin typeface="Noto Sans SC" pitchFamily="34" charset="0"/>
                <a:ea typeface="Noto Sans SC" pitchFamily="34" charset="-122"/>
                <a:cs typeface="Noto Sans SC" pitchFamily="34" charset="-120"/>
              </a:rPr>
              <a:t>"数据压缩"</a:t>
            </a:r>
            <a:r>
              <a:rPr lang="en-US" sz="1017" dirty="0">
                <a:solidFill>
                  <a:srgbClr val="E0E2E5">
                    <a:alpha val="80000"/>
                  </a:srgbClr>
                </a:solidFill>
                <a:latin typeface="Noto Sans SC" pitchFamily="34" charset="0"/>
                <a:ea typeface="Noto Sans SC" pitchFamily="34" charset="-122"/>
                <a:cs typeface="Noto Sans SC" pitchFamily="34" charset="-120"/>
              </a:rPr>
              <a:t>升维到</a:t>
            </a:r>
            <a:r>
              <a:rPr lang="en-US" sz="1017" b="1" dirty="0">
                <a:solidFill>
                  <a:srgbClr val="E0E2E5">
                    <a:alpha val="80000"/>
                  </a:srgbClr>
                </a:solidFill>
                <a:latin typeface="Noto Sans SC" pitchFamily="34" charset="0"/>
                <a:ea typeface="Noto Sans SC" pitchFamily="34" charset="-122"/>
                <a:cs typeface="Noto Sans SC" pitchFamily="34" charset="-120"/>
              </a:rPr>
              <a:t>"表示学习（Representation Learning）"</a:t>
            </a:r>
            <a:r>
              <a:rPr lang="en-US" sz="1017" dirty="0">
                <a:solidFill>
                  <a:srgbClr val="E0E2E5">
                    <a:alpha val="80000"/>
                  </a:srgbClr>
                </a:solidFill>
                <a:latin typeface="Noto Sans SC" pitchFamily="34" charset="0"/>
                <a:ea typeface="Noto Sans SC" pitchFamily="34" charset="-122"/>
                <a:cs typeface="Noto Sans SC" pitchFamily="34" charset="-120"/>
              </a:rPr>
              <a:t>的范式转换，无疑是下一个十年最值得期待的方向。</a:t>
            </a:r>
            <a:endParaRPr lang="en-US" sz="160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400050" y="1644253"/>
            <a:ext cx="1790700" cy="419100"/>
          </a:xfrm>
          <a:custGeom>
            <a:avLst/>
            <a:gdLst/>
            <a:ahLst/>
            <a:cxnLst/>
            <a:rect l="l" t="t" r="r" b="b"/>
            <a:pathLst>
              <a:path w="1790700" h="419100">
                <a:moveTo>
                  <a:pt x="0" y="0"/>
                </a:moveTo>
                <a:lnTo>
                  <a:pt x="1790700" y="0"/>
                </a:lnTo>
                <a:lnTo>
                  <a:pt x="1790700" y="419100"/>
                </a:lnTo>
                <a:lnTo>
                  <a:pt x="0" y="419100"/>
                </a:lnTo>
                <a:lnTo>
                  <a:pt x="0" y="0"/>
                </a:lnTo>
                <a:close/>
              </a:path>
            </a:pathLst>
          </a:custGeom>
          <a:solidFill>
            <a:srgbClr val="5F6B7A">
              <a:alpha val="20000"/>
            </a:srgbClr>
          </a:solidFill>
          <a:ln/>
        </p:spPr>
        <p:txBody>
          <a:bodyPr/>
          <a:lstStyle/>
          <a:p>
            <a:endParaRPr lang="zh-CN" altLang="en-US"/>
          </a:p>
        </p:txBody>
      </p:sp>
      <p:sp>
        <p:nvSpPr>
          <p:cNvPr id="5" name="Shape 2"/>
          <p:cNvSpPr/>
          <p:nvPr/>
        </p:nvSpPr>
        <p:spPr>
          <a:xfrm>
            <a:off x="400050" y="1644253"/>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5F6B7A"/>
          </a:solidFill>
          <a:ln/>
        </p:spPr>
        <p:txBody>
          <a:bodyPr/>
          <a:lstStyle/>
          <a:p>
            <a:endParaRPr lang="zh-CN" altLang="en-US"/>
          </a:p>
        </p:txBody>
      </p:sp>
      <p:sp>
        <p:nvSpPr>
          <p:cNvPr id="6" name="Text 3"/>
          <p:cNvSpPr/>
          <p:nvPr/>
        </p:nvSpPr>
        <p:spPr>
          <a:xfrm>
            <a:off x="609600" y="1720453"/>
            <a:ext cx="1485900" cy="266700"/>
          </a:xfrm>
          <a:prstGeom prst="rect">
            <a:avLst/>
          </a:prstGeom>
          <a:noFill/>
          <a:ln/>
        </p:spPr>
        <p:txBody>
          <a:bodyPr wrap="square" lIns="0" tIns="0" rIns="0" bIns="0" rtlCol="0" anchor="ctr"/>
          <a:lstStyle/>
          <a:p>
            <a:pPr>
              <a:lnSpc>
                <a:spcPct val="120000"/>
              </a:lnSpc>
            </a:pPr>
            <a:r>
              <a:rPr lang="en-US" sz="1500" b="1" kern="0" spc="150" dirty="0">
                <a:solidFill>
                  <a:srgbClr val="5F6B7A"/>
                </a:solidFill>
                <a:latin typeface="Noto Sans SC" pitchFamily="34" charset="0"/>
                <a:ea typeface="Noto Sans SC" pitchFamily="34" charset="-122"/>
                <a:cs typeface="Noto Sans SC" pitchFamily="34" charset="-120"/>
              </a:rPr>
              <a:t>CHAPTER 06</a:t>
            </a:r>
            <a:endParaRPr lang="en-US" sz="1600" dirty="0"/>
          </a:p>
        </p:txBody>
      </p:sp>
      <p:sp>
        <p:nvSpPr>
          <p:cNvPr id="7" name="Text 4"/>
          <p:cNvSpPr/>
          <p:nvPr/>
        </p:nvSpPr>
        <p:spPr>
          <a:xfrm>
            <a:off x="381000" y="2368153"/>
            <a:ext cx="11772900" cy="1714500"/>
          </a:xfrm>
          <a:prstGeom prst="rect">
            <a:avLst/>
          </a:prstGeom>
          <a:noFill/>
          <a:ln/>
        </p:spPr>
        <p:txBody>
          <a:bodyPr wrap="square" lIns="0" tIns="0" rIns="0" bIns="0" rtlCol="0" anchor="ctr"/>
          <a:lstStyle/>
          <a:p>
            <a:pPr>
              <a:lnSpc>
                <a:spcPct val="100000"/>
              </a:lnSpc>
            </a:pPr>
            <a:r>
              <a:rPr lang="en-US" sz="5400" b="1" dirty="0">
                <a:solidFill>
                  <a:srgbClr val="E0E2E5"/>
                </a:solidFill>
                <a:latin typeface="Noto Sans SC" pitchFamily="34" charset="0"/>
                <a:ea typeface="Noto Sans SC" pitchFamily="34" charset="-122"/>
                <a:cs typeface="Noto Sans SC" pitchFamily="34" charset="-120"/>
              </a:rPr>
              <a:t>关键挑战与</a:t>
            </a:r>
            <a:endParaRPr lang="en-US" sz="1600" dirty="0"/>
          </a:p>
          <a:p>
            <a:pPr>
              <a:lnSpc>
                <a:spcPct val="100000"/>
              </a:lnSpc>
            </a:pPr>
            <a:r>
              <a:rPr lang="en-US" sz="5400" b="1" dirty="0">
                <a:solidFill>
                  <a:srgbClr val="E0E2E5"/>
                </a:solidFill>
                <a:latin typeface="Noto Sans SC" pitchFamily="34" charset="0"/>
                <a:ea typeface="Noto Sans SC" pitchFamily="34" charset="-122"/>
                <a:cs typeface="Noto Sans SC" pitchFamily="34" charset="-120"/>
              </a:rPr>
              <a:t>未解决问题</a:t>
            </a:r>
            <a:endParaRPr lang="en-US" sz="1600" dirty="0"/>
          </a:p>
        </p:txBody>
      </p:sp>
      <p:sp>
        <p:nvSpPr>
          <p:cNvPr id="8" name="Shape 5"/>
          <p:cNvSpPr/>
          <p:nvPr/>
        </p:nvSpPr>
        <p:spPr>
          <a:xfrm>
            <a:off x="381000" y="4387453"/>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9A86A"/>
          </a:solidFill>
          <a:ln/>
        </p:spPr>
        <p:txBody>
          <a:bodyPr/>
          <a:lstStyle/>
          <a:p>
            <a:endParaRPr lang="zh-CN" altLang="en-US"/>
          </a:p>
        </p:txBody>
      </p:sp>
      <p:sp>
        <p:nvSpPr>
          <p:cNvPr id="9" name="Text 6"/>
          <p:cNvSpPr/>
          <p:nvPr/>
        </p:nvSpPr>
        <p:spPr>
          <a:xfrm>
            <a:off x="381000" y="4749403"/>
            <a:ext cx="8677275" cy="466725"/>
          </a:xfrm>
          <a:prstGeom prst="rect">
            <a:avLst/>
          </a:prstGeom>
          <a:noFill/>
          <a:ln/>
        </p:spPr>
        <p:txBody>
          <a:bodyPr wrap="square" lIns="0" tIns="0" rIns="0" bIns="0" rtlCol="0" anchor="ctr"/>
          <a:lstStyle/>
          <a:p>
            <a:pPr>
              <a:lnSpc>
                <a:spcPct val="140000"/>
              </a:lnSpc>
            </a:pPr>
            <a:r>
              <a:rPr lang="en-US" sz="2250" dirty="0">
                <a:solidFill>
                  <a:srgbClr val="E0E2E5">
                    <a:alpha val="80000"/>
                  </a:srgbClr>
                </a:solidFill>
                <a:latin typeface="Noto Sans SC" pitchFamily="34" charset="0"/>
                <a:ea typeface="Noto Sans SC" pitchFamily="34" charset="-122"/>
                <a:cs typeface="Noto Sans SC" pitchFamily="34" charset="-120"/>
              </a:rPr>
              <a:t>追求极致性能与理论上限的道路上，诸多核心难题悬而未决</a:t>
            </a:r>
            <a:endParaRPr lang="en-US" sz="16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100" dirty="0">
                <a:solidFill>
                  <a:srgbClr val="3D8B75"/>
                </a:solidFill>
                <a:latin typeface="MiSans" pitchFamily="34" charset="0"/>
                <a:ea typeface="MiSans" pitchFamily="34" charset="-122"/>
                <a:cs typeface="MiSans" pitchFamily="34" charset="-120"/>
              </a:rPr>
              <a:t>KEY CHALLENGES</a:t>
            </a:r>
            <a:endParaRPr lang="en-US" sz="16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E0E2E5"/>
                </a:solidFill>
                <a:latin typeface="Noto Sans SC" pitchFamily="34" charset="0"/>
                <a:ea typeface="Noto Sans SC" pitchFamily="34" charset="-122"/>
                <a:cs typeface="Noto Sans SC" pitchFamily="34" charset="-120"/>
              </a:rPr>
              <a:t>五大关键挑战</a:t>
            </a:r>
            <a:endParaRPr lang="en-US" sz="1600" dirty="0"/>
          </a:p>
        </p:txBody>
      </p:sp>
      <p:sp>
        <p:nvSpPr>
          <p:cNvPr id="5" name="Shape 3"/>
          <p:cNvSpPr/>
          <p:nvPr/>
        </p:nvSpPr>
        <p:spPr>
          <a:xfrm>
            <a:off x="333375" y="953816"/>
            <a:ext cx="5699125" cy="2397125"/>
          </a:xfrm>
          <a:custGeom>
            <a:avLst/>
            <a:gdLst/>
            <a:ahLst/>
            <a:cxnLst/>
            <a:rect l="l" t="t" r="r" b="b"/>
            <a:pathLst>
              <a:path w="5699125" h="2397125">
                <a:moveTo>
                  <a:pt x="31750" y="0"/>
                </a:moveTo>
                <a:lnTo>
                  <a:pt x="5635625" y="0"/>
                </a:lnTo>
                <a:cubicBezTo>
                  <a:pt x="5670695" y="0"/>
                  <a:pt x="5699125" y="28430"/>
                  <a:pt x="5699125" y="63500"/>
                </a:cubicBezTo>
                <a:lnTo>
                  <a:pt x="5699125" y="2333625"/>
                </a:lnTo>
                <a:cubicBezTo>
                  <a:pt x="5699125" y="2368695"/>
                  <a:pt x="5670695" y="2397125"/>
                  <a:pt x="5635625" y="2397125"/>
                </a:cubicBezTo>
                <a:lnTo>
                  <a:pt x="31750" y="2397125"/>
                </a:lnTo>
                <a:cubicBezTo>
                  <a:pt x="14215" y="2397125"/>
                  <a:pt x="0" y="2382910"/>
                  <a:pt x="0" y="2365375"/>
                </a:cubicBezTo>
                <a:lnTo>
                  <a:pt x="0" y="31750"/>
                </a:lnTo>
                <a:cubicBezTo>
                  <a:pt x="0" y="14227"/>
                  <a:pt x="14227" y="0"/>
                  <a:pt x="31750" y="0"/>
                </a:cubicBezTo>
                <a:close/>
              </a:path>
            </a:pathLst>
          </a:custGeom>
          <a:solidFill>
            <a:srgbClr val="3D8B75">
              <a:alpha val="10196"/>
            </a:srgbClr>
          </a:solidFill>
          <a:ln/>
        </p:spPr>
        <p:txBody>
          <a:bodyPr/>
          <a:lstStyle/>
          <a:p>
            <a:endParaRPr lang="zh-CN" altLang="en-US"/>
          </a:p>
        </p:txBody>
      </p:sp>
      <p:sp>
        <p:nvSpPr>
          <p:cNvPr id="6" name="Shape 4"/>
          <p:cNvSpPr/>
          <p:nvPr/>
        </p:nvSpPr>
        <p:spPr>
          <a:xfrm>
            <a:off x="333375" y="953816"/>
            <a:ext cx="31750" cy="2397125"/>
          </a:xfrm>
          <a:custGeom>
            <a:avLst/>
            <a:gdLst/>
            <a:ahLst/>
            <a:cxnLst/>
            <a:rect l="l" t="t" r="r" b="b"/>
            <a:pathLst>
              <a:path w="31750" h="2397125">
                <a:moveTo>
                  <a:pt x="31750" y="0"/>
                </a:moveTo>
                <a:lnTo>
                  <a:pt x="31750" y="0"/>
                </a:lnTo>
                <a:lnTo>
                  <a:pt x="31750" y="2397125"/>
                </a:lnTo>
                <a:lnTo>
                  <a:pt x="31750" y="2397125"/>
                </a:lnTo>
                <a:cubicBezTo>
                  <a:pt x="14227" y="2397125"/>
                  <a:pt x="0" y="2382898"/>
                  <a:pt x="0" y="2365375"/>
                </a:cubicBezTo>
                <a:lnTo>
                  <a:pt x="0" y="31750"/>
                </a:lnTo>
                <a:cubicBezTo>
                  <a:pt x="0" y="14227"/>
                  <a:pt x="14227" y="0"/>
                  <a:pt x="31750" y="0"/>
                </a:cubicBezTo>
                <a:close/>
              </a:path>
            </a:pathLst>
          </a:custGeom>
          <a:solidFill>
            <a:srgbClr val="3D8B75"/>
          </a:solidFill>
          <a:ln/>
        </p:spPr>
        <p:txBody>
          <a:bodyPr/>
          <a:lstStyle/>
          <a:p>
            <a:endParaRPr lang="zh-CN" altLang="en-US"/>
          </a:p>
        </p:txBody>
      </p:sp>
      <p:sp>
        <p:nvSpPr>
          <p:cNvPr id="7" name="Shape 5"/>
          <p:cNvSpPr/>
          <p:nvPr/>
        </p:nvSpPr>
        <p:spPr>
          <a:xfrm>
            <a:off x="508000" y="1112566"/>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solidFill>
            <a:srgbClr val="3D8B75"/>
          </a:solidFill>
          <a:ln/>
        </p:spPr>
        <p:txBody>
          <a:bodyPr/>
          <a:lstStyle/>
          <a:p>
            <a:endParaRPr lang="zh-CN" altLang="en-US"/>
          </a:p>
        </p:txBody>
      </p:sp>
      <p:sp>
        <p:nvSpPr>
          <p:cNvPr id="8" name="Shape 6"/>
          <p:cNvSpPr/>
          <p:nvPr/>
        </p:nvSpPr>
        <p:spPr>
          <a:xfrm>
            <a:off x="619125" y="1223691"/>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79375" y="54570"/>
                </a:moveTo>
                <a:cubicBezTo>
                  <a:pt x="73887" y="54570"/>
                  <a:pt x="69453" y="59004"/>
                  <a:pt x="69453" y="64492"/>
                </a:cubicBezTo>
                <a:cubicBezTo>
                  <a:pt x="69453" y="68616"/>
                  <a:pt x="66135" y="71934"/>
                  <a:pt x="62012" y="71934"/>
                </a:cubicBezTo>
                <a:cubicBezTo>
                  <a:pt x="57888" y="71934"/>
                  <a:pt x="54570" y="68616"/>
                  <a:pt x="54570" y="64492"/>
                </a:cubicBezTo>
                <a:cubicBezTo>
                  <a:pt x="54570" y="50788"/>
                  <a:pt x="65670" y="39688"/>
                  <a:pt x="79375" y="39688"/>
                </a:cubicBezTo>
                <a:cubicBezTo>
                  <a:pt x="93080" y="39688"/>
                  <a:pt x="104180" y="50788"/>
                  <a:pt x="104180" y="64492"/>
                </a:cubicBezTo>
                <a:cubicBezTo>
                  <a:pt x="104180" y="79127"/>
                  <a:pt x="93018" y="85328"/>
                  <a:pt x="86816" y="87592"/>
                </a:cubicBezTo>
                <a:lnTo>
                  <a:pt x="86816" y="88770"/>
                </a:lnTo>
                <a:cubicBezTo>
                  <a:pt x="86816" y="92894"/>
                  <a:pt x="83499" y="96211"/>
                  <a:pt x="79375" y="96211"/>
                </a:cubicBezTo>
                <a:cubicBezTo>
                  <a:pt x="75251" y="96211"/>
                  <a:pt x="71934" y="92894"/>
                  <a:pt x="71934" y="88770"/>
                </a:cubicBezTo>
                <a:lnTo>
                  <a:pt x="71934" y="86258"/>
                </a:lnTo>
                <a:cubicBezTo>
                  <a:pt x="71934" y="79902"/>
                  <a:pt x="76522" y="75344"/>
                  <a:pt x="81266" y="73794"/>
                </a:cubicBezTo>
                <a:cubicBezTo>
                  <a:pt x="83251" y="73143"/>
                  <a:pt x="85359" y="72089"/>
                  <a:pt x="86909" y="70600"/>
                </a:cubicBezTo>
                <a:cubicBezTo>
                  <a:pt x="88243" y="69298"/>
                  <a:pt x="89297" y="67500"/>
                  <a:pt x="89297" y="64523"/>
                </a:cubicBezTo>
                <a:cubicBezTo>
                  <a:pt x="89297" y="59035"/>
                  <a:pt x="84863" y="54601"/>
                  <a:pt x="79375" y="54601"/>
                </a:cubicBezTo>
                <a:close/>
                <a:moveTo>
                  <a:pt x="69453" y="114102"/>
                </a:moveTo>
                <a:cubicBezTo>
                  <a:pt x="69453" y="108626"/>
                  <a:pt x="73899" y="104180"/>
                  <a:pt x="79375" y="104180"/>
                </a:cubicBezTo>
                <a:cubicBezTo>
                  <a:pt x="84851" y="104180"/>
                  <a:pt x="89297" y="108626"/>
                  <a:pt x="89297" y="114102"/>
                </a:cubicBezTo>
                <a:cubicBezTo>
                  <a:pt x="89297" y="119578"/>
                  <a:pt x="84851" y="124023"/>
                  <a:pt x="79375" y="124023"/>
                </a:cubicBezTo>
                <a:cubicBezTo>
                  <a:pt x="73899" y="124023"/>
                  <a:pt x="69453" y="119578"/>
                  <a:pt x="69453" y="114102"/>
                </a:cubicBezTo>
                <a:close/>
              </a:path>
            </a:pathLst>
          </a:custGeom>
          <a:solidFill>
            <a:srgbClr val="FFFFFF"/>
          </a:solidFill>
          <a:ln/>
        </p:spPr>
        <p:txBody>
          <a:bodyPr/>
          <a:lstStyle/>
          <a:p>
            <a:endParaRPr lang="zh-CN" altLang="en-US"/>
          </a:p>
        </p:txBody>
      </p:sp>
      <p:sp>
        <p:nvSpPr>
          <p:cNvPr id="9" name="Text 7"/>
          <p:cNvSpPr/>
          <p:nvPr/>
        </p:nvSpPr>
        <p:spPr>
          <a:xfrm>
            <a:off x="984250" y="1191941"/>
            <a:ext cx="1508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精度与压缩率的上限</a:t>
            </a:r>
            <a:endParaRPr lang="en-US" sz="1600" dirty="0"/>
          </a:p>
        </p:txBody>
      </p:sp>
      <p:sp>
        <p:nvSpPr>
          <p:cNvPr id="10" name="Shape 8"/>
          <p:cNvSpPr/>
          <p:nvPr/>
        </p:nvSpPr>
        <p:spPr>
          <a:xfrm>
            <a:off x="508000" y="1640410"/>
            <a:ext cx="5365750" cy="650875"/>
          </a:xfrm>
          <a:custGeom>
            <a:avLst/>
            <a:gdLst/>
            <a:ahLst/>
            <a:cxnLst/>
            <a:rect l="l" t="t" r="r" b="b"/>
            <a:pathLst>
              <a:path w="5365750" h="650875">
                <a:moveTo>
                  <a:pt x="63499" y="0"/>
                </a:moveTo>
                <a:lnTo>
                  <a:pt x="5302251" y="0"/>
                </a:lnTo>
                <a:cubicBezTo>
                  <a:pt x="5337320" y="0"/>
                  <a:pt x="5365750" y="28430"/>
                  <a:pt x="5365750" y="63499"/>
                </a:cubicBezTo>
                <a:lnTo>
                  <a:pt x="5365750" y="587376"/>
                </a:lnTo>
                <a:cubicBezTo>
                  <a:pt x="5365750" y="622445"/>
                  <a:pt x="5337320" y="650875"/>
                  <a:pt x="5302251" y="650875"/>
                </a:cubicBezTo>
                <a:lnTo>
                  <a:pt x="63499" y="650875"/>
                </a:lnTo>
                <a:cubicBezTo>
                  <a:pt x="28430" y="650875"/>
                  <a:pt x="0" y="622445"/>
                  <a:pt x="0" y="587376"/>
                </a:cubicBezTo>
                <a:lnTo>
                  <a:pt x="0" y="63499"/>
                </a:lnTo>
                <a:cubicBezTo>
                  <a:pt x="0" y="28453"/>
                  <a:pt x="28453" y="0"/>
                  <a:pt x="63499" y="0"/>
                </a:cubicBezTo>
                <a:close/>
              </a:path>
            </a:pathLst>
          </a:custGeom>
          <a:solidFill>
            <a:srgbClr val="1A1D21">
              <a:alpha val="50196"/>
            </a:srgbClr>
          </a:solidFill>
          <a:ln/>
        </p:spPr>
        <p:txBody>
          <a:bodyPr/>
          <a:lstStyle/>
          <a:p>
            <a:endParaRPr lang="zh-CN" altLang="en-US"/>
          </a:p>
        </p:txBody>
      </p:sp>
      <p:sp>
        <p:nvSpPr>
          <p:cNvPr id="11" name="Text 9"/>
          <p:cNvSpPr/>
          <p:nvPr/>
        </p:nvSpPr>
        <p:spPr>
          <a:xfrm>
            <a:off x="603250" y="1735660"/>
            <a:ext cx="5238750" cy="190500"/>
          </a:xfrm>
          <a:prstGeom prst="rect">
            <a:avLst/>
          </a:prstGeom>
          <a:noFill/>
          <a:ln/>
        </p:spPr>
        <p:txBody>
          <a:bodyPr wrap="square" lIns="0" tIns="0" rIns="0" bIns="0" rtlCol="0" anchor="ctr"/>
          <a:lstStyle/>
          <a:p>
            <a:pPr>
              <a:lnSpc>
                <a:spcPct val="130000"/>
              </a:lnSpc>
            </a:pPr>
            <a:r>
              <a:rPr lang="en-US" sz="1000" b="1" dirty="0">
                <a:solidFill>
                  <a:srgbClr val="3D8B75"/>
                </a:solidFill>
                <a:latin typeface="Noto Sans SC" pitchFamily="34" charset="0"/>
                <a:ea typeface="Noto Sans SC" pitchFamily="34" charset="-122"/>
                <a:cs typeface="Noto Sans SC" pitchFamily="34" charset="-120"/>
              </a:rPr>
              <a:t>理论问题</a:t>
            </a:r>
            <a:endParaRPr lang="en-US" sz="1600" dirty="0"/>
          </a:p>
        </p:txBody>
      </p:sp>
      <p:sp>
        <p:nvSpPr>
          <p:cNvPr id="12" name="Text 10"/>
          <p:cNvSpPr/>
          <p:nvPr/>
        </p:nvSpPr>
        <p:spPr>
          <a:xfrm>
            <a:off x="603250" y="1989660"/>
            <a:ext cx="5238750"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是否存在</a:t>
            </a:r>
            <a:r>
              <a:rPr lang="en-US" sz="1000" b="1" dirty="0">
                <a:solidFill>
                  <a:srgbClr val="E0E2E5">
                    <a:alpha val="80000"/>
                  </a:srgbClr>
                </a:solidFill>
                <a:latin typeface="Noto Sans SC" pitchFamily="34" charset="0"/>
                <a:ea typeface="Noto Sans SC" pitchFamily="34" charset="-122"/>
                <a:cs typeface="Noto Sans SC" pitchFamily="34" charset="-120"/>
              </a:rPr>
              <a:t>信息论意义上的理论最优压缩率</a:t>
            </a:r>
            <a:r>
              <a:rPr lang="en-US" sz="1000" dirty="0">
                <a:solidFill>
                  <a:srgbClr val="E0E2E5">
                    <a:alpha val="80000"/>
                  </a:srgbClr>
                </a:solidFill>
                <a:latin typeface="Noto Sans SC" pitchFamily="34" charset="0"/>
                <a:ea typeface="Noto Sans SC" pitchFamily="34" charset="-122"/>
                <a:cs typeface="Noto Sans SC" pitchFamily="34" charset="-120"/>
              </a:rPr>
              <a:t>？如何建立统一的压缩边界理论？</a:t>
            </a:r>
            <a:endParaRPr lang="en-US" sz="1600" dirty="0"/>
          </a:p>
        </p:txBody>
      </p:sp>
      <p:sp>
        <p:nvSpPr>
          <p:cNvPr id="13" name="Shape 11"/>
          <p:cNvSpPr/>
          <p:nvPr/>
        </p:nvSpPr>
        <p:spPr>
          <a:xfrm>
            <a:off x="523875" y="2489722"/>
            <a:ext cx="5349875" cy="650875"/>
          </a:xfrm>
          <a:custGeom>
            <a:avLst/>
            <a:gdLst/>
            <a:ahLst/>
            <a:cxnLst/>
            <a:rect l="l" t="t" r="r" b="b"/>
            <a:pathLst>
              <a:path w="5349875" h="650875">
                <a:moveTo>
                  <a:pt x="31750" y="0"/>
                </a:moveTo>
                <a:lnTo>
                  <a:pt x="5286376" y="0"/>
                </a:lnTo>
                <a:cubicBezTo>
                  <a:pt x="5321445" y="0"/>
                  <a:pt x="5349875" y="28430"/>
                  <a:pt x="5349875" y="63499"/>
                </a:cubicBezTo>
                <a:lnTo>
                  <a:pt x="5349875" y="587376"/>
                </a:lnTo>
                <a:cubicBezTo>
                  <a:pt x="5349875" y="622445"/>
                  <a:pt x="5321445" y="650875"/>
                  <a:pt x="5286376" y="650875"/>
                </a:cubicBezTo>
                <a:lnTo>
                  <a:pt x="31750" y="650875"/>
                </a:lnTo>
                <a:cubicBezTo>
                  <a:pt x="14227" y="650875"/>
                  <a:pt x="0" y="636648"/>
                  <a:pt x="0" y="619125"/>
                </a:cubicBezTo>
                <a:lnTo>
                  <a:pt x="0" y="31750"/>
                </a:lnTo>
                <a:cubicBezTo>
                  <a:pt x="0" y="14227"/>
                  <a:pt x="14227" y="0"/>
                  <a:pt x="31750" y="0"/>
                </a:cubicBezTo>
                <a:close/>
              </a:path>
            </a:pathLst>
          </a:custGeom>
          <a:solidFill>
            <a:srgbClr val="C9A86A">
              <a:alpha val="20000"/>
            </a:srgbClr>
          </a:solidFill>
          <a:ln/>
        </p:spPr>
        <p:txBody>
          <a:bodyPr/>
          <a:lstStyle/>
          <a:p>
            <a:endParaRPr lang="zh-CN" altLang="en-US"/>
          </a:p>
        </p:txBody>
      </p:sp>
      <p:sp>
        <p:nvSpPr>
          <p:cNvPr id="14" name="Shape 12"/>
          <p:cNvSpPr/>
          <p:nvPr/>
        </p:nvSpPr>
        <p:spPr>
          <a:xfrm>
            <a:off x="523875" y="2489722"/>
            <a:ext cx="31750" cy="650875"/>
          </a:xfrm>
          <a:custGeom>
            <a:avLst/>
            <a:gdLst/>
            <a:ahLst/>
            <a:cxnLst/>
            <a:rect l="l" t="t" r="r" b="b"/>
            <a:pathLst>
              <a:path w="31750" h="650875">
                <a:moveTo>
                  <a:pt x="31750" y="0"/>
                </a:moveTo>
                <a:lnTo>
                  <a:pt x="31750" y="0"/>
                </a:lnTo>
                <a:lnTo>
                  <a:pt x="31750" y="650875"/>
                </a:lnTo>
                <a:lnTo>
                  <a:pt x="31750" y="650875"/>
                </a:lnTo>
                <a:cubicBezTo>
                  <a:pt x="14227" y="650875"/>
                  <a:pt x="0" y="636648"/>
                  <a:pt x="0" y="619125"/>
                </a:cubicBezTo>
                <a:lnTo>
                  <a:pt x="0" y="31750"/>
                </a:lnTo>
                <a:cubicBezTo>
                  <a:pt x="0" y="14227"/>
                  <a:pt x="14227" y="0"/>
                  <a:pt x="31750" y="0"/>
                </a:cubicBezTo>
                <a:close/>
              </a:path>
            </a:pathLst>
          </a:custGeom>
          <a:solidFill>
            <a:srgbClr val="C9A86A"/>
          </a:solidFill>
          <a:ln/>
        </p:spPr>
        <p:txBody>
          <a:bodyPr/>
          <a:lstStyle/>
          <a:p>
            <a:endParaRPr lang="zh-CN" altLang="en-US"/>
          </a:p>
        </p:txBody>
      </p:sp>
      <p:sp>
        <p:nvSpPr>
          <p:cNvPr id="15" name="Text 13"/>
          <p:cNvSpPr/>
          <p:nvPr/>
        </p:nvSpPr>
        <p:spPr>
          <a:xfrm>
            <a:off x="635000" y="2584972"/>
            <a:ext cx="52070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实践困惑</a:t>
            </a:r>
            <a:endParaRPr lang="en-US" sz="1600" dirty="0"/>
          </a:p>
        </p:txBody>
      </p:sp>
      <p:sp>
        <p:nvSpPr>
          <p:cNvPr id="16" name="Text 14"/>
          <p:cNvSpPr/>
          <p:nvPr/>
        </p:nvSpPr>
        <p:spPr>
          <a:xfrm>
            <a:off x="635000" y="2838972"/>
            <a:ext cx="5207000"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TurboQuant 展示了 3-bit 甚至更低比特的潜力，但</a:t>
            </a:r>
            <a:r>
              <a:rPr lang="en-US" sz="1000" dirty="0">
                <a:solidFill>
                  <a:srgbClr val="C9A86A"/>
                </a:solidFill>
                <a:highlight>
                  <a:srgbClr val="C9A86A">
                    <a:alpha val="20000"/>
                  </a:srgbClr>
                </a:highlight>
                <a:latin typeface="Noto Sans SC" pitchFamily="34" charset="0"/>
                <a:ea typeface="Noto Sans SC" pitchFamily="34" charset="-122"/>
                <a:cs typeface="Noto Sans SC" pitchFamily="34" charset="-120"/>
              </a:rPr>
              <a:t> 3-bit 是否已逼近实用极限 </a:t>
            </a:r>
            <a:r>
              <a:rPr lang="en-US" sz="10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17" name="Shape 15"/>
          <p:cNvSpPr/>
          <p:nvPr/>
        </p:nvSpPr>
        <p:spPr>
          <a:xfrm>
            <a:off x="333375" y="3383351"/>
            <a:ext cx="5699125" cy="2397125"/>
          </a:xfrm>
          <a:custGeom>
            <a:avLst/>
            <a:gdLst/>
            <a:ahLst/>
            <a:cxnLst/>
            <a:rect l="l" t="t" r="r" b="b"/>
            <a:pathLst>
              <a:path w="5699125" h="2397125">
                <a:moveTo>
                  <a:pt x="31750" y="0"/>
                </a:moveTo>
                <a:lnTo>
                  <a:pt x="5635625" y="0"/>
                </a:lnTo>
                <a:cubicBezTo>
                  <a:pt x="5670695" y="0"/>
                  <a:pt x="5699125" y="28430"/>
                  <a:pt x="5699125" y="63500"/>
                </a:cubicBezTo>
                <a:lnTo>
                  <a:pt x="5699125" y="2333625"/>
                </a:lnTo>
                <a:cubicBezTo>
                  <a:pt x="5699125" y="2368695"/>
                  <a:pt x="5670695" y="2397125"/>
                  <a:pt x="5635625" y="2397125"/>
                </a:cubicBezTo>
                <a:lnTo>
                  <a:pt x="31750" y="2397125"/>
                </a:lnTo>
                <a:cubicBezTo>
                  <a:pt x="14215" y="2397125"/>
                  <a:pt x="0" y="2382910"/>
                  <a:pt x="0" y="2365375"/>
                </a:cubicBezTo>
                <a:lnTo>
                  <a:pt x="0" y="31750"/>
                </a:lnTo>
                <a:cubicBezTo>
                  <a:pt x="0" y="14227"/>
                  <a:pt x="14227" y="0"/>
                  <a:pt x="31750" y="0"/>
                </a:cubicBezTo>
                <a:close/>
              </a:path>
            </a:pathLst>
          </a:custGeom>
          <a:solidFill>
            <a:srgbClr val="C9A86A">
              <a:alpha val="10196"/>
            </a:srgbClr>
          </a:solidFill>
          <a:ln/>
        </p:spPr>
        <p:txBody>
          <a:bodyPr/>
          <a:lstStyle/>
          <a:p>
            <a:endParaRPr lang="zh-CN" altLang="en-US"/>
          </a:p>
        </p:txBody>
      </p:sp>
      <p:sp>
        <p:nvSpPr>
          <p:cNvPr id="18" name="Shape 16"/>
          <p:cNvSpPr/>
          <p:nvPr/>
        </p:nvSpPr>
        <p:spPr>
          <a:xfrm>
            <a:off x="333375" y="3383351"/>
            <a:ext cx="31750" cy="2397125"/>
          </a:xfrm>
          <a:custGeom>
            <a:avLst/>
            <a:gdLst/>
            <a:ahLst/>
            <a:cxnLst/>
            <a:rect l="l" t="t" r="r" b="b"/>
            <a:pathLst>
              <a:path w="31750" h="2397125">
                <a:moveTo>
                  <a:pt x="31750" y="0"/>
                </a:moveTo>
                <a:lnTo>
                  <a:pt x="31750" y="0"/>
                </a:lnTo>
                <a:lnTo>
                  <a:pt x="31750" y="2397125"/>
                </a:lnTo>
                <a:lnTo>
                  <a:pt x="31750" y="2397125"/>
                </a:lnTo>
                <a:cubicBezTo>
                  <a:pt x="14227" y="2397125"/>
                  <a:pt x="0" y="2382898"/>
                  <a:pt x="0" y="2365375"/>
                </a:cubicBezTo>
                <a:lnTo>
                  <a:pt x="0" y="31750"/>
                </a:lnTo>
                <a:cubicBezTo>
                  <a:pt x="0" y="14227"/>
                  <a:pt x="14227" y="0"/>
                  <a:pt x="31750" y="0"/>
                </a:cubicBezTo>
                <a:close/>
              </a:path>
            </a:pathLst>
          </a:custGeom>
          <a:solidFill>
            <a:srgbClr val="C9A86A"/>
          </a:solidFill>
          <a:ln/>
        </p:spPr>
        <p:txBody>
          <a:bodyPr/>
          <a:lstStyle/>
          <a:p>
            <a:endParaRPr lang="zh-CN" altLang="en-US"/>
          </a:p>
        </p:txBody>
      </p:sp>
      <p:sp>
        <p:nvSpPr>
          <p:cNvPr id="19" name="Shape 17"/>
          <p:cNvSpPr/>
          <p:nvPr/>
        </p:nvSpPr>
        <p:spPr>
          <a:xfrm>
            <a:off x="508000" y="3542101"/>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solidFill>
            <a:srgbClr val="C9A86A"/>
          </a:solidFill>
          <a:ln/>
        </p:spPr>
        <p:txBody>
          <a:bodyPr/>
          <a:lstStyle/>
          <a:p>
            <a:endParaRPr lang="zh-CN" altLang="en-US"/>
          </a:p>
        </p:txBody>
      </p:sp>
      <p:sp>
        <p:nvSpPr>
          <p:cNvPr id="20" name="Shape 18"/>
          <p:cNvSpPr/>
          <p:nvPr/>
        </p:nvSpPr>
        <p:spPr>
          <a:xfrm>
            <a:off x="619125" y="3653226"/>
            <a:ext cx="158750" cy="158750"/>
          </a:xfrm>
          <a:custGeom>
            <a:avLst/>
            <a:gdLst/>
            <a:ahLst/>
            <a:cxnLst/>
            <a:rect l="l" t="t" r="r" b="b"/>
            <a:pathLst>
              <a:path w="158750" h="158750">
                <a:moveTo>
                  <a:pt x="54570" y="7441"/>
                </a:moveTo>
                <a:cubicBezTo>
                  <a:pt x="54570" y="3318"/>
                  <a:pt x="51253" y="0"/>
                  <a:pt x="47129" y="0"/>
                </a:cubicBezTo>
                <a:cubicBezTo>
                  <a:pt x="43005" y="0"/>
                  <a:pt x="39688" y="3318"/>
                  <a:pt x="39688" y="7441"/>
                </a:cubicBezTo>
                <a:lnTo>
                  <a:pt x="39688" y="19844"/>
                </a:lnTo>
                <a:cubicBezTo>
                  <a:pt x="28742" y="19844"/>
                  <a:pt x="19844" y="28742"/>
                  <a:pt x="19844" y="39688"/>
                </a:cubicBezTo>
                <a:lnTo>
                  <a:pt x="7441" y="39688"/>
                </a:lnTo>
                <a:cubicBezTo>
                  <a:pt x="3318" y="39688"/>
                  <a:pt x="0" y="43005"/>
                  <a:pt x="0" y="47129"/>
                </a:cubicBezTo>
                <a:cubicBezTo>
                  <a:pt x="0" y="51253"/>
                  <a:pt x="3318" y="54570"/>
                  <a:pt x="7441" y="54570"/>
                </a:cubicBezTo>
                <a:lnTo>
                  <a:pt x="19844" y="54570"/>
                </a:lnTo>
                <a:lnTo>
                  <a:pt x="19844" y="71934"/>
                </a:lnTo>
                <a:lnTo>
                  <a:pt x="7441" y="71934"/>
                </a:lnTo>
                <a:cubicBezTo>
                  <a:pt x="3318" y="71934"/>
                  <a:pt x="0" y="75251"/>
                  <a:pt x="0" y="79375"/>
                </a:cubicBezTo>
                <a:cubicBezTo>
                  <a:pt x="0" y="83499"/>
                  <a:pt x="3318" y="86816"/>
                  <a:pt x="7441" y="86816"/>
                </a:cubicBezTo>
                <a:lnTo>
                  <a:pt x="19844" y="86816"/>
                </a:lnTo>
                <a:lnTo>
                  <a:pt x="19844" y="104180"/>
                </a:lnTo>
                <a:lnTo>
                  <a:pt x="7441" y="104180"/>
                </a:lnTo>
                <a:cubicBezTo>
                  <a:pt x="3318" y="104180"/>
                  <a:pt x="0" y="107497"/>
                  <a:pt x="0" y="111621"/>
                </a:cubicBezTo>
                <a:cubicBezTo>
                  <a:pt x="0" y="115745"/>
                  <a:pt x="3318" y="119062"/>
                  <a:pt x="7441" y="119062"/>
                </a:cubicBezTo>
                <a:lnTo>
                  <a:pt x="19844" y="119062"/>
                </a:lnTo>
                <a:cubicBezTo>
                  <a:pt x="19844" y="130008"/>
                  <a:pt x="28742" y="138906"/>
                  <a:pt x="39688" y="138906"/>
                </a:cubicBezTo>
                <a:lnTo>
                  <a:pt x="39688" y="151309"/>
                </a:lnTo>
                <a:cubicBezTo>
                  <a:pt x="39688" y="155432"/>
                  <a:pt x="43005" y="158750"/>
                  <a:pt x="47129" y="158750"/>
                </a:cubicBezTo>
                <a:cubicBezTo>
                  <a:pt x="51253" y="158750"/>
                  <a:pt x="54570" y="155432"/>
                  <a:pt x="54570" y="151309"/>
                </a:cubicBezTo>
                <a:lnTo>
                  <a:pt x="54570" y="138906"/>
                </a:lnTo>
                <a:lnTo>
                  <a:pt x="71934" y="138906"/>
                </a:lnTo>
                <a:lnTo>
                  <a:pt x="71934" y="151309"/>
                </a:lnTo>
                <a:cubicBezTo>
                  <a:pt x="71934" y="155432"/>
                  <a:pt x="75251" y="158750"/>
                  <a:pt x="79375" y="158750"/>
                </a:cubicBezTo>
                <a:cubicBezTo>
                  <a:pt x="83499" y="158750"/>
                  <a:pt x="86816" y="155432"/>
                  <a:pt x="86816" y="151309"/>
                </a:cubicBezTo>
                <a:lnTo>
                  <a:pt x="86816" y="138906"/>
                </a:lnTo>
                <a:lnTo>
                  <a:pt x="104180" y="138906"/>
                </a:lnTo>
                <a:lnTo>
                  <a:pt x="104180" y="151309"/>
                </a:lnTo>
                <a:cubicBezTo>
                  <a:pt x="104180" y="155432"/>
                  <a:pt x="107497" y="158750"/>
                  <a:pt x="111621" y="158750"/>
                </a:cubicBezTo>
                <a:cubicBezTo>
                  <a:pt x="115745" y="158750"/>
                  <a:pt x="119062" y="155432"/>
                  <a:pt x="119062" y="151309"/>
                </a:cubicBezTo>
                <a:lnTo>
                  <a:pt x="119062" y="138906"/>
                </a:lnTo>
                <a:cubicBezTo>
                  <a:pt x="130008" y="138906"/>
                  <a:pt x="138906" y="130008"/>
                  <a:pt x="138906" y="119062"/>
                </a:cubicBezTo>
                <a:lnTo>
                  <a:pt x="151309" y="119062"/>
                </a:lnTo>
                <a:cubicBezTo>
                  <a:pt x="155432" y="119062"/>
                  <a:pt x="158750" y="115745"/>
                  <a:pt x="158750" y="111621"/>
                </a:cubicBezTo>
                <a:cubicBezTo>
                  <a:pt x="158750" y="107497"/>
                  <a:pt x="155432" y="104180"/>
                  <a:pt x="151309" y="104180"/>
                </a:cubicBezTo>
                <a:lnTo>
                  <a:pt x="138906" y="104180"/>
                </a:lnTo>
                <a:lnTo>
                  <a:pt x="138906" y="86816"/>
                </a:lnTo>
                <a:lnTo>
                  <a:pt x="151309" y="86816"/>
                </a:lnTo>
                <a:cubicBezTo>
                  <a:pt x="155432" y="86816"/>
                  <a:pt x="158750" y="83499"/>
                  <a:pt x="158750" y="79375"/>
                </a:cubicBezTo>
                <a:cubicBezTo>
                  <a:pt x="158750" y="75251"/>
                  <a:pt x="155432" y="71934"/>
                  <a:pt x="151309" y="71934"/>
                </a:cubicBezTo>
                <a:lnTo>
                  <a:pt x="138906" y="71934"/>
                </a:lnTo>
                <a:lnTo>
                  <a:pt x="138906" y="54570"/>
                </a:lnTo>
                <a:lnTo>
                  <a:pt x="151309" y="54570"/>
                </a:lnTo>
                <a:cubicBezTo>
                  <a:pt x="155432" y="54570"/>
                  <a:pt x="158750" y="51253"/>
                  <a:pt x="158750" y="47129"/>
                </a:cubicBezTo>
                <a:cubicBezTo>
                  <a:pt x="158750" y="43005"/>
                  <a:pt x="155432" y="39688"/>
                  <a:pt x="151309" y="39688"/>
                </a:cubicBezTo>
                <a:lnTo>
                  <a:pt x="138906" y="39688"/>
                </a:lnTo>
                <a:cubicBezTo>
                  <a:pt x="138906" y="28742"/>
                  <a:pt x="130008" y="19844"/>
                  <a:pt x="119062" y="19844"/>
                </a:cubicBezTo>
                <a:lnTo>
                  <a:pt x="119062" y="7441"/>
                </a:lnTo>
                <a:cubicBezTo>
                  <a:pt x="119062" y="3318"/>
                  <a:pt x="115745" y="0"/>
                  <a:pt x="111621" y="0"/>
                </a:cubicBezTo>
                <a:cubicBezTo>
                  <a:pt x="107497" y="0"/>
                  <a:pt x="104180" y="3318"/>
                  <a:pt x="104180" y="7441"/>
                </a:cubicBezTo>
                <a:lnTo>
                  <a:pt x="104180" y="19844"/>
                </a:lnTo>
                <a:lnTo>
                  <a:pt x="86816" y="19844"/>
                </a:lnTo>
                <a:lnTo>
                  <a:pt x="86816" y="7441"/>
                </a:lnTo>
                <a:cubicBezTo>
                  <a:pt x="86816" y="3318"/>
                  <a:pt x="83499" y="0"/>
                  <a:pt x="79375" y="0"/>
                </a:cubicBezTo>
                <a:cubicBezTo>
                  <a:pt x="75251" y="0"/>
                  <a:pt x="71934" y="3318"/>
                  <a:pt x="71934" y="7441"/>
                </a:cubicBezTo>
                <a:lnTo>
                  <a:pt x="71934" y="19844"/>
                </a:lnTo>
                <a:lnTo>
                  <a:pt x="54570" y="19844"/>
                </a:lnTo>
                <a:lnTo>
                  <a:pt x="54570" y="7441"/>
                </a:lnTo>
                <a:close/>
                <a:moveTo>
                  <a:pt x="49609" y="39688"/>
                </a:moveTo>
                <a:lnTo>
                  <a:pt x="109141" y="39688"/>
                </a:lnTo>
                <a:cubicBezTo>
                  <a:pt x="114629" y="39688"/>
                  <a:pt x="119062" y="44121"/>
                  <a:pt x="119062" y="49609"/>
                </a:cubicBezTo>
                <a:lnTo>
                  <a:pt x="119062" y="109141"/>
                </a:lnTo>
                <a:cubicBezTo>
                  <a:pt x="119062" y="114629"/>
                  <a:pt x="114629" y="119062"/>
                  <a:pt x="109141" y="119062"/>
                </a:cubicBezTo>
                <a:lnTo>
                  <a:pt x="49609" y="119062"/>
                </a:lnTo>
                <a:cubicBezTo>
                  <a:pt x="44121" y="119062"/>
                  <a:pt x="39688" y="114629"/>
                  <a:pt x="39688" y="109141"/>
                </a:cubicBezTo>
                <a:lnTo>
                  <a:pt x="39688" y="49609"/>
                </a:lnTo>
                <a:cubicBezTo>
                  <a:pt x="39688" y="44121"/>
                  <a:pt x="44121" y="39688"/>
                  <a:pt x="49609" y="39688"/>
                </a:cubicBezTo>
                <a:close/>
                <a:moveTo>
                  <a:pt x="54570" y="54570"/>
                </a:moveTo>
                <a:lnTo>
                  <a:pt x="54570" y="104180"/>
                </a:lnTo>
                <a:lnTo>
                  <a:pt x="104180" y="104180"/>
                </a:lnTo>
                <a:lnTo>
                  <a:pt x="104180" y="54570"/>
                </a:lnTo>
                <a:lnTo>
                  <a:pt x="54570" y="54570"/>
                </a:lnTo>
                <a:close/>
              </a:path>
            </a:pathLst>
          </a:custGeom>
          <a:solidFill>
            <a:srgbClr val="FFFFFF"/>
          </a:solidFill>
          <a:ln/>
        </p:spPr>
        <p:txBody>
          <a:bodyPr/>
          <a:lstStyle/>
          <a:p>
            <a:endParaRPr lang="zh-CN" altLang="en-US"/>
          </a:p>
        </p:txBody>
      </p:sp>
      <p:sp>
        <p:nvSpPr>
          <p:cNvPr id="21" name="Text 19"/>
          <p:cNvSpPr/>
          <p:nvPr/>
        </p:nvSpPr>
        <p:spPr>
          <a:xfrm>
            <a:off x="984250" y="3621476"/>
            <a:ext cx="873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硬件适配性</a:t>
            </a:r>
            <a:endParaRPr lang="en-US" sz="1600" dirty="0"/>
          </a:p>
        </p:txBody>
      </p:sp>
      <p:sp>
        <p:nvSpPr>
          <p:cNvPr id="22" name="Shape 20"/>
          <p:cNvSpPr/>
          <p:nvPr/>
        </p:nvSpPr>
        <p:spPr>
          <a:xfrm>
            <a:off x="508000" y="4069945"/>
            <a:ext cx="5365750" cy="650875"/>
          </a:xfrm>
          <a:custGeom>
            <a:avLst/>
            <a:gdLst/>
            <a:ahLst/>
            <a:cxnLst/>
            <a:rect l="l" t="t" r="r" b="b"/>
            <a:pathLst>
              <a:path w="5365750" h="650875">
                <a:moveTo>
                  <a:pt x="63499" y="0"/>
                </a:moveTo>
                <a:lnTo>
                  <a:pt x="5302251" y="0"/>
                </a:lnTo>
                <a:cubicBezTo>
                  <a:pt x="5337320" y="0"/>
                  <a:pt x="5365750" y="28430"/>
                  <a:pt x="5365750" y="63499"/>
                </a:cubicBezTo>
                <a:lnTo>
                  <a:pt x="5365750" y="587376"/>
                </a:lnTo>
                <a:cubicBezTo>
                  <a:pt x="5365750" y="622445"/>
                  <a:pt x="5337320" y="650875"/>
                  <a:pt x="5302251" y="650875"/>
                </a:cubicBezTo>
                <a:lnTo>
                  <a:pt x="63499" y="650875"/>
                </a:lnTo>
                <a:cubicBezTo>
                  <a:pt x="28430" y="650875"/>
                  <a:pt x="0" y="622445"/>
                  <a:pt x="0" y="587376"/>
                </a:cubicBezTo>
                <a:lnTo>
                  <a:pt x="0" y="63499"/>
                </a:lnTo>
                <a:cubicBezTo>
                  <a:pt x="0" y="28453"/>
                  <a:pt x="28453" y="0"/>
                  <a:pt x="63499" y="0"/>
                </a:cubicBezTo>
                <a:close/>
              </a:path>
            </a:pathLst>
          </a:custGeom>
          <a:solidFill>
            <a:srgbClr val="1A1D21">
              <a:alpha val="50196"/>
            </a:srgbClr>
          </a:solidFill>
          <a:ln/>
        </p:spPr>
        <p:txBody>
          <a:bodyPr/>
          <a:lstStyle/>
          <a:p>
            <a:endParaRPr lang="zh-CN" altLang="en-US"/>
          </a:p>
        </p:txBody>
      </p:sp>
      <p:sp>
        <p:nvSpPr>
          <p:cNvPr id="23" name="Text 21"/>
          <p:cNvSpPr/>
          <p:nvPr/>
        </p:nvSpPr>
        <p:spPr>
          <a:xfrm>
            <a:off x="603250" y="4165195"/>
            <a:ext cx="5238750" cy="190500"/>
          </a:xfrm>
          <a:prstGeom prst="rect">
            <a:avLst/>
          </a:prstGeom>
          <a:noFill/>
          <a:ln/>
        </p:spPr>
        <p:txBody>
          <a:bodyPr wrap="square" lIns="0" tIns="0" rIns="0" bIns="0" rtlCol="0" anchor="ctr"/>
          <a:lstStyle/>
          <a:p>
            <a:pPr>
              <a:lnSpc>
                <a:spcPct val="130000"/>
              </a:lnSpc>
            </a:pPr>
            <a:r>
              <a:rPr lang="en-US" sz="1000" b="1" dirty="0">
                <a:solidFill>
                  <a:srgbClr val="C9A86A"/>
                </a:solidFill>
                <a:latin typeface="Noto Sans SC" pitchFamily="34" charset="0"/>
                <a:ea typeface="Noto Sans SC" pitchFamily="34" charset="-122"/>
                <a:cs typeface="Noto Sans SC" pitchFamily="34" charset="-120"/>
              </a:rPr>
              <a:t>现实挑战</a:t>
            </a:r>
            <a:endParaRPr lang="en-US" sz="1600" dirty="0"/>
          </a:p>
        </p:txBody>
      </p:sp>
      <p:sp>
        <p:nvSpPr>
          <p:cNvPr id="24" name="Text 22"/>
          <p:cNvSpPr/>
          <p:nvPr/>
        </p:nvSpPr>
        <p:spPr>
          <a:xfrm>
            <a:off x="603250" y="4419195"/>
            <a:ext cx="5238750"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同一压缩方法在不同 GPU 架构上的 Kernel 效率可能</a:t>
            </a:r>
            <a:r>
              <a:rPr lang="en-US" sz="1000" b="1" dirty="0">
                <a:solidFill>
                  <a:srgbClr val="E0E2E5">
                    <a:alpha val="80000"/>
                  </a:srgbClr>
                </a:solidFill>
                <a:latin typeface="Noto Sans SC" pitchFamily="34" charset="0"/>
                <a:ea typeface="Noto Sans SC" pitchFamily="34" charset="-122"/>
                <a:cs typeface="Noto Sans SC" pitchFamily="34" charset="-120"/>
              </a:rPr>
              <a:t>相差数倍</a:t>
            </a:r>
            <a:endParaRPr lang="en-US" sz="1600" dirty="0"/>
          </a:p>
        </p:txBody>
      </p:sp>
      <p:sp>
        <p:nvSpPr>
          <p:cNvPr id="25" name="Shape 23"/>
          <p:cNvSpPr/>
          <p:nvPr/>
        </p:nvSpPr>
        <p:spPr>
          <a:xfrm>
            <a:off x="523875" y="4919257"/>
            <a:ext cx="5349875" cy="650875"/>
          </a:xfrm>
          <a:custGeom>
            <a:avLst/>
            <a:gdLst/>
            <a:ahLst/>
            <a:cxnLst/>
            <a:rect l="l" t="t" r="r" b="b"/>
            <a:pathLst>
              <a:path w="5349875" h="650875">
                <a:moveTo>
                  <a:pt x="31750" y="0"/>
                </a:moveTo>
                <a:lnTo>
                  <a:pt x="5286376" y="0"/>
                </a:lnTo>
                <a:cubicBezTo>
                  <a:pt x="5321445" y="0"/>
                  <a:pt x="5349875" y="28430"/>
                  <a:pt x="5349875" y="63499"/>
                </a:cubicBezTo>
                <a:lnTo>
                  <a:pt x="5349875" y="587376"/>
                </a:lnTo>
                <a:cubicBezTo>
                  <a:pt x="5349875" y="622445"/>
                  <a:pt x="5321445" y="650875"/>
                  <a:pt x="5286376" y="650875"/>
                </a:cubicBezTo>
                <a:lnTo>
                  <a:pt x="31750" y="650875"/>
                </a:lnTo>
                <a:cubicBezTo>
                  <a:pt x="14227" y="650875"/>
                  <a:pt x="0" y="636648"/>
                  <a:pt x="0" y="619125"/>
                </a:cubicBezTo>
                <a:lnTo>
                  <a:pt x="0" y="31750"/>
                </a:lnTo>
                <a:cubicBezTo>
                  <a:pt x="0" y="14227"/>
                  <a:pt x="14227" y="0"/>
                  <a:pt x="31750" y="0"/>
                </a:cubicBezTo>
                <a:close/>
              </a:path>
            </a:pathLst>
          </a:custGeom>
          <a:solidFill>
            <a:srgbClr val="5F6B7A">
              <a:alpha val="20000"/>
            </a:srgbClr>
          </a:solidFill>
          <a:ln/>
        </p:spPr>
        <p:txBody>
          <a:bodyPr/>
          <a:lstStyle/>
          <a:p>
            <a:endParaRPr lang="zh-CN" altLang="en-US"/>
          </a:p>
        </p:txBody>
      </p:sp>
      <p:sp>
        <p:nvSpPr>
          <p:cNvPr id="26" name="Shape 24"/>
          <p:cNvSpPr/>
          <p:nvPr/>
        </p:nvSpPr>
        <p:spPr>
          <a:xfrm>
            <a:off x="523875" y="4919257"/>
            <a:ext cx="31750" cy="650875"/>
          </a:xfrm>
          <a:custGeom>
            <a:avLst/>
            <a:gdLst/>
            <a:ahLst/>
            <a:cxnLst/>
            <a:rect l="l" t="t" r="r" b="b"/>
            <a:pathLst>
              <a:path w="31750" h="650875">
                <a:moveTo>
                  <a:pt x="31750" y="0"/>
                </a:moveTo>
                <a:lnTo>
                  <a:pt x="31750" y="0"/>
                </a:lnTo>
                <a:lnTo>
                  <a:pt x="31750" y="650875"/>
                </a:lnTo>
                <a:lnTo>
                  <a:pt x="31750" y="650875"/>
                </a:lnTo>
                <a:cubicBezTo>
                  <a:pt x="14227" y="650875"/>
                  <a:pt x="0" y="636648"/>
                  <a:pt x="0" y="619125"/>
                </a:cubicBezTo>
                <a:lnTo>
                  <a:pt x="0" y="31750"/>
                </a:lnTo>
                <a:cubicBezTo>
                  <a:pt x="0" y="14227"/>
                  <a:pt x="14227" y="0"/>
                  <a:pt x="31750" y="0"/>
                </a:cubicBezTo>
                <a:close/>
              </a:path>
            </a:pathLst>
          </a:custGeom>
          <a:solidFill>
            <a:srgbClr val="5F6B7A"/>
          </a:solidFill>
          <a:ln/>
        </p:spPr>
        <p:txBody>
          <a:bodyPr/>
          <a:lstStyle/>
          <a:p>
            <a:endParaRPr lang="zh-CN" altLang="en-US"/>
          </a:p>
        </p:txBody>
      </p:sp>
      <p:sp>
        <p:nvSpPr>
          <p:cNvPr id="27" name="Text 25"/>
          <p:cNvSpPr/>
          <p:nvPr/>
        </p:nvSpPr>
        <p:spPr>
          <a:xfrm>
            <a:off x="635000" y="5014507"/>
            <a:ext cx="52070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未来方向</a:t>
            </a:r>
            <a:endParaRPr lang="en-US" sz="1600" dirty="0"/>
          </a:p>
        </p:txBody>
      </p:sp>
      <p:sp>
        <p:nvSpPr>
          <p:cNvPr id="28" name="Text 26"/>
          <p:cNvSpPr/>
          <p:nvPr/>
        </p:nvSpPr>
        <p:spPr>
          <a:xfrm>
            <a:off x="635000" y="5268507"/>
            <a:ext cx="5207000" cy="206375"/>
          </a:xfrm>
          <a:prstGeom prst="rect">
            <a:avLst/>
          </a:prstGeom>
          <a:noFill/>
          <a:ln/>
        </p:spPr>
        <p:txBody>
          <a:bodyPr wrap="square" lIns="0" tIns="0" rIns="0" bIns="0" rtlCol="0" anchor="ctr"/>
          <a:lstStyle/>
          <a:p>
            <a:pPr>
              <a:lnSpc>
                <a:spcPct val="140000"/>
              </a:lnSpc>
            </a:pPr>
            <a:r>
              <a:rPr lang="en-US" sz="1000" dirty="0">
                <a:solidFill>
                  <a:srgbClr val="5F6B7A"/>
                </a:solidFill>
                <a:highlight>
                  <a:srgbClr val="5F6B7A">
                    <a:alpha val="20000"/>
                  </a:srgbClr>
                </a:highlight>
                <a:latin typeface="Noto Sans SC" pitchFamily="34" charset="0"/>
                <a:ea typeface="Noto Sans SC" pitchFamily="34" charset="-122"/>
                <a:cs typeface="Noto Sans SC" pitchFamily="34" charset="-120"/>
              </a:rPr>
              <a:t>Hardware-Algorithm Co-design（软硬协同设计） </a:t>
            </a:r>
            <a:r>
              <a:rPr lang="en-US" sz="1000" dirty="0">
                <a:solidFill>
                  <a:srgbClr val="E0E2E5">
                    <a:alpha val="80000"/>
                  </a:srgbClr>
                </a:solidFill>
                <a:latin typeface="Noto Sans SC" pitchFamily="34" charset="0"/>
                <a:ea typeface="Noto Sans SC" pitchFamily="34" charset="-122"/>
                <a:cs typeface="Noto Sans SC" pitchFamily="34" charset="-120"/>
              </a:rPr>
              <a:t>将是不可回避的挑战</a:t>
            </a:r>
            <a:endParaRPr lang="en-US" sz="1600" dirty="0"/>
          </a:p>
        </p:txBody>
      </p:sp>
      <p:sp>
        <p:nvSpPr>
          <p:cNvPr id="29" name="Shape 27"/>
          <p:cNvSpPr/>
          <p:nvPr/>
        </p:nvSpPr>
        <p:spPr>
          <a:xfrm>
            <a:off x="6175375" y="953816"/>
            <a:ext cx="5699125" cy="2397125"/>
          </a:xfrm>
          <a:custGeom>
            <a:avLst/>
            <a:gdLst/>
            <a:ahLst/>
            <a:cxnLst/>
            <a:rect l="l" t="t" r="r" b="b"/>
            <a:pathLst>
              <a:path w="5699125" h="2397125">
                <a:moveTo>
                  <a:pt x="31750" y="0"/>
                </a:moveTo>
                <a:lnTo>
                  <a:pt x="5635625" y="0"/>
                </a:lnTo>
                <a:cubicBezTo>
                  <a:pt x="5670695" y="0"/>
                  <a:pt x="5699125" y="28430"/>
                  <a:pt x="5699125" y="63500"/>
                </a:cubicBezTo>
                <a:lnTo>
                  <a:pt x="5699125" y="2333625"/>
                </a:lnTo>
                <a:cubicBezTo>
                  <a:pt x="5699125" y="2368695"/>
                  <a:pt x="5670695" y="2397125"/>
                  <a:pt x="5635625" y="2397125"/>
                </a:cubicBezTo>
                <a:lnTo>
                  <a:pt x="31750" y="2397125"/>
                </a:lnTo>
                <a:cubicBezTo>
                  <a:pt x="14215" y="2397125"/>
                  <a:pt x="0" y="2382910"/>
                  <a:pt x="0" y="2365375"/>
                </a:cubicBezTo>
                <a:lnTo>
                  <a:pt x="0" y="31750"/>
                </a:lnTo>
                <a:cubicBezTo>
                  <a:pt x="0" y="14227"/>
                  <a:pt x="14227" y="0"/>
                  <a:pt x="31750" y="0"/>
                </a:cubicBezTo>
                <a:close/>
              </a:path>
            </a:pathLst>
          </a:custGeom>
          <a:solidFill>
            <a:srgbClr val="5F6B7A">
              <a:alpha val="10196"/>
            </a:srgbClr>
          </a:solidFill>
          <a:ln/>
        </p:spPr>
        <p:txBody>
          <a:bodyPr/>
          <a:lstStyle/>
          <a:p>
            <a:endParaRPr lang="zh-CN" altLang="en-US"/>
          </a:p>
        </p:txBody>
      </p:sp>
      <p:sp>
        <p:nvSpPr>
          <p:cNvPr id="30" name="Shape 28"/>
          <p:cNvSpPr/>
          <p:nvPr/>
        </p:nvSpPr>
        <p:spPr>
          <a:xfrm>
            <a:off x="6175375" y="953816"/>
            <a:ext cx="31750" cy="2397125"/>
          </a:xfrm>
          <a:custGeom>
            <a:avLst/>
            <a:gdLst/>
            <a:ahLst/>
            <a:cxnLst/>
            <a:rect l="l" t="t" r="r" b="b"/>
            <a:pathLst>
              <a:path w="31750" h="2397125">
                <a:moveTo>
                  <a:pt x="31750" y="0"/>
                </a:moveTo>
                <a:lnTo>
                  <a:pt x="31750" y="0"/>
                </a:lnTo>
                <a:lnTo>
                  <a:pt x="31750" y="2397125"/>
                </a:lnTo>
                <a:lnTo>
                  <a:pt x="31750" y="2397125"/>
                </a:lnTo>
                <a:cubicBezTo>
                  <a:pt x="14227" y="2397125"/>
                  <a:pt x="0" y="2382898"/>
                  <a:pt x="0" y="2365375"/>
                </a:cubicBezTo>
                <a:lnTo>
                  <a:pt x="0" y="31750"/>
                </a:lnTo>
                <a:cubicBezTo>
                  <a:pt x="0" y="14227"/>
                  <a:pt x="14227" y="0"/>
                  <a:pt x="31750" y="0"/>
                </a:cubicBezTo>
                <a:close/>
              </a:path>
            </a:pathLst>
          </a:custGeom>
          <a:solidFill>
            <a:srgbClr val="5F6B7A"/>
          </a:solidFill>
          <a:ln/>
        </p:spPr>
        <p:txBody>
          <a:bodyPr/>
          <a:lstStyle/>
          <a:p>
            <a:endParaRPr lang="zh-CN" altLang="en-US"/>
          </a:p>
        </p:txBody>
      </p:sp>
      <p:sp>
        <p:nvSpPr>
          <p:cNvPr id="31" name="Shape 29"/>
          <p:cNvSpPr/>
          <p:nvPr/>
        </p:nvSpPr>
        <p:spPr>
          <a:xfrm>
            <a:off x="6350000" y="1112566"/>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solidFill>
            <a:srgbClr val="5F6B7A"/>
          </a:solidFill>
          <a:ln/>
        </p:spPr>
        <p:txBody>
          <a:bodyPr/>
          <a:lstStyle/>
          <a:p>
            <a:endParaRPr lang="zh-CN" altLang="en-US"/>
          </a:p>
        </p:txBody>
      </p:sp>
      <p:sp>
        <p:nvSpPr>
          <p:cNvPr id="32" name="Shape 30"/>
          <p:cNvSpPr/>
          <p:nvPr/>
        </p:nvSpPr>
        <p:spPr>
          <a:xfrm>
            <a:off x="6461125" y="1223691"/>
            <a:ext cx="158750" cy="158750"/>
          </a:xfrm>
          <a:custGeom>
            <a:avLst/>
            <a:gdLst/>
            <a:ahLst/>
            <a:cxnLst/>
            <a:rect l="l" t="t" r="r" b="b"/>
            <a:pathLst>
              <a:path w="158750" h="158750">
                <a:moveTo>
                  <a:pt x="37207" y="17363"/>
                </a:moveTo>
                <a:cubicBezTo>
                  <a:pt x="37207" y="7782"/>
                  <a:pt x="44990" y="0"/>
                  <a:pt x="54570" y="0"/>
                </a:cubicBezTo>
                <a:lnTo>
                  <a:pt x="62012" y="0"/>
                </a:lnTo>
                <a:cubicBezTo>
                  <a:pt x="67500" y="0"/>
                  <a:pt x="71934" y="4434"/>
                  <a:pt x="71934" y="9922"/>
                </a:cubicBezTo>
                <a:lnTo>
                  <a:pt x="71934" y="148828"/>
                </a:lnTo>
                <a:cubicBezTo>
                  <a:pt x="71934" y="154316"/>
                  <a:pt x="67500" y="158750"/>
                  <a:pt x="62012" y="158750"/>
                </a:cubicBezTo>
                <a:lnTo>
                  <a:pt x="52090" y="158750"/>
                </a:lnTo>
                <a:cubicBezTo>
                  <a:pt x="42850" y="158750"/>
                  <a:pt x="35068" y="152425"/>
                  <a:pt x="32866" y="143867"/>
                </a:cubicBezTo>
                <a:cubicBezTo>
                  <a:pt x="32649" y="143867"/>
                  <a:pt x="32463" y="143867"/>
                  <a:pt x="32246" y="143867"/>
                </a:cubicBezTo>
                <a:cubicBezTo>
                  <a:pt x="18542" y="143867"/>
                  <a:pt x="7441" y="132767"/>
                  <a:pt x="7441" y="119062"/>
                </a:cubicBezTo>
                <a:cubicBezTo>
                  <a:pt x="7441" y="113481"/>
                  <a:pt x="9302" y="108334"/>
                  <a:pt x="12402" y="104180"/>
                </a:cubicBezTo>
                <a:cubicBezTo>
                  <a:pt x="6387" y="99653"/>
                  <a:pt x="2480" y="92459"/>
                  <a:pt x="2480" y="84336"/>
                </a:cubicBezTo>
                <a:cubicBezTo>
                  <a:pt x="2480" y="74755"/>
                  <a:pt x="7938" y="66415"/>
                  <a:pt x="15875" y="62291"/>
                </a:cubicBezTo>
                <a:cubicBezTo>
                  <a:pt x="13674" y="58570"/>
                  <a:pt x="12402" y="54229"/>
                  <a:pt x="12402" y="49609"/>
                </a:cubicBezTo>
                <a:cubicBezTo>
                  <a:pt x="12402" y="35905"/>
                  <a:pt x="23502" y="24805"/>
                  <a:pt x="37207" y="24805"/>
                </a:cubicBezTo>
                <a:lnTo>
                  <a:pt x="37207" y="17363"/>
                </a:lnTo>
                <a:close/>
                <a:moveTo>
                  <a:pt x="121543" y="17363"/>
                </a:moveTo>
                <a:lnTo>
                  <a:pt x="121543" y="24805"/>
                </a:lnTo>
                <a:cubicBezTo>
                  <a:pt x="135248" y="24805"/>
                  <a:pt x="146348" y="35905"/>
                  <a:pt x="146348" y="49609"/>
                </a:cubicBezTo>
                <a:cubicBezTo>
                  <a:pt x="146348" y="54260"/>
                  <a:pt x="145076" y="58601"/>
                  <a:pt x="142875" y="62291"/>
                </a:cubicBezTo>
                <a:cubicBezTo>
                  <a:pt x="150844" y="66415"/>
                  <a:pt x="156270" y="74724"/>
                  <a:pt x="156270" y="84336"/>
                </a:cubicBezTo>
                <a:cubicBezTo>
                  <a:pt x="156270" y="92459"/>
                  <a:pt x="152363" y="99653"/>
                  <a:pt x="146348" y="104180"/>
                </a:cubicBezTo>
                <a:cubicBezTo>
                  <a:pt x="149448" y="108334"/>
                  <a:pt x="151309" y="113481"/>
                  <a:pt x="151309" y="119062"/>
                </a:cubicBezTo>
                <a:cubicBezTo>
                  <a:pt x="151309" y="132767"/>
                  <a:pt x="140208" y="143867"/>
                  <a:pt x="126504" y="143867"/>
                </a:cubicBezTo>
                <a:cubicBezTo>
                  <a:pt x="126287" y="143867"/>
                  <a:pt x="126101" y="143867"/>
                  <a:pt x="125884" y="143867"/>
                </a:cubicBezTo>
                <a:cubicBezTo>
                  <a:pt x="123682" y="152425"/>
                  <a:pt x="115900" y="158750"/>
                  <a:pt x="106660" y="158750"/>
                </a:cubicBezTo>
                <a:lnTo>
                  <a:pt x="96738" y="158750"/>
                </a:lnTo>
                <a:cubicBezTo>
                  <a:pt x="91250" y="158750"/>
                  <a:pt x="86816" y="154316"/>
                  <a:pt x="86816" y="148828"/>
                </a:cubicBezTo>
                <a:lnTo>
                  <a:pt x="86816" y="9922"/>
                </a:lnTo>
                <a:cubicBezTo>
                  <a:pt x="86816" y="4434"/>
                  <a:pt x="91250" y="0"/>
                  <a:pt x="96738" y="0"/>
                </a:cubicBezTo>
                <a:lnTo>
                  <a:pt x="104180" y="0"/>
                </a:lnTo>
                <a:cubicBezTo>
                  <a:pt x="113760" y="0"/>
                  <a:pt x="121543" y="7782"/>
                  <a:pt x="121543" y="17363"/>
                </a:cubicBezTo>
                <a:close/>
              </a:path>
            </a:pathLst>
          </a:custGeom>
          <a:solidFill>
            <a:srgbClr val="FFFFFF"/>
          </a:solidFill>
          <a:ln/>
        </p:spPr>
        <p:txBody>
          <a:bodyPr/>
          <a:lstStyle/>
          <a:p>
            <a:endParaRPr lang="zh-CN" altLang="en-US"/>
          </a:p>
        </p:txBody>
      </p:sp>
      <p:sp>
        <p:nvSpPr>
          <p:cNvPr id="33" name="Text 31"/>
          <p:cNvSpPr/>
          <p:nvPr/>
        </p:nvSpPr>
        <p:spPr>
          <a:xfrm>
            <a:off x="6826250" y="1191941"/>
            <a:ext cx="1460500"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KV 表示的可重构性</a:t>
            </a:r>
            <a:endParaRPr lang="en-US" sz="1600" dirty="0"/>
          </a:p>
        </p:txBody>
      </p:sp>
      <p:sp>
        <p:nvSpPr>
          <p:cNvPr id="34" name="Shape 32"/>
          <p:cNvSpPr/>
          <p:nvPr/>
        </p:nvSpPr>
        <p:spPr>
          <a:xfrm>
            <a:off x="6350000" y="1588816"/>
            <a:ext cx="5365750" cy="650875"/>
          </a:xfrm>
          <a:custGeom>
            <a:avLst/>
            <a:gdLst/>
            <a:ahLst/>
            <a:cxnLst/>
            <a:rect l="l" t="t" r="r" b="b"/>
            <a:pathLst>
              <a:path w="5365750" h="650875">
                <a:moveTo>
                  <a:pt x="63499" y="0"/>
                </a:moveTo>
                <a:lnTo>
                  <a:pt x="5302251" y="0"/>
                </a:lnTo>
                <a:cubicBezTo>
                  <a:pt x="5337320" y="0"/>
                  <a:pt x="5365750" y="28430"/>
                  <a:pt x="5365750" y="63499"/>
                </a:cubicBezTo>
                <a:lnTo>
                  <a:pt x="5365750" y="587376"/>
                </a:lnTo>
                <a:cubicBezTo>
                  <a:pt x="5365750" y="622445"/>
                  <a:pt x="5337320" y="650875"/>
                  <a:pt x="5302251" y="650875"/>
                </a:cubicBezTo>
                <a:lnTo>
                  <a:pt x="63499" y="650875"/>
                </a:lnTo>
                <a:cubicBezTo>
                  <a:pt x="28430" y="650875"/>
                  <a:pt x="0" y="622445"/>
                  <a:pt x="0" y="587376"/>
                </a:cubicBezTo>
                <a:lnTo>
                  <a:pt x="0" y="63499"/>
                </a:lnTo>
                <a:cubicBezTo>
                  <a:pt x="0" y="28453"/>
                  <a:pt x="28453" y="0"/>
                  <a:pt x="63499" y="0"/>
                </a:cubicBezTo>
                <a:close/>
              </a:path>
            </a:pathLst>
          </a:custGeom>
          <a:solidFill>
            <a:srgbClr val="1A1D21">
              <a:alpha val="50196"/>
            </a:srgbClr>
          </a:solidFill>
          <a:ln/>
        </p:spPr>
        <p:txBody>
          <a:bodyPr/>
          <a:lstStyle/>
          <a:p>
            <a:endParaRPr lang="zh-CN" altLang="en-US"/>
          </a:p>
        </p:txBody>
      </p:sp>
      <p:sp>
        <p:nvSpPr>
          <p:cNvPr id="35" name="Text 33"/>
          <p:cNvSpPr/>
          <p:nvPr/>
        </p:nvSpPr>
        <p:spPr>
          <a:xfrm>
            <a:off x="6445250" y="1684066"/>
            <a:ext cx="5238750" cy="190500"/>
          </a:xfrm>
          <a:prstGeom prst="rect">
            <a:avLst/>
          </a:prstGeom>
          <a:noFill/>
          <a:ln/>
        </p:spPr>
        <p:txBody>
          <a:bodyPr wrap="square" lIns="0" tIns="0" rIns="0" bIns="0" rtlCol="0" anchor="ctr"/>
          <a:lstStyle/>
          <a:p>
            <a:pPr>
              <a:lnSpc>
                <a:spcPct val="130000"/>
              </a:lnSpc>
            </a:pPr>
            <a:r>
              <a:rPr lang="en-US" sz="1000" b="1" dirty="0">
                <a:solidFill>
                  <a:srgbClr val="5F6B7A"/>
                </a:solidFill>
                <a:latin typeface="Noto Sans SC" pitchFamily="34" charset="0"/>
                <a:ea typeface="Noto Sans SC" pitchFamily="34" charset="-122"/>
                <a:cs typeface="Noto Sans SC" pitchFamily="34" charset="-120"/>
              </a:rPr>
              <a:t>范式演进</a:t>
            </a:r>
            <a:endParaRPr lang="en-US" sz="1600" dirty="0"/>
          </a:p>
        </p:txBody>
      </p:sp>
      <p:sp>
        <p:nvSpPr>
          <p:cNvPr id="36" name="Text 34"/>
          <p:cNvSpPr/>
          <p:nvPr/>
        </p:nvSpPr>
        <p:spPr>
          <a:xfrm>
            <a:off x="6445250" y="1938066"/>
            <a:ext cx="5238750"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从</a:t>
            </a:r>
            <a:r>
              <a:rPr lang="en-US" sz="1000" b="1" dirty="0">
                <a:solidFill>
                  <a:srgbClr val="E0E2E5">
                    <a:alpha val="80000"/>
                  </a:srgbClr>
                </a:solidFill>
                <a:latin typeface="Noto Sans SC" pitchFamily="34" charset="0"/>
                <a:ea typeface="Noto Sans SC" pitchFamily="34" charset="-122"/>
                <a:cs typeface="Noto Sans SC" pitchFamily="34" charset="-120"/>
              </a:rPr>
              <a:t>"物理存储 KV"</a:t>
            </a:r>
            <a:r>
              <a:rPr lang="en-US" sz="1000" dirty="0">
                <a:solidFill>
                  <a:srgbClr val="E0E2E5">
                    <a:alpha val="80000"/>
                  </a:srgbClr>
                </a:solidFill>
                <a:latin typeface="Noto Sans SC" pitchFamily="34" charset="0"/>
                <a:ea typeface="Noto Sans SC" pitchFamily="34" charset="-122"/>
                <a:cs typeface="Noto Sans SC" pitchFamily="34" charset="-120"/>
              </a:rPr>
              <a:t>到</a:t>
            </a:r>
            <a:r>
              <a:rPr lang="en-US" sz="1000" b="1" dirty="0">
                <a:solidFill>
                  <a:srgbClr val="E0E2E5">
                    <a:alpha val="80000"/>
                  </a:srgbClr>
                </a:solidFill>
                <a:latin typeface="Noto Sans SC" pitchFamily="34" charset="0"/>
                <a:ea typeface="Noto Sans SC" pitchFamily="34" charset="-122"/>
                <a:cs typeface="Noto Sans SC" pitchFamily="34" charset="-120"/>
              </a:rPr>
              <a:t>"学习 KV"</a:t>
            </a:r>
            <a:r>
              <a:rPr lang="en-US" sz="1000" dirty="0">
                <a:solidFill>
                  <a:srgbClr val="E0E2E5">
                    <a:alpha val="80000"/>
                  </a:srgbClr>
                </a:solidFill>
                <a:latin typeface="Noto Sans SC" pitchFamily="34" charset="0"/>
                <a:ea typeface="Noto Sans SC" pitchFamily="34" charset="-122"/>
                <a:cs typeface="Noto Sans SC" pitchFamily="34" charset="-120"/>
              </a:rPr>
              <a:t>再到</a:t>
            </a:r>
            <a:r>
              <a:rPr lang="en-US" sz="1000" b="1" dirty="0">
                <a:solidFill>
                  <a:srgbClr val="E0E2E5">
                    <a:alpha val="80000"/>
                  </a:srgbClr>
                </a:solidFill>
                <a:latin typeface="Noto Sans SC" pitchFamily="34" charset="0"/>
                <a:ea typeface="Noto Sans SC" pitchFamily="34" charset="-122"/>
                <a:cs typeface="Noto Sans SC" pitchFamily="34" charset="-120"/>
              </a:rPr>
              <a:t>"预测 KV"</a:t>
            </a:r>
            <a:endParaRPr lang="en-US" sz="1600" dirty="0"/>
          </a:p>
        </p:txBody>
      </p:sp>
      <p:sp>
        <p:nvSpPr>
          <p:cNvPr id="37" name="Shape 35"/>
          <p:cNvSpPr/>
          <p:nvPr/>
        </p:nvSpPr>
        <p:spPr>
          <a:xfrm>
            <a:off x="6365875" y="2334941"/>
            <a:ext cx="5349875" cy="857250"/>
          </a:xfrm>
          <a:custGeom>
            <a:avLst/>
            <a:gdLst/>
            <a:ahLst/>
            <a:cxnLst/>
            <a:rect l="l" t="t" r="r" b="b"/>
            <a:pathLst>
              <a:path w="5349875" h="857250">
                <a:moveTo>
                  <a:pt x="31750" y="0"/>
                </a:moveTo>
                <a:lnTo>
                  <a:pt x="5286378" y="0"/>
                </a:lnTo>
                <a:cubicBezTo>
                  <a:pt x="5321447" y="0"/>
                  <a:pt x="5349875" y="28428"/>
                  <a:pt x="5349875" y="63497"/>
                </a:cubicBezTo>
                <a:lnTo>
                  <a:pt x="5349875" y="793753"/>
                </a:lnTo>
                <a:cubicBezTo>
                  <a:pt x="5349875" y="828822"/>
                  <a:pt x="5321447" y="857250"/>
                  <a:pt x="5286378" y="857250"/>
                </a:cubicBezTo>
                <a:lnTo>
                  <a:pt x="31750" y="857250"/>
                </a:lnTo>
                <a:cubicBezTo>
                  <a:pt x="14215" y="857250"/>
                  <a:pt x="0" y="843035"/>
                  <a:pt x="0" y="825500"/>
                </a:cubicBezTo>
                <a:lnTo>
                  <a:pt x="0" y="31750"/>
                </a:lnTo>
                <a:cubicBezTo>
                  <a:pt x="0" y="14227"/>
                  <a:pt x="14227" y="0"/>
                  <a:pt x="31750" y="0"/>
                </a:cubicBezTo>
                <a:close/>
              </a:path>
            </a:pathLst>
          </a:custGeom>
          <a:solidFill>
            <a:srgbClr val="3D8B75">
              <a:alpha val="20000"/>
            </a:srgbClr>
          </a:solidFill>
          <a:ln/>
        </p:spPr>
        <p:txBody>
          <a:bodyPr/>
          <a:lstStyle/>
          <a:p>
            <a:endParaRPr lang="zh-CN" altLang="en-US"/>
          </a:p>
        </p:txBody>
      </p:sp>
      <p:sp>
        <p:nvSpPr>
          <p:cNvPr id="38" name="Shape 36"/>
          <p:cNvSpPr/>
          <p:nvPr/>
        </p:nvSpPr>
        <p:spPr>
          <a:xfrm>
            <a:off x="6365875" y="2334941"/>
            <a:ext cx="31750" cy="857250"/>
          </a:xfrm>
          <a:custGeom>
            <a:avLst/>
            <a:gdLst/>
            <a:ahLst/>
            <a:cxnLst/>
            <a:rect l="l" t="t" r="r" b="b"/>
            <a:pathLst>
              <a:path w="31750" h="857250">
                <a:moveTo>
                  <a:pt x="31750" y="0"/>
                </a:moveTo>
                <a:lnTo>
                  <a:pt x="31750" y="0"/>
                </a:lnTo>
                <a:lnTo>
                  <a:pt x="31750" y="857250"/>
                </a:lnTo>
                <a:lnTo>
                  <a:pt x="31750" y="857250"/>
                </a:lnTo>
                <a:cubicBezTo>
                  <a:pt x="14227" y="857250"/>
                  <a:pt x="0" y="843023"/>
                  <a:pt x="0" y="825500"/>
                </a:cubicBezTo>
                <a:lnTo>
                  <a:pt x="0" y="31750"/>
                </a:lnTo>
                <a:cubicBezTo>
                  <a:pt x="0" y="14227"/>
                  <a:pt x="14227" y="0"/>
                  <a:pt x="31750" y="0"/>
                </a:cubicBezTo>
                <a:close/>
              </a:path>
            </a:pathLst>
          </a:custGeom>
          <a:solidFill>
            <a:srgbClr val="3D8B75"/>
          </a:solidFill>
          <a:ln/>
        </p:spPr>
        <p:txBody>
          <a:bodyPr/>
          <a:lstStyle/>
          <a:p>
            <a:endParaRPr lang="zh-CN" altLang="en-US"/>
          </a:p>
        </p:txBody>
      </p:sp>
      <p:sp>
        <p:nvSpPr>
          <p:cNvPr id="39" name="Text 37"/>
          <p:cNvSpPr/>
          <p:nvPr/>
        </p:nvSpPr>
        <p:spPr>
          <a:xfrm>
            <a:off x="6477000" y="2430191"/>
            <a:ext cx="52070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颠覆性可能</a:t>
            </a:r>
            <a:endParaRPr lang="en-US" sz="1600" dirty="0"/>
          </a:p>
        </p:txBody>
      </p:sp>
      <p:sp>
        <p:nvSpPr>
          <p:cNvPr id="40" name="Text 38"/>
          <p:cNvSpPr/>
          <p:nvPr/>
        </p:nvSpPr>
        <p:spPr>
          <a:xfrm>
            <a:off x="6477000" y="2684191"/>
            <a:ext cx="5207000" cy="412750"/>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如果 KV 状态可以被一个轻量的辅助网络实时生成，</a:t>
            </a:r>
            <a:r>
              <a:rPr lang="en-US" sz="1000" dirty="0">
                <a:solidFill>
                  <a:srgbClr val="3D8B75"/>
                </a:solidFill>
                <a:highlight>
                  <a:srgbClr val="3D8B75">
                    <a:alpha val="20000"/>
                  </a:srgbClr>
                </a:highlight>
                <a:latin typeface="Noto Sans SC" pitchFamily="34" charset="0"/>
                <a:ea typeface="Noto Sans SC" pitchFamily="34" charset="-122"/>
                <a:cs typeface="Noto Sans SC" pitchFamily="34" charset="-120"/>
              </a:rPr>
              <a:t> 传统意义上的物理 KV Cache 本身将不复存在</a:t>
            </a:r>
            <a:endParaRPr lang="en-US" sz="1600" dirty="0"/>
          </a:p>
        </p:txBody>
      </p:sp>
      <p:sp>
        <p:nvSpPr>
          <p:cNvPr id="41" name="Shape 39"/>
          <p:cNvSpPr/>
          <p:nvPr/>
        </p:nvSpPr>
        <p:spPr>
          <a:xfrm>
            <a:off x="6175375" y="3383351"/>
            <a:ext cx="5699125" cy="2397125"/>
          </a:xfrm>
          <a:custGeom>
            <a:avLst/>
            <a:gdLst/>
            <a:ahLst/>
            <a:cxnLst/>
            <a:rect l="l" t="t" r="r" b="b"/>
            <a:pathLst>
              <a:path w="5699125" h="2397125">
                <a:moveTo>
                  <a:pt x="31750" y="0"/>
                </a:moveTo>
                <a:lnTo>
                  <a:pt x="5635625" y="0"/>
                </a:lnTo>
                <a:cubicBezTo>
                  <a:pt x="5670695" y="0"/>
                  <a:pt x="5699125" y="28430"/>
                  <a:pt x="5699125" y="63500"/>
                </a:cubicBezTo>
                <a:lnTo>
                  <a:pt x="5699125" y="2333625"/>
                </a:lnTo>
                <a:cubicBezTo>
                  <a:pt x="5699125" y="2368695"/>
                  <a:pt x="5670695" y="2397125"/>
                  <a:pt x="5635625" y="2397125"/>
                </a:cubicBezTo>
                <a:lnTo>
                  <a:pt x="31750" y="2397125"/>
                </a:lnTo>
                <a:cubicBezTo>
                  <a:pt x="14215" y="2397125"/>
                  <a:pt x="0" y="2382910"/>
                  <a:pt x="0" y="2365375"/>
                </a:cubicBezTo>
                <a:lnTo>
                  <a:pt x="0" y="31750"/>
                </a:lnTo>
                <a:cubicBezTo>
                  <a:pt x="0" y="14227"/>
                  <a:pt x="14227" y="0"/>
                  <a:pt x="31750" y="0"/>
                </a:cubicBezTo>
                <a:close/>
              </a:path>
            </a:pathLst>
          </a:custGeom>
          <a:solidFill>
            <a:srgbClr val="3D8B75">
              <a:alpha val="10196"/>
            </a:srgbClr>
          </a:solidFill>
          <a:ln/>
        </p:spPr>
        <p:txBody>
          <a:bodyPr/>
          <a:lstStyle/>
          <a:p>
            <a:endParaRPr lang="zh-CN" altLang="en-US"/>
          </a:p>
        </p:txBody>
      </p:sp>
      <p:sp>
        <p:nvSpPr>
          <p:cNvPr id="42" name="Shape 40"/>
          <p:cNvSpPr/>
          <p:nvPr/>
        </p:nvSpPr>
        <p:spPr>
          <a:xfrm>
            <a:off x="6175375" y="3383351"/>
            <a:ext cx="31750" cy="2397125"/>
          </a:xfrm>
          <a:custGeom>
            <a:avLst/>
            <a:gdLst/>
            <a:ahLst/>
            <a:cxnLst/>
            <a:rect l="l" t="t" r="r" b="b"/>
            <a:pathLst>
              <a:path w="31750" h="2397125">
                <a:moveTo>
                  <a:pt x="31750" y="0"/>
                </a:moveTo>
                <a:lnTo>
                  <a:pt x="31750" y="0"/>
                </a:lnTo>
                <a:lnTo>
                  <a:pt x="31750" y="2397125"/>
                </a:lnTo>
                <a:lnTo>
                  <a:pt x="31750" y="2397125"/>
                </a:lnTo>
                <a:cubicBezTo>
                  <a:pt x="14227" y="2397125"/>
                  <a:pt x="0" y="2382898"/>
                  <a:pt x="0" y="2365375"/>
                </a:cubicBezTo>
                <a:lnTo>
                  <a:pt x="0" y="31750"/>
                </a:lnTo>
                <a:cubicBezTo>
                  <a:pt x="0" y="14227"/>
                  <a:pt x="14227" y="0"/>
                  <a:pt x="31750" y="0"/>
                </a:cubicBezTo>
                <a:close/>
              </a:path>
            </a:pathLst>
          </a:custGeom>
          <a:solidFill>
            <a:srgbClr val="3D8B75"/>
          </a:solidFill>
          <a:ln/>
        </p:spPr>
        <p:txBody>
          <a:bodyPr/>
          <a:lstStyle/>
          <a:p>
            <a:endParaRPr lang="zh-CN" altLang="en-US"/>
          </a:p>
        </p:txBody>
      </p:sp>
      <p:sp>
        <p:nvSpPr>
          <p:cNvPr id="43" name="Shape 41"/>
          <p:cNvSpPr/>
          <p:nvPr/>
        </p:nvSpPr>
        <p:spPr>
          <a:xfrm>
            <a:off x="6350000" y="3542101"/>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solidFill>
            <a:srgbClr val="3D8B75"/>
          </a:solidFill>
          <a:ln/>
        </p:spPr>
        <p:txBody>
          <a:bodyPr/>
          <a:lstStyle/>
          <a:p>
            <a:endParaRPr lang="zh-CN" altLang="en-US"/>
          </a:p>
        </p:txBody>
      </p:sp>
      <p:sp>
        <p:nvSpPr>
          <p:cNvPr id="44" name="Shape 42"/>
          <p:cNvSpPr/>
          <p:nvPr/>
        </p:nvSpPr>
        <p:spPr>
          <a:xfrm>
            <a:off x="6461125" y="3653226"/>
            <a:ext cx="158750" cy="158750"/>
          </a:xfrm>
          <a:custGeom>
            <a:avLst/>
            <a:gdLst/>
            <a:ahLst/>
            <a:cxnLst/>
            <a:rect l="l" t="t" r="r" b="b"/>
            <a:pathLst>
              <a:path w="158750" h="158750">
                <a:moveTo>
                  <a:pt x="0" y="24805"/>
                </a:moveTo>
                <a:cubicBezTo>
                  <a:pt x="0" y="16588"/>
                  <a:pt x="6666" y="9922"/>
                  <a:pt x="14883" y="9922"/>
                </a:cubicBezTo>
                <a:lnTo>
                  <a:pt x="44648" y="9922"/>
                </a:lnTo>
                <a:cubicBezTo>
                  <a:pt x="52865" y="9922"/>
                  <a:pt x="59531" y="16588"/>
                  <a:pt x="59531" y="24805"/>
                </a:cubicBezTo>
                <a:lnTo>
                  <a:pt x="59531" y="29766"/>
                </a:lnTo>
                <a:lnTo>
                  <a:pt x="99219" y="29766"/>
                </a:lnTo>
                <a:lnTo>
                  <a:pt x="99219" y="24805"/>
                </a:lnTo>
                <a:cubicBezTo>
                  <a:pt x="99219" y="16588"/>
                  <a:pt x="105885" y="9922"/>
                  <a:pt x="114102" y="9922"/>
                </a:cubicBezTo>
                <a:lnTo>
                  <a:pt x="143867" y="9922"/>
                </a:lnTo>
                <a:cubicBezTo>
                  <a:pt x="152084" y="9922"/>
                  <a:pt x="158750" y="16588"/>
                  <a:pt x="158750" y="24805"/>
                </a:cubicBezTo>
                <a:lnTo>
                  <a:pt x="158750" y="54570"/>
                </a:lnTo>
                <a:cubicBezTo>
                  <a:pt x="158750" y="62787"/>
                  <a:pt x="152084" y="69453"/>
                  <a:pt x="143867" y="69453"/>
                </a:cubicBezTo>
                <a:lnTo>
                  <a:pt x="114102" y="69453"/>
                </a:lnTo>
                <a:cubicBezTo>
                  <a:pt x="105885" y="69453"/>
                  <a:pt x="99219" y="62787"/>
                  <a:pt x="99219" y="54570"/>
                </a:cubicBezTo>
                <a:lnTo>
                  <a:pt x="99219" y="49609"/>
                </a:lnTo>
                <a:lnTo>
                  <a:pt x="59531" y="49609"/>
                </a:lnTo>
                <a:lnTo>
                  <a:pt x="59531" y="54570"/>
                </a:lnTo>
                <a:cubicBezTo>
                  <a:pt x="59531" y="56834"/>
                  <a:pt x="59004" y="59004"/>
                  <a:pt x="58105" y="60927"/>
                </a:cubicBezTo>
                <a:lnTo>
                  <a:pt x="79375" y="89297"/>
                </a:lnTo>
                <a:lnTo>
                  <a:pt x="104180" y="89297"/>
                </a:lnTo>
                <a:cubicBezTo>
                  <a:pt x="112396" y="89297"/>
                  <a:pt x="119062" y="95963"/>
                  <a:pt x="119062" y="104180"/>
                </a:cubicBezTo>
                <a:lnTo>
                  <a:pt x="119062" y="133945"/>
                </a:lnTo>
                <a:cubicBezTo>
                  <a:pt x="119062" y="142162"/>
                  <a:pt x="112396" y="148828"/>
                  <a:pt x="104180" y="148828"/>
                </a:cubicBezTo>
                <a:lnTo>
                  <a:pt x="74414" y="148828"/>
                </a:lnTo>
                <a:cubicBezTo>
                  <a:pt x="66198" y="148828"/>
                  <a:pt x="59531" y="142162"/>
                  <a:pt x="59531" y="133945"/>
                </a:cubicBezTo>
                <a:lnTo>
                  <a:pt x="59531" y="104180"/>
                </a:lnTo>
                <a:cubicBezTo>
                  <a:pt x="59531" y="101916"/>
                  <a:pt x="60058" y="99746"/>
                  <a:pt x="60958" y="97823"/>
                </a:cubicBezTo>
                <a:lnTo>
                  <a:pt x="39688" y="69453"/>
                </a:lnTo>
                <a:lnTo>
                  <a:pt x="14883" y="69453"/>
                </a:lnTo>
                <a:cubicBezTo>
                  <a:pt x="6666" y="69453"/>
                  <a:pt x="0" y="62787"/>
                  <a:pt x="0" y="54570"/>
                </a:cubicBezTo>
                <a:lnTo>
                  <a:pt x="0" y="24805"/>
                </a:lnTo>
                <a:close/>
              </a:path>
            </a:pathLst>
          </a:custGeom>
          <a:solidFill>
            <a:srgbClr val="FFFFFF"/>
          </a:solidFill>
          <a:ln/>
        </p:spPr>
        <p:txBody>
          <a:bodyPr/>
          <a:lstStyle/>
          <a:p>
            <a:endParaRPr lang="zh-CN" altLang="en-US"/>
          </a:p>
        </p:txBody>
      </p:sp>
      <p:sp>
        <p:nvSpPr>
          <p:cNvPr id="45" name="Text 43"/>
          <p:cNvSpPr/>
          <p:nvPr/>
        </p:nvSpPr>
        <p:spPr>
          <a:xfrm>
            <a:off x="6826250" y="3621476"/>
            <a:ext cx="18256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与注意力机制的深度耦合</a:t>
            </a:r>
            <a:endParaRPr lang="en-US" sz="1600" dirty="0"/>
          </a:p>
        </p:txBody>
      </p:sp>
      <p:sp>
        <p:nvSpPr>
          <p:cNvPr id="46" name="Shape 44"/>
          <p:cNvSpPr/>
          <p:nvPr/>
        </p:nvSpPr>
        <p:spPr>
          <a:xfrm>
            <a:off x="6350000" y="4018351"/>
            <a:ext cx="5365750" cy="650875"/>
          </a:xfrm>
          <a:custGeom>
            <a:avLst/>
            <a:gdLst/>
            <a:ahLst/>
            <a:cxnLst/>
            <a:rect l="l" t="t" r="r" b="b"/>
            <a:pathLst>
              <a:path w="5365750" h="650875">
                <a:moveTo>
                  <a:pt x="63499" y="0"/>
                </a:moveTo>
                <a:lnTo>
                  <a:pt x="5302251" y="0"/>
                </a:lnTo>
                <a:cubicBezTo>
                  <a:pt x="5337320" y="0"/>
                  <a:pt x="5365750" y="28430"/>
                  <a:pt x="5365750" y="63499"/>
                </a:cubicBezTo>
                <a:lnTo>
                  <a:pt x="5365750" y="587376"/>
                </a:lnTo>
                <a:cubicBezTo>
                  <a:pt x="5365750" y="622445"/>
                  <a:pt x="5337320" y="650875"/>
                  <a:pt x="5302251" y="650875"/>
                </a:cubicBezTo>
                <a:lnTo>
                  <a:pt x="63499" y="650875"/>
                </a:lnTo>
                <a:cubicBezTo>
                  <a:pt x="28430" y="650875"/>
                  <a:pt x="0" y="622445"/>
                  <a:pt x="0" y="587376"/>
                </a:cubicBezTo>
                <a:lnTo>
                  <a:pt x="0" y="63499"/>
                </a:lnTo>
                <a:cubicBezTo>
                  <a:pt x="0" y="28453"/>
                  <a:pt x="28453" y="0"/>
                  <a:pt x="63499" y="0"/>
                </a:cubicBezTo>
                <a:close/>
              </a:path>
            </a:pathLst>
          </a:custGeom>
          <a:solidFill>
            <a:srgbClr val="1A1D21">
              <a:alpha val="50196"/>
            </a:srgbClr>
          </a:solidFill>
          <a:ln/>
        </p:spPr>
        <p:txBody>
          <a:bodyPr/>
          <a:lstStyle/>
          <a:p>
            <a:endParaRPr lang="zh-CN" altLang="en-US"/>
          </a:p>
        </p:txBody>
      </p:sp>
      <p:sp>
        <p:nvSpPr>
          <p:cNvPr id="47" name="Text 45"/>
          <p:cNvSpPr/>
          <p:nvPr/>
        </p:nvSpPr>
        <p:spPr>
          <a:xfrm>
            <a:off x="6445250" y="4113601"/>
            <a:ext cx="5238750" cy="190500"/>
          </a:xfrm>
          <a:prstGeom prst="rect">
            <a:avLst/>
          </a:prstGeom>
          <a:noFill/>
          <a:ln/>
        </p:spPr>
        <p:txBody>
          <a:bodyPr wrap="square" lIns="0" tIns="0" rIns="0" bIns="0" rtlCol="0" anchor="ctr"/>
          <a:lstStyle/>
          <a:p>
            <a:pPr>
              <a:lnSpc>
                <a:spcPct val="130000"/>
              </a:lnSpc>
            </a:pPr>
            <a:r>
              <a:rPr lang="en-US" sz="1000" b="1" dirty="0">
                <a:solidFill>
                  <a:srgbClr val="3D8B75"/>
                </a:solidFill>
                <a:latin typeface="Noto Sans SC" pitchFamily="34" charset="0"/>
                <a:ea typeface="Noto Sans SC" pitchFamily="34" charset="-122"/>
                <a:cs typeface="Noto Sans SC" pitchFamily="34" charset="-120"/>
              </a:rPr>
              <a:t>核心问题</a:t>
            </a:r>
            <a:endParaRPr lang="en-US" sz="1600" dirty="0"/>
          </a:p>
        </p:txBody>
      </p:sp>
      <p:sp>
        <p:nvSpPr>
          <p:cNvPr id="48" name="Text 46"/>
          <p:cNvSpPr/>
          <p:nvPr/>
        </p:nvSpPr>
        <p:spPr>
          <a:xfrm>
            <a:off x="6445250" y="4367601"/>
            <a:ext cx="5238750"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是否需要重新设计</a:t>
            </a:r>
            <a:r>
              <a:rPr lang="en-US" sz="1000" b="1" dirty="0">
                <a:solidFill>
                  <a:srgbClr val="E0E2E5">
                    <a:alpha val="80000"/>
                  </a:srgbClr>
                </a:solidFill>
                <a:latin typeface="Noto Sans SC" pitchFamily="34" charset="0"/>
                <a:ea typeface="Noto Sans SC" pitchFamily="34" charset="-122"/>
                <a:cs typeface="Noto Sans SC" pitchFamily="34" charset="-120"/>
              </a:rPr>
              <a:t>"Compression-aware Attention（压缩感知注意力）"</a:t>
            </a:r>
            <a:r>
              <a:rPr lang="en-US" sz="10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49" name="Shape 47"/>
          <p:cNvSpPr/>
          <p:nvPr/>
        </p:nvSpPr>
        <p:spPr>
          <a:xfrm>
            <a:off x="6365875" y="4764476"/>
            <a:ext cx="5349875" cy="857250"/>
          </a:xfrm>
          <a:custGeom>
            <a:avLst/>
            <a:gdLst/>
            <a:ahLst/>
            <a:cxnLst/>
            <a:rect l="l" t="t" r="r" b="b"/>
            <a:pathLst>
              <a:path w="5349875" h="857250">
                <a:moveTo>
                  <a:pt x="31750" y="0"/>
                </a:moveTo>
                <a:lnTo>
                  <a:pt x="5286378" y="0"/>
                </a:lnTo>
                <a:cubicBezTo>
                  <a:pt x="5321447" y="0"/>
                  <a:pt x="5349875" y="28428"/>
                  <a:pt x="5349875" y="63497"/>
                </a:cubicBezTo>
                <a:lnTo>
                  <a:pt x="5349875" y="793753"/>
                </a:lnTo>
                <a:cubicBezTo>
                  <a:pt x="5349875" y="828822"/>
                  <a:pt x="5321447" y="857250"/>
                  <a:pt x="5286378" y="857250"/>
                </a:cubicBezTo>
                <a:lnTo>
                  <a:pt x="31750" y="857250"/>
                </a:lnTo>
                <a:cubicBezTo>
                  <a:pt x="14215" y="857250"/>
                  <a:pt x="0" y="843035"/>
                  <a:pt x="0" y="825500"/>
                </a:cubicBezTo>
                <a:lnTo>
                  <a:pt x="0" y="31750"/>
                </a:lnTo>
                <a:cubicBezTo>
                  <a:pt x="0" y="14227"/>
                  <a:pt x="14227" y="0"/>
                  <a:pt x="31750" y="0"/>
                </a:cubicBezTo>
                <a:close/>
              </a:path>
            </a:pathLst>
          </a:custGeom>
          <a:solidFill>
            <a:srgbClr val="C9A86A">
              <a:alpha val="20000"/>
            </a:srgbClr>
          </a:solidFill>
          <a:ln/>
        </p:spPr>
        <p:txBody>
          <a:bodyPr/>
          <a:lstStyle/>
          <a:p>
            <a:endParaRPr lang="zh-CN" altLang="en-US"/>
          </a:p>
        </p:txBody>
      </p:sp>
      <p:sp>
        <p:nvSpPr>
          <p:cNvPr id="50" name="Shape 48"/>
          <p:cNvSpPr/>
          <p:nvPr/>
        </p:nvSpPr>
        <p:spPr>
          <a:xfrm>
            <a:off x="6365875" y="4764476"/>
            <a:ext cx="31750" cy="857250"/>
          </a:xfrm>
          <a:custGeom>
            <a:avLst/>
            <a:gdLst/>
            <a:ahLst/>
            <a:cxnLst/>
            <a:rect l="l" t="t" r="r" b="b"/>
            <a:pathLst>
              <a:path w="31750" h="857250">
                <a:moveTo>
                  <a:pt x="31750" y="0"/>
                </a:moveTo>
                <a:lnTo>
                  <a:pt x="31750" y="0"/>
                </a:lnTo>
                <a:lnTo>
                  <a:pt x="31750" y="857250"/>
                </a:lnTo>
                <a:lnTo>
                  <a:pt x="31750" y="857250"/>
                </a:lnTo>
                <a:cubicBezTo>
                  <a:pt x="14227" y="857250"/>
                  <a:pt x="0" y="843023"/>
                  <a:pt x="0" y="825500"/>
                </a:cubicBezTo>
                <a:lnTo>
                  <a:pt x="0" y="31750"/>
                </a:lnTo>
                <a:cubicBezTo>
                  <a:pt x="0" y="14227"/>
                  <a:pt x="14227" y="0"/>
                  <a:pt x="31750" y="0"/>
                </a:cubicBezTo>
                <a:close/>
              </a:path>
            </a:pathLst>
          </a:custGeom>
          <a:solidFill>
            <a:srgbClr val="C9A86A"/>
          </a:solidFill>
          <a:ln/>
        </p:spPr>
        <p:txBody>
          <a:bodyPr/>
          <a:lstStyle/>
          <a:p>
            <a:endParaRPr lang="zh-CN" altLang="en-US"/>
          </a:p>
        </p:txBody>
      </p:sp>
      <p:sp>
        <p:nvSpPr>
          <p:cNvPr id="51" name="Text 49"/>
          <p:cNvSpPr/>
          <p:nvPr/>
        </p:nvSpPr>
        <p:spPr>
          <a:xfrm>
            <a:off x="6477000" y="4859726"/>
            <a:ext cx="52070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挑战</a:t>
            </a:r>
            <a:endParaRPr lang="en-US" sz="1600" dirty="0"/>
          </a:p>
        </p:txBody>
      </p:sp>
      <p:sp>
        <p:nvSpPr>
          <p:cNvPr id="52" name="Text 50"/>
          <p:cNvSpPr/>
          <p:nvPr/>
        </p:nvSpPr>
        <p:spPr>
          <a:xfrm>
            <a:off x="6477000" y="5113726"/>
            <a:ext cx="5207000" cy="412750"/>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传统的 Softmax 注意力机制假设 KV 以全精度、全序列的形式存在，当 KV 已经被剪枝、量化或低秩投影时，</a:t>
            </a:r>
            <a:r>
              <a:rPr lang="en-US" sz="1000" dirty="0">
                <a:solidFill>
                  <a:srgbClr val="C9A86A"/>
                </a:solidFill>
                <a:highlight>
                  <a:srgbClr val="C9A86A">
                    <a:alpha val="20000"/>
                  </a:srgbClr>
                </a:highlight>
                <a:latin typeface="Noto Sans SC" pitchFamily="34" charset="0"/>
                <a:ea typeface="Noto Sans SC" pitchFamily="34" charset="-122"/>
                <a:cs typeface="Noto Sans SC" pitchFamily="34" charset="-120"/>
              </a:rPr>
              <a:t> 是否还有更好的、适配压缩状态的数学表达方式 </a:t>
            </a:r>
            <a:r>
              <a:rPr lang="en-US" sz="10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
        <p:nvSpPr>
          <p:cNvPr id="53" name="Shape 51"/>
          <p:cNvSpPr/>
          <p:nvPr/>
        </p:nvSpPr>
        <p:spPr>
          <a:xfrm>
            <a:off x="333375" y="5844416"/>
            <a:ext cx="11541125" cy="984250"/>
          </a:xfrm>
          <a:custGeom>
            <a:avLst/>
            <a:gdLst/>
            <a:ahLst/>
            <a:cxnLst/>
            <a:rect l="l" t="t" r="r" b="b"/>
            <a:pathLst>
              <a:path w="11541125" h="984250">
                <a:moveTo>
                  <a:pt x="31750" y="0"/>
                </a:moveTo>
                <a:lnTo>
                  <a:pt x="11477621" y="0"/>
                </a:lnTo>
                <a:cubicBezTo>
                  <a:pt x="11512693" y="0"/>
                  <a:pt x="11541125" y="28432"/>
                  <a:pt x="11541125" y="63504"/>
                </a:cubicBezTo>
                <a:lnTo>
                  <a:pt x="11541125" y="920746"/>
                </a:lnTo>
                <a:cubicBezTo>
                  <a:pt x="11541125" y="955818"/>
                  <a:pt x="11512693" y="984250"/>
                  <a:pt x="11477621" y="984250"/>
                </a:cubicBezTo>
                <a:lnTo>
                  <a:pt x="31750" y="984250"/>
                </a:lnTo>
                <a:cubicBezTo>
                  <a:pt x="14215" y="984250"/>
                  <a:pt x="0" y="970035"/>
                  <a:pt x="0" y="952500"/>
                </a:cubicBezTo>
                <a:lnTo>
                  <a:pt x="0" y="31750"/>
                </a:lnTo>
                <a:cubicBezTo>
                  <a:pt x="0" y="14227"/>
                  <a:pt x="14227" y="0"/>
                  <a:pt x="31750" y="0"/>
                </a:cubicBezTo>
                <a:close/>
              </a:path>
            </a:pathLst>
          </a:custGeom>
          <a:solidFill>
            <a:srgbClr val="5F6B7A">
              <a:alpha val="10196"/>
            </a:srgbClr>
          </a:solidFill>
          <a:ln/>
        </p:spPr>
        <p:txBody>
          <a:bodyPr/>
          <a:lstStyle/>
          <a:p>
            <a:endParaRPr lang="zh-CN" altLang="en-US"/>
          </a:p>
        </p:txBody>
      </p:sp>
      <p:sp>
        <p:nvSpPr>
          <p:cNvPr id="54" name="Shape 52"/>
          <p:cNvSpPr/>
          <p:nvPr/>
        </p:nvSpPr>
        <p:spPr>
          <a:xfrm>
            <a:off x="333375" y="5844416"/>
            <a:ext cx="31750" cy="984250"/>
          </a:xfrm>
          <a:custGeom>
            <a:avLst/>
            <a:gdLst/>
            <a:ahLst/>
            <a:cxnLst/>
            <a:rect l="l" t="t" r="r" b="b"/>
            <a:pathLst>
              <a:path w="31750" h="984250">
                <a:moveTo>
                  <a:pt x="31750" y="0"/>
                </a:moveTo>
                <a:lnTo>
                  <a:pt x="31750" y="0"/>
                </a:lnTo>
                <a:lnTo>
                  <a:pt x="31750" y="984250"/>
                </a:lnTo>
                <a:lnTo>
                  <a:pt x="31750" y="984250"/>
                </a:lnTo>
                <a:cubicBezTo>
                  <a:pt x="14227" y="984250"/>
                  <a:pt x="0" y="970023"/>
                  <a:pt x="0" y="952500"/>
                </a:cubicBezTo>
                <a:lnTo>
                  <a:pt x="0" y="31750"/>
                </a:lnTo>
                <a:cubicBezTo>
                  <a:pt x="0" y="14227"/>
                  <a:pt x="14227" y="0"/>
                  <a:pt x="31750" y="0"/>
                </a:cubicBezTo>
                <a:close/>
              </a:path>
            </a:pathLst>
          </a:custGeom>
          <a:solidFill>
            <a:srgbClr val="5F6B7A"/>
          </a:solidFill>
          <a:ln/>
        </p:spPr>
        <p:txBody>
          <a:bodyPr/>
          <a:lstStyle/>
          <a:p>
            <a:endParaRPr lang="zh-CN" altLang="en-US"/>
          </a:p>
        </p:txBody>
      </p:sp>
      <p:sp>
        <p:nvSpPr>
          <p:cNvPr id="55" name="Shape 53"/>
          <p:cNvSpPr/>
          <p:nvPr/>
        </p:nvSpPr>
        <p:spPr>
          <a:xfrm>
            <a:off x="500063" y="5987291"/>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5F6B7A"/>
          </a:solidFill>
          <a:ln/>
        </p:spPr>
        <p:txBody>
          <a:bodyPr/>
          <a:lstStyle/>
          <a:p>
            <a:endParaRPr lang="zh-CN" altLang="en-US"/>
          </a:p>
        </p:txBody>
      </p:sp>
      <p:sp>
        <p:nvSpPr>
          <p:cNvPr id="56" name="Text 54"/>
          <p:cNvSpPr/>
          <p:nvPr/>
        </p:nvSpPr>
        <p:spPr>
          <a:xfrm>
            <a:off x="809625" y="5971416"/>
            <a:ext cx="873125"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标准化缺失</a:t>
            </a:r>
            <a:endParaRPr lang="en-US" sz="1600" dirty="0"/>
          </a:p>
        </p:txBody>
      </p:sp>
      <p:sp>
        <p:nvSpPr>
          <p:cNvPr id="57" name="Text 55"/>
          <p:cNvSpPr/>
          <p:nvPr/>
        </p:nvSpPr>
        <p:spPr>
          <a:xfrm>
            <a:off x="476250" y="6288916"/>
            <a:ext cx="11334750" cy="412750"/>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无统一的评测基准、无统一的压缩 API、不同框架间方法难以横向比较——这些问题正随着 KV-CoRE 等工作的出现而逐步改善，但距离真正的标准化仍有相当距离。随着 2025 年 MLCommons 开始讨论将 LLM 推理纳入 MLPerf，</a:t>
            </a:r>
            <a:r>
              <a:rPr lang="en-US" sz="1000" b="1" dirty="0">
                <a:solidFill>
                  <a:srgbClr val="5F6B7A"/>
                </a:solidFill>
                <a:latin typeface="Noto Sans SC" pitchFamily="34" charset="0"/>
                <a:ea typeface="Noto Sans SC" pitchFamily="34" charset="-122"/>
                <a:cs typeface="Noto Sans SC" pitchFamily="34" charset="-120"/>
              </a:rPr>
              <a:t>KV Cache 压缩有望成为新的评测维度</a:t>
            </a:r>
            <a:r>
              <a:rPr lang="en-US" sz="1000" dirty="0">
                <a:solidFill>
                  <a:srgbClr val="E0E2E5">
                    <a:alpha val="80000"/>
                  </a:srgbClr>
                </a:solidFill>
                <a:latin typeface="Noto Sans SC" pitchFamily="34" charset="0"/>
                <a:ea typeface="Noto Sans SC" pitchFamily="34" charset="-122"/>
                <a:cs typeface="Noto Sans SC" pitchFamily="34" charset="-120"/>
              </a:rPr>
              <a:t>。</a:t>
            </a:r>
            <a:endParaRPr lang="en-US" sz="1600"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400050" y="2072878"/>
            <a:ext cx="1781175" cy="419100"/>
          </a:xfrm>
          <a:custGeom>
            <a:avLst/>
            <a:gdLst/>
            <a:ahLst/>
            <a:cxnLst/>
            <a:rect l="l" t="t" r="r" b="b"/>
            <a:pathLst>
              <a:path w="1781175" h="419100">
                <a:moveTo>
                  <a:pt x="0" y="0"/>
                </a:moveTo>
                <a:lnTo>
                  <a:pt x="1781175" y="0"/>
                </a:lnTo>
                <a:lnTo>
                  <a:pt x="1781175" y="419100"/>
                </a:lnTo>
                <a:lnTo>
                  <a:pt x="0" y="419100"/>
                </a:lnTo>
                <a:lnTo>
                  <a:pt x="0" y="0"/>
                </a:lnTo>
                <a:close/>
              </a:path>
            </a:pathLst>
          </a:custGeom>
          <a:solidFill>
            <a:srgbClr val="3D8B75">
              <a:alpha val="20000"/>
            </a:srgbClr>
          </a:solidFill>
          <a:ln/>
        </p:spPr>
        <p:txBody>
          <a:bodyPr/>
          <a:lstStyle/>
          <a:p>
            <a:endParaRPr lang="zh-CN" altLang="en-US"/>
          </a:p>
        </p:txBody>
      </p:sp>
      <p:sp>
        <p:nvSpPr>
          <p:cNvPr id="5" name="Shape 2"/>
          <p:cNvSpPr/>
          <p:nvPr/>
        </p:nvSpPr>
        <p:spPr>
          <a:xfrm>
            <a:off x="400050" y="2072878"/>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3D8B75"/>
          </a:solidFill>
          <a:ln/>
        </p:spPr>
        <p:txBody>
          <a:bodyPr/>
          <a:lstStyle/>
          <a:p>
            <a:endParaRPr lang="zh-CN" altLang="en-US"/>
          </a:p>
        </p:txBody>
      </p:sp>
      <p:sp>
        <p:nvSpPr>
          <p:cNvPr id="6" name="Text 3"/>
          <p:cNvSpPr/>
          <p:nvPr/>
        </p:nvSpPr>
        <p:spPr>
          <a:xfrm>
            <a:off x="609600" y="2149078"/>
            <a:ext cx="1476375" cy="266700"/>
          </a:xfrm>
          <a:prstGeom prst="rect">
            <a:avLst/>
          </a:prstGeom>
          <a:noFill/>
          <a:ln/>
        </p:spPr>
        <p:txBody>
          <a:bodyPr wrap="square" lIns="0" tIns="0" rIns="0" bIns="0" rtlCol="0" anchor="ctr"/>
          <a:lstStyle/>
          <a:p>
            <a:pPr>
              <a:lnSpc>
                <a:spcPct val="120000"/>
              </a:lnSpc>
            </a:pPr>
            <a:r>
              <a:rPr lang="en-US" sz="1500" b="1" kern="0" spc="150" dirty="0">
                <a:solidFill>
                  <a:srgbClr val="3D8B75"/>
                </a:solidFill>
                <a:latin typeface="Noto Sans SC" pitchFamily="34" charset="0"/>
                <a:ea typeface="Noto Sans SC" pitchFamily="34" charset="-122"/>
                <a:cs typeface="Noto Sans SC" pitchFamily="34" charset="-120"/>
              </a:rPr>
              <a:t>CHAPTER 07</a:t>
            </a:r>
            <a:endParaRPr lang="en-US" sz="1600" dirty="0"/>
          </a:p>
        </p:txBody>
      </p:sp>
      <p:sp>
        <p:nvSpPr>
          <p:cNvPr id="7" name="Text 4"/>
          <p:cNvSpPr/>
          <p:nvPr/>
        </p:nvSpPr>
        <p:spPr>
          <a:xfrm>
            <a:off x="381000" y="2796778"/>
            <a:ext cx="11772900" cy="857250"/>
          </a:xfrm>
          <a:prstGeom prst="rect">
            <a:avLst/>
          </a:prstGeom>
          <a:noFill/>
          <a:ln/>
        </p:spPr>
        <p:txBody>
          <a:bodyPr wrap="square" lIns="0" tIns="0" rIns="0" bIns="0" rtlCol="0" anchor="ctr"/>
          <a:lstStyle/>
          <a:p>
            <a:pPr>
              <a:lnSpc>
                <a:spcPct val="100000"/>
              </a:lnSpc>
            </a:pPr>
            <a:r>
              <a:rPr lang="en-US" sz="5400" b="1" dirty="0">
                <a:solidFill>
                  <a:srgbClr val="E0E2E5"/>
                </a:solidFill>
                <a:latin typeface="Noto Sans SC" pitchFamily="34" charset="0"/>
                <a:ea typeface="Noto Sans SC" pitchFamily="34" charset="-122"/>
                <a:cs typeface="Noto Sans SC" pitchFamily="34" charset="-120"/>
              </a:rPr>
              <a:t>总结</a:t>
            </a:r>
            <a:endParaRPr lang="en-US" sz="1600" dirty="0"/>
          </a:p>
        </p:txBody>
      </p:sp>
      <p:sp>
        <p:nvSpPr>
          <p:cNvPr id="8" name="Shape 5"/>
          <p:cNvSpPr/>
          <p:nvPr/>
        </p:nvSpPr>
        <p:spPr>
          <a:xfrm>
            <a:off x="381000" y="3958828"/>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9A86A"/>
          </a:solidFill>
          <a:ln/>
        </p:spPr>
        <p:txBody>
          <a:bodyPr/>
          <a:lstStyle/>
          <a:p>
            <a:endParaRPr lang="zh-CN" altLang="en-US"/>
          </a:p>
        </p:txBody>
      </p:sp>
      <p:sp>
        <p:nvSpPr>
          <p:cNvPr id="9" name="Text 6"/>
          <p:cNvSpPr/>
          <p:nvPr/>
        </p:nvSpPr>
        <p:spPr>
          <a:xfrm>
            <a:off x="381000" y="4320778"/>
            <a:ext cx="8677275" cy="466725"/>
          </a:xfrm>
          <a:prstGeom prst="rect">
            <a:avLst/>
          </a:prstGeom>
          <a:noFill/>
          <a:ln/>
        </p:spPr>
        <p:txBody>
          <a:bodyPr wrap="square" lIns="0" tIns="0" rIns="0" bIns="0" rtlCol="0" anchor="ctr"/>
          <a:lstStyle/>
          <a:p>
            <a:pPr>
              <a:lnSpc>
                <a:spcPct val="140000"/>
              </a:lnSpc>
            </a:pPr>
            <a:r>
              <a:rPr lang="en-US" sz="2250" dirty="0">
                <a:solidFill>
                  <a:srgbClr val="E0E2E5">
                    <a:alpha val="80000"/>
                  </a:srgbClr>
                </a:solidFill>
                <a:latin typeface="Noto Sans SC" pitchFamily="34" charset="0"/>
                <a:ea typeface="Noto Sans SC" pitchFamily="34" charset="-122"/>
                <a:cs typeface="Noto Sans SC" pitchFamily="34" charset="-120"/>
              </a:rPr>
              <a:t>KV Cache 压缩是一个多维冗余消除的系统工程</a:t>
            </a:r>
            <a:endParaRPr lang="en-US" sz="1600" dirty="0"/>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CONCLUSIONS</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核心结论</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400050" y="1371600"/>
            <a:ext cx="3686175" cy="2190750"/>
          </a:xfrm>
          <a:custGeom>
            <a:avLst/>
            <a:gdLst/>
            <a:ahLst/>
            <a:cxnLst/>
            <a:rect l="l" t="t" r="r" b="b"/>
            <a:pathLst>
              <a:path w="3686175" h="2190750">
                <a:moveTo>
                  <a:pt x="38100" y="0"/>
                </a:moveTo>
                <a:lnTo>
                  <a:pt x="3609981" y="0"/>
                </a:lnTo>
                <a:cubicBezTo>
                  <a:pt x="3652033" y="0"/>
                  <a:pt x="3686175" y="34142"/>
                  <a:pt x="3686175" y="76194"/>
                </a:cubicBezTo>
                <a:lnTo>
                  <a:pt x="3686175" y="2114556"/>
                </a:lnTo>
                <a:cubicBezTo>
                  <a:pt x="3686175" y="2156637"/>
                  <a:pt x="3652062" y="2190750"/>
                  <a:pt x="3609981" y="2190750"/>
                </a:cubicBezTo>
                <a:lnTo>
                  <a:pt x="38100" y="2190750"/>
                </a:lnTo>
                <a:cubicBezTo>
                  <a:pt x="17072" y="2190750"/>
                  <a:pt x="0" y="2173678"/>
                  <a:pt x="0" y="215265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6" name="Shape 4"/>
          <p:cNvSpPr/>
          <p:nvPr/>
        </p:nvSpPr>
        <p:spPr>
          <a:xfrm>
            <a:off x="400050" y="1371600"/>
            <a:ext cx="38100" cy="2190750"/>
          </a:xfrm>
          <a:custGeom>
            <a:avLst/>
            <a:gdLst/>
            <a:ahLst/>
            <a:cxnLst/>
            <a:rect l="l" t="t" r="r" b="b"/>
            <a:pathLst>
              <a:path w="38100" h="2190750">
                <a:moveTo>
                  <a:pt x="38100" y="0"/>
                </a:moveTo>
                <a:lnTo>
                  <a:pt x="38100" y="0"/>
                </a:lnTo>
                <a:lnTo>
                  <a:pt x="38100" y="2190750"/>
                </a:lnTo>
                <a:lnTo>
                  <a:pt x="38100" y="2190750"/>
                </a:lnTo>
                <a:cubicBezTo>
                  <a:pt x="17072" y="2190750"/>
                  <a:pt x="0" y="2173678"/>
                  <a:pt x="0" y="215265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7" name="Shape 5"/>
          <p:cNvSpPr/>
          <p:nvPr/>
        </p:nvSpPr>
        <p:spPr>
          <a:xfrm>
            <a:off x="609600"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3D8B75"/>
          </a:solidFill>
          <a:ln/>
        </p:spPr>
        <p:txBody>
          <a:bodyPr/>
          <a:lstStyle/>
          <a:p>
            <a:endParaRPr lang="zh-CN" altLang="en-US"/>
          </a:p>
        </p:txBody>
      </p:sp>
      <p:sp>
        <p:nvSpPr>
          <p:cNvPr id="8" name="Shape 6"/>
          <p:cNvSpPr/>
          <p:nvPr/>
        </p:nvSpPr>
        <p:spPr>
          <a:xfrm>
            <a:off x="742950" y="1695450"/>
            <a:ext cx="190500" cy="190500"/>
          </a:xfrm>
          <a:custGeom>
            <a:avLst/>
            <a:gdLst/>
            <a:ahLst/>
            <a:cxnLst/>
            <a:rect l="l" t="t" r="r" b="b"/>
            <a:pathLst>
              <a:path w="190500" h="190500">
                <a:moveTo>
                  <a:pt x="83455" y="-930"/>
                </a:moveTo>
                <a:cubicBezTo>
                  <a:pt x="90822" y="-5172"/>
                  <a:pt x="99901" y="-5172"/>
                  <a:pt x="107268" y="-930"/>
                </a:cubicBezTo>
                <a:lnTo>
                  <a:pt x="172715" y="36835"/>
                </a:lnTo>
                <a:cubicBezTo>
                  <a:pt x="180082" y="41077"/>
                  <a:pt x="184621" y="48964"/>
                  <a:pt x="184621" y="57448"/>
                </a:cubicBezTo>
                <a:lnTo>
                  <a:pt x="184621" y="132978"/>
                </a:lnTo>
                <a:cubicBezTo>
                  <a:pt x="184621" y="141498"/>
                  <a:pt x="180082" y="149349"/>
                  <a:pt x="172715" y="153591"/>
                </a:cubicBezTo>
                <a:lnTo>
                  <a:pt x="107268" y="191430"/>
                </a:lnTo>
                <a:cubicBezTo>
                  <a:pt x="99901" y="195672"/>
                  <a:pt x="90822" y="195672"/>
                  <a:pt x="83455" y="191430"/>
                </a:cubicBezTo>
                <a:lnTo>
                  <a:pt x="18045" y="153665"/>
                </a:lnTo>
                <a:cubicBezTo>
                  <a:pt x="10678" y="149423"/>
                  <a:pt x="6139" y="141536"/>
                  <a:pt x="6139" y="133052"/>
                </a:cubicBezTo>
                <a:lnTo>
                  <a:pt x="6139" y="57522"/>
                </a:lnTo>
                <a:cubicBezTo>
                  <a:pt x="6139" y="49002"/>
                  <a:pt x="10678" y="41151"/>
                  <a:pt x="18045" y="36909"/>
                </a:cubicBezTo>
                <a:lnTo>
                  <a:pt x="83455" y="-930"/>
                </a:lnTo>
                <a:close/>
                <a:moveTo>
                  <a:pt x="160772" y="133015"/>
                </a:moveTo>
                <a:lnTo>
                  <a:pt x="160772" y="71214"/>
                </a:lnTo>
                <a:lnTo>
                  <a:pt x="107268" y="102096"/>
                </a:lnTo>
                <a:lnTo>
                  <a:pt x="107268" y="163897"/>
                </a:lnTo>
                <a:lnTo>
                  <a:pt x="160772" y="133015"/>
                </a:lnTo>
                <a:close/>
              </a:path>
            </a:pathLst>
          </a:custGeom>
          <a:solidFill>
            <a:srgbClr val="FFFFFF"/>
          </a:solidFill>
          <a:ln/>
        </p:spPr>
        <p:txBody>
          <a:bodyPr/>
          <a:lstStyle/>
          <a:p>
            <a:endParaRPr lang="zh-CN" altLang="en-US"/>
          </a:p>
        </p:txBody>
      </p:sp>
      <p:sp>
        <p:nvSpPr>
          <p:cNvPr id="9" name="Text 7"/>
          <p:cNvSpPr/>
          <p:nvPr/>
        </p:nvSpPr>
        <p:spPr>
          <a:xfrm>
            <a:off x="1181100" y="1657350"/>
            <a:ext cx="8572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本质认知</a:t>
            </a:r>
            <a:endParaRPr lang="en-US" sz="1600" dirty="0"/>
          </a:p>
        </p:txBody>
      </p:sp>
      <p:sp>
        <p:nvSpPr>
          <p:cNvPr id="10" name="Text 8"/>
          <p:cNvSpPr/>
          <p:nvPr/>
        </p:nvSpPr>
        <p:spPr>
          <a:xfrm>
            <a:off x="609600" y="2133600"/>
            <a:ext cx="3362325" cy="123825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KV Cache 压缩的本质是</a:t>
            </a:r>
            <a:r>
              <a:rPr lang="en-US" sz="1200" b="1" dirty="0">
                <a:solidFill>
                  <a:srgbClr val="3D8B75"/>
                </a:solidFill>
                <a:latin typeface="Noto Sans SC" pitchFamily="34" charset="0"/>
                <a:ea typeface="Noto Sans SC" pitchFamily="34" charset="-122"/>
                <a:cs typeface="Noto Sans SC" pitchFamily="34" charset="-120"/>
              </a:rPr>
              <a:t>一个多维冗余消除的系统工程</a:t>
            </a:r>
            <a:r>
              <a:rPr lang="en-US" sz="1200" dirty="0">
                <a:solidFill>
                  <a:srgbClr val="E0E2E5">
                    <a:alpha val="80000"/>
                  </a:srgbClr>
                </a:solidFill>
                <a:latin typeface="Noto Sans SC" pitchFamily="34" charset="0"/>
                <a:ea typeface="Noto Sans SC" pitchFamily="34" charset="-122"/>
                <a:cs typeface="Noto Sans SC" pitchFamily="34" charset="-120"/>
              </a:rPr>
              <a:t>——序列维（Token）、特征维（Feature）、结构维（Structure）和系统维（System），这四个维度各有其独特的冗余模式与对应的压缩策略。</a:t>
            </a:r>
            <a:endParaRPr lang="en-US" sz="1600" dirty="0"/>
          </a:p>
        </p:txBody>
      </p:sp>
      <p:sp>
        <p:nvSpPr>
          <p:cNvPr id="11" name="Shape 9"/>
          <p:cNvSpPr/>
          <p:nvPr/>
        </p:nvSpPr>
        <p:spPr>
          <a:xfrm>
            <a:off x="4260800" y="1371600"/>
            <a:ext cx="3686175" cy="2190750"/>
          </a:xfrm>
          <a:custGeom>
            <a:avLst/>
            <a:gdLst/>
            <a:ahLst/>
            <a:cxnLst/>
            <a:rect l="l" t="t" r="r" b="b"/>
            <a:pathLst>
              <a:path w="3686175" h="2190750">
                <a:moveTo>
                  <a:pt x="38100" y="0"/>
                </a:moveTo>
                <a:lnTo>
                  <a:pt x="3609981" y="0"/>
                </a:lnTo>
                <a:cubicBezTo>
                  <a:pt x="3652033" y="0"/>
                  <a:pt x="3686175" y="34142"/>
                  <a:pt x="3686175" y="76194"/>
                </a:cubicBezTo>
                <a:lnTo>
                  <a:pt x="3686175" y="2114556"/>
                </a:lnTo>
                <a:cubicBezTo>
                  <a:pt x="3686175" y="2156637"/>
                  <a:pt x="3652062" y="2190750"/>
                  <a:pt x="3609981" y="2190750"/>
                </a:cubicBezTo>
                <a:lnTo>
                  <a:pt x="38100" y="2190750"/>
                </a:lnTo>
                <a:cubicBezTo>
                  <a:pt x="17072" y="2190750"/>
                  <a:pt x="0" y="2173678"/>
                  <a:pt x="0" y="2152650"/>
                </a:cubicBezTo>
                <a:lnTo>
                  <a:pt x="0" y="38100"/>
                </a:lnTo>
                <a:cubicBezTo>
                  <a:pt x="0" y="17072"/>
                  <a:pt x="17072" y="0"/>
                  <a:pt x="38100" y="0"/>
                </a:cubicBezTo>
                <a:close/>
              </a:path>
            </a:pathLst>
          </a:custGeom>
          <a:solidFill>
            <a:srgbClr val="C9A86A">
              <a:alpha val="10196"/>
            </a:srgbClr>
          </a:solidFill>
          <a:ln/>
        </p:spPr>
        <p:txBody>
          <a:bodyPr/>
          <a:lstStyle/>
          <a:p>
            <a:endParaRPr lang="zh-CN" altLang="en-US"/>
          </a:p>
        </p:txBody>
      </p:sp>
      <p:sp>
        <p:nvSpPr>
          <p:cNvPr id="12" name="Shape 10"/>
          <p:cNvSpPr/>
          <p:nvPr/>
        </p:nvSpPr>
        <p:spPr>
          <a:xfrm>
            <a:off x="4260800" y="1371600"/>
            <a:ext cx="38100" cy="2190750"/>
          </a:xfrm>
          <a:custGeom>
            <a:avLst/>
            <a:gdLst/>
            <a:ahLst/>
            <a:cxnLst/>
            <a:rect l="l" t="t" r="r" b="b"/>
            <a:pathLst>
              <a:path w="38100" h="2190750">
                <a:moveTo>
                  <a:pt x="38100" y="0"/>
                </a:moveTo>
                <a:lnTo>
                  <a:pt x="38100" y="0"/>
                </a:lnTo>
                <a:lnTo>
                  <a:pt x="38100" y="2190750"/>
                </a:lnTo>
                <a:lnTo>
                  <a:pt x="38100" y="2190750"/>
                </a:lnTo>
                <a:cubicBezTo>
                  <a:pt x="17072" y="2190750"/>
                  <a:pt x="0" y="2173678"/>
                  <a:pt x="0" y="215265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13" name="Shape 11"/>
          <p:cNvSpPr/>
          <p:nvPr/>
        </p:nvSpPr>
        <p:spPr>
          <a:xfrm>
            <a:off x="4470350"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C9A86A"/>
          </a:solidFill>
          <a:ln/>
        </p:spPr>
        <p:txBody>
          <a:bodyPr/>
          <a:lstStyle/>
          <a:p>
            <a:endParaRPr lang="zh-CN" altLang="en-US"/>
          </a:p>
        </p:txBody>
      </p:sp>
      <p:sp>
        <p:nvSpPr>
          <p:cNvPr id="14" name="Shape 12"/>
          <p:cNvSpPr/>
          <p:nvPr/>
        </p:nvSpPr>
        <p:spPr>
          <a:xfrm>
            <a:off x="4603700" y="1695450"/>
            <a:ext cx="190500" cy="190500"/>
          </a:xfrm>
          <a:custGeom>
            <a:avLst/>
            <a:gdLst/>
            <a:ahLst/>
            <a:cxnLst/>
            <a:rect l="l" t="t" r="r" b="b"/>
            <a:pathLst>
              <a:path w="190500" h="190500">
                <a:moveTo>
                  <a:pt x="11906" y="11906"/>
                </a:moveTo>
                <a:cubicBezTo>
                  <a:pt x="5321" y="11906"/>
                  <a:pt x="0" y="17227"/>
                  <a:pt x="0" y="23812"/>
                </a:cubicBezTo>
                <a:lnTo>
                  <a:pt x="0" y="160734"/>
                </a:lnTo>
                <a:cubicBezTo>
                  <a:pt x="0" y="170594"/>
                  <a:pt x="8000" y="178594"/>
                  <a:pt x="17859" y="178594"/>
                </a:cubicBezTo>
                <a:lnTo>
                  <a:pt x="172641" y="178594"/>
                </a:lnTo>
                <a:cubicBezTo>
                  <a:pt x="182500" y="178594"/>
                  <a:pt x="190500" y="170594"/>
                  <a:pt x="190500" y="160734"/>
                </a:cubicBezTo>
                <a:lnTo>
                  <a:pt x="190500" y="56629"/>
                </a:lnTo>
                <a:cubicBezTo>
                  <a:pt x="190500" y="49857"/>
                  <a:pt x="183282" y="45579"/>
                  <a:pt x="177329" y="48778"/>
                </a:cubicBezTo>
                <a:lnTo>
                  <a:pt x="119063" y="80144"/>
                </a:lnTo>
                <a:lnTo>
                  <a:pt x="119063" y="56629"/>
                </a:lnTo>
                <a:cubicBezTo>
                  <a:pt x="119063" y="49857"/>
                  <a:pt x="111844" y="45579"/>
                  <a:pt x="105891" y="48778"/>
                </a:cubicBezTo>
                <a:lnTo>
                  <a:pt x="47625" y="80144"/>
                </a:lnTo>
                <a:lnTo>
                  <a:pt x="47625" y="23812"/>
                </a:lnTo>
                <a:cubicBezTo>
                  <a:pt x="47625" y="17227"/>
                  <a:pt x="42304" y="11906"/>
                  <a:pt x="35719" y="11906"/>
                </a:cubicBezTo>
                <a:lnTo>
                  <a:pt x="11906" y="11906"/>
                </a:lnTo>
                <a:close/>
              </a:path>
            </a:pathLst>
          </a:custGeom>
          <a:solidFill>
            <a:srgbClr val="FFFFFF"/>
          </a:solidFill>
          <a:ln/>
        </p:spPr>
        <p:txBody>
          <a:bodyPr/>
          <a:lstStyle/>
          <a:p>
            <a:endParaRPr lang="zh-CN" altLang="en-US"/>
          </a:p>
        </p:txBody>
      </p:sp>
      <p:sp>
        <p:nvSpPr>
          <p:cNvPr id="15" name="Text 13"/>
          <p:cNvSpPr/>
          <p:nvPr/>
        </p:nvSpPr>
        <p:spPr>
          <a:xfrm>
            <a:off x="5041850" y="1657350"/>
            <a:ext cx="10477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产业界主流</a:t>
            </a:r>
            <a:endParaRPr lang="en-US" sz="1600" dirty="0"/>
          </a:p>
        </p:txBody>
      </p:sp>
      <p:sp>
        <p:nvSpPr>
          <p:cNvPr id="16" name="Text 14"/>
          <p:cNvSpPr/>
          <p:nvPr/>
        </p:nvSpPr>
        <p:spPr>
          <a:xfrm>
            <a:off x="4470350" y="2133600"/>
            <a:ext cx="3362325" cy="9906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当前产业界的主流落地方案已初步收敛为</a:t>
            </a:r>
            <a:r>
              <a:rPr lang="en-US" sz="1200" b="1" dirty="0">
                <a:solidFill>
                  <a:srgbClr val="C9A86A"/>
                </a:solidFill>
                <a:latin typeface="Noto Sans SC" pitchFamily="34" charset="0"/>
                <a:ea typeface="Noto Sans SC" pitchFamily="34" charset="-122"/>
                <a:cs typeface="Noto Sans SC" pitchFamily="34" charset="-120"/>
              </a:rPr>
              <a:t>"Token 剪枝 + 混合量化 + 存储卸载"</a:t>
            </a:r>
            <a:r>
              <a:rPr lang="en-US" sz="1200" dirty="0">
                <a:solidFill>
                  <a:srgbClr val="E0E2E5">
                    <a:alpha val="80000"/>
                  </a:srgbClr>
                </a:solidFill>
                <a:latin typeface="Noto Sans SC" pitchFamily="34" charset="0"/>
                <a:ea typeface="Noto Sans SC" pitchFamily="34" charset="-122"/>
                <a:cs typeface="Noto Sans SC" pitchFamily="34" charset="-120"/>
              </a:rPr>
              <a:t>的三位一体组合。这一组合在实践中已被证明能够在保持较高精度的同时，实现显著的显存缩减和吞吐提升。</a:t>
            </a:r>
            <a:endParaRPr lang="en-US" sz="1600" dirty="0"/>
          </a:p>
        </p:txBody>
      </p:sp>
      <p:sp>
        <p:nvSpPr>
          <p:cNvPr id="17" name="Shape 15"/>
          <p:cNvSpPr/>
          <p:nvPr/>
        </p:nvSpPr>
        <p:spPr>
          <a:xfrm>
            <a:off x="8121625" y="1371600"/>
            <a:ext cx="3686175" cy="2190750"/>
          </a:xfrm>
          <a:custGeom>
            <a:avLst/>
            <a:gdLst/>
            <a:ahLst/>
            <a:cxnLst/>
            <a:rect l="l" t="t" r="r" b="b"/>
            <a:pathLst>
              <a:path w="3686175" h="2190750">
                <a:moveTo>
                  <a:pt x="38100" y="0"/>
                </a:moveTo>
                <a:lnTo>
                  <a:pt x="3609981" y="0"/>
                </a:lnTo>
                <a:cubicBezTo>
                  <a:pt x="3652033" y="0"/>
                  <a:pt x="3686175" y="34142"/>
                  <a:pt x="3686175" y="76194"/>
                </a:cubicBezTo>
                <a:lnTo>
                  <a:pt x="3686175" y="2114556"/>
                </a:lnTo>
                <a:cubicBezTo>
                  <a:pt x="3686175" y="2156637"/>
                  <a:pt x="3652062" y="2190750"/>
                  <a:pt x="3609981" y="2190750"/>
                </a:cubicBezTo>
                <a:lnTo>
                  <a:pt x="38100" y="2190750"/>
                </a:lnTo>
                <a:cubicBezTo>
                  <a:pt x="17072" y="2190750"/>
                  <a:pt x="0" y="2173678"/>
                  <a:pt x="0" y="2152650"/>
                </a:cubicBezTo>
                <a:lnTo>
                  <a:pt x="0" y="38100"/>
                </a:lnTo>
                <a:cubicBezTo>
                  <a:pt x="0" y="17072"/>
                  <a:pt x="17072" y="0"/>
                  <a:pt x="38100" y="0"/>
                </a:cubicBezTo>
                <a:close/>
              </a:path>
            </a:pathLst>
          </a:custGeom>
          <a:solidFill>
            <a:srgbClr val="5F6B7A">
              <a:alpha val="10196"/>
            </a:srgbClr>
          </a:solidFill>
          <a:ln/>
        </p:spPr>
        <p:txBody>
          <a:bodyPr/>
          <a:lstStyle/>
          <a:p>
            <a:endParaRPr lang="zh-CN" altLang="en-US"/>
          </a:p>
        </p:txBody>
      </p:sp>
      <p:sp>
        <p:nvSpPr>
          <p:cNvPr id="18" name="Shape 16"/>
          <p:cNvSpPr/>
          <p:nvPr/>
        </p:nvSpPr>
        <p:spPr>
          <a:xfrm>
            <a:off x="8121625" y="1371600"/>
            <a:ext cx="38100" cy="2190750"/>
          </a:xfrm>
          <a:custGeom>
            <a:avLst/>
            <a:gdLst/>
            <a:ahLst/>
            <a:cxnLst/>
            <a:rect l="l" t="t" r="r" b="b"/>
            <a:pathLst>
              <a:path w="38100" h="2190750">
                <a:moveTo>
                  <a:pt x="38100" y="0"/>
                </a:moveTo>
                <a:lnTo>
                  <a:pt x="38100" y="0"/>
                </a:lnTo>
                <a:lnTo>
                  <a:pt x="38100" y="2190750"/>
                </a:lnTo>
                <a:lnTo>
                  <a:pt x="38100" y="2190750"/>
                </a:lnTo>
                <a:cubicBezTo>
                  <a:pt x="17072" y="2190750"/>
                  <a:pt x="0" y="2173678"/>
                  <a:pt x="0" y="2152650"/>
                </a:cubicBezTo>
                <a:lnTo>
                  <a:pt x="0" y="38100"/>
                </a:lnTo>
                <a:cubicBezTo>
                  <a:pt x="0" y="17072"/>
                  <a:pt x="17072" y="0"/>
                  <a:pt x="38100" y="0"/>
                </a:cubicBezTo>
                <a:close/>
              </a:path>
            </a:pathLst>
          </a:custGeom>
          <a:solidFill>
            <a:srgbClr val="5F6B7A"/>
          </a:solidFill>
          <a:ln/>
        </p:spPr>
        <p:txBody>
          <a:bodyPr/>
          <a:lstStyle/>
          <a:p>
            <a:endParaRPr lang="zh-CN" altLang="en-US"/>
          </a:p>
        </p:txBody>
      </p:sp>
      <p:sp>
        <p:nvSpPr>
          <p:cNvPr id="19" name="Shape 17"/>
          <p:cNvSpPr/>
          <p:nvPr/>
        </p:nvSpPr>
        <p:spPr>
          <a:xfrm>
            <a:off x="8331175" y="15621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5F6B7A"/>
          </a:solidFill>
          <a:ln/>
        </p:spPr>
        <p:txBody>
          <a:bodyPr/>
          <a:lstStyle/>
          <a:p>
            <a:endParaRPr lang="zh-CN" altLang="en-US"/>
          </a:p>
        </p:txBody>
      </p:sp>
      <p:sp>
        <p:nvSpPr>
          <p:cNvPr id="20" name="Shape 18"/>
          <p:cNvSpPr/>
          <p:nvPr/>
        </p:nvSpPr>
        <p:spPr>
          <a:xfrm>
            <a:off x="8464525" y="1695450"/>
            <a:ext cx="190500" cy="190500"/>
          </a:xfrm>
          <a:custGeom>
            <a:avLst/>
            <a:gdLst/>
            <a:ahLst/>
            <a:cxnLst/>
            <a:rect l="l" t="t" r="r" b="b"/>
            <a:pathLst>
              <a:path w="190500" h="190500">
                <a:moveTo>
                  <a:pt x="101166" y="7516"/>
                </a:moveTo>
                <a:cubicBezTo>
                  <a:pt x="97520" y="5432"/>
                  <a:pt x="93018" y="5432"/>
                  <a:pt x="89334" y="7516"/>
                </a:cubicBezTo>
                <a:lnTo>
                  <a:pt x="5990" y="55141"/>
                </a:lnTo>
                <a:cubicBezTo>
                  <a:pt x="1302" y="57820"/>
                  <a:pt x="-1005" y="63326"/>
                  <a:pt x="372" y="68535"/>
                </a:cubicBezTo>
                <a:cubicBezTo>
                  <a:pt x="1749" y="73744"/>
                  <a:pt x="6511" y="77391"/>
                  <a:pt x="11906" y="77391"/>
                </a:cubicBezTo>
                <a:lnTo>
                  <a:pt x="23812" y="77391"/>
                </a:lnTo>
                <a:lnTo>
                  <a:pt x="23812" y="154781"/>
                </a:lnTo>
                <a:lnTo>
                  <a:pt x="23812" y="154781"/>
                </a:lnTo>
                <a:lnTo>
                  <a:pt x="4762" y="169069"/>
                </a:lnTo>
                <a:cubicBezTo>
                  <a:pt x="1749" y="171301"/>
                  <a:pt x="0" y="174836"/>
                  <a:pt x="0" y="178594"/>
                </a:cubicBezTo>
                <a:cubicBezTo>
                  <a:pt x="0" y="185179"/>
                  <a:pt x="5321" y="190500"/>
                  <a:pt x="11906" y="190500"/>
                </a:cubicBezTo>
                <a:lnTo>
                  <a:pt x="178594" y="190500"/>
                </a:lnTo>
                <a:cubicBezTo>
                  <a:pt x="185179" y="190500"/>
                  <a:pt x="190500" y="185179"/>
                  <a:pt x="190500" y="178594"/>
                </a:cubicBezTo>
                <a:cubicBezTo>
                  <a:pt x="190500" y="174836"/>
                  <a:pt x="188751" y="171301"/>
                  <a:pt x="185738" y="169069"/>
                </a:cubicBezTo>
                <a:lnTo>
                  <a:pt x="166688" y="154781"/>
                </a:lnTo>
                <a:lnTo>
                  <a:pt x="166688" y="77391"/>
                </a:lnTo>
                <a:lnTo>
                  <a:pt x="178594" y="77391"/>
                </a:lnTo>
                <a:cubicBezTo>
                  <a:pt x="183989" y="77391"/>
                  <a:pt x="188714" y="73744"/>
                  <a:pt x="190091" y="68535"/>
                </a:cubicBezTo>
                <a:cubicBezTo>
                  <a:pt x="191467" y="63326"/>
                  <a:pt x="189161" y="57820"/>
                  <a:pt x="184472" y="55141"/>
                </a:cubicBezTo>
                <a:lnTo>
                  <a:pt x="101129" y="7516"/>
                </a:lnTo>
                <a:close/>
                <a:moveTo>
                  <a:pt x="148828" y="77391"/>
                </a:moveTo>
                <a:lnTo>
                  <a:pt x="148828" y="154781"/>
                </a:lnTo>
                <a:lnTo>
                  <a:pt x="125016" y="154781"/>
                </a:lnTo>
                <a:lnTo>
                  <a:pt x="125016" y="77391"/>
                </a:lnTo>
                <a:lnTo>
                  <a:pt x="148828" y="77391"/>
                </a:lnTo>
                <a:close/>
                <a:moveTo>
                  <a:pt x="107156" y="77391"/>
                </a:moveTo>
                <a:lnTo>
                  <a:pt x="107156" y="154781"/>
                </a:lnTo>
                <a:lnTo>
                  <a:pt x="83344" y="154781"/>
                </a:lnTo>
                <a:lnTo>
                  <a:pt x="83344" y="77391"/>
                </a:lnTo>
                <a:lnTo>
                  <a:pt x="107156" y="77391"/>
                </a:lnTo>
                <a:close/>
                <a:moveTo>
                  <a:pt x="65484" y="77391"/>
                </a:moveTo>
                <a:lnTo>
                  <a:pt x="65484" y="154781"/>
                </a:lnTo>
                <a:lnTo>
                  <a:pt x="41672" y="154781"/>
                </a:lnTo>
                <a:lnTo>
                  <a:pt x="41672" y="77391"/>
                </a:lnTo>
                <a:lnTo>
                  <a:pt x="65484" y="77391"/>
                </a:lnTo>
                <a:close/>
                <a:moveTo>
                  <a:pt x="95250" y="35719"/>
                </a:moveTo>
                <a:cubicBezTo>
                  <a:pt x="101821" y="35719"/>
                  <a:pt x="107156" y="41054"/>
                  <a:pt x="107156" y="47625"/>
                </a:cubicBezTo>
                <a:cubicBezTo>
                  <a:pt x="107156" y="54196"/>
                  <a:pt x="101821" y="59531"/>
                  <a:pt x="95250" y="59531"/>
                </a:cubicBezTo>
                <a:cubicBezTo>
                  <a:pt x="88679" y="59531"/>
                  <a:pt x="83344" y="54196"/>
                  <a:pt x="83344" y="47625"/>
                </a:cubicBezTo>
                <a:cubicBezTo>
                  <a:pt x="83344" y="41054"/>
                  <a:pt x="88679" y="35719"/>
                  <a:pt x="95250" y="35719"/>
                </a:cubicBezTo>
                <a:close/>
              </a:path>
            </a:pathLst>
          </a:custGeom>
          <a:solidFill>
            <a:srgbClr val="FFFFFF"/>
          </a:solidFill>
          <a:ln/>
        </p:spPr>
        <p:txBody>
          <a:bodyPr/>
          <a:lstStyle/>
          <a:p>
            <a:endParaRPr lang="zh-CN" altLang="en-US"/>
          </a:p>
        </p:txBody>
      </p:sp>
      <p:sp>
        <p:nvSpPr>
          <p:cNvPr id="21" name="Text 19"/>
          <p:cNvSpPr/>
          <p:nvPr/>
        </p:nvSpPr>
        <p:spPr>
          <a:xfrm>
            <a:off x="8902675" y="1657350"/>
            <a:ext cx="1047750"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学术界前沿</a:t>
            </a:r>
            <a:endParaRPr lang="en-US" sz="1600" dirty="0"/>
          </a:p>
        </p:txBody>
      </p:sp>
      <p:sp>
        <p:nvSpPr>
          <p:cNvPr id="22" name="Text 20"/>
          <p:cNvSpPr/>
          <p:nvPr/>
        </p:nvSpPr>
        <p:spPr>
          <a:xfrm>
            <a:off x="8331175" y="2133600"/>
            <a:ext cx="3362325" cy="990600"/>
          </a:xfrm>
          <a:prstGeom prst="rect">
            <a:avLst/>
          </a:prstGeom>
          <a:noFill/>
          <a:ln/>
        </p:spPr>
        <p:txBody>
          <a:bodyPr wrap="square" lIns="0" tIns="0" rIns="0" bIns="0" rtlCol="0" anchor="ctr"/>
          <a:lstStyle/>
          <a:p>
            <a:pPr>
              <a:lnSpc>
                <a:spcPct val="140000"/>
              </a:lnSpc>
            </a:pPr>
            <a:r>
              <a:rPr lang="en-US" sz="1200" dirty="0">
                <a:solidFill>
                  <a:srgbClr val="E0E2E5">
                    <a:alpha val="80000"/>
                  </a:srgbClr>
                </a:solidFill>
                <a:latin typeface="Noto Sans SC" pitchFamily="34" charset="0"/>
                <a:ea typeface="Noto Sans SC" pitchFamily="34" charset="-122"/>
                <a:cs typeface="Noto Sans SC" pitchFamily="34" charset="-120"/>
              </a:rPr>
              <a:t>学术界的前沿探索则聚焦于</a:t>
            </a:r>
            <a:r>
              <a:rPr lang="en-US" sz="1200" b="1" dirty="0">
                <a:solidFill>
                  <a:srgbClr val="5F6B7A"/>
                </a:solidFill>
                <a:latin typeface="Noto Sans SC" pitchFamily="34" charset="0"/>
                <a:ea typeface="Noto Sans SC" pitchFamily="34" charset="-122"/>
                <a:cs typeface="Noto Sans SC" pitchFamily="34" charset="-120"/>
              </a:rPr>
              <a:t>3-bit 甚至更低精度的无损量化边界</a:t>
            </a:r>
            <a:r>
              <a:rPr lang="en-US" sz="1200" dirty="0">
                <a:solidFill>
                  <a:srgbClr val="E0E2E5">
                    <a:alpha val="80000"/>
                  </a:srgbClr>
                </a:solidFill>
                <a:latin typeface="Noto Sans SC" pitchFamily="34" charset="0"/>
                <a:ea typeface="Noto Sans SC" pitchFamily="34" charset="-122"/>
                <a:cs typeface="Noto Sans SC" pitchFamily="34" charset="-120"/>
              </a:rPr>
              <a:t>、低秩分解的理论深化，以及内核感知压缩（Kernel-aware Compression）的工程化落地。</a:t>
            </a:r>
            <a:endParaRPr lang="en-US" sz="1600" dirty="0"/>
          </a:p>
        </p:txBody>
      </p:sp>
      <p:sp>
        <p:nvSpPr>
          <p:cNvPr id="23" name="Shape 21"/>
          <p:cNvSpPr/>
          <p:nvPr/>
        </p:nvSpPr>
        <p:spPr>
          <a:xfrm>
            <a:off x="400050" y="3714750"/>
            <a:ext cx="11410950" cy="3124200"/>
          </a:xfrm>
          <a:custGeom>
            <a:avLst/>
            <a:gdLst/>
            <a:ahLst/>
            <a:cxnLst/>
            <a:rect l="l" t="t" r="r" b="b"/>
            <a:pathLst>
              <a:path w="11410950" h="3124200">
                <a:moveTo>
                  <a:pt x="38100" y="0"/>
                </a:moveTo>
                <a:lnTo>
                  <a:pt x="11334751" y="0"/>
                </a:lnTo>
                <a:cubicBezTo>
                  <a:pt x="11376834" y="0"/>
                  <a:pt x="11410950" y="34116"/>
                  <a:pt x="11410950" y="76199"/>
                </a:cubicBezTo>
                <a:lnTo>
                  <a:pt x="11410950" y="3048001"/>
                </a:lnTo>
                <a:cubicBezTo>
                  <a:pt x="11410950" y="3090084"/>
                  <a:pt x="11376834" y="3124200"/>
                  <a:pt x="11334751" y="3124200"/>
                </a:cubicBezTo>
                <a:lnTo>
                  <a:pt x="38100" y="3124200"/>
                </a:lnTo>
                <a:cubicBezTo>
                  <a:pt x="17072" y="3124200"/>
                  <a:pt x="0" y="3107128"/>
                  <a:pt x="0" y="3086100"/>
                </a:cubicBezTo>
                <a:lnTo>
                  <a:pt x="0" y="38100"/>
                </a:lnTo>
                <a:cubicBezTo>
                  <a:pt x="0" y="17072"/>
                  <a:pt x="17072" y="0"/>
                  <a:pt x="38100" y="0"/>
                </a:cubicBezTo>
                <a:close/>
              </a:path>
            </a:pathLst>
          </a:custGeom>
          <a:solidFill>
            <a:srgbClr val="3D8B75">
              <a:alpha val="10196"/>
            </a:srgbClr>
          </a:solidFill>
          <a:ln/>
        </p:spPr>
        <p:txBody>
          <a:bodyPr/>
          <a:lstStyle/>
          <a:p>
            <a:endParaRPr lang="zh-CN" altLang="en-US"/>
          </a:p>
        </p:txBody>
      </p:sp>
      <p:sp>
        <p:nvSpPr>
          <p:cNvPr id="24" name="Shape 22"/>
          <p:cNvSpPr/>
          <p:nvPr/>
        </p:nvSpPr>
        <p:spPr>
          <a:xfrm>
            <a:off x="400050" y="3714750"/>
            <a:ext cx="38100" cy="3124200"/>
          </a:xfrm>
          <a:custGeom>
            <a:avLst/>
            <a:gdLst/>
            <a:ahLst/>
            <a:cxnLst/>
            <a:rect l="l" t="t" r="r" b="b"/>
            <a:pathLst>
              <a:path w="38100" h="3124200">
                <a:moveTo>
                  <a:pt x="38100" y="0"/>
                </a:moveTo>
                <a:lnTo>
                  <a:pt x="38100" y="0"/>
                </a:lnTo>
                <a:lnTo>
                  <a:pt x="38100" y="3124200"/>
                </a:lnTo>
                <a:lnTo>
                  <a:pt x="38100" y="3124200"/>
                </a:lnTo>
                <a:cubicBezTo>
                  <a:pt x="17072" y="3124200"/>
                  <a:pt x="0" y="3107128"/>
                  <a:pt x="0" y="3086100"/>
                </a:cubicBezTo>
                <a:lnTo>
                  <a:pt x="0" y="38100"/>
                </a:lnTo>
                <a:cubicBezTo>
                  <a:pt x="0" y="17072"/>
                  <a:pt x="17072" y="0"/>
                  <a:pt x="38100" y="0"/>
                </a:cubicBezTo>
                <a:close/>
              </a:path>
            </a:pathLst>
          </a:custGeom>
          <a:solidFill>
            <a:srgbClr val="3D8B75"/>
          </a:solidFill>
          <a:ln/>
        </p:spPr>
        <p:txBody>
          <a:bodyPr/>
          <a:lstStyle/>
          <a:p>
            <a:endParaRPr lang="zh-CN" altLang="en-US"/>
          </a:p>
        </p:txBody>
      </p:sp>
      <p:sp>
        <p:nvSpPr>
          <p:cNvPr id="25" name="Shape 23"/>
          <p:cNvSpPr/>
          <p:nvPr/>
        </p:nvSpPr>
        <p:spPr>
          <a:xfrm>
            <a:off x="609600" y="3943350"/>
            <a:ext cx="238125" cy="190500"/>
          </a:xfrm>
          <a:custGeom>
            <a:avLst/>
            <a:gdLst/>
            <a:ahLst/>
            <a:cxnLst/>
            <a:rect l="l" t="t" r="r" b="b"/>
            <a:pathLst>
              <a:path w="238125" h="190500">
                <a:moveTo>
                  <a:pt x="142875" y="11906"/>
                </a:moveTo>
                <a:lnTo>
                  <a:pt x="190500" y="11906"/>
                </a:lnTo>
                <a:cubicBezTo>
                  <a:pt x="197086" y="11906"/>
                  <a:pt x="202406" y="17227"/>
                  <a:pt x="202406" y="23812"/>
                </a:cubicBezTo>
                <a:cubicBezTo>
                  <a:pt x="202406" y="30398"/>
                  <a:pt x="197086" y="35719"/>
                  <a:pt x="190500" y="35719"/>
                </a:cubicBezTo>
                <a:lnTo>
                  <a:pt x="148233" y="35719"/>
                </a:lnTo>
                <a:cubicBezTo>
                  <a:pt x="146298" y="45318"/>
                  <a:pt x="139712" y="53243"/>
                  <a:pt x="130969" y="57038"/>
                </a:cubicBezTo>
                <a:lnTo>
                  <a:pt x="130969" y="166688"/>
                </a:lnTo>
                <a:lnTo>
                  <a:pt x="190500" y="166688"/>
                </a:lnTo>
                <a:cubicBezTo>
                  <a:pt x="197086" y="166688"/>
                  <a:pt x="202406" y="172008"/>
                  <a:pt x="202406" y="178594"/>
                </a:cubicBezTo>
                <a:cubicBezTo>
                  <a:pt x="202406" y="185179"/>
                  <a:pt x="197086" y="190500"/>
                  <a:pt x="190500" y="190500"/>
                </a:cubicBezTo>
                <a:lnTo>
                  <a:pt x="47625" y="190500"/>
                </a:lnTo>
                <a:cubicBezTo>
                  <a:pt x="41039" y="190500"/>
                  <a:pt x="35719" y="185179"/>
                  <a:pt x="35719" y="178594"/>
                </a:cubicBezTo>
                <a:cubicBezTo>
                  <a:pt x="35719" y="172008"/>
                  <a:pt x="41039" y="166688"/>
                  <a:pt x="47625" y="166688"/>
                </a:cubicBezTo>
                <a:lnTo>
                  <a:pt x="107156" y="166688"/>
                </a:lnTo>
                <a:lnTo>
                  <a:pt x="107156" y="57038"/>
                </a:lnTo>
                <a:cubicBezTo>
                  <a:pt x="98413" y="53206"/>
                  <a:pt x="91827" y="45281"/>
                  <a:pt x="89892" y="35719"/>
                </a:cubicBezTo>
                <a:lnTo>
                  <a:pt x="47625" y="35719"/>
                </a:lnTo>
                <a:cubicBezTo>
                  <a:pt x="41039" y="35719"/>
                  <a:pt x="35719" y="30398"/>
                  <a:pt x="35719" y="23812"/>
                </a:cubicBezTo>
                <a:cubicBezTo>
                  <a:pt x="35719" y="17227"/>
                  <a:pt x="41039" y="11906"/>
                  <a:pt x="47625" y="11906"/>
                </a:cubicBezTo>
                <a:lnTo>
                  <a:pt x="95250" y="11906"/>
                </a:lnTo>
                <a:cubicBezTo>
                  <a:pt x="100682" y="4688"/>
                  <a:pt x="109314" y="0"/>
                  <a:pt x="119063" y="0"/>
                </a:cubicBezTo>
                <a:cubicBezTo>
                  <a:pt x="128811" y="0"/>
                  <a:pt x="137443" y="4688"/>
                  <a:pt x="142875" y="11906"/>
                </a:cubicBezTo>
                <a:close/>
                <a:moveTo>
                  <a:pt x="163562" y="119063"/>
                </a:moveTo>
                <a:lnTo>
                  <a:pt x="217438" y="119063"/>
                </a:lnTo>
                <a:lnTo>
                  <a:pt x="190500" y="72851"/>
                </a:lnTo>
                <a:lnTo>
                  <a:pt x="163562" y="119063"/>
                </a:lnTo>
                <a:close/>
                <a:moveTo>
                  <a:pt x="190500" y="154781"/>
                </a:moveTo>
                <a:cubicBezTo>
                  <a:pt x="167097" y="154781"/>
                  <a:pt x="147638" y="142131"/>
                  <a:pt x="143619" y="125425"/>
                </a:cubicBezTo>
                <a:cubicBezTo>
                  <a:pt x="142652" y="121332"/>
                  <a:pt x="143991" y="117128"/>
                  <a:pt x="146112" y="113481"/>
                </a:cubicBezTo>
                <a:lnTo>
                  <a:pt x="181533" y="52760"/>
                </a:lnTo>
                <a:cubicBezTo>
                  <a:pt x="183393" y="49560"/>
                  <a:pt x="186817" y="47625"/>
                  <a:pt x="190500" y="47625"/>
                </a:cubicBezTo>
                <a:cubicBezTo>
                  <a:pt x="194183" y="47625"/>
                  <a:pt x="197607" y="49597"/>
                  <a:pt x="199467" y="52760"/>
                </a:cubicBezTo>
                <a:lnTo>
                  <a:pt x="234888" y="113481"/>
                </a:lnTo>
                <a:cubicBezTo>
                  <a:pt x="237009" y="117128"/>
                  <a:pt x="238348" y="121332"/>
                  <a:pt x="237381" y="125425"/>
                </a:cubicBezTo>
                <a:cubicBezTo>
                  <a:pt x="233363" y="142094"/>
                  <a:pt x="213903" y="154781"/>
                  <a:pt x="190500" y="154781"/>
                </a:cubicBezTo>
                <a:close/>
                <a:moveTo>
                  <a:pt x="47179" y="72851"/>
                </a:moveTo>
                <a:lnTo>
                  <a:pt x="20241" y="119063"/>
                </a:lnTo>
                <a:lnTo>
                  <a:pt x="74154" y="119063"/>
                </a:lnTo>
                <a:lnTo>
                  <a:pt x="47179" y="72851"/>
                </a:lnTo>
                <a:close/>
                <a:moveTo>
                  <a:pt x="335" y="125425"/>
                </a:moveTo>
                <a:cubicBezTo>
                  <a:pt x="-633" y="121332"/>
                  <a:pt x="707" y="117128"/>
                  <a:pt x="2828" y="113481"/>
                </a:cubicBezTo>
                <a:lnTo>
                  <a:pt x="38249" y="52760"/>
                </a:lnTo>
                <a:cubicBezTo>
                  <a:pt x="40109" y="49560"/>
                  <a:pt x="43532" y="47625"/>
                  <a:pt x="47216" y="47625"/>
                </a:cubicBezTo>
                <a:cubicBezTo>
                  <a:pt x="50899" y="47625"/>
                  <a:pt x="54322" y="49597"/>
                  <a:pt x="56183" y="52760"/>
                </a:cubicBezTo>
                <a:lnTo>
                  <a:pt x="91604" y="113481"/>
                </a:lnTo>
                <a:cubicBezTo>
                  <a:pt x="93725" y="117128"/>
                  <a:pt x="95064" y="121332"/>
                  <a:pt x="94097" y="125425"/>
                </a:cubicBezTo>
                <a:cubicBezTo>
                  <a:pt x="90078" y="142094"/>
                  <a:pt x="70619" y="154781"/>
                  <a:pt x="47216" y="154781"/>
                </a:cubicBezTo>
                <a:cubicBezTo>
                  <a:pt x="23812" y="154781"/>
                  <a:pt x="4353" y="142131"/>
                  <a:pt x="335" y="125425"/>
                </a:cubicBezTo>
                <a:close/>
              </a:path>
            </a:pathLst>
          </a:custGeom>
          <a:solidFill>
            <a:srgbClr val="3D8B75"/>
          </a:solidFill>
          <a:ln/>
        </p:spPr>
        <p:txBody>
          <a:bodyPr/>
          <a:lstStyle/>
          <a:p>
            <a:endParaRPr lang="zh-CN" altLang="en-US"/>
          </a:p>
        </p:txBody>
      </p:sp>
      <p:sp>
        <p:nvSpPr>
          <p:cNvPr id="26" name="Text 24"/>
          <p:cNvSpPr/>
          <p:nvPr/>
        </p:nvSpPr>
        <p:spPr>
          <a:xfrm>
            <a:off x="847725" y="3905250"/>
            <a:ext cx="10868025" cy="266700"/>
          </a:xfrm>
          <a:prstGeom prst="rect">
            <a:avLst/>
          </a:prstGeom>
          <a:noFill/>
          <a:ln/>
        </p:spPr>
        <p:txBody>
          <a:bodyPr wrap="square" lIns="0" tIns="0" rIns="0" bIns="0" rtlCol="0" anchor="ctr"/>
          <a:lstStyle/>
          <a:p>
            <a:pPr>
              <a:lnSpc>
                <a:spcPct val="120000"/>
              </a:lnSpc>
            </a:pPr>
            <a:r>
              <a:rPr lang="en-US" sz="1500" b="1" dirty="0">
                <a:solidFill>
                  <a:srgbClr val="E0E2E5"/>
                </a:solidFill>
                <a:latin typeface="Noto Sans SC" pitchFamily="34" charset="0"/>
                <a:ea typeface="Noto Sans SC" pitchFamily="34" charset="-122"/>
                <a:cs typeface="Noto Sans SC" pitchFamily="34" charset="-120"/>
              </a:rPr>
              <a:t>不可能三角的动态权衡</a:t>
            </a:r>
            <a:endParaRPr lang="en-US" sz="1600" dirty="0"/>
          </a:p>
        </p:txBody>
      </p:sp>
      <p:sp>
        <p:nvSpPr>
          <p:cNvPr id="27" name="Shape 25"/>
          <p:cNvSpPr/>
          <p:nvPr/>
        </p:nvSpPr>
        <p:spPr>
          <a:xfrm>
            <a:off x="609600" y="4324350"/>
            <a:ext cx="3571875" cy="1619250"/>
          </a:xfrm>
          <a:custGeom>
            <a:avLst/>
            <a:gdLst/>
            <a:ahLst/>
            <a:cxnLst/>
            <a:rect l="l" t="t" r="r" b="b"/>
            <a:pathLst>
              <a:path w="3571875" h="1619250">
                <a:moveTo>
                  <a:pt x="76202" y="0"/>
                </a:moveTo>
                <a:lnTo>
                  <a:pt x="3495673" y="0"/>
                </a:lnTo>
                <a:cubicBezTo>
                  <a:pt x="3537758" y="0"/>
                  <a:pt x="3571875" y="34117"/>
                  <a:pt x="3571875" y="76202"/>
                </a:cubicBezTo>
                <a:lnTo>
                  <a:pt x="3571875" y="1543048"/>
                </a:lnTo>
                <a:cubicBezTo>
                  <a:pt x="3571875" y="1585133"/>
                  <a:pt x="3537758" y="1619250"/>
                  <a:pt x="3495673" y="1619250"/>
                </a:cubicBezTo>
                <a:lnTo>
                  <a:pt x="76202" y="1619250"/>
                </a:lnTo>
                <a:cubicBezTo>
                  <a:pt x="34117" y="1619250"/>
                  <a:pt x="0" y="1585133"/>
                  <a:pt x="0" y="154304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28" name="Shape 26"/>
          <p:cNvSpPr/>
          <p:nvPr/>
        </p:nvSpPr>
        <p:spPr>
          <a:xfrm>
            <a:off x="2089100" y="447675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3D8B75">
              <a:alpha val="20000"/>
            </a:srgbClr>
          </a:solidFill>
          <a:ln/>
        </p:spPr>
        <p:txBody>
          <a:bodyPr/>
          <a:lstStyle/>
          <a:p>
            <a:endParaRPr lang="zh-CN" altLang="en-US"/>
          </a:p>
        </p:txBody>
      </p:sp>
      <p:sp>
        <p:nvSpPr>
          <p:cNvPr id="29" name="Shape 27"/>
          <p:cNvSpPr/>
          <p:nvPr/>
        </p:nvSpPr>
        <p:spPr>
          <a:xfrm>
            <a:off x="2279600" y="4667250"/>
            <a:ext cx="228600" cy="228600"/>
          </a:xfrm>
          <a:custGeom>
            <a:avLst/>
            <a:gdLst/>
            <a:ahLst/>
            <a:cxnLst/>
            <a:rect l="l" t="t" r="r" b="b"/>
            <a:pathLst>
              <a:path w="228600" h="228600">
                <a:moveTo>
                  <a:pt x="203597" y="100013"/>
                </a:moveTo>
                <a:lnTo>
                  <a:pt x="139303" y="100013"/>
                </a:lnTo>
                <a:cubicBezTo>
                  <a:pt x="133365" y="100013"/>
                  <a:pt x="128588" y="95235"/>
                  <a:pt x="128588" y="89297"/>
                </a:cubicBezTo>
                <a:lnTo>
                  <a:pt x="128588" y="25003"/>
                </a:lnTo>
                <a:cubicBezTo>
                  <a:pt x="128588" y="20672"/>
                  <a:pt x="131177" y="16743"/>
                  <a:pt x="135195" y="15091"/>
                </a:cubicBezTo>
                <a:cubicBezTo>
                  <a:pt x="139214" y="13439"/>
                  <a:pt x="143813" y="14377"/>
                  <a:pt x="146893" y="17413"/>
                </a:cubicBezTo>
                <a:lnTo>
                  <a:pt x="164753" y="35272"/>
                </a:lnTo>
                <a:lnTo>
                  <a:pt x="197525" y="2500"/>
                </a:lnTo>
                <a:cubicBezTo>
                  <a:pt x="199132" y="893"/>
                  <a:pt x="201320" y="0"/>
                  <a:pt x="203597" y="0"/>
                </a:cubicBezTo>
                <a:cubicBezTo>
                  <a:pt x="205874" y="0"/>
                  <a:pt x="208062" y="893"/>
                  <a:pt x="209714" y="2545"/>
                </a:cubicBezTo>
                <a:lnTo>
                  <a:pt x="226100" y="18931"/>
                </a:lnTo>
                <a:cubicBezTo>
                  <a:pt x="227707" y="20538"/>
                  <a:pt x="228600" y="22726"/>
                  <a:pt x="228600" y="25003"/>
                </a:cubicBezTo>
                <a:cubicBezTo>
                  <a:pt x="228600" y="27280"/>
                  <a:pt x="227707" y="29468"/>
                  <a:pt x="226055" y="31120"/>
                </a:cubicBezTo>
                <a:lnTo>
                  <a:pt x="193328" y="63847"/>
                </a:lnTo>
                <a:lnTo>
                  <a:pt x="211187" y="81707"/>
                </a:lnTo>
                <a:cubicBezTo>
                  <a:pt x="214268" y="84787"/>
                  <a:pt x="215161" y="89386"/>
                  <a:pt x="213509" y="93405"/>
                </a:cubicBezTo>
                <a:cubicBezTo>
                  <a:pt x="211857" y="97423"/>
                  <a:pt x="207928" y="100013"/>
                  <a:pt x="203597" y="100013"/>
                </a:cubicBezTo>
                <a:close/>
                <a:moveTo>
                  <a:pt x="203597" y="128588"/>
                </a:moveTo>
                <a:cubicBezTo>
                  <a:pt x="207928" y="128588"/>
                  <a:pt x="211857" y="131177"/>
                  <a:pt x="213509" y="135195"/>
                </a:cubicBezTo>
                <a:cubicBezTo>
                  <a:pt x="215161" y="139214"/>
                  <a:pt x="214268" y="143813"/>
                  <a:pt x="211187" y="146893"/>
                </a:cubicBezTo>
                <a:lnTo>
                  <a:pt x="193328" y="164753"/>
                </a:lnTo>
                <a:lnTo>
                  <a:pt x="226100" y="197525"/>
                </a:lnTo>
                <a:cubicBezTo>
                  <a:pt x="227707" y="199132"/>
                  <a:pt x="228645" y="201320"/>
                  <a:pt x="228645" y="203642"/>
                </a:cubicBezTo>
                <a:cubicBezTo>
                  <a:pt x="228645" y="205963"/>
                  <a:pt x="227752" y="208106"/>
                  <a:pt x="226100" y="209758"/>
                </a:cubicBezTo>
                <a:lnTo>
                  <a:pt x="209714" y="226144"/>
                </a:lnTo>
                <a:cubicBezTo>
                  <a:pt x="208062" y="227707"/>
                  <a:pt x="205874" y="228600"/>
                  <a:pt x="203597" y="228600"/>
                </a:cubicBezTo>
                <a:cubicBezTo>
                  <a:pt x="201320" y="228600"/>
                  <a:pt x="199132" y="227707"/>
                  <a:pt x="197480" y="226055"/>
                </a:cubicBezTo>
                <a:lnTo>
                  <a:pt x="164753" y="193328"/>
                </a:lnTo>
                <a:lnTo>
                  <a:pt x="146893" y="211187"/>
                </a:lnTo>
                <a:cubicBezTo>
                  <a:pt x="143813" y="214268"/>
                  <a:pt x="139214" y="215161"/>
                  <a:pt x="135195" y="213509"/>
                </a:cubicBezTo>
                <a:cubicBezTo>
                  <a:pt x="131177" y="211857"/>
                  <a:pt x="128588" y="207928"/>
                  <a:pt x="128588" y="203597"/>
                </a:cubicBezTo>
                <a:lnTo>
                  <a:pt x="128588" y="139303"/>
                </a:lnTo>
                <a:cubicBezTo>
                  <a:pt x="128588" y="133365"/>
                  <a:pt x="133365" y="128588"/>
                  <a:pt x="139303" y="128588"/>
                </a:cubicBezTo>
                <a:lnTo>
                  <a:pt x="203597" y="128588"/>
                </a:lnTo>
                <a:close/>
                <a:moveTo>
                  <a:pt x="89297" y="128588"/>
                </a:moveTo>
                <a:cubicBezTo>
                  <a:pt x="95235" y="128588"/>
                  <a:pt x="100013" y="133365"/>
                  <a:pt x="100013" y="139303"/>
                </a:cubicBezTo>
                <a:lnTo>
                  <a:pt x="100013" y="203597"/>
                </a:lnTo>
                <a:cubicBezTo>
                  <a:pt x="100013" y="207928"/>
                  <a:pt x="97423" y="211857"/>
                  <a:pt x="93405" y="213509"/>
                </a:cubicBezTo>
                <a:cubicBezTo>
                  <a:pt x="89386" y="215161"/>
                  <a:pt x="84787" y="214268"/>
                  <a:pt x="81707" y="211187"/>
                </a:cubicBezTo>
                <a:lnTo>
                  <a:pt x="63847" y="193328"/>
                </a:lnTo>
                <a:lnTo>
                  <a:pt x="31075" y="226100"/>
                </a:lnTo>
                <a:cubicBezTo>
                  <a:pt x="29468" y="227707"/>
                  <a:pt x="27280" y="228600"/>
                  <a:pt x="25003" y="228600"/>
                </a:cubicBezTo>
                <a:cubicBezTo>
                  <a:pt x="22726" y="228600"/>
                  <a:pt x="20538" y="227707"/>
                  <a:pt x="18886" y="226055"/>
                </a:cubicBezTo>
                <a:lnTo>
                  <a:pt x="2545" y="209714"/>
                </a:lnTo>
                <a:cubicBezTo>
                  <a:pt x="893" y="208062"/>
                  <a:pt x="0" y="205874"/>
                  <a:pt x="0" y="203597"/>
                </a:cubicBezTo>
                <a:cubicBezTo>
                  <a:pt x="0" y="201320"/>
                  <a:pt x="893" y="199132"/>
                  <a:pt x="2545" y="197480"/>
                </a:cubicBezTo>
                <a:lnTo>
                  <a:pt x="35272" y="164753"/>
                </a:lnTo>
                <a:lnTo>
                  <a:pt x="17413" y="146893"/>
                </a:lnTo>
                <a:cubicBezTo>
                  <a:pt x="14332" y="143813"/>
                  <a:pt x="13439" y="139214"/>
                  <a:pt x="15091" y="135195"/>
                </a:cubicBezTo>
                <a:cubicBezTo>
                  <a:pt x="16743" y="131177"/>
                  <a:pt x="20672" y="128588"/>
                  <a:pt x="25003" y="128588"/>
                </a:cubicBezTo>
                <a:lnTo>
                  <a:pt x="89297" y="128588"/>
                </a:lnTo>
                <a:close/>
                <a:moveTo>
                  <a:pt x="25003" y="100013"/>
                </a:moveTo>
                <a:cubicBezTo>
                  <a:pt x="20672" y="100013"/>
                  <a:pt x="16743" y="97423"/>
                  <a:pt x="15091" y="93405"/>
                </a:cubicBezTo>
                <a:cubicBezTo>
                  <a:pt x="13439" y="89386"/>
                  <a:pt x="14377" y="84787"/>
                  <a:pt x="17413" y="81707"/>
                </a:cubicBezTo>
                <a:lnTo>
                  <a:pt x="35272" y="63847"/>
                </a:lnTo>
                <a:lnTo>
                  <a:pt x="2545" y="31120"/>
                </a:lnTo>
                <a:cubicBezTo>
                  <a:pt x="893" y="29468"/>
                  <a:pt x="0" y="27280"/>
                  <a:pt x="0" y="25003"/>
                </a:cubicBezTo>
                <a:cubicBezTo>
                  <a:pt x="0" y="22726"/>
                  <a:pt x="893" y="20538"/>
                  <a:pt x="2545" y="18886"/>
                </a:cubicBezTo>
                <a:lnTo>
                  <a:pt x="18886" y="2545"/>
                </a:lnTo>
                <a:cubicBezTo>
                  <a:pt x="20538" y="893"/>
                  <a:pt x="22726" y="0"/>
                  <a:pt x="25003" y="0"/>
                </a:cubicBezTo>
                <a:cubicBezTo>
                  <a:pt x="27280" y="0"/>
                  <a:pt x="29468" y="893"/>
                  <a:pt x="31120" y="2545"/>
                </a:cubicBezTo>
                <a:lnTo>
                  <a:pt x="63847" y="35272"/>
                </a:lnTo>
                <a:lnTo>
                  <a:pt x="81707" y="17413"/>
                </a:lnTo>
                <a:cubicBezTo>
                  <a:pt x="84787" y="14332"/>
                  <a:pt x="89386" y="13439"/>
                  <a:pt x="93405" y="15091"/>
                </a:cubicBezTo>
                <a:cubicBezTo>
                  <a:pt x="97423" y="16743"/>
                  <a:pt x="100013" y="20672"/>
                  <a:pt x="100013" y="25003"/>
                </a:cubicBezTo>
                <a:lnTo>
                  <a:pt x="100013" y="89297"/>
                </a:lnTo>
                <a:cubicBezTo>
                  <a:pt x="100013" y="95235"/>
                  <a:pt x="95235" y="100013"/>
                  <a:pt x="89297" y="100013"/>
                </a:cubicBezTo>
                <a:lnTo>
                  <a:pt x="25003" y="100013"/>
                </a:lnTo>
                <a:close/>
              </a:path>
            </a:pathLst>
          </a:custGeom>
          <a:solidFill>
            <a:srgbClr val="3D8B75"/>
          </a:solidFill>
          <a:ln/>
        </p:spPr>
        <p:txBody>
          <a:bodyPr/>
          <a:lstStyle/>
          <a:p>
            <a:endParaRPr lang="zh-CN" altLang="en-US"/>
          </a:p>
        </p:txBody>
      </p:sp>
      <p:sp>
        <p:nvSpPr>
          <p:cNvPr id="30" name="Text 28"/>
          <p:cNvSpPr/>
          <p:nvPr/>
        </p:nvSpPr>
        <p:spPr>
          <a:xfrm>
            <a:off x="714375" y="5200650"/>
            <a:ext cx="3362325" cy="266700"/>
          </a:xfrm>
          <a:prstGeom prst="rect">
            <a:avLst/>
          </a:prstGeom>
          <a:noFill/>
          <a:ln/>
        </p:spPr>
        <p:txBody>
          <a:bodyPr wrap="square" lIns="0" tIns="0" rIns="0" bIns="0" rtlCol="0" anchor="ctr"/>
          <a:lstStyle/>
          <a:p>
            <a:pPr algn="ctr">
              <a:lnSpc>
                <a:spcPct val="120000"/>
              </a:lnSpc>
            </a:pPr>
            <a:r>
              <a:rPr lang="en-US" sz="1500" b="1" dirty="0">
                <a:solidFill>
                  <a:srgbClr val="E0E2E5"/>
                </a:solidFill>
                <a:latin typeface="Noto Sans SC" pitchFamily="34" charset="0"/>
                <a:ea typeface="Noto Sans SC" pitchFamily="34" charset="-122"/>
                <a:cs typeface="Noto Sans SC" pitchFamily="34" charset="-120"/>
              </a:rPr>
              <a:t>压缩率</a:t>
            </a:r>
            <a:endParaRPr lang="en-US" sz="1600" dirty="0"/>
          </a:p>
        </p:txBody>
      </p:sp>
      <p:sp>
        <p:nvSpPr>
          <p:cNvPr id="31" name="Text 29"/>
          <p:cNvSpPr/>
          <p:nvPr/>
        </p:nvSpPr>
        <p:spPr>
          <a:xfrm>
            <a:off x="723900" y="5543550"/>
            <a:ext cx="3343275" cy="247650"/>
          </a:xfrm>
          <a:prstGeom prst="rect">
            <a:avLst/>
          </a:prstGeom>
          <a:noFill/>
          <a:ln/>
        </p:spPr>
        <p:txBody>
          <a:bodyPr wrap="square" lIns="0" tIns="0" rIns="0" bIns="0" rtlCol="0" anchor="ctr"/>
          <a:lstStyle/>
          <a:p>
            <a:pPr algn="ct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显存占用缩减程度，直接决定并发处理能力</a:t>
            </a:r>
            <a:endParaRPr lang="en-US" sz="1600" dirty="0"/>
          </a:p>
        </p:txBody>
      </p:sp>
      <p:sp>
        <p:nvSpPr>
          <p:cNvPr id="32" name="Shape 30"/>
          <p:cNvSpPr/>
          <p:nvPr/>
        </p:nvSpPr>
        <p:spPr>
          <a:xfrm>
            <a:off x="4330675" y="4324350"/>
            <a:ext cx="3571875" cy="1619250"/>
          </a:xfrm>
          <a:custGeom>
            <a:avLst/>
            <a:gdLst/>
            <a:ahLst/>
            <a:cxnLst/>
            <a:rect l="l" t="t" r="r" b="b"/>
            <a:pathLst>
              <a:path w="3571875" h="1619250">
                <a:moveTo>
                  <a:pt x="76202" y="0"/>
                </a:moveTo>
                <a:lnTo>
                  <a:pt x="3495673" y="0"/>
                </a:lnTo>
                <a:cubicBezTo>
                  <a:pt x="3537758" y="0"/>
                  <a:pt x="3571875" y="34117"/>
                  <a:pt x="3571875" y="76202"/>
                </a:cubicBezTo>
                <a:lnTo>
                  <a:pt x="3571875" y="1543048"/>
                </a:lnTo>
                <a:cubicBezTo>
                  <a:pt x="3571875" y="1585133"/>
                  <a:pt x="3537758" y="1619250"/>
                  <a:pt x="3495673" y="1619250"/>
                </a:cubicBezTo>
                <a:lnTo>
                  <a:pt x="76202" y="1619250"/>
                </a:lnTo>
                <a:cubicBezTo>
                  <a:pt x="34117" y="1619250"/>
                  <a:pt x="0" y="1585133"/>
                  <a:pt x="0" y="154304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33" name="Shape 31"/>
          <p:cNvSpPr/>
          <p:nvPr/>
        </p:nvSpPr>
        <p:spPr>
          <a:xfrm>
            <a:off x="5810176" y="447675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9A86A">
              <a:alpha val="20000"/>
            </a:srgbClr>
          </a:solidFill>
          <a:ln/>
        </p:spPr>
        <p:txBody>
          <a:bodyPr/>
          <a:lstStyle/>
          <a:p>
            <a:endParaRPr lang="zh-CN" altLang="en-US"/>
          </a:p>
        </p:txBody>
      </p:sp>
      <p:sp>
        <p:nvSpPr>
          <p:cNvPr id="34" name="Shape 32"/>
          <p:cNvSpPr/>
          <p:nvPr/>
        </p:nvSpPr>
        <p:spPr>
          <a:xfrm>
            <a:off x="6000676" y="4667250"/>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C9A86A"/>
          </a:solidFill>
          <a:ln/>
        </p:spPr>
        <p:txBody>
          <a:bodyPr/>
          <a:lstStyle/>
          <a:p>
            <a:endParaRPr lang="zh-CN" altLang="en-US"/>
          </a:p>
        </p:txBody>
      </p:sp>
      <p:sp>
        <p:nvSpPr>
          <p:cNvPr id="35" name="Text 33"/>
          <p:cNvSpPr/>
          <p:nvPr/>
        </p:nvSpPr>
        <p:spPr>
          <a:xfrm>
            <a:off x="4435450" y="5200650"/>
            <a:ext cx="3362325" cy="266700"/>
          </a:xfrm>
          <a:prstGeom prst="rect">
            <a:avLst/>
          </a:prstGeom>
          <a:noFill/>
          <a:ln/>
        </p:spPr>
        <p:txBody>
          <a:bodyPr wrap="square" lIns="0" tIns="0" rIns="0" bIns="0" rtlCol="0" anchor="ctr"/>
          <a:lstStyle/>
          <a:p>
            <a:pPr algn="ctr">
              <a:lnSpc>
                <a:spcPct val="120000"/>
              </a:lnSpc>
            </a:pPr>
            <a:r>
              <a:rPr lang="en-US" sz="1500" b="1" dirty="0">
                <a:solidFill>
                  <a:srgbClr val="E0E2E5"/>
                </a:solidFill>
                <a:latin typeface="Noto Sans SC" pitchFamily="34" charset="0"/>
                <a:ea typeface="Noto Sans SC" pitchFamily="34" charset="-122"/>
                <a:cs typeface="Noto Sans SC" pitchFamily="34" charset="-120"/>
              </a:rPr>
              <a:t>精度</a:t>
            </a:r>
            <a:endParaRPr lang="en-US" sz="1600" dirty="0"/>
          </a:p>
        </p:txBody>
      </p:sp>
      <p:sp>
        <p:nvSpPr>
          <p:cNvPr id="36" name="Text 34"/>
          <p:cNvSpPr/>
          <p:nvPr/>
        </p:nvSpPr>
        <p:spPr>
          <a:xfrm>
            <a:off x="4444975" y="5543550"/>
            <a:ext cx="3343275" cy="247650"/>
          </a:xfrm>
          <a:prstGeom prst="rect">
            <a:avLst/>
          </a:prstGeom>
          <a:noFill/>
          <a:ln/>
        </p:spPr>
        <p:txBody>
          <a:bodyPr wrap="square" lIns="0" tIns="0" rIns="0" bIns="0" rtlCol="0" anchor="ctr"/>
          <a:lstStyle/>
          <a:p>
            <a:pPr algn="ct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模型输出质量保持，避免负样本问题</a:t>
            </a:r>
            <a:endParaRPr lang="en-US" sz="1600" dirty="0"/>
          </a:p>
        </p:txBody>
      </p:sp>
      <p:sp>
        <p:nvSpPr>
          <p:cNvPr id="37" name="Shape 35"/>
          <p:cNvSpPr/>
          <p:nvPr/>
        </p:nvSpPr>
        <p:spPr>
          <a:xfrm>
            <a:off x="8051750" y="4324350"/>
            <a:ext cx="3571875" cy="1619250"/>
          </a:xfrm>
          <a:custGeom>
            <a:avLst/>
            <a:gdLst/>
            <a:ahLst/>
            <a:cxnLst/>
            <a:rect l="l" t="t" r="r" b="b"/>
            <a:pathLst>
              <a:path w="3571875" h="1619250">
                <a:moveTo>
                  <a:pt x="76202" y="0"/>
                </a:moveTo>
                <a:lnTo>
                  <a:pt x="3495673" y="0"/>
                </a:lnTo>
                <a:cubicBezTo>
                  <a:pt x="3537758" y="0"/>
                  <a:pt x="3571875" y="34117"/>
                  <a:pt x="3571875" y="76202"/>
                </a:cubicBezTo>
                <a:lnTo>
                  <a:pt x="3571875" y="1543048"/>
                </a:lnTo>
                <a:cubicBezTo>
                  <a:pt x="3571875" y="1585133"/>
                  <a:pt x="3537758" y="1619250"/>
                  <a:pt x="3495673" y="1619250"/>
                </a:cubicBezTo>
                <a:lnTo>
                  <a:pt x="76202" y="1619250"/>
                </a:lnTo>
                <a:cubicBezTo>
                  <a:pt x="34117" y="1619250"/>
                  <a:pt x="0" y="1585133"/>
                  <a:pt x="0" y="1543048"/>
                </a:cubicBezTo>
                <a:lnTo>
                  <a:pt x="0" y="76202"/>
                </a:lnTo>
                <a:cubicBezTo>
                  <a:pt x="0" y="34117"/>
                  <a:pt x="34117" y="0"/>
                  <a:pt x="76202" y="0"/>
                </a:cubicBezTo>
                <a:close/>
              </a:path>
            </a:pathLst>
          </a:custGeom>
          <a:solidFill>
            <a:srgbClr val="1A1D21">
              <a:alpha val="50196"/>
            </a:srgbClr>
          </a:solidFill>
          <a:ln/>
        </p:spPr>
        <p:txBody>
          <a:bodyPr/>
          <a:lstStyle/>
          <a:p>
            <a:endParaRPr lang="zh-CN" altLang="en-US"/>
          </a:p>
        </p:txBody>
      </p:sp>
      <p:sp>
        <p:nvSpPr>
          <p:cNvPr id="38" name="Shape 36"/>
          <p:cNvSpPr/>
          <p:nvPr/>
        </p:nvSpPr>
        <p:spPr>
          <a:xfrm>
            <a:off x="9531251" y="447675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5F6B7A">
              <a:alpha val="20000"/>
            </a:srgbClr>
          </a:solidFill>
          <a:ln/>
        </p:spPr>
        <p:txBody>
          <a:bodyPr/>
          <a:lstStyle/>
          <a:p>
            <a:endParaRPr lang="zh-CN" altLang="en-US"/>
          </a:p>
        </p:txBody>
      </p:sp>
      <p:sp>
        <p:nvSpPr>
          <p:cNvPr id="39" name="Shape 37"/>
          <p:cNvSpPr/>
          <p:nvPr/>
        </p:nvSpPr>
        <p:spPr>
          <a:xfrm>
            <a:off x="9721751" y="4667250"/>
            <a:ext cx="228600" cy="228600"/>
          </a:xfrm>
          <a:custGeom>
            <a:avLst/>
            <a:gdLst/>
            <a:ahLst/>
            <a:cxnLst/>
            <a:rect l="l" t="t" r="r" b="b"/>
            <a:pathLst>
              <a:path w="228600" h="228600">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28588" y="42863"/>
                </a:moveTo>
                <a:cubicBezTo>
                  <a:pt x="128588" y="34977"/>
                  <a:pt x="122185" y="28575"/>
                  <a:pt x="114300" y="28575"/>
                </a:cubicBezTo>
                <a:cubicBezTo>
                  <a:pt x="106415" y="28575"/>
                  <a:pt x="100013" y="34977"/>
                  <a:pt x="100013" y="42863"/>
                </a:cubicBezTo>
                <a:cubicBezTo>
                  <a:pt x="100013" y="50748"/>
                  <a:pt x="106415" y="57150"/>
                  <a:pt x="114300" y="57150"/>
                </a:cubicBezTo>
                <a:cubicBezTo>
                  <a:pt x="122185" y="57150"/>
                  <a:pt x="128588" y="50748"/>
                  <a:pt x="128588" y="42863"/>
                </a:cubicBezTo>
                <a:close/>
                <a:moveTo>
                  <a:pt x="114300" y="185738"/>
                </a:moveTo>
                <a:cubicBezTo>
                  <a:pt x="130061" y="185738"/>
                  <a:pt x="142875" y="172923"/>
                  <a:pt x="142875" y="157163"/>
                </a:cubicBezTo>
                <a:cubicBezTo>
                  <a:pt x="142875" y="149929"/>
                  <a:pt x="140196" y="143277"/>
                  <a:pt x="135731" y="138276"/>
                </a:cubicBezTo>
                <a:lnTo>
                  <a:pt x="166762" y="76260"/>
                </a:lnTo>
                <a:cubicBezTo>
                  <a:pt x="169396" y="70946"/>
                  <a:pt x="167253" y="64517"/>
                  <a:pt x="161985" y="61883"/>
                </a:cubicBezTo>
                <a:cubicBezTo>
                  <a:pt x="156716" y="59248"/>
                  <a:pt x="150242" y="61392"/>
                  <a:pt x="147608" y="66660"/>
                </a:cubicBezTo>
                <a:lnTo>
                  <a:pt x="116577" y="128677"/>
                </a:lnTo>
                <a:cubicBezTo>
                  <a:pt x="115818" y="128632"/>
                  <a:pt x="115059" y="128588"/>
                  <a:pt x="114300" y="128588"/>
                </a:cubicBezTo>
                <a:cubicBezTo>
                  <a:pt x="98539" y="128588"/>
                  <a:pt x="85725" y="141402"/>
                  <a:pt x="85725" y="157163"/>
                </a:cubicBezTo>
                <a:cubicBezTo>
                  <a:pt x="85725" y="172923"/>
                  <a:pt x="98539" y="185738"/>
                  <a:pt x="114300" y="185738"/>
                </a:cubicBezTo>
                <a:close/>
                <a:moveTo>
                  <a:pt x="78581" y="64294"/>
                </a:moveTo>
                <a:cubicBezTo>
                  <a:pt x="78581" y="56408"/>
                  <a:pt x="72179" y="50006"/>
                  <a:pt x="64294" y="50006"/>
                </a:cubicBezTo>
                <a:cubicBezTo>
                  <a:pt x="56408" y="50006"/>
                  <a:pt x="50006" y="56408"/>
                  <a:pt x="50006" y="64294"/>
                </a:cubicBezTo>
                <a:cubicBezTo>
                  <a:pt x="50006" y="72179"/>
                  <a:pt x="56408" y="78581"/>
                  <a:pt x="64294" y="78581"/>
                </a:cubicBezTo>
                <a:cubicBezTo>
                  <a:pt x="72179" y="78581"/>
                  <a:pt x="78581" y="72179"/>
                  <a:pt x="78581" y="64294"/>
                </a:cubicBezTo>
                <a:close/>
                <a:moveTo>
                  <a:pt x="42863" y="128588"/>
                </a:moveTo>
                <a:cubicBezTo>
                  <a:pt x="50748" y="128588"/>
                  <a:pt x="57150" y="122185"/>
                  <a:pt x="57150" y="114300"/>
                </a:cubicBezTo>
                <a:cubicBezTo>
                  <a:pt x="57150" y="106415"/>
                  <a:pt x="50748" y="100013"/>
                  <a:pt x="42863" y="100013"/>
                </a:cubicBezTo>
                <a:cubicBezTo>
                  <a:pt x="34977" y="100013"/>
                  <a:pt x="28575" y="106415"/>
                  <a:pt x="28575" y="114300"/>
                </a:cubicBezTo>
                <a:cubicBezTo>
                  <a:pt x="28575" y="122185"/>
                  <a:pt x="34977" y="128588"/>
                  <a:pt x="42863" y="128588"/>
                </a:cubicBezTo>
                <a:close/>
                <a:moveTo>
                  <a:pt x="200025" y="114300"/>
                </a:moveTo>
                <a:cubicBezTo>
                  <a:pt x="200025" y="106415"/>
                  <a:pt x="193623" y="100013"/>
                  <a:pt x="185738" y="100013"/>
                </a:cubicBezTo>
                <a:cubicBezTo>
                  <a:pt x="177852" y="100013"/>
                  <a:pt x="171450" y="106415"/>
                  <a:pt x="171450" y="114300"/>
                </a:cubicBezTo>
                <a:cubicBezTo>
                  <a:pt x="171450" y="122185"/>
                  <a:pt x="177852" y="128588"/>
                  <a:pt x="185738" y="128588"/>
                </a:cubicBezTo>
                <a:cubicBezTo>
                  <a:pt x="193623" y="128588"/>
                  <a:pt x="200025" y="122185"/>
                  <a:pt x="200025" y="114300"/>
                </a:cubicBezTo>
                <a:close/>
              </a:path>
            </a:pathLst>
          </a:custGeom>
          <a:solidFill>
            <a:srgbClr val="5F6B7A"/>
          </a:solidFill>
          <a:ln/>
        </p:spPr>
        <p:txBody>
          <a:bodyPr/>
          <a:lstStyle/>
          <a:p>
            <a:endParaRPr lang="zh-CN" altLang="en-US"/>
          </a:p>
        </p:txBody>
      </p:sp>
      <p:sp>
        <p:nvSpPr>
          <p:cNvPr id="40" name="Text 38"/>
          <p:cNvSpPr/>
          <p:nvPr/>
        </p:nvSpPr>
        <p:spPr>
          <a:xfrm>
            <a:off x="8156525" y="5200650"/>
            <a:ext cx="3362325" cy="266700"/>
          </a:xfrm>
          <a:prstGeom prst="rect">
            <a:avLst/>
          </a:prstGeom>
          <a:noFill/>
          <a:ln/>
        </p:spPr>
        <p:txBody>
          <a:bodyPr wrap="square" lIns="0" tIns="0" rIns="0" bIns="0" rtlCol="0" anchor="ctr"/>
          <a:lstStyle/>
          <a:p>
            <a:pPr algn="ctr">
              <a:lnSpc>
                <a:spcPct val="120000"/>
              </a:lnSpc>
            </a:pPr>
            <a:r>
              <a:rPr lang="en-US" sz="1500" b="1" dirty="0">
                <a:solidFill>
                  <a:srgbClr val="E0E2E5"/>
                </a:solidFill>
                <a:latin typeface="Noto Sans SC" pitchFamily="34" charset="0"/>
                <a:ea typeface="Noto Sans SC" pitchFamily="34" charset="-122"/>
                <a:cs typeface="Noto Sans SC" pitchFamily="34" charset="-120"/>
              </a:rPr>
              <a:t>吞吐量</a:t>
            </a:r>
            <a:endParaRPr lang="en-US" sz="1600" dirty="0"/>
          </a:p>
        </p:txBody>
      </p:sp>
      <p:sp>
        <p:nvSpPr>
          <p:cNvPr id="41" name="Text 39"/>
          <p:cNvSpPr/>
          <p:nvPr/>
        </p:nvSpPr>
        <p:spPr>
          <a:xfrm>
            <a:off x="8166050" y="5543550"/>
            <a:ext cx="3343275" cy="247650"/>
          </a:xfrm>
          <a:prstGeom prst="rect">
            <a:avLst/>
          </a:prstGeom>
          <a:noFill/>
          <a:ln/>
        </p:spPr>
        <p:txBody>
          <a:bodyPr wrap="square" lIns="0" tIns="0" rIns="0" bIns="0" rtlCol="0" anchor="ctr"/>
          <a:lstStyle/>
          <a:p>
            <a:pPr algn="ctr">
              <a:lnSpc>
                <a:spcPct val="140000"/>
              </a:lnSpc>
            </a:pPr>
            <a:r>
              <a:rPr lang="en-US" sz="1200" dirty="0">
                <a:solidFill>
                  <a:srgbClr val="E0E2E5">
                    <a:alpha val="70000"/>
                  </a:srgbClr>
                </a:solidFill>
                <a:latin typeface="Noto Sans SC" pitchFamily="34" charset="0"/>
                <a:ea typeface="Noto Sans SC" pitchFamily="34" charset="-122"/>
                <a:cs typeface="Noto Sans SC" pitchFamily="34" charset="-120"/>
              </a:rPr>
              <a:t>推理延迟与吞吐效率，Kernel 融合关键</a:t>
            </a:r>
            <a:endParaRPr lang="en-US" sz="1600" dirty="0"/>
          </a:p>
        </p:txBody>
      </p:sp>
      <p:sp>
        <p:nvSpPr>
          <p:cNvPr id="42" name="Shape 40"/>
          <p:cNvSpPr/>
          <p:nvPr/>
        </p:nvSpPr>
        <p:spPr>
          <a:xfrm>
            <a:off x="628650" y="6096000"/>
            <a:ext cx="10991850" cy="552450"/>
          </a:xfrm>
          <a:custGeom>
            <a:avLst/>
            <a:gdLst/>
            <a:ahLst/>
            <a:cxnLst/>
            <a:rect l="l" t="t" r="r" b="b"/>
            <a:pathLst>
              <a:path w="10991850" h="552450">
                <a:moveTo>
                  <a:pt x="38100" y="0"/>
                </a:moveTo>
                <a:lnTo>
                  <a:pt x="10915651" y="0"/>
                </a:lnTo>
                <a:cubicBezTo>
                  <a:pt x="10957734" y="0"/>
                  <a:pt x="10991850" y="34116"/>
                  <a:pt x="10991850" y="76199"/>
                </a:cubicBezTo>
                <a:lnTo>
                  <a:pt x="10991850" y="476251"/>
                </a:lnTo>
                <a:cubicBezTo>
                  <a:pt x="10991850" y="518334"/>
                  <a:pt x="10957734" y="552450"/>
                  <a:pt x="10915651" y="552450"/>
                </a:cubicBezTo>
                <a:lnTo>
                  <a:pt x="38100" y="552450"/>
                </a:lnTo>
                <a:cubicBezTo>
                  <a:pt x="17072" y="552450"/>
                  <a:pt x="0" y="535378"/>
                  <a:pt x="0" y="514350"/>
                </a:cubicBezTo>
                <a:lnTo>
                  <a:pt x="0" y="38100"/>
                </a:lnTo>
                <a:cubicBezTo>
                  <a:pt x="0" y="17072"/>
                  <a:pt x="17072" y="0"/>
                  <a:pt x="38100" y="0"/>
                </a:cubicBezTo>
                <a:close/>
              </a:path>
            </a:pathLst>
          </a:custGeom>
          <a:solidFill>
            <a:srgbClr val="C9A86A">
              <a:alpha val="20000"/>
            </a:srgbClr>
          </a:solidFill>
          <a:ln/>
        </p:spPr>
        <p:txBody>
          <a:bodyPr/>
          <a:lstStyle/>
          <a:p>
            <a:endParaRPr lang="zh-CN" altLang="en-US"/>
          </a:p>
        </p:txBody>
      </p:sp>
      <p:sp>
        <p:nvSpPr>
          <p:cNvPr id="43" name="Shape 41"/>
          <p:cNvSpPr/>
          <p:nvPr/>
        </p:nvSpPr>
        <p:spPr>
          <a:xfrm>
            <a:off x="628650" y="6096000"/>
            <a:ext cx="38100" cy="552450"/>
          </a:xfrm>
          <a:custGeom>
            <a:avLst/>
            <a:gdLst/>
            <a:ahLst/>
            <a:cxnLst/>
            <a:rect l="l" t="t" r="r" b="b"/>
            <a:pathLst>
              <a:path w="38100" h="552450">
                <a:moveTo>
                  <a:pt x="38100" y="0"/>
                </a:moveTo>
                <a:lnTo>
                  <a:pt x="38100" y="0"/>
                </a:lnTo>
                <a:lnTo>
                  <a:pt x="38100" y="552450"/>
                </a:lnTo>
                <a:lnTo>
                  <a:pt x="38100" y="552450"/>
                </a:lnTo>
                <a:cubicBezTo>
                  <a:pt x="17072" y="552450"/>
                  <a:pt x="0" y="535378"/>
                  <a:pt x="0" y="514350"/>
                </a:cubicBezTo>
                <a:lnTo>
                  <a:pt x="0" y="38100"/>
                </a:lnTo>
                <a:cubicBezTo>
                  <a:pt x="0" y="17072"/>
                  <a:pt x="17072" y="0"/>
                  <a:pt x="38100" y="0"/>
                </a:cubicBezTo>
                <a:close/>
              </a:path>
            </a:pathLst>
          </a:custGeom>
          <a:solidFill>
            <a:srgbClr val="C9A86A"/>
          </a:solidFill>
          <a:ln/>
        </p:spPr>
        <p:txBody>
          <a:bodyPr/>
          <a:lstStyle/>
          <a:p>
            <a:endParaRPr lang="zh-CN" altLang="en-US"/>
          </a:p>
        </p:txBody>
      </p:sp>
      <p:sp>
        <p:nvSpPr>
          <p:cNvPr id="44" name="Shape 42"/>
          <p:cNvSpPr/>
          <p:nvPr/>
        </p:nvSpPr>
        <p:spPr>
          <a:xfrm>
            <a:off x="2032025" y="62960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40481"/>
                </a:moveTo>
                <a:cubicBezTo>
                  <a:pt x="80159" y="40481"/>
                  <a:pt x="83344" y="43666"/>
                  <a:pt x="83344" y="47625"/>
                </a:cubicBezTo>
                <a:lnTo>
                  <a:pt x="83344" y="80962"/>
                </a:lnTo>
                <a:cubicBezTo>
                  <a:pt x="83344" y="84921"/>
                  <a:pt x="80159" y="88106"/>
                  <a:pt x="76200" y="88106"/>
                </a:cubicBezTo>
                <a:cubicBezTo>
                  <a:pt x="72241" y="88106"/>
                  <a:pt x="69056" y="84921"/>
                  <a:pt x="69056" y="80962"/>
                </a:cubicBezTo>
                <a:lnTo>
                  <a:pt x="69056" y="47625"/>
                </a:lnTo>
                <a:cubicBezTo>
                  <a:pt x="69056" y="43666"/>
                  <a:pt x="72241" y="40481"/>
                  <a:pt x="76200" y="40481"/>
                </a:cubicBezTo>
                <a:close/>
                <a:moveTo>
                  <a:pt x="68253" y="104775"/>
                </a:moveTo>
                <a:cubicBezTo>
                  <a:pt x="68072" y="101825"/>
                  <a:pt x="69543" y="99018"/>
                  <a:pt x="72072" y="97489"/>
                </a:cubicBezTo>
                <a:cubicBezTo>
                  <a:pt x="74601" y="95959"/>
                  <a:pt x="77770" y="95959"/>
                  <a:pt x="80298" y="97489"/>
                </a:cubicBezTo>
                <a:cubicBezTo>
                  <a:pt x="82827" y="99018"/>
                  <a:pt x="84298" y="101825"/>
                  <a:pt x="84118" y="104775"/>
                </a:cubicBezTo>
                <a:cubicBezTo>
                  <a:pt x="84298" y="107725"/>
                  <a:pt x="82827" y="110532"/>
                  <a:pt x="80298" y="112061"/>
                </a:cubicBezTo>
                <a:cubicBezTo>
                  <a:pt x="77770" y="113591"/>
                  <a:pt x="74601" y="113591"/>
                  <a:pt x="72072" y="112061"/>
                </a:cubicBezTo>
                <a:cubicBezTo>
                  <a:pt x="69543" y="110532"/>
                  <a:pt x="68072" y="107725"/>
                  <a:pt x="68253" y="104775"/>
                </a:cubicBezTo>
                <a:close/>
              </a:path>
            </a:pathLst>
          </a:custGeom>
          <a:solidFill>
            <a:srgbClr val="C9A86A"/>
          </a:solidFill>
          <a:ln/>
        </p:spPr>
        <p:txBody>
          <a:bodyPr/>
          <a:lstStyle/>
          <a:p>
            <a:endParaRPr lang="zh-CN" altLang="en-US"/>
          </a:p>
        </p:txBody>
      </p:sp>
      <p:sp>
        <p:nvSpPr>
          <p:cNvPr id="45" name="Text 43"/>
          <p:cNvSpPr/>
          <p:nvPr/>
        </p:nvSpPr>
        <p:spPr>
          <a:xfrm>
            <a:off x="1009650" y="6248400"/>
            <a:ext cx="10496550" cy="247650"/>
          </a:xfrm>
          <a:prstGeom prst="rect">
            <a:avLst/>
          </a:prstGeom>
          <a:noFill/>
          <a:ln/>
        </p:spPr>
        <p:txBody>
          <a:bodyPr wrap="square" lIns="0" tIns="0" rIns="0" bIns="0" rtlCol="0" anchor="ctr"/>
          <a:lstStyle/>
          <a:p>
            <a:pPr algn="ctr">
              <a:lnSpc>
                <a:spcPct val="140000"/>
              </a:lnSpc>
            </a:pPr>
            <a:r>
              <a:rPr lang="en-US" sz="1200" b="1" dirty="0">
                <a:solidFill>
                  <a:srgbClr val="E0E2E5"/>
                </a:solidFill>
                <a:latin typeface="Noto Sans SC" pitchFamily="34" charset="0"/>
                <a:ea typeface="Noto Sans SC" pitchFamily="34" charset="-122"/>
                <a:cs typeface="Noto Sans SC" pitchFamily="34" charset="-120"/>
              </a:rPr>
              <a:t>核心结论：</a:t>
            </a:r>
            <a:r>
              <a:rPr lang="en-US" sz="1200" dirty="0">
                <a:solidFill>
                  <a:srgbClr val="E0E2E5"/>
                </a:solidFill>
                <a:latin typeface="Noto Sans SC" pitchFamily="34" charset="0"/>
                <a:ea typeface="Noto Sans SC" pitchFamily="34" charset="-122"/>
                <a:cs typeface="Noto Sans SC" pitchFamily="34" charset="-120"/>
              </a:rPr>
              <a:t>没有一个单一的算法能够统治所有推理场景，</a:t>
            </a:r>
            <a:r>
              <a:rPr lang="en-US" sz="1200" dirty="0">
                <a:solidFill>
                  <a:srgbClr val="C9A86A"/>
                </a:solidFill>
                <a:highlight>
                  <a:srgbClr val="C9A86A">
                    <a:alpha val="20000"/>
                  </a:srgbClr>
                </a:highlight>
                <a:latin typeface="Noto Sans SC" pitchFamily="34" charset="0"/>
                <a:ea typeface="Noto Sans SC" pitchFamily="34" charset="-122"/>
                <a:cs typeface="Noto Sans SC" pitchFamily="34" charset="-120"/>
              </a:rPr>
              <a:t> 基于任务特征和硬件约束的多维混合优化才是唯一的最优解 </a:t>
            </a:r>
            <a:r>
              <a:rPr lang="en-US" sz="1200" dirty="0">
                <a:solidFill>
                  <a:srgbClr val="E0E2E5"/>
                </a:solidFill>
                <a:latin typeface="Noto Sans SC" pitchFamily="34" charset="0"/>
                <a:ea typeface="Noto Sans SC" pitchFamily="34" charset="-122"/>
                <a:cs typeface="Noto Sans SC" pitchFamily="34" charset="-120"/>
              </a:rPr>
              <a:t>。</a:t>
            </a:r>
            <a:endParaRPr lang="en-US" sz="1600" dirty="0"/>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3D8B75"/>
                </a:solidFill>
                <a:latin typeface="MiSans" pitchFamily="34" charset="0"/>
                <a:ea typeface="MiSans" pitchFamily="34" charset="-122"/>
                <a:cs typeface="MiSans" pitchFamily="34" charset="-120"/>
              </a:rPr>
              <a:t>SCENARIO RECOMMENDATIONS</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0E2E5"/>
                </a:solidFill>
                <a:latin typeface="Noto Sans SC" pitchFamily="34" charset="0"/>
                <a:ea typeface="Noto Sans SC" pitchFamily="34" charset="-122"/>
                <a:cs typeface="Noto Sans SC" pitchFamily="34" charset="-120"/>
              </a:rPr>
              <a:t>典型场景与推荐方案</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zh-CN" altLang="en-US"/>
          </a:p>
        </p:txBody>
      </p:sp>
      <p:sp>
        <p:nvSpPr>
          <p:cNvPr id="5" name="Shape 3"/>
          <p:cNvSpPr/>
          <p:nvPr/>
        </p:nvSpPr>
        <p:spPr>
          <a:xfrm>
            <a:off x="385763" y="1376363"/>
            <a:ext cx="11420475" cy="4791075"/>
          </a:xfrm>
          <a:custGeom>
            <a:avLst/>
            <a:gdLst/>
            <a:ahLst/>
            <a:cxnLst/>
            <a:rect l="l" t="t" r="r" b="b"/>
            <a:pathLst>
              <a:path w="11420475" h="4791075">
                <a:moveTo>
                  <a:pt x="76178" y="0"/>
                </a:moveTo>
                <a:lnTo>
                  <a:pt x="11344297" y="0"/>
                </a:lnTo>
                <a:cubicBezTo>
                  <a:pt x="11386369" y="0"/>
                  <a:pt x="11420475" y="34106"/>
                  <a:pt x="11420475" y="76178"/>
                </a:cubicBezTo>
                <a:lnTo>
                  <a:pt x="11420475" y="4714897"/>
                </a:lnTo>
                <a:cubicBezTo>
                  <a:pt x="11420475" y="4756969"/>
                  <a:pt x="11386369" y="4791075"/>
                  <a:pt x="11344297" y="4791075"/>
                </a:cubicBezTo>
                <a:lnTo>
                  <a:pt x="76178" y="4791075"/>
                </a:lnTo>
                <a:cubicBezTo>
                  <a:pt x="34106" y="4791075"/>
                  <a:pt x="0" y="4756969"/>
                  <a:pt x="0" y="4714897"/>
                </a:cubicBezTo>
                <a:lnTo>
                  <a:pt x="0" y="76178"/>
                </a:lnTo>
                <a:cubicBezTo>
                  <a:pt x="0" y="34134"/>
                  <a:pt x="34134" y="0"/>
                  <a:pt x="76178" y="0"/>
                </a:cubicBezTo>
                <a:close/>
              </a:path>
            </a:pathLst>
          </a:custGeom>
          <a:solidFill>
            <a:srgbClr val="5F6B7A">
              <a:alpha val="5098"/>
            </a:srgbClr>
          </a:solidFill>
          <a:ln w="12700">
            <a:solidFill>
              <a:srgbClr val="5F6B7A">
                <a:alpha val="20000"/>
              </a:srgbClr>
            </a:solidFill>
            <a:prstDash val="solid"/>
          </a:ln>
        </p:spPr>
        <p:txBody>
          <a:bodyPr/>
          <a:lstStyle/>
          <a:p>
            <a:endParaRPr lang="zh-CN" altLang="en-US"/>
          </a:p>
        </p:txBody>
      </p:sp>
      <p:graphicFrame>
        <p:nvGraphicFramePr>
          <p:cNvPr id="34" name="Table 0"/>
          <p:cNvGraphicFramePr>
            <a:graphicFrameLocks noGrp="1"/>
          </p:cNvGraphicFramePr>
          <p:nvPr>
            <p:extLst>
              <p:ext uri="{D42A27DB-BD31-4B8C-83A1-F6EECF244321}">
                <p14:modId xmlns:p14="http://schemas.microsoft.com/office/powerpoint/2010/main" val="1268002749"/>
              </p:ext>
            </p:extLst>
          </p:nvPr>
        </p:nvGraphicFramePr>
        <p:xfrm>
          <a:off x="542925" y="1533525"/>
          <a:ext cx="11106150" cy="3790950"/>
        </p:xfrm>
        <a:graphic>
          <a:graphicData uri="http://schemas.openxmlformats.org/drawingml/2006/table">
            <a:tbl>
              <a:tblPr/>
              <a:tblGrid>
                <a:gridCol w="2505075">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gridCol w="3457575">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631825">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典型场景</a:t>
                      </a:r>
                      <a:endParaRPr lang="en-US" sz="13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核心瓶颈</a:t>
                      </a:r>
                      <a:endParaRPr lang="en-US" sz="13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3D8B75"/>
                          </a:solidFill>
                          <a:latin typeface="微软雅黑" pitchFamily="34" charset="0"/>
                          <a:ea typeface="微软雅黑" pitchFamily="34" charset="-122"/>
                          <a:cs typeface="微软雅黑" pitchFamily="34" charset="-120"/>
                        </a:rPr>
                        <a:t>推荐压缩组合</a:t>
                      </a:r>
                      <a:endParaRPr lang="en-US" sz="13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tc>
                  <a:txBody>
                    <a:bodyPr/>
                    <a:lstStyle/>
                    <a:p>
                      <a:pPr algn="ctr"/>
                      <a:r>
                        <a:rPr lang="en-US" sz="1300" b="1" u="none" dirty="0">
                          <a:solidFill>
                            <a:srgbClr val="3D8B75"/>
                          </a:solidFill>
                          <a:latin typeface="微软雅黑" pitchFamily="34" charset="0"/>
                          <a:ea typeface="微软雅黑" pitchFamily="34" charset="-122"/>
                          <a:cs typeface="微软雅黑" pitchFamily="34" charset="-120"/>
                        </a:rPr>
                        <a:t>预期收益</a:t>
                      </a:r>
                      <a:endParaRPr lang="en-US" sz="13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D8B75"/>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631825">
                <a:tc>
                  <a:txBody>
                    <a:bodyPr/>
                    <a:lstStyle/>
                    <a:p>
                      <a:r>
                        <a:rPr lang="en-US" sz="1200" u="none" dirty="0">
                          <a:solidFill>
                            <a:srgbClr val="E0E2E5"/>
                          </a:solidFill>
                          <a:latin typeface="微软雅黑" pitchFamily="34" charset="0"/>
                          <a:ea typeface="微软雅黑" pitchFamily="34" charset="-122"/>
                          <a:cs typeface="微软雅黑" pitchFamily="34" charset="-120"/>
                        </a:rPr>
                        <a:t>高并发短文本问答</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API 服务</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并发数 × 短序列的 KV 碎片化</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err="1">
                          <a:solidFill>
                            <a:srgbClr val="E0E2E5"/>
                          </a:solidFill>
                          <a:latin typeface="微软雅黑" pitchFamily="34" charset="0"/>
                          <a:ea typeface="微软雅黑" pitchFamily="34" charset="-122"/>
                          <a:cs typeface="微软雅黑" pitchFamily="34" charset="-120"/>
                        </a:rPr>
                        <a:t>PagedAttention</a:t>
                      </a:r>
                      <a:r>
                        <a:rPr lang="zh-CN" altLang="en-US" sz="1200" u="none" dirty="0">
                          <a:solidFill>
                            <a:schemeClr val="tx1"/>
                          </a:solidFill>
                          <a:latin typeface="微软雅黑" charset="0"/>
                          <a:ea typeface="微软雅黑" charset="0"/>
                          <a:cs typeface="微软雅黑" pitchFamily="34" charset="-120"/>
                        </a:rPr>
                        <a:t> </a:t>
                      </a:r>
                      <a:r>
                        <a:rPr lang="en-US" sz="1200" u="none" dirty="0">
                          <a:solidFill>
                            <a:srgbClr val="E0E2E5"/>
                          </a:solidFill>
                          <a:latin typeface="微软雅黑" pitchFamily="34" charset="0"/>
                          <a:ea typeface="微软雅黑" pitchFamily="34" charset="-122"/>
                          <a:cs typeface="微软雅黑" pitchFamily="34" charset="-120"/>
                        </a:rPr>
                        <a:t>+ Prefix Caching</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吞吐 2×–4×</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25400" cap="flat" cmpd="sng" algn="ctr">
                      <a:solidFill>
                        <a:srgbClr val="3D8B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631825">
                <a:tc>
                  <a:txBody>
                    <a:bodyPr/>
                    <a:lstStyle/>
                    <a:p>
                      <a:r>
                        <a:rPr lang="en-US" sz="1200" u="none" dirty="0">
                          <a:solidFill>
                            <a:srgbClr val="E0E2E5"/>
                          </a:solidFill>
                          <a:latin typeface="微软雅黑" pitchFamily="34" charset="0"/>
                          <a:ea typeface="微软雅黑" pitchFamily="34" charset="-122"/>
                          <a:cs typeface="微软雅黑" pitchFamily="34" charset="-120"/>
                        </a:rPr>
                        <a:t>长文档分析 / RAG</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1M context</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单个请求的序列长度</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Token Pruning</a:t>
                      </a:r>
                      <a:r>
                        <a:rPr lang="zh-CN" altLang="en-US" sz="1200" u="none" dirty="0">
                          <a:solidFill>
                            <a:schemeClr val="tx1"/>
                          </a:solidFill>
                          <a:latin typeface="微软雅黑" charset="0"/>
                          <a:ea typeface="微软雅黑" charset="0"/>
                          <a:cs typeface="微软雅黑" pitchFamily="34" charset="-120"/>
                        </a:rPr>
                        <a:t> </a:t>
                      </a:r>
                      <a:r>
                        <a:rPr lang="en-US" sz="1200" u="none" dirty="0">
                          <a:solidFill>
                            <a:srgbClr val="E0E2E5"/>
                          </a:solidFill>
                          <a:latin typeface="微软雅黑" pitchFamily="34" charset="0"/>
                          <a:ea typeface="微软雅黑" pitchFamily="34" charset="-122"/>
                          <a:cs typeface="微软雅黑" pitchFamily="34" charset="-120"/>
                        </a:rPr>
                        <a:t>+ 3-bit 量化</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显存 4×–8×</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631825">
                <a:tc>
                  <a:txBody>
                    <a:bodyPr/>
                    <a:lstStyle/>
                    <a:p>
                      <a:r>
                        <a:rPr lang="en-US" sz="1200" u="none" dirty="0">
                          <a:solidFill>
                            <a:srgbClr val="E0E2E5"/>
                          </a:solidFill>
                          <a:latin typeface="微软雅黑" pitchFamily="34" charset="0"/>
                          <a:ea typeface="微软雅黑" pitchFamily="34" charset="-122"/>
                          <a:cs typeface="微软雅黑" pitchFamily="34" charset="-120"/>
                        </a:rPr>
                        <a:t>多轮对话</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带长历史</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历史轮次累积的冷 KV</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Token Eviction</a:t>
                      </a:r>
                      <a:r>
                        <a:rPr lang="zh-CN" altLang="en-US" sz="1200" u="none" dirty="0">
                          <a:solidFill>
                            <a:schemeClr val="tx1"/>
                          </a:solidFill>
                          <a:latin typeface="微软雅黑" charset="0"/>
                          <a:ea typeface="微软雅黑" charset="0"/>
                          <a:cs typeface="微软雅黑" pitchFamily="34" charset="-120"/>
                        </a:rPr>
                        <a:t> </a:t>
                      </a:r>
                      <a:r>
                        <a:rPr lang="en-US" sz="1200" u="none" dirty="0">
                          <a:solidFill>
                            <a:srgbClr val="E0E2E5"/>
                          </a:solidFill>
                          <a:latin typeface="微软雅黑" pitchFamily="34" charset="0"/>
                          <a:ea typeface="微软雅黑" pitchFamily="34" charset="-122"/>
                          <a:cs typeface="微软雅黑" pitchFamily="34" charset="-120"/>
                        </a:rPr>
                        <a:t>+ CPU Offloading</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显存 3×–6×</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631825">
                <a:tc>
                  <a:txBody>
                    <a:bodyPr/>
                    <a:lstStyle/>
                    <a:p>
                      <a:r>
                        <a:rPr lang="en-US" sz="1200" u="none" dirty="0">
                          <a:solidFill>
                            <a:srgbClr val="E0E2E5"/>
                          </a:solidFill>
                          <a:latin typeface="微软雅黑" pitchFamily="34" charset="0"/>
                          <a:ea typeface="微软雅黑" pitchFamily="34" charset="-122"/>
                          <a:cs typeface="微软雅黑" pitchFamily="34" charset="-120"/>
                        </a:rPr>
                        <a:t>边缘 / 端侧部署</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总显存严格受限</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总显存严格受限</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200" u="none" dirty="0">
                          <a:solidFill>
                            <a:srgbClr val="E0E2E5"/>
                          </a:solidFill>
                          <a:latin typeface="微软雅黑" pitchFamily="34" charset="0"/>
                          <a:ea typeface="微软雅黑" pitchFamily="34" charset="-122"/>
                          <a:cs typeface="微软雅黑" pitchFamily="34" charset="-120"/>
                        </a:rPr>
                        <a:t>2-bit </a:t>
                      </a:r>
                      <a:r>
                        <a:rPr lang="en-US" sz="1200" u="none" dirty="0" err="1">
                          <a:solidFill>
                            <a:srgbClr val="E0E2E5"/>
                          </a:solidFill>
                          <a:latin typeface="微软雅黑" pitchFamily="34" charset="0"/>
                          <a:ea typeface="微软雅黑" pitchFamily="34" charset="-122"/>
                          <a:cs typeface="微软雅黑" pitchFamily="34" charset="-120"/>
                        </a:rPr>
                        <a:t>量化</a:t>
                      </a:r>
                      <a:r>
                        <a:rPr lang="zh-CN" altLang="en-US" sz="1200" u="none" dirty="0">
                          <a:solidFill>
                            <a:schemeClr val="tx1"/>
                          </a:solidFill>
                          <a:latin typeface="微软雅黑" charset="0"/>
                          <a:ea typeface="微软雅黑" charset="0"/>
                          <a:cs typeface="微软雅黑" pitchFamily="34" charset="-120"/>
                        </a:rPr>
                        <a:t> </a:t>
                      </a:r>
                      <a:r>
                        <a:rPr lang="en-US" sz="1200" u="none" dirty="0">
                          <a:solidFill>
                            <a:srgbClr val="E0E2E5"/>
                          </a:solidFill>
                          <a:latin typeface="微软雅黑" pitchFamily="34" charset="0"/>
                          <a:ea typeface="微软雅黑" pitchFamily="34" charset="-122"/>
                          <a:cs typeface="微软雅黑" pitchFamily="34" charset="-120"/>
                        </a:rPr>
                        <a:t>+ 跨层共享</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使大模型在端侧可运行</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631825">
                <a:tc>
                  <a:txBody>
                    <a:bodyPr/>
                    <a:lstStyle/>
                    <a:p>
                      <a:r>
                        <a:rPr lang="en-US" sz="1200" u="none" dirty="0">
                          <a:solidFill>
                            <a:srgbClr val="E0E2E5"/>
                          </a:solidFill>
                          <a:latin typeface="微软雅黑" pitchFamily="34" charset="0"/>
                          <a:ea typeface="微软雅黑" pitchFamily="34" charset="-122"/>
                          <a:cs typeface="微软雅黑" pitchFamily="34" charset="-120"/>
                        </a:rPr>
                        <a:t>多模型路由服务</a:t>
                      </a:r>
                      <a:endParaRPr lang="en-US" sz="1200" dirty="0">
                        <a:latin typeface="微软雅黑" charset="0"/>
                        <a:ea typeface="微软雅黑" charset="0"/>
                        <a:cs typeface="微软雅黑" charset="0"/>
                      </a:endParaRPr>
                    </a:p>
                    <a:p>
                      <a:r>
                        <a:rPr lang="en-US" sz="1200" u="none" dirty="0">
                          <a:solidFill>
                            <a:srgbClr val="E0E2E5"/>
                          </a:solidFill>
                          <a:latin typeface="微软雅黑" pitchFamily="34" charset="0"/>
                          <a:ea typeface="微软雅黑" pitchFamily="34" charset="-122"/>
                          <a:cs typeface="微软雅黑" pitchFamily="34" charset="-120"/>
                        </a:rPr>
                        <a:t>模型切换频繁</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000" u="none" dirty="0">
                          <a:solidFill>
                            <a:srgbClr val="E0E2E5"/>
                          </a:solidFill>
                          <a:latin typeface="微软雅黑" pitchFamily="34" charset="0"/>
                          <a:ea typeface="微软雅黑" pitchFamily="34" charset="-122"/>
                          <a:cs typeface="微软雅黑" pitchFamily="34" charset="-120"/>
                        </a:rPr>
                        <a:t>模型切换时 Cache 重建开销</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200" u="none" dirty="0" err="1">
                          <a:solidFill>
                            <a:srgbClr val="E0E2E5"/>
                          </a:solidFill>
                          <a:latin typeface="微软雅黑" pitchFamily="34" charset="0"/>
                          <a:ea typeface="微软雅黑" pitchFamily="34" charset="-122"/>
                          <a:cs typeface="微软雅黑" pitchFamily="34" charset="-120"/>
                        </a:rPr>
                        <a:t>统一低秩投影</a:t>
                      </a:r>
                      <a:r>
                        <a:rPr lang="zh-CN" altLang="en-US" sz="1200" u="none" dirty="0">
                          <a:solidFill>
                            <a:schemeClr val="tx1"/>
                          </a:solidFill>
                          <a:latin typeface="微软雅黑" charset="0"/>
                          <a:ea typeface="微软雅黑" charset="0"/>
                          <a:cs typeface="微软雅黑" pitchFamily="34" charset="-120"/>
                        </a:rPr>
                        <a:t> </a:t>
                      </a:r>
                      <a:r>
                        <a:rPr lang="en-US" sz="1200" u="none" dirty="0">
                          <a:solidFill>
                            <a:srgbClr val="E0E2E5"/>
                          </a:solidFill>
                          <a:latin typeface="微软雅黑" pitchFamily="34" charset="0"/>
                          <a:ea typeface="微软雅黑" pitchFamily="34" charset="-122"/>
                          <a:cs typeface="微软雅黑" pitchFamily="34" charset="-120"/>
                        </a:rPr>
                        <a:t>(Structure 层)</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pPr algn="ctr"/>
                      <a:r>
                        <a:rPr lang="en-US" sz="1200" u="none" dirty="0">
                          <a:solidFill>
                            <a:srgbClr val="E0E2E5"/>
                          </a:solidFill>
                          <a:latin typeface="微软雅黑" pitchFamily="34" charset="0"/>
                          <a:ea typeface="微软雅黑" pitchFamily="34" charset="-122"/>
                          <a:cs typeface="微软雅黑" pitchFamily="34" charset="-120"/>
                        </a:rPr>
                        <a:t>切换延迟显著降低</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5"/>
                  </a:ext>
                </a:extLst>
              </a:tr>
            </a:tbl>
          </a:graphicData>
        </a:graphic>
      </p:graphicFrame>
      <p:sp>
        <p:nvSpPr>
          <p:cNvPr id="7" name="Shape 4"/>
          <p:cNvSpPr/>
          <p:nvPr/>
        </p:nvSpPr>
        <p:spPr>
          <a:xfrm>
            <a:off x="400050" y="63150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E0E2E5">
              <a:alpha val="60000"/>
            </a:srgbClr>
          </a:solidFill>
          <a:ln/>
        </p:spPr>
        <p:txBody>
          <a:bodyPr/>
          <a:lstStyle/>
          <a:p>
            <a:endParaRPr lang="zh-CN" altLang="en-US"/>
          </a:p>
        </p:txBody>
      </p:sp>
      <p:sp>
        <p:nvSpPr>
          <p:cNvPr id="8" name="Text 5"/>
          <p:cNvSpPr/>
          <p:nvPr/>
        </p:nvSpPr>
        <p:spPr>
          <a:xfrm>
            <a:off x="581025" y="6286500"/>
            <a:ext cx="11296650" cy="190500"/>
          </a:xfrm>
          <a:prstGeom prst="rect">
            <a:avLst/>
          </a:prstGeom>
          <a:noFill/>
          <a:ln/>
        </p:spPr>
        <p:txBody>
          <a:bodyPr wrap="square" lIns="0" tIns="0" rIns="0" bIns="0" rtlCol="0" anchor="ctr"/>
          <a:lstStyle/>
          <a:p>
            <a:pPr>
              <a:lnSpc>
                <a:spcPct val="120000"/>
              </a:lnSpc>
            </a:pPr>
            <a:r>
              <a:rPr lang="en-US" sz="1050" dirty="0">
                <a:solidFill>
                  <a:srgbClr val="E0E2E5">
                    <a:alpha val="60000"/>
                  </a:srgbClr>
                </a:solidFill>
                <a:latin typeface="Noto Sans SC" pitchFamily="34" charset="0"/>
                <a:ea typeface="Noto Sans SC" pitchFamily="34" charset="-122"/>
                <a:cs typeface="Noto Sans SC" pitchFamily="34" charset="-120"/>
              </a:rPr>
              <a:t>以上推荐方案基于当前技术成熟度，实际部署时需根据具体模型、硬件和任务特性进行调优</a:t>
            </a:r>
            <a:endParaRPr lang="en-US" sz="1600" dirty="0"/>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kern="0" spc="100" dirty="0">
                <a:solidFill>
                  <a:srgbClr val="3D8B75"/>
                </a:solidFill>
                <a:latin typeface="MiSans" pitchFamily="34" charset="0"/>
                <a:ea typeface="MiSans" pitchFamily="34" charset="-122"/>
                <a:cs typeface="MiSans" pitchFamily="34" charset="-120"/>
              </a:rPr>
              <a:t>FUTURE OUTLOOK</a:t>
            </a:r>
            <a:endParaRPr lang="en-US" sz="1600" dirty="0"/>
          </a:p>
        </p:txBody>
      </p:sp>
      <p:sp>
        <p:nvSpPr>
          <p:cNvPr id="3" name="Text 1"/>
          <p:cNvSpPr/>
          <p:nvPr/>
        </p:nvSpPr>
        <p:spPr>
          <a:xfrm>
            <a:off x="317500" y="571500"/>
            <a:ext cx="11699875" cy="317500"/>
          </a:xfrm>
          <a:prstGeom prst="rect">
            <a:avLst/>
          </a:prstGeom>
          <a:noFill/>
          <a:ln/>
        </p:spPr>
        <p:txBody>
          <a:bodyPr wrap="square" lIns="0" tIns="0" rIns="0" bIns="0" rtlCol="0" anchor="ctr"/>
          <a:lstStyle/>
          <a:p>
            <a:pPr>
              <a:lnSpc>
                <a:spcPct val="90000"/>
              </a:lnSpc>
            </a:pPr>
            <a:r>
              <a:rPr lang="en-US" sz="2250" b="1" dirty="0">
                <a:solidFill>
                  <a:srgbClr val="E0E2E5"/>
                </a:solidFill>
                <a:latin typeface="Noto Sans SC" pitchFamily="34" charset="0"/>
                <a:ea typeface="Noto Sans SC" pitchFamily="34" charset="-122"/>
                <a:cs typeface="Noto Sans SC" pitchFamily="34" charset="-120"/>
              </a:rPr>
              <a:t>2026年关键信号与长远展望</a:t>
            </a:r>
            <a:endParaRPr lang="en-US" sz="1600" dirty="0"/>
          </a:p>
        </p:txBody>
      </p:sp>
      <p:sp>
        <p:nvSpPr>
          <p:cNvPr id="4" name="Shape 2"/>
          <p:cNvSpPr/>
          <p:nvPr/>
        </p:nvSpPr>
        <p:spPr>
          <a:xfrm>
            <a:off x="317500" y="98425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C9A86A"/>
          </a:solidFill>
          <a:ln/>
        </p:spPr>
        <p:txBody>
          <a:bodyPr/>
          <a:lstStyle/>
          <a:p>
            <a:endParaRPr lang="zh-CN" altLang="en-US"/>
          </a:p>
        </p:txBody>
      </p:sp>
      <p:sp>
        <p:nvSpPr>
          <p:cNvPr id="5" name="Shape 3"/>
          <p:cNvSpPr/>
          <p:nvPr/>
        </p:nvSpPr>
        <p:spPr>
          <a:xfrm>
            <a:off x="333375" y="1143000"/>
            <a:ext cx="11541125" cy="1746250"/>
          </a:xfrm>
          <a:custGeom>
            <a:avLst/>
            <a:gdLst/>
            <a:ahLst/>
            <a:cxnLst/>
            <a:rect l="l" t="t" r="r" b="b"/>
            <a:pathLst>
              <a:path w="11541125" h="1746250">
                <a:moveTo>
                  <a:pt x="31750" y="0"/>
                </a:moveTo>
                <a:lnTo>
                  <a:pt x="11477631" y="0"/>
                </a:lnTo>
                <a:cubicBezTo>
                  <a:pt x="11512698" y="0"/>
                  <a:pt x="11541125" y="28427"/>
                  <a:pt x="11541125" y="63494"/>
                </a:cubicBezTo>
                <a:lnTo>
                  <a:pt x="11541125" y="1682756"/>
                </a:lnTo>
                <a:cubicBezTo>
                  <a:pt x="11541125" y="1717823"/>
                  <a:pt x="11512698" y="1746250"/>
                  <a:pt x="11477631" y="1746250"/>
                </a:cubicBezTo>
                <a:lnTo>
                  <a:pt x="31750" y="1746250"/>
                </a:lnTo>
                <a:cubicBezTo>
                  <a:pt x="14215" y="1746250"/>
                  <a:pt x="0" y="1732035"/>
                  <a:pt x="0" y="1714500"/>
                </a:cubicBezTo>
                <a:lnTo>
                  <a:pt x="0" y="31750"/>
                </a:lnTo>
                <a:cubicBezTo>
                  <a:pt x="0" y="14227"/>
                  <a:pt x="14227" y="0"/>
                  <a:pt x="31750" y="0"/>
                </a:cubicBezTo>
                <a:close/>
              </a:path>
            </a:pathLst>
          </a:custGeom>
          <a:solidFill>
            <a:srgbClr val="3D8B75">
              <a:alpha val="10196"/>
            </a:srgbClr>
          </a:solidFill>
          <a:ln/>
        </p:spPr>
        <p:txBody>
          <a:bodyPr/>
          <a:lstStyle/>
          <a:p>
            <a:endParaRPr lang="zh-CN" altLang="en-US"/>
          </a:p>
        </p:txBody>
      </p:sp>
      <p:sp>
        <p:nvSpPr>
          <p:cNvPr id="6" name="Shape 4"/>
          <p:cNvSpPr/>
          <p:nvPr/>
        </p:nvSpPr>
        <p:spPr>
          <a:xfrm>
            <a:off x="333375" y="1143000"/>
            <a:ext cx="31750" cy="1746250"/>
          </a:xfrm>
          <a:custGeom>
            <a:avLst/>
            <a:gdLst/>
            <a:ahLst/>
            <a:cxnLst/>
            <a:rect l="l" t="t" r="r" b="b"/>
            <a:pathLst>
              <a:path w="31750" h="1746250">
                <a:moveTo>
                  <a:pt x="31750" y="0"/>
                </a:moveTo>
                <a:lnTo>
                  <a:pt x="31750" y="0"/>
                </a:lnTo>
                <a:lnTo>
                  <a:pt x="31750" y="1746250"/>
                </a:lnTo>
                <a:lnTo>
                  <a:pt x="31750" y="1746250"/>
                </a:lnTo>
                <a:cubicBezTo>
                  <a:pt x="14227" y="1746250"/>
                  <a:pt x="0" y="1732023"/>
                  <a:pt x="0" y="1714500"/>
                </a:cubicBezTo>
                <a:lnTo>
                  <a:pt x="0" y="31750"/>
                </a:lnTo>
                <a:cubicBezTo>
                  <a:pt x="0" y="14227"/>
                  <a:pt x="14227" y="0"/>
                  <a:pt x="31750" y="0"/>
                </a:cubicBezTo>
                <a:close/>
              </a:path>
            </a:pathLst>
          </a:custGeom>
          <a:solidFill>
            <a:srgbClr val="3D8B75"/>
          </a:solidFill>
          <a:ln/>
        </p:spPr>
        <p:txBody>
          <a:bodyPr/>
          <a:lstStyle/>
          <a:p>
            <a:endParaRPr lang="zh-CN" altLang="en-US"/>
          </a:p>
        </p:txBody>
      </p:sp>
      <p:sp>
        <p:nvSpPr>
          <p:cNvPr id="7" name="Shape 5"/>
          <p:cNvSpPr/>
          <p:nvPr/>
        </p:nvSpPr>
        <p:spPr>
          <a:xfrm>
            <a:off x="527844" y="1333500"/>
            <a:ext cx="158750" cy="158750"/>
          </a:xfrm>
          <a:custGeom>
            <a:avLst/>
            <a:gdLst/>
            <a:ahLst/>
            <a:cxnLst/>
            <a:rect l="l" t="t" r="r" b="b"/>
            <a:pathLst>
              <a:path w="158750" h="158750">
                <a:moveTo>
                  <a:pt x="39688" y="9922"/>
                </a:moveTo>
                <a:lnTo>
                  <a:pt x="49609" y="9922"/>
                </a:lnTo>
                <a:cubicBezTo>
                  <a:pt x="55097" y="9922"/>
                  <a:pt x="59531" y="14356"/>
                  <a:pt x="59531" y="19844"/>
                </a:cubicBezTo>
                <a:lnTo>
                  <a:pt x="59531" y="29766"/>
                </a:lnTo>
                <a:lnTo>
                  <a:pt x="29766" y="29766"/>
                </a:lnTo>
                <a:lnTo>
                  <a:pt x="29766" y="19844"/>
                </a:lnTo>
                <a:cubicBezTo>
                  <a:pt x="29766" y="14356"/>
                  <a:pt x="34199" y="9922"/>
                  <a:pt x="39688" y="9922"/>
                </a:cubicBezTo>
                <a:close/>
                <a:moveTo>
                  <a:pt x="59531" y="39688"/>
                </a:moveTo>
                <a:lnTo>
                  <a:pt x="59531" y="138906"/>
                </a:lnTo>
                <a:cubicBezTo>
                  <a:pt x="59531" y="144394"/>
                  <a:pt x="55097" y="148828"/>
                  <a:pt x="49609" y="148828"/>
                </a:cubicBezTo>
                <a:lnTo>
                  <a:pt x="9922" y="148828"/>
                </a:lnTo>
                <a:cubicBezTo>
                  <a:pt x="4434" y="148828"/>
                  <a:pt x="0" y="144394"/>
                  <a:pt x="0" y="138906"/>
                </a:cubicBezTo>
                <a:lnTo>
                  <a:pt x="0" y="120582"/>
                </a:lnTo>
                <a:cubicBezTo>
                  <a:pt x="0" y="109854"/>
                  <a:pt x="2915" y="99312"/>
                  <a:pt x="8434" y="90103"/>
                </a:cubicBezTo>
                <a:cubicBezTo>
                  <a:pt x="12681" y="83034"/>
                  <a:pt x="15410" y="75158"/>
                  <a:pt x="16433" y="66973"/>
                </a:cubicBezTo>
                <a:lnTo>
                  <a:pt x="18759" y="48369"/>
                </a:lnTo>
                <a:cubicBezTo>
                  <a:pt x="19379" y="43408"/>
                  <a:pt x="23595" y="39688"/>
                  <a:pt x="28618" y="39688"/>
                </a:cubicBezTo>
                <a:lnTo>
                  <a:pt x="59562" y="39688"/>
                </a:lnTo>
                <a:close/>
                <a:moveTo>
                  <a:pt x="130163" y="39688"/>
                </a:moveTo>
                <a:cubicBezTo>
                  <a:pt x="135155" y="39688"/>
                  <a:pt x="139402" y="43408"/>
                  <a:pt x="140022" y="48369"/>
                </a:cubicBezTo>
                <a:lnTo>
                  <a:pt x="142317" y="66973"/>
                </a:lnTo>
                <a:cubicBezTo>
                  <a:pt x="143340" y="75158"/>
                  <a:pt x="146069" y="83034"/>
                  <a:pt x="150316" y="90103"/>
                </a:cubicBezTo>
                <a:cubicBezTo>
                  <a:pt x="155835" y="99312"/>
                  <a:pt x="158750" y="109854"/>
                  <a:pt x="158750" y="120582"/>
                </a:cubicBezTo>
                <a:lnTo>
                  <a:pt x="158750" y="138906"/>
                </a:lnTo>
                <a:cubicBezTo>
                  <a:pt x="158750" y="144394"/>
                  <a:pt x="154316" y="148828"/>
                  <a:pt x="148828" y="148828"/>
                </a:cubicBezTo>
                <a:lnTo>
                  <a:pt x="109141" y="148828"/>
                </a:lnTo>
                <a:cubicBezTo>
                  <a:pt x="103653" y="148828"/>
                  <a:pt x="99219" y="144394"/>
                  <a:pt x="99219" y="138906"/>
                </a:cubicBezTo>
                <a:lnTo>
                  <a:pt x="99219" y="39688"/>
                </a:lnTo>
                <a:lnTo>
                  <a:pt x="130163" y="39688"/>
                </a:lnTo>
                <a:close/>
                <a:moveTo>
                  <a:pt x="99219" y="19844"/>
                </a:moveTo>
                <a:cubicBezTo>
                  <a:pt x="99219" y="14356"/>
                  <a:pt x="103653" y="9922"/>
                  <a:pt x="109141" y="9922"/>
                </a:cubicBezTo>
                <a:lnTo>
                  <a:pt x="119062" y="9922"/>
                </a:lnTo>
                <a:cubicBezTo>
                  <a:pt x="124551" y="9922"/>
                  <a:pt x="128984" y="14356"/>
                  <a:pt x="128984" y="19844"/>
                </a:cubicBezTo>
                <a:lnTo>
                  <a:pt x="128984" y="29766"/>
                </a:lnTo>
                <a:lnTo>
                  <a:pt x="99219" y="29766"/>
                </a:lnTo>
                <a:lnTo>
                  <a:pt x="99219" y="19844"/>
                </a:lnTo>
                <a:close/>
                <a:moveTo>
                  <a:pt x="89297" y="39688"/>
                </a:moveTo>
                <a:lnTo>
                  <a:pt x="89297" y="89297"/>
                </a:lnTo>
                <a:lnTo>
                  <a:pt x="69453" y="89297"/>
                </a:lnTo>
                <a:lnTo>
                  <a:pt x="69453" y="39688"/>
                </a:lnTo>
                <a:lnTo>
                  <a:pt x="89297" y="39688"/>
                </a:lnTo>
                <a:close/>
              </a:path>
            </a:pathLst>
          </a:custGeom>
          <a:solidFill>
            <a:srgbClr val="3D8B75"/>
          </a:solidFill>
          <a:ln/>
        </p:spPr>
        <p:txBody>
          <a:bodyPr/>
          <a:lstStyle/>
          <a:p>
            <a:endParaRPr lang="zh-CN" altLang="en-US"/>
          </a:p>
        </p:txBody>
      </p:sp>
      <p:sp>
        <p:nvSpPr>
          <p:cNvPr id="8" name="Text 6"/>
          <p:cNvSpPr/>
          <p:nvPr/>
        </p:nvSpPr>
        <p:spPr>
          <a:xfrm>
            <a:off x="706438" y="1301750"/>
            <a:ext cx="11088688"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2026年值得重点关注的关键信号</a:t>
            </a:r>
            <a:endParaRPr lang="en-US" sz="1600" dirty="0"/>
          </a:p>
        </p:txBody>
      </p:sp>
      <p:sp>
        <p:nvSpPr>
          <p:cNvPr id="9" name="Shape 7"/>
          <p:cNvSpPr/>
          <p:nvPr/>
        </p:nvSpPr>
        <p:spPr>
          <a:xfrm>
            <a:off x="508000" y="1651000"/>
            <a:ext cx="3651250" cy="1079500"/>
          </a:xfrm>
          <a:custGeom>
            <a:avLst/>
            <a:gdLst/>
            <a:ahLst/>
            <a:cxnLst/>
            <a:rect l="l" t="t" r="r" b="b"/>
            <a:pathLst>
              <a:path w="3651250" h="1079500">
                <a:moveTo>
                  <a:pt x="63496" y="0"/>
                </a:moveTo>
                <a:lnTo>
                  <a:pt x="3587754" y="0"/>
                </a:lnTo>
                <a:cubicBezTo>
                  <a:pt x="3622822" y="0"/>
                  <a:pt x="3651250" y="28428"/>
                  <a:pt x="3651250" y="63496"/>
                </a:cubicBezTo>
                <a:lnTo>
                  <a:pt x="3651250" y="1016004"/>
                </a:lnTo>
                <a:cubicBezTo>
                  <a:pt x="3651250" y="1051072"/>
                  <a:pt x="3622822" y="1079500"/>
                  <a:pt x="3587754" y="1079500"/>
                </a:cubicBezTo>
                <a:lnTo>
                  <a:pt x="63496" y="1079500"/>
                </a:lnTo>
                <a:cubicBezTo>
                  <a:pt x="28428" y="1079500"/>
                  <a:pt x="0" y="1051072"/>
                  <a:pt x="0" y="1016004"/>
                </a:cubicBezTo>
                <a:lnTo>
                  <a:pt x="0" y="63496"/>
                </a:lnTo>
                <a:cubicBezTo>
                  <a:pt x="0" y="28452"/>
                  <a:pt x="28452" y="0"/>
                  <a:pt x="63496" y="0"/>
                </a:cubicBezTo>
                <a:close/>
              </a:path>
            </a:pathLst>
          </a:custGeom>
          <a:solidFill>
            <a:srgbClr val="1A1D21">
              <a:alpha val="50196"/>
            </a:srgbClr>
          </a:solidFill>
          <a:ln/>
        </p:spPr>
        <p:txBody>
          <a:bodyPr/>
          <a:lstStyle/>
          <a:p>
            <a:endParaRPr lang="zh-CN" altLang="en-US"/>
          </a:p>
        </p:txBody>
      </p:sp>
      <p:sp>
        <p:nvSpPr>
          <p:cNvPr id="10" name="Shape 8"/>
          <p:cNvSpPr/>
          <p:nvPr/>
        </p:nvSpPr>
        <p:spPr>
          <a:xfrm>
            <a:off x="635000" y="177800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3D8B75"/>
          </a:solidFill>
          <a:ln/>
        </p:spPr>
        <p:txBody>
          <a:bodyPr/>
          <a:lstStyle/>
          <a:p>
            <a:endParaRPr lang="zh-CN" altLang="en-US"/>
          </a:p>
        </p:txBody>
      </p:sp>
      <p:sp>
        <p:nvSpPr>
          <p:cNvPr id="11" name="Text 9"/>
          <p:cNvSpPr/>
          <p:nvPr/>
        </p:nvSpPr>
        <p:spPr>
          <a:xfrm>
            <a:off x="729568" y="1841500"/>
            <a:ext cx="190500"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Noto Sans SC" pitchFamily="34" charset="0"/>
                <a:ea typeface="Noto Sans SC" pitchFamily="34" charset="-122"/>
                <a:cs typeface="Noto Sans SC" pitchFamily="34" charset="-120"/>
              </a:rPr>
              <a:t>01</a:t>
            </a:r>
            <a:endParaRPr lang="en-US" sz="1600" dirty="0"/>
          </a:p>
        </p:txBody>
      </p:sp>
      <p:sp>
        <p:nvSpPr>
          <p:cNvPr id="12" name="Text 10"/>
          <p:cNvSpPr/>
          <p:nvPr/>
        </p:nvSpPr>
        <p:spPr>
          <a:xfrm>
            <a:off x="1047750" y="1841500"/>
            <a:ext cx="10795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极低比特量化落地</a:t>
            </a:r>
            <a:endParaRPr lang="en-US" sz="1600" dirty="0"/>
          </a:p>
        </p:txBody>
      </p:sp>
      <p:sp>
        <p:nvSpPr>
          <p:cNvPr id="13" name="Text 11"/>
          <p:cNvSpPr/>
          <p:nvPr/>
        </p:nvSpPr>
        <p:spPr>
          <a:xfrm>
            <a:off x="635000" y="2190750"/>
            <a:ext cx="3460750" cy="412750"/>
          </a:xfrm>
          <a:prstGeom prst="rect">
            <a:avLst/>
          </a:prstGeom>
          <a:noFill/>
          <a:ln/>
        </p:spPr>
        <p:txBody>
          <a:bodyPr wrap="square" lIns="0" tIns="0" rIns="0" bIns="0" rtlCol="0" anchor="ctr"/>
          <a:lstStyle/>
          <a:p>
            <a:pPr>
              <a:lnSpc>
                <a:spcPct val="140000"/>
              </a:lnSpc>
            </a:pPr>
            <a:r>
              <a:rPr lang="en-US" sz="1000" b="1" dirty="0">
                <a:solidFill>
                  <a:srgbClr val="3D8B75"/>
                </a:solidFill>
                <a:latin typeface="Noto Sans SC" pitchFamily="34" charset="0"/>
                <a:ea typeface="Noto Sans SC" pitchFamily="34" charset="-122"/>
                <a:cs typeface="Noto Sans SC" pitchFamily="34" charset="-120"/>
              </a:rPr>
              <a:t>TurboQuant</a:t>
            </a:r>
            <a:r>
              <a:rPr lang="en-US" sz="1000" dirty="0">
                <a:solidFill>
                  <a:srgbClr val="E0E2E5">
                    <a:alpha val="80000"/>
                  </a:srgbClr>
                </a:solidFill>
                <a:latin typeface="Noto Sans SC" pitchFamily="34" charset="0"/>
                <a:ea typeface="Noto Sans SC" pitchFamily="34" charset="-122"/>
                <a:cs typeface="Noto Sans SC" pitchFamily="34" charset="-120"/>
              </a:rPr>
              <a:t> 等方案能否在多样化下游任务中大规模落地？3-bit 是否已逼近实用极限？</a:t>
            </a:r>
            <a:endParaRPr lang="en-US" sz="1600" dirty="0"/>
          </a:p>
        </p:txBody>
      </p:sp>
      <p:sp>
        <p:nvSpPr>
          <p:cNvPr id="14" name="Shape 12"/>
          <p:cNvSpPr/>
          <p:nvPr/>
        </p:nvSpPr>
        <p:spPr>
          <a:xfrm>
            <a:off x="4286250" y="1651000"/>
            <a:ext cx="3651250" cy="1079500"/>
          </a:xfrm>
          <a:custGeom>
            <a:avLst/>
            <a:gdLst/>
            <a:ahLst/>
            <a:cxnLst/>
            <a:rect l="l" t="t" r="r" b="b"/>
            <a:pathLst>
              <a:path w="3651250" h="1079500">
                <a:moveTo>
                  <a:pt x="63496" y="0"/>
                </a:moveTo>
                <a:lnTo>
                  <a:pt x="3587754" y="0"/>
                </a:lnTo>
                <a:cubicBezTo>
                  <a:pt x="3622822" y="0"/>
                  <a:pt x="3651250" y="28428"/>
                  <a:pt x="3651250" y="63496"/>
                </a:cubicBezTo>
                <a:lnTo>
                  <a:pt x="3651250" y="1016004"/>
                </a:lnTo>
                <a:cubicBezTo>
                  <a:pt x="3651250" y="1051072"/>
                  <a:pt x="3622822" y="1079500"/>
                  <a:pt x="3587754" y="1079500"/>
                </a:cubicBezTo>
                <a:lnTo>
                  <a:pt x="63496" y="1079500"/>
                </a:lnTo>
                <a:cubicBezTo>
                  <a:pt x="28428" y="1079500"/>
                  <a:pt x="0" y="1051072"/>
                  <a:pt x="0" y="1016004"/>
                </a:cubicBezTo>
                <a:lnTo>
                  <a:pt x="0" y="63496"/>
                </a:lnTo>
                <a:cubicBezTo>
                  <a:pt x="0" y="28452"/>
                  <a:pt x="28452" y="0"/>
                  <a:pt x="63496" y="0"/>
                </a:cubicBezTo>
                <a:close/>
              </a:path>
            </a:pathLst>
          </a:custGeom>
          <a:solidFill>
            <a:srgbClr val="1A1D21">
              <a:alpha val="50196"/>
            </a:srgbClr>
          </a:solidFill>
          <a:ln/>
        </p:spPr>
        <p:txBody>
          <a:bodyPr/>
          <a:lstStyle/>
          <a:p>
            <a:endParaRPr lang="zh-CN" altLang="en-US"/>
          </a:p>
        </p:txBody>
      </p:sp>
      <p:sp>
        <p:nvSpPr>
          <p:cNvPr id="15" name="Shape 13"/>
          <p:cNvSpPr/>
          <p:nvPr/>
        </p:nvSpPr>
        <p:spPr>
          <a:xfrm>
            <a:off x="4413250" y="177800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C9A86A"/>
          </a:solidFill>
          <a:ln/>
        </p:spPr>
        <p:txBody>
          <a:bodyPr/>
          <a:lstStyle/>
          <a:p>
            <a:endParaRPr lang="zh-CN" altLang="en-US"/>
          </a:p>
        </p:txBody>
      </p:sp>
      <p:sp>
        <p:nvSpPr>
          <p:cNvPr id="16" name="Text 14"/>
          <p:cNvSpPr/>
          <p:nvPr/>
        </p:nvSpPr>
        <p:spPr>
          <a:xfrm>
            <a:off x="4495788" y="1841500"/>
            <a:ext cx="214313"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Noto Sans SC" pitchFamily="34" charset="0"/>
                <a:ea typeface="Noto Sans SC" pitchFamily="34" charset="-122"/>
                <a:cs typeface="Noto Sans SC" pitchFamily="34" charset="-120"/>
              </a:rPr>
              <a:t>02</a:t>
            </a:r>
            <a:endParaRPr lang="en-US" sz="1600" dirty="0"/>
          </a:p>
        </p:txBody>
      </p:sp>
      <p:sp>
        <p:nvSpPr>
          <p:cNvPr id="17" name="Text 15"/>
          <p:cNvSpPr/>
          <p:nvPr/>
        </p:nvSpPr>
        <p:spPr>
          <a:xfrm>
            <a:off x="4826000" y="1841500"/>
            <a:ext cx="9525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低秩方法工程化</a:t>
            </a:r>
            <a:endParaRPr lang="en-US" sz="1600" dirty="0"/>
          </a:p>
        </p:txBody>
      </p:sp>
      <p:sp>
        <p:nvSpPr>
          <p:cNvPr id="18" name="Text 16"/>
          <p:cNvSpPr/>
          <p:nvPr/>
        </p:nvSpPr>
        <p:spPr>
          <a:xfrm>
            <a:off x="4413250" y="2190750"/>
            <a:ext cx="3460750" cy="412750"/>
          </a:xfrm>
          <a:prstGeom prst="rect">
            <a:avLst/>
          </a:prstGeom>
          <a:noFill/>
          <a:ln/>
        </p:spPr>
        <p:txBody>
          <a:bodyPr wrap="square" lIns="0" tIns="0" rIns="0" bIns="0" rtlCol="0" anchor="ctr"/>
          <a:lstStyle/>
          <a:p>
            <a:pPr>
              <a:lnSpc>
                <a:spcPct val="140000"/>
              </a:lnSpc>
            </a:pPr>
            <a:r>
              <a:rPr lang="en-US" sz="1000" b="1" dirty="0">
                <a:solidFill>
                  <a:srgbClr val="C9A86A"/>
                </a:solidFill>
                <a:latin typeface="Noto Sans SC" pitchFamily="34" charset="0"/>
                <a:ea typeface="Noto Sans SC" pitchFamily="34" charset="-122"/>
                <a:cs typeface="Noto Sans SC" pitchFamily="34" charset="-120"/>
              </a:rPr>
              <a:t>跨层 SVD</a:t>
            </a:r>
            <a:r>
              <a:rPr lang="en-US" sz="1000" dirty="0">
                <a:solidFill>
                  <a:srgbClr val="E0E2E5">
                    <a:alpha val="80000"/>
                  </a:srgbClr>
                </a:solidFill>
                <a:latin typeface="Noto Sans SC" pitchFamily="34" charset="0"/>
                <a:ea typeface="Noto Sans SC" pitchFamily="34" charset="-122"/>
                <a:cs typeface="Noto Sans SC" pitchFamily="34" charset="-120"/>
              </a:rPr>
              <a:t> 方法能否跨越矩阵重构计算开销的工程门槛，真正走向生产线？</a:t>
            </a:r>
            <a:endParaRPr lang="en-US" sz="1600" dirty="0"/>
          </a:p>
        </p:txBody>
      </p:sp>
      <p:sp>
        <p:nvSpPr>
          <p:cNvPr id="19" name="Shape 17"/>
          <p:cNvSpPr/>
          <p:nvPr/>
        </p:nvSpPr>
        <p:spPr>
          <a:xfrm>
            <a:off x="8064500" y="1651000"/>
            <a:ext cx="3651250" cy="1079500"/>
          </a:xfrm>
          <a:custGeom>
            <a:avLst/>
            <a:gdLst/>
            <a:ahLst/>
            <a:cxnLst/>
            <a:rect l="l" t="t" r="r" b="b"/>
            <a:pathLst>
              <a:path w="3651250" h="1079500">
                <a:moveTo>
                  <a:pt x="63496" y="0"/>
                </a:moveTo>
                <a:lnTo>
                  <a:pt x="3587754" y="0"/>
                </a:lnTo>
                <a:cubicBezTo>
                  <a:pt x="3622822" y="0"/>
                  <a:pt x="3651250" y="28428"/>
                  <a:pt x="3651250" y="63496"/>
                </a:cubicBezTo>
                <a:lnTo>
                  <a:pt x="3651250" y="1016004"/>
                </a:lnTo>
                <a:cubicBezTo>
                  <a:pt x="3651250" y="1051072"/>
                  <a:pt x="3622822" y="1079500"/>
                  <a:pt x="3587754" y="1079500"/>
                </a:cubicBezTo>
                <a:lnTo>
                  <a:pt x="63496" y="1079500"/>
                </a:lnTo>
                <a:cubicBezTo>
                  <a:pt x="28428" y="1079500"/>
                  <a:pt x="0" y="1051072"/>
                  <a:pt x="0" y="1016004"/>
                </a:cubicBezTo>
                <a:lnTo>
                  <a:pt x="0" y="63496"/>
                </a:lnTo>
                <a:cubicBezTo>
                  <a:pt x="0" y="28452"/>
                  <a:pt x="28452" y="0"/>
                  <a:pt x="63496" y="0"/>
                </a:cubicBezTo>
                <a:close/>
              </a:path>
            </a:pathLst>
          </a:custGeom>
          <a:solidFill>
            <a:srgbClr val="1A1D21">
              <a:alpha val="50196"/>
            </a:srgbClr>
          </a:solidFill>
          <a:ln/>
        </p:spPr>
        <p:txBody>
          <a:bodyPr/>
          <a:lstStyle/>
          <a:p>
            <a:endParaRPr lang="zh-CN" altLang="en-US"/>
          </a:p>
        </p:txBody>
      </p:sp>
      <p:sp>
        <p:nvSpPr>
          <p:cNvPr id="20" name="Shape 18"/>
          <p:cNvSpPr/>
          <p:nvPr/>
        </p:nvSpPr>
        <p:spPr>
          <a:xfrm>
            <a:off x="8191500" y="177800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5F6B7A"/>
          </a:solidFill>
          <a:ln/>
        </p:spPr>
        <p:txBody>
          <a:bodyPr/>
          <a:lstStyle/>
          <a:p>
            <a:endParaRPr lang="zh-CN" altLang="en-US"/>
          </a:p>
        </p:txBody>
      </p:sp>
      <p:sp>
        <p:nvSpPr>
          <p:cNvPr id="21" name="Text 19"/>
          <p:cNvSpPr/>
          <p:nvPr/>
        </p:nvSpPr>
        <p:spPr>
          <a:xfrm>
            <a:off x="8274038" y="1841500"/>
            <a:ext cx="214313"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Noto Sans SC" pitchFamily="34" charset="0"/>
                <a:ea typeface="Noto Sans SC" pitchFamily="34" charset="-122"/>
                <a:cs typeface="Noto Sans SC" pitchFamily="34" charset="-120"/>
              </a:rPr>
              <a:t>03</a:t>
            </a:r>
            <a:endParaRPr lang="en-US" sz="1600" dirty="0"/>
          </a:p>
        </p:txBody>
      </p:sp>
      <p:sp>
        <p:nvSpPr>
          <p:cNvPr id="22" name="Text 20"/>
          <p:cNvSpPr/>
          <p:nvPr/>
        </p:nvSpPr>
        <p:spPr>
          <a:xfrm>
            <a:off x="8604250" y="1841500"/>
            <a:ext cx="6985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评测标准化</a:t>
            </a:r>
            <a:endParaRPr lang="en-US" sz="1600" dirty="0"/>
          </a:p>
        </p:txBody>
      </p:sp>
      <p:sp>
        <p:nvSpPr>
          <p:cNvPr id="23" name="Text 21"/>
          <p:cNvSpPr/>
          <p:nvPr/>
        </p:nvSpPr>
        <p:spPr>
          <a:xfrm>
            <a:off x="8191500" y="2190750"/>
            <a:ext cx="3460750" cy="412750"/>
          </a:xfrm>
          <a:prstGeom prst="rect">
            <a:avLst/>
          </a:prstGeom>
          <a:noFill/>
          <a:ln/>
        </p:spPr>
        <p:txBody>
          <a:bodyPr wrap="square" lIns="0" tIns="0" rIns="0" bIns="0" rtlCol="0" anchor="ctr"/>
          <a:lstStyle/>
          <a:p>
            <a:pPr>
              <a:lnSpc>
                <a:spcPct val="140000"/>
              </a:lnSpc>
            </a:pPr>
            <a:r>
              <a:rPr lang="en-US" sz="1000" b="1" dirty="0">
                <a:solidFill>
                  <a:srgbClr val="5F6B7A"/>
                </a:solidFill>
                <a:latin typeface="Noto Sans SC" pitchFamily="34" charset="0"/>
                <a:ea typeface="Noto Sans SC" pitchFamily="34" charset="-122"/>
                <a:cs typeface="Noto Sans SC" pitchFamily="34" charset="-120"/>
              </a:rPr>
              <a:t>KV-CoRE</a:t>
            </a:r>
            <a:r>
              <a:rPr lang="en-US" sz="1000" dirty="0">
                <a:solidFill>
                  <a:srgbClr val="E0E2E5">
                    <a:alpha val="80000"/>
                  </a:srgbClr>
                </a:solidFill>
                <a:latin typeface="Noto Sans SC" pitchFamily="34" charset="0"/>
                <a:ea typeface="Noto Sans SC" pitchFamily="34" charset="-122"/>
                <a:cs typeface="Noto Sans SC" pitchFamily="34" charset="-120"/>
              </a:rPr>
              <a:t> 等评测基准能否真正推动行业的横向评测标准化？</a:t>
            </a:r>
            <a:endParaRPr lang="en-US" sz="1600" dirty="0"/>
          </a:p>
        </p:txBody>
      </p:sp>
      <p:sp>
        <p:nvSpPr>
          <p:cNvPr id="24" name="Shape 22"/>
          <p:cNvSpPr/>
          <p:nvPr/>
        </p:nvSpPr>
        <p:spPr>
          <a:xfrm>
            <a:off x="333375" y="2953190"/>
            <a:ext cx="5699125" cy="3333750"/>
          </a:xfrm>
          <a:custGeom>
            <a:avLst/>
            <a:gdLst/>
            <a:ahLst/>
            <a:cxnLst/>
            <a:rect l="l" t="t" r="r" b="b"/>
            <a:pathLst>
              <a:path w="5699125" h="3333750">
                <a:moveTo>
                  <a:pt x="31750" y="0"/>
                </a:moveTo>
                <a:lnTo>
                  <a:pt x="5635617" y="0"/>
                </a:lnTo>
                <a:cubicBezTo>
                  <a:pt x="5670692" y="0"/>
                  <a:pt x="5699125" y="28433"/>
                  <a:pt x="5699125" y="63508"/>
                </a:cubicBezTo>
                <a:lnTo>
                  <a:pt x="5699125" y="3270242"/>
                </a:lnTo>
                <a:cubicBezTo>
                  <a:pt x="5699125" y="3305317"/>
                  <a:pt x="5670692" y="3333750"/>
                  <a:pt x="5635617" y="3333750"/>
                </a:cubicBezTo>
                <a:lnTo>
                  <a:pt x="31750" y="3333750"/>
                </a:lnTo>
                <a:cubicBezTo>
                  <a:pt x="14215" y="3333750"/>
                  <a:pt x="0" y="3319535"/>
                  <a:pt x="0" y="3302000"/>
                </a:cubicBezTo>
                <a:lnTo>
                  <a:pt x="0" y="31750"/>
                </a:lnTo>
                <a:cubicBezTo>
                  <a:pt x="0" y="14227"/>
                  <a:pt x="14227" y="0"/>
                  <a:pt x="31750" y="0"/>
                </a:cubicBezTo>
                <a:close/>
              </a:path>
            </a:pathLst>
          </a:custGeom>
          <a:solidFill>
            <a:srgbClr val="C9A86A">
              <a:alpha val="10196"/>
            </a:srgbClr>
          </a:solidFill>
          <a:ln/>
        </p:spPr>
        <p:txBody>
          <a:bodyPr/>
          <a:lstStyle/>
          <a:p>
            <a:endParaRPr lang="zh-CN" altLang="en-US"/>
          </a:p>
        </p:txBody>
      </p:sp>
      <p:sp>
        <p:nvSpPr>
          <p:cNvPr id="25" name="Shape 23"/>
          <p:cNvSpPr/>
          <p:nvPr/>
        </p:nvSpPr>
        <p:spPr>
          <a:xfrm>
            <a:off x="333375" y="2953190"/>
            <a:ext cx="31750" cy="3333750"/>
          </a:xfrm>
          <a:custGeom>
            <a:avLst/>
            <a:gdLst/>
            <a:ahLst/>
            <a:cxnLst/>
            <a:rect l="l" t="t" r="r" b="b"/>
            <a:pathLst>
              <a:path w="31750" h="3333750">
                <a:moveTo>
                  <a:pt x="31750" y="0"/>
                </a:moveTo>
                <a:lnTo>
                  <a:pt x="31750" y="0"/>
                </a:lnTo>
                <a:lnTo>
                  <a:pt x="31750" y="3333750"/>
                </a:lnTo>
                <a:lnTo>
                  <a:pt x="31750" y="3333750"/>
                </a:lnTo>
                <a:cubicBezTo>
                  <a:pt x="14227" y="3333750"/>
                  <a:pt x="0" y="3319523"/>
                  <a:pt x="0" y="3302000"/>
                </a:cubicBezTo>
                <a:lnTo>
                  <a:pt x="0" y="31750"/>
                </a:lnTo>
                <a:cubicBezTo>
                  <a:pt x="0" y="14227"/>
                  <a:pt x="14227" y="0"/>
                  <a:pt x="31750" y="0"/>
                </a:cubicBezTo>
                <a:close/>
              </a:path>
            </a:pathLst>
          </a:custGeom>
          <a:solidFill>
            <a:srgbClr val="C9A86A"/>
          </a:solidFill>
          <a:ln/>
        </p:spPr>
        <p:txBody>
          <a:bodyPr/>
          <a:lstStyle/>
          <a:p>
            <a:endParaRPr lang="zh-CN" altLang="en-US"/>
          </a:p>
        </p:txBody>
      </p:sp>
      <p:sp>
        <p:nvSpPr>
          <p:cNvPr id="26" name="Shape 24"/>
          <p:cNvSpPr/>
          <p:nvPr/>
        </p:nvSpPr>
        <p:spPr>
          <a:xfrm>
            <a:off x="517922" y="3143690"/>
            <a:ext cx="178594" cy="158750"/>
          </a:xfrm>
          <a:custGeom>
            <a:avLst/>
            <a:gdLst/>
            <a:ahLst/>
            <a:cxn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C9A86A"/>
          </a:solidFill>
          <a:ln/>
        </p:spPr>
        <p:txBody>
          <a:bodyPr/>
          <a:lstStyle/>
          <a:p>
            <a:endParaRPr lang="zh-CN" altLang="en-US"/>
          </a:p>
        </p:txBody>
      </p:sp>
      <p:sp>
        <p:nvSpPr>
          <p:cNvPr id="27" name="Text 25"/>
          <p:cNvSpPr/>
          <p:nvPr/>
        </p:nvSpPr>
        <p:spPr>
          <a:xfrm>
            <a:off x="706438" y="3111940"/>
            <a:ext cx="5246688"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更长远的根本性问题</a:t>
            </a:r>
            <a:endParaRPr lang="en-US" sz="1600" dirty="0"/>
          </a:p>
        </p:txBody>
      </p:sp>
      <p:sp>
        <p:nvSpPr>
          <p:cNvPr id="28" name="Shape 26"/>
          <p:cNvSpPr/>
          <p:nvPr/>
        </p:nvSpPr>
        <p:spPr>
          <a:xfrm>
            <a:off x="508000" y="3429440"/>
            <a:ext cx="5365750" cy="2698750"/>
          </a:xfrm>
          <a:custGeom>
            <a:avLst/>
            <a:gdLst/>
            <a:ahLst/>
            <a:cxnLst/>
            <a:rect l="l" t="t" r="r" b="b"/>
            <a:pathLst>
              <a:path w="5365750" h="2698750">
                <a:moveTo>
                  <a:pt x="63502" y="0"/>
                </a:moveTo>
                <a:lnTo>
                  <a:pt x="5302248" y="0"/>
                </a:lnTo>
                <a:cubicBezTo>
                  <a:pt x="5337319" y="0"/>
                  <a:pt x="5365750" y="28431"/>
                  <a:pt x="5365750" y="63502"/>
                </a:cubicBezTo>
                <a:lnTo>
                  <a:pt x="5365750" y="2635248"/>
                </a:lnTo>
                <a:cubicBezTo>
                  <a:pt x="5365750" y="2670319"/>
                  <a:pt x="5337319" y="2698750"/>
                  <a:pt x="5302248" y="2698750"/>
                </a:cubicBezTo>
                <a:lnTo>
                  <a:pt x="63502" y="2698750"/>
                </a:lnTo>
                <a:cubicBezTo>
                  <a:pt x="28431" y="2698750"/>
                  <a:pt x="0" y="2670319"/>
                  <a:pt x="0" y="2635248"/>
                </a:cubicBezTo>
                <a:lnTo>
                  <a:pt x="0" y="63502"/>
                </a:lnTo>
                <a:cubicBezTo>
                  <a:pt x="0" y="28454"/>
                  <a:pt x="28454" y="0"/>
                  <a:pt x="63502" y="0"/>
                </a:cubicBezTo>
                <a:close/>
              </a:path>
            </a:pathLst>
          </a:custGeom>
          <a:solidFill>
            <a:srgbClr val="1A1D21">
              <a:alpha val="50196"/>
            </a:srgbClr>
          </a:solidFill>
          <a:ln/>
        </p:spPr>
        <p:txBody>
          <a:bodyPr/>
          <a:lstStyle/>
          <a:p>
            <a:endParaRPr lang="zh-CN" altLang="en-US"/>
          </a:p>
        </p:txBody>
      </p:sp>
      <p:sp>
        <p:nvSpPr>
          <p:cNvPr id="29" name="Text 27"/>
          <p:cNvSpPr/>
          <p:nvPr/>
        </p:nvSpPr>
        <p:spPr>
          <a:xfrm>
            <a:off x="635000" y="4078331"/>
            <a:ext cx="5183188" cy="468313"/>
          </a:xfrm>
          <a:prstGeom prst="rect">
            <a:avLst/>
          </a:prstGeom>
          <a:noFill/>
          <a:ln/>
        </p:spPr>
        <p:txBody>
          <a:bodyPr wrap="square" lIns="0" tIns="0" rIns="0" bIns="0" rtlCol="0" anchor="ctr"/>
          <a:lstStyle/>
          <a:p>
            <a:pPr>
              <a:lnSpc>
                <a:spcPct val="140000"/>
              </a:lnSpc>
            </a:pPr>
            <a:r>
              <a:rPr lang="en-US" sz="1125" dirty="0">
                <a:solidFill>
                  <a:srgbClr val="E0E2E5"/>
                </a:solidFill>
                <a:latin typeface="Noto Sans SC" pitchFamily="34" charset="0"/>
                <a:ea typeface="Noto Sans SC" pitchFamily="34" charset="-122"/>
                <a:cs typeface="Noto Sans SC" pitchFamily="34" charset="-120"/>
              </a:rPr>
              <a:t>从更宏大的周期来看，</a:t>
            </a:r>
            <a:r>
              <a:rPr lang="en-US" sz="1125" dirty="0">
                <a:solidFill>
                  <a:srgbClr val="C9A86A"/>
                </a:solidFill>
                <a:highlight>
                  <a:srgbClr val="C9A86A">
                    <a:alpha val="20000"/>
                  </a:srgbClr>
                </a:highlight>
                <a:latin typeface="Noto Sans SC" pitchFamily="34" charset="0"/>
                <a:ea typeface="Noto Sans SC" pitchFamily="34" charset="-122"/>
                <a:cs typeface="Noto Sans SC" pitchFamily="34" charset="-120"/>
              </a:rPr>
              <a:t> "大模型推理是否可以不存储物理 KV" </a:t>
            </a:r>
            <a:r>
              <a:rPr lang="en-US" sz="1125" dirty="0">
                <a:solidFill>
                  <a:srgbClr val="E0E2E5"/>
                </a:solidFill>
                <a:latin typeface="Noto Sans SC" pitchFamily="34" charset="0"/>
                <a:ea typeface="Noto Sans SC" pitchFamily="34" charset="-122"/>
                <a:cs typeface="Noto Sans SC" pitchFamily="34" charset="-120"/>
              </a:rPr>
              <a:t>这一根本性问题，或许才是颠覆自回归计算范式、引领下一个十年的星辰大海。</a:t>
            </a:r>
            <a:endParaRPr lang="en-US" sz="1600" dirty="0"/>
          </a:p>
        </p:txBody>
      </p:sp>
      <p:sp>
        <p:nvSpPr>
          <p:cNvPr id="30" name="Shape 28"/>
          <p:cNvSpPr/>
          <p:nvPr/>
        </p:nvSpPr>
        <p:spPr>
          <a:xfrm>
            <a:off x="635000" y="4733174"/>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3D8B75"/>
          </a:solidFill>
          <a:ln/>
        </p:spPr>
        <p:txBody>
          <a:bodyPr/>
          <a:lstStyle/>
          <a:p>
            <a:endParaRPr lang="zh-CN" altLang="en-US"/>
          </a:p>
        </p:txBody>
      </p:sp>
      <p:sp>
        <p:nvSpPr>
          <p:cNvPr id="31" name="Text 29"/>
          <p:cNvSpPr/>
          <p:nvPr/>
        </p:nvSpPr>
        <p:spPr>
          <a:xfrm>
            <a:off x="793750" y="4669674"/>
            <a:ext cx="2095500"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从</a:t>
            </a:r>
            <a:r>
              <a:rPr lang="en-US" sz="1000" b="1" dirty="0">
                <a:solidFill>
                  <a:srgbClr val="E0E2E5">
                    <a:alpha val="80000"/>
                  </a:srgbClr>
                </a:solidFill>
                <a:latin typeface="Noto Sans SC" pitchFamily="34" charset="0"/>
                <a:ea typeface="Noto Sans SC" pitchFamily="34" charset="-122"/>
                <a:cs typeface="Noto Sans SC" pitchFamily="34" charset="-120"/>
              </a:rPr>
              <a:t>物理存储</a:t>
            </a:r>
            <a:r>
              <a:rPr lang="en-US" sz="1000" dirty="0">
                <a:solidFill>
                  <a:srgbClr val="E0E2E5">
                    <a:alpha val="80000"/>
                  </a:srgbClr>
                </a:solidFill>
                <a:latin typeface="Noto Sans SC" pitchFamily="34" charset="0"/>
                <a:ea typeface="Noto Sans SC" pitchFamily="34" charset="-122"/>
                <a:cs typeface="Noto Sans SC" pitchFamily="34" charset="-120"/>
              </a:rPr>
              <a:t>到</a:t>
            </a:r>
            <a:r>
              <a:rPr lang="en-US" sz="1000" b="1" dirty="0">
                <a:solidFill>
                  <a:srgbClr val="E0E2E5">
                    <a:alpha val="80000"/>
                  </a:srgbClr>
                </a:solidFill>
                <a:latin typeface="Noto Sans SC" pitchFamily="34" charset="0"/>
                <a:ea typeface="Noto Sans SC" pitchFamily="34" charset="-122"/>
                <a:cs typeface="Noto Sans SC" pitchFamily="34" charset="-120"/>
              </a:rPr>
              <a:t>学习生成</a:t>
            </a:r>
            <a:r>
              <a:rPr lang="en-US" sz="1000" dirty="0">
                <a:solidFill>
                  <a:srgbClr val="E0E2E5">
                    <a:alpha val="80000"/>
                  </a:srgbClr>
                </a:solidFill>
                <a:latin typeface="Noto Sans SC" pitchFamily="34" charset="0"/>
                <a:ea typeface="Noto Sans SC" pitchFamily="34" charset="-122"/>
                <a:cs typeface="Noto Sans SC" pitchFamily="34" charset="-120"/>
              </a:rPr>
              <a:t>再到</a:t>
            </a:r>
            <a:r>
              <a:rPr lang="en-US" sz="1000" b="1" dirty="0">
                <a:solidFill>
                  <a:srgbClr val="E0E2E5">
                    <a:alpha val="80000"/>
                  </a:srgbClr>
                </a:solidFill>
                <a:latin typeface="Noto Sans SC" pitchFamily="34" charset="0"/>
                <a:ea typeface="Noto Sans SC" pitchFamily="34" charset="-122"/>
                <a:cs typeface="Noto Sans SC" pitchFamily="34" charset="-120"/>
              </a:rPr>
              <a:t>实时预测</a:t>
            </a:r>
            <a:endParaRPr lang="en-US" sz="1600" dirty="0"/>
          </a:p>
        </p:txBody>
      </p:sp>
      <p:sp>
        <p:nvSpPr>
          <p:cNvPr id="32" name="Shape 30"/>
          <p:cNvSpPr/>
          <p:nvPr/>
        </p:nvSpPr>
        <p:spPr>
          <a:xfrm>
            <a:off x="635000" y="5034799"/>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C9A86A"/>
          </a:solidFill>
          <a:ln/>
        </p:spPr>
        <p:txBody>
          <a:bodyPr/>
          <a:lstStyle/>
          <a:p>
            <a:endParaRPr lang="zh-CN" altLang="en-US"/>
          </a:p>
        </p:txBody>
      </p:sp>
      <p:sp>
        <p:nvSpPr>
          <p:cNvPr id="33" name="Text 31"/>
          <p:cNvSpPr/>
          <p:nvPr/>
        </p:nvSpPr>
        <p:spPr>
          <a:xfrm>
            <a:off x="793750" y="4971299"/>
            <a:ext cx="2889250"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将 KV Cache 问题从</a:t>
            </a:r>
            <a:r>
              <a:rPr lang="en-US" sz="1000" b="1" dirty="0">
                <a:solidFill>
                  <a:srgbClr val="E0E2E5">
                    <a:alpha val="80000"/>
                  </a:srgbClr>
                </a:solidFill>
                <a:latin typeface="Noto Sans SC" pitchFamily="34" charset="0"/>
                <a:ea typeface="Noto Sans SC" pitchFamily="34" charset="-122"/>
                <a:cs typeface="Noto Sans SC" pitchFamily="34" charset="-120"/>
              </a:rPr>
              <a:t>"数据压缩"</a:t>
            </a:r>
            <a:r>
              <a:rPr lang="en-US" sz="1000" dirty="0">
                <a:solidFill>
                  <a:srgbClr val="E0E2E5">
                    <a:alpha val="80000"/>
                  </a:srgbClr>
                </a:solidFill>
                <a:latin typeface="Noto Sans SC" pitchFamily="34" charset="0"/>
                <a:ea typeface="Noto Sans SC" pitchFamily="34" charset="-122"/>
                <a:cs typeface="Noto Sans SC" pitchFamily="34" charset="-120"/>
              </a:rPr>
              <a:t>升维到</a:t>
            </a:r>
            <a:r>
              <a:rPr lang="en-US" sz="1000" b="1" dirty="0">
                <a:solidFill>
                  <a:srgbClr val="E0E2E5">
                    <a:alpha val="80000"/>
                  </a:srgbClr>
                </a:solidFill>
                <a:latin typeface="Noto Sans SC" pitchFamily="34" charset="0"/>
                <a:ea typeface="Noto Sans SC" pitchFamily="34" charset="-122"/>
                <a:cs typeface="Noto Sans SC" pitchFamily="34" charset="-120"/>
              </a:rPr>
              <a:t>"表示学习"</a:t>
            </a:r>
            <a:endParaRPr lang="en-US" sz="1600" dirty="0"/>
          </a:p>
        </p:txBody>
      </p:sp>
      <p:sp>
        <p:nvSpPr>
          <p:cNvPr id="34" name="Shape 32"/>
          <p:cNvSpPr/>
          <p:nvPr/>
        </p:nvSpPr>
        <p:spPr>
          <a:xfrm>
            <a:off x="635000" y="5336424"/>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5F6B7A"/>
          </a:solidFill>
          <a:ln/>
        </p:spPr>
        <p:txBody>
          <a:bodyPr/>
          <a:lstStyle/>
          <a:p>
            <a:endParaRPr lang="zh-CN" altLang="en-US"/>
          </a:p>
        </p:txBody>
      </p:sp>
      <p:sp>
        <p:nvSpPr>
          <p:cNvPr id="35" name="Text 33"/>
          <p:cNvSpPr/>
          <p:nvPr/>
        </p:nvSpPr>
        <p:spPr>
          <a:xfrm>
            <a:off x="793750" y="5272924"/>
            <a:ext cx="1587500" cy="206375"/>
          </a:xfrm>
          <a:prstGeom prst="rect">
            <a:avLst/>
          </a:prstGeom>
          <a:noFill/>
          <a:ln/>
        </p:spPr>
        <p:txBody>
          <a:bodyPr wrap="square" lIns="0" tIns="0" rIns="0" bIns="0" rtlCol="0" anchor="ctr"/>
          <a:lstStyle/>
          <a:p>
            <a:pPr>
              <a:lnSpc>
                <a:spcPct val="140000"/>
              </a:lnSpc>
            </a:pPr>
            <a:r>
              <a:rPr lang="en-US" sz="1000" dirty="0">
                <a:solidFill>
                  <a:srgbClr val="E0E2E5">
                    <a:alpha val="80000"/>
                  </a:srgbClr>
                </a:solidFill>
                <a:latin typeface="Noto Sans SC" pitchFamily="34" charset="0"/>
                <a:ea typeface="Noto Sans SC" pitchFamily="34" charset="-122"/>
                <a:cs typeface="Noto Sans SC" pitchFamily="34" charset="-120"/>
              </a:rPr>
              <a:t>彻底</a:t>
            </a:r>
            <a:r>
              <a:rPr lang="en-US" sz="1000" b="1" dirty="0">
                <a:solidFill>
                  <a:srgbClr val="E0E2E5">
                    <a:alpha val="80000"/>
                  </a:srgbClr>
                </a:solidFill>
                <a:latin typeface="Noto Sans SC" pitchFamily="34" charset="0"/>
                <a:ea typeface="Noto Sans SC" pitchFamily="34" charset="-122"/>
                <a:cs typeface="Noto Sans SC" pitchFamily="34" charset="-120"/>
              </a:rPr>
              <a:t>颠覆自回归计算的基础</a:t>
            </a:r>
            <a:endParaRPr lang="en-US" sz="1600" dirty="0"/>
          </a:p>
        </p:txBody>
      </p:sp>
      <p:sp>
        <p:nvSpPr>
          <p:cNvPr id="36" name="Shape 34"/>
          <p:cNvSpPr/>
          <p:nvPr/>
        </p:nvSpPr>
        <p:spPr>
          <a:xfrm>
            <a:off x="6175375" y="2953190"/>
            <a:ext cx="5699125" cy="3333750"/>
          </a:xfrm>
          <a:custGeom>
            <a:avLst/>
            <a:gdLst/>
            <a:ahLst/>
            <a:cxnLst/>
            <a:rect l="l" t="t" r="r" b="b"/>
            <a:pathLst>
              <a:path w="5699125" h="3333750">
                <a:moveTo>
                  <a:pt x="31750" y="0"/>
                </a:moveTo>
                <a:lnTo>
                  <a:pt x="5635617" y="0"/>
                </a:lnTo>
                <a:cubicBezTo>
                  <a:pt x="5670692" y="0"/>
                  <a:pt x="5699125" y="28433"/>
                  <a:pt x="5699125" y="63508"/>
                </a:cubicBezTo>
                <a:lnTo>
                  <a:pt x="5699125" y="3270242"/>
                </a:lnTo>
                <a:cubicBezTo>
                  <a:pt x="5699125" y="3305317"/>
                  <a:pt x="5670692" y="3333750"/>
                  <a:pt x="5635617" y="3333750"/>
                </a:cubicBezTo>
                <a:lnTo>
                  <a:pt x="31750" y="3333750"/>
                </a:lnTo>
                <a:cubicBezTo>
                  <a:pt x="14215" y="3333750"/>
                  <a:pt x="0" y="3319535"/>
                  <a:pt x="0" y="3302000"/>
                </a:cubicBezTo>
                <a:lnTo>
                  <a:pt x="0" y="31750"/>
                </a:lnTo>
                <a:cubicBezTo>
                  <a:pt x="0" y="14227"/>
                  <a:pt x="14227" y="0"/>
                  <a:pt x="31750" y="0"/>
                </a:cubicBezTo>
                <a:close/>
              </a:path>
            </a:pathLst>
          </a:custGeom>
          <a:solidFill>
            <a:srgbClr val="3D8B75">
              <a:alpha val="10196"/>
            </a:srgbClr>
          </a:solidFill>
          <a:ln/>
        </p:spPr>
        <p:txBody>
          <a:bodyPr/>
          <a:lstStyle/>
          <a:p>
            <a:endParaRPr lang="zh-CN" altLang="en-US"/>
          </a:p>
        </p:txBody>
      </p:sp>
      <p:sp>
        <p:nvSpPr>
          <p:cNvPr id="37" name="Shape 35"/>
          <p:cNvSpPr/>
          <p:nvPr/>
        </p:nvSpPr>
        <p:spPr>
          <a:xfrm>
            <a:off x="6175375" y="2953190"/>
            <a:ext cx="31750" cy="3333750"/>
          </a:xfrm>
          <a:custGeom>
            <a:avLst/>
            <a:gdLst/>
            <a:ahLst/>
            <a:cxnLst/>
            <a:rect l="l" t="t" r="r" b="b"/>
            <a:pathLst>
              <a:path w="31750" h="3333750">
                <a:moveTo>
                  <a:pt x="31750" y="0"/>
                </a:moveTo>
                <a:lnTo>
                  <a:pt x="31750" y="0"/>
                </a:lnTo>
                <a:lnTo>
                  <a:pt x="31750" y="3333750"/>
                </a:lnTo>
                <a:lnTo>
                  <a:pt x="31750" y="3333750"/>
                </a:lnTo>
                <a:cubicBezTo>
                  <a:pt x="14227" y="3333750"/>
                  <a:pt x="0" y="3319523"/>
                  <a:pt x="0" y="3302000"/>
                </a:cubicBezTo>
                <a:lnTo>
                  <a:pt x="0" y="31750"/>
                </a:lnTo>
                <a:cubicBezTo>
                  <a:pt x="0" y="14227"/>
                  <a:pt x="14227" y="0"/>
                  <a:pt x="31750" y="0"/>
                </a:cubicBezTo>
                <a:close/>
              </a:path>
            </a:pathLst>
          </a:custGeom>
          <a:solidFill>
            <a:srgbClr val="3D8B75"/>
          </a:solidFill>
          <a:ln/>
        </p:spPr>
        <p:txBody>
          <a:bodyPr/>
          <a:lstStyle/>
          <a:p>
            <a:endParaRPr lang="zh-CN" altLang="en-US"/>
          </a:p>
        </p:txBody>
      </p:sp>
      <p:sp>
        <p:nvSpPr>
          <p:cNvPr id="38" name="Shape 36"/>
          <p:cNvSpPr/>
          <p:nvPr/>
        </p:nvSpPr>
        <p:spPr>
          <a:xfrm>
            <a:off x="6369844" y="3143690"/>
            <a:ext cx="158750" cy="158750"/>
          </a:xfrm>
          <a:custGeom>
            <a:avLst/>
            <a:gdLst/>
            <a:ahLst/>
            <a:cxnLst/>
            <a:rect l="l" t="t" r="r" b="b"/>
            <a:pathLst>
              <a:path w="158750" h="158750">
                <a:moveTo>
                  <a:pt x="39688" y="99219"/>
                </a:moveTo>
                <a:lnTo>
                  <a:pt x="7596" y="99219"/>
                </a:lnTo>
                <a:cubicBezTo>
                  <a:pt x="-124" y="99219"/>
                  <a:pt x="-4868" y="90816"/>
                  <a:pt x="-899" y="84181"/>
                </a:cubicBezTo>
                <a:lnTo>
                  <a:pt x="15503" y="56834"/>
                </a:lnTo>
                <a:cubicBezTo>
                  <a:pt x="18200" y="52338"/>
                  <a:pt x="23037" y="49609"/>
                  <a:pt x="28277" y="49609"/>
                </a:cubicBezTo>
                <a:lnTo>
                  <a:pt x="57733" y="49609"/>
                </a:lnTo>
                <a:cubicBezTo>
                  <a:pt x="81328" y="9643"/>
                  <a:pt x="116520" y="7627"/>
                  <a:pt x="140053" y="11069"/>
                </a:cubicBezTo>
                <a:cubicBezTo>
                  <a:pt x="144022" y="11658"/>
                  <a:pt x="147123" y="14759"/>
                  <a:pt x="147681" y="18697"/>
                </a:cubicBezTo>
                <a:cubicBezTo>
                  <a:pt x="151123" y="42230"/>
                  <a:pt x="149107" y="77422"/>
                  <a:pt x="109141" y="101017"/>
                </a:cubicBezTo>
                <a:lnTo>
                  <a:pt x="109141" y="130473"/>
                </a:lnTo>
                <a:cubicBezTo>
                  <a:pt x="109141" y="135713"/>
                  <a:pt x="106412" y="140550"/>
                  <a:pt x="101916" y="143247"/>
                </a:cubicBezTo>
                <a:lnTo>
                  <a:pt x="74569" y="159649"/>
                </a:lnTo>
                <a:cubicBezTo>
                  <a:pt x="67965" y="163618"/>
                  <a:pt x="59531" y="158843"/>
                  <a:pt x="59531" y="151154"/>
                </a:cubicBezTo>
                <a:lnTo>
                  <a:pt x="59531" y="119062"/>
                </a:lnTo>
                <a:cubicBezTo>
                  <a:pt x="59531" y="108117"/>
                  <a:pt x="50633" y="99219"/>
                  <a:pt x="39688" y="99219"/>
                </a:cubicBezTo>
                <a:lnTo>
                  <a:pt x="39656" y="99219"/>
                </a:lnTo>
                <a:close/>
                <a:moveTo>
                  <a:pt x="124023" y="49609"/>
                </a:moveTo>
                <a:cubicBezTo>
                  <a:pt x="124023" y="41395"/>
                  <a:pt x="117355" y="34727"/>
                  <a:pt x="109141" y="34727"/>
                </a:cubicBezTo>
                <a:cubicBezTo>
                  <a:pt x="100927" y="34727"/>
                  <a:pt x="94258" y="41395"/>
                  <a:pt x="94258" y="49609"/>
                </a:cubicBezTo>
                <a:cubicBezTo>
                  <a:pt x="94258" y="57823"/>
                  <a:pt x="100927" y="64492"/>
                  <a:pt x="109141" y="64492"/>
                </a:cubicBezTo>
                <a:cubicBezTo>
                  <a:pt x="117355" y="64492"/>
                  <a:pt x="124023" y="57823"/>
                  <a:pt x="124023" y="49609"/>
                </a:cubicBezTo>
                <a:close/>
              </a:path>
            </a:pathLst>
          </a:custGeom>
          <a:solidFill>
            <a:srgbClr val="3D8B75"/>
          </a:solidFill>
          <a:ln/>
        </p:spPr>
        <p:txBody>
          <a:bodyPr/>
          <a:lstStyle/>
          <a:p>
            <a:endParaRPr lang="zh-CN" altLang="en-US"/>
          </a:p>
        </p:txBody>
      </p:sp>
      <p:sp>
        <p:nvSpPr>
          <p:cNvPr id="39" name="Text 37"/>
          <p:cNvSpPr/>
          <p:nvPr/>
        </p:nvSpPr>
        <p:spPr>
          <a:xfrm>
            <a:off x="6548438" y="3111940"/>
            <a:ext cx="5246688" cy="222250"/>
          </a:xfrm>
          <a:prstGeom prst="rect">
            <a:avLst/>
          </a:prstGeom>
          <a:noFill/>
          <a:ln/>
        </p:spPr>
        <p:txBody>
          <a:bodyPr wrap="square" lIns="0" tIns="0" rIns="0" bIns="0" rtlCol="0" anchor="ctr"/>
          <a:lstStyle/>
          <a:p>
            <a:pPr>
              <a:lnSpc>
                <a:spcPct val="120000"/>
              </a:lnSpc>
            </a:pPr>
            <a:r>
              <a:rPr lang="en-US" sz="1250" b="1" dirty="0">
                <a:solidFill>
                  <a:srgbClr val="E0E2E5"/>
                </a:solidFill>
                <a:latin typeface="Noto Sans SC" pitchFamily="34" charset="0"/>
                <a:ea typeface="Noto Sans SC" pitchFamily="34" charset="-122"/>
                <a:cs typeface="Noto Sans SC" pitchFamily="34" charset="-120"/>
              </a:rPr>
              <a:t>演进方向总结</a:t>
            </a:r>
            <a:endParaRPr lang="en-US" sz="1600" dirty="0"/>
          </a:p>
        </p:txBody>
      </p:sp>
      <p:sp>
        <p:nvSpPr>
          <p:cNvPr id="40" name="Shape 38"/>
          <p:cNvSpPr/>
          <p:nvPr/>
        </p:nvSpPr>
        <p:spPr>
          <a:xfrm>
            <a:off x="6350000" y="3429440"/>
            <a:ext cx="5365750" cy="603250"/>
          </a:xfrm>
          <a:custGeom>
            <a:avLst/>
            <a:gdLst/>
            <a:ahLst/>
            <a:cxnLst/>
            <a:rect l="l" t="t" r="r" b="b"/>
            <a:pathLst>
              <a:path w="5365750" h="603250">
                <a:moveTo>
                  <a:pt x="63498" y="0"/>
                </a:moveTo>
                <a:lnTo>
                  <a:pt x="5302252" y="0"/>
                </a:lnTo>
                <a:cubicBezTo>
                  <a:pt x="5337321" y="0"/>
                  <a:pt x="5365750" y="28429"/>
                  <a:pt x="5365750" y="63498"/>
                </a:cubicBezTo>
                <a:lnTo>
                  <a:pt x="5365750" y="539752"/>
                </a:lnTo>
                <a:cubicBezTo>
                  <a:pt x="5365750" y="574821"/>
                  <a:pt x="5337321" y="603250"/>
                  <a:pt x="5302252" y="603250"/>
                </a:cubicBezTo>
                <a:lnTo>
                  <a:pt x="63498" y="603250"/>
                </a:lnTo>
                <a:cubicBezTo>
                  <a:pt x="28429" y="603250"/>
                  <a:pt x="0" y="574821"/>
                  <a:pt x="0" y="539752"/>
                </a:cubicBezTo>
                <a:lnTo>
                  <a:pt x="0" y="63498"/>
                </a:lnTo>
                <a:cubicBezTo>
                  <a:pt x="0" y="28453"/>
                  <a:pt x="28453" y="0"/>
                  <a:pt x="63498" y="0"/>
                </a:cubicBezTo>
                <a:close/>
              </a:path>
            </a:pathLst>
          </a:custGeom>
          <a:solidFill>
            <a:srgbClr val="1A1D21">
              <a:alpha val="50196"/>
            </a:srgbClr>
          </a:solidFill>
          <a:ln/>
        </p:spPr>
        <p:txBody>
          <a:bodyPr/>
          <a:lstStyle/>
          <a:p>
            <a:endParaRPr lang="zh-CN" altLang="en-US"/>
          </a:p>
        </p:txBody>
      </p:sp>
      <p:sp>
        <p:nvSpPr>
          <p:cNvPr id="41" name="Shape 39"/>
          <p:cNvSpPr/>
          <p:nvPr/>
        </p:nvSpPr>
        <p:spPr>
          <a:xfrm>
            <a:off x="6461125" y="3556440"/>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3D8B75"/>
          </a:solidFill>
          <a:ln/>
        </p:spPr>
        <p:txBody>
          <a:bodyPr/>
          <a:lstStyle/>
          <a:p>
            <a:endParaRPr lang="zh-CN" altLang="en-US"/>
          </a:p>
        </p:txBody>
      </p:sp>
      <p:sp>
        <p:nvSpPr>
          <p:cNvPr id="42" name="Text 40"/>
          <p:cNvSpPr/>
          <p:nvPr/>
        </p:nvSpPr>
        <p:spPr>
          <a:xfrm>
            <a:off x="6667500" y="3524690"/>
            <a:ext cx="8255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从单一到混合</a:t>
            </a:r>
            <a:endParaRPr lang="en-US" sz="1600" dirty="0"/>
          </a:p>
        </p:txBody>
      </p:sp>
      <p:sp>
        <p:nvSpPr>
          <p:cNvPr id="43" name="Text 41"/>
          <p:cNvSpPr/>
          <p:nvPr/>
        </p:nvSpPr>
        <p:spPr>
          <a:xfrm>
            <a:off x="6445250" y="3778690"/>
            <a:ext cx="5230813" cy="158750"/>
          </a:xfrm>
          <a:prstGeom prst="rect">
            <a:avLst/>
          </a:prstGeom>
          <a:noFill/>
          <a:ln/>
        </p:spPr>
        <p:txBody>
          <a:bodyPr wrap="square" lIns="0" tIns="0" rIns="0" bIns="0" rtlCol="0" anchor="ctr"/>
          <a:lstStyle/>
          <a:p>
            <a:pPr>
              <a:lnSpc>
                <a:spcPct val="120000"/>
              </a:lnSpc>
            </a:pPr>
            <a:r>
              <a:rPr lang="en-US" sz="875" dirty="0">
                <a:solidFill>
                  <a:srgbClr val="E0E2E5">
                    <a:alpha val="70000"/>
                  </a:srgbClr>
                </a:solidFill>
                <a:latin typeface="Noto Sans SC" pitchFamily="34" charset="0"/>
                <a:ea typeface="Noto Sans SC" pitchFamily="34" charset="-122"/>
                <a:cs typeface="Noto Sans SC" pitchFamily="34" charset="-120"/>
              </a:rPr>
              <a:t>多维度协同压缩成为主流</a:t>
            </a:r>
            <a:endParaRPr lang="en-US" sz="1600" dirty="0"/>
          </a:p>
        </p:txBody>
      </p:sp>
      <p:sp>
        <p:nvSpPr>
          <p:cNvPr id="44" name="Shape 42"/>
          <p:cNvSpPr/>
          <p:nvPr/>
        </p:nvSpPr>
        <p:spPr>
          <a:xfrm>
            <a:off x="6350000" y="4127940"/>
            <a:ext cx="5365750" cy="603250"/>
          </a:xfrm>
          <a:custGeom>
            <a:avLst/>
            <a:gdLst/>
            <a:ahLst/>
            <a:cxnLst/>
            <a:rect l="l" t="t" r="r" b="b"/>
            <a:pathLst>
              <a:path w="5365750" h="603250">
                <a:moveTo>
                  <a:pt x="63498" y="0"/>
                </a:moveTo>
                <a:lnTo>
                  <a:pt x="5302252" y="0"/>
                </a:lnTo>
                <a:cubicBezTo>
                  <a:pt x="5337321" y="0"/>
                  <a:pt x="5365750" y="28429"/>
                  <a:pt x="5365750" y="63498"/>
                </a:cubicBezTo>
                <a:lnTo>
                  <a:pt x="5365750" y="539752"/>
                </a:lnTo>
                <a:cubicBezTo>
                  <a:pt x="5365750" y="574821"/>
                  <a:pt x="5337321" y="603250"/>
                  <a:pt x="5302252" y="603250"/>
                </a:cubicBezTo>
                <a:lnTo>
                  <a:pt x="63498" y="603250"/>
                </a:lnTo>
                <a:cubicBezTo>
                  <a:pt x="28429" y="603250"/>
                  <a:pt x="0" y="574821"/>
                  <a:pt x="0" y="539752"/>
                </a:cubicBezTo>
                <a:lnTo>
                  <a:pt x="0" y="63498"/>
                </a:lnTo>
                <a:cubicBezTo>
                  <a:pt x="0" y="28453"/>
                  <a:pt x="28453" y="0"/>
                  <a:pt x="63498" y="0"/>
                </a:cubicBezTo>
                <a:close/>
              </a:path>
            </a:pathLst>
          </a:custGeom>
          <a:solidFill>
            <a:srgbClr val="1A1D21">
              <a:alpha val="50196"/>
            </a:srgbClr>
          </a:solidFill>
          <a:ln/>
        </p:spPr>
        <p:txBody>
          <a:bodyPr/>
          <a:lstStyle/>
          <a:p>
            <a:endParaRPr lang="zh-CN" altLang="en-US"/>
          </a:p>
        </p:txBody>
      </p:sp>
      <p:sp>
        <p:nvSpPr>
          <p:cNvPr id="45" name="Shape 43"/>
          <p:cNvSpPr/>
          <p:nvPr/>
        </p:nvSpPr>
        <p:spPr>
          <a:xfrm>
            <a:off x="6461125" y="4254940"/>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C9A86A"/>
          </a:solidFill>
          <a:ln/>
        </p:spPr>
        <p:txBody>
          <a:bodyPr/>
          <a:lstStyle/>
          <a:p>
            <a:endParaRPr lang="zh-CN" altLang="en-US"/>
          </a:p>
        </p:txBody>
      </p:sp>
      <p:sp>
        <p:nvSpPr>
          <p:cNvPr id="46" name="Text 44"/>
          <p:cNvSpPr/>
          <p:nvPr/>
        </p:nvSpPr>
        <p:spPr>
          <a:xfrm>
            <a:off x="6667500" y="4223190"/>
            <a:ext cx="8255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从算法到系统</a:t>
            </a:r>
            <a:endParaRPr lang="en-US" sz="1600" dirty="0"/>
          </a:p>
        </p:txBody>
      </p:sp>
      <p:sp>
        <p:nvSpPr>
          <p:cNvPr id="47" name="Text 45"/>
          <p:cNvSpPr/>
          <p:nvPr/>
        </p:nvSpPr>
        <p:spPr>
          <a:xfrm>
            <a:off x="6445250" y="4477190"/>
            <a:ext cx="5230813" cy="158750"/>
          </a:xfrm>
          <a:prstGeom prst="rect">
            <a:avLst/>
          </a:prstGeom>
          <a:noFill/>
          <a:ln/>
        </p:spPr>
        <p:txBody>
          <a:bodyPr wrap="square" lIns="0" tIns="0" rIns="0" bIns="0" rtlCol="0" anchor="ctr"/>
          <a:lstStyle/>
          <a:p>
            <a:pPr>
              <a:lnSpc>
                <a:spcPct val="120000"/>
              </a:lnSpc>
            </a:pPr>
            <a:r>
              <a:rPr lang="en-US" sz="875" dirty="0">
                <a:solidFill>
                  <a:srgbClr val="E0E2E5">
                    <a:alpha val="70000"/>
                  </a:srgbClr>
                </a:solidFill>
                <a:latin typeface="Noto Sans SC" pitchFamily="34" charset="0"/>
                <a:ea typeface="Noto Sans SC" pitchFamily="34" charset="-122"/>
                <a:cs typeface="Noto Sans SC" pitchFamily="34" charset="-120"/>
              </a:rPr>
              <a:t>Kernel-aware 设计成为标配</a:t>
            </a:r>
            <a:endParaRPr lang="en-US" sz="1600" dirty="0"/>
          </a:p>
        </p:txBody>
      </p:sp>
      <p:sp>
        <p:nvSpPr>
          <p:cNvPr id="48" name="Shape 46"/>
          <p:cNvSpPr/>
          <p:nvPr/>
        </p:nvSpPr>
        <p:spPr>
          <a:xfrm>
            <a:off x="6350000" y="4826440"/>
            <a:ext cx="5365750" cy="603250"/>
          </a:xfrm>
          <a:custGeom>
            <a:avLst/>
            <a:gdLst/>
            <a:ahLst/>
            <a:cxnLst/>
            <a:rect l="l" t="t" r="r" b="b"/>
            <a:pathLst>
              <a:path w="5365750" h="603250">
                <a:moveTo>
                  <a:pt x="63498" y="0"/>
                </a:moveTo>
                <a:lnTo>
                  <a:pt x="5302252" y="0"/>
                </a:lnTo>
                <a:cubicBezTo>
                  <a:pt x="5337321" y="0"/>
                  <a:pt x="5365750" y="28429"/>
                  <a:pt x="5365750" y="63498"/>
                </a:cubicBezTo>
                <a:lnTo>
                  <a:pt x="5365750" y="539752"/>
                </a:lnTo>
                <a:cubicBezTo>
                  <a:pt x="5365750" y="574821"/>
                  <a:pt x="5337321" y="603250"/>
                  <a:pt x="5302252" y="603250"/>
                </a:cubicBezTo>
                <a:lnTo>
                  <a:pt x="63498" y="603250"/>
                </a:lnTo>
                <a:cubicBezTo>
                  <a:pt x="28429" y="603250"/>
                  <a:pt x="0" y="574821"/>
                  <a:pt x="0" y="539752"/>
                </a:cubicBezTo>
                <a:lnTo>
                  <a:pt x="0" y="63498"/>
                </a:lnTo>
                <a:cubicBezTo>
                  <a:pt x="0" y="28453"/>
                  <a:pt x="28453" y="0"/>
                  <a:pt x="63498" y="0"/>
                </a:cubicBezTo>
                <a:close/>
              </a:path>
            </a:pathLst>
          </a:custGeom>
          <a:solidFill>
            <a:srgbClr val="1A1D21">
              <a:alpha val="50196"/>
            </a:srgbClr>
          </a:solidFill>
          <a:ln/>
        </p:spPr>
        <p:txBody>
          <a:bodyPr/>
          <a:lstStyle/>
          <a:p>
            <a:endParaRPr lang="zh-CN" altLang="en-US"/>
          </a:p>
        </p:txBody>
      </p:sp>
      <p:sp>
        <p:nvSpPr>
          <p:cNvPr id="49" name="Shape 47"/>
          <p:cNvSpPr/>
          <p:nvPr/>
        </p:nvSpPr>
        <p:spPr>
          <a:xfrm>
            <a:off x="6461125" y="4953440"/>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5F6B7A"/>
          </a:solidFill>
          <a:ln/>
        </p:spPr>
        <p:txBody>
          <a:bodyPr/>
          <a:lstStyle/>
          <a:p>
            <a:endParaRPr lang="zh-CN" altLang="en-US"/>
          </a:p>
        </p:txBody>
      </p:sp>
      <p:sp>
        <p:nvSpPr>
          <p:cNvPr id="50" name="Text 48"/>
          <p:cNvSpPr/>
          <p:nvPr/>
        </p:nvSpPr>
        <p:spPr>
          <a:xfrm>
            <a:off x="6667500" y="4921690"/>
            <a:ext cx="8255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从存储到预测</a:t>
            </a:r>
            <a:endParaRPr lang="en-US" sz="1600" dirty="0"/>
          </a:p>
        </p:txBody>
      </p:sp>
      <p:sp>
        <p:nvSpPr>
          <p:cNvPr id="51" name="Text 49"/>
          <p:cNvSpPr/>
          <p:nvPr/>
        </p:nvSpPr>
        <p:spPr>
          <a:xfrm>
            <a:off x="6445250" y="5175690"/>
            <a:ext cx="5230813" cy="158750"/>
          </a:xfrm>
          <a:prstGeom prst="rect">
            <a:avLst/>
          </a:prstGeom>
          <a:noFill/>
          <a:ln/>
        </p:spPr>
        <p:txBody>
          <a:bodyPr wrap="square" lIns="0" tIns="0" rIns="0" bIns="0" rtlCol="0" anchor="ctr"/>
          <a:lstStyle/>
          <a:p>
            <a:pPr>
              <a:lnSpc>
                <a:spcPct val="120000"/>
              </a:lnSpc>
            </a:pPr>
            <a:r>
              <a:rPr lang="en-US" sz="875" dirty="0">
                <a:solidFill>
                  <a:srgbClr val="E0E2E5">
                    <a:alpha val="70000"/>
                  </a:srgbClr>
                </a:solidFill>
                <a:latin typeface="Noto Sans SC" pitchFamily="34" charset="0"/>
                <a:ea typeface="Noto Sans SC" pitchFamily="34" charset="-122"/>
                <a:cs typeface="Noto Sans SC" pitchFamily="34" charset="-120"/>
              </a:rPr>
              <a:t>范式转换的长期探索</a:t>
            </a:r>
            <a:endParaRPr lang="en-US" sz="1600" dirty="0"/>
          </a:p>
        </p:txBody>
      </p:sp>
      <p:sp>
        <p:nvSpPr>
          <p:cNvPr id="52" name="Shape 50"/>
          <p:cNvSpPr/>
          <p:nvPr/>
        </p:nvSpPr>
        <p:spPr>
          <a:xfrm>
            <a:off x="6350000" y="5524940"/>
            <a:ext cx="5365750" cy="603250"/>
          </a:xfrm>
          <a:custGeom>
            <a:avLst/>
            <a:gdLst/>
            <a:ahLst/>
            <a:cxnLst/>
            <a:rect l="l" t="t" r="r" b="b"/>
            <a:pathLst>
              <a:path w="5365750" h="603250">
                <a:moveTo>
                  <a:pt x="63498" y="0"/>
                </a:moveTo>
                <a:lnTo>
                  <a:pt x="5302252" y="0"/>
                </a:lnTo>
                <a:cubicBezTo>
                  <a:pt x="5337321" y="0"/>
                  <a:pt x="5365750" y="28429"/>
                  <a:pt x="5365750" y="63498"/>
                </a:cubicBezTo>
                <a:lnTo>
                  <a:pt x="5365750" y="539752"/>
                </a:lnTo>
                <a:cubicBezTo>
                  <a:pt x="5365750" y="574821"/>
                  <a:pt x="5337321" y="603250"/>
                  <a:pt x="5302252" y="603250"/>
                </a:cubicBezTo>
                <a:lnTo>
                  <a:pt x="63498" y="603250"/>
                </a:lnTo>
                <a:cubicBezTo>
                  <a:pt x="28429" y="603250"/>
                  <a:pt x="0" y="574821"/>
                  <a:pt x="0" y="539752"/>
                </a:cubicBezTo>
                <a:lnTo>
                  <a:pt x="0" y="63498"/>
                </a:lnTo>
                <a:cubicBezTo>
                  <a:pt x="0" y="28453"/>
                  <a:pt x="28453" y="0"/>
                  <a:pt x="63498" y="0"/>
                </a:cubicBezTo>
                <a:close/>
              </a:path>
            </a:pathLst>
          </a:custGeom>
          <a:solidFill>
            <a:srgbClr val="1A1D21">
              <a:alpha val="50196"/>
            </a:srgbClr>
          </a:solidFill>
          <a:ln/>
        </p:spPr>
        <p:txBody>
          <a:bodyPr/>
          <a:lstStyle/>
          <a:p>
            <a:endParaRPr lang="zh-CN" altLang="en-US"/>
          </a:p>
        </p:txBody>
      </p:sp>
      <p:sp>
        <p:nvSpPr>
          <p:cNvPr id="53" name="Shape 51"/>
          <p:cNvSpPr/>
          <p:nvPr/>
        </p:nvSpPr>
        <p:spPr>
          <a:xfrm>
            <a:off x="6461125" y="5651940"/>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3D8B75"/>
          </a:solidFill>
          <a:ln/>
        </p:spPr>
        <p:txBody>
          <a:bodyPr/>
          <a:lstStyle/>
          <a:p>
            <a:endParaRPr lang="zh-CN" altLang="en-US"/>
          </a:p>
        </p:txBody>
      </p:sp>
      <p:sp>
        <p:nvSpPr>
          <p:cNvPr id="54" name="Text 52"/>
          <p:cNvSpPr/>
          <p:nvPr/>
        </p:nvSpPr>
        <p:spPr>
          <a:xfrm>
            <a:off x="6667500" y="5620190"/>
            <a:ext cx="825500" cy="190500"/>
          </a:xfrm>
          <a:prstGeom prst="rect">
            <a:avLst/>
          </a:prstGeom>
          <a:noFill/>
          <a:ln/>
        </p:spPr>
        <p:txBody>
          <a:bodyPr wrap="square" lIns="0" tIns="0" rIns="0" bIns="0" rtlCol="0" anchor="ctr"/>
          <a:lstStyle/>
          <a:p>
            <a:pPr>
              <a:lnSpc>
                <a:spcPct val="130000"/>
              </a:lnSpc>
            </a:pPr>
            <a:r>
              <a:rPr lang="en-US" sz="1000" b="1" dirty="0">
                <a:solidFill>
                  <a:srgbClr val="E0E2E5"/>
                </a:solidFill>
                <a:latin typeface="Noto Sans SC" pitchFamily="34" charset="0"/>
                <a:ea typeface="Noto Sans SC" pitchFamily="34" charset="-122"/>
                <a:cs typeface="Noto Sans SC" pitchFamily="34" charset="-120"/>
              </a:rPr>
              <a:t>从研究到标准</a:t>
            </a:r>
            <a:endParaRPr lang="en-US" sz="1600" dirty="0"/>
          </a:p>
        </p:txBody>
      </p:sp>
      <p:sp>
        <p:nvSpPr>
          <p:cNvPr id="55" name="Text 53"/>
          <p:cNvSpPr/>
          <p:nvPr/>
        </p:nvSpPr>
        <p:spPr>
          <a:xfrm>
            <a:off x="6445250" y="5874190"/>
            <a:ext cx="5230813" cy="158750"/>
          </a:xfrm>
          <a:prstGeom prst="rect">
            <a:avLst/>
          </a:prstGeom>
          <a:noFill/>
          <a:ln/>
        </p:spPr>
        <p:txBody>
          <a:bodyPr wrap="square" lIns="0" tIns="0" rIns="0" bIns="0" rtlCol="0" anchor="ctr"/>
          <a:lstStyle/>
          <a:p>
            <a:pPr>
              <a:lnSpc>
                <a:spcPct val="120000"/>
              </a:lnSpc>
            </a:pPr>
            <a:r>
              <a:rPr lang="en-US" sz="875" dirty="0">
                <a:solidFill>
                  <a:srgbClr val="E0E2E5">
                    <a:alpha val="70000"/>
                  </a:srgbClr>
                </a:solidFill>
                <a:latin typeface="Noto Sans SC" pitchFamily="34" charset="0"/>
                <a:ea typeface="Noto Sans SC" pitchFamily="34" charset="-122"/>
                <a:cs typeface="Noto Sans SC" pitchFamily="34" charset="-120"/>
              </a:rPr>
              <a:t>评测体系逐步统一</a:t>
            </a:r>
            <a:endParaRPr lang="en-US" sz="1600" dirty="0"/>
          </a:p>
        </p:txBody>
      </p:sp>
      <p:sp>
        <p:nvSpPr>
          <p:cNvPr id="56" name="Shape 54"/>
          <p:cNvSpPr/>
          <p:nvPr/>
        </p:nvSpPr>
        <p:spPr>
          <a:xfrm>
            <a:off x="333375" y="6350880"/>
            <a:ext cx="11541125" cy="460375"/>
          </a:xfrm>
          <a:custGeom>
            <a:avLst/>
            <a:gdLst/>
            <a:ahLst/>
            <a:cxnLst/>
            <a:rect l="l" t="t" r="r" b="b"/>
            <a:pathLst>
              <a:path w="11541125" h="460375">
                <a:moveTo>
                  <a:pt x="31750" y="0"/>
                </a:moveTo>
                <a:lnTo>
                  <a:pt x="11477625" y="0"/>
                </a:lnTo>
                <a:cubicBezTo>
                  <a:pt x="11512695" y="0"/>
                  <a:pt x="11541125" y="28430"/>
                  <a:pt x="11541125" y="63500"/>
                </a:cubicBezTo>
                <a:lnTo>
                  <a:pt x="11541125" y="396875"/>
                </a:lnTo>
                <a:cubicBezTo>
                  <a:pt x="11541125" y="431945"/>
                  <a:pt x="11512695" y="460375"/>
                  <a:pt x="11477625" y="460375"/>
                </a:cubicBezTo>
                <a:lnTo>
                  <a:pt x="31750" y="460375"/>
                </a:lnTo>
                <a:cubicBezTo>
                  <a:pt x="14227" y="460375"/>
                  <a:pt x="0" y="446148"/>
                  <a:pt x="0" y="428625"/>
                </a:cubicBezTo>
                <a:lnTo>
                  <a:pt x="0" y="31750"/>
                </a:lnTo>
                <a:cubicBezTo>
                  <a:pt x="0" y="14227"/>
                  <a:pt x="14227" y="0"/>
                  <a:pt x="31750" y="0"/>
                </a:cubicBezTo>
                <a:close/>
              </a:path>
            </a:pathLst>
          </a:custGeom>
          <a:solidFill>
            <a:srgbClr val="C9A86A">
              <a:alpha val="20000"/>
            </a:srgbClr>
          </a:solidFill>
          <a:ln/>
        </p:spPr>
        <p:txBody>
          <a:bodyPr/>
          <a:lstStyle/>
          <a:p>
            <a:endParaRPr lang="zh-CN" altLang="en-US"/>
          </a:p>
        </p:txBody>
      </p:sp>
      <p:sp>
        <p:nvSpPr>
          <p:cNvPr id="57" name="Shape 55"/>
          <p:cNvSpPr/>
          <p:nvPr/>
        </p:nvSpPr>
        <p:spPr>
          <a:xfrm>
            <a:off x="333375" y="6350880"/>
            <a:ext cx="31750" cy="460375"/>
          </a:xfrm>
          <a:custGeom>
            <a:avLst/>
            <a:gdLst/>
            <a:ahLst/>
            <a:cxnLst/>
            <a:rect l="l" t="t" r="r" b="b"/>
            <a:pathLst>
              <a:path w="31750" h="460375">
                <a:moveTo>
                  <a:pt x="31750" y="0"/>
                </a:moveTo>
                <a:lnTo>
                  <a:pt x="31750" y="0"/>
                </a:lnTo>
                <a:lnTo>
                  <a:pt x="31750" y="460375"/>
                </a:lnTo>
                <a:lnTo>
                  <a:pt x="31750" y="460375"/>
                </a:lnTo>
                <a:cubicBezTo>
                  <a:pt x="14227" y="460375"/>
                  <a:pt x="0" y="446148"/>
                  <a:pt x="0" y="428625"/>
                </a:cubicBezTo>
                <a:lnTo>
                  <a:pt x="0" y="31750"/>
                </a:lnTo>
                <a:cubicBezTo>
                  <a:pt x="0" y="14227"/>
                  <a:pt x="14227" y="0"/>
                  <a:pt x="31750" y="0"/>
                </a:cubicBezTo>
                <a:close/>
              </a:path>
            </a:pathLst>
          </a:custGeom>
          <a:solidFill>
            <a:srgbClr val="C9A86A"/>
          </a:solidFill>
          <a:ln/>
        </p:spPr>
        <p:txBody>
          <a:bodyPr/>
          <a:lstStyle/>
          <a:p>
            <a:endParaRPr lang="zh-CN" altLang="en-US"/>
          </a:p>
        </p:txBody>
      </p:sp>
      <p:sp>
        <p:nvSpPr>
          <p:cNvPr id="58" name="Shape 56"/>
          <p:cNvSpPr/>
          <p:nvPr/>
        </p:nvSpPr>
        <p:spPr>
          <a:xfrm>
            <a:off x="500063" y="6517568"/>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C9A86A"/>
          </a:solidFill>
          <a:ln/>
        </p:spPr>
        <p:txBody>
          <a:bodyPr/>
          <a:lstStyle/>
          <a:p>
            <a:endParaRPr lang="zh-CN" altLang="en-US"/>
          </a:p>
        </p:txBody>
      </p:sp>
      <p:sp>
        <p:nvSpPr>
          <p:cNvPr id="59" name="Text 57"/>
          <p:cNvSpPr/>
          <p:nvPr/>
        </p:nvSpPr>
        <p:spPr>
          <a:xfrm>
            <a:off x="674688" y="6477880"/>
            <a:ext cx="11136313" cy="206375"/>
          </a:xfrm>
          <a:prstGeom prst="rect">
            <a:avLst/>
          </a:prstGeom>
          <a:noFill/>
          <a:ln/>
        </p:spPr>
        <p:txBody>
          <a:bodyPr wrap="square" lIns="0" tIns="0" rIns="0" bIns="0" rtlCol="0" anchor="ctr"/>
          <a:lstStyle/>
          <a:p>
            <a:pPr>
              <a:lnSpc>
                <a:spcPct val="140000"/>
              </a:lnSpc>
            </a:pPr>
            <a:r>
              <a:rPr lang="en-US" sz="1000" b="1" dirty="0">
                <a:solidFill>
                  <a:srgbClr val="E0E2E5"/>
                </a:solidFill>
                <a:latin typeface="Noto Sans SC" pitchFamily="34" charset="0"/>
                <a:ea typeface="Noto Sans SC" pitchFamily="34" charset="-122"/>
                <a:cs typeface="Noto Sans SC" pitchFamily="34" charset="-120"/>
              </a:rPr>
              <a:t>一句话概括：</a:t>
            </a:r>
            <a:r>
              <a:rPr lang="en-US" sz="1000" dirty="0">
                <a:solidFill>
                  <a:srgbClr val="E0E2E5"/>
                </a:solidFill>
                <a:latin typeface="Noto Sans SC" pitchFamily="34" charset="0"/>
                <a:ea typeface="Noto Sans SC" pitchFamily="34" charset="-122"/>
                <a:cs typeface="Noto Sans SC" pitchFamily="34" charset="-120"/>
              </a:rPr>
              <a:t>KV Cache 正在从</a:t>
            </a:r>
            <a:r>
              <a:rPr lang="en-US" sz="1000" b="1" dirty="0">
                <a:solidFill>
                  <a:srgbClr val="E0E2E5"/>
                </a:solidFill>
                <a:latin typeface="Noto Sans SC" pitchFamily="34" charset="0"/>
                <a:ea typeface="Noto Sans SC" pitchFamily="34" charset="-122"/>
                <a:cs typeface="Noto Sans SC" pitchFamily="34" charset="-120"/>
              </a:rPr>
              <a:t>"大模型推理的被动中间状态"</a:t>
            </a:r>
            <a:r>
              <a:rPr lang="en-US" sz="1000" dirty="0">
                <a:solidFill>
                  <a:srgbClr val="E0E2E5"/>
                </a:solidFill>
                <a:latin typeface="Noto Sans SC" pitchFamily="34" charset="0"/>
                <a:ea typeface="Noto Sans SC" pitchFamily="34" charset="-122"/>
                <a:cs typeface="Noto Sans SC" pitchFamily="34" charset="-120"/>
              </a:rPr>
              <a:t>演化为</a:t>
            </a:r>
            <a:r>
              <a:rPr lang="en-US" sz="1000" b="1" dirty="0">
                <a:solidFill>
                  <a:srgbClr val="E0E2E5"/>
                </a:solidFill>
                <a:latin typeface="Noto Sans SC" pitchFamily="34" charset="0"/>
                <a:ea typeface="Noto Sans SC" pitchFamily="34" charset="-122"/>
                <a:cs typeface="Noto Sans SC" pitchFamily="34" charset="-120"/>
              </a:rPr>
              <a:t>"可压缩、可分层、可调度的主动数据管理系统"</a:t>
            </a:r>
            <a:r>
              <a:rPr lang="en-US" sz="1000" dirty="0">
                <a:solidFill>
                  <a:srgbClr val="E0E2E5"/>
                </a:solidFill>
                <a:latin typeface="Noto Sans SC" pitchFamily="34" charset="0"/>
                <a:ea typeface="Noto Sans SC" pitchFamily="34" charset="-122"/>
                <a:cs typeface="Noto Sans SC" pitchFamily="34" charset="-120"/>
              </a:rPr>
              <a:t>。</a:t>
            </a:r>
            <a:endParaRPr lang="en-US" sz="1600" dirty="0"/>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1D21"/>
        </a:solidFill>
        <a:effectLst/>
      </p:bgPr>
    </p:bg>
    <p:spTree>
      <p:nvGrpSpPr>
        <p:cNvPr id="1" name=""/>
        <p:cNvGrpSpPr/>
        <p:nvPr/>
      </p:nvGrpSpPr>
      <p:grpSpPr>
        <a:xfrm>
          <a:off x="0" y="0"/>
          <a:ext cx="0" cy="0"/>
          <a:chOff x="0" y="0"/>
          <a:chExt cx="0" cy="0"/>
        </a:xfrm>
      </p:grpSpPr>
      <p:sp>
        <p:nvSpPr>
          <p:cNvPr id="4" name="Shape 1"/>
          <p:cNvSpPr/>
          <p:nvPr/>
        </p:nvSpPr>
        <p:spPr>
          <a:xfrm>
            <a:off x="5132784" y="495300"/>
            <a:ext cx="1943100" cy="495300"/>
          </a:xfrm>
          <a:custGeom>
            <a:avLst/>
            <a:gdLst/>
            <a:ahLst/>
            <a:cxnLst/>
            <a:rect l="l" t="t" r="r" b="b"/>
            <a:pathLst>
              <a:path w="1943100" h="495300">
                <a:moveTo>
                  <a:pt x="0" y="0"/>
                </a:moveTo>
                <a:lnTo>
                  <a:pt x="1943100" y="0"/>
                </a:lnTo>
                <a:lnTo>
                  <a:pt x="1943100" y="495300"/>
                </a:lnTo>
                <a:lnTo>
                  <a:pt x="0" y="495300"/>
                </a:lnTo>
                <a:lnTo>
                  <a:pt x="0" y="0"/>
                </a:lnTo>
                <a:close/>
              </a:path>
            </a:pathLst>
          </a:custGeom>
          <a:solidFill>
            <a:srgbClr val="3D8B75">
              <a:alpha val="20000"/>
            </a:srgbClr>
          </a:solidFill>
          <a:ln/>
        </p:spPr>
        <p:txBody>
          <a:bodyPr/>
          <a:lstStyle/>
          <a:p>
            <a:endParaRPr lang="zh-CN" altLang="en-US"/>
          </a:p>
        </p:txBody>
      </p:sp>
      <p:sp>
        <p:nvSpPr>
          <p:cNvPr id="5" name="Shape 2"/>
          <p:cNvSpPr/>
          <p:nvPr/>
        </p:nvSpPr>
        <p:spPr>
          <a:xfrm>
            <a:off x="5132784" y="495300"/>
            <a:ext cx="38100" cy="495300"/>
          </a:xfrm>
          <a:custGeom>
            <a:avLst/>
            <a:gdLst/>
            <a:ahLst/>
            <a:cxnLst/>
            <a:rect l="l" t="t" r="r" b="b"/>
            <a:pathLst>
              <a:path w="38100" h="495300">
                <a:moveTo>
                  <a:pt x="0" y="0"/>
                </a:moveTo>
                <a:lnTo>
                  <a:pt x="38100" y="0"/>
                </a:lnTo>
                <a:lnTo>
                  <a:pt x="38100" y="495300"/>
                </a:lnTo>
                <a:lnTo>
                  <a:pt x="0" y="495300"/>
                </a:lnTo>
                <a:lnTo>
                  <a:pt x="0" y="0"/>
                </a:lnTo>
                <a:close/>
              </a:path>
            </a:pathLst>
          </a:custGeom>
          <a:solidFill>
            <a:srgbClr val="3D8B75"/>
          </a:solidFill>
          <a:ln/>
        </p:spPr>
        <p:txBody>
          <a:bodyPr/>
          <a:lstStyle/>
          <a:p>
            <a:endParaRPr lang="zh-CN" altLang="en-US"/>
          </a:p>
        </p:txBody>
      </p:sp>
      <p:sp>
        <p:nvSpPr>
          <p:cNvPr id="6" name="Text 3"/>
          <p:cNvSpPr/>
          <p:nvPr/>
        </p:nvSpPr>
        <p:spPr>
          <a:xfrm>
            <a:off x="5332809" y="609600"/>
            <a:ext cx="1562100" cy="266700"/>
          </a:xfrm>
          <a:prstGeom prst="rect">
            <a:avLst/>
          </a:prstGeom>
          <a:noFill/>
          <a:ln/>
        </p:spPr>
        <p:txBody>
          <a:bodyPr wrap="square" lIns="0" tIns="0" rIns="0" bIns="0" rtlCol="0" anchor="ctr"/>
          <a:lstStyle/>
          <a:p>
            <a:pPr algn="ctr">
              <a:lnSpc>
                <a:spcPct val="120000"/>
              </a:lnSpc>
            </a:pPr>
            <a:r>
              <a:rPr lang="en-US" sz="1500" b="1" kern="0" spc="150" dirty="0">
                <a:solidFill>
                  <a:srgbClr val="3D8B75"/>
                </a:solidFill>
                <a:latin typeface="Noto Sans SC" pitchFamily="34" charset="0"/>
                <a:ea typeface="Noto Sans SC" pitchFamily="34" charset="-122"/>
                <a:cs typeface="Noto Sans SC" pitchFamily="34" charset="-120"/>
              </a:rPr>
              <a:t>CONCLUSION</a:t>
            </a:r>
            <a:endParaRPr lang="en-US" sz="1600" dirty="0"/>
          </a:p>
        </p:txBody>
      </p:sp>
      <p:sp>
        <p:nvSpPr>
          <p:cNvPr id="7" name="Text 4"/>
          <p:cNvSpPr/>
          <p:nvPr/>
        </p:nvSpPr>
        <p:spPr>
          <a:xfrm>
            <a:off x="2556123" y="1600200"/>
            <a:ext cx="7077075" cy="714375"/>
          </a:xfrm>
          <a:prstGeom prst="rect">
            <a:avLst/>
          </a:prstGeom>
          <a:noFill/>
          <a:ln/>
        </p:spPr>
        <p:txBody>
          <a:bodyPr wrap="square" lIns="0" tIns="0" rIns="0" bIns="0" rtlCol="0" anchor="ctr"/>
          <a:lstStyle/>
          <a:p>
            <a:pPr algn="ctr">
              <a:lnSpc>
                <a:spcPct val="100000"/>
              </a:lnSpc>
            </a:pPr>
            <a:r>
              <a:rPr lang="en-US" sz="4500" b="1" dirty="0">
                <a:solidFill>
                  <a:srgbClr val="E0E2E5"/>
                </a:solidFill>
                <a:latin typeface="Noto Sans SC" pitchFamily="34" charset="0"/>
                <a:ea typeface="Noto Sans SC" pitchFamily="34" charset="-122"/>
                <a:cs typeface="Noto Sans SC" pitchFamily="34" charset="-120"/>
              </a:rPr>
              <a:t>一句话概括</a:t>
            </a:r>
            <a:endParaRPr lang="en-US" sz="1600" dirty="0"/>
          </a:p>
        </p:txBody>
      </p:sp>
      <p:sp>
        <p:nvSpPr>
          <p:cNvPr id="8" name="Shape 5"/>
          <p:cNvSpPr/>
          <p:nvPr/>
        </p:nvSpPr>
        <p:spPr>
          <a:xfrm>
            <a:off x="5334000" y="2619375"/>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9A86A"/>
          </a:solidFill>
          <a:ln/>
        </p:spPr>
        <p:txBody>
          <a:bodyPr/>
          <a:lstStyle/>
          <a:p>
            <a:endParaRPr lang="zh-CN" altLang="en-US"/>
          </a:p>
        </p:txBody>
      </p:sp>
      <p:sp>
        <p:nvSpPr>
          <p:cNvPr id="9" name="Shape 6"/>
          <p:cNvSpPr/>
          <p:nvPr/>
        </p:nvSpPr>
        <p:spPr>
          <a:xfrm>
            <a:off x="2708523" y="3067050"/>
            <a:ext cx="6772275" cy="2638425"/>
          </a:xfrm>
          <a:custGeom>
            <a:avLst/>
            <a:gdLst/>
            <a:ahLst/>
            <a:cxnLst/>
            <a:rect l="l" t="t" r="r" b="b"/>
            <a:pathLst>
              <a:path w="6772275" h="2638425">
                <a:moveTo>
                  <a:pt x="152395" y="0"/>
                </a:moveTo>
                <a:lnTo>
                  <a:pt x="6619880" y="0"/>
                </a:lnTo>
                <a:cubicBezTo>
                  <a:pt x="6703989" y="0"/>
                  <a:pt x="6772275" y="68286"/>
                  <a:pt x="6772275" y="152395"/>
                </a:cubicBezTo>
                <a:lnTo>
                  <a:pt x="6772275" y="2486030"/>
                </a:lnTo>
                <a:cubicBezTo>
                  <a:pt x="6772275" y="2570139"/>
                  <a:pt x="6703989" y="2638425"/>
                  <a:pt x="6619880" y="2638425"/>
                </a:cubicBezTo>
                <a:lnTo>
                  <a:pt x="152395" y="2638425"/>
                </a:lnTo>
                <a:cubicBezTo>
                  <a:pt x="68286" y="2638425"/>
                  <a:pt x="0" y="2570139"/>
                  <a:pt x="0" y="2486030"/>
                </a:cubicBezTo>
                <a:lnTo>
                  <a:pt x="0" y="152395"/>
                </a:lnTo>
                <a:cubicBezTo>
                  <a:pt x="0" y="68286"/>
                  <a:pt x="68286" y="0"/>
                  <a:pt x="152395" y="0"/>
                </a:cubicBezTo>
                <a:close/>
              </a:path>
            </a:pathLst>
          </a:custGeom>
          <a:solidFill>
            <a:srgbClr val="1A1D21">
              <a:alpha val="70196"/>
            </a:srgbClr>
          </a:solidFill>
          <a:ln w="25400">
            <a:solidFill>
              <a:srgbClr val="3D8B75">
                <a:alpha val="30196"/>
              </a:srgbClr>
            </a:solidFill>
            <a:prstDash val="solid"/>
          </a:ln>
        </p:spPr>
        <p:txBody>
          <a:bodyPr/>
          <a:lstStyle/>
          <a:p>
            <a:endParaRPr lang="zh-CN" altLang="en-US"/>
          </a:p>
        </p:txBody>
      </p:sp>
      <p:sp>
        <p:nvSpPr>
          <p:cNvPr id="10" name="Text 7"/>
          <p:cNvSpPr/>
          <p:nvPr/>
        </p:nvSpPr>
        <p:spPr>
          <a:xfrm>
            <a:off x="3027611" y="3457575"/>
            <a:ext cx="6134100" cy="1857375"/>
          </a:xfrm>
          <a:prstGeom prst="rect">
            <a:avLst/>
          </a:prstGeom>
          <a:noFill/>
          <a:ln/>
        </p:spPr>
        <p:txBody>
          <a:bodyPr wrap="square" lIns="0" tIns="0" rIns="0" bIns="0" rtlCol="0" anchor="ctr"/>
          <a:lstStyle/>
          <a:p>
            <a:pPr algn="ctr">
              <a:lnSpc>
                <a:spcPct val="140000"/>
              </a:lnSpc>
            </a:pPr>
            <a:r>
              <a:rPr lang="en-US" sz="2250" dirty="0">
                <a:solidFill>
                  <a:srgbClr val="E0E2E5"/>
                </a:solidFill>
                <a:latin typeface="Noto Sans SC" pitchFamily="34" charset="0"/>
                <a:ea typeface="Noto Sans SC" pitchFamily="34" charset="-122"/>
                <a:cs typeface="Noto Sans SC" pitchFamily="34" charset="-120"/>
              </a:rPr>
              <a:t>KV Cache 正在从</a:t>
            </a:r>
            <a:endParaRPr lang="en-US" sz="1600" dirty="0"/>
          </a:p>
          <a:p>
            <a:pPr algn="ctr">
              <a:lnSpc>
                <a:spcPct val="140000"/>
              </a:lnSpc>
            </a:pPr>
            <a:r>
              <a:rPr lang="en-US" sz="2250" b="1" dirty="0">
                <a:solidFill>
                  <a:srgbClr val="5F6B7A"/>
                </a:solidFill>
                <a:latin typeface="Noto Sans SC" pitchFamily="34" charset="0"/>
                <a:ea typeface="Noto Sans SC" pitchFamily="34" charset="-122"/>
                <a:cs typeface="Noto Sans SC" pitchFamily="34" charset="-120"/>
              </a:rPr>
              <a:t>"大模型推理的被动中间状态"</a:t>
            </a:r>
            <a:endParaRPr lang="en-US" sz="1600" dirty="0"/>
          </a:p>
          <a:p>
            <a:pPr algn="ctr">
              <a:lnSpc>
                <a:spcPct val="140000"/>
              </a:lnSpc>
            </a:pPr>
            <a:r>
              <a:rPr lang="en-US" sz="2250" dirty="0">
                <a:solidFill>
                  <a:srgbClr val="E0E2E5"/>
                </a:solidFill>
                <a:latin typeface="Noto Sans SC" pitchFamily="34" charset="0"/>
                <a:ea typeface="Noto Sans SC" pitchFamily="34" charset="-122"/>
                <a:cs typeface="Noto Sans SC" pitchFamily="34" charset="-120"/>
              </a:rPr>
              <a:t>演化为</a:t>
            </a:r>
            <a:endParaRPr lang="en-US" sz="1600" dirty="0"/>
          </a:p>
          <a:p>
            <a:pPr algn="ctr">
              <a:lnSpc>
                <a:spcPct val="140000"/>
              </a:lnSpc>
            </a:pPr>
            <a:r>
              <a:rPr lang="en-US" sz="2250" b="1" dirty="0">
                <a:solidFill>
                  <a:srgbClr val="3D8B75"/>
                </a:solidFill>
                <a:latin typeface="Noto Sans SC" pitchFamily="34" charset="0"/>
                <a:ea typeface="Noto Sans SC" pitchFamily="34" charset="-122"/>
                <a:cs typeface="Noto Sans SC" pitchFamily="34" charset="-120"/>
              </a:rPr>
              <a:t>"可压缩、可分层、可调度的主动数据管理系统"</a:t>
            </a:r>
            <a:endParaRPr lang="en-US" sz="1600" dirty="0"/>
          </a:p>
        </p:txBody>
      </p:sp>
      <p:sp>
        <p:nvSpPr>
          <p:cNvPr id="11" name="Shape 8"/>
          <p:cNvSpPr/>
          <p:nvPr/>
        </p:nvSpPr>
        <p:spPr>
          <a:xfrm>
            <a:off x="3810000" y="6172200"/>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3D8B75"/>
          </a:solidFill>
          <a:ln/>
        </p:spPr>
        <p:txBody>
          <a:bodyPr/>
          <a:lstStyle/>
          <a:p>
            <a:endParaRPr lang="zh-CN" altLang="en-US"/>
          </a:p>
        </p:txBody>
      </p:sp>
      <p:sp>
        <p:nvSpPr>
          <p:cNvPr id="12" name="Text 9"/>
          <p:cNvSpPr/>
          <p:nvPr/>
        </p:nvSpPr>
        <p:spPr>
          <a:xfrm>
            <a:off x="3995738" y="6096000"/>
            <a:ext cx="771525" cy="266700"/>
          </a:xfrm>
          <a:prstGeom prst="rect">
            <a:avLst/>
          </a:prstGeom>
          <a:noFill/>
          <a:ln/>
        </p:spPr>
        <p:txBody>
          <a:bodyPr wrap="square" lIns="0" tIns="0" rIns="0" bIns="0" rtlCol="0" anchor="ctr"/>
          <a:lstStyle/>
          <a:p>
            <a:pPr algn="ctr">
              <a:lnSpc>
                <a:spcPct val="130000"/>
              </a:lnSpc>
            </a:pPr>
            <a:r>
              <a:rPr lang="en-US" sz="1350" dirty="0">
                <a:solidFill>
                  <a:srgbClr val="E0E2E5">
                    <a:alpha val="70000"/>
                  </a:srgbClr>
                </a:solidFill>
                <a:latin typeface="Noto Sans SC" pitchFamily="34" charset="0"/>
                <a:ea typeface="Noto Sans SC" pitchFamily="34" charset="-122"/>
                <a:cs typeface="Noto Sans SC" pitchFamily="34" charset="-120"/>
              </a:rPr>
              <a:t>四维冗余</a:t>
            </a:r>
            <a:endParaRPr lang="en-US" sz="1600" dirty="0"/>
          </a:p>
        </p:txBody>
      </p:sp>
      <p:sp>
        <p:nvSpPr>
          <p:cNvPr id="13" name="Shape 10"/>
          <p:cNvSpPr/>
          <p:nvPr/>
        </p:nvSpPr>
        <p:spPr>
          <a:xfrm>
            <a:off x="5029200" y="6172200"/>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C9A86A"/>
          </a:solidFill>
          <a:ln/>
        </p:spPr>
        <p:txBody>
          <a:bodyPr/>
          <a:lstStyle/>
          <a:p>
            <a:endParaRPr lang="zh-CN" altLang="en-US"/>
          </a:p>
        </p:txBody>
      </p:sp>
      <p:sp>
        <p:nvSpPr>
          <p:cNvPr id="14" name="Text 11"/>
          <p:cNvSpPr/>
          <p:nvPr/>
        </p:nvSpPr>
        <p:spPr>
          <a:xfrm>
            <a:off x="5214938" y="6096000"/>
            <a:ext cx="771525" cy="266700"/>
          </a:xfrm>
          <a:prstGeom prst="rect">
            <a:avLst/>
          </a:prstGeom>
          <a:noFill/>
          <a:ln/>
        </p:spPr>
        <p:txBody>
          <a:bodyPr wrap="square" lIns="0" tIns="0" rIns="0" bIns="0" rtlCol="0" anchor="ctr"/>
          <a:lstStyle/>
          <a:p>
            <a:pPr algn="ctr">
              <a:lnSpc>
                <a:spcPct val="130000"/>
              </a:lnSpc>
            </a:pPr>
            <a:r>
              <a:rPr lang="en-US" sz="1350" dirty="0">
                <a:solidFill>
                  <a:srgbClr val="E0E2E5">
                    <a:alpha val="70000"/>
                  </a:srgbClr>
                </a:solidFill>
                <a:latin typeface="Noto Sans SC" pitchFamily="34" charset="0"/>
                <a:ea typeface="Noto Sans SC" pitchFamily="34" charset="-122"/>
                <a:cs typeface="Noto Sans SC" pitchFamily="34" charset="-120"/>
              </a:rPr>
              <a:t>六位一体</a:t>
            </a:r>
            <a:endParaRPr lang="en-US" sz="1600" dirty="0"/>
          </a:p>
        </p:txBody>
      </p:sp>
      <p:sp>
        <p:nvSpPr>
          <p:cNvPr id="15" name="Shape 12"/>
          <p:cNvSpPr/>
          <p:nvPr/>
        </p:nvSpPr>
        <p:spPr>
          <a:xfrm>
            <a:off x="6248400" y="6172200"/>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5F6B7A"/>
          </a:solidFill>
          <a:ln/>
        </p:spPr>
        <p:txBody>
          <a:bodyPr/>
          <a:lstStyle/>
          <a:p>
            <a:endParaRPr lang="zh-CN" altLang="en-US"/>
          </a:p>
        </p:txBody>
      </p:sp>
      <p:sp>
        <p:nvSpPr>
          <p:cNvPr id="16" name="Text 13"/>
          <p:cNvSpPr/>
          <p:nvPr/>
        </p:nvSpPr>
        <p:spPr>
          <a:xfrm>
            <a:off x="6434138" y="6096000"/>
            <a:ext cx="771525" cy="266700"/>
          </a:xfrm>
          <a:prstGeom prst="rect">
            <a:avLst/>
          </a:prstGeom>
          <a:noFill/>
          <a:ln/>
        </p:spPr>
        <p:txBody>
          <a:bodyPr wrap="square" lIns="0" tIns="0" rIns="0" bIns="0" rtlCol="0" anchor="ctr"/>
          <a:lstStyle/>
          <a:p>
            <a:pPr algn="ctr">
              <a:lnSpc>
                <a:spcPct val="130000"/>
              </a:lnSpc>
            </a:pPr>
            <a:r>
              <a:rPr lang="en-US" sz="1350" dirty="0">
                <a:solidFill>
                  <a:srgbClr val="E0E2E5">
                    <a:alpha val="70000"/>
                  </a:srgbClr>
                </a:solidFill>
                <a:latin typeface="Noto Sans SC" pitchFamily="34" charset="0"/>
                <a:ea typeface="Noto Sans SC" pitchFamily="34" charset="-122"/>
                <a:cs typeface="Noto Sans SC" pitchFamily="34" charset="-120"/>
              </a:rPr>
              <a:t>分层架构</a:t>
            </a:r>
            <a:endParaRPr lang="en-US" sz="1600" dirty="0"/>
          </a:p>
        </p:txBody>
      </p:sp>
      <p:sp>
        <p:nvSpPr>
          <p:cNvPr id="17" name="Shape 14"/>
          <p:cNvSpPr/>
          <p:nvPr/>
        </p:nvSpPr>
        <p:spPr>
          <a:xfrm>
            <a:off x="7467600" y="6172200"/>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3D8B75"/>
          </a:solidFill>
          <a:ln/>
        </p:spPr>
        <p:txBody>
          <a:bodyPr/>
          <a:lstStyle/>
          <a:p>
            <a:endParaRPr lang="zh-CN" altLang="en-US"/>
          </a:p>
        </p:txBody>
      </p:sp>
      <p:sp>
        <p:nvSpPr>
          <p:cNvPr id="18" name="Text 15"/>
          <p:cNvSpPr/>
          <p:nvPr/>
        </p:nvSpPr>
        <p:spPr>
          <a:xfrm>
            <a:off x="7653337" y="6096000"/>
            <a:ext cx="771525" cy="266700"/>
          </a:xfrm>
          <a:prstGeom prst="rect">
            <a:avLst/>
          </a:prstGeom>
          <a:noFill/>
          <a:ln/>
        </p:spPr>
        <p:txBody>
          <a:bodyPr wrap="square" lIns="0" tIns="0" rIns="0" bIns="0" rtlCol="0" anchor="ctr"/>
          <a:lstStyle/>
          <a:p>
            <a:pPr algn="ctr">
              <a:lnSpc>
                <a:spcPct val="130000"/>
              </a:lnSpc>
            </a:pPr>
            <a:r>
              <a:rPr lang="en-US" sz="1350" dirty="0">
                <a:solidFill>
                  <a:srgbClr val="E0E2E5">
                    <a:alpha val="70000"/>
                  </a:srgbClr>
                </a:solidFill>
                <a:latin typeface="Noto Sans SC" pitchFamily="34" charset="0"/>
                <a:ea typeface="Noto Sans SC" pitchFamily="34" charset="-122"/>
                <a:cs typeface="Noto Sans SC" pitchFamily="34" charset="-120"/>
              </a:rPr>
              <a:t>系统融合</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2543</Words>
  <Application>Microsoft Macintosh PowerPoint</Application>
  <PresentationFormat>宽屏</PresentationFormat>
  <Paragraphs>830</Paragraphs>
  <Slides>35</Slides>
  <Notes>35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35</vt:i4>
      </vt:variant>
    </vt:vector>
  </HeadingPairs>
  <TitlesOfParts>
    <vt:vector size="40" baseType="lpstr">
      <vt:lpstr>Noto Sans SC</vt:lpstr>
      <vt:lpstr>微软雅黑</vt:lpstr>
      <vt:lpstr>MiSans</vt:lpstr>
      <vt:lpstr>Arial</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大模型 KV Cache 压缩技术详解</dc:title>
  <dc:subject>大模型 KV Cache 压缩技术详解</dc:subject>
  <dc:creator>Kimi</dc:creator>
  <cp:lastModifiedBy>王 天青</cp:lastModifiedBy>
  <cp:revision>6</cp:revision>
  <dcterms:created xsi:type="dcterms:W3CDTF">2026-04-08T23:24:54Z</dcterms:created>
  <dcterms:modified xsi:type="dcterms:W3CDTF">2026-04-08T23:52:18Z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{"Label":"大模型 KV Cache 压缩技术详解","ContentProducer":"001191110108MACG2KBH8F10000","ProduceID":"19d6f574-9062-815b-8000-0000bc3945e3","ReservedCode1":"","ContentPropagator":"001191110108MACG2KBH8F20000","PropagateID":"19d6f574-9062-815b-8000-0000bc3945e3","ReservedCode2":""}</vt:lpwstr>
  </property>
</Properties>
</file>