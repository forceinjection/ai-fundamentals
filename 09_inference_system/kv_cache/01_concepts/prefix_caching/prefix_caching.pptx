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embeddedFontLst>
    <p:embeddedFont>
      <p:font typeface="MiSans" pitchFamily="2" charset="-122"/>
      <p:regular r:id="rId35"/>
    </p:embeddedFont>
    <p:embeddedFont>
      <p:font typeface="Noto Sans SC" panose="020B0200000000000000"/>
      <p:regular r:id="rId3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58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1633538"/>
            <a:ext cx="2886075" cy="390525"/>
          </a:xfrm>
          <a:custGeom>
            <a:avLst/>
            <a:gdLst/>
            <a:ahLst/>
            <a:cxnLst/>
            <a:rect l="l" t="t" r="r" b="b"/>
            <a:pathLst>
              <a:path w="2886075" h="390525">
                <a:moveTo>
                  <a:pt x="76199" y="0"/>
                </a:moveTo>
                <a:lnTo>
                  <a:pt x="2809876" y="0"/>
                </a:lnTo>
                <a:cubicBezTo>
                  <a:pt x="2851959" y="0"/>
                  <a:pt x="2886075" y="34116"/>
                  <a:pt x="2886075" y="76199"/>
                </a:cubicBezTo>
                <a:lnTo>
                  <a:pt x="2886075" y="314326"/>
                </a:lnTo>
                <a:cubicBezTo>
                  <a:pt x="2886075" y="356409"/>
                  <a:pt x="2851959" y="390525"/>
                  <a:pt x="28098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 w="12700">
            <a:solidFill>
              <a:srgbClr val="D9A46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1719263"/>
            <a:ext cx="264720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INFERENCE OPTIMIZATION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57425"/>
            <a:ext cx="51339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Prefix Caching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技术详解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00525"/>
            <a:ext cx="412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从原理到 vLLM/LMCache 实践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0050" y="5038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647700" y="50006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大模型推理优化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971675" y="5038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2209800" y="5000625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KV Cache 管理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524696" y="5038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762821" y="50006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性能加速实践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47800"/>
            <a:ext cx="5581650" cy="1333500"/>
          </a:xfrm>
          <a:custGeom>
            <a:avLst/>
            <a:gdLst/>
            <a:ahLst/>
            <a:cxnLst/>
            <a:rect l="l" t="t" r="r" b="b"/>
            <a:pathLst>
              <a:path w="5581650" h="1333500">
                <a:moveTo>
                  <a:pt x="3810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257304"/>
                </a:lnTo>
                <a:cubicBezTo>
                  <a:pt x="5581650" y="1299386"/>
                  <a:pt x="5547536" y="1333500"/>
                  <a:pt x="5505454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4478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77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00075" y="1676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7300" y="1676400"/>
            <a:ext cx="461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20574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为什么需要 Prefix Caching？LLM推理中的重复计算问题与优化契机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9350" y="1447800"/>
            <a:ext cx="5581650" cy="1333500"/>
          </a:xfrm>
          <a:custGeom>
            <a:avLst/>
            <a:gdLst/>
            <a:ahLst/>
            <a:cxnLst/>
            <a:rect l="l" t="t" r="r" b="b"/>
            <a:pathLst>
              <a:path w="5581650" h="1333500">
                <a:moveTo>
                  <a:pt x="3810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257304"/>
                </a:lnTo>
                <a:cubicBezTo>
                  <a:pt x="5581650" y="1299386"/>
                  <a:pt x="5547536" y="1333500"/>
                  <a:pt x="5505454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229350" y="14478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4770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29375" y="1676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1676400"/>
            <a:ext cx="461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05740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Prefix Caching的工作机制：切分、哈希、查找与复用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00990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09645"/>
                </a:lnTo>
                <a:cubicBezTo>
                  <a:pt x="5581650" y="1051732"/>
                  <a:pt x="5547532" y="1085850"/>
                  <a:pt x="55054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00050" y="30099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47700" y="323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00075" y="3238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7300" y="3238500"/>
            <a:ext cx="461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实现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7300" y="361950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Automatic Prefix Caching：GPU显存内的高效前缀缓存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300990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09645"/>
                </a:lnTo>
                <a:cubicBezTo>
                  <a:pt x="5581650" y="1051732"/>
                  <a:pt x="5547532" y="1085850"/>
                  <a:pt x="55054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229350" y="30099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77000" y="323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29375" y="3238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3238500"/>
            <a:ext cx="461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 架构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61950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多级 Prefix Caching：跨介质、跨实例的缓存共享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32435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09645"/>
                </a:lnTo>
                <a:cubicBezTo>
                  <a:pt x="5581650" y="1051732"/>
                  <a:pt x="5547532" y="1085850"/>
                  <a:pt x="55054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E8E9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00050" y="432435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E8E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7700" y="4552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E8E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00075" y="45529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57300" y="4552950"/>
            <a:ext cx="461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性能分析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57300" y="493395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理论加速比与实测数据：TTFT降低60%-95%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9350" y="432435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09645"/>
                </a:lnTo>
                <a:cubicBezTo>
                  <a:pt x="5581650" y="1051732"/>
                  <a:pt x="5547532" y="1085850"/>
                  <a:pt x="55054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E8E9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229350" y="432435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E8E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477000" y="4552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E8E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429375" y="45529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86600" y="4552950"/>
            <a:ext cx="461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进阶话题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493395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扩展应用与技术选型：与Chunked Prefill、PD分离的协同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2119313"/>
            <a:ext cx="1447800" cy="428625"/>
          </a:xfrm>
          <a:custGeom>
            <a:avLst/>
            <a:gdLst/>
            <a:ahLst/>
            <a:cxnLst/>
            <a:rect l="l" t="t" r="r" b="b"/>
            <a:pathLst>
              <a:path w="1447800" h="428625">
                <a:moveTo>
                  <a:pt x="76201" y="0"/>
                </a:moveTo>
                <a:lnTo>
                  <a:pt x="1371599" y="0"/>
                </a:lnTo>
                <a:cubicBezTo>
                  <a:pt x="1413684" y="0"/>
                  <a:pt x="1447800" y="34116"/>
                  <a:pt x="1447800" y="76201"/>
                </a:cubicBezTo>
                <a:lnTo>
                  <a:pt x="1447800" y="352424"/>
                </a:lnTo>
                <a:cubicBezTo>
                  <a:pt x="1447800" y="394509"/>
                  <a:pt x="1413684" y="428625"/>
                  <a:pt x="137159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 w="12700">
            <a:solidFill>
              <a:srgbClr val="5C7A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2214563"/>
            <a:ext cx="12171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1300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引言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67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为什么需要 Prefix Caching?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5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C7A9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推理中的重复计算问题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5610225" cy="4219575"/>
          </a:xfrm>
          <a:custGeom>
            <a:avLst/>
            <a:gdLst/>
            <a:ahLst/>
            <a:cxnLst/>
            <a:rect l="l" t="t" r="r" b="b"/>
            <a:pathLst>
              <a:path w="5610225" h="4219575">
                <a:moveTo>
                  <a:pt x="76206" y="0"/>
                </a:moveTo>
                <a:lnTo>
                  <a:pt x="5534019" y="0"/>
                </a:lnTo>
                <a:cubicBezTo>
                  <a:pt x="5576107" y="0"/>
                  <a:pt x="5610225" y="34118"/>
                  <a:pt x="5610225" y="76206"/>
                </a:cubicBezTo>
                <a:lnTo>
                  <a:pt x="5610225" y="4143369"/>
                </a:lnTo>
                <a:cubicBezTo>
                  <a:pt x="5610225" y="4185457"/>
                  <a:pt x="5576107" y="4219575"/>
                  <a:pt x="5534019" y="4219575"/>
                </a:cubicBezTo>
                <a:lnTo>
                  <a:pt x="76206" y="4219575"/>
                </a:lnTo>
                <a:cubicBezTo>
                  <a:pt x="34118" y="4219575"/>
                  <a:pt x="0" y="4185457"/>
                  <a:pt x="0" y="414336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09600" y="1495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81075" y="1457325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共享前缀场景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1025" y="1914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2925" y="19145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0125" y="1914525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Prompt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0125" y="2181225"/>
            <a:ext cx="3971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同一应用的所有请求使用相同的系统指令,如角色设定、安全约束等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4788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42925" y="247888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0125" y="2478881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Few-shot Examples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0125" y="2745581"/>
            <a:ext cx="33051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相同的示例在多个请求中复用,如代码生成、翻译任务等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1025" y="30432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42925" y="3043238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0125" y="3043238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场景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0125" y="3309938"/>
            <a:ext cx="31718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检索到的文档片段被多个查询复用,知识库问答等应用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025" y="360759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2925" y="3607594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0125" y="3607594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多轮对话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0125" y="3874294"/>
            <a:ext cx="2333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历史对话上下文在后续轮次中反复出现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6013" y="1262063"/>
            <a:ext cx="5610225" cy="4219575"/>
          </a:xfrm>
          <a:custGeom>
            <a:avLst/>
            <a:gdLst/>
            <a:ahLst/>
            <a:cxnLst/>
            <a:rect l="l" t="t" r="r" b="b"/>
            <a:pathLst>
              <a:path w="5610225" h="4219575">
                <a:moveTo>
                  <a:pt x="76206" y="0"/>
                </a:moveTo>
                <a:lnTo>
                  <a:pt x="5534019" y="0"/>
                </a:lnTo>
                <a:cubicBezTo>
                  <a:pt x="5576107" y="0"/>
                  <a:pt x="5610225" y="34118"/>
                  <a:pt x="5610225" y="76206"/>
                </a:cubicBezTo>
                <a:lnTo>
                  <a:pt x="5610225" y="4143369"/>
                </a:lnTo>
                <a:cubicBezTo>
                  <a:pt x="5610225" y="4185457"/>
                  <a:pt x="5576107" y="4219575"/>
                  <a:pt x="5534019" y="4219575"/>
                </a:cubicBezTo>
                <a:lnTo>
                  <a:pt x="76206" y="4219575"/>
                </a:lnTo>
                <a:cubicBezTo>
                  <a:pt x="34118" y="4219575"/>
                  <a:pt x="0" y="4185457"/>
                  <a:pt x="0" y="414336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19850" y="1495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791325" y="1457325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计算浪费分析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91275" y="191452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543675" y="2085975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Prompt 长度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37478" y="2066925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8K tokens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43675" y="2409825"/>
            <a:ext cx="4914900" cy="76200"/>
          </a:xfrm>
          <a:custGeom>
            <a:avLst/>
            <a:gdLst/>
            <a:ahLst/>
            <a:cxnLst/>
            <a:rect l="l" t="t" r="r" b="b"/>
            <a:pathLst>
              <a:path w="4914900" h="76200">
                <a:moveTo>
                  <a:pt x="38100" y="0"/>
                </a:moveTo>
                <a:lnTo>
                  <a:pt x="4876800" y="0"/>
                </a:lnTo>
                <a:cubicBezTo>
                  <a:pt x="4897828" y="0"/>
                  <a:pt x="4914900" y="17072"/>
                  <a:pt x="4914900" y="38100"/>
                </a:cubicBezTo>
                <a:lnTo>
                  <a:pt x="4914900" y="38100"/>
                </a:lnTo>
                <a:cubicBezTo>
                  <a:pt x="4914900" y="59128"/>
                  <a:pt x="4897828" y="76200"/>
                  <a:pt x="4876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543675" y="2409825"/>
            <a:ext cx="3933825" cy="76200"/>
          </a:xfrm>
          <a:custGeom>
            <a:avLst/>
            <a:gdLst/>
            <a:ahLst/>
            <a:cxnLst/>
            <a:rect l="l" t="t" r="r" b="b"/>
            <a:pathLst>
              <a:path w="3933825" h="76200">
                <a:moveTo>
                  <a:pt x="38100" y="0"/>
                </a:moveTo>
                <a:lnTo>
                  <a:pt x="3895725" y="0"/>
                </a:lnTo>
                <a:cubicBezTo>
                  <a:pt x="3916753" y="0"/>
                  <a:pt x="3933825" y="17072"/>
                  <a:pt x="3933825" y="38100"/>
                </a:cubicBezTo>
                <a:lnTo>
                  <a:pt x="3933825" y="38100"/>
                </a:lnTo>
                <a:cubicBezTo>
                  <a:pt x="3933825" y="59128"/>
                  <a:pt x="3916753" y="76200"/>
                  <a:pt x="38957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391275" y="279082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543675" y="296227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请求频率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99167" y="294322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 req/s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43675" y="3286125"/>
            <a:ext cx="4914900" cy="76200"/>
          </a:xfrm>
          <a:custGeom>
            <a:avLst/>
            <a:gdLst/>
            <a:ahLst/>
            <a:cxnLst/>
            <a:rect l="l" t="t" r="r" b="b"/>
            <a:pathLst>
              <a:path w="4914900" h="76200">
                <a:moveTo>
                  <a:pt x="38100" y="0"/>
                </a:moveTo>
                <a:lnTo>
                  <a:pt x="4876800" y="0"/>
                </a:lnTo>
                <a:cubicBezTo>
                  <a:pt x="4897828" y="0"/>
                  <a:pt x="4914900" y="17072"/>
                  <a:pt x="4914900" y="38100"/>
                </a:cubicBezTo>
                <a:lnTo>
                  <a:pt x="4914900" y="38100"/>
                </a:lnTo>
                <a:cubicBezTo>
                  <a:pt x="4914900" y="59128"/>
                  <a:pt x="4897828" y="76200"/>
                  <a:pt x="4876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543675" y="3286125"/>
            <a:ext cx="4914900" cy="76200"/>
          </a:xfrm>
          <a:custGeom>
            <a:avLst/>
            <a:gdLst/>
            <a:ahLst/>
            <a:cxnLst/>
            <a:rect l="l" t="t" r="r" b="b"/>
            <a:pathLst>
              <a:path w="4914900" h="76200">
                <a:moveTo>
                  <a:pt x="38100" y="0"/>
                </a:moveTo>
                <a:lnTo>
                  <a:pt x="4876800" y="0"/>
                </a:lnTo>
                <a:cubicBezTo>
                  <a:pt x="4897828" y="0"/>
                  <a:pt x="4914900" y="17072"/>
                  <a:pt x="4914900" y="38100"/>
                </a:cubicBezTo>
                <a:lnTo>
                  <a:pt x="4914900" y="38100"/>
                </a:lnTo>
                <a:cubicBezTo>
                  <a:pt x="4914900" y="59128"/>
                  <a:pt x="4897828" y="76200"/>
                  <a:pt x="4876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391275" y="366712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543675" y="38385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Prefill 复杂度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49360" y="3819525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O(N²)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43675" y="4162425"/>
            <a:ext cx="4914900" cy="76200"/>
          </a:xfrm>
          <a:custGeom>
            <a:avLst/>
            <a:gdLst/>
            <a:ahLst/>
            <a:cxnLst/>
            <a:rect l="l" t="t" r="r" b="b"/>
            <a:pathLst>
              <a:path w="4914900" h="76200">
                <a:moveTo>
                  <a:pt x="38100" y="0"/>
                </a:moveTo>
                <a:lnTo>
                  <a:pt x="4876800" y="0"/>
                </a:lnTo>
                <a:cubicBezTo>
                  <a:pt x="4897828" y="0"/>
                  <a:pt x="4914900" y="17072"/>
                  <a:pt x="4914900" y="38100"/>
                </a:cubicBezTo>
                <a:lnTo>
                  <a:pt x="4914900" y="38100"/>
                </a:lnTo>
                <a:cubicBezTo>
                  <a:pt x="4914900" y="59128"/>
                  <a:pt x="4897828" y="76200"/>
                  <a:pt x="4876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543675" y="4162425"/>
            <a:ext cx="2952750" cy="76200"/>
          </a:xfrm>
          <a:custGeom>
            <a:avLst/>
            <a:gdLst/>
            <a:ahLst/>
            <a:cxnLst/>
            <a:rect l="l" t="t" r="r" b="b"/>
            <a:pathLst>
              <a:path w="2952750" h="76200">
                <a:moveTo>
                  <a:pt x="38100" y="0"/>
                </a:moveTo>
                <a:lnTo>
                  <a:pt x="2914650" y="0"/>
                </a:lnTo>
                <a:cubicBezTo>
                  <a:pt x="2935678" y="0"/>
                  <a:pt x="2952750" y="17072"/>
                  <a:pt x="2952750" y="38100"/>
                </a:cubicBezTo>
                <a:lnTo>
                  <a:pt x="2952750" y="38100"/>
                </a:lnTo>
                <a:cubicBezTo>
                  <a:pt x="2952750" y="59128"/>
                  <a:pt x="2935678" y="76200"/>
                  <a:pt x="29146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E8E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396038" y="4548188"/>
            <a:ext cx="5210175" cy="733425"/>
          </a:xfrm>
          <a:custGeom>
            <a:avLst/>
            <a:gdLst/>
            <a:ahLst/>
            <a:cxnLst/>
            <a:rect l="l" t="t" r="r" b="b"/>
            <a:pathLst>
              <a:path w="5210175" h="733425">
                <a:moveTo>
                  <a:pt x="76203" y="0"/>
                </a:moveTo>
                <a:lnTo>
                  <a:pt x="5133972" y="0"/>
                </a:lnTo>
                <a:cubicBezTo>
                  <a:pt x="5176030" y="0"/>
                  <a:pt x="5210175" y="34145"/>
                  <a:pt x="5210175" y="76203"/>
                </a:cubicBezTo>
                <a:lnTo>
                  <a:pt x="5210175" y="657222"/>
                </a:lnTo>
                <a:cubicBezTo>
                  <a:pt x="5210175" y="699280"/>
                  <a:pt x="5176030" y="733425"/>
                  <a:pt x="513397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 w="12700">
            <a:solidFill>
              <a:srgbClr val="D9A46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515100" y="466725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关键问题：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每秒100个请求重复计算8K token的KV Cache,造成巨大的GPU算力浪费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00050" y="5676900"/>
            <a:ext cx="11410950" cy="552450"/>
          </a:xfrm>
          <a:custGeom>
            <a:avLst/>
            <a:gdLst/>
            <a:ahLst/>
            <a:cxnLst/>
            <a:rect l="l" t="t" r="r" b="b"/>
            <a:pathLst>
              <a:path w="11410950" h="552450">
                <a:moveTo>
                  <a:pt x="3810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476251"/>
                </a:lnTo>
                <a:cubicBezTo>
                  <a:pt x="11410950" y="518334"/>
                  <a:pt x="11376834" y="552450"/>
                  <a:pt x="11334751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400050" y="567690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19125" y="58578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923925" y="5829300"/>
            <a:ext cx="5915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核心洞察：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这些重复计算本质上是</a:t>
            </a:r>
            <a:r>
              <a:rPr lang="en-US" sz="1200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完全冗余的 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——相同的输入总是产生相同的KV输出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CONCEPT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Prefix Caching 的核心思想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11420475" cy="1104900"/>
          </a:xfrm>
          <a:custGeom>
            <a:avLst/>
            <a:gdLst/>
            <a:ahLst/>
            <a:cxnLst/>
            <a:rect l="l" t="t" r="r" b="b"/>
            <a:pathLst>
              <a:path w="11420475" h="1104900">
                <a:moveTo>
                  <a:pt x="76205" y="0"/>
                </a:moveTo>
                <a:lnTo>
                  <a:pt x="11344270" y="0"/>
                </a:lnTo>
                <a:cubicBezTo>
                  <a:pt x="11386357" y="0"/>
                  <a:pt x="11420475" y="34118"/>
                  <a:pt x="11420475" y="76205"/>
                </a:cubicBezTo>
                <a:lnTo>
                  <a:pt x="11420475" y="1028695"/>
                </a:lnTo>
                <a:cubicBezTo>
                  <a:pt x="11420475" y="1070782"/>
                  <a:pt x="11386357" y="1104900"/>
                  <a:pt x="113442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6">
                  <a:alpha val="20000"/>
                </a:srgbClr>
              </a:gs>
              <a:gs pos="100000">
                <a:srgbClr val="D9A467">
                  <a:alpha val="20000"/>
                </a:srgbClr>
              </a:gs>
            </a:gsLst>
            <a:lin ang="2700000" scaled="1"/>
          </a:gradFill>
          <a:ln w="12700">
            <a:solidFill>
              <a:srgbClr val="5C7A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0550" y="142875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 w="25400">
            <a:solidFill>
              <a:srgbClr val="D9A4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85813" y="16097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43025" y="1419225"/>
            <a:ext cx="10382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相同的 token 序列总是产生相同的 KV Cache，因此只需计算一次，后续请求直接复用即可。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62075" y="1943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609725" y="1905000"/>
            <a:ext cx="3752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通过缓存复用跳过前缀部分的QKV投影和自注意力计算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490788"/>
            <a:ext cx="3695700" cy="1476375"/>
          </a:xfrm>
          <a:custGeom>
            <a:avLst/>
            <a:gdLst/>
            <a:ahLst/>
            <a:cxnLst/>
            <a:rect l="l" t="t" r="r" b="b"/>
            <a:pathLst>
              <a:path w="3695700" h="1476375">
                <a:moveTo>
                  <a:pt x="76196" y="0"/>
                </a:moveTo>
                <a:lnTo>
                  <a:pt x="3619504" y="0"/>
                </a:lnTo>
                <a:cubicBezTo>
                  <a:pt x="3661558" y="0"/>
                  <a:pt x="3695700" y="34142"/>
                  <a:pt x="3695700" y="76196"/>
                </a:cubicBezTo>
                <a:lnTo>
                  <a:pt x="3695700" y="1400179"/>
                </a:lnTo>
                <a:cubicBezTo>
                  <a:pt x="3695700" y="1442233"/>
                  <a:pt x="3661558" y="1476375"/>
                  <a:pt x="3619504" y="1476375"/>
                </a:cubicBezTo>
                <a:lnTo>
                  <a:pt x="76196" y="1476375"/>
                </a:lnTo>
                <a:cubicBezTo>
                  <a:pt x="34142" y="1476375"/>
                  <a:pt x="0" y="1442233"/>
                  <a:pt x="0" y="140017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42925" y="2647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50081" y="2752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85725"/>
                </a:moveTo>
                <a:lnTo>
                  <a:pt x="51067" y="98952"/>
                </a:lnTo>
                <a:cubicBezTo>
                  <a:pt x="46847" y="97311"/>
                  <a:pt x="42293" y="96441"/>
                  <a:pt x="37505" y="96441"/>
                </a:cubicBezTo>
                <a:cubicBezTo>
                  <a:pt x="16777" y="96441"/>
                  <a:pt x="0" y="113217"/>
                  <a:pt x="0" y="133945"/>
                </a:cubicBezTo>
                <a:cubicBezTo>
                  <a:pt x="0" y="154673"/>
                  <a:pt x="16777" y="171450"/>
                  <a:pt x="37505" y="171450"/>
                </a:cubicBezTo>
                <a:cubicBezTo>
                  <a:pt x="58233" y="171450"/>
                  <a:pt x="75009" y="154673"/>
                  <a:pt x="75009" y="133945"/>
                </a:cubicBezTo>
                <a:cubicBezTo>
                  <a:pt x="75009" y="129157"/>
                  <a:pt x="74105" y="124603"/>
                  <a:pt x="72498" y="120383"/>
                </a:cubicBezTo>
                <a:lnTo>
                  <a:pt x="167164" y="25718"/>
                </a:lnTo>
                <a:cubicBezTo>
                  <a:pt x="169541" y="23340"/>
                  <a:pt x="169541" y="19523"/>
                  <a:pt x="167164" y="17145"/>
                </a:cubicBezTo>
                <a:cubicBezTo>
                  <a:pt x="157687" y="7668"/>
                  <a:pt x="142350" y="7668"/>
                  <a:pt x="132874" y="17145"/>
                </a:cubicBezTo>
                <a:lnTo>
                  <a:pt x="85725" y="64294"/>
                </a:lnTo>
                <a:lnTo>
                  <a:pt x="72498" y="51067"/>
                </a:lnTo>
                <a:cubicBezTo>
                  <a:pt x="74139" y="46847"/>
                  <a:pt x="75009" y="42293"/>
                  <a:pt x="75009" y="37505"/>
                </a:cubicBezTo>
                <a:cubicBezTo>
                  <a:pt x="75009" y="16777"/>
                  <a:pt x="58233" y="0"/>
                  <a:pt x="37505" y="0"/>
                </a:cubicBezTo>
                <a:cubicBezTo>
                  <a:pt x="16777" y="0"/>
                  <a:pt x="0" y="16777"/>
                  <a:pt x="0" y="37505"/>
                </a:cubicBezTo>
                <a:cubicBezTo>
                  <a:pt x="0" y="58233"/>
                  <a:pt x="16777" y="75009"/>
                  <a:pt x="37505" y="75009"/>
                </a:cubicBezTo>
                <a:cubicBezTo>
                  <a:pt x="42293" y="75009"/>
                  <a:pt x="46847" y="74105"/>
                  <a:pt x="51067" y="72498"/>
                </a:cubicBezTo>
                <a:lnTo>
                  <a:pt x="64294" y="85725"/>
                </a:lnTo>
                <a:close/>
                <a:moveTo>
                  <a:pt x="97077" y="118508"/>
                </a:moveTo>
                <a:lnTo>
                  <a:pt x="132874" y="154305"/>
                </a:lnTo>
                <a:cubicBezTo>
                  <a:pt x="142350" y="163782"/>
                  <a:pt x="157687" y="163782"/>
                  <a:pt x="167164" y="154305"/>
                </a:cubicBezTo>
                <a:cubicBezTo>
                  <a:pt x="169541" y="151927"/>
                  <a:pt x="169541" y="148110"/>
                  <a:pt x="167164" y="145733"/>
                </a:cubicBezTo>
                <a:lnTo>
                  <a:pt x="118508" y="97077"/>
                </a:lnTo>
                <a:lnTo>
                  <a:pt x="97077" y="118508"/>
                </a:lnTo>
                <a:close/>
                <a:moveTo>
                  <a:pt x="21431" y="37505"/>
                </a:moveTo>
                <a:cubicBezTo>
                  <a:pt x="21431" y="28634"/>
                  <a:pt x="28634" y="21431"/>
                  <a:pt x="37505" y="21431"/>
                </a:cubicBezTo>
                <a:cubicBezTo>
                  <a:pt x="46376" y="21431"/>
                  <a:pt x="53578" y="28634"/>
                  <a:pt x="53578" y="37505"/>
                </a:cubicBezTo>
                <a:cubicBezTo>
                  <a:pt x="53578" y="46376"/>
                  <a:pt x="46376" y="53578"/>
                  <a:pt x="37505" y="53578"/>
                </a:cubicBezTo>
                <a:cubicBezTo>
                  <a:pt x="28634" y="53578"/>
                  <a:pt x="21431" y="46376"/>
                  <a:pt x="21431" y="37505"/>
                </a:cubicBezTo>
                <a:close/>
                <a:moveTo>
                  <a:pt x="37505" y="117872"/>
                </a:moveTo>
                <a:cubicBezTo>
                  <a:pt x="46376" y="117872"/>
                  <a:pt x="53578" y="125074"/>
                  <a:pt x="53578" y="133945"/>
                </a:cubicBezTo>
                <a:cubicBezTo>
                  <a:pt x="53578" y="142816"/>
                  <a:pt x="46376" y="150019"/>
                  <a:pt x="37505" y="150019"/>
                </a:cubicBezTo>
                <a:cubicBezTo>
                  <a:pt x="28634" y="150019"/>
                  <a:pt x="21431" y="142816"/>
                  <a:pt x="21431" y="133945"/>
                </a:cubicBezTo>
                <a:cubicBezTo>
                  <a:pt x="21431" y="125074"/>
                  <a:pt x="28634" y="117872"/>
                  <a:pt x="37505" y="117872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38225" y="27051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切分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925" y="3143250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将token序列按固定大小切分为多个Chunk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3467100"/>
            <a:ext cx="3381375" cy="342900"/>
          </a:xfrm>
          <a:custGeom>
            <a:avLst/>
            <a:gdLst/>
            <a:ahLst/>
            <a:cxnLst/>
            <a:rect l="l" t="t" r="r" b="b"/>
            <a:pathLst>
              <a:path w="3381375" h="342900">
                <a:moveTo>
                  <a:pt x="38100" y="0"/>
                </a:moveTo>
                <a:lnTo>
                  <a:pt x="3343275" y="0"/>
                </a:lnTo>
                <a:cubicBezTo>
                  <a:pt x="3364317" y="0"/>
                  <a:pt x="3381375" y="17058"/>
                  <a:pt x="3381375" y="38100"/>
                </a:cubicBezTo>
                <a:lnTo>
                  <a:pt x="3381375" y="304800"/>
                </a:lnTo>
                <a:cubicBezTo>
                  <a:pt x="3381375" y="325842"/>
                  <a:pt x="3364317" y="342900"/>
                  <a:pt x="3343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42925" y="3467100"/>
            <a:ext cx="3448050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 Size: 256-512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6513" y="2490788"/>
            <a:ext cx="3695700" cy="1476375"/>
          </a:xfrm>
          <a:custGeom>
            <a:avLst/>
            <a:gdLst/>
            <a:ahLst/>
            <a:cxnLst/>
            <a:rect l="l" t="t" r="r" b="b"/>
            <a:pathLst>
              <a:path w="3695700" h="1476375">
                <a:moveTo>
                  <a:pt x="76196" y="0"/>
                </a:moveTo>
                <a:lnTo>
                  <a:pt x="3619504" y="0"/>
                </a:lnTo>
                <a:cubicBezTo>
                  <a:pt x="3661558" y="0"/>
                  <a:pt x="3695700" y="34142"/>
                  <a:pt x="3695700" y="76196"/>
                </a:cubicBezTo>
                <a:lnTo>
                  <a:pt x="3695700" y="1400179"/>
                </a:lnTo>
                <a:cubicBezTo>
                  <a:pt x="3695700" y="1442233"/>
                  <a:pt x="3661558" y="1476375"/>
                  <a:pt x="3619504" y="1476375"/>
                </a:cubicBezTo>
                <a:lnTo>
                  <a:pt x="76196" y="1476375"/>
                </a:lnTo>
                <a:cubicBezTo>
                  <a:pt x="34142" y="1476375"/>
                  <a:pt x="0" y="1442233"/>
                  <a:pt x="0" y="140017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403675" y="2647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10832" y="2752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1895" y="234"/>
                </a:moveTo>
                <a:cubicBezTo>
                  <a:pt x="77688" y="1473"/>
                  <a:pt x="81372" y="7166"/>
                  <a:pt x="80133" y="12959"/>
                </a:cubicBezTo>
                <a:lnTo>
                  <a:pt x="73737" y="42863"/>
                </a:lnTo>
                <a:lnTo>
                  <a:pt x="116097" y="42863"/>
                </a:lnTo>
                <a:lnTo>
                  <a:pt x="123464" y="8472"/>
                </a:lnTo>
                <a:cubicBezTo>
                  <a:pt x="124703" y="2679"/>
                  <a:pt x="130396" y="-1005"/>
                  <a:pt x="136189" y="234"/>
                </a:cubicBezTo>
                <a:cubicBezTo>
                  <a:pt x="141982" y="1473"/>
                  <a:pt x="145666" y="7166"/>
                  <a:pt x="144427" y="12959"/>
                </a:cubicBezTo>
                <a:lnTo>
                  <a:pt x="138031" y="42863"/>
                </a:lnTo>
                <a:lnTo>
                  <a:pt x="160734" y="42863"/>
                </a:lnTo>
                <a:cubicBezTo>
                  <a:pt x="166661" y="42863"/>
                  <a:pt x="171450" y="47651"/>
                  <a:pt x="171450" y="53578"/>
                </a:cubicBezTo>
                <a:cubicBezTo>
                  <a:pt x="171450" y="59505"/>
                  <a:pt x="166661" y="64294"/>
                  <a:pt x="160734" y="64294"/>
                </a:cubicBezTo>
                <a:lnTo>
                  <a:pt x="133410" y="64294"/>
                </a:lnTo>
                <a:lnTo>
                  <a:pt x="124234" y="107156"/>
                </a:lnTo>
                <a:lnTo>
                  <a:pt x="146938" y="107156"/>
                </a:lnTo>
                <a:cubicBezTo>
                  <a:pt x="152865" y="107156"/>
                  <a:pt x="157654" y="111945"/>
                  <a:pt x="157654" y="117872"/>
                </a:cubicBezTo>
                <a:cubicBezTo>
                  <a:pt x="157654" y="123799"/>
                  <a:pt x="152865" y="128588"/>
                  <a:pt x="146938" y="128588"/>
                </a:cubicBezTo>
                <a:lnTo>
                  <a:pt x="119613" y="128588"/>
                </a:lnTo>
                <a:lnTo>
                  <a:pt x="112246" y="162978"/>
                </a:lnTo>
                <a:cubicBezTo>
                  <a:pt x="111007" y="168771"/>
                  <a:pt x="105315" y="172455"/>
                  <a:pt x="99521" y="171216"/>
                </a:cubicBezTo>
                <a:cubicBezTo>
                  <a:pt x="93728" y="169977"/>
                  <a:pt x="90045" y="164284"/>
                  <a:pt x="91284" y="158491"/>
                </a:cubicBezTo>
                <a:lnTo>
                  <a:pt x="97680" y="128588"/>
                </a:lnTo>
                <a:lnTo>
                  <a:pt x="55319" y="128588"/>
                </a:lnTo>
                <a:lnTo>
                  <a:pt x="47952" y="162978"/>
                </a:lnTo>
                <a:cubicBezTo>
                  <a:pt x="46713" y="168771"/>
                  <a:pt x="41021" y="172455"/>
                  <a:pt x="35228" y="171216"/>
                </a:cubicBezTo>
                <a:cubicBezTo>
                  <a:pt x="29434" y="169977"/>
                  <a:pt x="25751" y="164284"/>
                  <a:pt x="26990" y="158491"/>
                </a:cubicBezTo>
                <a:lnTo>
                  <a:pt x="33419" y="128588"/>
                </a:lnTo>
                <a:lnTo>
                  <a:pt x="10716" y="128588"/>
                </a:lnTo>
                <a:cubicBezTo>
                  <a:pt x="4789" y="128588"/>
                  <a:pt x="0" y="123799"/>
                  <a:pt x="0" y="117872"/>
                </a:cubicBezTo>
                <a:cubicBezTo>
                  <a:pt x="0" y="111945"/>
                  <a:pt x="4789" y="107156"/>
                  <a:pt x="10716" y="107156"/>
                </a:cubicBezTo>
                <a:lnTo>
                  <a:pt x="38040" y="107156"/>
                </a:lnTo>
                <a:lnTo>
                  <a:pt x="47216" y="64294"/>
                </a:lnTo>
                <a:lnTo>
                  <a:pt x="24512" y="64294"/>
                </a:lnTo>
                <a:cubicBezTo>
                  <a:pt x="18585" y="64294"/>
                  <a:pt x="13796" y="59505"/>
                  <a:pt x="13796" y="53578"/>
                </a:cubicBezTo>
                <a:cubicBezTo>
                  <a:pt x="13796" y="47651"/>
                  <a:pt x="18585" y="42863"/>
                  <a:pt x="24512" y="42863"/>
                </a:cubicBezTo>
                <a:lnTo>
                  <a:pt x="51837" y="42863"/>
                </a:lnTo>
                <a:lnTo>
                  <a:pt x="59204" y="8472"/>
                </a:lnTo>
                <a:cubicBezTo>
                  <a:pt x="60409" y="2679"/>
                  <a:pt x="66102" y="-1005"/>
                  <a:pt x="71895" y="234"/>
                </a:cubicBezTo>
                <a:close/>
                <a:moveTo>
                  <a:pt x="69116" y="64294"/>
                </a:moveTo>
                <a:lnTo>
                  <a:pt x="59941" y="107156"/>
                </a:lnTo>
                <a:lnTo>
                  <a:pt x="102301" y="107156"/>
                </a:lnTo>
                <a:lnTo>
                  <a:pt x="111476" y="64294"/>
                </a:lnTo>
                <a:lnTo>
                  <a:pt x="69116" y="64294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898975" y="27051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哈希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03675" y="3143250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为每个Chunk计算唯一的哈希值作为缓存Key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03675" y="3467100"/>
            <a:ext cx="3381375" cy="342900"/>
          </a:xfrm>
          <a:custGeom>
            <a:avLst/>
            <a:gdLst/>
            <a:ahLst/>
            <a:cxnLst/>
            <a:rect l="l" t="t" r="r" b="b"/>
            <a:pathLst>
              <a:path w="3381375" h="342900">
                <a:moveTo>
                  <a:pt x="38100" y="0"/>
                </a:moveTo>
                <a:lnTo>
                  <a:pt x="3343275" y="0"/>
                </a:lnTo>
                <a:cubicBezTo>
                  <a:pt x="3364317" y="0"/>
                  <a:pt x="3381375" y="17058"/>
                  <a:pt x="3381375" y="38100"/>
                </a:cubicBezTo>
                <a:lnTo>
                  <a:pt x="3381375" y="304800"/>
                </a:lnTo>
                <a:cubicBezTo>
                  <a:pt x="3381375" y="325842"/>
                  <a:pt x="3364317" y="342900"/>
                  <a:pt x="3343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403675" y="3467100"/>
            <a:ext cx="3448050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Hash(Block)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7338" y="2490788"/>
            <a:ext cx="3695700" cy="1476375"/>
          </a:xfrm>
          <a:custGeom>
            <a:avLst/>
            <a:gdLst/>
            <a:ahLst/>
            <a:cxnLst/>
            <a:rect l="l" t="t" r="r" b="b"/>
            <a:pathLst>
              <a:path w="3695700" h="1476375">
                <a:moveTo>
                  <a:pt x="76196" y="0"/>
                </a:moveTo>
                <a:lnTo>
                  <a:pt x="3619504" y="0"/>
                </a:lnTo>
                <a:cubicBezTo>
                  <a:pt x="3661558" y="0"/>
                  <a:pt x="3695700" y="34142"/>
                  <a:pt x="3695700" y="76196"/>
                </a:cubicBezTo>
                <a:lnTo>
                  <a:pt x="3695700" y="1400179"/>
                </a:lnTo>
                <a:cubicBezTo>
                  <a:pt x="3695700" y="1442233"/>
                  <a:pt x="3661558" y="1476375"/>
                  <a:pt x="3619504" y="1476375"/>
                </a:cubicBezTo>
                <a:lnTo>
                  <a:pt x="76196" y="1476375"/>
                </a:lnTo>
                <a:cubicBezTo>
                  <a:pt x="34142" y="1476375"/>
                  <a:pt x="0" y="1442233"/>
                  <a:pt x="0" y="140017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264500" y="2647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371656" y="2752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759800" y="27051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64500" y="3143250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新请求逐Chunk查找缓存,命中则复用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64500" y="3467100"/>
            <a:ext cx="3381375" cy="342900"/>
          </a:xfrm>
          <a:custGeom>
            <a:avLst/>
            <a:gdLst/>
            <a:ahLst/>
            <a:cxnLst/>
            <a:rect l="l" t="t" r="r" b="b"/>
            <a:pathLst>
              <a:path w="3381375" h="342900">
                <a:moveTo>
                  <a:pt x="38100" y="0"/>
                </a:moveTo>
                <a:lnTo>
                  <a:pt x="3343275" y="0"/>
                </a:lnTo>
                <a:cubicBezTo>
                  <a:pt x="3364317" y="0"/>
                  <a:pt x="3381375" y="17058"/>
                  <a:pt x="3381375" y="38100"/>
                </a:cubicBezTo>
                <a:lnTo>
                  <a:pt x="3381375" y="304800"/>
                </a:lnTo>
                <a:cubicBezTo>
                  <a:pt x="3381375" y="325842"/>
                  <a:pt x="3364317" y="342900"/>
                  <a:pt x="3343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264500" y="3467100"/>
            <a:ext cx="3448050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Lookup &amp; Reuse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5763" y="4129088"/>
            <a:ext cx="5629275" cy="1447800"/>
          </a:xfrm>
          <a:custGeom>
            <a:avLst/>
            <a:gdLst/>
            <a:ahLst/>
            <a:cxnLst/>
            <a:rect l="l" t="t" r="r" b="b"/>
            <a:pathLst>
              <a:path w="5629275" h="1447800">
                <a:moveTo>
                  <a:pt x="76198" y="0"/>
                </a:moveTo>
                <a:lnTo>
                  <a:pt x="5553077" y="0"/>
                </a:lnTo>
                <a:cubicBezTo>
                  <a:pt x="5595132" y="0"/>
                  <a:pt x="5629275" y="34143"/>
                  <a:pt x="5629275" y="76198"/>
                </a:cubicBezTo>
                <a:lnTo>
                  <a:pt x="5629275" y="1371602"/>
                </a:lnTo>
                <a:cubicBezTo>
                  <a:pt x="5629275" y="1413657"/>
                  <a:pt x="5595132" y="1447800"/>
                  <a:pt x="5553077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66738" y="432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95350" y="428625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理论加速比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2925" y="466725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16.5×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757586" y="4862513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典型场景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2925" y="5205413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8K前缀 + 256 token用户输入,Prefill计算量大幅降低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6963" y="4129088"/>
            <a:ext cx="5629275" cy="1447800"/>
          </a:xfrm>
          <a:custGeom>
            <a:avLst/>
            <a:gdLst/>
            <a:ahLst/>
            <a:cxnLst/>
            <a:rect l="l" t="t" r="r" b="b"/>
            <a:pathLst>
              <a:path w="5629275" h="1447800">
                <a:moveTo>
                  <a:pt x="76198" y="0"/>
                </a:moveTo>
                <a:lnTo>
                  <a:pt x="5553077" y="0"/>
                </a:lnTo>
                <a:cubicBezTo>
                  <a:pt x="5595132" y="0"/>
                  <a:pt x="5629275" y="34143"/>
                  <a:pt x="5629275" y="76198"/>
                </a:cubicBezTo>
                <a:lnTo>
                  <a:pt x="5629275" y="1371602"/>
                </a:lnTo>
                <a:cubicBezTo>
                  <a:pt x="5629275" y="1413657"/>
                  <a:pt x="5595132" y="1447800"/>
                  <a:pt x="5553077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357938" y="432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686550" y="42862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性能收益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34125" y="4686300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TTFT降低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792271" y="466725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60%-95%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34125" y="50292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吞吐量提升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65532" y="5010150"/>
            <a:ext cx="57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2-10×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2119313"/>
            <a:ext cx="1476375" cy="428625"/>
          </a:xfrm>
          <a:custGeom>
            <a:avLst/>
            <a:gdLst/>
            <a:ahLst/>
            <a:cxnLst/>
            <a:rect l="l" t="t" r="r" b="b"/>
            <a:pathLst>
              <a:path w="1476375" h="428625">
                <a:moveTo>
                  <a:pt x="76201" y="0"/>
                </a:moveTo>
                <a:lnTo>
                  <a:pt x="1400174" y="0"/>
                </a:lnTo>
                <a:cubicBezTo>
                  <a:pt x="1442259" y="0"/>
                  <a:pt x="1476375" y="34116"/>
                  <a:pt x="1476375" y="76201"/>
                </a:cubicBezTo>
                <a:lnTo>
                  <a:pt x="1476375" y="352424"/>
                </a:lnTo>
                <a:cubicBezTo>
                  <a:pt x="1476375" y="394509"/>
                  <a:pt x="1442259" y="428625"/>
                  <a:pt x="14001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 w="12700">
            <a:solidFill>
              <a:srgbClr val="5C7A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2214563"/>
            <a:ext cx="12497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1300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67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Prefix Caching 的工作机制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5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C7A9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4748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kern="0" spc="56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644511"/>
            <a:ext cx="1163700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7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Prefix Caching 的三步流程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537" y="1150273"/>
            <a:ext cx="11466925" cy="2748123"/>
          </a:xfrm>
          <a:custGeom>
            <a:avLst/>
            <a:gdLst/>
            <a:ahLst/>
            <a:cxnLst/>
            <a:rect l="l" t="t" r="r" b="b"/>
            <a:pathLst>
              <a:path w="11466925" h="2748123">
                <a:moveTo>
                  <a:pt x="71616" y="0"/>
                </a:moveTo>
                <a:lnTo>
                  <a:pt x="11395309" y="0"/>
                </a:lnTo>
                <a:cubicBezTo>
                  <a:pt x="11434861" y="0"/>
                  <a:pt x="11466925" y="32064"/>
                  <a:pt x="11466925" y="71616"/>
                </a:cubicBezTo>
                <a:lnTo>
                  <a:pt x="11466925" y="2676507"/>
                </a:lnTo>
                <a:cubicBezTo>
                  <a:pt x="11466925" y="2716060"/>
                  <a:pt x="11434861" y="2748123"/>
                  <a:pt x="11395309" y="2748123"/>
                </a:cubicBezTo>
                <a:lnTo>
                  <a:pt x="71616" y="2748123"/>
                </a:lnTo>
                <a:cubicBezTo>
                  <a:pt x="32064" y="2748123"/>
                  <a:pt x="0" y="2716060"/>
                  <a:pt x="0" y="2676507"/>
                </a:cubicBezTo>
                <a:lnTo>
                  <a:pt x="0" y="71616"/>
                </a:lnTo>
                <a:cubicBezTo>
                  <a:pt x="0" y="32090"/>
                  <a:pt x="32090" y="0"/>
                  <a:pt x="71616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72899" y="1369586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80564" y="26855"/>
                </a:moveTo>
                <a:cubicBezTo>
                  <a:pt x="80564" y="19428"/>
                  <a:pt x="86564" y="13427"/>
                  <a:pt x="93991" y="13427"/>
                </a:cubicBezTo>
                <a:lnTo>
                  <a:pt x="120846" y="13427"/>
                </a:lnTo>
                <a:cubicBezTo>
                  <a:pt x="128273" y="13427"/>
                  <a:pt x="134273" y="19428"/>
                  <a:pt x="134273" y="26855"/>
                </a:cubicBezTo>
                <a:lnTo>
                  <a:pt x="134273" y="53709"/>
                </a:lnTo>
                <a:cubicBezTo>
                  <a:pt x="134273" y="61136"/>
                  <a:pt x="128273" y="67137"/>
                  <a:pt x="120846" y="67137"/>
                </a:cubicBezTo>
                <a:lnTo>
                  <a:pt x="117489" y="67137"/>
                </a:lnTo>
                <a:lnTo>
                  <a:pt x="117489" y="93991"/>
                </a:lnTo>
                <a:lnTo>
                  <a:pt x="167841" y="93991"/>
                </a:lnTo>
                <a:cubicBezTo>
                  <a:pt x="184542" y="93991"/>
                  <a:pt x="198053" y="107502"/>
                  <a:pt x="198053" y="124203"/>
                </a:cubicBezTo>
                <a:lnTo>
                  <a:pt x="198053" y="147700"/>
                </a:lnTo>
                <a:lnTo>
                  <a:pt x="201410" y="147700"/>
                </a:lnTo>
                <a:cubicBezTo>
                  <a:pt x="208837" y="147700"/>
                  <a:pt x="214837" y="153701"/>
                  <a:pt x="214837" y="161128"/>
                </a:cubicBezTo>
                <a:lnTo>
                  <a:pt x="214837" y="187982"/>
                </a:lnTo>
                <a:cubicBezTo>
                  <a:pt x="214837" y="195409"/>
                  <a:pt x="208837" y="201410"/>
                  <a:pt x="201410" y="201410"/>
                </a:cubicBezTo>
                <a:lnTo>
                  <a:pt x="174555" y="201410"/>
                </a:lnTo>
                <a:cubicBezTo>
                  <a:pt x="167128" y="201410"/>
                  <a:pt x="161128" y="195409"/>
                  <a:pt x="161128" y="187982"/>
                </a:cubicBezTo>
                <a:lnTo>
                  <a:pt x="161128" y="161128"/>
                </a:lnTo>
                <a:cubicBezTo>
                  <a:pt x="161128" y="153701"/>
                  <a:pt x="167128" y="147700"/>
                  <a:pt x="174555" y="147700"/>
                </a:cubicBezTo>
                <a:lnTo>
                  <a:pt x="177912" y="147700"/>
                </a:lnTo>
                <a:lnTo>
                  <a:pt x="177912" y="124203"/>
                </a:lnTo>
                <a:cubicBezTo>
                  <a:pt x="177912" y="118622"/>
                  <a:pt x="173422" y="114132"/>
                  <a:pt x="167841" y="114132"/>
                </a:cubicBezTo>
                <a:lnTo>
                  <a:pt x="117489" y="114132"/>
                </a:lnTo>
                <a:lnTo>
                  <a:pt x="117489" y="147700"/>
                </a:lnTo>
                <a:lnTo>
                  <a:pt x="120846" y="147700"/>
                </a:lnTo>
                <a:cubicBezTo>
                  <a:pt x="128273" y="147700"/>
                  <a:pt x="134273" y="153701"/>
                  <a:pt x="134273" y="161128"/>
                </a:cubicBezTo>
                <a:lnTo>
                  <a:pt x="134273" y="187982"/>
                </a:lnTo>
                <a:cubicBezTo>
                  <a:pt x="134273" y="195409"/>
                  <a:pt x="128273" y="201410"/>
                  <a:pt x="120846" y="201410"/>
                </a:cubicBezTo>
                <a:lnTo>
                  <a:pt x="93991" y="201410"/>
                </a:lnTo>
                <a:cubicBezTo>
                  <a:pt x="86564" y="201410"/>
                  <a:pt x="80564" y="195409"/>
                  <a:pt x="80564" y="187982"/>
                </a:cubicBezTo>
                <a:lnTo>
                  <a:pt x="80564" y="161128"/>
                </a:lnTo>
                <a:cubicBezTo>
                  <a:pt x="80564" y="153701"/>
                  <a:pt x="86564" y="147700"/>
                  <a:pt x="93991" y="147700"/>
                </a:cubicBezTo>
                <a:lnTo>
                  <a:pt x="97348" y="147700"/>
                </a:lnTo>
                <a:lnTo>
                  <a:pt x="97348" y="114132"/>
                </a:lnTo>
                <a:lnTo>
                  <a:pt x="46996" y="114132"/>
                </a:lnTo>
                <a:cubicBezTo>
                  <a:pt x="41415" y="114132"/>
                  <a:pt x="36925" y="118622"/>
                  <a:pt x="36925" y="124203"/>
                </a:cubicBezTo>
                <a:lnTo>
                  <a:pt x="36925" y="147700"/>
                </a:lnTo>
                <a:lnTo>
                  <a:pt x="40282" y="147700"/>
                </a:lnTo>
                <a:cubicBezTo>
                  <a:pt x="47709" y="147700"/>
                  <a:pt x="53709" y="153701"/>
                  <a:pt x="53709" y="161128"/>
                </a:cubicBezTo>
                <a:lnTo>
                  <a:pt x="53709" y="187982"/>
                </a:lnTo>
                <a:cubicBezTo>
                  <a:pt x="53709" y="195409"/>
                  <a:pt x="47709" y="201410"/>
                  <a:pt x="40282" y="201410"/>
                </a:cubicBezTo>
                <a:lnTo>
                  <a:pt x="13427" y="201410"/>
                </a:lnTo>
                <a:cubicBezTo>
                  <a:pt x="6000" y="201410"/>
                  <a:pt x="0" y="195409"/>
                  <a:pt x="0" y="187982"/>
                </a:cubicBezTo>
                <a:lnTo>
                  <a:pt x="0" y="161128"/>
                </a:lnTo>
                <a:cubicBezTo>
                  <a:pt x="0" y="153701"/>
                  <a:pt x="6000" y="147700"/>
                  <a:pt x="13427" y="147700"/>
                </a:cubicBezTo>
                <a:lnTo>
                  <a:pt x="16784" y="147700"/>
                </a:lnTo>
                <a:lnTo>
                  <a:pt x="16784" y="124203"/>
                </a:lnTo>
                <a:cubicBezTo>
                  <a:pt x="16784" y="107502"/>
                  <a:pt x="30295" y="93991"/>
                  <a:pt x="46996" y="93991"/>
                </a:cubicBezTo>
                <a:lnTo>
                  <a:pt x="97348" y="93991"/>
                </a:lnTo>
                <a:lnTo>
                  <a:pt x="97348" y="67137"/>
                </a:lnTo>
                <a:lnTo>
                  <a:pt x="93991" y="67137"/>
                </a:lnTo>
                <a:cubicBezTo>
                  <a:pt x="86564" y="67137"/>
                  <a:pt x="80564" y="61136"/>
                  <a:pt x="80564" y="53709"/>
                </a:cubicBezTo>
                <a:lnTo>
                  <a:pt x="80564" y="26855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22009" y="1333780"/>
            <a:ext cx="273917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Token 序列切分与哈希计算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12213" y="1369586"/>
            <a:ext cx="200514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Chunk Size = 4 tokens (示例)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6044" y="1763454"/>
            <a:ext cx="11099912" cy="1951436"/>
          </a:xfrm>
          <a:custGeom>
            <a:avLst/>
            <a:gdLst/>
            <a:ahLst/>
            <a:cxnLst/>
            <a:rect l="l" t="t" r="r" b="b"/>
            <a:pathLst>
              <a:path w="11099912" h="1951436">
                <a:moveTo>
                  <a:pt x="71618" y="0"/>
                </a:moveTo>
                <a:lnTo>
                  <a:pt x="11028294" y="0"/>
                </a:lnTo>
                <a:cubicBezTo>
                  <a:pt x="11067848" y="0"/>
                  <a:pt x="11099912" y="32064"/>
                  <a:pt x="11099912" y="71618"/>
                </a:cubicBezTo>
                <a:lnTo>
                  <a:pt x="11099912" y="1879818"/>
                </a:lnTo>
                <a:cubicBezTo>
                  <a:pt x="11099912" y="1919372"/>
                  <a:pt x="11067848" y="1951436"/>
                  <a:pt x="11028294" y="1951436"/>
                </a:cubicBezTo>
                <a:lnTo>
                  <a:pt x="71618" y="1951436"/>
                </a:lnTo>
                <a:cubicBezTo>
                  <a:pt x="32064" y="1951436"/>
                  <a:pt x="0" y="1919372"/>
                  <a:pt x="0" y="1879818"/>
                </a:cubicBezTo>
                <a:lnTo>
                  <a:pt x="0" y="71618"/>
                </a:lnTo>
                <a:cubicBezTo>
                  <a:pt x="0" y="32091"/>
                  <a:pt x="32091" y="0"/>
                  <a:pt x="7161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9269" y="1906678"/>
            <a:ext cx="1333780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 Token 序列: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23608" y="1906678"/>
            <a:ext cx="438625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[T0, T1, T2, T3, T4, T5, T6, T7, T8, T9, T10, T11]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9269" y="2237885"/>
            <a:ext cx="644511" cy="358062"/>
          </a:xfrm>
          <a:custGeom>
            <a:avLst/>
            <a:gdLst/>
            <a:ahLst/>
            <a:cxnLst/>
            <a:rect l="l" t="t" r="r" b="b"/>
            <a:pathLst>
              <a:path w="644511" h="358062">
                <a:moveTo>
                  <a:pt x="35806" y="0"/>
                </a:moveTo>
                <a:lnTo>
                  <a:pt x="608705" y="0"/>
                </a:lnTo>
                <a:cubicBezTo>
                  <a:pt x="628480" y="0"/>
                  <a:pt x="644511" y="16031"/>
                  <a:pt x="644511" y="35806"/>
                </a:cubicBezTo>
                <a:lnTo>
                  <a:pt x="644511" y="322256"/>
                </a:lnTo>
                <a:cubicBezTo>
                  <a:pt x="644511" y="342031"/>
                  <a:pt x="628480" y="358062"/>
                  <a:pt x="608705" y="358062"/>
                </a:cubicBezTo>
                <a:lnTo>
                  <a:pt x="35806" y="358062"/>
                </a:lnTo>
                <a:cubicBezTo>
                  <a:pt x="16031" y="358062"/>
                  <a:pt x="0" y="342031"/>
                  <a:pt x="0" y="322256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5C7A96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89269" y="2237885"/>
            <a:ext cx="716123" cy="358062"/>
          </a:xfrm>
          <a:prstGeom prst="rect">
            <a:avLst/>
          </a:prstGeom>
          <a:noFill/>
          <a:ln/>
        </p:spPr>
        <p:txBody>
          <a:bodyPr wrap="square" lIns="107419" tIns="71612" rIns="107419" bIns="71612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T0-T3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24764" y="2345304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140595" y="77934"/>
                </a:moveTo>
                <a:cubicBezTo>
                  <a:pt x="144092" y="74438"/>
                  <a:pt x="144092" y="68759"/>
                  <a:pt x="140595" y="65262"/>
                </a:cubicBezTo>
                <a:lnTo>
                  <a:pt x="95837" y="20505"/>
                </a:lnTo>
                <a:cubicBezTo>
                  <a:pt x="92341" y="17008"/>
                  <a:pt x="86662" y="17008"/>
                  <a:pt x="83165" y="20505"/>
                </a:cubicBezTo>
                <a:cubicBezTo>
                  <a:pt x="79669" y="24001"/>
                  <a:pt x="79669" y="29680"/>
                  <a:pt x="83165" y="33177"/>
                </a:cubicBezTo>
                <a:lnTo>
                  <a:pt x="112650" y="62661"/>
                </a:lnTo>
                <a:lnTo>
                  <a:pt x="8952" y="62661"/>
                </a:lnTo>
                <a:cubicBezTo>
                  <a:pt x="4000" y="62661"/>
                  <a:pt x="0" y="66661"/>
                  <a:pt x="0" y="71612"/>
                </a:cubicBezTo>
                <a:cubicBezTo>
                  <a:pt x="0" y="76564"/>
                  <a:pt x="4000" y="80564"/>
                  <a:pt x="8952" y="80564"/>
                </a:cubicBezTo>
                <a:lnTo>
                  <a:pt x="112650" y="80564"/>
                </a:lnTo>
                <a:lnTo>
                  <a:pt x="83165" y="110048"/>
                </a:lnTo>
                <a:cubicBezTo>
                  <a:pt x="79669" y="113545"/>
                  <a:pt x="79669" y="119223"/>
                  <a:pt x="83165" y="122720"/>
                </a:cubicBezTo>
                <a:cubicBezTo>
                  <a:pt x="86662" y="126217"/>
                  <a:pt x="92341" y="126217"/>
                  <a:pt x="95837" y="122720"/>
                </a:cubicBezTo>
                <a:lnTo>
                  <a:pt x="140595" y="77962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657504" y="2237885"/>
            <a:ext cx="814590" cy="358062"/>
          </a:xfrm>
          <a:custGeom>
            <a:avLst/>
            <a:gdLst/>
            <a:ahLst/>
            <a:cxnLst/>
            <a:rect l="l" t="t" r="r" b="b"/>
            <a:pathLst>
              <a:path w="814590" h="358062">
                <a:moveTo>
                  <a:pt x="35806" y="0"/>
                </a:moveTo>
                <a:lnTo>
                  <a:pt x="778784" y="0"/>
                </a:lnTo>
                <a:cubicBezTo>
                  <a:pt x="798559" y="0"/>
                  <a:pt x="814590" y="16031"/>
                  <a:pt x="814590" y="35806"/>
                </a:cubicBezTo>
                <a:lnTo>
                  <a:pt x="814590" y="322256"/>
                </a:lnTo>
                <a:cubicBezTo>
                  <a:pt x="814590" y="342031"/>
                  <a:pt x="798559" y="358062"/>
                  <a:pt x="778784" y="358062"/>
                </a:cubicBezTo>
                <a:lnTo>
                  <a:pt x="35806" y="358062"/>
                </a:lnTo>
                <a:cubicBezTo>
                  <a:pt x="16031" y="358062"/>
                  <a:pt x="0" y="342031"/>
                  <a:pt x="0" y="322256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657504" y="2237885"/>
            <a:ext cx="886203" cy="358062"/>
          </a:xfrm>
          <a:prstGeom prst="rect">
            <a:avLst/>
          </a:prstGeom>
          <a:noFill/>
          <a:ln/>
        </p:spPr>
        <p:txBody>
          <a:bodyPr wrap="square" lIns="107419" tIns="71612" rIns="107419" bIns="71612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 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65456" y="2345304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140595" y="77934"/>
                </a:moveTo>
                <a:cubicBezTo>
                  <a:pt x="144092" y="74438"/>
                  <a:pt x="144092" y="68759"/>
                  <a:pt x="140595" y="65262"/>
                </a:cubicBezTo>
                <a:lnTo>
                  <a:pt x="95837" y="20505"/>
                </a:lnTo>
                <a:cubicBezTo>
                  <a:pt x="92341" y="17008"/>
                  <a:pt x="86662" y="17008"/>
                  <a:pt x="83165" y="20505"/>
                </a:cubicBezTo>
                <a:cubicBezTo>
                  <a:pt x="79669" y="24001"/>
                  <a:pt x="79669" y="29680"/>
                  <a:pt x="83165" y="33177"/>
                </a:cubicBezTo>
                <a:lnTo>
                  <a:pt x="112650" y="62661"/>
                </a:lnTo>
                <a:lnTo>
                  <a:pt x="8952" y="62661"/>
                </a:lnTo>
                <a:cubicBezTo>
                  <a:pt x="4000" y="62661"/>
                  <a:pt x="0" y="66661"/>
                  <a:pt x="0" y="71612"/>
                </a:cubicBezTo>
                <a:cubicBezTo>
                  <a:pt x="0" y="76564"/>
                  <a:pt x="4000" y="80564"/>
                  <a:pt x="8952" y="80564"/>
                </a:cubicBezTo>
                <a:lnTo>
                  <a:pt x="112650" y="80564"/>
                </a:lnTo>
                <a:lnTo>
                  <a:pt x="83165" y="110048"/>
                </a:lnTo>
                <a:cubicBezTo>
                  <a:pt x="79669" y="113545"/>
                  <a:pt x="79669" y="119223"/>
                  <a:pt x="83165" y="122720"/>
                </a:cubicBezTo>
                <a:cubicBezTo>
                  <a:pt x="86662" y="126217"/>
                  <a:pt x="92341" y="126217"/>
                  <a:pt x="95837" y="122720"/>
                </a:cubicBezTo>
                <a:lnTo>
                  <a:pt x="140595" y="77962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802672" y="2233410"/>
            <a:ext cx="913057" cy="367013"/>
          </a:xfrm>
          <a:custGeom>
            <a:avLst/>
            <a:gdLst/>
            <a:ahLst/>
            <a:cxnLst/>
            <a:rect l="l" t="t" r="r" b="b"/>
            <a:pathLst>
              <a:path w="913057" h="367013">
                <a:moveTo>
                  <a:pt x="35806" y="0"/>
                </a:moveTo>
                <a:lnTo>
                  <a:pt x="877251" y="0"/>
                </a:lnTo>
                <a:cubicBezTo>
                  <a:pt x="897026" y="0"/>
                  <a:pt x="913057" y="16031"/>
                  <a:pt x="913057" y="35806"/>
                </a:cubicBezTo>
                <a:lnTo>
                  <a:pt x="913057" y="331207"/>
                </a:lnTo>
                <a:cubicBezTo>
                  <a:pt x="913057" y="350982"/>
                  <a:pt x="897026" y="367013"/>
                  <a:pt x="877251" y="367013"/>
                </a:cubicBezTo>
                <a:lnTo>
                  <a:pt x="35806" y="367013"/>
                </a:lnTo>
                <a:cubicBezTo>
                  <a:pt x="16031" y="367013"/>
                  <a:pt x="0" y="350982"/>
                  <a:pt x="0" y="331207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D9A4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98196" y="2228934"/>
            <a:ext cx="975718" cy="358062"/>
          </a:xfrm>
          <a:prstGeom prst="rect">
            <a:avLst/>
          </a:prstGeom>
          <a:noFill/>
          <a:ln/>
        </p:spPr>
        <p:txBody>
          <a:bodyPr wrap="square" lIns="107419" tIns="71612" rIns="107419" bIns="71612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Hash: H0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9269" y="2721269"/>
            <a:ext cx="644511" cy="358062"/>
          </a:xfrm>
          <a:custGeom>
            <a:avLst/>
            <a:gdLst/>
            <a:ahLst/>
            <a:cxnLst/>
            <a:rect l="l" t="t" r="r" b="b"/>
            <a:pathLst>
              <a:path w="644511" h="358062">
                <a:moveTo>
                  <a:pt x="35806" y="0"/>
                </a:moveTo>
                <a:lnTo>
                  <a:pt x="608705" y="0"/>
                </a:lnTo>
                <a:cubicBezTo>
                  <a:pt x="628480" y="0"/>
                  <a:pt x="644511" y="16031"/>
                  <a:pt x="644511" y="35806"/>
                </a:cubicBezTo>
                <a:lnTo>
                  <a:pt x="644511" y="322256"/>
                </a:lnTo>
                <a:cubicBezTo>
                  <a:pt x="644511" y="342031"/>
                  <a:pt x="628480" y="358062"/>
                  <a:pt x="608705" y="358062"/>
                </a:cubicBezTo>
                <a:lnTo>
                  <a:pt x="35806" y="358062"/>
                </a:lnTo>
                <a:cubicBezTo>
                  <a:pt x="16031" y="358062"/>
                  <a:pt x="0" y="342031"/>
                  <a:pt x="0" y="322256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5C7A96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9269" y="2721269"/>
            <a:ext cx="716123" cy="358062"/>
          </a:xfrm>
          <a:prstGeom prst="rect">
            <a:avLst/>
          </a:prstGeom>
          <a:noFill/>
          <a:ln/>
        </p:spPr>
        <p:txBody>
          <a:bodyPr wrap="square" lIns="107419" tIns="71612" rIns="107419" bIns="71612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T4-T7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424764" y="2828687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140595" y="77934"/>
                </a:moveTo>
                <a:cubicBezTo>
                  <a:pt x="144092" y="74438"/>
                  <a:pt x="144092" y="68759"/>
                  <a:pt x="140595" y="65262"/>
                </a:cubicBezTo>
                <a:lnTo>
                  <a:pt x="95837" y="20505"/>
                </a:lnTo>
                <a:cubicBezTo>
                  <a:pt x="92341" y="17008"/>
                  <a:pt x="86662" y="17008"/>
                  <a:pt x="83165" y="20505"/>
                </a:cubicBezTo>
                <a:cubicBezTo>
                  <a:pt x="79669" y="24001"/>
                  <a:pt x="79669" y="29680"/>
                  <a:pt x="83165" y="33177"/>
                </a:cubicBezTo>
                <a:lnTo>
                  <a:pt x="112650" y="62661"/>
                </a:lnTo>
                <a:lnTo>
                  <a:pt x="8952" y="62661"/>
                </a:lnTo>
                <a:cubicBezTo>
                  <a:pt x="4000" y="62661"/>
                  <a:pt x="0" y="66661"/>
                  <a:pt x="0" y="71612"/>
                </a:cubicBezTo>
                <a:cubicBezTo>
                  <a:pt x="0" y="76564"/>
                  <a:pt x="4000" y="80564"/>
                  <a:pt x="8952" y="80564"/>
                </a:cubicBezTo>
                <a:lnTo>
                  <a:pt x="112650" y="80564"/>
                </a:lnTo>
                <a:lnTo>
                  <a:pt x="83165" y="110048"/>
                </a:lnTo>
                <a:cubicBezTo>
                  <a:pt x="79669" y="113545"/>
                  <a:pt x="79669" y="119223"/>
                  <a:pt x="83165" y="122720"/>
                </a:cubicBezTo>
                <a:cubicBezTo>
                  <a:pt x="86662" y="126217"/>
                  <a:pt x="92341" y="126217"/>
                  <a:pt x="95837" y="122720"/>
                </a:cubicBezTo>
                <a:lnTo>
                  <a:pt x="140595" y="77962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657504" y="2721269"/>
            <a:ext cx="814590" cy="358062"/>
          </a:xfrm>
          <a:custGeom>
            <a:avLst/>
            <a:gdLst/>
            <a:ahLst/>
            <a:cxnLst/>
            <a:rect l="l" t="t" r="r" b="b"/>
            <a:pathLst>
              <a:path w="814590" h="358062">
                <a:moveTo>
                  <a:pt x="35806" y="0"/>
                </a:moveTo>
                <a:lnTo>
                  <a:pt x="778784" y="0"/>
                </a:lnTo>
                <a:cubicBezTo>
                  <a:pt x="798559" y="0"/>
                  <a:pt x="814590" y="16031"/>
                  <a:pt x="814590" y="35806"/>
                </a:cubicBezTo>
                <a:lnTo>
                  <a:pt x="814590" y="322256"/>
                </a:lnTo>
                <a:cubicBezTo>
                  <a:pt x="814590" y="342031"/>
                  <a:pt x="798559" y="358062"/>
                  <a:pt x="778784" y="358062"/>
                </a:cubicBezTo>
                <a:lnTo>
                  <a:pt x="35806" y="358062"/>
                </a:lnTo>
                <a:cubicBezTo>
                  <a:pt x="16031" y="358062"/>
                  <a:pt x="0" y="342031"/>
                  <a:pt x="0" y="322256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657504" y="2721269"/>
            <a:ext cx="886203" cy="358062"/>
          </a:xfrm>
          <a:prstGeom prst="rect">
            <a:avLst/>
          </a:prstGeom>
          <a:noFill/>
          <a:ln/>
        </p:spPr>
        <p:txBody>
          <a:bodyPr wrap="square" lIns="107419" tIns="71612" rIns="107419" bIns="71612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 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565456" y="2828687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140595" y="77934"/>
                </a:moveTo>
                <a:cubicBezTo>
                  <a:pt x="144092" y="74438"/>
                  <a:pt x="144092" y="68759"/>
                  <a:pt x="140595" y="65262"/>
                </a:cubicBezTo>
                <a:lnTo>
                  <a:pt x="95837" y="20505"/>
                </a:lnTo>
                <a:cubicBezTo>
                  <a:pt x="92341" y="17008"/>
                  <a:pt x="86662" y="17008"/>
                  <a:pt x="83165" y="20505"/>
                </a:cubicBezTo>
                <a:cubicBezTo>
                  <a:pt x="79669" y="24001"/>
                  <a:pt x="79669" y="29680"/>
                  <a:pt x="83165" y="33177"/>
                </a:cubicBezTo>
                <a:lnTo>
                  <a:pt x="112650" y="62661"/>
                </a:lnTo>
                <a:lnTo>
                  <a:pt x="8952" y="62661"/>
                </a:lnTo>
                <a:cubicBezTo>
                  <a:pt x="4000" y="62661"/>
                  <a:pt x="0" y="66661"/>
                  <a:pt x="0" y="71612"/>
                </a:cubicBezTo>
                <a:cubicBezTo>
                  <a:pt x="0" y="76564"/>
                  <a:pt x="4000" y="80564"/>
                  <a:pt x="8952" y="80564"/>
                </a:cubicBezTo>
                <a:lnTo>
                  <a:pt x="112650" y="80564"/>
                </a:lnTo>
                <a:lnTo>
                  <a:pt x="83165" y="110048"/>
                </a:lnTo>
                <a:cubicBezTo>
                  <a:pt x="79669" y="113545"/>
                  <a:pt x="79669" y="119223"/>
                  <a:pt x="83165" y="122720"/>
                </a:cubicBezTo>
                <a:cubicBezTo>
                  <a:pt x="86662" y="126217"/>
                  <a:pt x="92341" y="126217"/>
                  <a:pt x="95837" y="122720"/>
                </a:cubicBezTo>
                <a:lnTo>
                  <a:pt x="140595" y="77962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802672" y="2716793"/>
            <a:ext cx="913057" cy="367013"/>
          </a:xfrm>
          <a:custGeom>
            <a:avLst/>
            <a:gdLst/>
            <a:ahLst/>
            <a:cxnLst/>
            <a:rect l="l" t="t" r="r" b="b"/>
            <a:pathLst>
              <a:path w="913057" h="367013">
                <a:moveTo>
                  <a:pt x="35806" y="0"/>
                </a:moveTo>
                <a:lnTo>
                  <a:pt x="877251" y="0"/>
                </a:lnTo>
                <a:cubicBezTo>
                  <a:pt x="897026" y="0"/>
                  <a:pt x="913057" y="16031"/>
                  <a:pt x="913057" y="35806"/>
                </a:cubicBezTo>
                <a:lnTo>
                  <a:pt x="913057" y="331207"/>
                </a:lnTo>
                <a:cubicBezTo>
                  <a:pt x="913057" y="350982"/>
                  <a:pt x="897026" y="367013"/>
                  <a:pt x="877251" y="367013"/>
                </a:cubicBezTo>
                <a:lnTo>
                  <a:pt x="35806" y="367013"/>
                </a:lnTo>
                <a:cubicBezTo>
                  <a:pt x="16031" y="367013"/>
                  <a:pt x="0" y="350982"/>
                  <a:pt x="0" y="331207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D9A4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798196" y="2712317"/>
            <a:ext cx="975718" cy="358062"/>
          </a:xfrm>
          <a:prstGeom prst="rect">
            <a:avLst/>
          </a:prstGeom>
          <a:noFill/>
          <a:ln/>
        </p:spPr>
        <p:txBody>
          <a:bodyPr wrap="square" lIns="107419" tIns="71612" rIns="107419" bIns="71612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Hash: H1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9269" y="3204652"/>
            <a:ext cx="734026" cy="358062"/>
          </a:xfrm>
          <a:custGeom>
            <a:avLst/>
            <a:gdLst/>
            <a:ahLst/>
            <a:cxnLst/>
            <a:rect l="l" t="t" r="r" b="b"/>
            <a:pathLst>
              <a:path w="734026" h="358062">
                <a:moveTo>
                  <a:pt x="35806" y="0"/>
                </a:moveTo>
                <a:lnTo>
                  <a:pt x="698220" y="0"/>
                </a:lnTo>
                <a:cubicBezTo>
                  <a:pt x="717995" y="0"/>
                  <a:pt x="734026" y="16031"/>
                  <a:pt x="734026" y="35806"/>
                </a:cubicBezTo>
                <a:lnTo>
                  <a:pt x="734026" y="322256"/>
                </a:lnTo>
                <a:cubicBezTo>
                  <a:pt x="734026" y="342031"/>
                  <a:pt x="717995" y="358062"/>
                  <a:pt x="698220" y="358062"/>
                </a:cubicBezTo>
                <a:lnTo>
                  <a:pt x="35806" y="358062"/>
                </a:lnTo>
                <a:cubicBezTo>
                  <a:pt x="16031" y="358062"/>
                  <a:pt x="0" y="342031"/>
                  <a:pt x="0" y="322256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5C7A96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89269" y="3204652"/>
            <a:ext cx="805639" cy="358062"/>
          </a:xfrm>
          <a:prstGeom prst="rect">
            <a:avLst/>
          </a:prstGeom>
          <a:noFill/>
          <a:ln/>
        </p:spPr>
        <p:txBody>
          <a:bodyPr wrap="square" lIns="107419" tIns="71612" rIns="107419" bIns="71612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T8-T11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510992" y="3312070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140595" y="77934"/>
                </a:moveTo>
                <a:cubicBezTo>
                  <a:pt x="144092" y="74438"/>
                  <a:pt x="144092" y="68759"/>
                  <a:pt x="140595" y="65262"/>
                </a:cubicBezTo>
                <a:lnTo>
                  <a:pt x="95837" y="20505"/>
                </a:lnTo>
                <a:cubicBezTo>
                  <a:pt x="92341" y="17008"/>
                  <a:pt x="86662" y="17008"/>
                  <a:pt x="83165" y="20505"/>
                </a:cubicBezTo>
                <a:cubicBezTo>
                  <a:pt x="79669" y="24001"/>
                  <a:pt x="79669" y="29680"/>
                  <a:pt x="83165" y="33177"/>
                </a:cubicBezTo>
                <a:lnTo>
                  <a:pt x="112650" y="62661"/>
                </a:lnTo>
                <a:lnTo>
                  <a:pt x="8952" y="62661"/>
                </a:lnTo>
                <a:cubicBezTo>
                  <a:pt x="4000" y="62661"/>
                  <a:pt x="0" y="66661"/>
                  <a:pt x="0" y="71612"/>
                </a:cubicBezTo>
                <a:cubicBezTo>
                  <a:pt x="0" y="76564"/>
                  <a:pt x="4000" y="80564"/>
                  <a:pt x="8952" y="80564"/>
                </a:cubicBezTo>
                <a:lnTo>
                  <a:pt x="112650" y="80564"/>
                </a:lnTo>
                <a:lnTo>
                  <a:pt x="83165" y="110048"/>
                </a:lnTo>
                <a:cubicBezTo>
                  <a:pt x="79669" y="113545"/>
                  <a:pt x="79669" y="119223"/>
                  <a:pt x="83165" y="122720"/>
                </a:cubicBezTo>
                <a:cubicBezTo>
                  <a:pt x="86662" y="126217"/>
                  <a:pt x="92341" y="126217"/>
                  <a:pt x="95837" y="122720"/>
                </a:cubicBezTo>
                <a:lnTo>
                  <a:pt x="140595" y="77962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743732" y="3204652"/>
            <a:ext cx="814590" cy="358062"/>
          </a:xfrm>
          <a:custGeom>
            <a:avLst/>
            <a:gdLst/>
            <a:ahLst/>
            <a:cxnLst/>
            <a:rect l="l" t="t" r="r" b="b"/>
            <a:pathLst>
              <a:path w="814590" h="358062">
                <a:moveTo>
                  <a:pt x="35806" y="0"/>
                </a:moveTo>
                <a:lnTo>
                  <a:pt x="778784" y="0"/>
                </a:lnTo>
                <a:cubicBezTo>
                  <a:pt x="798559" y="0"/>
                  <a:pt x="814590" y="16031"/>
                  <a:pt x="814590" y="35806"/>
                </a:cubicBezTo>
                <a:lnTo>
                  <a:pt x="814590" y="322256"/>
                </a:lnTo>
                <a:cubicBezTo>
                  <a:pt x="814590" y="342031"/>
                  <a:pt x="798559" y="358062"/>
                  <a:pt x="778784" y="358062"/>
                </a:cubicBezTo>
                <a:lnTo>
                  <a:pt x="35806" y="358062"/>
                </a:lnTo>
                <a:cubicBezTo>
                  <a:pt x="16031" y="358062"/>
                  <a:pt x="0" y="342031"/>
                  <a:pt x="0" y="322256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743732" y="3204652"/>
            <a:ext cx="886203" cy="358062"/>
          </a:xfrm>
          <a:prstGeom prst="rect">
            <a:avLst/>
          </a:prstGeom>
          <a:noFill/>
          <a:ln/>
        </p:spPr>
        <p:txBody>
          <a:bodyPr wrap="square" lIns="107419" tIns="71612" rIns="107419" bIns="71612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 2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651684" y="3312070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140595" y="77934"/>
                </a:moveTo>
                <a:cubicBezTo>
                  <a:pt x="144092" y="74438"/>
                  <a:pt x="144092" y="68759"/>
                  <a:pt x="140595" y="65262"/>
                </a:cubicBezTo>
                <a:lnTo>
                  <a:pt x="95837" y="20505"/>
                </a:lnTo>
                <a:cubicBezTo>
                  <a:pt x="92341" y="17008"/>
                  <a:pt x="86662" y="17008"/>
                  <a:pt x="83165" y="20505"/>
                </a:cubicBezTo>
                <a:cubicBezTo>
                  <a:pt x="79669" y="24001"/>
                  <a:pt x="79669" y="29680"/>
                  <a:pt x="83165" y="33177"/>
                </a:cubicBezTo>
                <a:lnTo>
                  <a:pt x="112650" y="62661"/>
                </a:lnTo>
                <a:lnTo>
                  <a:pt x="8952" y="62661"/>
                </a:lnTo>
                <a:cubicBezTo>
                  <a:pt x="4000" y="62661"/>
                  <a:pt x="0" y="66661"/>
                  <a:pt x="0" y="71612"/>
                </a:cubicBezTo>
                <a:cubicBezTo>
                  <a:pt x="0" y="76564"/>
                  <a:pt x="4000" y="80564"/>
                  <a:pt x="8952" y="80564"/>
                </a:cubicBezTo>
                <a:lnTo>
                  <a:pt x="112650" y="80564"/>
                </a:lnTo>
                <a:lnTo>
                  <a:pt x="83165" y="110048"/>
                </a:lnTo>
                <a:cubicBezTo>
                  <a:pt x="79669" y="113545"/>
                  <a:pt x="79669" y="119223"/>
                  <a:pt x="83165" y="122720"/>
                </a:cubicBezTo>
                <a:cubicBezTo>
                  <a:pt x="86662" y="126217"/>
                  <a:pt x="92341" y="126217"/>
                  <a:pt x="95837" y="122720"/>
                </a:cubicBezTo>
                <a:lnTo>
                  <a:pt x="140595" y="77962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2888900" y="3200176"/>
            <a:ext cx="913057" cy="367013"/>
          </a:xfrm>
          <a:custGeom>
            <a:avLst/>
            <a:gdLst/>
            <a:ahLst/>
            <a:cxnLst/>
            <a:rect l="l" t="t" r="r" b="b"/>
            <a:pathLst>
              <a:path w="913057" h="367013">
                <a:moveTo>
                  <a:pt x="35806" y="0"/>
                </a:moveTo>
                <a:lnTo>
                  <a:pt x="877251" y="0"/>
                </a:lnTo>
                <a:cubicBezTo>
                  <a:pt x="897026" y="0"/>
                  <a:pt x="913057" y="16031"/>
                  <a:pt x="913057" y="35806"/>
                </a:cubicBezTo>
                <a:lnTo>
                  <a:pt x="913057" y="331207"/>
                </a:lnTo>
                <a:cubicBezTo>
                  <a:pt x="913057" y="350982"/>
                  <a:pt x="897026" y="367013"/>
                  <a:pt x="877251" y="367013"/>
                </a:cubicBezTo>
                <a:lnTo>
                  <a:pt x="35806" y="367013"/>
                </a:lnTo>
                <a:cubicBezTo>
                  <a:pt x="16031" y="367013"/>
                  <a:pt x="0" y="350982"/>
                  <a:pt x="0" y="331207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D9A4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884425" y="3195700"/>
            <a:ext cx="975718" cy="358062"/>
          </a:xfrm>
          <a:prstGeom prst="rect">
            <a:avLst/>
          </a:prstGeom>
          <a:noFill/>
          <a:ln/>
        </p:spPr>
        <p:txBody>
          <a:bodyPr wrap="square" lIns="107419" tIns="71612" rIns="107419" bIns="71612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Hash: H2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2537" y="4050573"/>
            <a:ext cx="5657374" cy="2443771"/>
          </a:xfrm>
          <a:custGeom>
            <a:avLst/>
            <a:gdLst/>
            <a:ahLst/>
            <a:cxnLst/>
            <a:rect l="l" t="t" r="r" b="b"/>
            <a:pathLst>
              <a:path w="5657374" h="2443771">
                <a:moveTo>
                  <a:pt x="71602" y="0"/>
                </a:moveTo>
                <a:lnTo>
                  <a:pt x="5585772" y="0"/>
                </a:lnTo>
                <a:cubicBezTo>
                  <a:pt x="5625317" y="0"/>
                  <a:pt x="5657374" y="32058"/>
                  <a:pt x="5657374" y="71602"/>
                </a:cubicBezTo>
                <a:lnTo>
                  <a:pt x="5657374" y="2372168"/>
                </a:lnTo>
                <a:cubicBezTo>
                  <a:pt x="5657374" y="2411713"/>
                  <a:pt x="5625317" y="2443771"/>
                  <a:pt x="5585772" y="2443771"/>
                </a:cubicBezTo>
                <a:lnTo>
                  <a:pt x="71602" y="2443771"/>
                </a:lnTo>
                <a:cubicBezTo>
                  <a:pt x="32058" y="2443771"/>
                  <a:pt x="0" y="2411713"/>
                  <a:pt x="0" y="2372168"/>
                </a:cubicBezTo>
                <a:lnTo>
                  <a:pt x="0" y="71602"/>
                </a:lnTo>
                <a:cubicBezTo>
                  <a:pt x="0" y="32084"/>
                  <a:pt x="32084" y="0"/>
                  <a:pt x="71602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43806" y="4234079"/>
            <a:ext cx="156652" cy="179031"/>
          </a:xfrm>
          <a:custGeom>
            <a:avLst/>
            <a:gdLst/>
            <a:ahLst/>
            <a:cxnLst/>
            <a:rect l="l" t="t" r="r" b="b"/>
            <a:pathLst>
              <a:path w="156652" h="179031">
                <a:moveTo>
                  <a:pt x="156652" y="71962"/>
                </a:moveTo>
                <a:cubicBezTo>
                  <a:pt x="151477" y="75389"/>
                  <a:pt x="145532" y="78151"/>
                  <a:pt x="139343" y="80354"/>
                </a:cubicBezTo>
                <a:cubicBezTo>
                  <a:pt x="122909" y="86229"/>
                  <a:pt x="101334" y="89515"/>
                  <a:pt x="78326" y="89515"/>
                </a:cubicBezTo>
                <a:cubicBezTo>
                  <a:pt x="55318" y="89515"/>
                  <a:pt x="33708" y="86194"/>
                  <a:pt x="17309" y="80354"/>
                </a:cubicBezTo>
                <a:cubicBezTo>
                  <a:pt x="11154" y="78151"/>
                  <a:pt x="5175" y="75389"/>
                  <a:pt x="0" y="71962"/>
                </a:cubicBezTo>
                <a:lnTo>
                  <a:pt x="0" y="100705"/>
                </a:lnTo>
                <a:cubicBezTo>
                  <a:pt x="0" y="116160"/>
                  <a:pt x="35072" y="128678"/>
                  <a:pt x="78326" y="128678"/>
                </a:cubicBezTo>
                <a:cubicBezTo>
                  <a:pt x="121580" y="128678"/>
                  <a:pt x="156652" y="116160"/>
                  <a:pt x="156652" y="100705"/>
                </a:cubicBezTo>
                <a:lnTo>
                  <a:pt x="156652" y="71962"/>
                </a:lnTo>
                <a:close/>
                <a:moveTo>
                  <a:pt x="156652" y="44758"/>
                </a:moveTo>
                <a:lnTo>
                  <a:pt x="156652" y="27974"/>
                </a:lnTo>
                <a:cubicBezTo>
                  <a:pt x="156652" y="12518"/>
                  <a:pt x="121580" y="0"/>
                  <a:pt x="78326" y="0"/>
                </a:cubicBezTo>
                <a:cubicBezTo>
                  <a:pt x="35072" y="0"/>
                  <a:pt x="0" y="12518"/>
                  <a:pt x="0" y="27974"/>
                </a:cubicBezTo>
                <a:lnTo>
                  <a:pt x="0" y="44758"/>
                </a:lnTo>
                <a:cubicBezTo>
                  <a:pt x="0" y="60213"/>
                  <a:pt x="35072" y="72731"/>
                  <a:pt x="78326" y="72731"/>
                </a:cubicBezTo>
                <a:cubicBezTo>
                  <a:pt x="121580" y="72731"/>
                  <a:pt x="156652" y="60213"/>
                  <a:pt x="156652" y="44758"/>
                </a:cubicBezTo>
                <a:close/>
                <a:moveTo>
                  <a:pt x="139343" y="136301"/>
                </a:moveTo>
                <a:cubicBezTo>
                  <a:pt x="122944" y="142141"/>
                  <a:pt x="101369" y="145463"/>
                  <a:pt x="78326" y="145463"/>
                </a:cubicBezTo>
                <a:cubicBezTo>
                  <a:pt x="55283" y="145463"/>
                  <a:pt x="33708" y="142141"/>
                  <a:pt x="17309" y="136301"/>
                </a:cubicBezTo>
                <a:cubicBezTo>
                  <a:pt x="11154" y="134098"/>
                  <a:pt x="5175" y="131336"/>
                  <a:pt x="0" y="127909"/>
                </a:cubicBezTo>
                <a:lnTo>
                  <a:pt x="0" y="151057"/>
                </a:lnTo>
                <a:cubicBezTo>
                  <a:pt x="0" y="166513"/>
                  <a:pt x="35072" y="179031"/>
                  <a:pt x="78326" y="179031"/>
                </a:cubicBezTo>
                <a:cubicBezTo>
                  <a:pt x="121580" y="179031"/>
                  <a:pt x="156652" y="166513"/>
                  <a:pt x="156652" y="151057"/>
                </a:cubicBezTo>
                <a:lnTo>
                  <a:pt x="156652" y="127909"/>
                </a:lnTo>
                <a:cubicBezTo>
                  <a:pt x="151477" y="131336"/>
                  <a:pt x="145532" y="134098"/>
                  <a:pt x="139343" y="136301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41445" y="4198273"/>
            <a:ext cx="116370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缓存查找流程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0238" y="4556335"/>
            <a:ext cx="5361974" cy="537093"/>
          </a:xfrm>
          <a:custGeom>
            <a:avLst/>
            <a:gdLst/>
            <a:ahLst/>
            <a:cxnLst/>
            <a:rect l="l" t="t" r="r" b="b"/>
            <a:pathLst>
              <a:path w="5361974" h="537093">
                <a:moveTo>
                  <a:pt x="71611" y="0"/>
                </a:moveTo>
                <a:lnTo>
                  <a:pt x="5290363" y="0"/>
                </a:lnTo>
                <a:cubicBezTo>
                  <a:pt x="5329912" y="0"/>
                  <a:pt x="5361974" y="32061"/>
                  <a:pt x="5361974" y="71611"/>
                </a:cubicBezTo>
                <a:lnTo>
                  <a:pt x="5361974" y="465482"/>
                </a:lnTo>
                <a:cubicBezTo>
                  <a:pt x="5361974" y="505031"/>
                  <a:pt x="5329912" y="537093"/>
                  <a:pt x="5290363" y="537093"/>
                </a:cubicBezTo>
                <a:lnTo>
                  <a:pt x="71611" y="537093"/>
                </a:lnTo>
                <a:cubicBezTo>
                  <a:pt x="32061" y="537093"/>
                  <a:pt x="0" y="505031"/>
                  <a:pt x="0" y="465482"/>
                </a:cubicBezTo>
                <a:lnTo>
                  <a:pt x="0" y="71611"/>
                </a:lnTo>
                <a:cubicBezTo>
                  <a:pt x="0" y="32088"/>
                  <a:pt x="32088" y="0"/>
                  <a:pt x="7161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81850" y="4681656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143225" y="0"/>
                </a:moveTo>
                <a:lnTo>
                  <a:pt x="143225" y="0"/>
                </a:lnTo>
                <a:cubicBezTo>
                  <a:pt x="222325" y="0"/>
                  <a:pt x="286449" y="64124"/>
                  <a:pt x="286449" y="143225"/>
                </a:cubicBezTo>
                <a:lnTo>
                  <a:pt x="286449" y="143225"/>
                </a:lnTo>
                <a:cubicBezTo>
                  <a:pt x="286449" y="222325"/>
                  <a:pt x="222325" y="286449"/>
                  <a:pt x="143225" y="286449"/>
                </a:cubicBezTo>
                <a:lnTo>
                  <a:pt x="143225" y="286449"/>
                </a:lnTo>
                <a:cubicBezTo>
                  <a:pt x="64124" y="286449"/>
                  <a:pt x="0" y="222325"/>
                  <a:pt x="0" y="143225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46044" y="4681656"/>
            <a:ext cx="35806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75718" y="4627947"/>
            <a:ext cx="456528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H0 命中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75718" y="4842784"/>
            <a:ext cx="455633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复用 Chunk 0 的 KV Cache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598140" y="4735366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89515" y="179031"/>
                </a:moveTo>
                <a:cubicBezTo>
                  <a:pt x="138920" y="179031"/>
                  <a:pt x="179031" y="138920"/>
                  <a:pt x="179031" y="89515"/>
                </a:cubicBezTo>
                <a:cubicBezTo>
                  <a:pt x="179031" y="40111"/>
                  <a:pt x="138920" y="0"/>
                  <a:pt x="89515" y="0"/>
                </a:cubicBezTo>
                <a:cubicBezTo>
                  <a:pt x="40111" y="0"/>
                  <a:pt x="0" y="40111"/>
                  <a:pt x="0" y="89515"/>
                </a:cubicBezTo>
                <a:cubicBezTo>
                  <a:pt x="0" y="138920"/>
                  <a:pt x="40111" y="179031"/>
                  <a:pt x="89515" y="179031"/>
                </a:cubicBezTo>
                <a:close/>
                <a:moveTo>
                  <a:pt x="119028" y="74375"/>
                </a:moveTo>
                <a:lnTo>
                  <a:pt x="91054" y="119132"/>
                </a:lnTo>
                <a:cubicBezTo>
                  <a:pt x="89585" y="121475"/>
                  <a:pt x="87068" y="122944"/>
                  <a:pt x="84305" y="123084"/>
                </a:cubicBezTo>
                <a:cubicBezTo>
                  <a:pt x="81543" y="123224"/>
                  <a:pt x="78885" y="121965"/>
                  <a:pt x="77242" y="119727"/>
                </a:cubicBezTo>
                <a:lnTo>
                  <a:pt x="60458" y="97348"/>
                </a:lnTo>
                <a:cubicBezTo>
                  <a:pt x="57661" y="93642"/>
                  <a:pt x="58430" y="88396"/>
                  <a:pt x="62136" y="85599"/>
                </a:cubicBezTo>
                <a:cubicBezTo>
                  <a:pt x="65843" y="82802"/>
                  <a:pt x="71088" y="83571"/>
                  <a:pt x="73885" y="87278"/>
                </a:cubicBezTo>
                <a:lnTo>
                  <a:pt x="83326" y="99866"/>
                </a:lnTo>
                <a:lnTo>
                  <a:pt x="104796" y="65493"/>
                </a:lnTo>
                <a:cubicBezTo>
                  <a:pt x="107244" y="61577"/>
                  <a:pt x="112419" y="60353"/>
                  <a:pt x="116370" y="62836"/>
                </a:cubicBezTo>
                <a:cubicBezTo>
                  <a:pt x="120321" y="65318"/>
                  <a:pt x="121510" y="70458"/>
                  <a:pt x="119028" y="7441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10238" y="5165040"/>
            <a:ext cx="5361974" cy="537093"/>
          </a:xfrm>
          <a:custGeom>
            <a:avLst/>
            <a:gdLst/>
            <a:ahLst/>
            <a:cxnLst/>
            <a:rect l="l" t="t" r="r" b="b"/>
            <a:pathLst>
              <a:path w="5361974" h="537093">
                <a:moveTo>
                  <a:pt x="71611" y="0"/>
                </a:moveTo>
                <a:lnTo>
                  <a:pt x="5290363" y="0"/>
                </a:lnTo>
                <a:cubicBezTo>
                  <a:pt x="5329912" y="0"/>
                  <a:pt x="5361974" y="32061"/>
                  <a:pt x="5361974" y="71611"/>
                </a:cubicBezTo>
                <a:lnTo>
                  <a:pt x="5361974" y="465482"/>
                </a:lnTo>
                <a:cubicBezTo>
                  <a:pt x="5361974" y="505031"/>
                  <a:pt x="5329912" y="537093"/>
                  <a:pt x="5290363" y="537093"/>
                </a:cubicBezTo>
                <a:lnTo>
                  <a:pt x="71611" y="537093"/>
                </a:lnTo>
                <a:cubicBezTo>
                  <a:pt x="32061" y="537093"/>
                  <a:pt x="0" y="505031"/>
                  <a:pt x="0" y="465482"/>
                </a:cubicBezTo>
                <a:lnTo>
                  <a:pt x="0" y="71611"/>
                </a:lnTo>
                <a:cubicBezTo>
                  <a:pt x="0" y="32088"/>
                  <a:pt x="32088" y="0"/>
                  <a:pt x="7161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581850" y="5290361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143225" y="0"/>
                </a:moveTo>
                <a:lnTo>
                  <a:pt x="143225" y="0"/>
                </a:lnTo>
                <a:cubicBezTo>
                  <a:pt x="222325" y="0"/>
                  <a:pt x="286449" y="64124"/>
                  <a:pt x="286449" y="143225"/>
                </a:cubicBezTo>
                <a:lnTo>
                  <a:pt x="286449" y="143225"/>
                </a:lnTo>
                <a:cubicBezTo>
                  <a:pt x="286449" y="222325"/>
                  <a:pt x="222325" y="286449"/>
                  <a:pt x="143225" y="286449"/>
                </a:cubicBezTo>
                <a:lnTo>
                  <a:pt x="143225" y="286449"/>
                </a:lnTo>
                <a:cubicBezTo>
                  <a:pt x="64124" y="286449"/>
                  <a:pt x="0" y="222325"/>
                  <a:pt x="0" y="143225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546044" y="5290361"/>
            <a:ext cx="35806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75718" y="5236652"/>
            <a:ext cx="456528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H1 命中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75718" y="5451489"/>
            <a:ext cx="455633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复用 Chunk 1 的 KV Cache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598140" y="5344070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89515" y="179031"/>
                </a:moveTo>
                <a:cubicBezTo>
                  <a:pt x="138920" y="179031"/>
                  <a:pt x="179031" y="138920"/>
                  <a:pt x="179031" y="89515"/>
                </a:cubicBezTo>
                <a:cubicBezTo>
                  <a:pt x="179031" y="40111"/>
                  <a:pt x="138920" y="0"/>
                  <a:pt x="89515" y="0"/>
                </a:cubicBezTo>
                <a:cubicBezTo>
                  <a:pt x="40111" y="0"/>
                  <a:pt x="0" y="40111"/>
                  <a:pt x="0" y="89515"/>
                </a:cubicBezTo>
                <a:cubicBezTo>
                  <a:pt x="0" y="138920"/>
                  <a:pt x="40111" y="179031"/>
                  <a:pt x="89515" y="179031"/>
                </a:cubicBezTo>
                <a:close/>
                <a:moveTo>
                  <a:pt x="119028" y="74375"/>
                </a:moveTo>
                <a:lnTo>
                  <a:pt x="91054" y="119132"/>
                </a:lnTo>
                <a:cubicBezTo>
                  <a:pt x="89585" y="121475"/>
                  <a:pt x="87068" y="122944"/>
                  <a:pt x="84305" y="123084"/>
                </a:cubicBezTo>
                <a:cubicBezTo>
                  <a:pt x="81543" y="123224"/>
                  <a:pt x="78885" y="121965"/>
                  <a:pt x="77242" y="119727"/>
                </a:cubicBezTo>
                <a:lnTo>
                  <a:pt x="60458" y="97348"/>
                </a:lnTo>
                <a:cubicBezTo>
                  <a:pt x="57661" y="93642"/>
                  <a:pt x="58430" y="88396"/>
                  <a:pt x="62136" y="85599"/>
                </a:cubicBezTo>
                <a:cubicBezTo>
                  <a:pt x="65843" y="82802"/>
                  <a:pt x="71088" y="83571"/>
                  <a:pt x="73885" y="87278"/>
                </a:cubicBezTo>
                <a:lnTo>
                  <a:pt x="83326" y="99866"/>
                </a:lnTo>
                <a:lnTo>
                  <a:pt x="104796" y="65493"/>
                </a:lnTo>
                <a:cubicBezTo>
                  <a:pt x="107244" y="61577"/>
                  <a:pt x="112419" y="60353"/>
                  <a:pt x="116370" y="62836"/>
                </a:cubicBezTo>
                <a:cubicBezTo>
                  <a:pt x="120321" y="65318"/>
                  <a:pt x="121510" y="70458"/>
                  <a:pt x="119028" y="7441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510238" y="5773744"/>
            <a:ext cx="5361974" cy="537093"/>
          </a:xfrm>
          <a:custGeom>
            <a:avLst/>
            <a:gdLst/>
            <a:ahLst/>
            <a:cxnLst/>
            <a:rect l="l" t="t" r="r" b="b"/>
            <a:pathLst>
              <a:path w="5361974" h="537093">
                <a:moveTo>
                  <a:pt x="71611" y="0"/>
                </a:moveTo>
                <a:lnTo>
                  <a:pt x="5290363" y="0"/>
                </a:lnTo>
                <a:cubicBezTo>
                  <a:pt x="5329912" y="0"/>
                  <a:pt x="5361974" y="32061"/>
                  <a:pt x="5361974" y="71611"/>
                </a:cubicBezTo>
                <a:lnTo>
                  <a:pt x="5361974" y="465482"/>
                </a:lnTo>
                <a:cubicBezTo>
                  <a:pt x="5361974" y="505031"/>
                  <a:pt x="5329912" y="537093"/>
                  <a:pt x="5290363" y="537093"/>
                </a:cubicBezTo>
                <a:lnTo>
                  <a:pt x="71611" y="537093"/>
                </a:lnTo>
                <a:cubicBezTo>
                  <a:pt x="32061" y="537093"/>
                  <a:pt x="0" y="505031"/>
                  <a:pt x="0" y="465482"/>
                </a:cubicBezTo>
                <a:lnTo>
                  <a:pt x="0" y="71611"/>
                </a:lnTo>
                <a:cubicBezTo>
                  <a:pt x="0" y="32088"/>
                  <a:pt x="32088" y="0"/>
                  <a:pt x="7161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581850" y="5899066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143225" y="0"/>
                </a:moveTo>
                <a:lnTo>
                  <a:pt x="143225" y="0"/>
                </a:lnTo>
                <a:cubicBezTo>
                  <a:pt x="222325" y="0"/>
                  <a:pt x="286449" y="64124"/>
                  <a:pt x="286449" y="143225"/>
                </a:cubicBezTo>
                <a:lnTo>
                  <a:pt x="286449" y="143225"/>
                </a:lnTo>
                <a:cubicBezTo>
                  <a:pt x="286449" y="222325"/>
                  <a:pt x="222325" y="286449"/>
                  <a:pt x="143225" y="286449"/>
                </a:cubicBezTo>
                <a:lnTo>
                  <a:pt x="143225" y="286449"/>
                </a:lnTo>
                <a:cubicBezTo>
                  <a:pt x="64124" y="286449"/>
                  <a:pt x="0" y="222325"/>
                  <a:pt x="0" y="143225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546044" y="5899066"/>
            <a:ext cx="35806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1A1D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75718" y="5845357"/>
            <a:ext cx="456528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H2 未命中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75718" y="6060194"/>
            <a:ext cx="455633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 Chunk 2 并存储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20519" y="5952775"/>
            <a:ext cx="134273" cy="179031"/>
          </a:xfrm>
          <a:custGeom>
            <a:avLst/>
            <a:gdLst/>
            <a:ahLst/>
            <a:cxnLst/>
            <a:rect l="l" t="t" r="r" b="b"/>
            <a:pathLst>
              <a:path w="134273" h="179031">
                <a:moveTo>
                  <a:pt x="22379" y="0"/>
                </a:moveTo>
                <a:cubicBezTo>
                  <a:pt x="10036" y="0"/>
                  <a:pt x="0" y="10036"/>
                  <a:pt x="0" y="22379"/>
                </a:cubicBezTo>
                <a:lnTo>
                  <a:pt x="0" y="156652"/>
                </a:lnTo>
                <a:cubicBezTo>
                  <a:pt x="0" y="168995"/>
                  <a:pt x="10036" y="179031"/>
                  <a:pt x="22379" y="179031"/>
                </a:cubicBezTo>
                <a:lnTo>
                  <a:pt x="111894" y="179031"/>
                </a:lnTo>
                <a:cubicBezTo>
                  <a:pt x="124238" y="179031"/>
                  <a:pt x="134273" y="168995"/>
                  <a:pt x="134273" y="156652"/>
                </a:cubicBezTo>
                <a:lnTo>
                  <a:pt x="134273" y="22379"/>
                </a:lnTo>
                <a:cubicBezTo>
                  <a:pt x="134273" y="10036"/>
                  <a:pt x="124238" y="0"/>
                  <a:pt x="111894" y="0"/>
                </a:cubicBezTo>
                <a:lnTo>
                  <a:pt x="22379" y="0"/>
                </a:lnTo>
                <a:close/>
                <a:moveTo>
                  <a:pt x="33568" y="22379"/>
                </a:moveTo>
                <a:lnTo>
                  <a:pt x="100705" y="22379"/>
                </a:lnTo>
                <a:cubicBezTo>
                  <a:pt x="106894" y="22379"/>
                  <a:pt x="111894" y="27379"/>
                  <a:pt x="111894" y="33568"/>
                </a:cubicBezTo>
                <a:lnTo>
                  <a:pt x="111894" y="44758"/>
                </a:lnTo>
                <a:cubicBezTo>
                  <a:pt x="111894" y="50947"/>
                  <a:pt x="106894" y="55947"/>
                  <a:pt x="100705" y="55947"/>
                </a:cubicBezTo>
                <a:lnTo>
                  <a:pt x="33568" y="55947"/>
                </a:lnTo>
                <a:cubicBezTo>
                  <a:pt x="27379" y="55947"/>
                  <a:pt x="22379" y="50947"/>
                  <a:pt x="22379" y="44758"/>
                </a:cubicBezTo>
                <a:lnTo>
                  <a:pt x="22379" y="33568"/>
                </a:lnTo>
                <a:cubicBezTo>
                  <a:pt x="22379" y="27379"/>
                  <a:pt x="27379" y="22379"/>
                  <a:pt x="33568" y="22379"/>
                </a:cubicBezTo>
                <a:close/>
                <a:moveTo>
                  <a:pt x="39163" y="81123"/>
                </a:moveTo>
                <a:cubicBezTo>
                  <a:pt x="39163" y="85755"/>
                  <a:pt x="35403" y="89515"/>
                  <a:pt x="30771" y="89515"/>
                </a:cubicBezTo>
                <a:cubicBezTo>
                  <a:pt x="26139" y="89515"/>
                  <a:pt x="22379" y="85755"/>
                  <a:pt x="22379" y="81123"/>
                </a:cubicBezTo>
                <a:cubicBezTo>
                  <a:pt x="22379" y="76492"/>
                  <a:pt x="26139" y="72731"/>
                  <a:pt x="30771" y="72731"/>
                </a:cubicBezTo>
                <a:cubicBezTo>
                  <a:pt x="35403" y="72731"/>
                  <a:pt x="39163" y="76492"/>
                  <a:pt x="39163" y="81123"/>
                </a:cubicBezTo>
                <a:close/>
                <a:moveTo>
                  <a:pt x="67137" y="89515"/>
                </a:moveTo>
                <a:cubicBezTo>
                  <a:pt x="62505" y="89515"/>
                  <a:pt x="58744" y="85755"/>
                  <a:pt x="58744" y="81123"/>
                </a:cubicBezTo>
                <a:cubicBezTo>
                  <a:pt x="58744" y="76492"/>
                  <a:pt x="62505" y="72731"/>
                  <a:pt x="67137" y="72731"/>
                </a:cubicBezTo>
                <a:cubicBezTo>
                  <a:pt x="71768" y="72731"/>
                  <a:pt x="75529" y="76492"/>
                  <a:pt x="75529" y="81123"/>
                </a:cubicBezTo>
                <a:cubicBezTo>
                  <a:pt x="75529" y="85755"/>
                  <a:pt x="71768" y="89515"/>
                  <a:pt x="67137" y="89515"/>
                </a:cubicBezTo>
                <a:close/>
                <a:moveTo>
                  <a:pt x="111894" y="81123"/>
                </a:moveTo>
                <a:cubicBezTo>
                  <a:pt x="111894" y="85755"/>
                  <a:pt x="108134" y="89515"/>
                  <a:pt x="103502" y="89515"/>
                </a:cubicBezTo>
                <a:cubicBezTo>
                  <a:pt x="98870" y="89515"/>
                  <a:pt x="95110" y="85755"/>
                  <a:pt x="95110" y="81123"/>
                </a:cubicBezTo>
                <a:cubicBezTo>
                  <a:pt x="95110" y="76492"/>
                  <a:pt x="98870" y="72731"/>
                  <a:pt x="103502" y="72731"/>
                </a:cubicBezTo>
                <a:cubicBezTo>
                  <a:pt x="108134" y="72731"/>
                  <a:pt x="111894" y="76492"/>
                  <a:pt x="111894" y="81123"/>
                </a:cubicBezTo>
                <a:close/>
                <a:moveTo>
                  <a:pt x="30771" y="123084"/>
                </a:moveTo>
                <a:cubicBezTo>
                  <a:pt x="26139" y="123084"/>
                  <a:pt x="22379" y="119323"/>
                  <a:pt x="22379" y="114692"/>
                </a:cubicBezTo>
                <a:cubicBezTo>
                  <a:pt x="22379" y="110060"/>
                  <a:pt x="26139" y="106300"/>
                  <a:pt x="30771" y="106300"/>
                </a:cubicBezTo>
                <a:cubicBezTo>
                  <a:pt x="35403" y="106300"/>
                  <a:pt x="39163" y="110060"/>
                  <a:pt x="39163" y="114692"/>
                </a:cubicBezTo>
                <a:cubicBezTo>
                  <a:pt x="39163" y="119323"/>
                  <a:pt x="35403" y="123084"/>
                  <a:pt x="30771" y="123084"/>
                </a:cubicBezTo>
                <a:close/>
                <a:moveTo>
                  <a:pt x="75529" y="114692"/>
                </a:moveTo>
                <a:cubicBezTo>
                  <a:pt x="75529" y="119323"/>
                  <a:pt x="71768" y="123084"/>
                  <a:pt x="67137" y="123084"/>
                </a:cubicBezTo>
                <a:cubicBezTo>
                  <a:pt x="62505" y="123084"/>
                  <a:pt x="58744" y="119323"/>
                  <a:pt x="58744" y="114692"/>
                </a:cubicBezTo>
                <a:cubicBezTo>
                  <a:pt x="58744" y="110060"/>
                  <a:pt x="62505" y="106300"/>
                  <a:pt x="67137" y="106300"/>
                </a:cubicBezTo>
                <a:cubicBezTo>
                  <a:pt x="71768" y="106300"/>
                  <a:pt x="75529" y="110060"/>
                  <a:pt x="75529" y="114692"/>
                </a:cubicBezTo>
                <a:close/>
                <a:moveTo>
                  <a:pt x="103502" y="123084"/>
                </a:moveTo>
                <a:cubicBezTo>
                  <a:pt x="98870" y="123084"/>
                  <a:pt x="95110" y="119323"/>
                  <a:pt x="95110" y="114692"/>
                </a:cubicBezTo>
                <a:cubicBezTo>
                  <a:pt x="95110" y="110060"/>
                  <a:pt x="98870" y="106300"/>
                  <a:pt x="103502" y="106300"/>
                </a:cubicBezTo>
                <a:cubicBezTo>
                  <a:pt x="108134" y="106300"/>
                  <a:pt x="111894" y="110060"/>
                  <a:pt x="111894" y="114692"/>
                </a:cubicBezTo>
                <a:cubicBezTo>
                  <a:pt x="111894" y="119323"/>
                  <a:pt x="108134" y="123084"/>
                  <a:pt x="103502" y="123084"/>
                </a:cubicBezTo>
                <a:close/>
                <a:moveTo>
                  <a:pt x="22379" y="148260"/>
                </a:moveTo>
                <a:cubicBezTo>
                  <a:pt x="22379" y="143609"/>
                  <a:pt x="26120" y="139868"/>
                  <a:pt x="30771" y="139868"/>
                </a:cubicBezTo>
                <a:lnTo>
                  <a:pt x="69934" y="139868"/>
                </a:lnTo>
                <a:cubicBezTo>
                  <a:pt x="74585" y="139868"/>
                  <a:pt x="78326" y="143609"/>
                  <a:pt x="78326" y="148260"/>
                </a:cubicBezTo>
                <a:cubicBezTo>
                  <a:pt x="78326" y="152911"/>
                  <a:pt x="74585" y="156652"/>
                  <a:pt x="69934" y="156652"/>
                </a:cubicBezTo>
                <a:lnTo>
                  <a:pt x="30771" y="156652"/>
                </a:lnTo>
                <a:cubicBezTo>
                  <a:pt x="26120" y="156652"/>
                  <a:pt x="22379" y="152911"/>
                  <a:pt x="22379" y="148260"/>
                </a:cubicBezTo>
                <a:close/>
                <a:moveTo>
                  <a:pt x="103502" y="139868"/>
                </a:moveTo>
                <a:cubicBezTo>
                  <a:pt x="108153" y="139868"/>
                  <a:pt x="111894" y="143609"/>
                  <a:pt x="111894" y="148260"/>
                </a:cubicBezTo>
                <a:cubicBezTo>
                  <a:pt x="111894" y="152911"/>
                  <a:pt x="108153" y="156652"/>
                  <a:pt x="103502" y="156652"/>
                </a:cubicBezTo>
                <a:cubicBezTo>
                  <a:pt x="98852" y="156652"/>
                  <a:pt x="95110" y="152911"/>
                  <a:pt x="95110" y="148260"/>
                </a:cubicBezTo>
                <a:cubicBezTo>
                  <a:pt x="95110" y="143609"/>
                  <a:pt x="98852" y="139868"/>
                  <a:pt x="103502" y="139868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6171039" y="4050573"/>
            <a:ext cx="5657374" cy="2443771"/>
          </a:xfrm>
          <a:custGeom>
            <a:avLst/>
            <a:gdLst/>
            <a:ahLst/>
            <a:cxnLst/>
            <a:rect l="l" t="t" r="r" b="b"/>
            <a:pathLst>
              <a:path w="5657374" h="2443771">
                <a:moveTo>
                  <a:pt x="71602" y="0"/>
                </a:moveTo>
                <a:lnTo>
                  <a:pt x="5585772" y="0"/>
                </a:lnTo>
                <a:cubicBezTo>
                  <a:pt x="5625317" y="0"/>
                  <a:pt x="5657374" y="32058"/>
                  <a:pt x="5657374" y="71602"/>
                </a:cubicBezTo>
                <a:lnTo>
                  <a:pt x="5657374" y="2372168"/>
                </a:lnTo>
                <a:cubicBezTo>
                  <a:pt x="5657374" y="2411713"/>
                  <a:pt x="5625317" y="2443771"/>
                  <a:pt x="5585772" y="2443771"/>
                </a:cubicBezTo>
                <a:lnTo>
                  <a:pt x="71602" y="2443771"/>
                </a:lnTo>
                <a:cubicBezTo>
                  <a:pt x="32058" y="2443771"/>
                  <a:pt x="0" y="2411713"/>
                  <a:pt x="0" y="2372168"/>
                </a:cubicBezTo>
                <a:lnTo>
                  <a:pt x="0" y="71602"/>
                </a:lnTo>
                <a:cubicBezTo>
                  <a:pt x="0" y="32084"/>
                  <a:pt x="32084" y="0"/>
                  <a:pt x="71602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6341118" y="4234079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117489" y="123084"/>
                </a:moveTo>
                <a:cubicBezTo>
                  <a:pt x="151477" y="123084"/>
                  <a:pt x="179031" y="95530"/>
                  <a:pt x="179031" y="61542"/>
                </a:cubicBezTo>
                <a:cubicBezTo>
                  <a:pt x="179031" y="27554"/>
                  <a:pt x="151477" y="0"/>
                  <a:pt x="117489" y="0"/>
                </a:cubicBezTo>
                <a:cubicBezTo>
                  <a:pt x="83501" y="0"/>
                  <a:pt x="55947" y="27554"/>
                  <a:pt x="55947" y="61542"/>
                </a:cubicBezTo>
                <a:cubicBezTo>
                  <a:pt x="55947" y="68081"/>
                  <a:pt x="56961" y="74410"/>
                  <a:pt x="58849" y="80319"/>
                </a:cubicBezTo>
                <a:lnTo>
                  <a:pt x="2448" y="136721"/>
                </a:lnTo>
                <a:cubicBezTo>
                  <a:pt x="874" y="138294"/>
                  <a:pt x="0" y="140427"/>
                  <a:pt x="0" y="142665"/>
                </a:cubicBezTo>
                <a:lnTo>
                  <a:pt x="0" y="170639"/>
                </a:lnTo>
                <a:cubicBezTo>
                  <a:pt x="0" y="175289"/>
                  <a:pt x="3741" y="179031"/>
                  <a:pt x="8392" y="179031"/>
                </a:cubicBezTo>
                <a:lnTo>
                  <a:pt x="36366" y="179031"/>
                </a:lnTo>
                <a:cubicBezTo>
                  <a:pt x="41016" y="179031"/>
                  <a:pt x="44758" y="175289"/>
                  <a:pt x="44758" y="170639"/>
                </a:cubicBezTo>
                <a:lnTo>
                  <a:pt x="44758" y="156652"/>
                </a:lnTo>
                <a:lnTo>
                  <a:pt x="58744" y="156652"/>
                </a:lnTo>
                <a:cubicBezTo>
                  <a:pt x="63395" y="156652"/>
                  <a:pt x="67137" y="152911"/>
                  <a:pt x="67137" y="148260"/>
                </a:cubicBezTo>
                <a:lnTo>
                  <a:pt x="67137" y="134273"/>
                </a:lnTo>
                <a:lnTo>
                  <a:pt x="81123" y="134273"/>
                </a:lnTo>
                <a:cubicBezTo>
                  <a:pt x="83361" y="134273"/>
                  <a:pt x="85494" y="133399"/>
                  <a:pt x="87068" y="131825"/>
                </a:cubicBezTo>
                <a:lnTo>
                  <a:pt x="98712" y="120181"/>
                </a:lnTo>
                <a:cubicBezTo>
                  <a:pt x="104621" y="122070"/>
                  <a:pt x="110950" y="123084"/>
                  <a:pt x="117489" y="123084"/>
                </a:cubicBezTo>
                <a:close/>
                <a:moveTo>
                  <a:pt x="131476" y="33568"/>
                </a:moveTo>
                <a:cubicBezTo>
                  <a:pt x="139195" y="33568"/>
                  <a:pt x="145463" y="39836"/>
                  <a:pt x="145463" y="47555"/>
                </a:cubicBezTo>
                <a:cubicBezTo>
                  <a:pt x="145463" y="55275"/>
                  <a:pt x="139195" y="61542"/>
                  <a:pt x="131476" y="61542"/>
                </a:cubicBezTo>
                <a:cubicBezTo>
                  <a:pt x="123756" y="61542"/>
                  <a:pt x="117489" y="55275"/>
                  <a:pt x="117489" y="47555"/>
                </a:cubicBezTo>
                <a:cubicBezTo>
                  <a:pt x="117489" y="39836"/>
                  <a:pt x="123756" y="33568"/>
                  <a:pt x="131476" y="33568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649947" y="4198273"/>
            <a:ext cx="98467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哈希链设计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18740" y="4556335"/>
            <a:ext cx="5361974" cy="1002573"/>
          </a:xfrm>
          <a:custGeom>
            <a:avLst/>
            <a:gdLst/>
            <a:ahLst/>
            <a:cxnLst/>
            <a:rect l="l" t="t" r="r" b="b"/>
            <a:pathLst>
              <a:path w="5361974" h="1002573">
                <a:moveTo>
                  <a:pt x="71614" y="0"/>
                </a:moveTo>
                <a:lnTo>
                  <a:pt x="5290360" y="0"/>
                </a:lnTo>
                <a:cubicBezTo>
                  <a:pt x="5329911" y="0"/>
                  <a:pt x="5361974" y="32063"/>
                  <a:pt x="5361974" y="71614"/>
                </a:cubicBezTo>
                <a:lnTo>
                  <a:pt x="5361974" y="930959"/>
                </a:lnTo>
                <a:cubicBezTo>
                  <a:pt x="5361974" y="970510"/>
                  <a:pt x="5329911" y="1002573"/>
                  <a:pt x="5290360" y="1002573"/>
                </a:cubicBezTo>
                <a:lnTo>
                  <a:pt x="71614" y="1002573"/>
                </a:lnTo>
                <a:cubicBezTo>
                  <a:pt x="32089" y="1002573"/>
                  <a:pt x="0" y="970484"/>
                  <a:pt x="0" y="930959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6426158" y="4663753"/>
            <a:ext cx="520979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增量哈希计算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26158" y="4914396"/>
            <a:ext cx="520979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H₀ = Hash(Chunk₀)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26158" y="5093427"/>
            <a:ext cx="520979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H₁ = Hash(H₀, Chunk₁)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26158" y="5272458"/>
            <a:ext cx="520979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H₂ = Hash(H₁, Chunk₂)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45594" y="5702132"/>
            <a:ext cx="125322" cy="143225"/>
          </a:xfrm>
          <a:custGeom>
            <a:avLst/>
            <a:gdLst/>
            <a:ahLst/>
            <a:cxnLst/>
            <a:rect l="l" t="t" r="r" b="b"/>
            <a:pathLst>
              <a:path w="125322" h="143225">
                <a:moveTo>
                  <a:pt x="121629" y="19609"/>
                </a:moveTo>
                <a:cubicBezTo>
                  <a:pt x="125629" y="22519"/>
                  <a:pt x="126524" y="28113"/>
                  <a:pt x="123615" y="32114"/>
                </a:cubicBezTo>
                <a:lnTo>
                  <a:pt x="52003" y="130581"/>
                </a:lnTo>
                <a:cubicBezTo>
                  <a:pt x="50464" y="132707"/>
                  <a:pt x="48087" y="134021"/>
                  <a:pt x="45457" y="134245"/>
                </a:cubicBezTo>
                <a:cubicBezTo>
                  <a:pt x="42828" y="134469"/>
                  <a:pt x="40282" y="133490"/>
                  <a:pt x="38436" y="131644"/>
                </a:cubicBezTo>
                <a:lnTo>
                  <a:pt x="2630" y="95837"/>
                </a:lnTo>
                <a:cubicBezTo>
                  <a:pt x="-867" y="92341"/>
                  <a:pt x="-867" y="86662"/>
                  <a:pt x="2630" y="83165"/>
                </a:cubicBezTo>
                <a:cubicBezTo>
                  <a:pt x="6126" y="79669"/>
                  <a:pt x="11805" y="79669"/>
                  <a:pt x="15302" y="83165"/>
                </a:cubicBezTo>
                <a:lnTo>
                  <a:pt x="43695" y="111559"/>
                </a:lnTo>
                <a:lnTo>
                  <a:pt x="109153" y="21568"/>
                </a:lnTo>
                <a:cubicBezTo>
                  <a:pt x="112062" y="17567"/>
                  <a:pt x="117657" y="16672"/>
                  <a:pt x="121657" y="19581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6569383" y="5666326"/>
            <a:ext cx="131587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天然编码前缀依赖关系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45594" y="5952775"/>
            <a:ext cx="125322" cy="143225"/>
          </a:xfrm>
          <a:custGeom>
            <a:avLst/>
            <a:gdLst/>
            <a:ahLst/>
            <a:cxnLst/>
            <a:rect l="l" t="t" r="r" b="b"/>
            <a:pathLst>
              <a:path w="125322" h="143225">
                <a:moveTo>
                  <a:pt x="121629" y="19609"/>
                </a:moveTo>
                <a:cubicBezTo>
                  <a:pt x="125629" y="22519"/>
                  <a:pt x="126524" y="28113"/>
                  <a:pt x="123615" y="32114"/>
                </a:cubicBezTo>
                <a:lnTo>
                  <a:pt x="52003" y="130581"/>
                </a:lnTo>
                <a:cubicBezTo>
                  <a:pt x="50464" y="132707"/>
                  <a:pt x="48087" y="134021"/>
                  <a:pt x="45457" y="134245"/>
                </a:cubicBezTo>
                <a:cubicBezTo>
                  <a:pt x="42828" y="134469"/>
                  <a:pt x="40282" y="133490"/>
                  <a:pt x="38436" y="131644"/>
                </a:cubicBezTo>
                <a:lnTo>
                  <a:pt x="2630" y="95837"/>
                </a:lnTo>
                <a:cubicBezTo>
                  <a:pt x="-867" y="92341"/>
                  <a:pt x="-867" y="86662"/>
                  <a:pt x="2630" y="83165"/>
                </a:cubicBezTo>
                <a:cubicBezTo>
                  <a:pt x="6126" y="79669"/>
                  <a:pt x="11805" y="79669"/>
                  <a:pt x="15302" y="83165"/>
                </a:cubicBezTo>
                <a:lnTo>
                  <a:pt x="43695" y="111559"/>
                </a:lnTo>
                <a:lnTo>
                  <a:pt x="109153" y="21568"/>
                </a:lnTo>
                <a:cubicBezTo>
                  <a:pt x="112062" y="17567"/>
                  <a:pt x="117657" y="16672"/>
                  <a:pt x="121657" y="19581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6569383" y="5916969"/>
            <a:ext cx="160232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相同前缀+内容 → 相同哈希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45594" y="6203419"/>
            <a:ext cx="125322" cy="143225"/>
          </a:xfrm>
          <a:custGeom>
            <a:avLst/>
            <a:gdLst/>
            <a:ahLst/>
            <a:cxnLst/>
            <a:rect l="l" t="t" r="r" b="b"/>
            <a:pathLst>
              <a:path w="125322" h="143225">
                <a:moveTo>
                  <a:pt x="121629" y="19609"/>
                </a:moveTo>
                <a:cubicBezTo>
                  <a:pt x="125629" y="22519"/>
                  <a:pt x="126524" y="28113"/>
                  <a:pt x="123615" y="32114"/>
                </a:cubicBezTo>
                <a:lnTo>
                  <a:pt x="52003" y="130581"/>
                </a:lnTo>
                <a:cubicBezTo>
                  <a:pt x="50464" y="132707"/>
                  <a:pt x="48087" y="134021"/>
                  <a:pt x="45457" y="134245"/>
                </a:cubicBezTo>
                <a:cubicBezTo>
                  <a:pt x="42828" y="134469"/>
                  <a:pt x="40282" y="133490"/>
                  <a:pt x="38436" y="131644"/>
                </a:cubicBezTo>
                <a:lnTo>
                  <a:pt x="2630" y="95837"/>
                </a:lnTo>
                <a:cubicBezTo>
                  <a:pt x="-867" y="92341"/>
                  <a:pt x="-867" y="86662"/>
                  <a:pt x="2630" y="83165"/>
                </a:cubicBezTo>
                <a:cubicBezTo>
                  <a:pt x="6126" y="79669"/>
                  <a:pt x="11805" y="79669"/>
                  <a:pt x="15302" y="83165"/>
                </a:cubicBezTo>
                <a:lnTo>
                  <a:pt x="43695" y="111559"/>
                </a:lnTo>
                <a:lnTo>
                  <a:pt x="109153" y="21568"/>
                </a:lnTo>
                <a:cubicBezTo>
                  <a:pt x="112062" y="17567"/>
                  <a:pt x="117657" y="16672"/>
                  <a:pt x="121657" y="19581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6569383" y="6167612"/>
            <a:ext cx="1271119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不同前缀 → 不同哈希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前缀匹配的约束条件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11410950" cy="895350"/>
          </a:xfrm>
          <a:custGeom>
            <a:avLst/>
            <a:gdLst/>
            <a:ahLst/>
            <a:cxnLst/>
            <a:rect l="l" t="t" r="r" b="b"/>
            <a:pathLst>
              <a:path w="11410950" h="895350">
                <a:moveTo>
                  <a:pt x="38100" y="0"/>
                </a:moveTo>
                <a:lnTo>
                  <a:pt x="11334747" y="0"/>
                </a:lnTo>
                <a:cubicBezTo>
                  <a:pt x="11376833" y="0"/>
                  <a:pt x="11410950" y="34117"/>
                  <a:pt x="11410950" y="76203"/>
                </a:cubicBezTo>
                <a:lnTo>
                  <a:pt x="11410950" y="819147"/>
                </a:lnTo>
                <a:cubicBezTo>
                  <a:pt x="11410950" y="861233"/>
                  <a:pt x="11376833" y="895350"/>
                  <a:pt x="113347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09600" y="1371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42875" y="75902"/>
                </a:moveTo>
                <a:cubicBezTo>
                  <a:pt x="150298" y="75902"/>
                  <a:pt x="156270" y="81874"/>
                  <a:pt x="156270" y="89297"/>
                </a:cubicBezTo>
                <a:lnTo>
                  <a:pt x="156270" y="151805"/>
                </a:lnTo>
                <a:cubicBezTo>
                  <a:pt x="156270" y="159227"/>
                  <a:pt x="150298" y="165199"/>
                  <a:pt x="142875" y="165199"/>
                </a:cubicBezTo>
                <a:cubicBezTo>
                  <a:pt x="135452" y="165199"/>
                  <a:pt x="129480" y="159227"/>
                  <a:pt x="129480" y="151805"/>
                </a:cubicBezTo>
                <a:lnTo>
                  <a:pt x="129480" y="89297"/>
                </a:lnTo>
                <a:cubicBezTo>
                  <a:pt x="129480" y="81874"/>
                  <a:pt x="135452" y="75902"/>
                  <a:pt x="142875" y="75902"/>
                </a:cubicBezTo>
                <a:close/>
                <a:moveTo>
                  <a:pt x="127974" y="196453"/>
                </a:moveTo>
                <a:cubicBezTo>
                  <a:pt x="127635" y="190922"/>
                  <a:pt x="130393" y="185659"/>
                  <a:pt x="135135" y="182791"/>
                </a:cubicBezTo>
                <a:cubicBezTo>
                  <a:pt x="139876" y="179923"/>
                  <a:pt x="145818" y="179923"/>
                  <a:pt x="150560" y="182791"/>
                </a:cubicBezTo>
                <a:cubicBezTo>
                  <a:pt x="155301" y="185659"/>
                  <a:pt x="158060" y="190922"/>
                  <a:pt x="157721" y="196453"/>
                </a:cubicBezTo>
                <a:cubicBezTo>
                  <a:pt x="158060" y="201984"/>
                  <a:pt x="155301" y="207247"/>
                  <a:pt x="150560" y="210115"/>
                </a:cubicBezTo>
                <a:cubicBezTo>
                  <a:pt x="145818" y="212983"/>
                  <a:pt x="139876" y="212983"/>
                  <a:pt x="135135" y="210115"/>
                </a:cubicBezTo>
                <a:cubicBezTo>
                  <a:pt x="130393" y="207247"/>
                  <a:pt x="127635" y="201984"/>
                  <a:pt x="127974" y="196453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81088" y="1371600"/>
            <a:ext cx="10677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因果注意力机制的限制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1088" y="1714500"/>
            <a:ext cx="10658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由于 Transformer 的因果注意力(Causal Attention)机制,</a:t>
            </a:r>
            <a:r>
              <a:rPr lang="en-US" sz="1200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后续 token 的 KV Cache 依赖于之前所有 token 的信息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271713"/>
            <a:ext cx="5629275" cy="3095625"/>
          </a:xfrm>
          <a:custGeom>
            <a:avLst/>
            <a:gdLst/>
            <a:ahLst/>
            <a:cxnLst/>
            <a:rect l="l" t="t" r="r" b="b"/>
            <a:pathLst>
              <a:path w="5629275" h="3095625">
                <a:moveTo>
                  <a:pt x="76214" y="0"/>
                </a:moveTo>
                <a:lnTo>
                  <a:pt x="5553061" y="0"/>
                </a:lnTo>
                <a:cubicBezTo>
                  <a:pt x="5595153" y="0"/>
                  <a:pt x="5629275" y="34122"/>
                  <a:pt x="5629275" y="76214"/>
                </a:cubicBezTo>
                <a:lnTo>
                  <a:pt x="5629275" y="3019411"/>
                </a:lnTo>
                <a:cubicBezTo>
                  <a:pt x="5629275" y="3061503"/>
                  <a:pt x="5595153" y="3095625"/>
                  <a:pt x="5553061" y="3095625"/>
                </a:cubicBezTo>
                <a:lnTo>
                  <a:pt x="76214" y="3095625"/>
                </a:lnTo>
                <a:cubicBezTo>
                  <a:pt x="34122" y="3095625"/>
                  <a:pt x="0" y="3061503"/>
                  <a:pt x="0" y="3019411"/>
                </a:cubicBezTo>
                <a:lnTo>
                  <a:pt x="0" y="76214"/>
                </a:lnTo>
                <a:cubicBezTo>
                  <a:pt x="0" y="34122"/>
                  <a:pt x="34122" y="0"/>
                  <a:pt x="76214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738" y="2466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6789"/>
                </a:moveTo>
                <a:cubicBezTo>
                  <a:pt x="0" y="21878"/>
                  <a:pt x="3981" y="17859"/>
                  <a:pt x="8930" y="17859"/>
                </a:cubicBezTo>
                <a:lnTo>
                  <a:pt x="26789" y="17859"/>
                </a:lnTo>
                <a:cubicBezTo>
                  <a:pt x="31738" y="17859"/>
                  <a:pt x="35719" y="21841"/>
                  <a:pt x="35719" y="26789"/>
                </a:cubicBezTo>
                <a:lnTo>
                  <a:pt x="35719" y="65484"/>
                </a:lnTo>
                <a:lnTo>
                  <a:pt x="44648" y="65484"/>
                </a:lnTo>
                <a:cubicBezTo>
                  <a:pt x="49597" y="65484"/>
                  <a:pt x="53578" y="69466"/>
                  <a:pt x="53578" y="74414"/>
                </a:cubicBezTo>
                <a:cubicBezTo>
                  <a:pt x="53578" y="79363"/>
                  <a:pt x="49597" y="83344"/>
                  <a:pt x="44648" y="83344"/>
                </a:cubicBezTo>
                <a:lnTo>
                  <a:pt x="8930" y="83344"/>
                </a:lnTo>
                <a:cubicBezTo>
                  <a:pt x="3981" y="83344"/>
                  <a:pt x="0" y="79363"/>
                  <a:pt x="0" y="74414"/>
                </a:cubicBezTo>
                <a:cubicBezTo>
                  <a:pt x="0" y="69466"/>
                  <a:pt x="3981" y="65484"/>
                  <a:pt x="8930" y="65484"/>
                </a:cubicBezTo>
                <a:lnTo>
                  <a:pt x="17859" y="65484"/>
                </a:lnTo>
                <a:lnTo>
                  <a:pt x="17859" y="35719"/>
                </a:lnTo>
                <a:lnTo>
                  <a:pt x="8930" y="35719"/>
                </a:lnTo>
                <a:cubicBezTo>
                  <a:pt x="3981" y="35719"/>
                  <a:pt x="0" y="31738"/>
                  <a:pt x="0" y="26789"/>
                </a:cubicBezTo>
                <a:close/>
                <a:moveTo>
                  <a:pt x="11311" y="112068"/>
                </a:moveTo>
                <a:cubicBezTo>
                  <a:pt x="15553" y="108868"/>
                  <a:pt x="20724" y="107156"/>
                  <a:pt x="26045" y="107156"/>
                </a:cubicBezTo>
                <a:lnTo>
                  <a:pt x="27868" y="107156"/>
                </a:lnTo>
                <a:cubicBezTo>
                  <a:pt x="40407" y="107156"/>
                  <a:pt x="50602" y="117351"/>
                  <a:pt x="50602" y="129890"/>
                </a:cubicBezTo>
                <a:cubicBezTo>
                  <a:pt x="50602" y="137182"/>
                  <a:pt x="47104" y="143991"/>
                  <a:pt x="41225" y="148270"/>
                </a:cubicBezTo>
                <a:lnTo>
                  <a:pt x="32296" y="154781"/>
                </a:lnTo>
                <a:lnTo>
                  <a:pt x="44648" y="154781"/>
                </a:lnTo>
                <a:cubicBezTo>
                  <a:pt x="49597" y="154781"/>
                  <a:pt x="53578" y="158762"/>
                  <a:pt x="53578" y="163711"/>
                </a:cubicBezTo>
                <a:cubicBezTo>
                  <a:pt x="53578" y="168659"/>
                  <a:pt x="49597" y="172641"/>
                  <a:pt x="44648" y="172641"/>
                </a:cubicBezTo>
                <a:lnTo>
                  <a:pt x="10902" y="172641"/>
                </a:lnTo>
                <a:cubicBezTo>
                  <a:pt x="4874" y="172641"/>
                  <a:pt x="0" y="167767"/>
                  <a:pt x="0" y="161739"/>
                </a:cubicBezTo>
                <a:cubicBezTo>
                  <a:pt x="0" y="158242"/>
                  <a:pt x="1674" y="154967"/>
                  <a:pt x="4502" y="152921"/>
                </a:cubicBezTo>
                <a:lnTo>
                  <a:pt x="30733" y="133834"/>
                </a:lnTo>
                <a:cubicBezTo>
                  <a:pt x="31998" y="132904"/>
                  <a:pt x="32742" y="131452"/>
                  <a:pt x="32742" y="129890"/>
                </a:cubicBezTo>
                <a:cubicBezTo>
                  <a:pt x="32742" y="127211"/>
                  <a:pt x="30547" y="125016"/>
                  <a:pt x="27868" y="125016"/>
                </a:cubicBezTo>
                <a:lnTo>
                  <a:pt x="26045" y="125016"/>
                </a:lnTo>
                <a:cubicBezTo>
                  <a:pt x="24594" y="125016"/>
                  <a:pt x="23180" y="125499"/>
                  <a:pt x="22027" y="126355"/>
                </a:cubicBezTo>
                <a:lnTo>
                  <a:pt x="14288" y="132159"/>
                </a:lnTo>
                <a:cubicBezTo>
                  <a:pt x="10344" y="135136"/>
                  <a:pt x="4762" y="134317"/>
                  <a:pt x="1786" y="130373"/>
                </a:cubicBezTo>
                <a:cubicBezTo>
                  <a:pt x="-1191" y="126429"/>
                  <a:pt x="-372" y="120848"/>
                  <a:pt x="3572" y="117872"/>
                </a:cubicBezTo>
                <a:lnTo>
                  <a:pt x="11311" y="112068"/>
                </a:lnTo>
                <a:close/>
                <a:moveTo>
                  <a:pt x="83344" y="23812"/>
                </a:move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83344" y="47625"/>
                </a:lnTo>
                <a:cubicBezTo>
                  <a:pt x="76758" y="47625"/>
                  <a:pt x="71438" y="42304"/>
                  <a:pt x="71438" y="35719"/>
                </a:cubicBezTo>
                <a:cubicBezTo>
                  <a:pt x="71438" y="29133"/>
                  <a:pt x="76758" y="23812"/>
                  <a:pt x="83344" y="23812"/>
                </a:cubicBezTo>
                <a:close/>
                <a:moveTo>
                  <a:pt x="83344" y="83344"/>
                </a:move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83344" y="107156"/>
                </a:lnTo>
                <a:cubicBezTo>
                  <a:pt x="76758" y="107156"/>
                  <a:pt x="71438" y="101836"/>
                  <a:pt x="71438" y="95250"/>
                </a:cubicBezTo>
                <a:cubicBezTo>
                  <a:pt x="71438" y="88664"/>
                  <a:pt x="76758" y="83344"/>
                  <a:pt x="83344" y="83344"/>
                </a:cubicBez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95350" y="242887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匹配规则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809875"/>
            <a:ext cx="5314950" cy="533400"/>
          </a:xfrm>
          <a:custGeom>
            <a:avLst/>
            <a:gdLst/>
            <a:ahLst/>
            <a:cxnLst/>
            <a:rect l="l" t="t" r="r" b="b"/>
            <a:pathLst>
              <a:path w="5314950" h="5334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57198"/>
                </a:lnTo>
                <a:cubicBezTo>
                  <a:pt x="5314950" y="499283"/>
                  <a:pt x="5280833" y="533400"/>
                  <a:pt x="52387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57225" y="29241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3888" y="292417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6325" y="2924175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必须从</a:t>
            </a: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序列开头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开始逐 Chunk 匹配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925" y="3457575"/>
            <a:ext cx="5314950" cy="533400"/>
          </a:xfrm>
          <a:custGeom>
            <a:avLst/>
            <a:gdLst/>
            <a:ahLst/>
            <a:cxnLst/>
            <a:rect l="l" t="t" r="r" b="b"/>
            <a:pathLst>
              <a:path w="5314950" h="5334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57198"/>
                </a:lnTo>
                <a:cubicBezTo>
                  <a:pt x="5314950" y="499283"/>
                  <a:pt x="5280833" y="533400"/>
                  <a:pt x="52387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57225" y="35718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23888" y="357187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6325" y="3571875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一旦某个 Chunk 未命中,</a:t>
            </a: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后续所有 Chunk 都必须重新计算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925" y="4105275"/>
            <a:ext cx="5314950" cy="533400"/>
          </a:xfrm>
          <a:custGeom>
            <a:avLst/>
            <a:gdLst/>
            <a:ahLst/>
            <a:cxnLst/>
            <a:rect l="l" t="t" r="r" b="b"/>
            <a:pathLst>
              <a:path w="5314950" h="5334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57198"/>
                </a:lnTo>
                <a:cubicBezTo>
                  <a:pt x="5314950" y="499283"/>
                  <a:pt x="5280833" y="533400"/>
                  <a:pt x="52387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57225" y="4219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23888" y="421957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6325" y="4219575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即使后续 Chunk 内容相同,由于</a:t>
            </a: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上下文不同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,其 KV Cache 也不相同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6963" y="2271713"/>
            <a:ext cx="5629275" cy="3095625"/>
          </a:xfrm>
          <a:custGeom>
            <a:avLst/>
            <a:gdLst/>
            <a:ahLst/>
            <a:cxnLst/>
            <a:rect l="l" t="t" r="r" b="b"/>
            <a:pathLst>
              <a:path w="5629275" h="3095625">
                <a:moveTo>
                  <a:pt x="76214" y="0"/>
                </a:moveTo>
                <a:lnTo>
                  <a:pt x="5553061" y="0"/>
                </a:lnTo>
                <a:cubicBezTo>
                  <a:pt x="5595153" y="0"/>
                  <a:pt x="5629275" y="34122"/>
                  <a:pt x="5629275" y="76214"/>
                </a:cubicBezTo>
                <a:lnTo>
                  <a:pt x="5629275" y="3019411"/>
                </a:lnTo>
                <a:cubicBezTo>
                  <a:pt x="5629275" y="3061503"/>
                  <a:pt x="5595153" y="3095625"/>
                  <a:pt x="5553061" y="3095625"/>
                </a:cubicBezTo>
                <a:lnTo>
                  <a:pt x="76214" y="3095625"/>
                </a:lnTo>
                <a:cubicBezTo>
                  <a:pt x="34122" y="3095625"/>
                  <a:pt x="0" y="3061503"/>
                  <a:pt x="0" y="3019411"/>
                </a:cubicBezTo>
                <a:lnTo>
                  <a:pt x="0" y="76214"/>
                </a:lnTo>
                <a:cubicBezTo>
                  <a:pt x="0" y="34122"/>
                  <a:pt x="34122" y="0"/>
                  <a:pt x="76214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346031" y="24669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86550" y="242887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示例说明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34125" y="2809875"/>
            <a:ext cx="5314950" cy="723900"/>
          </a:xfrm>
          <a:custGeom>
            <a:avLst/>
            <a:gdLst/>
            <a:ahLst/>
            <a:cxnLst/>
            <a:rect l="l" t="t" r="r" b="b"/>
            <a:pathLst>
              <a:path w="5314950" h="723900">
                <a:moveTo>
                  <a:pt x="76198" y="0"/>
                </a:moveTo>
                <a:lnTo>
                  <a:pt x="5238752" y="0"/>
                </a:lnTo>
                <a:cubicBezTo>
                  <a:pt x="5280807" y="0"/>
                  <a:pt x="5314950" y="34143"/>
                  <a:pt x="5314950" y="76198"/>
                </a:cubicBezTo>
                <a:lnTo>
                  <a:pt x="5314950" y="647702"/>
                </a:lnTo>
                <a:cubicBezTo>
                  <a:pt x="5314950" y="689757"/>
                  <a:pt x="5280807" y="723900"/>
                  <a:pt x="52387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48425" y="2924175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请求 A: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25580" y="292417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[System] + [Query A]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67475" y="32575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691313" y="3228975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 System 的 KV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4125" y="3648075"/>
            <a:ext cx="5314950" cy="723900"/>
          </a:xfrm>
          <a:custGeom>
            <a:avLst/>
            <a:gdLst/>
            <a:ahLst/>
            <a:cxnLst/>
            <a:rect l="l" t="t" r="r" b="b"/>
            <a:pathLst>
              <a:path w="5314950" h="723900">
                <a:moveTo>
                  <a:pt x="76198" y="0"/>
                </a:moveTo>
                <a:lnTo>
                  <a:pt x="5238752" y="0"/>
                </a:lnTo>
                <a:cubicBezTo>
                  <a:pt x="5280807" y="0"/>
                  <a:pt x="5314950" y="34143"/>
                  <a:pt x="5314950" y="76198"/>
                </a:cubicBezTo>
                <a:lnTo>
                  <a:pt x="5314950" y="647702"/>
                </a:lnTo>
                <a:cubicBezTo>
                  <a:pt x="5314950" y="689757"/>
                  <a:pt x="5280807" y="723900"/>
                  <a:pt x="52387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48425" y="3762375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请求 B: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27292" y="376237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[System] + [Query B]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67475" y="4095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691313" y="4067175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复用 System 的 KV ✓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34125" y="4486275"/>
            <a:ext cx="5314950" cy="723900"/>
          </a:xfrm>
          <a:custGeom>
            <a:avLst/>
            <a:gdLst/>
            <a:ahLst/>
            <a:cxnLst/>
            <a:rect l="l" t="t" r="r" b="b"/>
            <a:pathLst>
              <a:path w="5314950" h="723900">
                <a:moveTo>
                  <a:pt x="76198" y="0"/>
                </a:moveTo>
                <a:lnTo>
                  <a:pt x="5238752" y="0"/>
                </a:lnTo>
                <a:cubicBezTo>
                  <a:pt x="5280807" y="0"/>
                  <a:pt x="5314950" y="34143"/>
                  <a:pt x="5314950" y="76198"/>
                </a:cubicBezTo>
                <a:lnTo>
                  <a:pt x="5314950" y="647702"/>
                </a:lnTo>
                <a:cubicBezTo>
                  <a:pt x="5314950" y="689757"/>
                  <a:pt x="5280807" y="723900"/>
                  <a:pt x="52387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448425" y="4600575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请求 C: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33692" y="4600575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[Query C] + [System]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67475" y="4933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691313" y="4905375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无法复用(前缀不匹配) ✗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5763" y="5529263"/>
            <a:ext cx="11420475" cy="561975"/>
          </a:xfrm>
          <a:custGeom>
            <a:avLst/>
            <a:gdLst/>
            <a:ahLst/>
            <a:cxnLst/>
            <a:rect l="l" t="t" r="r" b="b"/>
            <a:pathLst>
              <a:path w="11420475" h="5619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485777"/>
                </a:lnTo>
                <a:cubicBezTo>
                  <a:pt x="11420475" y="527860"/>
                  <a:pt x="11386360" y="561975"/>
                  <a:pt x="11344277" y="561975"/>
                </a:cubicBezTo>
                <a:lnTo>
                  <a:pt x="76198" y="561975"/>
                </a:lnTo>
                <a:cubicBezTo>
                  <a:pt x="34143" y="561975"/>
                  <a:pt x="0" y="527832"/>
                  <a:pt x="0" y="4857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90550" y="5715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95350" y="5686425"/>
            <a:ext cx="10829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进阶方案：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对于打破前缀约束的非前缀复用场景(如RAG中的乱序文档),可以使用 </a:t>
            </a:r>
            <a:r>
              <a:rPr lang="en-US" sz="1200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CacheBlend 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等高级技术通过选择性重算实现近似复用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4748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kern="0" spc="56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HASH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644511"/>
            <a:ext cx="1163700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7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哈希 Key 的设计方案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537" y="1150273"/>
            <a:ext cx="5639471" cy="3517956"/>
          </a:xfrm>
          <a:custGeom>
            <a:avLst/>
            <a:gdLst/>
            <a:ahLst/>
            <a:cxnLst/>
            <a:rect l="l" t="t" r="r" b="b"/>
            <a:pathLst>
              <a:path w="5639471" h="3517956">
                <a:moveTo>
                  <a:pt x="71626" y="0"/>
                </a:moveTo>
                <a:lnTo>
                  <a:pt x="5567846" y="0"/>
                </a:lnTo>
                <a:cubicBezTo>
                  <a:pt x="5607403" y="0"/>
                  <a:pt x="5639471" y="32068"/>
                  <a:pt x="5639471" y="71626"/>
                </a:cubicBezTo>
                <a:lnTo>
                  <a:pt x="5639471" y="3446330"/>
                </a:lnTo>
                <a:cubicBezTo>
                  <a:pt x="5639471" y="3485888"/>
                  <a:pt x="5607403" y="3517956"/>
                  <a:pt x="5567846" y="3517956"/>
                </a:cubicBezTo>
                <a:lnTo>
                  <a:pt x="71626" y="3517956"/>
                </a:lnTo>
                <a:cubicBezTo>
                  <a:pt x="32068" y="3517956"/>
                  <a:pt x="0" y="3485888"/>
                  <a:pt x="0" y="3446330"/>
                </a:cubicBezTo>
                <a:lnTo>
                  <a:pt x="0" y="71626"/>
                </a:lnTo>
                <a:cubicBezTo>
                  <a:pt x="0" y="32068"/>
                  <a:pt x="32068" y="0"/>
                  <a:pt x="71626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6044" y="1333780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71614" y="0"/>
                </a:moveTo>
                <a:lnTo>
                  <a:pt x="358060" y="0"/>
                </a:lnTo>
                <a:cubicBezTo>
                  <a:pt x="397585" y="0"/>
                  <a:pt x="429674" y="32089"/>
                  <a:pt x="429674" y="71614"/>
                </a:cubicBezTo>
                <a:lnTo>
                  <a:pt x="429674" y="358060"/>
                </a:lnTo>
                <a:cubicBezTo>
                  <a:pt x="429674" y="397611"/>
                  <a:pt x="397611" y="429674"/>
                  <a:pt x="358060" y="429674"/>
                </a:cubicBezTo>
                <a:lnTo>
                  <a:pt x="71614" y="429674"/>
                </a:lnTo>
                <a:cubicBezTo>
                  <a:pt x="32089" y="429674"/>
                  <a:pt x="0" y="397585"/>
                  <a:pt x="0" y="358060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0035" y="1441198"/>
            <a:ext cx="241692" cy="214837"/>
          </a:xfrm>
          <a:custGeom>
            <a:avLst/>
            <a:gdLst/>
            <a:ahLst/>
            <a:cxnLst/>
            <a:rect l="l" t="t" r="r" b="b"/>
            <a:pathLst>
              <a:path w="241692" h="214837">
                <a:moveTo>
                  <a:pt x="176024" y="40282"/>
                </a:moveTo>
                <a:cubicBezTo>
                  <a:pt x="169058" y="40282"/>
                  <a:pt x="162303" y="42170"/>
                  <a:pt x="156386" y="45611"/>
                </a:cubicBezTo>
                <a:cubicBezTo>
                  <a:pt x="149756" y="38897"/>
                  <a:pt x="142036" y="33275"/>
                  <a:pt x="133518" y="29037"/>
                </a:cubicBezTo>
                <a:cubicBezTo>
                  <a:pt x="145351" y="18966"/>
                  <a:pt x="160414" y="13427"/>
                  <a:pt x="176024" y="13427"/>
                </a:cubicBezTo>
                <a:cubicBezTo>
                  <a:pt x="212277" y="13427"/>
                  <a:pt x="241692" y="42800"/>
                  <a:pt x="241692" y="79095"/>
                </a:cubicBezTo>
                <a:cubicBezTo>
                  <a:pt x="241692" y="96509"/>
                  <a:pt x="234768" y="113209"/>
                  <a:pt x="222474" y="125503"/>
                </a:cubicBezTo>
                <a:lnTo>
                  <a:pt x="192640" y="155337"/>
                </a:lnTo>
                <a:cubicBezTo>
                  <a:pt x="180346" y="167632"/>
                  <a:pt x="163645" y="174555"/>
                  <a:pt x="146232" y="174555"/>
                </a:cubicBezTo>
                <a:cubicBezTo>
                  <a:pt x="109978" y="174555"/>
                  <a:pt x="80564" y="145183"/>
                  <a:pt x="80564" y="108887"/>
                </a:cubicBezTo>
                <a:cubicBezTo>
                  <a:pt x="80564" y="108258"/>
                  <a:pt x="80564" y="107628"/>
                  <a:pt x="80606" y="106999"/>
                </a:cubicBezTo>
                <a:cubicBezTo>
                  <a:pt x="80816" y="99572"/>
                  <a:pt x="86984" y="93739"/>
                  <a:pt x="94411" y="93949"/>
                </a:cubicBezTo>
                <a:cubicBezTo>
                  <a:pt x="101838" y="94159"/>
                  <a:pt x="107670" y="100327"/>
                  <a:pt x="107460" y="107754"/>
                </a:cubicBezTo>
                <a:cubicBezTo>
                  <a:pt x="107460" y="108132"/>
                  <a:pt x="107460" y="108509"/>
                  <a:pt x="107460" y="108845"/>
                </a:cubicBezTo>
                <a:cubicBezTo>
                  <a:pt x="107460" y="130287"/>
                  <a:pt x="124832" y="147658"/>
                  <a:pt x="146274" y="147658"/>
                </a:cubicBezTo>
                <a:cubicBezTo>
                  <a:pt x="156554" y="147658"/>
                  <a:pt x="166415" y="143588"/>
                  <a:pt x="173716" y="136287"/>
                </a:cubicBezTo>
                <a:lnTo>
                  <a:pt x="203550" y="106453"/>
                </a:lnTo>
                <a:cubicBezTo>
                  <a:pt x="210809" y="99194"/>
                  <a:pt x="214921" y="89292"/>
                  <a:pt x="214921" y="79011"/>
                </a:cubicBezTo>
                <a:cubicBezTo>
                  <a:pt x="214921" y="57570"/>
                  <a:pt x="197549" y="40198"/>
                  <a:pt x="176108" y="40198"/>
                </a:cubicBezTo>
                <a:close/>
                <a:moveTo>
                  <a:pt x="115475" y="72717"/>
                </a:moveTo>
                <a:cubicBezTo>
                  <a:pt x="114678" y="72382"/>
                  <a:pt x="113880" y="71920"/>
                  <a:pt x="113167" y="71417"/>
                </a:cubicBezTo>
                <a:cubicBezTo>
                  <a:pt x="107880" y="68689"/>
                  <a:pt x="101838" y="67137"/>
                  <a:pt x="95502" y="67137"/>
                </a:cubicBezTo>
                <a:cubicBezTo>
                  <a:pt x="85221" y="67137"/>
                  <a:pt x="75361" y="71207"/>
                  <a:pt x="68060" y="78508"/>
                </a:cubicBezTo>
                <a:lnTo>
                  <a:pt x="38226" y="108342"/>
                </a:lnTo>
                <a:cubicBezTo>
                  <a:pt x="30967" y="115601"/>
                  <a:pt x="26855" y="125503"/>
                  <a:pt x="26855" y="135784"/>
                </a:cubicBezTo>
                <a:cubicBezTo>
                  <a:pt x="26855" y="157225"/>
                  <a:pt x="44226" y="174597"/>
                  <a:pt x="65668" y="174597"/>
                </a:cubicBezTo>
                <a:cubicBezTo>
                  <a:pt x="72591" y="174597"/>
                  <a:pt x="79347" y="172751"/>
                  <a:pt x="85263" y="169310"/>
                </a:cubicBezTo>
                <a:cubicBezTo>
                  <a:pt x="91893" y="176024"/>
                  <a:pt x="99614" y="181646"/>
                  <a:pt x="108174" y="185884"/>
                </a:cubicBezTo>
                <a:cubicBezTo>
                  <a:pt x="96341" y="195913"/>
                  <a:pt x="81319" y="201494"/>
                  <a:pt x="65668" y="201494"/>
                </a:cubicBezTo>
                <a:cubicBezTo>
                  <a:pt x="29414" y="201494"/>
                  <a:pt x="0" y="172121"/>
                  <a:pt x="0" y="135826"/>
                </a:cubicBezTo>
                <a:cubicBezTo>
                  <a:pt x="0" y="118412"/>
                  <a:pt x="6923" y="101712"/>
                  <a:pt x="19218" y="89418"/>
                </a:cubicBezTo>
                <a:lnTo>
                  <a:pt x="49052" y="59584"/>
                </a:lnTo>
                <a:cubicBezTo>
                  <a:pt x="61346" y="47289"/>
                  <a:pt x="78046" y="40366"/>
                  <a:pt x="95460" y="40366"/>
                </a:cubicBezTo>
                <a:cubicBezTo>
                  <a:pt x="131797" y="40366"/>
                  <a:pt x="161128" y="69990"/>
                  <a:pt x="161128" y="106202"/>
                </a:cubicBezTo>
                <a:cubicBezTo>
                  <a:pt x="161128" y="106747"/>
                  <a:pt x="161128" y="107293"/>
                  <a:pt x="161128" y="107838"/>
                </a:cubicBezTo>
                <a:cubicBezTo>
                  <a:pt x="160960" y="115265"/>
                  <a:pt x="154792" y="121098"/>
                  <a:pt x="147365" y="120930"/>
                </a:cubicBezTo>
                <a:cubicBezTo>
                  <a:pt x="139938" y="120762"/>
                  <a:pt x="134105" y="114594"/>
                  <a:pt x="134273" y="107167"/>
                </a:cubicBezTo>
                <a:cubicBezTo>
                  <a:pt x="134273" y="106831"/>
                  <a:pt x="134273" y="106537"/>
                  <a:pt x="134273" y="106202"/>
                </a:cubicBezTo>
                <a:cubicBezTo>
                  <a:pt x="134273" y="92061"/>
                  <a:pt x="126720" y="79641"/>
                  <a:pt x="115475" y="72801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83137" y="1405392"/>
            <a:ext cx="966767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增量哈希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6044" y="1906678"/>
            <a:ext cx="5272458" cy="1074185"/>
          </a:xfrm>
          <a:custGeom>
            <a:avLst/>
            <a:gdLst/>
            <a:ahLst/>
            <a:cxnLst/>
            <a:rect l="l" t="t" r="r" b="b"/>
            <a:pathLst>
              <a:path w="5272458" h="1074185">
                <a:moveTo>
                  <a:pt x="71616" y="0"/>
                </a:moveTo>
                <a:lnTo>
                  <a:pt x="5200842" y="0"/>
                </a:lnTo>
                <a:cubicBezTo>
                  <a:pt x="5240395" y="0"/>
                  <a:pt x="5272458" y="32064"/>
                  <a:pt x="5272458" y="71616"/>
                </a:cubicBezTo>
                <a:lnTo>
                  <a:pt x="5272458" y="1002569"/>
                </a:lnTo>
                <a:cubicBezTo>
                  <a:pt x="5272458" y="1042121"/>
                  <a:pt x="5240395" y="1074185"/>
                  <a:pt x="5200842" y="1074185"/>
                </a:cubicBezTo>
                <a:lnTo>
                  <a:pt x="71616" y="1074185"/>
                </a:lnTo>
                <a:cubicBezTo>
                  <a:pt x="32064" y="1074185"/>
                  <a:pt x="0" y="1042121"/>
                  <a:pt x="0" y="1002569"/>
                </a:cubicBezTo>
                <a:lnTo>
                  <a:pt x="0" y="71616"/>
                </a:lnTo>
                <a:cubicBezTo>
                  <a:pt x="0" y="32090"/>
                  <a:pt x="32090" y="0"/>
                  <a:pt x="7161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53463" y="2014097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哈希链计算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463" y="2264740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H₀ = Hash(Chunk₀)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463" y="2443771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Hᵢ = Hash(Hᵢ₋₁, Chunkᵢ)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463" y="2694414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i &gt; 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3947" y="3159894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64899" y="96229"/>
                </a:moveTo>
                <a:lnTo>
                  <a:pt x="64899" y="78326"/>
                </a:lnTo>
                <a:lnTo>
                  <a:pt x="46996" y="78326"/>
                </a:lnTo>
                <a:cubicBezTo>
                  <a:pt x="43275" y="78326"/>
                  <a:pt x="40282" y="75333"/>
                  <a:pt x="40282" y="71612"/>
                </a:cubicBezTo>
                <a:cubicBezTo>
                  <a:pt x="40282" y="67892"/>
                  <a:pt x="43275" y="64899"/>
                  <a:pt x="46996" y="64899"/>
                </a:cubicBezTo>
                <a:lnTo>
                  <a:pt x="64899" y="64899"/>
                </a:lnTo>
                <a:lnTo>
                  <a:pt x="64899" y="46996"/>
                </a:lnTo>
                <a:cubicBezTo>
                  <a:pt x="64899" y="43275"/>
                  <a:pt x="67892" y="40282"/>
                  <a:pt x="71612" y="40282"/>
                </a:cubicBezTo>
                <a:cubicBezTo>
                  <a:pt x="75333" y="40282"/>
                  <a:pt x="78326" y="43275"/>
                  <a:pt x="78326" y="46996"/>
                </a:cubicBezTo>
                <a:lnTo>
                  <a:pt x="78326" y="64899"/>
                </a:lnTo>
                <a:lnTo>
                  <a:pt x="96229" y="64899"/>
                </a:lnTo>
                <a:cubicBezTo>
                  <a:pt x="99950" y="64899"/>
                  <a:pt x="102943" y="67892"/>
                  <a:pt x="102943" y="71612"/>
                </a:cubicBezTo>
                <a:cubicBezTo>
                  <a:pt x="102943" y="75333"/>
                  <a:pt x="99950" y="78326"/>
                  <a:pt x="96229" y="78326"/>
                </a:cubicBezTo>
                <a:lnTo>
                  <a:pt x="78326" y="78326"/>
                </a:lnTo>
                <a:lnTo>
                  <a:pt x="78326" y="96229"/>
                </a:lnTo>
                <a:cubicBezTo>
                  <a:pt x="78326" y="99950"/>
                  <a:pt x="75333" y="102943"/>
                  <a:pt x="71612" y="102943"/>
                </a:cubicBezTo>
                <a:cubicBezTo>
                  <a:pt x="67892" y="102943"/>
                  <a:pt x="64899" y="99950"/>
                  <a:pt x="64899" y="96229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96687" y="3124088"/>
            <a:ext cx="358062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0881" y="3374731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天然编码前缀依赖关系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0881" y="3589568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相同内容+前缀 → 相同哈希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0881" y="3804405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不同前缀 → 不同哈希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3947" y="4090855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46996" y="64899"/>
                </a:moveTo>
                <a:lnTo>
                  <a:pt x="96229" y="64899"/>
                </a:lnTo>
                <a:cubicBezTo>
                  <a:pt x="99950" y="64899"/>
                  <a:pt x="102943" y="67892"/>
                  <a:pt x="102943" y="71612"/>
                </a:cubicBezTo>
                <a:cubicBezTo>
                  <a:pt x="102943" y="75333"/>
                  <a:pt x="99950" y="78326"/>
                  <a:pt x="96229" y="78326"/>
                </a:cubicBezTo>
                <a:lnTo>
                  <a:pt x="46996" y="78326"/>
                </a:lnTo>
                <a:cubicBezTo>
                  <a:pt x="43275" y="78326"/>
                  <a:pt x="40282" y="75333"/>
                  <a:pt x="40282" y="71612"/>
                </a:cubicBezTo>
                <a:cubicBezTo>
                  <a:pt x="40282" y="67892"/>
                  <a:pt x="43275" y="64899"/>
                  <a:pt x="46996" y="64899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96687" y="4055048"/>
            <a:ext cx="358062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0881" y="4305692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需要按序计算,无法并行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88942" y="1150273"/>
            <a:ext cx="5639471" cy="3517956"/>
          </a:xfrm>
          <a:custGeom>
            <a:avLst/>
            <a:gdLst/>
            <a:ahLst/>
            <a:cxnLst/>
            <a:rect l="l" t="t" r="r" b="b"/>
            <a:pathLst>
              <a:path w="5639471" h="3517956">
                <a:moveTo>
                  <a:pt x="71626" y="0"/>
                </a:moveTo>
                <a:lnTo>
                  <a:pt x="5567846" y="0"/>
                </a:lnTo>
                <a:cubicBezTo>
                  <a:pt x="5607403" y="0"/>
                  <a:pt x="5639471" y="32068"/>
                  <a:pt x="5639471" y="71626"/>
                </a:cubicBezTo>
                <a:lnTo>
                  <a:pt x="5639471" y="3446330"/>
                </a:lnTo>
                <a:cubicBezTo>
                  <a:pt x="5639471" y="3485888"/>
                  <a:pt x="5607403" y="3517956"/>
                  <a:pt x="5567846" y="3517956"/>
                </a:cubicBezTo>
                <a:lnTo>
                  <a:pt x="71626" y="3517956"/>
                </a:lnTo>
                <a:cubicBezTo>
                  <a:pt x="32068" y="3517956"/>
                  <a:pt x="0" y="3485888"/>
                  <a:pt x="0" y="3446330"/>
                </a:cubicBezTo>
                <a:lnTo>
                  <a:pt x="0" y="71626"/>
                </a:lnTo>
                <a:cubicBezTo>
                  <a:pt x="0" y="32068"/>
                  <a:pt x="32068" y="0"/>
                  <a:pt x="71626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372449" y="1333780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71614" y="0"/>
                </a:moveTo>
                <a:lnTo>
                  <a:pt x="358060" y="0"/>
                </a:lnTo>
                <a:cubicBezTo>
                  <a:pt x="397585" y="0"/>
                  <a:pt x="429674" y="32089"/>
                  <a:pt x="429674" y="71614"/>
                </a:cubicBezTo>
                <a:lnTo>
                  <a:pt x="429674" y="358060"/>
                </a:lnTo>
                <a:cubicBezTo>
                  <a:pt x="429674" y="397611"/>
                  <a:pt x="397611" y="429674"/>
                  <a:pt x="358060" y="429674"/>
                </a:cubicBezTo>
                <a:lnTo>
                  <a:pt x="71614" y="429674"/>
                </a:lnTo>
                <a:cubicBezTo>
                  <a:pt x="32089" y="429674"/>
                  <a:pt x="0" y="397585"/>
                  <a:pt x="0" y="358060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479867" y="1441198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20141" y="107419"/>
                </a:moveTo>
                <a:cubicBezTo>
                  <a:pt x="20141" y="59206"/>
                  <a:pt x="59206" y="20141"/>
                  <a:pt x="107419" y="20141"/>
                </a:cubicBezTo>
                <a:cubicBezTo>
                  <a:pt x="133895" y="20141"/>
                  <a:pt x="157603" y="31932"/>
                  <a:pt x="173632" y="50562"/>
                </a:cubicBezTo>
                <a:cubicBezTo>
                  <a:pt x="177241" y="54800"/>
                  <a:pt x="183619" y="55262"/>
                  <a:pt x="187815" y="51653"/>
                </a:cubicBezTo>
                <a:cubicBezTo>
                  <a:pt x="192011" y="48045"/>
                  <a:pt x="192514" y="41667"/>
                  <a:pt x="188906" y="37471"/>
                </a:cubicBezTo>
                <a:cubicBezTo>
                  <a:pt x="169226" y="14518"/>
                  <a:pt x="140022" y="0"/>
                  <a:pt x="107419" y="0"/>
                </a:cubicBezTo>
                <a:cubicBezTo>
                  <a:pt x="48087" y="0"/>
                  <a:pt x="0" y="48087"/>
                  <a:pt x="0" y="107419"/>
                </a:cubicBezTo>
                <a:lnTo>
                  <a:pt x="0" y="124203"/>
                </a:lnTo>
                <a:cubicBezTo>
                  <a:pt x="0" y="129783"/>
                  <a:pt x="4490" y="134273"/>
                  <a:pt x="10070" y="134273"/>
                </a:cubicBezTo>
                <a:cubicBezTo>
                  <a:pt x="15651" y="134273"/>
                  <a:pt x="20141" y="129783"/>
                  <a:pt x="20141" y="124203"/>
                </a:cubicBezTo>
                <a:lnTo>
                  <a:pt x="20141" y="107419"/>
                </a:lnTo>
                <a:close/>
                <a:moveTo>
                  <a:pt x="212529" y="85221"/>
                </a:moveTo>
                <a:cubicBezTo>
                  <a:pt x="211396" y="79767"/>
                  <a:pt x="206025" y="76284"/>
                  <a:pt x="200612" y="77459"/>
                </a:cubicBezTo>
                <a:cubicBezTo>
                  <a:pt x="195200" y="78634"/>
                  <a:pt x="191675" y="83963"/>
                  <a:pt x="192850" y="89376"/>
                </a:cubicBezTo>
                <a:cubicBezTo>
                  <a:pt x="194067" y="95208"/>
                  <a:pt x="194738" y="101250"/>
                  <a:pt x="194738" y="107460"/>
                </a:cubicBezTo>
                <a:lnTo>
                  <a:pt x="194738" y="124245"/>
                </a:lnTo>
                <a:cubicBezTo>
                  <a:pt x="194738" y="129825"/>
                  <a:pt x="199228" y="134315"/>
                  <a:pt x="204808" y="134315"/>
                </a:cubicBezTo>
                <a:cubicBezTo>
                  <a:pt x="210389" y="134315"/>
                  <a:pt x="214879" y="129825"/>
                  <a:pt x="214879" y="124245"/>
                </a:cubicBezTo>
                <a:lnTo>
                  <a:pt x="214879" y="107460"/>
                </a:lnTo>
                <a:cubicBezTo>
                  <a:pt x="214879" y="99866"/>
                  <a:pt x="214082" y="92439"/>
                  <a:pt x="212571" y="85263"/>
                </a:cubicBezTo>
                <a:close/>
                <a:moveTo>
                  <a:pt x="107419" y="33568"/>
                </a:moveTo>
                <a:cubicBezTo>
                  <a:pt x="99446" y="33568"/>
                  <a:pt x="91725" y="34827"/>
                  <a:pt x="84550" y="37177"/>
                </a:cubicBezTo>
                <a:cubicBezTo>
                  <a:pt x="78172" y="39275"/>
                  <a:pt x="76704" y="47121"/>
                  <a:pt x="81067" y="52241"/>
                </a:cubicBezTo>
                <a:cubicBezTo>
                  <a:pt x="84047" y="55723"/>
                  <a:pt x="88956" y="56772"/>
                  <a:pt x="93404" y="55556"/>
                </a:cubicBezTo>
                <a:cubicBezTo>
                  <a:pt x="97852" y="54339"/>
                  <a:pt x="102551" y="53709"/>
                  <a:pt x="107419" y="53709"/>
                </a:cubicBezTo>
                <a:cubicBezTo>
                  <a:pt x="137084" y="53709"/>
                  <a:pt x="161128" y="77753"/>
                  <a:pt x="161128" y="107419"/>
                </a:cubicBezTo>
                <a:lnTo>
                  <a:pt x="161128" y="117867"/>
                </a:lnTo>
                <a:cubicBezTo>
                  <a:pt x="161128" y="128441"/>
                  <a:pt x="160498" y="138973"/>
                  <a:pt x="159281" y="149463"/>
                </a:cubicBezTo>
                <a:cubicBezTo>
                  <a:pt x="158568" y="155589"/>
                  <a:pt x="163226" y="161128"/>
                  <a:pt x="169436" y="161128"/>
                </a:cubicBezTo>
                <a:cubicBezTo>
                  <a:pt x="174387" y="161128"/>
                  <a:pt x="178625" y="157519"/>
                  <a:pt x="179213" y="152610"/>
                </a:cubicBezTo>
                <a:cubicBezTo>
                  <a:pt x="180597" y="141113"/>
                  <a:pt x="181311" y="129532"/>
                  <a:pt x="181311" y="117909"/>
                </a:cubicBezTo>
                <a:lnTo>
                  <a:pt x="181311" y="107460"/>
                </a:lnTo>
                <a:cubicBezTo>
                  <a:pt x="181311" y="66675"/>
                  <a:pt x="148246" y="33610"/>
                  <a:pt x="107460" y="33610"/>
                </a:cubicBezTo>
                <a:close/>
                <a:moveTo>
                  <a:pt x="63234" y="62395"/>
                </a:moveTo>
                <a:cubicBezTo>
                  <a:pt x="59416" y="57947"/>
                  <a:pt x="52618" y="57612"/>
                  <a:pt x="49010" y="62227"/>
                </a:cubicBezTo>
                <a:cubicBezTo>
                  <a:pt x="39317" y="74731"/>
                  <a:pt x="33568" y="90383"/>
                  <a:pt x="33568" y="107419"/>
                </a:cubicBezTo>
                <a:lnTo>
                  <a:pt x="33568" y="117867"/>
                </a:lnTo>
                <a:cubicBezTo>
                  <a:pt x="33568" y="128021"/>
                  <a:pt x="32477" y="138175"/>
                  <a:pt x="30295" y="148036"/>
                </a:cubicBezTo>
                <a:cubicBezTo>
                  <a:pt x="28869" y="154582"/>
                  <a:pt x="33610" y="161086"/>
                  <a:pt x="40324" y="161086"/>
                </a:cubicBezTo>
                <a:cubicBezTo>
                  <a:pt x="44730" y="161086"/>
                  <a:pt x="48674" y="158149"/>
                  <a:pt x="49639" y="153827"/>
                </a:cubicBezTo>
                <a:cubicBezTo>
                  <a:pt x="52325" y="142036"/>
                  <a:pt x="53709" y="129993"/>
                  <a:pt x="53709" y="117825"/>
                </a:cubicBezTo>
                <a:lnTo>
                  <a:pt x="53709" y="107377"/>
                </a:lnTo>
                <a:cubicBezTo>
                  <a:pt x="53709" y="95963"/>
                  <a:pt x="57276" y="85389"/>
                  <a:pt x="63318" y="76704"/>
                </a:cubicBezTo>
                <a:cubicBezTo>
                  <a:pt x="66339" y="72340"/>
                  <a:pt x="66675" y="66381"/>
                  <a:pt x="63234" y="62353"/>
                </a:cubicBezTo>
                <a:close/>
                <a:moveTo>
                  <a:pt x="107419" y="67137"/>
                </a:moveTo>
                <a:cubicBezTo>
                  <a:pt x="85180" y="67137"/>
                  <a:pt x="67137" y="85180"/>
                  <a:pt x="67137" y="107419"/>
                </a:cubicBezTo>
                <a:lnTo>
                  <a:pt x="67137" y="117867"/>
                </a:lnTo>
                <a:cubicBezTo>
                  <a:pt x="67137" y="132930"/>
                  <a:pt x="65206" y="147868"/>
                  <a:pt x="61346" y="162387"/>
                </a:cubicBezTo>
                <a:cubicBezTo>
                  <a:pt x="59752" y="168387"/>
                  <a:pt x="64157" y="174555"/>
                  <a:pt x="70368" y="174555"/>
                </a:cubicBezTo>
                <a:cubicBezTo>
                  <a:pt x="74354" y="174555"/>
                  <a:pt x="77878" y="171954"/>
                  <a:pt x="78927" y="168093"/>
                </a:cubicBezTo>
                <a:cubicBezTo>
                  <a:pt x="83333" y="151729"/>
                  <a:pt x="85599" y="134861"/>
                  <a:pt x="85599" y="117867"/>
                </a:cubicBezTo>
                <a:lnTo>
                  <a:pt x="85599" y="107419"/>
                </a:lnTo>
                <a:cubicBezTo>
                  <a:pt x="85599" y="95376"/>
                  <a:pt x="95376" y="85599"/>
                  <a:pt x="107419" y="85599"/>
                </a:cubicBezTo>
                <a:cubicBezTo>
                  <a:pt x="119461" y="85599"/>
                  <a:pt x="129238" y="95376"/>
                  <a:pt x="129238" y="107419"/>
                </a:cubicBezTo>
                <a:lnTo>
                  <a:pt x="129238" y="117867"/>
                </a:lnTo>
                <a:cubicBezTo>
                  <a:pt x="129238" y="133098"/>
                  <a:pt x="127769" y="148246"/>
                  <a:pt x="124874" y="163142"/>
                </a:cubicBezTo>
                <a:cubicBezTo>
                  <a:pt x="123741" y="168974"/>
                  <a:pt x="128105" y="174555"/>
                  <a:pt x="134021" y="174555"/>
                </a:cubicBezTo>
                <a:cubicBezTo>
                  <a:pt x="138301" y="174555"/>
                  <a:pt x="141994" y="171618"/>
                  <a:pt x="142833" y="167422"/>
                </a:cubicBezTo>
                <a:cubicBezTo>
                  <a:pt x="146064" y="151141"/>
                  <a:pt x="147700" y="134567"/>
                  <a:pt x="147700" y="117867"/>
                </a:cubicBezTo>
                <a:lnTo>
                  <a:pt x="147700" y="107419"/>
                </a:lnTo>
                <a:cubicBezTo>
                  <a:pt x="147700" y="85180"/>
                  <a:pt x="129657" y="67137"/>
                  <a:pt x="107419" y="67137"/>
                </a:cubicBezTo>
                <a:close/>
                <a:moveTo>
                  <a:pt x="117489" y="107419"/>
                </a:moveTo>
                <a:cubicBezTo>
                  <a:pt x="117489" y="101838"/>
                  <a:pt x="112999" y="97348"/>
                  <a:pt x="107419" y="97348"/>
                </a:cubicBezTo>
                <a:cubicBezTo>
                  <a:pt x="101838" y="97348"/>
                  <a:pt x="97348" y="101838"/>
                  <a:pt x="97348" y="107419"/>
                </a:cubicBezTo>
                <a:lnTo>
                  <a:pt x="97348" y="117867"/>
                </a:lnTo>
                <a:cubicBezTo>
                  <a:pt x="97348" y="143001"/>
                  <a:pt x="92732" y="167925"/>
                  <a:pt x="83711" y="191381"/>
                </a:cubicBezTo>
                <a:lnTo>
                  <a:pt x="81235" y="197801"/>
                </a:lnTo>
                <a:cubicBezTo>
                  <a:pt x="79221" y="203004"/>
                  <a:pt x="81823" y="208837"/>
                  <a:pt x="87026" y="210809"/>
                </a:cubicBezTo>
                <a:cubicBezTo>
                  <a:pt x="92229" y="212781"/>
                  <a:pt x="98061" y="210221"/>
                  <a:pt x="100033" y="205018"/>
                </a:cubicBezTo>
                <a:lnTo>
                  <a:pt x="102509" y="198598"/>
                </a:lnTo>
                <a:cubicBezTo>
                  <a:pt x="112412" y="172835"/>
                  <a:pt x="117489" y="145477"/>
                  <a:pt x="117489" y="117867"/>
                </a:cubicBezTo>
                <a:lnTo>
                  <a:pt x="117489" y="107419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09541" y="1405392"/>
            <a:ext cx="1960388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内容哈希+位置编码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72449" y="1906678"/>
            <a:ext cx="5272458" cy="895154"/>
          </a:xfrm>
          <a:custGeom>
            <a:avLst/>
            <a:gdLst/>
            <a:ahLst/>
            <a:cxnLst/>
            <a:rect l="l" t="t" r="r" b="b"/>
            <a:pathLst>
              <a:path w="5272458" h="895154">
                <a:moveTo>
                  <a:pt x="71612" y="0"/>
                </a:moveTo>
                <a:lnTo>
                  <a:pt x="5200846" y="0"/>
                </a:lnTo>
                <a:cubicBezTo>
                  <a:pt x="5240396" y="0"/>
                  <a:pt x="5272458" y="32062"/>
                  <a:pt x="5272458" y="71612"/>
                </a:cubicBezTo>
                <a:lnTo>
                  <a:pt x="5272458" y="823542"/>
                </a:lnTo>
                <a:cubicBezTo>
                  <a:pt x="5272458" y="863092"/>
                  <a:pt x="5240396" y="895154"/>
                  <a:pt x="5200846" y="895154"/>
                </a:cubicBezTo>
                <a:lnTo>
                  <a:pt x="71612" y="895154"/>
                </a:lnTo>
                <a:cubicBezTo>
                  <a:pt x="32062" y="895154"/>
                  <a:pt x="0" y="863092"/>
                  <a:pt x="0" y="823542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79867" y="2014097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独立哈希计算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9867" y="2264740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Hᵢ = Hash(Chunkᵢ, Positionᵢ)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9867" y="2515383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可并行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0352" y="2980863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64899" y="96229"/>
                </a:moveTo>
                <a:lnTo>
                  <a:pt x="64899" y="78326"/>
                </a:lnTo>
                <a:lnTo>
                  <a:pt x="46996" y="78326"/>
                </a:lnTo>
                <a:cubicBezTo>
                  <a:pt x="43275" y="78326"/>
                  <a:pt x="40282" y="75333"/>
                  <a:pt x="40282" y="71612"/>
                </a:cubicBezTo>
                <a:cubicBezTo>
                  <a:pt x="40282" y="67892"/>
                  <a:pt x="43275" y="64899"/>
                  <a:pt x="46996" y="64899"/>
                </a:cubicBezTo>
                <a:lnTo>
                  <a:pt x="64899" y="64899"/>
                </a:lnTo>
                <a:lnTo>
                  <a:pt x="64899" y="46996"/>
                </a:lnTo>
                <a:cubicBezTo>
                  <a:pt x="64899" y="43275"/>
                  <a:pt x="67892" y="40282"/>
                  <a:pt x="71612" y="40282"/>
                </a:cubicBezTo>
                <a:cubicBezTo>
                  <a:pt x="75333" y="40282"/>
                  <a:pt x="78326" y="43275"/>
                  <a:pt x="78326" y="46996"/>
                </a:cubicBezTo>
                <a:lnTo>
                  <a:pt x="78326" y="64899"/>
                </a:lnTo>
                <a:lnTo>
                  <a:pt x="96229" y="64899"/>
                </a:lnTo>
                <a:cubicBezTo>
                  <a:pt x="99950" y="64899"/>
                  <a:pt x="102943" y="67892"/>
                  <a:pt x="102943" y="71612"/>
                </a:cubicBezTo>
                <a:cubicBezTo>
                  <a:pt x="102943" y="75333"/>
                  <a:pt x="99950" y="78326"/>
                  <a:pt x="96229" y="78326"/>
                </a:cubicBezTo>
                <a:lnTo>
                  <a:pt x="78326" y="78326"/>
                </a:lnTo>
                <a:lnTo>
                  <a:pt x="78326" y="96229"/>
                </a:lnTo>
                <a:cubicBezTo>
                  <a:pt x="78326" y="99950"/>
                  <a:pt x="75333" y="102943"/>
                  <a:pt x="71612" y="102943"/>
                </a:cubicBezTo>
                <a:cubicBezTo>
                  <a:pt x="67892" y="102943"/>
                  <a:pt x="64899" y="99950"/>
                  <a:pt x="64899" y="96229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623092" y="2945057"/>
            <a:ext cx="358062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优点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7286" y="3195700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可并行计算所有 Chunk 哈希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7286" y="3410537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适合预计算场景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0352" y="3696987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46996" y="64899"/>
                </a:moveTo>
                <a:lnTo>
                  <a:pt x="96229" y="64899"/>
                </a:lnTo>
                <a:cubicBezTo>
                  <a:pt x="99950" y="64899"/>
                  <a:pt x="102943" y="67892"/>
                  <a:pt x="102943" y="71612"/>
                </a:cubicBezTo>
                <a:cubicBezTo>
                  <a:pt x="102943" y="75333"/>
                  <a:pt x="99950" y="78326"/>
                  <a:pt x="96229" y="78326"/>
                </a:cubicBezTo>
                <a:lnTo>
                  <a:pt x="46996" y="78326"/>
                </a:lnTo>
                <a:cubicBezTo>
                  <a:pt x="43275" y="78326"/>
                  <a:pt x="40282" y="75333"/>
                  <a:pt x="40282" y="71612"/>
                </a:cubicBezTo>
                <a:cubicBezTo>
                  <a:pt x="40282" y="67892"/>
                  <a:pt x="43275" y="64899"/>
                  <a:pt x="46996" y="64899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623092" y="3661181"/>
            <a:ext cx="358062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缺点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87286" y="3911824"/>
            <a:ext cx="512028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需额外机制确保前缀一致性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2537" y="4820405"/>
            <a:ext cx="11466925" cy="1673938"/>
          </a:xfrm>
          <a:custGeom>
            <a:avLst/>
            <a:gdLst/>
            <a:ahLst/>
            <a:cxnLst/>
            <a:rect l="l" t="t" r="r" b="b"/>
            <a:pathLst>
              <a:path w="11466925" h="1673938">
                <a:moveTo>
                  <a:pt x="71611" y="0"/>
                </a:moveTo>
                <a:lnTo>
                  <a:pt x="11395314" y="0"/>
                </a:lnTo>
                <a:cubicBezTo>
                  <a:pt x="11434864" y="0"/>
                  <a:pt x="11466925" y="32061"/>
                  <a:pt x="11466925" y="71611"/>
                </a:cubicBezTo>
                <a:lnTo>
                  <a:pt x="11466925" y="1602327"/>
                </a:lnTo>
                <a:cubicBezTo>
                  <a:pt x="11466925" y="1641877"/>
                  <a:pt x="11434864" y="1673938"/>
                  <a:pt x="11395314" y="1673938"/>
                </a:cubicBezTo>
                <a:lnTo>
                  <a:pt x="71611" y="1673938"/>
                </a:lnTo>
                <a:cubicBezTo>
                  <a:pt x="32061" y="1673938"/>
                  <a:pt x="0" y="1641877"/>
                  <a:pt x="0" y="1602327"/>
                </a:cubicBezTo>
                <a:lnTo>
                  <a:pt x="0" y="71611"/>
                </a:lnTo>
                <a:cubicBezTo>
                  <a:pt x="0" y="32061"/>
                  <a:pt x="32061" y="0"/>
                  <a:pt x="71611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6">
                  <a:alpha val="20000"/>
                </a:srgbClr>
              </a:gs>
              <a:gs pos="100000">
                <a:srgbClr val="D9A467">
                  <a:alpha val="20000"/>
                </a:srgbClr>
              </a:gs>
            </a:gsLst>
            <a:lin ang="0" scaled="1"/>
          </a:gradFill>
          <a:ln w="12700">
            <a:solidFill>
              <a:srgbClr val="5C7A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54996" y="5012863"/>
            <a:ext cx="483383" cy="483383"/>
          </a:xfrm>
          <a:custGeom>
            <a:avLst/>
            <a:gdLst/>
            <a:ahLst/>
            <a:cxnLst/>
            <a:rect l="l" t="t" r="r" b="b"/>
            <a:pathLst>
              <a:path w="483383" h="483383">
                <a:moveTo>
                  <a:pt x="241692" y="0"/>
                </a:moveTo>
                <a:lnTo>
                  <a:pt x="241692" y="0"/>
                </a:lnTo>
                <a:cubicBezTo>
                  <a:pt x="375085" y="0"/>
                  <a:pt x="483383" y="108298"/>
                  <a:pt x="483383" y="241692"/>
                </a:cubicBezTo>
                <a:lnTo>
                  <a:pt x="483383" y="241692"/>
                </a:lnTo>
                <a:cubicBezTo>
                  <a:pt x="483383" y="375085"/>
                  <a:pt x="375085" y="483383"/>
                  <a:pt x="241692" y="483383"/>
                </a:cubicBezTo>
                <a:lnTo>
                  <a:pt x="241692" y="483383"/>
                </a:lnTo>
                <a:cubicBezTo>
                  <a:pt x="108298" y="483383"/>
                  <a:pt x="0" y="375085"/>
                  <a:pt x="0" y="241692"/>
                </a:cubicBezTo>
                <a:lnTo>
                  <a:pt x="0" y="241692"/>
                </a:lnTo>
                <a:cubicBezTo>
                  <a:pt x="0" y="108298"/>
                  <a:pt x="108298" y="0"/>
                  <a:pt x="241692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 w="25400">
            <a:solidFill>
              <a:srgbClr val="D9A4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75841" y="5147137"/>
            <a:ext cx="241692" cy="214837"/>
          </a:xfrm>
          <a:custGeom>
            <a:avLst/>
            <a:gdLst/>
            <a:ahLst/>
            <a:cxnLst/>
            <a:rect l="l" t="t" r="r" b="b"/>
            <a:pathLst>
              <a:path w="241692" h="214837">
                <a:moveTo>
                  <a:pt x="129867" y="-7931"/>
                </a:moveTo>
                <a:cubicBezTo>
                  <a:pt x="128147" y="-11287"/>
                  <a:pt x="124664" y="-13427"/>
                  <a:pt x="120888" y="-13427"/>
                </a:cubicBezTo>
                <a:cubicBezTo>
                  <a:pt x="117111" y="-13427"/>
                  <a:pt x="113629" y="-11287"/>
                  <a:pt x="111908" y="-7931"/>
                </a:cubicBezTo>
                <a:lnTo>
                  <a:pt x="81025" y="52576"/>
                </a:lnTo>
                <a:lnTo>
                  <a:pt x="13931" y="63234"/>
                </a:lnTo>
                <a:cubicBezTo>
                  <a:pt x="10196" y="63822"/>
                  <a:pt x="7091" y="66465"/>
                  <a:pt x="5916" y="70074"/>
                </a:cubicBezTo>
                <a:cubicBezTo>
                  <a:pt x="4742" y="73682"/>
                  <a:pt x="5707" y="77627"/>
                  <a:pt x="8350" y="80312"/>
                </a:cubicBezTo>
                <a:lnTo>
                  <a:pt x="56353" y="128357"/>
                </a:lnTo>
                <a:lnTo>
                  <a:pt x="45779" y="195451"/>
                </a:lnTo>
                <a:cubicBezTo>
                  <a:pt x="45191" y="199186"/>
                  <a:pt x="46744" y="202962"/>
                  <a:pt x="49807" y="205186"/>
                </a:cubicBezTo>
                <a:cubicBezTo>
                  <a:pt x="52870" y="207410"/>
                  <a:pt x="56898" y="207746"/>
                  <a:pt x="60297" y="206025"/>
                </a:cubicBezTo>
                <a:lnTo>
                  <a:pt x="120888" y="175226"/>
                </a:lnTo>
                <a:lnTo>
                  <a:pt x="181437" y="206025"/>
                </a:lnTo>
                <a:cubicBezTo>
                  <a:pt x="184793" y="207746"/>
                  <a:pt x="188864" y="207410"/>
                  <a:pt x="191927" y="205186"/>
                </a:cubicBezTo>
                <a:cubicBezTo>
                  <a:pt x="194990" y="202962"/>
                  <a:pt x="196542" y="199228"/>
                  <a:pt x="195955" y="195451"/>
                </a:cubicBezTo>
                <a:lnTo>
                  <a:pt x="185339" y="128357"/>
                </a:lnTo>
                <a:lnTo>
                  <a:pt x="233342" y="80312"/>
                </a:lnTo>
                <a:cubicBezTo>
                  <a:pt x="236027" y="77627"/>
                  <a:pt x="236950" y="73682"/>
                  <a:pt x="235775" y="70074"/>
                </a:cubicBezTo>
                <a:cubicBezTo>
                  <a:pt x="234600" y="66465"/>
                  <a:pt x="231537" y="63822"/>
                  <a:pt x="227761" y="63234"/>
                </a:cubicBezTo>
                <a:lnTo>
                  <a:pt x="160708" y="52576"/>
                </a:lnTo>
                <a:lnTo>
                  <a:pt x="129867" y="-7931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90555" y="5003912"/>
            <a:ext cx="10544916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实际采用方案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90555" y="5326167"/>
            <a:ext cx="10527013" cy="2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和 LMCache 均采用</a:t>
            </a:r>
            <a:r>
              <a:rPr lang="en-US" sz="1128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增量哈希 </a:t>
            </a:r>
            <a:r>
              <a:rPr lang="en-US" sz="1128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方案,以确保缓存复用的正确性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90555" y="5666326"/>
            <a:ext cx="5173991" cy="644511"/>
          </a:xfrm>
          <a:custGeom>
            <a:avLst/>
            <a:gdLst/>
            <a:ahLst/>
            <a:cxnLst/>
            <a:rect l="l" t="t" r="r" b="b"/>
            <a:pathLst>
              <a:path w="5173991" h="644511">
                <a:moveTo>
                  <a:pt x="71612" y="0"/>
                </a:moveTo>
                <a:lnTo>
                  <a:pt x="5102380" y="0"/>
                </a:lnTo>
                <a:cubicBezTo>
                  <a:pt x="5141930" y="0"/>
                  <a:pt x="5173991" y="32062"/>
                  <a:pt x="5173991" y="71612"/>
                </a:cubicBezTo>
                <a:lnTo>
                  <a:pt x="5173991" y="572899"/>
                </a:lnTo>
                <a:cubicBezTo>
                  <a:pt x="5173991" y="612449"/>
                  <a:pt x="5141930" y="644511"/>
                  <a:pt x="5102380" y="644511"/>
                </a:cubicBezTo>
                <a:lnTo>
                  <a:pt x="71612" y="644511"/>
                </a:lnTo>
                <a:cubicBezTo>
                  <a:pt x="32062" y="644511"/>
                  <a:pt x="0" y="612449"/>
                  <a:pt x="0" y="572899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315877" y="5809551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548617" y="5773744"/>
            <a:ext cx="78773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正确性优先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97974" y="6024388"/>
            <a:ext cx="502181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天然保证前缀一致性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70916" y="5666326"/>
            <a:ext cx="5173991" cy="644511"/>
          </a:xfrm>
          <a:custGeom>
            <a:avLst/>
            <a:gdLst/>
            <a:ahLst/>
            <a:cxnLst/>
            <a:rect l="l" t="t" r="r" b="b"/>
            <a:pathLst>
              <a:path w="5173991" h="644511">
                <a:moveTo>
                  <a:pt x="71612" y="0"/>
                </a:moveTo>
                <a:lnTo>
                  <a:pt x="5102380" y="0"/>
                </a:lnTo>
                <a:cubicBezTo>
                  <a:pt x="5141930" y="0"/>
                  <a:pt x="5173991" y="32062"/>
                  <a:pt x="5173991" y="71612"/>
                </a:cubicBezTo>
                <a:lnTo>
                  <a:pt x="5173991" y="572899"/>
                </a:lnTo>
                <a:cubicBezTo>
                  <a:pt x="5173991" y="612449"/>
                  <a:pt x="5141930" y="644511"/>
                  <a:pt x="5102380" y="644511"/>
                </a:cubicBezTo>
                <a:lnTo>
                  <a:pt x="71612" y="644511"/>
                </a:lnTo>
                <a:cubicBezTo>
                  <a:pt x="32062" y="644511"/>
                  <a:pt x="0" y="612449"/>
                  <a:pt x="0" y="572899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596237" y="5809551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828977" y="5773744"/>
            <a:ext cx="64451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实现简洁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78334" y="6024388"/>
            <a:ext cx="502181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无需额外一致性检查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2119313"/>
            <a:ext cx="1476375" cy="428625"/>
          </a:xfrm>
          <a:custGeom>
            <a:avLst/>
            <a:gdLst/>
            <a:ahLst/>
            <a:cxnLst/>
            <a:rect l="l" t="t" r="r" b="b"/>
            <a:pathLst>
              <a:path w="1476375" h="428625">
                <a:moveTo>
                  <a:pt x="76201" y="0"/>
                </a:moveTo>
                <a:lnTo>
                  <a:pt x="1400174" y="0"/>
                </a:lnTo>
                <a:cubicBezTo>
                  <a:pt x="1442259" y="0"/>
                  <a:pt x="1476375" y="34116"/>
                  <a:pt x="1476375" y="76201"/>
                </a:cubicBezTo>
                <a:lnTo>
                  <a:pt x="1476375" y="352424"/>
                </a:lnTo>
                <a:cubicBezTo>
                  <a:pt x="1476375" y="394509"/>
                  <a:pt x="1442259" y="428625"/>
                  <a:pt x="14001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 w="12700">
            <a:solidFill>
              <a:srgbClr val="D9A46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2214563"/>
            <a:ext cx="12497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1300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实现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67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Automatic Prefix Caching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5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9A46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3" y="365303"/>
            <a:ext cx="11534454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kern="0" spc="58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APC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303" y="657546"/>
            <a:ext cx="1162578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APC 概述与启用方式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3569" y="1168971"/>
            <a:ext cx="11443128" cy="566220"/>
          </a:xfrm>
          <a:custGeom>
            <a:avLst/>
            <a:gdLst/>
            <a:ahLst/>
            <a:cxnLst/>
            <a:rect l="l" t="t" r="r" b="b"/>
            <a:pathLst>
              <a:path w="11443128" h="566220">
                <a:moveTo>
                  <a:pt x="36530" y="0"/>
                </a:moveTo>
                <a:lnTo>
                  <a:pt x="11370069" y="0"/>
                </a:lnTo>
                <a:cubicBezTo>
                  <a:pt x="11410418" y="0"/>
                  <a:pt x="11443128" y="32710"/>
                  <a:pt x="11443128" y="73059"/>
                </a:cubicBezTo>
                <a:lnTo>
                  <a:pt x="11443128" y="493161"/>
                </a:lnTo>
                <a:cubicBezTo>
                  <a:pt x="11443128" y="533510"/>
                  <a:pt x="11410418" y="566220"/>
                  <a:pt x="11370069" y="566220"/>
                </a:cubicBezTo>
                <a:lnTo>
                  <a:pt x="36530" y="566220"/>
                </a:lnTo>
                <a:cubicBezTo>
                  <a:pt x="16369" y="566220"/>
                  <a:pt x="0" y="549852"/>
                  <a:pt x="0" y="529690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3569" y="1168971"/>
            <a:ext cx="36530" cy="566220"/>
          </a:xfrm>
          <a:custGeom>
            <a:avLst/>
            <a:gdLst/>
            <a:ahLst/>
            <a:cxnLst/>
            <a:rect l="l" t="t" r="r" b="b"/>
            <a:pathLst>
              <a:path w="36530" h="566220">
                <a:moveTo>
                  <a:pt x="36530" y="0"/>
                </a:moveTo>
                <a:lnTo>
                  <a:pt x="36530" y="0"/>
                </a:lnTo>
                <a:lnTo>
                  <a:pt x="36530" y="566220"/>
                </a:lnTo>
                <a:lnTo>
                  <a:pt x="36530" y="566220"/>
                </a:lnTo>
                <a:cubicBezTo>
                  <a:pt x="16369" y="566220"/>
                  <a:pt x="0" y="549852"/>
                  <a:pt x="0" y="529690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84485" y="1315092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136989" y="273978"/>
                </a:moveTo>
                <a:cubicBezTo>
                  <a:pt x="212595" y="273978"/>
                  <a:pt x="273978" y="212595"/>
                  <a:pt x="273978" y="136989"/>
                </a:cubicBezTo>
                <a:cubicBezTo>
                  <a:pt x="273978" y="61383"/>
                  <a:pt x="212595" y="0"/>
                  <a:pt x="136989" y="0"/>
                </a:cubicBezTo>
                <a:cubicBezTo>
                  <a:pt x="61383" y="0"/>
                  <a:pt x="0" y="61383"/>
                  <a:pt x="0" y="136989"/>
                </a:cubicBezTo>
                <a:cubicBezTo>
                  <a:pt x="0" y="212595"/>
                  <a:pt x="61383" y="273978"/>
                  <a:pt x="136989" y="273978"/>
                </a:cubicBezTo>
                <a:close/>
                <a:moveTo>
                  <a:pt x="119865" y="85618"/>
                </a:moveTo>
                <a:cubicBezTo>
                  <a:pt x="119865" y="76167"/>
                  <a:pt x="127538" y="68494"/>
                  <a:pt x="136989" y="68494"/>
                </a:cubicBezTo>
                <a:cubicBezTo>
                  <a:pt x="146440" y="68494"/>
                  <a:pt x="154112" y="76167"/>
                  <a:pt x="154112" y="85618"/>
                </a:cubicBezTo>
                <a:cubicBezTo>
                  <a:pt x="154112" y="95069"/>
                  <a:pt x="146440" y="102742"/>
                  <a:pt x="136989" y="102742"/>
                </a:cubicBezTo>
                <a:cubicBezTo>
                  <a:pt x="127538" y="102742"/>
                  <a:pt x="119865" y="95069"/>
                  <a:pt x="119865" y="85618"/>
                </a:cubicBezTo>
                <a:close/>
                <a:moveTo>
                  <a:pt x="115584" y="119865"/>
                </a:moveTo>
                <a:lnTo>
                  <a:pt x="141270" y="119865"/>
                </a:lnTo>
                <a:cubicBezTo>
                  <a:pt x="148387" y="119865"/>
                  <a:pt x="154112" y="125591"/>
                  <a:pt x="154112" y="132708"/>
                </a:cubicBezTo>
                <a:lnTo>
                  <a:pt x="154112" y="179798"/>
                </a:lnTo>
                <a:lnTo>
                  <a:pt x="158393" y="179798"/>
                </a:lnTo>
                <a:cubicBezTo>
                  <a:pt x="165510" y="179798"/>
                  <a:pt x="171236" y="185523"/>
                  <a:pt x="171236" y="192640"/>
                </a:cubicBezTo>
                <a:cubicBezTo>
                  <a:pt x="171236" y="199757"/>
                  <a:pt x="165510" y="205483"/>
                  <a:pt x="158393" y="205483"/>
                </a:cubicBezTo>
                <a:lnTo>
                  <a:pt x="115584" y="205483"/>
                </a:lnTo>
                <a:cubicBezTo>
                  <a:pt x="108467" y="205483"/>
                  <a:pt x="102742" y="199757"/>
                  <a:pt x="102742" y="192640"/>
                </a:cubicBezTo>
                <a:cubicBezTo>
                  <a:pt x="102742" y="185523"/>
                  <a:pt x="108467" y="179798"/>
                  <a:pt x="115584" y="179798"/>
                </a:cubicBezTo>
                <a:lnTo>
                  <a:pt x="128427" y="179798"/>
                </a:lnTo>
                <a:lnTo>
                  <a:pt x="128427" y="145551"/>
                </a:lnTo>
                <a:lnTo>
                  <a:pt x="115584" y="145551"/>
                </a:lnTo>
                <a:cubicBezTo>
                  <a:pt x="108467" y="145551"/>
                  <a:pt x="102742" y="139825"/>
                  <a:pt x="102742" y="132708"/>
                </a:cubicBezTo>
                <a:cubicBezTo>
                  <a:pt x="102742" y="125591"/>
                  <a:pt x="108467" y="119865"/>
                  <a:pt x="115584" y="119865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36548" y="1315092"/>
            <a:ext cx="10721654" cy="23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从 </a:t>
            </a:r>
            <a:r>
              <a:rPr lang="en-US" sz="1151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v0.4.0 </a:t>
            </a:r>
            <a:r>
              <a:rPr lang="en-US" sz="115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开始引入了 </a:t>
            </a:r>
            <a:r>
              <a:rPr lang="en-US" sz="1151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Automatic Prefix Caching (APC)</a:t>
            </a:r>
            <a:r>
              <a:rPr lang="en-US" sz="115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功能,实现了 GPU 显存内的高效前缀缓存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9870" y="1885879"/>
            <a:ext cx="5653070" cy="1835649"/>
          </a:xfrm>
          <a:custGeom>
            <a:avLst/>
            <a:gdLst/>
            <a:ahLst/>
            <a:cxnLst/>
            <a:rect l="l" t="t" r="r" b="b"/>
            <a:pathLst>
              <a:path w="5653070" h="1835649">
                <a:moveTo>
                  <a:pt x="73059" y="0"/>
                </a:moveTo>
                <a:lnTo>
                  <a:pt x="5580011" y="0"/>
                </a:lnTo>
                <a:cubicBezTo>
                  <a:pt x="5620360" y="0"/>
                  <a:pt x="5653070" y="32710"/>
                  <a:pt x="5653070" y="73059"/>
                </a:cubicBezTo>
                <a:lnTo>
                  <a:pt x="5653070" y="1762591"/>
                </a:lnTo>
                <a:cubicBezTo>
                  <a:pt x="5653070" y="1802940"/>
                  <a:pt x="5620360" y="1835649"/>
                  <a:pt x="5580011" y="1835649"/>
                </a:cubicBezTo>
                <a:lnTo>
                  <a:pt x="73059" y="1835649"/>
                </a:lnTo>
                <a:cubicBezTo>
                  <a:pt x="32737" y="1835649"/>
                  <a:pt x="0" y="1802913"/>
                  <a:pt x="0" y="1762591"/>
                </a:cubicBezTo>
                <a:lnTo>
                  <a:pt x="0" y="73059"/>
                </a:lnTo>
                <a:cubicBezTo>
                  <a:pt x="0" y="32737"/>
                  <a:pt x="32737" y="0"/>
                  <a:pt x="73059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43389" y="2073097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353" y="42310"/>
                </a:moveTo>
                <a:cubicBezTo>
                  <a:pt x="-1106" y="37850"/>
                  <a:pt x="-1106" y="30608"/>
                  <a:pt x="3353" y="26149"/>
                </a:cubicBezTo>
                <a:cubicBezTo>
                  <a:pt x="7813" y="21690"/>
                  <a:pt x="15054" y="21690"/>
                  <a:pt x="19514" y="26149"/>
                </a:cubicBezTo>
                <a:lnTo>
                  <a:pt x="76592" y="83228"/>
                </a:lnTo>
                <a:cubicBezTo>
                  <a:pt x="81052" y="87687"/>
                  <a:pt x="81052" y="94929"/>
                  <a:pt x="76592" y="99388"/>
                </a:cubicBezTo>
                <a:lnTo>
                  <a:pt x="19514" y="156467"/>
                </a:lnTo>
                <a:cubicBezTo>
                  <a:pt x="15054" y="160926"/>
                  <a:pt x="7813" y="160926"/>
                  <a:pt x="3353" y="156467"/>
                </a:cubicBezTo>
                <a:cubicBezTo>
                  <a:pt x="-1106" y="152008"/>
                  <a:pt x="-1106" y="144766"/>
                  <a:pt x="3353" y="140306"/>
                </a:cubicBezTo>
                <a:lnTo>
                  <a:pt x="52334" y="91326"/>
                </a:lnTo>
                <a:lnTo>
                  <a:pt x="3353" y="42310"/>
                </a:lnTo>
                <a:close/>
                <a:moveTo>
                  <a:pt x="79910" y="136989"/>
                </a:moveTo>
                <a:lnTo>
                  <a:pt x="171236" y="136989"/>
                </a:lnTo>
                <a:cubicBezTo>
                  <a:pt x="177550" y="136989"/>
                  <a:pt x="182652" y="142090"/>
                  <a:pt x="182652" y="148404"/>
                </a:cubicBezTo>
                <a:cubicBezTo>
                  <a:pt x="182652" y="154719"/>
                  <a:pt x="177550" y="159820"/>
                  <a:pt x="171236" y="159820"/>
                </a:cubicBezTo>
                <a:lnTo>
                  <a:pt x="79910" y="159820"/>
                </a:lnTo>
                <a:cubicBezTo>
                  <a:pt x="73596" y="159820"/>
                  <a:pt x="68494" y="154719"/>
                  <a:pt x="68494" y="148404"/>
                </a:cubicBezTo>
                <a:cubicBezTo>
                  <a:pt x="68494" y="142090"/>
                  <a:pt x="73596" y="136989"/>
                  <a:pt x="79910" y="136989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8463" y="2036566"/>
            <a:ext cx="1004584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命令行启用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0557" y="2401870"/>
            <a:ext cx="5351694" cy="840198"/>
          </a:xfrm>
          <a:custGeom>
            <a:avLst/>
            <a:gdLst/>
            <a:ahLst/>
            <a:cxnLst/>
            <a:rect l="l" t="t" r="r" b="b"/>
            <a:pathLst>
              <a:path w="5351694" h="840198">
                <a:moveTo>
                  <a:pt x="73064" y="0"/>
                </a:moveTo>
                <a:lnTo>
                  <a:pt x="5278631" y="0"/>
                </a:lnTo>
                <a:cubicBezTo>
                  <a:pt x="5318983" y="0"/>
                  <a:pt x="5351694" y="32712"/>
                  <a:pt x="5351694" y="73064"/>
                </a:cubicBezTo>
                <a:lnTo>
                  <a:pt x="5351694" y="767134"/>
                </a:lnTo>
                <a:cubicBezTo>
                  <a:pt x="5351694" y="807486"/>
                  <a:pt x="5318983" y="840198"/>
                  <a:pt x="5278631" y="840198"/>
                </a:cubicBezTo>
                <a:lnTo>
                  <a:pt x="73064" y="840198"/>
                </a:lnTo>
                <a:cubicBezTo>
                  <a:pt x="32712" y="840198"/>
                  <a:pt x="0" y="807486"/>
                  <a:pt x="0" y="767134"/>
                </a:cubicBezTo>
                <a:lnTo>
                  <a:pt x="0" y="73064"/>
                </a:lnTo>
                <a:cubicBezTo>
                  <a:pt x="0" y="32739"/>
                  <a:pt x="32739" y="0"/>
                  <a:pt x="73064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30148" y="2511461"/>
            <a:ext cx="5196440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启动 vLLM 服务时开启 APC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148" y="2767173"/>
            <a:ext cx="5196440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 serve meta-llama/Llama-2-7b-hf \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6270" y="2949825"/>
            <a:ext cx="5050319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--enable-prefix-caching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4126" y="1885879"/>
            <a:ext cx="5653070" cy="1835649"/>
          </a:xfrm>
          <a:custGeom>
            <a:avLst/>
            <a:gdLst/>
            <a:ahLst/>
            <a:cxnLst/>
            <a:rect l="l" t="t" r="r" b="b"/>
            <a:pathLst>
              <a:path w="5653070" h="1835649">
                <a:moveTo>
                  <a:pt x="73059" y="0"/>
                </a:moveTo>
                <a:lnTo>
                  <a:pt x="5580011" y="0"/>
                </a:lnTo>
                <a:cubicBezTo>
                  <a:pt x="5620360" y="0"/>
                  <a:pt x="5653070" y="32710"/>
                  <a:pt x="5653070" y="73059"/>
                </a:cubicBezTo>
                <a:lnTo>
                  <a:pt x="5653070" y="1762591"/>
                </a:lnTo>
                <a:cubicBezTo>
                  <a:pt x="5653070" y="1802940"/>
                  <a:pt x="5620360" y="1835649"/>
                  <a:pt x="5580011" y="1835649"/>
                </a:cubicBezTo>
                <a:lnTo>
                  <a:pt x="73059" y="1835649"/>
                </a:lnTo>
                <a:cubicBezTo>
                  <a:pt x="32737" y="1835649"/>
                  <a:pt x="0" y="1802913"/>
                  <a:pt x="0" y="1762591"/>
                </a:cubicBezTo>
                <a:lnTo>
                  <a:pt x="0" y="73059"/>
                </a:lnTo>
                <a:cubicBezTo>
                  <a:pt x="0" y="32737"/>
                  <a:pt x="32737" y="0"/>
                  <a:pt x="73059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359061" y="2073097"/>
            <a:ext cx="159820" cy="182652"/>
          </a:xfrm>
          <a:custGeom>
            <a:avLst/>
            <a:gdLst/>
            <a:ahLst/>
            <a:cxnLst/>
            <a:rect l="l" t="t" r="r" b="b"/>
            <a:pathLst>
              <a:path w="159820" h="182652">
                <a:moveTo>
                  <a:pt x="156895" y="71527"/>
                </a:moveTo>
                <a:cubicBezTo>
                  <a:pt x="154148" y="60503"/>
                  <a:pt x="148940" y="52191"/>
                  <a:pt x="137845" y="52191"/>
                </a:cubicBezTo>
                <a:lnTo>
                  <a:pt x="123540" y="52191"/>
                </a:lnTo>
                <a:lnTo>
                  <a:pt x="123540" y="69101"/>
                </a:lnTo>
                <a:cubicBezTo>
                  <a:pt x="123540" y="82229"/>
                  <a:pt x="112409" y="93288"/>
                  <a:pt x="99709" y="93288"/>
                </a:cubicBezTo>
                <a:lnTo>
                  <a:pt x="61609" y="93288"/>
                </a:lnTo>
                <a:cubicBezTo>
                  <a:pt x="51192" y="93288"/>
                  <a:pt x="42559" y="102206"/>
                  <a:pt x="42559" y="112659"/>
                </a:cubicBezTo>
                <a:lnTo>
                  <a:pt x="42559" y="148975"/>
                </a:lnTo>
                <a:cubicBezTo>
                  <a:pt x="42559" y="159321"/>
                  <a:pt x="51549" y="165385"/>
                  <a:pt x="61609" y="168346"/>
                </a:cubicBezTo>
                <a:cubicBezTo>
                  <a:pt x="73667" y="171878"/>
                  <a:pt x="85261" y="172520"/>
                  <a:pt x="99709" y="168346"/>
                </a:cubicBezTo>
                <a:cubicBezTo>
                  <a:pt x="109306" y="165564"/>
                  <a:pt x="118759" y="159963"/>
                  <a:pt x="118759" y="148975"/>
                </a:cubicBezTo>
                <a:lnTo>
                  <a:pt x="118759" y="134456"/>
                </a:lnTo>
                <a:lnTo>
                  <a:pt x="80695" y="134456"/>
                </a:lnTo>
                <a:lnTo>
                  <a:pt x="80695" y="129604"/>
                </a:lnTo>
                <a:lnTo>
                  <a:pt x="137845" y="129604"/>
                </a:lnTo>
                <a:cubicBezTo>
                  <a:pt x="148940" y="129604"/>
                  <a:pt x="153042" y="121863"/>
                  <a:pt x="156895" y="110269"/>
                </a:cubicBezTo>
                <a:cubicBezTo>
                  <a:pt x="160890" y="98318"/>
                  <a:pt x="160712" y="86831"/>
                  <a:pt x="156895" y="71527"/>
                </a:cubicBezTo>
                <a:close/>
                <a:moveTo>
                  <a:pt x="102099" y="158643"/>
                </a:moveTo>
                <a:cubicBezTo>
                  <a:pt x="99384" y="158833"/>
                  <a:pt x="96790" y="157493"/>
                  <a:pt x="95374" y="155168"/>
                </a:cubicBezTo>
                <a:cubicBezTo>
                  <a:pt x="93959" y="152843"/>
                  <a:pt x="93959" y="149923"/>
                  <a:pt x="95374" y="147598"/>
                </a:cubicBezTo>
                <a:cubicBezTo>
                  <a:pt x="96790" y="145274"/>
                  <a:pt x="99384" y="143933"/>
                  <a:pt x="102099" y="144124"/>
                </a:cubicBezTo>
                <a:cubicBezTo>
                  <a:pt x="104815" y="143933"/>
                  <a:pt x="107409" y="145274"/>
                  <a:pt x="108825" y="147598"/>
                </a:cubicBezTo>
                <a:cubicBezTo>
                  <a:pt x="110240" y="149923"/>
                  <a:pt x="110240" y="152843"/>
                  <a:pt x="108825" y="155168"/>
                </a:cubicBezTo>
                <a:cubicBezTo>
                  <a:pt x="107409" y="157493"/>
                  <a:pt x="104815" y="158833"/>
                  <a:pt x="102099" y="158643"/>
                </a:cubicBezTo>
                <a:close/>
                <a:moveTo>
                  <a:pt x="59861" y="88508"/>
                </a:moveTo>
                <a:lnTo>
                  <a:pt x="97961" y="88508"/>
                </a:lnTo>
                <a:cubicBezTo>
                  <a:pt x="108556" y="88508"/>
                  <a:pt x="117011" y="79767"/>
                  <a:pt x="117011" y="69137"/>
                </a:cubicBezTo>
                <a:lnTo>
                  <a:pt x="117011" y="32785"/>
                </a:lnTo>
                <a:cubicBezTo>
                  <a:pt x="117011" y="22439"/>
                  <a:pt x="108307" y="14698"/>
                  <a:pt x="97961" y="12950"/>
                </a:cubicBezTo>
                <a:cubicBezTo>
                  <a:pt x="85190" y="10845"/>
                  <a:pt x="71313" y="10952"/>
                  <a:pt x="59861" y="12985"/>
                </a:cubicBezTo>
                <a:cubicBezTo>
                  <a:pt x="43737" y="15839"/>
                  <a:pt x="40811" y="21797"/>
                  <a:pt x="40811" y="32820"/>
                </a:cubicBezTo>
                <a:lnTo>
                  <a:pt x="40811" y="47340"/>
                </a:lnTo>
                <a:lnTo>
                  <a:pt x="78947" y="47340"/>
                </a:lnTo>
                <a:lnTo>
                  <a:pt x="78947" y="52191"/>
                </a:lnTo>
                <a:lnTo>
                  <a:pt x="26506" y="52191"/>
                </a:lnTo>
                <a:cubicBezTo>
                  <a:pt x="15411" y="52191"/>
                  <a:pt x="5708" y="58862"/>
                  <a:pt x="2676" y="71527"/>
                </a:cubicBezTo>
                <a:cubicBezTo>
                  <a:pt x="-821" y="86046"/>
                  <a:pt x="-963" y="95107"/>
                  <a:pt x="2676" y="110269"/>
                </a:cubicBezTo>
                <a:cubicBezTo>
                  <a:pt x="5387" y="121542"/>
                  <a:pt x="11844" y="129604"/>
                  <a:pt x="22938" y="129604"/>
                </a:cubicBezTo>
                <a:lnTo>
                  <a:pt x="36031" y="129604"/>
                </a:lnTo>
                <a:lnTo>
                  <a:pt x="36031" y="112195"/>
                </a:lnTo>
                <a:cubicBezTo>
                  <a:pt x="36031" y="99602"/>
                  <a:pt x="46912" y="88508"/>
                  <a:pt x="59861" y="88508"/>
                </a:cubicBezTo>
                <a:close/>
                <a:moveTo>
                  <a:pt x="57507" y="23081"/>
                </a:moveTo>
                <a:cubicBezTo>
                  <a:pt x="61523" y="23081"/>
                  <a:pt x="64784" y="26342"/>
                  <a:pt x="64784" y="30359"/>
                </a:cubicBezTo>
                <a:cubicBezTo>
                  <a:pt x="64784" y="34375"/>
                  <a:pt x="61523" y="37636"/>
                  <a:pt x="57507" y="37636"/>
                </a:cubicBezTo>
                <a:cubicBezTo>
                  <a:pt x="53490" y="37636"/>
                  <a:pt x="50229" y="34375"/>
                  <a:pt x="50229" y="30359"/>
                </a:cubicBezTo>
                <a:cubicBezTo>
                  <a:pt x="50229" y="26342"/>
                  <a:pt x="53490" y="23081"/>
                  <a:pt x="57507" y="23081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662720" y="2036566"/>
            <a:ext cx="147034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API 启用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24814" y="2401870"/>
            <a:ext cx="5351694" cy="1168971"/>
          </a:xfrm>
          <a:custGeom>
            <a:avLst/>
            <a:gdLst/>
            <a:ahLst/>
            <a:cxnLst/>
            <a:rect l="l" t="t" r="r" b="b"/>
            <a:pathLst>
              <a:path w="5351694" h="1168971">
                <a:moveTo>
                  <a:pt x="73061" y="0"/>
                </a:moveTo>
                <a:lnTo>
                  <a:pt x="5278634" y="0"/>
                </a:lnTo>
                <a:cubicBezTo>
                  <a:pt x="5318984" y="0"/>
                  <a:pt x="5351694" y="32710"/>
                  <a:pt x="5351694" y="73061"/>
                </a:cubicBezTo>
                <a:lnTo>
                  <a:pt x="5351694" y="1095910"/>
                </a:lnTo>
                <a:cubicBezTo>
                  <a:pt x="5351694" y="1136260"/>
                  <a:pt x="5318984" y="1168971"/>
                  <a:pt x="5278634" y="1168971"/>
                </a:cubicBezTo>
                <a:lnTo>
                  <a:pt x="73061" y="1168971"/>
                </a:lnTo>
                <a:cubicBezTo>
                  <a:pt x="32737" y="1168971"/>
                  <a:pt x="0" y="1136233"/>
                  <a:pt x="0" y="1095910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34405" y="2511461"/>
            <a:ext cx="5196440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vllm import LLM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34405" y="2730643"/>
            <a:ext cx="5196440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 = LLM(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0526" y="2913294"/>
            <a:ext cx="5050319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model="meta-llama/Llama-2-7b-hf",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0526" y="3095946"/>
            <a:ext cx="5050319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enable_prefix_caching=True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34405" y="3278598"/>
            <a:ext cx="5196440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9870" y="3876782"/>
            <a:ext cx="11452261" cy="1680396"/>
          </a:xfrm>
          <a:custGeom>
            <a:avLst/>
            <a:gdLst/>
            <a:ahLst/>
            <a:cxnLst/>
            <a:rect l="l" t="t" r="r" b="b"/>
            <a:pathLst>
              <a:path w="11452261" h="1680396">
                <a:moveTo>
                  <a:pt x="73064" y="0"/>
                </a:moveTo>
                <a:lnTo>
                  <a:pt x="11379197" y="0"/>
                </a:lnTo>
                <a:cubicBezTo>
                  <a:pt x="11419549" y="0"/>
                  <a:pt x="11452261" y="32712"/>
                  <a:pt x="11452261" y="73064"/>
                </a:cubicBezTo>
                <a:lnTo>
                  <a:pt x="11452261" y="1607332"/>
                </a:lnTo>
                <a:cubicBezTo>
                  <a:pt x="11452261" y="1647684"/>
                  <a:pt x="11419549" y="1680396"/>
                  <a:pt x="11379197" y="1680396"/>
                </a:cubicBezTo>
                <a:lnTo>
                  <a:pt x="73064" y="1680396"/>
                </a:lnTo>
                <a:cubicBezTo>
                  <a:pt x="32712" y="1680396"/>
                  <a:pt x="0" y="1647684"/>
                  <a:pt x="0" y="1607332"/>
                </a:cubicBezTo>
                <a:lnTo>
                  <a:pt x="0" y="73064"/>
                </a:lnTo>
                <a:cubicBezTo>
                  <a:pt x="0" y="32739"/>
                  <a:pt x="32739" y="0"/>
                  <a:pt x="73064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66220" y="4064000"/>
            <a:ext cx="136989" cy="182652"/>
          </a:xfrm>
          <a:custGeom>
            <a:avLst/>
            <a:gdLst/>
            <a:ahLst/>
            <a:cxnLst/>
            <a:rect l="l" t="t" r="r" b="b"/>
            <a:pathLst>
              <a:path w="136989" h="182652">
                <a:moveTo>
                  <a:pt x="104490" y="136989"/>
                </a:moveTo>
                <a:cubicBezTo>
                  <a:pt x="107094" y="129033"/>
                  <a:pt x="112302" y="121827"/>
                  <a:pt x="118188" y="115620"/>
                </a:cubicBezTo>
                <a:cubicBezTo>
                  <a:pt x="129854" y="103348"/>
                  <a:pt x="136989" y="86760"/>
                  <a:pt x="136989" y="68494"/>
                </a:cubicBezTo>
                <a:cubicBezTo>
                  <a:pt x="136989" y="30680"/>
                  <a:pt x="106309" y="0"/>
                  <a:pt x="68494" y="0"/>
                </a:cubicBezTo>
                <a:cubicBezTo>
                  <a:pt x="30680" y="0"/>
                  <a:pt x="0" y="30680"/>
                  <a:pt x="0" y="68494"/>
                </a:cubicBezTo>
                <a:cubicBezTo>
                  <a:pt x="0" y="86760"/>
                  <a:pt x="7135" y="103348"/>
                  <a:pt x="18800" y="115620"/>
                </a:cubicBezTo>
                <a:cubicBezTo>
                  <a:pt x="24687" y="121827"/>
                  <a:pt x="29931" y="129033"/>
                  <a:pt x="32499" y="136989"/>
                </a:cubicBezTo>
                <a:lnTo>
                  <a:pt x="104454" y="136989"/>
                </a:lnTo>
                <a:close/>
                <a:moveTo>
                  <a:pt x="102742" y="154112"/>
                </a:moveTo>
                <a:lnTo>
                  <a:pt x="34247" y="154112"/>
                </a:lnTo>
                <a:lnTo>
                  <a:pt x="34247" y="159820"/>
                </a:lnTo>
                <a:cubicBezTo>
                  <a:pt x="34247" y="175588"/>
                  <a:pt x="47019" y="188360"/>
                  <a:pt x="62787" y="188360"/>
                </a:cubicBezTo>
                <a:lnTo>
                  <a:pt x="74202" y="188360"/>
                </a:lnTo>
                <a:cubicBezTo>
                  <a:pt x="89970" y="188360"/>
                  <a:pt x="102742" y="175588"/>
                  <a:pt x="102742" y="159820"/>
                </a:cubicBezTo>
                <a:lnTo>
                  <a:pt x="102742" y="154112"/>
                </a:lnTo>
                <a:close/>
                <a:moveTo>
                  <a:pt x="65640" y="39955"/>
                </a:moveTo>
                <a:cubicBezTo>
                  <a:pt x="51442" y="39955"/>
                  <a:pt x="39955" y="51442"/>
                  <a:pt x="39955" y="65640"/>
                </a:cubicBezTo>
                <a:cubicBezTo>
                  <a:pt x="39955" y="70385"/>
                  <a:pt x="36138" y="74202"/>
                  <a:pt x="31393" y="74202"/>
                </a:cubicBezTo>
                <a:cubicBezTo>
                  <a:pt x="26649" y="74202"/>
                  <a:pt x="22831" y="70385"/>
                  <a:pt x="22831" y="65640"/>
                </a:cubicBezTo>
                <a:cubicBezTo>
                  <a:pt x="22831" y="41988"/>
                  <a:pt x="41988" y="22831"/>
                  <a:pt x="65640" y="22831"/>
                </a:cubicBezTo>
                <a:cubicBezTo>
                  <a:pt x="70385" y="22831"/>
                  <a:pt x="74202" y="26649"/>
                  <a:pt x="74202" y="31393"/>
                </a:cubicBezTo>
                <a:cubicBezTo>
                  <a:pt x="74202" y="36138"/>
                  <a:pt x="70385" y="39955"/>
                  <a:pt x="65640" y="39955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8463" y="4027470"/>
            <a:ext cx="82193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技术背景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0557" y="4392773"/>
            <a:ext cx="5580009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SGLang RadixAttention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0557" y="4685016"/>
            <a:ext cx="5570876" cy="210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 Radix Tree(基数树)维护 token 序列与 KV Cache 的映射关系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69560" y="4392773"/>
            <a:ext cx="5580009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Hash Table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69560" y="4685016"/>
            <a:ext cx="5570876" cy="210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采用 Hash Table(哈希表)方案,与 Block Manager 集成,查找时间复杂度 O(1)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0557" y="5002373"/>
            <a:ext cx="11150885" cy="401834"/>
          </a:xfrm>
          <a:custGeom>
            <a:avLst/>
            <a:gdLst/>
            <a:ahLst/>
            <a:cxnLst/>
            <a:rect l="l" t="t" r="r" b="b"/>
            <a:pathLst>
              <a:path w="11150885" h="401834">
                <a:moveTo>
                  <a:pt x="73061" y="0"/>
                </a:moveTo>
                <a:lnTo>
                  <a:pt x="11077824" y="0"/>
                </a:lnTo>
                <a:cubicBezTo>
                  <a:pt x="11118175" y="0"/>
                  <a:pt x="11150885" y="32711"/>
                  <a:pt x="11150885" y="73061"/>
                </a:cubicBezTo>
                <a:lnTo>
                  <a:pt x="11150885" y="328772"/>
                </a:lnTo>
                <a:cubicBezTo>
                  <a:pt x="11150885" y="369123"/>
                  <a:pt x="11118175" y="401834"/>
                  <a:pt x="11077824" y="401834"/>
                </a:cubicBezTo>
                <a:lnTo>
                  <a:pt x="73061" y="401834"/>
                </a:lnTo>
                <a:cubicBezTo>
                  <a:pt x="32711" y="401834"/>
                  <a:pt x="0" y="369123"/>
                  <a:pt x="0" y="328772"/>
                </a:cubicBezTo>
                <a:lnTo>
                  <a:pt x="0" y="73061"/>
                </a:lnTo>
                <a:cubicBezTo>
                  <a:pt x="0" y="32738"/>
                  <a:pt x="32738" y="0"/>
                  <a:pt x="730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8413" y="5139362"/>
            <a:ext cx="127856" cy="127856"/>
          </a:xfrm>
          <a:custGeom>
            <a:avLst/>
            <a:gdLst/>
            <a:ahLst/>
            <a:cxnLst/>
            <a:rect l="l" t="t" r="r" b="b"/>
            <a:pathLst>
              <a:path w="127856" h="127856">
                <a:moveTo>
                  <a:pt x="63928" y="127856"/>
                </a:moveTo>
                <a:cubicBezTo>
                  <a:pt x="99211" y="127856"/>
                  <a:pt x="127856" y="99211"/>
                  <a:pt x="127856" y="63928"/>
                </a:cubicBezTo>
                <a:cubicBezTo>
                  <a:pt x="127856" y="28645"/>
                  <a:pt x="99211" y="0"/>
                  <a:pt x="63928" y="0"/>
                </a:cubicBezTo>
                <a:cubicBezTo>
                  <a:pt x="28645" y="0"/>
                  <a:pt x="0" y="28645"/>
                  <a:pt x="0" y="63928"/>
                </a:cubicBezTo>
                <a:cubicBezTo>
                  <a:pt x="0" y="99211"/>
                  <a:pt x="28645" y="127856"/>
                  <a:pt x="63928" y="127856"/>
                </a:cubicBezTo>
                <a:close/>
                <a:moveTo>
                  <a:pt x="55937" y="39955"/>
                </a:moveTo>
                <a:cubicBezTo>
                  <a:pt x="55937" y="35545"/>
                  <a:pt x="59518" y="31964"/>
                  <a:pt x="63928" y="31964"/>
                </a:cubicBezTo>
                <a:cubicBezTo>
                  <a:pt x="68338" y="31964"/>
                  <a:pt x="71919" y="35545"/>
                  <a:pt x="71919" y="39955"/>
                </a:cubicBezTo>
                <a:cubicBezTo>
                  <a:pt x="71919" y="44365"/>
                  <a:pt x="68338" y="47946"/>
                  <a:pt x="63928" y="47946"/>
                </a:cubicBezTo>
                <a:cubicBezTo>
                  <a:pt x="59518" y="47946"/>
                  <a:pt x="55937" y="44365"/>
                  <a:pt x="55937" y="39955"/>
                </a:cubicBezTo>
                <a:close/>
                <a:moveTo>
                  <a:pt x="53939" y="55937"/>
                </a:moveTo>
                <a:lnTo>
                  <a:pt x="65926" y="55937"/>
                </a:lnTo>
                <a:cubicBezTo>
                  <a:pt x="69247" y="55937"/>
                  <a:pt x="71919" y="58609"/>
                  <a:pt x="71919" y="61930"/>
                </a:cubicBezTo>
                <a:lnTo>
                  <a:pt x="71919" y="83906"/>
                </a:lnTo>
                <a:lnTo>
                  <a:pt x="73917" y="83906"/>
                </a:lnTo>
                <a:cubicBezTo>
                  <a:pt x="77238" y="83906"/>
                  <a:pt x="79910" y="86578"/>
                  <a:pt x="79910" y="89899"/>
                </a:cubicBezTo>
                <a:cubicBezTo>
                  <a:pt x="79910" y="93220"/>
                  <a:pt x="77238" y="95892"/>
                  <a:pt x="73917" y="95892"/>
                </a:cubicBezTo>
                <a:lnTo>
                  <a:pt x="53939" y="95892"/>
                </a:lnTo>
                <a:cubicBezTo>
                  <a:pt x="50618" y="95892"/>
                  <a:pt x="47946" y="93220"/>
                  <a:pt x="47946" y="89899"/>
                </a:cubicBezTo>
                <a:cubicBezTo>
                  <a:pt x="47946" y="86578"/>
                  <a:pt x="50618" y="83906"/>
                  <a:pt x="53939" y="83906"/>
                </a:cubicBezTo>
                <a:lnTo>
                  <a:pt x="59933" y="83906"/>
                </a:lnTo>
                <a:lnTo>
                  <a:pt x="59933" y="67924"/>
                </a:lnTo>
                <a:lnTo>
                  <a:pt x="53939" y="67924"/>
                </a:lnTo>
                <a:cubicBezTo>
                  <a:pt x="50618" y="67924"/>
                  <a:pt x="47946" y="65252"/>
                  <a:pt x="47946" y="61930"/>
                </a:cubicBezTo>
                <a:cubicBezTo>
                  <a:pt x="47946" y="58609"/>
                  <a:pt x="50618" y="55937"/>
                  <a:pt x="53939" y="55937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47073" y="5111964"/>
            <a:ext cx="10778707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两者在缓存淘汰策略(LRU + 引用计数)上高度一致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9870" y="5710148"/>
            <a:ext cx="3716962" cy="776270"/>
          </a:xfrm>
          <a:custGeom>
            <a:avLst/>
            <a:gdLst/>
            <a:ahLst/>
            <a:cxnLst/>
            <a:rect l="l" t="t" r="r" b="b"/>
            <a:pathLst>
              <a:path w="3716962" h="776270">
                <a:moveTo>
                  <a:pt x="73063" y="0"/>
                </a:moveTo>
                <a:lnTo>
                  <a:pt x="3643899" y="0"/>
                </a:lnTo>
                <a:cubicBezTo>
                  <a:pt x="3684251" y="0"/>
                  <a:pt x="3716962" y="32711"/>
                  <a:pt x="3716962" y="73063"/>
                </a:cubicBezTo>
                <a:lnTo>
                  <a:pt x="3716962" y="703207"/>
                </a:lnTo>
                <a:cubicBezTo>
                  <a:pt x="3716962" y="743558"/>
                  <a:pt x="3684251" y="776270"/>
                  <a:pt x="3643899" y="776270"/>
                </a:cubicBezTo>
                <a:lnTo>
                  <a:pt x="73063" y="776270"/>
                </a:lnTo>
                <a:cubicBezTo>
                  <a:pt x="32711" y="776270"/>
                  <a:pt x="0" y="743558"/>
                  <a:pt x="0" y="703207"/>
                </a:cubicBezTo>
                <a:lnTo>
                  <a:pt x="0" y="73063"/>
                </a:lnTo>
                <a:cubicBezTo>
                  <a:pt x="0" y="32738"/>
                  <a:pt x="32738" y="0"/>
                  <a:pt x="73063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15533" y="5824306"/>
            <a:ext cx="3625636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57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O(1)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2063" y="6189609"/>
            <a:ext cx="355257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查找时间复杂度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39374" y="5710148"/>
            <a:ext cx="3716962" cy="776270"/>
          </a:xfrm>
          <a:custGeom>
            <a:avLst/>
            <a:gdLst/>
            <a:ahLst/>
            <a:cxnLst/>
            <a:rect l="l" t="t" r="r" b="b"/>
            <a:pathLst>
              <a:path w="3716962" h="776270">
                <a:moveTo>
                  <a:pt x="73063" y="0"/>
                </a:moveTo>
                <a:lnTo>
                  <a:pt x="3643899" y="0"/>
                </a:lnTo>
                <a:cubicBezTo>
                  <a:pt x="3684251" y="0"/>
                  <a:pt x="3716962" y="32711"/>
                  <a:pt x="3716962" y="73063"/>
                </a:cubicBezTo>
                <a:lnTo>
                  <a:pt x="3716962" y="703207"/>
                </a:lnTo>
                <a:cubicBezTo>
                  <a:pt x="3716962" y="743558"/>
                  <a:pt x="3684251" y="776270"/>
                  <a:pt x="3643899" y="776270"/>
                </a:cubicBezTo>
                <a:lnTo>
                  <a:pt x="73063" y="776270"/>
                </a:lnTo>
                <a:cubicBezTo>
                  <a:pt x="32711" y="776270"/>
                  <a:pt x="0" y="743558"/>
                  <a:pt x="0" y="703207"/>
                </a:cubicBezTo>
                <a:lnTo>
                  <a:pt x="0" y="73063"/>
                </a:lnTo>
                <a:cubicBezTo>
                  <a:pt x="0" y="32738"/>
                  <a:pt x="32738" y="0"/>
                  <a:pt x="73063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4285037" y="5824306"/>
            <a:ext cx="3625636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57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Paged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21567" y="6189609"/>
            <a:ext cx="355257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Attention 集成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08879" y="5710148"/>
            <a:ext cx="3716962" cy="776270"/>
          </a:xfrm>
          <a:custGeom>
            <a:avLst/>
            <a:gdLst/>
            <a:ahLst/>
            <a:cxnLst/>
            <a:rect l="l" t="t" r="r" b="b"/>
            <a:pathLst>
              <a:path w="3716962" h="776270">
                <a:moveTo>
                  <a:pt x="73063" y="0"/>
                </a:moveTo>
                <a:lnTo>
                  <a:pt x="3643899" y="0"/>
                </a:lnTo>
                <a:cubicBezTo>
                  <a:pt x="3684251" y="0"/>
                  <a:pt x="3716962" y="32711"/>
                  <a:pt x="3716962" y="73063"/>
                </a:cubicBezTo>
                <a:lnTo>
                  <a:pt x="3716962" y="703207"/>
                </a:lnTo>
                <a:cubicBezTo>
                  <a:pt x="3716962" y="743558"/>
                  <a:pt x="3684251" y="776270"/>
                  <a:pt x="3643899" y="776270"/>
                </a:cubicBezTo>
                <a:lnTo>
                  <a:pt x="73063" y="776270"/>
                </a:lnTo>
                <a:cubicBezTo>
                  <a:pt x="32711" y="776270"/>
                  <a:pt x="0" y="743558"/>
                  <a:pt x="0" y="703207"/>
                </a:cubicBezTo>
                <a:lnTo>
                  <a:pt x="0" y="73063"/>
                </a:lnTo>
                <a:cubicBezTo>
                  <a:pt x="0" y="32738"/>
                  <a:pt x="32738" y="0"/>
                  <a:pt x="73063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154542" y="5824306"/>
            <a:ext cx="3625636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57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LRU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191072" y="6189609"/>
            <a:ext cx="3552575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7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淘汰策略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 Hash 核心实现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469" y="1019969"/>
            <a:ext cx="11549063" cy="1944688"/>
          </a:xfrm>
          <a:custGeom>
            <a:avLst/>
            <a:gdLst/>
            <a:ahLst/>
            <a:cxnLst/>
            <a:rect l="l" t="t" r="r" b="b"/>
            <a:pathLst>
              <a:path w="11549063" h="1944688">
                <a:moveTo>
                  <a:pt x="63494" y="0"/>
                </a:moveTo>
                <a:lnTo>
                  <a:pt x="11485568" y="0"/>
                </a:lnTo>
                <a:cubicBezTo>
                  <a:pt x="11520635" y="0"/>
                  <a:pt x="11549063" y="28427"/>
                  <a:pt x="11549063" y="63494"/>
                </a:cubicBezTo>
                <a:lnTo>
                  <a:pt x="11549063" y="1881193"/>
                </a:lnTo>
                <a:cubicBezTo>
                  <a:pt x="11549063" y="1916260"/>
                  <a:pt x="11520635" y="1944688"/>
                  <a:pt x="11485568" y="1944687"/>
                </a:cubicBezTo>
                <a:lnTo>
                  <a:pt x="63494" y="1944688"/>
                </a:lnTo>
                <a:cubicBezTo>
                  <a:pt x="28427" y="1944687"/>
                  <a:pt x="0" y="1916260"/>
                  <a:pt x="0" y="1881193"/>
                </a:cubicBezTo>
                <a:lnTo>
                  <a:pt x="0" y="63494"/>
                </a:lnTo>
                <a:cubicBezTo>
                  <a:pt x="0" y="28427"/>
                  <a:pt x="28427" y="0"/>
                  <a:pt x="63494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72281" y="1182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88057" y="-403"/>
                </a:moveTo>
                <a:cubicBezTo>
                  <a:pt x="82693" y="-3504"/>
                  <a:pt x="76057" y="-3504"/>
                  <a:pt x="70693" y="-403"/>
                </a:cubicBezTo>
                <a:lnTo>
                  <a:pt x="44586" y="14666"/>
                </a:lnTo>
                <a:cubicBezTo>
                  <a:pt x="39222" y="17766"/>
                  <a:pt x="35905" y="23502"/>
                  <a:pt x="35905" y="29704"/>
                </a:cubicBezTo>
                <a:lnTo>
                  <a:pt x="35905" y="61299"/>
                </a:lnTo>
                <a:lnTo>
                  <a:pt x="8527" y="77112"/>
                </a:lnTo>
                <a:cubicBezTo>
                  <a:pt x="3163" y="80212"/>
                  <a:pt x="-155" y="85948"/>
                  <a:pt x="-155" y="92149"/>
                </a:cubicBezTo>
                <a:lnTo>
                  <a:pt x="-155" y="122318"/>
                </a:lnTo>
                <a:cubicBezTo>
                  <a:pt x="-155" y="128519"/>
                  <a:pt x="3163" y="134255"/>
                  <a:pt x="8527" y="137356"/>
                </a:cubicBezTo>
                <a:lnTo>
                  <a:pt x="34665" y="152425"/>
                </a:lnTo>
                <a:cubicBezTo>
                  <a:pt x="40029" y="155525"/>
                  <a:pt x="46664" y="155525"/>
                  <a:pt x="52028" y="152425"/>
                </a:cubicBezTo>
                <a:lnTo>
                  <a:pt x="79406" y="136612"/>
                </a:lnTo>
                <a:lnTo>
                  <a:pt x="106784" y="152425"/>
                </a:lnTo>
                <a:cubicBezTo>
                  <a:pt x="112148" y="155525"/>
                  <a:pt x="118783" y="155525"/>
                  <a:pt x="124147" y="152425"/>
                </a:cubicBezTo>
                <a:lnTo>
                  <a:pt x="150223" y="137356"/>
                </a:lnTo>
                <a:cubicBezTo>
                  <a:pt x="155587" y="134255"/>
                  <a:pt x="158905" y="128519"/>
                  <a:pt x="158905" y="122318"/>
                </a:cubicBezTo>
                <a:lnTo>
                  <a:pt x="158905" y="92149"/>
                </a:lnTo>
                <a:cubicBezTo>
                  <a:pt x="158905" y="85948"/>
                  <a:pt x="155587" y="80212"/>
                  <a:pt x="150223" y="77112"/>
                </a:cubicBezTo>
                <a:lnTo>
                  <a:pt x="122845" y="61299"/>
                </a:lnTo>
                <a:lnTo>
                  <a:pt x="122845" y="29704"/>
                </a:lnTo>
                <a:cubicBezTo>
                  <a:pt x="122845" y="23502"/>
                  <a:pt x="119528" y="17766"/>
                  <a:pt x="114164" y="14666"/>
                </a:cubicBezTo>
                <a:lnTo>
                  <a:pt x="88057" y="-403"/>
                </a:lnTo>
                <a:close/>
                <a:moveTo>
                  <a:pt x="71934" y="90723"/>
                </a:moveTo>
                <a:lnTo>
                  <a:pt x="71934" y="123744"/>
                </a:lnTo>
                <a:lnTo>
                  <a:pt x="44555" y="139557"/>
                </a:lnTo>
                <a:cubicBezTo>
                  <a:pt x="44183" y="139774"/>
                  <a:pt x="43749" y="139898"/>
                  <a:pt x="43315" y="139898"/>
                </a:cubicBezTo>
                <a:lnTo>
                  <a:pt x="43315" y="107249"/>
                </a:lnTo>
                <a:lnTo>
                  <a:pt x="71934" y="90723"/>
                </a:lnTo>
                <a:close/>
                <a:moveTo>
                  <a:pt x="143681" y="90909"/>
                </a:moveTo>
                <a:cubicBezTo>
                  <a:pt x="143898" y="91281"/>
                  <a:pt x="144022" y="91715"/>
                  <a:pt x="144022" y="92149"/>
                </a:cubicBezTo>
                <a:lnTo>
                  <a:pt x="144022" y="122318"/>
                </a:lnTo>
                <a:cubicBezTo>
                  <a:pt x="144022" y="123217"/>
                  <a:pt x="143557" y="124023"/>
                  <a:pt x="142782" y="124458"/>
                </a:cubicBezTo>
                <a:lnTo>
                  <a:pt x="116644" y="139526"/>
                </a:lnTo>
                <a:cubicBezTo>
                  <a:pt x="116272" y="139743"/>
                  <a:pt x="115838" y="139867"/>
                  <a:pt x="115404" y="139867"/>
                </a:cubicBezTo>
                <a:lnTo>
                  <a:pt x="115404" y="107218"/>
                </a:lnTo>
                <a:lnTo>
                  <a:pt x="143681" y="90909"/>
                </a:lnTo>
                <a:close/>
                <a:moveTo>
                  <a:pt x="107993" y="29704"/>
                </a:moveTo>
                <a:lnTo>
                  <a:pt x="107993" y="61299"/>
                </a:lnTo>
                <a:lnTo>
                  <a:pt x="79375" y="77825"/>
                </a:lnTo>
                <a:lnTo>
                  <a:pt x="79375" y="44803"/>
                </a:lnTo>
                <a:lnTo>
                  <a:pt x="107652" y="28494"/>
                </a:lnTo>
                <a:cubicBezTo>
                  <a:pt x="107869" y="28866"/>
                  <a:pt x="107993" y="29301"/>
                  <a:pt x="107993" y="29735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46125" y="1150938"/>
            <a:ext cx="299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PagedAttention 的 Block 粒度缓存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2438" y="1468438"/>
            <a:ext cx="11287125" cy="1365250"/>
          </a:xfrm>
          <a:custGeom>
            <a:avLst/>
            <a:gdLst/>
            <a:ahLst/>
            <a:cxnLst/>
            <a:rect l="l" t="t" r="r" b="b"/>
            <a:pathLst>
              <a:path w="11287125" h="1365250">
                <a:moveTo>
                  <a:pt x="63498" y="0"/>
                </a:moveTo>
                <a:lnTo>
                  <a:pt x="11223627" y="0"/>
                </a:lnTo>
                <a:cubicBezTo>
                  <a:pt x="11258696" y="0"/>
                  <a:pt x="11287125" y="28429"/>
                  <a:pt x="11287125" y="63498"/>
                </a:cubicBezTo>
                <a:lnTo>
                  <a:pt x="11287125" y="1301752"/>
                </a:lnTo>
                <a:cubicBezTo>
                  <a:pt x="11287125" y="1336821"/>
                  <a:pt x="11258696" y="1365250"/>
                  <a:pt x="11223627" y="1365250"/>
                </a:cubicBezTo>
                <a:lnTo>
                  <a:pt x="63498" y="1365250"/>
                </a:lnTo>
                <a:cubicBezTo>
                  <a:pt x="28429" y="1365250"/>
                  <a:pt x="0" y="1336821"/>
                  <a:pt x="0" y="1301752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7688" y="1563688"/>
            <a:ext cx="1115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vLLM Block Hash 计算逻辑(简化)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7688" y="1785938"/>
            <a:ext cx="1115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hash_block_tokens(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4688" y="1944688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parent_block_hash: Optional[int],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4688" y="2103438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curr_block_token_ids: Tuple[int, ...],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7688" y="2262188"/>
            <a:ext cx="1115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-&gt; int: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4688" y="2420938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"""计算 Block 的哈希值,形成哈希链"""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4688" y="2579688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hash((parent_block_hash, curr_block_token_ids))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1469" y="3099594"/>
            <a:ext cx="3762375" cy="1262063"/>
          </a:xfrm>
          <a:custGeom>
            <a:avLst/>
            <a:gdLst/>
            <a:ahLst/>
            <a:cxnLst/>
            <a:rect l="l" t="t" r="r" b="b"/>
            <a:pathLst>
              <a:path w="3762375" h="1262063">
                <a:moveTo>
                  <a:pt x="63494" y="0"/>
                </a:moveTo>
                <a:lnTo>
                  <a:pt x="3698881" y="0"/>
                </a:lnTo>
                <a:cubicBezTo>
                  <a:pt x="3733948" y="0"/>
                  <a:pt x="3762375" y="28427"/>
                  <a:pt x="3762375" y="63494"/>
                </a:cubicBezTo>
                <a:lnTo>
                  <a:pt x="3762375" y="1198568"/>
                </a:lnTo>
                <a:cubicBezTo>
                  <a:pt x="3762375" y="1233635"/>
                  <a:pt x="3733948" y="1262063"/>
                  <a:pt x="3698881" y="1262062"/>
                </a:cubicBezTo>
                <a:lnTo>
                  <a:pt x="63494" y="1262063"/>
                </a:lnTo>
                <a:cubicBezTo>
                  <a:pt x="28427" y="1262062"/>
                  <a:pt x="0" y="1233635"/>
                  <a:pt x="0" y="1198568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52438" y="32305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55625" y="332581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95250" y="23812"/>
                </a:moveTo>
                <a:lnTo>
                  <a:pt x="95250" y="39688"/>
                </a:lnTo>
                <a:lnTo>
                  <a:pt x="79375" y="39688"/>
                </a:lnTo>
                <a:lnTo>
                  <a:pt x="79375" y="23812"/>
                </a:lnTo>
                <a:lnTo>
                  <a:pt x="95250" y="23812"/>
                </a:lnTo>
                <a:close/>
                <a:moveTo>
                  <a:pt x="95250" y="55563"/>
                </a:moveTo>
                <a:lnTo>
                  <a:pt x="95250" y="71438"/>
                </a:lnTo>
                <a:lnTo>
                  <a:pt x="79375" y="71438"/>
                </a:lnTo>
                <a:lnTo>
                  <a:pt x="79375" y="55563"/>
                </a:lnTo>
                <a:lnTo>
                  <a:pt x="95250" y="55563"/>
                </a:lnTo>
                <a:close/>
                <a:moveTo>
                  <a:pt x="95250" y="87313"/>
                </a:moveTo>
                <a:lnTo>
                  <a:pt x="95250" y="103188"/>
                </a:lnTo>
                <a:lnTo>
                  <a:pt x="79375" y="103188"/>
                </a:lnTo>
                <a:lnTo>
                  <a:pt x="79375" y="87313"/>
                </a:lnTo>
                <a:lnTo>
                  <a:pt x="95250" y="87313"/>
                </a:lnTo>
                <a:close/>
                <a:moveTo>
                  <a:pt x="63500" y="71438"/>
                </a:moveTo>
                <a:lnTo>
                  <a:pt x="47625" y="71438"/>
                </a:lnTo>
                <a:lnTo>
                  <a:pt x="47625" y="55563"/>
                </a:lnTo>
                <a:lnTo>
                  <a:pt x="63500" y="55563"/>
                </a:lnTo>
                <a:lnTo>
                  <a:pt x="63500" y="71438"/>
                </a:lnTo>
                <a:close/>
                <a:moveTo>
                  <a:pt x="47625" y="87313"/>
                </a:moveTo>
                <a:lnTo>
                  <a:pt x="63500" y="87313"/>
                </a:lnTo>
                <a:lnTo>
                  <a:pt x="63500" y="103188"/>
                </a:lnTo>
                <a:lnTo>
                  <a:pt x="47625" y="103188"/>
                </a:lnTo>
                <a:lnTo>
                  <a:pt x="47625" y="87313"/>
                </a:lnTo>
                <a:close/>
                <a:moveTo>
                  <a:pt x="31750" y="71438"/>
                </a:moveTo>
                <a:lnTo>
                  <a:pt x="15875" y="71438"/>
                </a:lnTo>
                <a:lnTo>
                  <a:pt x="15875" y="55563"/>
                </a:lnTo>
                <a:lnTo>
                  <a:pt x="31750" y="55563"/>
                </a:lnTo>
                <a:lnTo>
                  <a:pt x="31750" y="71438"/>
                </a:lnTo>
                <a:close/>
                <a:moveTo>
                  <a:pt x="15875" y="87313"/>
                </a:moveTo>
                <a:lnTo>
                  <a:pt x="31750" y="87313"/>
                </a:lnTo>
                <a:lnTo>
                  <a:pt x="31750" y="103188"/>
                </a:lnTo>
                <a:lnTo>
                  <a:pt x="15875" y="103188"/>
                </a:lnTo>
                <a:lnTo>
                  <a:pt x="15875" y="87313"/>
                </a:lnTo>
                <a:close/>
                <a:moveTo>
                  <a:pt x="15875" y="39688"/>
                </a:moveTo>
                <a:lnTo>
                  <a:pt x="15875" y="23812"/>
                </a:lnTo>
                <a:lnTo>
                  <a:pt x="31750" y="23812"/>
                </a:lnTo>
                <a:lnTo>
                  <a:pt x="31750" y="39688"/>
                </a:lnTo>
                <a:lnTo>
                  <a:pt x="15875" y="39688"/>
                </a:lnTo>
                <a:close/>
                <a:moveTo>
                  <a:pt x="47625" y="39688"/>
                </a:moveTo>
                <a:lnTo>
                  <a:pt x="47625" y="23812"/>
                </a:lnTo>
                <a:lnTo>
                  <a:pt x="63500" y="23812"/>
                </a:lnTo>
                <a:lnTo>
                  <a:pt x="63500" y="39688"/>
                </a:lnTo>
                <a:lnTo>
                  <a:pt x="47625" y="39688"/>
                </a:lnTo>
                <a:close/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23812"/>
                </a:lnTo>
                <a:cubicBezTo>
                  <a:pt x="111125" y="15056"/>
                  <a:pt x="104006" y="7938"/>
                  <a:pt x="95250" y="7938"/>
                </a:cubicBezTo>
                <a:lnTo>
                  <a:pt x="15875" y="7938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65188" y="3278188"/>
            <a:ext cx="785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粒度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438" y="3643313"/>
            <a:ext cx="35639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 Block(通常 16-32 个 token)为缓存单位,而非单个 token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2438" y="3913188"/>
            <a:ext cx="3500438" cy="317500"/>
          </a:xfrm>
          <a:custGeom>
            <a:avLst/>
            <a:gdLst/>
            <a:ahLst/>
            <a:cxnLst/>
            <a:rect l="l" t="t" r="r" b="b"/>
            <a:pathLst>
              <a:path w="3500438" h="317500">
                <a:moveTo>
                  <a:pt x="31750" y="0"/>
                </a:moveTo>
                <a:lnTo>
                  <a:pt x="3468688" y="0"/>
                </a:lnTo>
                <a:cubicBezTo>
                  <a:pt x="3486211" y="0"/>
                  <a:pt x="3500438" y="14227"/>
                  <a:pt x="3500438" y="31750"/>
                </a:cubicBezTo>
                <a:lnTo>
                  <a:pt x="3500438" y="285750"/>
                </a:lnTo>
                <a:cubicBezTo>
                  <a:pt x="3500438" y="303273"/>
                  <a:pt x="3486211" y="317500"/>
                  <a:pt x="3468688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767210" y="3980656"/>
            <a:ext cx="86822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16-32 tokens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16115" y="3099594"/>
            <a:ext cx="3762375" cy="1262063"/>
          </a:xfrm>
          <a:custGeom>
            <a:avLst/>
            <a:gdLst/>
            <a:ahLst/>
            <a:cxnLst/>
            <a:rect l="l" t="t" r="r" b="b"/>
            <a:pathLst>
              <a:path w="3762375" h="1262063">
                <a:moveTo>
                  <a:pt x="63494" y="0"/>
                </a:moveTo>
                <a:lnTo>
                  <a:pt x="3698881" y="0"/>
                </a:lnTo>
                <a:cubicBezTo>
                  <a:pt x="3733948" y="0"/>
                  <a:pt x="3762375" y="28427"/>
                  <a:pt x="3762375" y="63494"/>
                </a:cubicBezTo>
                <a:lnTo>
                  <a:pt x="3762375" y="1198568"/>
                </a:lnTo>
                <a:cubicBezTo>
                  <a:pt x="3762375" y="1233635"/>
                  <a:pt x="3733948" y="1262063"/>
                  <a:pt x="3698881" y="1262062"/>
                </a:cubicBezTo>
                <a:lnTo>
                  <a:pt x="63494" y="1262063"/>
                </a:lnTo>
                <a:cubicBezTo>
                  <a:pt x="28427" y="1262062"/>
                  <a:pt x="0" y="1233635"/>
                  <a:pt x="0" y="1198568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347083" y="32305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434396" y="3325813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759833" y="3278188"/>
            <a:ext cx="50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哈希链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47083" y="3643313"/>
            <a:ext cx="35639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 Block 的哈希值依赖于父 Block,确保前缀一致性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47083" y="3913188"/>
            <a:ext cx="3500438" cy="317500"/>
          </a:xfrm>
          <a:custGeom>
            <a:avLst/>
            <a:gdLst/>
            <a:ahLst/>
            <a:cxnLst/>
            <a:rect l="l" t="t" r="r" b="b"/>
            <a:pathLst>
              <a:path w="3500438" h="317500">
                <a:moveTo>
                  <a:pt x="31750" y="0"/>
                </a:moveTo>
                <a:lnTo>
                  <a:pt x="3468688" y="0"/>
                </a:lnTo>
                <a:cubicBezTo>
                  <a:pt x="3486211" y="0"/>
                  <a:pt x="3500438" y="14227"/>
                  <a:pt x="3500438" y="31750"/>
                </a:cubicBezTo>
                <a:lnTo>
                  <a:pt x="3500438" y="285750"/>
                </a:lnTo>
                <a:cubicBezTo>
                  <a:pt x="3500438" y="303273"/>
                  <a:pt x="3486211" y="317500"/>
                  <a:pt x="3468688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407360" y="3980656"/>
            <a:ext cx="137715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Hᵢ = Hash(Hᵢ₋₁, Blockᵢ)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10761" y="3099594"/>
            <a:ext cx="3762375" cy="1262063"/>
          </a:xfrm>
          <a:custGeom>
            <a:avLst/>
            <a:gdLst/>
            <a:ahLst/>
            <a:cxnLst/>
            <a:rect l="l" t="t" r="r" b="b"/>
            <a:pathLst>
              <a:path w="3762375" h="1262063">
                <a:moveTo>
                  <a:pt x="63494" y="0"/>
                </a:moveTo>
                <a:lnTo>
                  <a:pt x="3698881" y="0"/>
                </a:lnTo>
                <a:cubicBezTo>
                  <a:pt x="3733948" y="0"/>
                  <a:pt x="3762375" y="28427"/>
                  <a:pt x="3762375" y="63494"/>
                </a:cubicBezTo>
                <a:lnTo>
                  <a:pt x="3762375" y="1198568"/>
                </a:lnTo>
                <a:cubicBezTo>
                  <a:pt x="3762375" y="1233635"/>
                  <a:pt x="3733948" y="1262063"/>
                  <a:pt x="3698881" y="1262062"/>
                </a:cubicBezTo>
                <a:lnTo>
                  <a:pt x="63494" y="1262063"/>
                </a:lnTo>
                <a:cubicBezTo>
                  <a:pt x="28427" y="1262062"/>
                  <a:pt x="0" y="1233635"/>
                  <a:pt x="0" y="1198568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241729" y="32305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352854" y="3325813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23812" y="15875"/>
                </a:moveTo>
                <a:lnTo>
                  <a:pt x="71438" y="15875"/>
                </a:lnTo>
                <a:cubicBezTo>
                  <a:pt x="75828" y="15875"/>
                  <a:pt x="79375" y="19422"/>
                  <a:pt x="79375" y="23812"/>
                </a:cubicBezTo>
                <a:lnTo>
                  <a:pt x="79375" y="31750"/>
                </a:lnTo>
                <a:cubicBezTo>
                  <a:pt x="79375" y="36140"/>
                  <a:pt x="75828" y="39688"/>
                  <a:pt x="71438" y="39688"/>
                </a:cubicBezTo>
                <a:lnTo>
                  <a:pt x="23812" y="39688"/>
                </a:lnTo>
                <a:cubicBezTo>
                  <a:pt x="19422" y="39688"/>
                  <a:pt x="15875" y="36140"/>
                  <a:pt x="15875" y="31750"/>
                </a:cubicBezTo>
                <a:lnTo>
                  <a:pt x="15875" y="23812"/>
                </a:lnTo>
                <a:cubicBezTo>
                  <a:pt x="15875" y="19422"/>
                  <a:pt x="19422" y="15875"/>
                  <a:pt x="23812" y="15875"/>
                </a:cubicBezTo>
                <a:close/>
                <a:moveTo>
                  <a:pt x="27781" y="57547"/>
                </a:moveTo>
                <a:cubicBezTo>
                  <a:pt x="27781" y="60832"/>
                  <a:pt x="25114" y="63500"/>
                  <a:pt x="21828" y="63500"/>
                </a:cubicBezTo>
                <a:cubicBezTo>
                  <a:pt x="18543" y="63500"/>
                  <a:pt x="15875" y="60832"/>
                  <a:pt x="15875" y="57547"/>
                </a:cubicBezTo>
                <a:cubicBezTo>
                  <a:pt x="15875" y="54261"/>
                  <a:pt x="18543" y="51594"/>
                  <a:pt x="21828" y="51594"/>
                </a:cubicBezTo>
                <a:cubicBezTo>
                  <a:pt x="25114" y="51594"/>
                  <a:pt x="27781" y="54261"/>
                  <a:pt x="27781" y="57547"/>
                </a:cubicBezTo>
                <a:close/>
                <a:moveTo>
                  <a:pt x="47625" y="63500"/>
                </a:moveTo>
                <a:cubicBezTo>
                  <a:pt x="44339" y="63500"/>
                  <a:pt x="41672" y="60832"/>
                  <a:pt x="41672" y="57547"/>
                </a:cubicBezTo>
                <a:cubicBezTo>
                  <a:pt x="41672" y="54261"/>
                  <a:pt x="44339" y="51594"/>
                  <a:pt x="47625" y="51594"/>
                </a:cubicBezTo>
                <a:cubicBezTo>
                  <a:pt x="50911" y="51594"/>
                  <a:pt x="53578" y="54261"/>
                  <a:pt x="53578" y="57547"/>
                </a:cubicBezTo>
                <a:cubicBezTo>
                  <a:pt x="53578" y="60832"/>
                  <a:pt x="50911" y="63500"/>
                  <a:pt x="47625" y="63500"/>
                </a:cubicBezTo>
                <a:close/>
                <a:moveTo>
                  <a:pt x="79375" y="57547"/>
                </a:moveTo>
                <a:cubicBezTo>
                  <a:pt x="79375" y="60832"/>
                  <a:pt x="76707" y="63500"/>
                  <a:pt x="73422" y="63500"/>
                </a:cubicBezTo>
                <a:cubicBezTo>
                  <a:pt x="70136" y="63500"/>
                  <a:pt x="67469" y="60832"/>
                  <a:pt x="67469" y="57547"/>
                </a:cubicBezTo>
                <a:cubicBezTo>
                  <a:pt x="67469" y="54261"/>
                  <a:pt x="70136" y="51594"/>
                  <a:pt x="73422" y="51594"/>
                </a:cubicBezTo>
                <a:cubicBezTo>
                  <a:pt x="76707" y="51594"/>
                  <a:pt x="79375" y="54261"/>
                  <a:pt x="79375" y="57547"/>
                </a:cubicBezTo>
                <a:close/>
                <a:moveTo>
                  <a:pt x="21828" y="87313"/>
                </a:moveTo>
                <a:cubicBezTo>
                  <a:pt x="18543" y="87313"/>
                  <a:pt x="15875" y="84645"/>
                  <a:pt x="15875" y="81359"/>
                </a:cubicBezTo>
                <a:cubicBezTo>
                  <a:pt x="15875" y="78074"/>
                  <a:pt x="18543" y="75406"/>
                  <a:pt x="21828" y="75406"/>
                </a:cubicBezTo>
                <a:cubicBezTo>
                  <a:pt x="25114" y="75406"/>
                  <a:pt x="27781" y="78074"/>
                  <a:pt x="27781" y="81359"/>
                </a:cubicBezTo>
                <a:cubicBezTo>
                  <a:pt x="27781" y="84645"/>
                  <a:pt x="25114" y="87313"/>
                  <a:pt x="21828" y="87313"/>
                </a:cubicBezTo>
                <a:close/>
                <a:moveTo>
                  <a:pt x="53578" y="81359"/>
                </a:moveTo>
                <a:cubicBezTo>
                  <a:pt x="53578" y="84645"/>
                  <a:pt x="50911" y="87313"/>
                  <a:pt x="47625" y="87313"/>
                </a:cubicBezTo>
                <a:cubicBezTo>
                  <a:pt x="44339" y="87313"/>
                  <a:pt x="41672" y="84645"/>
                  <a:pt x="41672" y="81359"/>
                </a:cubicBezTo>
                <a:cubicBezTo>
                  <a:pt x="41672" y="78074"/>
                  <a:pt x="44339" y="75406"/>
                  <a:pt x="47625" y="75406"/>
                </a:cubicBezTo>
                <a:cubicBezTo>
                  <a:pt x="50911" y="75406"/>
                  <a:pt x="53578" y="78074"/>
                  <a:pt x="53578" y="81359"/>
                </a:cubicBezTo>
                <a:close/>
                <a:moveTo>
                  <a:pt x="73422" y="87313"/>
                </a:moveTo>
                <a:cubicBezTo>
                  <a:pt x="70136" y="87313"/>
                  <a:pt x="67469" y="84645"/>
                  <a:pt x="67469" y="81359"/>
                </a:cubicBezTo>
                <a:cubicBezTo>
                  <a:pt x="67469" y="78074"/>
                  <a:pt x="70136" y="75406"/>
                  <a:pt x="73422" y="75406"/>
                </a:cubicBezTo>
                <a:cubicBezTo>
                  <a:pt x="76707" y="75406"/>
                  <a:pt x="79375" y="78074"/>
                  <a:pt x="79375" y="81359"/>
                </a:cubicBezTo>
                <a:cubicBezTo>
                  <a:pt x="79375" y="84645"/>
                  <a:pt x="76707" y="87313"/>
                  <a:pt x="73422" y="87313"/>
                </a:cubicBezTo>
                <a:close/>
                <a:moveTo>
                  <a:pt x="15875" y="105172"/>
                </a:moveTo>
                <a:cubicBezTo>
                  <a:pt x="15875" y="101873"/>
                  <a:pt x="18529" y="99219"/>
                  <a:pt x="21828" y="99219"/>
                </a:cubicBezTo>
                <a:lnTo>
                  <a:pt x="49609" y="99219"/>
                </a:lnTo>
                <a:cubicBezTo>
                  <a:pt x="52908" y="99219"/>
                  <a:pt x="55563" y="101873"/>
                  <a:pt x="55563" y="105172"/>
                </a:cubicBezTo>
                <a:cubicBezTo>
                  <a:pt x="55563" y="108471"/>
                  <a:pt x="52908" y="111125"/>
                  <a:pt x="49609" y="111125"/>
                </a:cubicBezTo>
                <a:lnTo>
                  <a:pt x="21828" y="111125"/>
                </a:lnTo>
                <a:cubicBezTo>
                  <a:pt x="18529" y="111125"/>
                  <a:pt x="15875" y="108471"/>
                  <a:pt x="15875" y="105172"/>
                </a:cubicBezTo>
                <a:close/>
                <a:moveTo>
                  <a:pt x="73422" y="99219"/>
                </a:moveTo>
                <a:cubicBezTo>
                  <a:pt x="76721" y="99219"/>
                  <a:pt x="79375" y="101873"/>
                  <a:pt x="79375" y="105172"/>
                </a:cubicBezTo>
                <a:cubicBezTo>
                  <a:pt x="79375" y="108471"/>
                  <a:pt x="76721" y="111125"/>
                  <a:pt x="73422" y="111125"/>
                </a:cubicBezTo>
                <a:cubicBezTo>
                  <a:pt x="70123" y="111125"/>
                  <a:pt x="67469" y="108471"/>
                  <a:pt x="67469" y="105172"/>
                </a:cubicBezTo>
                <a:cubicBezTo>
                  <a:pt x="67469" y="101873"/>
                  <a:pt x="70123" y="99219"/>
                  <a:pt x="73422" y="99219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654479" y="3278188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引用计数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41729" y="3643313"/>
            <a:ext cx="35639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使用引用计数管理 Block 生命周期,支持多请求共享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41729" y="3913188"/>
            <a:ext cx="3500438" cy="317500"/>
          </a:xfrm>
          <a:custGeom>
            <a:avLst/>
            <a:gdLst/>
            <a:ahLst/>
            <a:cxnLst/>
            <a:rect l="l" t="t" r="r" b="b"/>
            <a:pathLst>
              <a:path w="3500438" h="317500">
                <a:moveTo>
                  <a:pt x="31750" y="0"/>
                </a:moveTo>
                <a:lnTo>
                  <a:pt x="3468688" y="0"/>
                </a:lnTo>
                <a:cubicBezTo>
                  <a:pt x="3486211" y="0"/>
                  <a:pt x="3500438" y="14227"/>
                  <a:pt x="3500438" y="31750"/>
                </a:cubicBezTo>
                <a:lnTo>
                  <a:pt x="3500438" y="285750"/>
                </a:lnTo>
                <a:cubicBezTo>
                  <a:pt x="3500438" y="303273"/>
                  <a:pt x="3486211" y="317500"/>
                  <a:pt x="3468688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553959" y="3980656"/>
            <a:ext cx="87331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ref_count &gt; 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1469" y="4496594"/>
            <a:ext cx="11549063" cy="2166938"/>
          </a:xfrm>
          <a:custGeom>
            <a:avLst/>
            <a:gdLst/>
            <a:ahLst/>
            <a:cxnLst/>
            <a:rect l="l" t="t" r="r" b="b"/>
            <a:pathLst>
              <a:path w="11549063" h="2166938">
                <a:moveTo>
                  <a:pt x="63491" y="0"/>
                </a:moveTo>
                <a:lnTo>
                  <a:pt x="11485571" y="0"/>
                </a:lnTo>
                <a:cubicBezTo>
                  <a:pt x="11520636" y="0"/>
                  <a:pt x="11549062" y="28426"/>
                  <a:pt x="11549062" y="63491"/>
                </a:cubicBezTo>
                <a:lnTo>
                  <a:pt x="11549063" y="2103446"/>
                </a:lnTo>
                <a:cubicBezTo>
                  <a:pt x="11549062" y="2138511"/>
                  <a:pt x="11520636" y="2166938"/>
                  <a:pt x="11485571" y="2166938"/>
                </a:cubicBezTo>
                <a:lnTo>
                  <a:pt x="63491" y="2166938"/>
                </a:lnTo>
                <a:cubicBezTo>
                  <a:pt x="28426" y="2166938"/>
                  <a:pt x="0" y="2138511"/>
                  <a:pt x="0" y="2103446"/>
                </a:cubicBezTo>
                <a:lnTo>
                  <a:pt x="0" y="63491"/>
                </a:lnTo>
                <a:cubicBezTo>
                  <a:pt x="0" y="28449"/>
                  <a:pt x="28449" y="0"/>
                  <a:pt x="63491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82203" y="465931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46125" y="4627563"/>
            <a:ext cx="103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核心数据结构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2438" y="4945063"/>
            <a:ext cx="11287125" cy="1587500"/>
          </a:xfrm>
          <a:custGeom>
            <a:avLst/>
            <a:gdLst/>
            <a:ahLst/>
            <a:cxnLst/>
            <a:rect l="l" t="t" r="r" b="b"/>
            <a:pathLst>
              <a:path w="11287125" h="1587500">
                <a:moveTo>
                  <a:pt x="63500" y="0"/>
                </a:moveTo>
                <a:lnTo>
                  <a:pt x="11223625" y="0"/>
                </a:lnTo>
                <a:cubicBezTo>
                  <a:pt x="11258672" y="0"/>
                  <a:pt x="11287125" y="28453"/>
                  <a:pt x="11287125" y="63500"/>
                </a:cubicBezTo>
                <a:lnTo>
                  <a:pt x="11287125" y="1524000"/>
                </a:lnTo>
                <a:cubicBezTo>
                  <a:pt x="11287125" y="1559047"/>
                  <a:pt x="11258672" y="1587500"/>
                  <a:pt x="11223625" y="1587500"/>
                </a:cubicBezTo>
                <a:lnTo>
                  <a:pt x="63500" y="1587500"/>
                </a:lnTo>
                <a:cubicBezTo>
                  <a:pt x="28453" y="1587500"/>
                  <a:pt x="0" y="1559047"/>
                  <a:pt x="0" y="152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47688" y="5040313"/>
            <a:ext cx="1115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BlockHashToBlockMap: 哈希值到物理块索引的映射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7688" y="5230813"/>
            <a:ext cx="1115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block_hash_map: Dict[int, List[int]] = {}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7688" y="5453063"/>
            <a:ext cx="1115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每个 Block 维护的元数据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7688" y="5643563"/>
            <a:ext cx="1115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block_metadata = {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4688" y="5802313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block_hash: int,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4688" y="5961063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ref_count: int,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4688" y="6119813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last_access_time: float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7688" y="6278563"/>
            <a:ext cx="1115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11520881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kern="0" spc="59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CACHE LOOKUP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844" y="671119"/>
            <a:ext cx="11614092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2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缓存查找与分配流程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505" y="1197761"/>
            <a:ext cx="5639266" cy="3141211"/>
          </a:xfrm>
          <a:custGeom>
            <a:avLst/>
            <a:gdLst/>
            <a:ahLst/>
            <a:cxnLst/>
            <a:rect l="l" t="t" r="r" b="b"/>
            <a:pathLst>
              <a:path w="5639266" h="3141211">
                <a:moveTo>
                  <a:pt x="74572" y="0"/>
                </a:moveTo>
                <a:lnTo>
                  <a:pt x="5564694" y="0"/>
                </a:lnTo>
                <a:cubicBezTo>
                  <a:pt x="5605879" y="0"/>
                  <a:pt x="5639266" y="33387"/>
                  <a:pt x="5639266" y="74572"/>
                </a:cubicBezTo>
                <a:lnTo>
                  <a:pt x="5639266" y="3066639"/>
                </a:lnTo>
                <a:cubicBezTo>
                  <a:pt x="5639266" y="3107824"/>
                  <a:pt x="5605879" y="3141211"/>
                  <a:pt x="5564694" y="3141211"/>
                </a:cubicBezTo>
                <a:lnTo>
                  <a:pt x="74572" y="3141211"/>
                </a:lnTo>
                <a:cubicBezTo>
                  <a:pt x="33387" y="3141211"/>
                  <a:pt x="0" y="3107824"/>
                  <a:pt x="0" y="3066639"/>
                </a:cubicBezTo>
                <a:lnTo>
                  <a:pt x="0" y="74572"/>
                </a:lnTo>
                <a:cubicBezTo>
                  <a:pt x="0" y="33415"/>
                  <a:pt x="33415" y="0"/>
                  <a:pt x="74572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54606" y="1388844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0" y="26216"/>
                </a:moveTo>
                <a:cubicBezTo>
                  <a:pt x="0" y="21409"/>
                  <a:pt x="3896" y="17477"/>
                  <a:pt x="8739" y="17477"/>
                </a:cubicBezTo>
                <a:lnTo>
                  <a:pt x="26216" y="17477"/>
                </a:lnTo>
                <a:cubicBezTo>
                  <a:pt x="31058" y="17477"/>
                  <a:pt x="34954" y="21373"/>
                  <a:pt x="34954" y="26216"/>
                </a:cubicBezTo>
                <a:lnTo>
                  <a:pt x="34954" y="64083"/>
                </a:lnTo>
                <a:lnTo>
                  <a:pt x="43693" y="64083"/>
                </a:lnTo>
                <a:cubicBezTo>
                  <a:pt x="48535" y="64083"/>
                  <a:pt x="52431" y="67978"/>
                  <a:pt x="52431" y="72821"/>
                </a:cubicBezTo>
                <a:cubicBezTo>
                  <a:pt x="52431" y="77664"/>
                  <a:pt x="48535" y="81560"/>
                  <a:pt x="43693" y="81560"/>
                </a:cubicBezTo>
                <a:lnTo>
                  <a:pt x="8739" y="81560"/>
                </a:lnTo>
                <a:cubicBezTo>
                  <a:pt x="3896" y="81560"/>
                  <a:pt x="0" y="77664"/>
                  <a:pt x="0" y="72821"/>
                </a:cubicBezTo>
                <a:cubicBezTo>
                  <a:pt x="0" y="67978"/>
                  <a:pt x="3896" y="64083"/>
                  <a:pt x="8739" y="64083"/>
                </a:cubicBezTo>
                <a:lnTo>
                  <a:pt x="17477" y="64083"/>
                </a:lnTo>
                <a:lnTo>
                  <a:pt x="17477" y="34954"/>
                </a:lnTo>
                <a:lnTo>
                  <a:pt x="8739" y="34954"/>
                </a:lnTo>
                <a:cubicBezTo>
                  <a:pt x="3896" y="34954"/>
                  <a:pt x="0" y="31058"/>
                  <a:pt x="0" y="26216"/>
                </a:cubicBezTo>
                <a:close/>
                <a:moveTo>
                  <a:pt x="11069" y="109669"/>
                </a:moveTo>
                <a:cubicBezTo>
                  <a:pt x="15220" y="106537"/>
                  <a:pt x="20281" y="104862"/>
                  <a:pt x="25487" y="104862"/>
                </a:cubicBezTo>
                <a:lnTo>
                  <a:pt x="27272" y="104862"/>
                </a:lnTo>
                <a:cubicBezTo>
                  <a:pt x="39542" y="104862"/>
                  <a:pt x="49518" y="114839"/>
                  <a:pt x="49518" y="127109"/>
                </a:cubicBezTo>
                <a:cubicBezTo>
                  <a:pt x="49518" y="134246"/>
                  <a:pt x="46096" y="140909"/>
                  <a:pt x="40343" y="145096"/>
                </a:cubicBezTo>
                <a:lnTo>
                  <a:pt x="31604" y="151468"/>
                </a:lnTo>
                <a:lnTo>
                  <a:pt x="43693" y="151468"/>
                </a:lnTo>
                <a:cubicBezTo>
                  <a:pt x="48535" y="151468"/>
                  <a:pt x="52431" y="155364"/>
                  <a:pt x="52431" y="160206"/>
                </a:cubicBezTo>
                <a:cubicBezTo>
                  <a:pt x="52431" y="165049"/>
                  <a:pt x="48535" y="168945"/>
                  <a:pt x="43693" y="168945"/>
                </a:cubicBezTo>
                <a:lnTo>
                  <a:pt x="10668" y="168945"/>
                </a:lnTo>
                <a:cubicBezTo>
                  <a:pt x="4770" y="168945"/>
                  <a:pt x="0" y="164175"/>
                  <a:pt x="0" y="158277"/>
                </a:cubicBezTo>
                <a:cubicBezTo>
                  <a:pt x="0" y="154854"/>
                  <a:pt x="1638" y="151650"/>
                  <a:pt x="4406" y="149647"/>
                </a:cubicBezTo>
                <a:lnTo>
                  <a:pt x="30075" y="130969"/>
                </a:lnTo>
                <a:cubicBezTo>
                  <a:pt x="31313" y="130058"/>
                  <a:pt x="32041" y="128638"/>
                  <a:pt x="32041" y="127109"/>
                </a:cubicBezTo>
                <a:cubicBezTo>
                  <a:pt x="32041" y="124488"/>
                  <a:pt x="29893" y="122339"/>
                  <a:pt x="27272" y="122339"/>
                </a:cubicBezTo>
                <a:lnTo>
                  <a:pt x="25487" y="122339"/>
                </a:lnTo>
                <a:cubicBezTo>
                  <a:pt x="24067" y="122339"/>
                  <a:pt x="22684" y="122813"/>
                  <a:pt x="21555" y="123650"/>
                </a:cubicBezTo>
                <a:lnTo>
                  <a:pt x="13982" y="129330"/>
                </a:lnTo>
                <a:cubicBezTo>
                  <a:pt x="10122" y="132243"/>
                  <a:pt x="4661" y="131442"/>
                  <a:pt x="1748" y="127583"/>
                </a:cubicBezTo>
                <a:cubicBezTo>
                  <a:pt x="-1165" y="123723"/>
                  <a:pt x="-364" y="118261"/>
                  <a:pt x="3495" y="115349"/>
                </a:cubicBezTo>
                <a:lnTo>
                  <a:pt x="11069" y="109669"/>
                </a:lnTo>
                <a:close/>
                <a:moveTo>
                  <a:pt x="81560" y="23303"/>
                </a:moveTo>
                <a:lnTo>
                  <a:pt x="174771" y="23303"/>
                </a:lnTo>
                <a:cubicBezTo>
                  <a:pt x="181215" y="23303"/>
                  <a:pt x="186422" y="28509"/>
                  <a:pt x="186422" y="34954"/>
                </a:cubicBezTo>
                <a:cubicBezTo>
                  <a:pt x="186422" y="41399"/>
                  <a:pt x="181215" y="46606"/>
                  <a:pt x="174771" y="46606"/>
                </a:cubicBezTo>
                <a:lnTo>
                  <a:pt x="81560" y="46606"/>
                </a:lnTo>
                <a:cubicBezTo>
                  <a:pt x="75115" y="46606"/>
                  <a:pt x="69908" y="41399"/>
                  <a:pt x="69908" y="34954"/>
                </a:cubicBezTo>
                <a:cubicBezTo>
                  <a:pt x="69908" y="28509"/>
                  <a:pt x="75115" y="23303"/>
                  <a:pt x="81560" y="23303"/>
                </a:cubicBezTo>
                <a:close/>
                <a:moveTo>
                  <a:pt x="81560" y="81560"/>
                </a:moveTo>
                <a:lnTo>
                  <a:pt x="174771" y="81560"/>
                </a:lnTo>
                <a:cubicBezTo>
                  <a:pt x="181215" y="81560"/>
                  <a:pt x="186422" y="86766"/>
                  <a:pt x="186422" y="93211"/>
                </a:cubicBezTo>
                <a:cubicBezTo>
                  <a:pt x="186422" y="99656"/>
                  <a:pt x="181215" y="104862"/>
                  <a:pt x="174771" y="104862"/>
                </a:cubicBezTo>
                <a:lnTo>
                  <a:pt x="81560" y="104862"/>
                </a:lnTo>
                <a:cubicBezTo>
                  <a:pt x="75115" y="104862"/>
                  <a:pt x="69908" y="99656"/>
                  <a:pt x="69908" y="93211"/>
                </a:cubicBezTo>
                <a:cubicBezTo>
                  <a:pt x="69908" y="86766"/>
                  <a:pt x="75115" y="81560"/>
                  <a:pt x="81560" y="81560"/>
                </a:cubicBezTo>
                <a:close/>
                <a:moveTo>
                  <a:pt x="81560" y="139817"/>
                </a:moveTo>
                <a:lnTo>
                  <a:pt x="174771" y="139817"/>
                </a:lnTo>
                <a:cubicBezTo>
                  <a:pt x="181215" y="139817"/>
                  <a:pt x="186422" y="145023"/>
                  <a:pt x="186422" y="151468"/>
                </a:cubicBezTo>
                <a:cubicBezTo>
                  <a:pt x="186422" y="157913"/>
                  <a:pt x="181215" y="163119"/>
                  <a:pt x="174771" y="163119"/>
                </a:cubicBezTo>
                <a:lnTo>
                  <a:pt x="81560" y="163119"/>
                </a:lnTo>
                <a:cubicBezTo>
                  <a:pt x="75115" y="163119"/>
                  <a:pt x="69908" y="157913"/>
                  <a:pt x="69908" y="151468"/>
                </a:cubicBezTo>
                <a:cubicBezTo>
                  <a:pt x="69908" y="145023"/>
                  <a:pt x="75115" y="139817"/>
                  <a:pt x="81560" y="139817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76183" y="1351560"/>
            <a:ext cx="838899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处理流程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1303" y="1724404"/>
            <a:ext cx="5331670" cy="559266"/>
          </a:xfrm>
          <a:custGeom>
            <a:avLst/>
            <a:gdLst/>
            <a:ahLst/>
            <a:cxnLst/>
            <a:rect l="l" t="t" r="r" b="b"/>
            <a:pathLst>
              <a:path w="5331670" h="559266">
                <a:moveTo>
                  <a:pt x="74567" y="0"/>
                </a:moveTo>
                <a:lnTo>
                  <a:pt x="5257103" y="0"/>
                </a:lnTo>
                <a:cubicBezTo>
                  <a:pt x="5298285" y="0"/>
                  <a:pt x="5331670" y="33385"/>
                  <a:pt x="5331670" y="74567"/>
                </a:cubicBezTo>
                <a:lnTo>
                  <a:pt x="5331670" y="484699"/>
                </a:lnTo>
                <a:cubicBezTo>
                  <a:pt x="5331670" y="525881"/>
                  <a:pt x="5298285" y="559266"/>
                  <a:pt x="5257103" y="559266"/>
                </a:cubicBezTo>
                <a:lnTo>
                  <a:pt x="74567" y="559266"/>
                </a:lnTo>
                <a:cubicBezTo>
                  <a:pt x="33412" y="559266"/>
                  <a:pt x="0" y="525854"/>
                  <a:pt x="0" y="484699"/>
                </a:cubicBezTo>
                <a:lnTo>
                  <a:pt x="0" y="74567"/>
                </a:lnTo>
                <a:cubicBezTo>
                  <a:pt x="0" y="33412"/>
                  <a:pt x="33412" y="0"/>
                  <a:pt x="745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05872" y="1798972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149138" y="0"/>
                </a:moveTo>
                <a:lnTo>
                  <a:pt x="149138" y="0"/>
                </a:lnTo>
                <a:cubicBezTo>
                  <a:pt x="231504" y="0"/>
                  <a:pt x="298275" y="66771"/>
                  <a:pt x="298275" y="149138"/>
                </a:cubicBezTo>
                <a:lnTo>
                  <a:pt x="298275" y="149138"/>
                </a:lnTo>
                <a:cubicBezTo>
                  <a:pt x="298275" y="231504"/>
                  <a:pt x="231504" y="298275"/>
                  <a:pt x="149138" y="298275"/>
                </a:cubicBezTo>
                <a:lnTo>
                  <a:pt x="149138" y="298275"/>
                </a:lnTo>
                <a:cubicBezTo>
                  <a:pt x="66771" y="298275"/>
                  <a:pt x="0" y="231504"/>
                  <a:pt x="0" y="149138"/>
                </a:cubicBezTo>
                <a:lnTo>
                  <a:pt x="0" y="149138"/>
                </a:lnTo>
                <a:cubicBezTo>
                  <a:pt x="0" y="66771"/>
                  <a:pt x="66771" y="0"/>
                  <a:pt x="149138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68587" y="1798972"/>
            <a:ext cx="372844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1798972"/>
            <a:ext cx="294546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切分 Block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2022679"/>
            <a:ext cx="293614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将请求的 Token 序列切分为 Block 大小的 Chunk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1303" y="2358239"/>
            <a:ext cx="5331670" cy="559266"/>
          </a:xfrm>
          <a:custGeom>
            <a:avLst/>
            <a:gdLst/>
            <a:ahLst/>
            <a:cxnLst/>
            <a:rect l="l" t="t" r="r" b="b"/>
            <a:pathLst>
              <a:path w="5331670" h="559266">
                <a:moveTo>
                  <a:pt x="74567" y="0"/>
                </a:moveTo>
                <a:lnTo>
                  <a:pt x="5257103" y="0"/>
                </a:lnTo>
                <a:cubicBezTo>
                  <a:pt x="5298285" y="0"/>
                  <a:pt x="5331670" y="33385"/>
                  <a:pt x="5331670" y="74567"/>
                </a:cubicBezTo>
                <a:lnTo>
                  <a:pt x="5331670" y="484699"/>
                </a:lnTo>
                <a:cubicBezTo>
                  <a:pt x="5331670" y="525881"/>
                  <a:pt x="5298285" y="559266"/>
                  <a:pt x="5257103" y="559266"/>
                </a:cubicBezTo>
                <a:lnTo>
                  <a:pt x="74567" y="559266"/>
                </a:lnTo>
                <a:cubicBezTo>
                  <a:pt x="33412" y="559266"/>
                  <a:pt x="0" y="525854"/>
                  <a:pt x="0" y="484699"/>
                </a:cubicBezTo>
                <a:lnTo>
                  <a:pt x="0" y="74567"/>
                </a:lnTo>
                <a:cubicBezTo>
                  <a:pt x="0" y="33412"/>
                  <a:pt x="33412" y="0"/>
                  <a:pt x="745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05872" y="2432807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149138" y="0"/>
                </a:moveTo>
                <a:lnTo>
                  <a:pt x="149138" y="0"/>
                </a:lnTo>
                <a:cubicBezTo>
                  <a:pt x="231504" y="0"/>
                  <a:pt x="298275" y="66771"/>
                  <a:pt x="298275" y="149138"/>
                </a:cubicBezTo>
                <a:lnTo>
                  <a:pt x="298275" y="149138"/>
                </a:lnTo>
                <a:cubicBezTo>
                  <a:pt x="298275" y="231504"/>
                  <a:pt x="231504" y="298275"/>
                  <a:pt x="149138" y="298275"/>
                </a:cubicBezTo>
                <a:lnTo>
                  <a:pt x="149138" y="298275"/>
                </a:lnTo>
                <a:cubicBezTo>
                  <a:pt x="66771" y="298275"/>
                  <a:pt x="0" y="231504"/>
                  <a:pt x="0" y="149138"/>
                </a:cubicBezTo>
                <a:lnTo>
                  <a:pt x="0" y="149138"/>
                </a:lnTo>
                <a:cubicBezTo>
                  <a:pt x="0" y="66771"/>
                  <a:pt x="66771" y="0"/>
                  <a:pt x="149138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68587" y="2432807"/>
            <a:ext cx="372844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2432807"/>
            <a:ext cx="2749725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逐块查找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2656514"/>
            <a:ext cx="274040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从第一个 Block 开始,逐个计算哈希并查找缓存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1303" y="2992073"/>
            <a:ext cx="5331670" cy="559266"/>
          </a:xfrm>
          <a:custGeom>
            <a:avLst/>
            <a:gdLst/>
            <a:ahLst/>
            <a:cxnLst/>
            <a:rect l="l" t="t" r="r" b="b"/>
            <a:pathLst>
              <a:path w="5331670" h="559266">
                <a:moveTo>
                  <a:pt x="74567" y="0"/>
                </a:moveTo>
                <a:lnTo>
                  <a:pt x="5257103" y="0"/>
                </a:lnTo>
                <a:cubicBezTo>
                  <a:pt x="5298285" y="0"/>
                  <a:pt x="5331670" y="33385"/>
                  <a:pt x="5331670" y="74567"/>
                </a:cubicBezTo>
                <a:lnTo>
                  <a:pt x="5331670" y="484699"/>
                </a:lnTo>
                <a:cubicBezTo>
                  <a:pt x="5331670" y="525881"/>
                  <a:pt x="5298285" y="559266"/>
                  <a:pt x="5257103" y="559266"/>
                </a:cubicBezTo>
                <a:lnTo>
                  <a:pt x="74567" y="559266"/>
                </a:lnTo>
                <a:cubicBezTo>
                  <a:pt x="33412" y="559266"/>
                  <a:pt x="0" y="525854"/>
                  <a:pt x="0" y="484699"/>
                </a:cubicBezTo>
                <a:lnTo>
                  <a:pt x="0" y="74567"/>
                </a:lnTo>
                <a:cubicBezTo>
                  <a:pt x="0" y="33412"/>
                  <a:pt x="33412" y="0"/>
                  <a:pt x="745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05872" y="3066642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149138" y="0"/>
                </a:moveTo>
                <a:lnTo>
                  <a:pt x="149138" y="0"/>
                </a:lnTo>
                <a:cubicBezTo>
                  <a:pt x="231504" y="0"/>
                  <a:pt x="298275" y="66771"/>
                  <a:pt x="298275" y="149138"/>
                </a:cubicBezTo>
                <a:lnTo>
                  <a:pt x="298275" y="149138"/>
                </a:lnTo>
                <a:cubicBezTo>
                  <a:pt x="298275" y="231504"/>
                  <a:pt x="231504" y="298275"/>
                  <a:pt x="149138" y="298275"/>
                </a:cubicBezTo>
                <a:lnTo>
                  <a:pt x="149138" y="298275"/>
                </a:lnTo>
                <a:cubicBezTo>
                  <a:pt x="66771" y="298275"/>
                  <a:pt x="0" y="231504"/>
                  <a:pt x="0" y="149138"/>
                </a:cubicBezTo>
                <a:lnTo>
                  <a:pt x="0" y="149138"/>
                </a:lnTo>
                <a:cubicBezTo>
                  <a:pt x="0" y="66771"/>
                  <a:pt x="66771" y="0"/>
                  <a:pt x="149138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68587" y="3066642"/>
            <a:ext cx="372844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3066642"/>
            <a:ext cx="2330275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标记起点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3290349"/>
            <a:ext cx="232095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标记第一个未命中的位置为 Prefill 起点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1303" y="3625908"/>
            <a:ext cx="5331670" cy="559266"/>
          </a:xfrm>
          <a:custGeom>
            <a:avLst/>
            <a:gdLst/>
            <a:ahLst/>
            <a:cxnLst/>
            <a:rect l="l" t="t" r="r" b="b"/>
            <a:pathLst>
              <a:path w="5331670" h="559266">
                <a:moveTo>
                  <a:pt x="74567" y="0"/>
                </a:moveTo>
                <a:lnTo>
                  <a:pt x="5257103" y="0"/>
                </a:lnTo>
                <a:cubicBezTo>
                  <a:pt x="5298285" y="0"/>
                  <a:pt x="5331670" y="33385"/>
                  <a:pt x="5331670" y="74567"/>
                </a:cubicBezTo>
                <a:lnTo>
                  <a:pt x="5331670" y="484699"/>
                </a:lnTo>
                <a:cubicBezTo>
                  <a:pt x="5331670" y="525881"/>
                  <a:pt x="5298285" y="559266"/>
                  <a:pt x="5257103" y="559266"/>
                </a:cubicBezTo>
                <a:lnTo>
                  <a:pt x="74567" y="559266"/>
                </a:lnTo>
                <a:cubicBezTo>
                  <a:pt x="33412" y="559266"/>
                  <a:pt x="0" y="525854"/>
                  <a:pt x="0" y="484699"/>
                </a:cubicBezTo>
                <a:lnTo>
                  <a:pt x="0" y="74567"/>
                </a:lnTo>
                <a:cubicBezTo>
                  <a:pt x="0" y="33412"/>
                  <a:pt x="33412" y="0"/>
                  <a:pt x="745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05872" y="3700477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149138" y="0"/>
                </a:moveTo>
                <a:lnTo>
                  <a:pt x="149138" y="0"/>
                </a:lnTo>
                <a:cubicBezTo>
                  <a:pt x="231504" y="0"/>
                  <a:pt x="298275" y="66771"/>
                  <a:pt x="298275" y="149138"/>
                </a:cubicBezTo>
                <a:lnTo>
                  <a:pt x="298275" y="149138"/>
                </a:lnTo>
                <a:cubicBezTo>
                  <a:pt x="298275" y="231504"/>
                  <a:pt x="231504" y="298275"/>
                  <a:pt x="149138" y="298275"/>
                </a:cubicBezTo>
                <a:lnTo>
                  <a:pt x="149138" y="298275"/>
                </a:lnTo>
                <a:cubicBezTo>
                  <a:pt x="66771" y="298275"/>
                  <a:pt x="0" y="231504"/>
                  <a:pt x="0" y="149138"/>
                </a:cubicBezTo>
                <a:lnTo>
                  <a:pt x="0" y="149138"/>
                </a:lnTo>
                <a:cubicBezTo>
                  <a:pt x="0" y="66771"/>
                  <a:pt x="66771" y="0"/>
                  <a:pt x="149138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68587" y="3700477"/>
            <a:ext cx="372844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3700477"/>
            <a:ext cx="1938789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部分计算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3924183"/>
            <a:ext cx="192946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仅对未命中部分执行 Prefill 计算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7268" y="1197761"/>
            <a:ext cx="5639266" cy="3141211"/>
          </a:xfrm>
          <a:custGeom>
            <a:avLst/>
            <a:gdLst/>
            <a:ahLst/>
            <a:cxnLst/>
            <a:rect l="l" t="t" r="r" b="b"/>
            <a:pathLst>
              <a:path w="5639266" h="3141211">
                <a:moveTo>
                  <a:pt x="74572" y="0"/>
                </a:moveTo>
                <a:lnTo>
                  <a:pt x="5564694" y="0"/>
                </a:lnTo>
                <a:cubicBezTo>
                  <a:pt x="5605879" y="0"/>
                  <a:pt x="5639266" y="33387"/>
                  <a:pt x="5639266" y="74572"/>
                </a:cubicBezTo>
                <a:lnTo>
                  <a:pt x="5639266" y="3066639"/>
                </a:lnTo>
                <a:cubicBezTo>
                  <a:pt x="5639266" y="3107824"/>
                  <a:pt x="5605879" y="3141211"/>
                  <a:pt x="5564694" y="3141211"/>
                </a:cubicBezTo>
                <a:lnTo>
                  <a:pt x="74572" y="3141211"/>
                </a:lnTo>
                <a:cubicBezTo>
                  <a:pt x="33387" y="3141211"/>
                  <a:pt x="0" y="3107824"/>
                  <a:pt x="0" y="3066639"/>
                </a:cubicBezTo>
                <a:lnTo>
                  <a:pt x="0" y="74572"/>
                </a:lnTo>
                <a:cubicBezTo>
                  <a:pt x="0" y="33415"/>
                  <a:pt x="33415" y="0"/>
                  <a:pt x="74572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366021" y="1388844"/>
            <a:ext cx="163119" cy="186422"/>
          </a:xfrm>
          <a:custGeom>
            <a:avLst/>
            <a:gdLst/>
            <a:ahLst/>
            <a:cxnLst/>
            <a:rect l="l" t="t" r="r" b="b"/>
            <a:pathLst>
              <a:path w="163119" h="186422">
                <a:moveTo>
                  <a:pt x="29128" y="37867"/>
                </a:moveTo>
                <a:cubicBezTo>
                  <a:pt x="33951" y="37867"/>
                  <a:pt x="37867" y="33951"/>
                  <a:pt x="37867" y="29128"/>
                </a:cubicBezTo>
                <a:cubicBezTo>
                  <a:pt x="37867" y="24306"/>
                  <a:pt x="33951" y="20390"/>
                  <a:pt x="29128" y="20390"/>
                </a:cubicBezTo>
                <a:cubicBezTo>
                  <a:pt x="24306" y="20390"/>
                  <a:pt x="20390" y="24306"/>
                  <a:pt x="20390" y="29128"/>
                </a:cubicBezTo>
                <a:cubicBezTo>
                  <a:pt x="20390" y="33951"/>
                  <a:pt x="24306" y="37867"/>
                  <a:pt x="29128" y="37867"/>
                </a:cubicBezTo>
                <a:close/>
                <a:moveTo>
                  <a:pt x="58257" y="29128"/>
                </a:moveTo>
                <a:cubicBezTo>
                  <a:pt x="58257" y="41071"/>
                  <a:pt x="51084" y="51339"/>
                  <a:pt x="40780" y="55817"/>
                </a:cubicBezTo>
                <a:lnTo>
                  <a:pt x="40780" y="81560"/>
                </a:lnTo>
                <a:lnTo>
                  <a:pt x="104862" y="81560"/>
                </a:lnTo>
                <a:cubicBezTo>
                  <a:pt x="114511" y="81560"/>
                  <a:pt x="122339" y="73731"/>
                  <a:pt x="122339" y="64083"/>
                </a:cubicBezTo>
                <a:lnTo>
                  <a:pt x="122339" y="55817"/>
                </a:lnTo>
                <a:cubicBezTo>
                  <a:pt x="112035" y="51339"/>
                  <a:pt x="104862" y="41071"/>
                  <a:pt x="104862" y="29128"/>
                </a:cubicBezTo>
                <a:cubicBezTo>
                  <a:pt x="104862" y="13035"/>
                  <a:pt x="117897" y="0"/>
                  <a:pt x="133991" y="0"/>
                </a:cubicBezTo>
                <a:cubicBezTo>
                  <a:pt x="150084" y="0"/>
                  <a:pt x="163119" y="13035"/>
                  <a:pt x="163119" y="29128"/>
                </a:cubicBezTo>
                <a:cubicBezTo>
                  <a:pt x="163119" y="41071"/>
                  <a:pt x="155946" y="51339"/>
                  <a:pt x="145642" y="55817"/>
                </a:cubicBezTo>
                <a:lnTo>
                  <a:pt x="145642" y="64083"/>
                </a:lnTo>
                <a:cubicBezTo>
                  <a:pt x="145642" y="86621"/>
                  <a:pt x="127401" y="104862"/>
                  <a:pt x="104862" y="104862"/>
                </a:cubicBezTo>
                <a:lnTo>
                  <a:pt x="40780" y="104862"/>
                </a:lnTo>
                <a:lnTo>
                  <a:pt x="40780" y="130605"/>
                </a:lnTo>
                <a:cubicBezTo>
                  <a:pt x="51084" y="135083"/>
                  <a:pt x="58257" y="145351"/>
                  <a:pt x="58257" y="157294"/>
                </a:cubicBezTo>
                <a:cubicBezTo>
                  <a:pt x="58257" y="173387"/>
                  <a:pt x="45222" y="186422"/>
                  <a:pt x="29128" y="186422"/>
                </a:cubicBezTo>
                <a:cubicBezTo>
                  <a:pt x="13035" y="186422"/>
                  <a:pt x="0" y="173387"/>
                  <a:pt x="0" y="157294"/>
                </a:cubicBezTo>
                <a:cubicBezTo>
                  <a:pt x="0" y="145351"/>
                  <a:pt x="7173" y="135083"/>
                  <a:pt x="17477" y="130605"/>
                </a:cubicBezTo>
                <a:lnTo>
                  <a:pt x="17477" y="55854"/>
                </a:lnTo>
                <a:cubicBezTo>
                  <a:pt x="7173" y="51339"/>
                  <a:pt x="0" y="41071"/>
                  <a:pt x="0" y="29128"/>
                </a:cubicBezTo>
                <a:cubicBezTo>
                  <a:pt x="0" y="13035"/>
                  <a:pt x="13035" y="0"/>
                  <a:pt x="29128" y="0"/>
                </a:cubicBezTo>
                <a:cubicBezTo>
                  <a:pt x="45222" y="0"/>
                  <a:pt x="58257" y="13035"/>
                  <a:pt x="58257" y="29128"/>
                </a:cubicBezTo>
                <a:close/>
                <a:moveTo>
                  <a:pt x="142729" y="29128"/>
                </a:moveTo>
                <a:cubicBezTo>
                  <a:pt x="142729" y="24306"/>
                  <a:pt x="138814" y="20390"/>
                  <a:pt x="133991" y="20390"/>
                </a:cubicBezTo>
                <a:cubicBezTo>
                  <a:pt x="129168" y="20390"/>
                  <a:pt x="125252" y="24306"/>
                  <a:pt x="125252" y="29128"/>
                </a:cubicBezTo>
                <a:cubicBezTo>
                  <a:pt x="125252" y="33951"/>
                  <a:pt x="129168" y="37867"/>
                  <a:pt x="133991" y="37867"/>
                </a:cubicBezTo>
                <a:cubicBezTo>
                  <a:pt x="138814" y="37867"/>
                  <a:pt x="142729" y="33951"/>
                  <a:pt x="142729" y="29128"/>
                </a:cubicBezTo>
                <a:close/>
                <a:moveTo>
                  <a:pt x="29128" y="166032"/>
                </a:moveTo>
                <a:cubicBezTo>
                  <a:pt x="33951" y="166032"/>
                  <a:pt x="37867" y="162117"/>
                  <a:pt x="37867" y="157294"/>
                </a:cubicBezTo>
                <a:cubicBezTo>
                  <a:pt x="37867" y="152471"/>
                  <a:pt x="33951" y="148555"/>
                  <a:pt x="29128" y="148555"/>
                </a:cubicBezTo>
                <a:cubicBezTo>
                  <a:pt x="24306" y="148555"/>
                  <a:pt x="20390" y="152471"/>
                  <a:pt x="20390" y="157294"/>
                </a:cubicBezTo>
                <a:cubicBezTo>
                  <a:pt x="20390" y="162117"/>
                  <a:pt x="24306" y="166032"/>
                  <a:pt x="29128" y="166032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675947" y="1351560"/>
            <a:ext cx="1491376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命中/未命中处理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1067" y="1724404"/>
            <a:ext cx="5331670" cy="1155817"/>
          </a:xfrm>
          <a:custGeom>
            <a:avLst/>
            <a:gdLst/>
            <a:ahLst/>
            <a:cxnLst/>
            <a:rect l="l" t="t" r="r" b="b"/>
            <a:pathLst>
              <a:path w="5331670" h="1155817">
                <a:moveTo>
                  <a:pt x="74573" y="0"/>
                </a:moveTo>
                <a:lnTo>
                  <a:pt x="5257096" y="0"/>
                </a:lnTo>
                <a:cubicBezTo>
                  <a:pt x="5298282" y="0"/>
                  <a:pt x="5331670" y="33388"/>
                  <a:pt x="5331670" y="74573"/>
                </a:cubicBezTo>
                <a:lnTo>
                  <a:pt x="5331670" y="1081243"/>
                </a:lnTo>
                <a:cubicBezTo>
                  <a:pt x="5331670" y="1122429"/>
                  <a:pt x="5298282" y="1155817"/>
                  <a:pt x="5257096" y="1155817"/>
                </a:cubicBezTo>
                <a:lnTo>
                  <a:pt x="74573" y="1155817"/>
                </a:lnTo>
                <a:cubicBezTo>
                  <a:pt x="33388" y="1155817"/>
                  <a:pt x="0" y="1122429"/>
                  <a:pt x="0" y="1081243"/>
                </a:cubicBezTo>
                <a:lnTo>
                  <a:pt x="0" y="74573"/>
                </a:lnTo>
                <a:cubicBezTo>
                  <a:pt x="0" y="33415"/>
                  <a:pt x="33415" y="0"/>
                  <a:pt x="7457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461562" y="1873541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703911" y="1836257"/>
            <a:ext cx="671119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缓存命中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66626" y="2134532"/>
            <a:ext cx="494950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复用已有 Block 的 KV Cache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66626" y="2358239"/>
            <a:ext cx="494950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增加引用计数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66626" y="2581945"/>
            <a:ext cx="494950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更新最后访问时间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1067" y="2992073"/>
            <a:ext cx="5331670" cy="1155817"/>
          </a:xfrm>
          <a:custGeom>
            <a:avLst/>
            <a:gdLst/>
            <a:ahLst/>
            <a:cxnLst/>
            <a:rect l="l" t="t" r="r" b="b"/>
            <a:pathLst>
              <a:path w="5331670" h="1155817">
                <a:moveTo>
                  <a:pt x="74573" y="0"/>
                </a:moveTo>
                <a:lnTo>
                  <a:pt x="5257096" y="0"/>
                </a:lnTo>
                <a:cubicBezTo>
                  <a:pt x="5298282" y="0"/>
                  <a:pt x="5331670" y="33388"/>
                  <a:pt x="5331670" y="74573"/>
                </a:cubicBezTo>
                <a:lnTo>
                  <a:pt x="5331670" y="1081243"/>
                </a:lnTo>
                <a:cubicBezTo>
                  <a:pt x="5331670" y="1122429"/>
                  <a:pt x="5298282" y="1155817"/>
                  <a:pt x="5257096" y="1155817"/>
                </a:cubicBezTo>
                <a:lnTo>
                  <a:pt x="74573" y="1155817"/>
                </a:lnTo>
                <a:cubicBezTo>
                  <a:pt x="33388" y="1155817"/>
                  <a:pt x="0" y="1122429"/>
                  <a:pt x="0" y="1081243"/>
                </a:cubicBezTo>
                <a:lnTo>
                  <a:pt x="0" y="74573"/>
                </a:lnTo>
                <a:cubicBezTo>
                  <a:pt x="0" y="33415"/>
                  <a:pt x="33415" y="0"/>
                  <a:pt x="7457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461562" y="3141211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48644" y="48644"/>
                </a:moveTo>
                <a:cubicBezTo>
                  <a:pt x="51383" y="45906"/>
                  <a:pt x="55810" y="45906"/>
                  <a:pt x="58519" y="48644"/>
                </a:cubicBezTo>
                <a:lnTo>
                  <a:pt x="74540" y="64665"/>
                </a:lnTo>
                <a:lnTo>
                  <a:pt x="90560" y="48644"/>
                </a:lnTo>
                <a:cubicBezTo>
                  <a:pt x="93298" y="45906"/>
                  <a:pt x="97726" y="45906"/>
                  <a:pt x="100435" y="48644"/>
                </a:cubicBezTo>
                <a:cubicBezTo>
                  <a:pt x="103144" y="51383"/>
                  <a:pt x="103173" y="55810"/>
                  <a:pt x="100435" y="58519"/>
                </a:cubicBezTo>
                <a:lnTo>
                  <a:pt x="84414" y="74540"/>
                </a:lnTo>
                <a:lnTo>
                  <a:pt x="100435" y="90560"/>
                </a:lnTo>
                <a:cubicBezTo>
                  <a:pt x="103173" y="93298"/>
                  <a:pt x="103173" y="97726"/>
                  <a:pt x="100435" y="100435"/>
                </a:cubicBezTo>
                <a:cubicBezTo>
                  <a:pt x="97697" y="103144"/>
                  <a:pt x="93269" y="103173"/>
                  <a:pt x="90560" y="100435"/>
                </a:cubicBezTo>
                <a:lnTo>
                  <a:pt x="74540" y="84414"/>
                </a:lnTo>
                <a:lnTo>
                  <a:pt x="58519" y="100435"/>
                </a:lnTo>
                <a:cubicBezTo>
                  <a:pt x="55781" y="103173"/>
                  <a:pt x="51353" y="103173"/>
                  <a:pt x="48644" y="100435"/>
                </a:cubicBezTo>
                <a:cubicBezTo>
                  <a:pt x="45936" y="97697"/>
                  <a:pt x="45906" y="93269"/>
                  <a:pt x="48644" y="90560"/>
                </a:cubicBezTo>
                <a:lnTo>
                  <a:pt x="64665" y="74540"/>
                </a:lnTo>
                <a:lnTo>
                  <a:pt x="48644" y="58519"/>
                </a:lnTo>
                <a:cubicBezTo>
                  <a:pt x="45906" y="55781"/>
                  <a:pt x="45906" y="51353"/>
                  <a:pt x="48644" y="48644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703911" y="3103927"/>
            <a:ext cx="820257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缓存未命中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66626" y="3402202"/>
            <a:ext cx="494950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分配新的物理 Block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66626" y="3625908"/>
            <a:ext cx="494950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计算 KV Cache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66626" y="3849615"/>
            <a:ext cx="494950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存入缓存并建立映射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77505" y="4497431"/>
            <a:ext cx="11436991" cy="1985394"/>
          </a:xfrm>
          <a:custGeom>
            <a:avLst/>
            <a:gdLst/>
            <a:ahLst/>
            <a:cxnLst/>
            <a:rect l="l" t="t" r="r" b="b"/>
            <a:pathLst>
              <a:path w="11436991" h="1985394">
                <a:moveTo>
                  <a:pt x="74571" y="0"/>
                </a:moveTo>
                <a:lnTo>
                  <a:pt x="11362419" y="0"/>
                </a:lnTo>
                <a:cubicBezTo>
                  <a:pt x="11403604" y="0"/>
                  <a:pt x="11436991" y="33387"/>
                  <a:pt x="11436991" y="74571"/>
                </a:cubicBezTo>
                <a:lnTo>
                  <a:pt x="11436991" y="1910823"/>
                </a:lnTo>
                <a:cubicBezTo>
                  <a:pt x="11436991" y="1952008"/>
                  <a:pt x="11403604" y="1985394"/>
                  <a:pt x="11362419" y="1985394"/>
                </a:cubicBezTo>
                <a:lnTo>
                  <a:pt x="74571" y="1985394"/>
                </a:lnTo>
                <a:cubicBezTo>
                  <a:pt x="33387" y="1985394"/>
                  <a:pt x="0" y="1952008"/>
                  <a:pt x="0" y="1910823"/>
                </a:cubicBezTo>
                <a:lnTo>
                  <a:pt x="0" y="74571"/>
                </a:lnTo>
                <a:cubicBezTo>
                  <a:pt x="0" y="33387"/>
                  <a:pt x="33387" y="0"/>
                  <a:pt x="74571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54606" y="4688514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0" y="29128"/>
                </a:moveTo>
                <a:cubicBezTo>
                  <a:pt x="0" y="19480"/>
                  <a:pt x="7828" y="11651"/>
                  <a:pt x="17477" y="11651"/>
                </a:cubicBezTo>
                <a:lnTo>
                  <a:pt x="52431" y="11651"/>
                </a:lnTo>
                <a:cubicBezTo>
                  <a:pt x="62080" y="11651"/>
                  <a:pt x="69908" y="19480"/>
                  <a:pt x="69908" y="29128"/>
                </a:cubicBezTo>
                <a:lnTo>
                  <a:pt x="69908" y="34954"/>
                </a:lnTo>
                <a:lnTo>
                  <a:pt x="116514" y="34954"/>
                </a:lnTo>
                <a:lnTo>
                  <a:pt x="116514" y="29128"/>
                </a:lnTo>
                <a:cubicBezTo>
                  <a:pt x="116514" y="19480"/>
                  <a:pt x="124342" y="11651"/>
                  <a:pt x="133991" y="11651"/>
                </a:cubicBezTo>
                <a:lnTo>
                  <a:pt x="168945" y="11651"/>
                </a:lnTo>
                <a:cubicBezTo>
                  <a:pt x="178594" y="11651"/>
                  <a:pt x="186422" y="19480"/>
                  <a:pt x="186422" y="29128"/>
                </a:cubicBezTo>
                <a:lnTo>
                  <a:pt x="186422" y="64083"/>
                </a:lnTo>
                <a:cubicBezTo>
                  <a:pt x="186422" y="73731"/>
                  <a:pt x="178594" y="81560"/>
                  <a:pt x="168945" y="81560"/>
                </a:cubicBezTo>
                <a:lnTo>
                  <a:pt x="133991" y="81560"/>
                </a:lnTo>
                <a:cubicBezTo>
                  <a:pt x="124342" y="81560"/>
                  <a:pt x="116514" y="73731"/>
                  <a:pt x="116514" y="64083"/>
                </a:cubicBezTo>
                <a:lnTo>
                  <a:pt x="116514" y="58257"/>
                </a:lnTo>
                <a:lnTo>
                  <a:pt x="69908" y="58257"/>
                </a:lnTo>
                <a:lnTo>
                  <a:pt x="69908" y="64083"/>
                </a:lnTo>
                <a:cubicBezTo>
                  <a:pt x="69908" y="66741"/>
                  <a:pt x="69289" y="69289"/>
                  <a:pt x="68233" y="71547"/>
                </a:cubicBezTo>
                <a:lnTo>
                  <a:pt x="93211" y="104862"/>
                </a:lnTo>
                <a:lnTo>
                  <a:pt x="122339" y="104862"/>
                </a:lnTo>
                <a:cubicBezTo>
                  <a:pt x="131988" y="104862"/>
                  <a:pt x="139817" y="112691"/>
                  <a:pt x="139817" y="122339"/>
                </a:cubicBezTo>
                <a:lnTo>
                  <a:pt x="139817" y="157294"/>
                </a:lnTo>
                <a:cubicBezTo>
                  <a:pt x="139817" y="166942"/>
                  <a:pt x="131988" y="174771"/>
                  <a:pt x="122339" y="174771"/>
                </a:cubicBezTo>
                <a:lnTo>
                  <a:pt x="87385" y="174771"/>
                </a:lnTo>
                <a:cubicBezTo>
                  <a:pt x="77737" y="174771"/>
                  <a:pt x="69908" y="166942"/>
                  <a:pt x="69908" y="157294"/>
                </a:cubicBezTo>
                <a:lnTo>
                  <a:pt x="69908" y="122339"/>
                </a:lnTo>
                <a:cubicBezTo>
                  <a:pt x="69908" y="119681"/>
                  <a:pt x="70527" y="117133"/>
                  <a:pt x="71583" y="114875"/>
                </a:cubicBezTo>
                <a:lnTo>
                  <a:pt x="46606" y="81560"/>
                </a:lnTo>
                <a:lnTo>
                  <a:pt x="17477" y="81560"/>
                </a:lnTo>
                <a:cubicBezTo>
                  <a:pt x="7828" y="81560"/>
                  <a:pt x="0" y="73731"/>
                  <a:pt x="0" y="64083"/>
                </a:cubicBezTo>
                <a:lnTo>
                  <a:pt x="0" y="29128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76183" y="4651229"/>
            <a:ext cx="1025321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流程示意图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65138" y="5154569"/>
            <a:ext cx="1426128" cy="447413"/>
          </a:xfrm>
          <a:custGeom>
            <a:avLst/>
            <a:gdLst/>
            <a:ahLst/>
            <a:cxnLst/>
            <a:rect l="l" t="t" r="r" b="b"/>
            <a:pathLst>
              <a:path w="1426128" h="447413">
                <a:moveTo>
                  <a:pt x="74570" y="0"/>
                </a:moveTo>
                <a:lnTo>
                  <a:pt x="1351558" y="0"/>
                </a:lnTo>
                <a:cubicBezTo>
                  <a:pt x="1392742" y="0"/>
                  <a:pt x="1426128" y="33386"/>
                  <a:pt x="1426128" y="74570"/>
                </a:cubicBezTo>
                <a:lnTo>
                  <a:pt x="1426128" y="372843"/>
                </a:lnTo>
                <a:cubicBezTo>
                  <a:pt x="1426128" y="414027"/>
                  <a:pt x="1392742" y="447413"/>
                  <a:pt x="1351558" y="447413"/>
                </a:cubicBezTo>
                <a:lnTo>
                  <a:pt x="74570" y="447413"/>
                </a:lnTo>
                <a:cubicBezTo>
                  <a:pt x="33414" y="447413"/>
                  <a:pt x="0" y="413999"/>
                  <a:pt x="0" y="372843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5C7A96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27853" y="5154569"/>
            <a:ext cx="1500697" cy="447413"/>
          </a:xfrm>
          <a:prstGeom prst="rect">
            <a:avLst/>
          </a:prstGeom>
          <a:noFill/>
          <a:ln/>
        </p:spPr>
        <p:txBody>
          <a:bodyPr wrap="square" lIns="149138" tIns="111853" rIns="149138" bIns="111853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请求 Token 序列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809750" y="5681211"/>
            <a:ext cx="139817" cy="186422"/>
          </a:xfrm>
          <a:custGeom>
            <a:avLst/>
            <a:gdLst/>
            <a:ahLst/>
            <a:cxnLst/>
            <a:rect l="l" t="t" r="r" b="b"/>
            <a:pathLst>
              <a:path w="139817" h="186422">
                <a:moveTo>
                  <a:pt x="61679" y="182999"/>
                </a:moveTo>
                <a:cubicBezTo>
                  <a:pt x="66231" y="187551"/>
                  <a:pt x="73622" y="187551"/>
                  <a:pt x="78173" y="182999"/>
                </a:cubicBezTo>
                <a:lnTo>
                  <a:pt x="136430" y="124743"/>
                </a:lnTo>
                <a:cubicBezTo>
                  <a:pt x="140982" y="120191"/>
                  <a:pt x="140982" y="112800"/>
                  <a:pt x="136430" y="108249"/>
                </a:cubicBezTo>
                <a:cubicBezTo>
                  <a:pt x="131879" y="103697"/>
                  <a:pt x="124488" y="103697"/>
                  <a:pt x="119936" y="108249"/>
                </a:cubicBezTo>
                <a:lnTo>
                  <a:pt x="81560" y="146625"/>
                </a:lnTo>
                <a:lnTo>
                  <a:pt x="81560" y="11651"/>
                </a:lnTo>
                <a:cubicBezTo>
                  <a:pt x="81560" y="5207"/>
                  <a:pt x="76353" y="0"/>
                  <a:pt x="69908" y="0"/>
                </a:cubicBezTo>
                <a:cubicBezTo>
                  <a:pt x="63464" y="0"/>
                  <a:pt x="58257" y="5207"/>
                  <a:pt x="58257" y="11651"/>
                </a:cubicBezTo>
                <a:lnTo>
                  <a:pt x="58257" y="146625"/>
                </a:lnTo>
                <a:lnTo>
                  <a:pt x="19880" y="108249"/>
                </a:lnTo>
                <a:cubicBezTo>
                  <a:pt x="15329" y="103697"/>
                  <a:pt x="7938" y="103697"/>
                  <a:pt x="3386" y="108249"/>
                </a:cubicBezTo>
                <a:cubicBezTo>
                  <a:pt x="-1165" y="112800"/>
                  <a:pt x="-1165" y="120191"/>
                  <a:pt x="3386" y="124743"/>
                </a:cubicBezTo>
                <a:lnTo>
                  <a:pt x="61643" y="182999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3861921" y="5024073"/>
            <a:ext cx="1500697" cy="447413"/>
          </a:xfrm>
          <a:custGeom>
            <a:avLst/>
            <a:gdLst/>
            <a:ahLst/>
            <a:cxnLst/>
            <a:rect l="l" t="t" r="r" b="b"/>
            <a:pathLst>
              <a:path w="1500697" h="447413">
                <a:moveTo>
                  <a:pt x="74570" y="0"/>
                </a:moveTo>
                <a:lnTo>
                  <a:pt x="1426127" y="0"/>
                </a:lnTo>
                <a:cubicBezTo>
                  <a:pt x="1467311" y="0"/>
                  <a:pt x="1500697" y="33386"/>
                  <a:pt x="1500697" y="74570"/>
                </a:cubicBezTo>
                <a:lnTo>
                  <a:pt x="1500697" y="372843"/>
                </a:lnTo>
                <a:cubicBezTo>
                  <a:pt x="1500697" y="414027"/>
                  <a:pt x="1467311" y="447413"/>
                  <a:pt x="1426127" y="447413"/>
                </a:cubicBezTo>
                <a:lnTo>
                  <a:pt x="74570" y="447413"/>
                </a:lnTo>
                <a:cubicBezTo>
                  <a:pt x="33414" y="447413"/>
                  <a:pt x="0" y="413999"/>
                  <a:pt x="0" y="372843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3824637" y="5024073"/>
            <a:ext cx="1575266" cy="447413"/>
          </a:xfrm>
          <a:prstGeom prst="rect">
            <a:avLst/>
          </a:prstGeom>
          <a:noFill/>
          <a:ln/>
        </p:spPr>
        <p:txBody>
          <a:bodyPr wrap="square" lIns="149138" tIns="111853" rIns="149138" bIns="111853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 0 [T0-T15]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829298" y="5546055"/>
            <a:ext cx="156594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Hash: H0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40323" y="5811706"/>
            <a:ext cx="139817" cy="186422"/>
          </a:xfrm>
          <a:custGeom>
            <a:avLst/>
            <a:gdLst/>
            <a:ahLst/>
            <a:cxnLst/>
            <a:rect l="l" t="t" r="r" b="b"/>
            <a:pathLst>
              <a:path w="139817" h="186422">
                <a:moveTo>
                  <a:pt x="61679" y="182999"/>
                </a:moveTo>
                <a:cubicBezTo>
                  <a:pt x="66231" y="187551"/>
                  <a:pt x="73622" y="187551"/>
                  <a:pt x="78173" y="182999"/>
                </a:cubicBezTo>
                <a:lnTo>
                  <a:pt x="136430" y="124743"/>
                </a:lnTo>
                <a:cubicBezTo>
                  <a:pt x="140982" y="120191"/>
                  <a:pt x="140982" y="112800"/>
                  <a:pt x="136430" y="108249"/>
                </a:cubicBezTo>
                <a:cubicBezTo>
                  <a:pt x="131879" y="103697"/>
                  <a:pt x="124488" y="103697"/>
                  <a:pt x="119936" y="108249"/>
                </a:cubicBezTo>
                <a:lnTo>
                  <a:pt x="81560" y="146625"/>
                </a:lnTo>
                <a:lnTo>
                  <a:pt x="81560" y="11651"/>
                </a:lnTo>
                <a:cubicBezTo>
                  <a:pt x="81560" y="5207"/>
                  <a:pt x="76353" y="0"/>
                  <a:pt x="69908" y="0"/>
                </a:cubicBezTo>
                <a:cubicBezTo>
                  <a:pt x="63464" y="0"/>
                  <a:pt x="58257" y="5207"/>
                  <a:pt x="58257" y="11651"/>
                </a:cubicBezTo>
                <a:lnTo>
                  <a:pt x="58257" y="146625"/>
                </a:lnTo>
                <a:lnTo>
                  <a:pt x="19880" y="108249"/>
                </a:lnTo>
                <a:cubicBezTo>
                  <a:pt x="15329" y="103697"/>
                  <a:pt x="7938" y="103697"/>
                  <a:pt x="3386" y="108249"/>
                </a:cubicBezTo>
                <a:cubicBezTo>
                  <a:pt x="-1165" y="112800"/>
                  <a:pt x="-1165" y="120191"/>
                  <a:pt x="3386" y="124743"/>
                </a:cubicBezTo>
                <a:lnTo>
                  <a:pt x="61643" y="182999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626283" y="5024073"/>
            <a:ext cx="1528661" cy="447413"/>
          </a:xfrm>
          <a:custGeom>
            <a:avLst/>
            <a:gdLst/>
            <a:ahLst/>
            <a:cxnLst/>
            <a:rect l="l" t="t" r="r" b="b"/>
            <a:pathLst>
              <a:path w="1528661" h="447413">
                <a:moveTo>
                  <a:pt x="74570" y="0"/>
                </a:moveTo>
                <a:lnTo>
                  <a:pt x="1454090" y="0"/>
                </a:lnTo>
                <a:cubicBezTo>
                  <a:pt x="1495274" y="0"/>
                  <a:pt x="1528661" y="33386"/>
                  <a:pt x="1528661" y="74570"/>
                </a:cubicBezTo>
                <a:lnTo>
                  <a:pt x="1528661" y="372843"/>
                </a:lnTo>
                <a:cubicBezTo>
                  <a:pt x="1528661" y="414027"/>
                  <a:pt x="1495274" y="447413"/>
                  <a:pt x="1454090" y="447413"/>
                </a:cubicBezTo>
                <a:lnTo>
                  <a:pt x="74570" y="447413"/>
                </a:lnTo>
                <a:cubicBezTo>
                  <a:pt x="33414" y="447413"/>
                  <a:pt x="0" y="413999"/>
                  <a:pt x="0" y="372843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588999" y="5024073"/>
            <a:ext cx="1603229" cy="447413"/>
          </a:xfrm>
          <a:prstGeom prst="rect">
            <a:avLst/>
          </a:prstGeom>
          <a:noFill/>
          <a:ln/>
        </p:spPr>
        <p:txBody>
          <a:bodyPr wrap="square" lIns="149138" tIns="111853" rIns="149138" bIns="111853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 1 [T16-T31]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93659" y="5546055"/>
            <a:ext cx="159390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Hash: H1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321069" y="5811706"/>
            <a:ext cx="139817" cy="186422"/>
          </a:xfrm>
          <a:custGeom>
            <a:avLst/>
            <a:gdLst/>
            <a:ahLst/>
            <a:cxnLst/>
            <a:rect l="l" t="t" r="r" b="b"/>
            <a:pathLst>
              <a:path w="139817" h="186422">
                <a:moveTo>
                  <a:pt x="61679" y="182999"/>
                </a:moveTo>
                <a:cubicBezTo>
                  <a:pt x="66231" y="187551"/>
                  <a:pt x="73622" y="187551"/>
                  <a:pt x="78173" y="182999"/>
                </a:cubicBezTo>
                <a:lnTo>
                  <a:pt x="136430" y="124743"/>
                </a:lnTo>
                <a:cubicBezTo>
                  <a:pt x="140982" y="120191"/>
                  <a:pt x="140982" y="112800"/>
                  <a:pt x="136430" y="108249"/>
                </a:cubicBezTo>
                <a:cubicBezTo>
                  <a:pt x="131879" y="103697"/>
                  <a:pt x="124488" y="103697"/>
                  <a:pt x="119936" y="108249"/>
                </a:cubicBezTo>
                <a:lnTo>
                  <a:pt x="81560" y="146625"/>
                </a:lnTo>
                <a:lnTo>
                  <a:pt x="81560" y="11651"/>
                </a:lnTo>
                <a:cubicBezTo>
                  <a:pt x="81560" y="5207"/>
                  <a:pt x="76353" y="0"/>
                  <a:pt x="69908" y="0"/>
                </a:cubicBezTo>
                <a:cubicBezTo>
                  <a:pt x="63464" y="0"/>
                  <a:pt x="58257" y="5207"/>
                  <a:pt x="58257" y="11651"/>
                </a:cubicBezTo>
                <a:lnTo>
                  <a:pt x="58257" y="146625"/>
                </a:lnTo>
                <a:lnTo>
                  <a:pt x="19880" y="108249"/>
                </a:lnTo>
                <a:cubicBezTo>
                  <a:pt x="15329" y="103697"/>
                  <a:pt x="7938" y="103697"/>
                  <a:pt x="3386" y="108249"/>
                </a:cubicBezTo>
                <a:cubicBezTo>
                  <a:pt x="-1165" y="112800"/>
                  <a:pt x="-1165" y="120191"/>
                  <a:pt x="3386" y="124743"/>
                </a:cubicBezTo>
                <a:lnTo>
                  <a:pt x="61643" y="182999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423415" y="5135927"/>
            <a:ext cx="1603229" cy="447413"/>
          </a:xfrm>
          <a:custGeom>
            <a:avLst/>
            <a:gdLst/>
            <a:ahLst/>
            <a:cxnLst/>
            <a:rect l="l" t="t" r="r" b="b"/>
            <a:pathLst>
              <a:path w="1603229" h="447413">
                <a:moveTo>
                  <a:pt x="74570" y="0"/>
                </a:moveTo>
                <a:lnTo>
                  <a:pt x="1528659" y="0"/>
                </a:lnTo>
                <a:cubicBezTo>
                  <a:pt x="1569843" y="0"/>
                  <a:pt x="1603229" y="33386"/>
                  <a:pt x="1603229" y="74570"/>
                </a:cubicBezTo>
                <a:lnTo>
                  <a:pt x="1603229" y="372843"/>
                </a:lnTo>
                <a:cubicBezTo>
                  <a:pt x="1603229" y="414027"/>
                  <a:pt x="1569843" y="447413"/>
                  <a:pt x="1528659" y="447413"/>
                </a:cubicBezTo>
                <a:lnTo>
                  <a:pt x="74570" y="447413"/>
                </a:lnTo>
                <a:cubicBezTo>
                  <a:pt x="33414" y="447413"/>
                  <a:pt x="0" y="413999"/>
                  <a:pt x="0" y="372843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9386130" y="5135927"/>
            <a:ext cx="1677798" cy="447413"/>
          </a:xfrm>
          <a:prstGeom prst="rect">
            <a:avLst/>
          </a:prstGeom>
          <a:noFill/>
          <a:ln/>
        </p:spPr>
        <p:txBody>
          <a:bodyPr wrap="square" lIns="149138" tIns="111853" rIns="149138" bIns="111853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 2 [T32-T47]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390791" y="5657908"/>
            <a:ext cx="166847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Hash: H2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909203" y="6161248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37284" y="0"/>
                </a:moveTo>
                <a:lnTo>
                  <a:pt x="111853" y="0"/>
                </a:lnTo>
                <a:cubicBezTo>
                  <a:pt x="132445" y="0"/>
                  <a:pt x="149138" y="16693"/>
                  <a:pt x="149138" y="37284"/>
                </a:cubicBezTo>
                <a:lnTo>
                  <a:pt x="149138" y="111853"/>
                </a:lnTo>
                <a:cubicBezTo>
                  <a:pt x="149138" y="132445"/>
                  <a:pt x="132445" y="149138"/>
                  <a:pt x="111853" y="149138"/>
                </a:cubicBezTo>
                <a:lnTo>
                  <a:pt x="37284" y="149138"/>
                </a:lnTo>
                <a:cubicBezTo>
                  <a:pt x="16693" y="149138"/>
                  <a:pt x="0" y="132445"/>
                  <a:pt x="0" y="111853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3132909" y="6142606"/>
            <a:ext cx="58722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命中复用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410692" y="6161248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37284" y="0"/>
                </a:moveTo>
                <a:lnTo>
                  <a:pt x="111853" y="0"/>
                </a:lnTo>
                <a:cubicBezTo>
                  <a:pt x="132445" y="0"/>
                  <a:pt x="149138" y="16693"/>
                  <a:pt x="149138" y="37284"/>
                </a:cubicBezTo>
                <a:lnTo>
                  <a:pt x="149138" y="111853"/>
                </a:lnTo>
                <a:cubicBezTo>
                  <a:pt x="149138" y="132445"/>
                  <a:pt x="132445" y="149138"/>
                  <a:pt x="111853" y="149138"/>
                </a:cubicBezTo>
                <a:lnTo>
                  <a:pt x="37284" y="149138"/>
                </a:lnTo>
                <a:cubicBezTo>
                  <a:pt x="16693" y="149138"/>
                  <a:pt x="0" y="132445"/>
                  <a:pt x="0" y="111853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634398" y="6142606"/>
            <a:ext cx="71772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未命中计算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17" y="368617"/>
            <a:ext cx="1152849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kern="0" spc="58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HYBRID ATTENTION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617" y="663510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混合注意力模型的支持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7048" y="1179574"/>
            <a:ext cx="11436336" cy="571356"/>
          </a:xfrm>
          <a:custGeom>
            <a:avLst/>
            <a:gdLst/>
            <a:ahLst/>
            <a:cxnLst/>
            <a:rect l="l" t="t" r="r" b="b"/>
            <a:pathLst>
              <a:path w="11436336" h="571356">
                <a:moveTo>
                  <a:pt x="36862" y="0"/>
                </a:moveTo>
                <a:lnTo>
                  <a:pt x="11362614" y="0"/>
                </a:lnTo>
                <a:cubicBezTo>
                  <a:pt x="11403329" y="0"/>
                  <a:pt x="11436336" y="33006"/>
                  <a:pt x="11436336" y="73722"/>
                </a:cubicBezTo>
                <a:lnTo>
                  <a:pt x="11436336" y="497634"/>
                </a:lnTo>
                <a:cubicBezTo>
                  <a:pt x="11436336" y="538350"/>
                  <a:pt x="11403329" y="571356"/>
                  <a:pt x="11362614" y="571356"/>
                </a:cubicBezTo>
                <a:lnTo>
                  <a:pt x="36862" y="571356"/>
                </a:lnTo>
                <a:cubicBezTo>
                  <a:pt x="16504" y="571356"/>
                  <a:pt x="0" y="554852"/>
                  <a:pt x="0" y="534494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7048" y="1179574"/>
            <a:ext cx="36862" cy="571356"/>
          </a:xfrm>
          <a:custGeom>
            <a:avLst/>
            <a:gdLst/>
            <a:ahLst/>
            <a:cxnLst/>
            <a:rect l="l" t="t" r="r" b="b"/>
            <a:pathLst>
              <a:path w="36862" h="571356">
                <a:moveTo>
                  <a:pt x="36862" y="0"/>
                </a:moveTo>
                <a:lnTo>
                  <a:pt x="36862" y="0"/>
                </a:lnTo>
                <a:lnTo>
                  <a:pt x="36862" y="571356"/>
                </a:lnTo>
                <a:lnTo>
                  <a:pt x="36862" y="571356"/>
                </a:lnTo>
                <a:cubicBezTo>
                  <a:pt x="16504" y="571356"/>
                  <a:pt x="0" y="554852"/>
                  <a:pt x="0" y="534494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89787" y="1327020"/>
            <a:ext cx="276463" cy="276463"/>
          </a:xfrm>
          <a:custGeom>
            <a:avLst/>
            <a:gdLst/>
            <a:ahLst/>
            <a:cxnLst/>
            <a:rect l="l" t="t" r="r" b="b"/>
            <a:pathLst>
              <a:path w="276463" h="276463">
                <a:moveTo>
                  <a:pt x="125542" y="2808"/>
                </a:moveTo>
                <a:cubicBezTo>
                  <a:pt x="133588" y="-918"/>
                  <a:pt x="142875" y="-918"/>
                  <a:pt x="150920" y="2808"/>
                </a:cubicBezTo>
                <a:lnTo>
                  <a:pt x="268957" y="57344"/>
                </a:lnTo>
                <a:cubicBezTo>
                  <a:pt x="273547" y="59450"/>
                  <a:pt x="276463" y="64040"/>
                  <a:pt x="276463" y="69116"/>
                </a:cubicBezTo>
                <a:cubicBezTo>
                  <a:pt x="276463" y="74191"/>
                  <a:pt x="273547" y="78781"/>
                  <a:pt x="268957" y="80887"/>
                </a:cubicBezTo>
                <a:lnTo>
                  <a:pt x="150920" y="135423"/>
                </a:lnTo>
                <a:cubicBezTo>
                  <a:pt x="142875" y="139149"/>
                  <a:pt x="133588" y="139149"/>
                  <a:pt x="125542" y="135423"/>
                </a:cubicBezTo>
                <a:lnTo>
                  <a:pt x="7506" y="80887"/>
                </a:lnTo>
                <a:cubicBezTo>
                  <a:pt x="2916" y="78727"/>
                  <a:pt x="0" y="74137"/>
                  <a:pt x="0" y="69116"/>
                </a:cubicBezTo>
                <a:cubicBezTo>
                  <a:pt x="0" y="64094"/>
                  <a:pt x="2916" y="59450"/>
                  <a:pt x="7506" y="57344"/>
                </a:cubicBezTo>
                <a:lnTo>
                  <a:pt x="125542" y="2808"/>
                </a:lnTo>
                <a:close/>
                <a:moveTo>
                  <a:pt x="25972" y="117929"/>
                </a:moveTo>
                <a:lnTo>
                  <a:pt x="114689" y="158912"/>
                </a:lnTo>
                <a:cubicBezTo>
                  <a:pt x="129646" y="165824"/>
                  <a:pt x="146871" y="165824"/>
                  <a:pt x="161828" y="158912"/>
                </a:cubicBezTo>
                <a:lnTo>
                  <a:pt x="250544" y="117929"/>
                </a:lnTo>
                <a:lnTo>
                  <a:pt x="268957" y="126460"/>
                </a:lnTo>
                <a:cubicBezTo>
                  <a:pt x="273547" y="128566"/>
                  <a:pt x="276463" y="133156"/>
                  <a:pt x="276463" y="138231"/>
                </a:cubicBezTo>
                <a:cubicBezTo>
                  <a:pt x="276463" y="143307"/>
                  <a:pt x="273547" y="147897"/>
                  <a:pt x="268957" y="150003"/>
                </a:cubicBezTo>
                <a:lnTo>
                  <a:pt x="150920" y="204539"/>
                </a:lnTo>
                <a:cubicBezTo>
                  <a:pt x="142875" y="208265"/>
                  <a:pt x="133588" y="208265"/>
                  <a:pt x="125542" y="204539"/>
                </a:cubicBezTo>
                <a:lnTo>
                  <a:pt x="7506" y="150003"/>
                </a:lnTo>
                <a:cubicBezTo>
                  <a:pt x="2916" y="147843"/>
                  <a:pt x="0" y="143253"/>
                  <a:pt x="0" y="138231"/>
                </a:cubicBezTo>
                <a:cubicBezTo>
                  <a:pt x="0" y="133210"/>
                  <a:pt x="2916" y="128566"/>
                  <a:pt x="7506" y="126460"/>
                </a:cubicBezTo>
                <a:lnTo>
                  <a:pt x="25918" y="117929"/>
                </a:lnTo>
                <a:close/>
                <a:moveTo>
                  <a:pt x="7506" y="195576"/>
                </a:moveTo>
                <a:lnTo>
                  <a:pt x="25918" y="187044"/>
                </a:lnTo>
                <a:lnTo>
                  <a:pt x="114635" y="228028"/>
                </a:lnTo>
                <a:cubicBezTo>
                  <a:pt x="129592" y="234939"/>
                  <a:pt x="146817" y="234939"/>
                  <a:pt x="161774" y="228028"/>
                </a:cubicBezTo>
                <a:lnTo>
                  <a:pt x="250490" y="187044"/>
                </a:lnTo>
                <a:lnTo>
                  <a:pt x="268903" y="195576"/>
                </a:lnTo>
                <a:cubicBezTo>
                  <a:pt x="273493" y="197682"/>
                  <a:pt x="276409" y="202271"/>
                  <a:pt x="276409" y="207347"/>
                </a:cubicBezTo>
                <a:cubicBezTo>
                  <a:pt x="276409" y="212423"/>
                  <a:pt x="273493" y="217012"/>
                  <a:pt x="268903" y="219118"/>
                </a:cubicBezTo>
                <a:lnTo>
                  <a:pt x="150866" y="273655"/>
                </a:lnTo>
                <a:cubicBezTo>
                  <a:pt x="142821" y="277381"/>
                  <a:pt x="133534" y="277381"/>
                  <a:pt x="125488" y="273655"/>
                </a:cubicBezTo>
                <a:lnTo>
                  <a:pt x="7506" y="219118"/>
                </a:lnTo>
                <a:cubicBezTo>
                  <a:pt x="2916" y="216958"/>
                  <a:pt x="0" y="212369"/>
                  <a:pt x="0" y="207347"/>
                </a:cubicBezTo>
                <a:cubicBezTo>
                  <a:pt x="0" y="202325"/>
                  <a:pt x="2916" y="197682"/>
                  <a:pt x="7506" y="19557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45950" y="1327020"/>
            <a:ext cx="10699102" cy="239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对于采用混合注意力机制的模型(如 </a:t>
            </a:r>
            <a:r>
              <a:rPr lang="en-US" sz="1161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Gemma-3 </a:t>
            </a:r>
            <a:r>
              <a:rPr lang="en-US" sz="116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 Sliding Window + Full Attention),vLLM 的 </a:t>
            </a:r>
            <a:r>
              <a:rPr lang="en-US" sz="1161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Hybrid KV Cache Manager</a:t>
            </a:r>
            <a:r>
              <a:rPr lang="en-US" sz="116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提供了分层的 Prefix Caching 支持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3224" y="1902984"/>
            <a:ext cx="3713814" cy="2257778"/>
          </a:xfrm>
          <a:custGeom>
            <a:avLst/>
            <a:gdLst/>
            <a:ahLst/>
            <a:cxnLst/>
            <a:rect l="l" t="t" r="r" b="b"/>
            <a:pathLst>
              <a:path w="3713814" h="2257778">
                <a:moveTo>
                  <a:pt x="73716" y="0"/>
                </a:moveTo>
                <a:lnTo>
                  <a:pt x="3640098" y="0"/>
                </a:lnTo>
                <a:cubicBezTo>
                  <a:pt x="3680810" y="0"/>
                  <a:pt x="3713814" y="33004"/>
                  <a:pt x="3713814" y="73716"/>
                </a:cubicBezTo>
                <a:lnTo>
                  <a:pt x="3713814" y="2184061"/>
                </a:lnTo>
                <a:cubicBezTo>
                  <a:pt x="3713814" y="2224774"/>
                  <a:pt x="3680810" y="2257778"/>
                  <a:pt x="3640098" y="2257778"/>
                </a:cubicBezTo>
                <a:lnTo>
                  <a:pt x="73716" y="2257778"/>
                </a:lnTo>
                <a:cubicBezTo>
                  <a:pt x="33004" y="2257778"/>
                  <a:pt x="0" y="2224774"/>
                  <a:pt x="0" y="2184061"/>
                </a:cubicBezTo>
                <a:lnTo>
                  <a:pt x="0" y="73716"/>
                </a:lnTo>
                <a:cubicBezTo>
                  <a:pt x="0" y="33031"/>
                  <a:pt x="33031" y="0"/>
                  <a:pt x="73716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25279" y="2055039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73725" y="0"/>
                </a:moveTo>
                <a:lnTo>
                  <a:pt x="368615" y="0"/>
                </a:lnTo>
                <a:cubicBezTo>
                  <a:pt x="409305" y="0"/>
                  <a:pt x="442340" y="33035"/>
                  <a:pt x="442340" y="73725"/>
                </a:cubicBezTo>
                <a:lnTo>
                  <a:pt x="442340" y="368615"/>
                </a:lnTo>
                <a:cubicBezTo>
                  <a:pt x="442340" y="409305"/>
                  <a:pt x="409305" y="442340"/>
                  <a:pt x="368615" y="442340"/>
                </a:cubicBezTo>
                <a:lnTo>
                  <a:pt x="73725" y="442340"/>
                </a:lnTo>
                <a:cubicBezTo>
                  <a:pt x="33035" y="442340"/>
                  <a:pt x="0" y="409305"/>
                  <a:pt x="0" y="368615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54295" y="2184054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180925" y="146367"/>
                </a:moveTo>
                <a:lnTo>
                  <a:pt x="146367" y="180925"/>
                </a:lnTo>
                <a:cubicBezTo>
                  <a:pt x="143055" y="184236"/>
                  <a:pt x="138123" y="185208"/>
                  <a:pt x="133804" y="183408"/>
                </a:cubicBezTo>
                <a:cubicBezTo>
                  <a:pt x="129484" y="181609"/>
                  <a:pt x="126712" y="177433"/>
                  <a:pt x="126712" y="172789"/>
                </a:cubicBezTo>
                <a:lnTo>
                  <a:pt x="126712" y="149751"/>
                </a:lnTo>
                <a:lnTo>
                  <a:pt x="11519" y="149751"/>
                </a:lnTo>
                <a:cubicBezTo>
                  <a:pt x="5148" y="149751"/>
                  <a:pt x="0" y="144603"/>
                  <a:pt x="0" y="138231"/>
                </a:cubicBezTo>
                <a:cubicBezTo>
                  <a:pt x="0" y="131860"/>
                  <a:pt x="5148" y="126712"/>
                  <a:pt x="11519" y="126712"/>
                </a:cubicBezTo>
                <a:lnTo>
                  <a:pt x="126712" y="126712"/>
                </a:lnTo>
                <a:lnTo>
                  <a:pt x="126712" y="103673"/>
                </a:lnTo>
                <a:cubicBezTo>
                  <a:pt x="126712" y="99030"/>
                  <a:pt x="129520" y="94818"/>
                  <a:pt x="133840" y="93018"/>
                </a:cubicBezTo>
                <a:cubicBezTo>
                  <a:pt x="138159" y="91218"/>
                  <a:pt x="143091" y="92226"/>
                  <a:pt x="146403" y="95502"/>
                </a:cubicBezTo>
                <a:lnTo>
                  <a:pt x="180961" y="130060"/>
                </a:lnTo>
                <a:cubicBezTo>
                  <a:pt x="185460" y="134560"/>
                  <a:pt x="185460" y="141867"/>
                  <a:pt x="180961" y="146367"/>
                </a:cubicBezTo>
                <a:close/>
                <a:moveTo>
                  <a:pt x="3384" y="54213"/>
                </a:moveTo>
                <a:cubicBezTo>
                  <a:pt x="-1116" y="49713"/>
                  <a:pt x="-1116" y="42405"/>
                  <a:pt x="3384" y="37906"/>
                </a:cubicBezTo>
                <a:lnTo>
                  <a:pt x="37942" y="3348"/>
                </a:lnTo>
                <a:cubicBezTo>
                  <a:pt x="41253" y="36"/>
                  <a:pt x="46185" y="-936"/>
                  <a:pt x="50505" y="864"/>
                </a:cubicBezTo>
                <a:cubicBezTo>
                  <a:pt x="54825" y="2664"/>
                  <a:pt x="57596" y="6876"/>
                  <a:pt x="57596" y="11519"/>
                </a:cubicBezTo>
                <a:lnTo>
                  <a:pt x="57596" y="34558"/>
                </a:lnTo>
                <a:lnTo>
                  <a:pt x="172789" y="34558"/>
                </a:lnTo>
                <a:cubicBezTo>
                  <a:pt x="179161" y="34558"/>
                  <a:pt x="184308" y="39705"/>
                  <a:pt x="184308" y="46077"/>
                </a:cubicBezTo>
                <a:cubicBezTo>
                  <a:pt x="184308" y="52449"/>
                  <a:pt x="179161" y="57596"/>
                  <a:pt x="172789" y="57596"/>
                </a:cubicBezTo>
                <a:lnTo>
                  <a:pt x="57596" y="57596"/>
                </a:lnTo>
                <a:lnTo>
                  <a:pt x="57596" y="80635"/>
                </a:lnTo>
                <a:cubicBezTo>
                  <a:pt x="57596" y="85279"/>
                  <a:pt x="54789" y="89490"/>
                  <a:pt x="50469" y="91290"/>
                </a:cubicBezTo>
                <a:cubicBezTo>
                  <a:pt x="46149" y="93090"/>
                  <a:pt x="41217" y="92082"/>
                  <a:pt x="37906" y="88806"/>
                </a:cubicBezTo>
                <a:lnTo>
                  <a:pt x="3348" y="54249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78204" y="2147193"/>
            <a:ext cx="1363882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Attention 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5279" y="2607964"/>
            <a:ext cx="3409705" cy="663510"/>
          </a:xfrm>
          <a:custGeom>
            <a:avLst/>
            <a:gdLst/>
            <a:ahLst/>
            <a:cxnLst/>
            <a:rect l="l" t="t" r="r" b="b"/>
            <a:pathLst>
              <a:path w="3409705" h="663510">
                <a:moveTo>
                  <a:pt x="73723" y="0"/>
                </a:moveTo>
                <a:lnTo>
                  <a:pt x="3335983" y="0"/>
                </a:lnTo>
                <a:cubicBezTo>
                  <a:pt x="3376698" y="0"/>
                  <a:pt x="3409705" y="33007"/>
                  <a:pt x="3409705" y="73723"/>
                </a:cubicBezTo>
                <a:lnTo>
                  <a:pt x="3409705" y="589788"/>
                </a:lnTo>
                <a:cubicBezTo>
                  <a:pt x="3409705" y="630503"/>
                  <a:pt x="3376698" y="663510"/>
                  <a:pt x="3335983" y="663510"/>
                </a:cubicBezTo>
                <a:lnTo>
                  <a:pt x="73723" y="663510"/>
                </a:lnTo>
                <a:cubicBezTo>
                  <a:pt x="33007" y="663510"/>
                  <a:pt x="0" y="630503"/>
                  <a:pt x="0" y="589788"/>
                </a:cubicBezTo>
                <a:lnTo>
                  <a:pt x="0" y="73723"/>
                </a:lnTo>
                <a:cubicBezTo>
                  <a:pt x="0" y="33007"/>
                  <a:pt x="33007" y="0"/>
                  <a:pt x="73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5864" y="2718549"/>
            <a:ext cx="3262259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匹配方向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864" y="2976580"/>
            <a:ext cx="325304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标准的</a:t>
            </a:r>
            <a:r>
              <a:rPr lang="en-US" sz="1016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从左到右</a:t>
            </a: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前缀匹配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5279" y="3345197"/>
            <a:ext cx="3409705" cy="663510"/>
          </a:xfrm>
          <a:custGeom>
            <a:avLst/>
            <a:gdLst/>
            <a:ahLst/>
            <a:cxnLst/>
            <a:rect l="l" t="t" r="r" b="b"/>
            <a:pathLst>
              <a:path w="3409705" h="663510">
                <a:moveTo>
                  <a:pt x="73723" y="0"/>
                </a:moveTo>
                <a:lnTo>
                  <a:pt x="3335983" y="0"/>
                </a:lnTo>
                <a:cubicBezTo>
                  <a:pt x="3376698" y="0"/>
                  <a:pt x="3409705" y="33007"/>
                  <a:pt x="3409705" y="73723"/>
                </a:cubicBezTo>
                <a:lnTo>
                  <a:pt x="3409705" y="589788"/>
                </a:lnTo>
                <a:cubicBezTo>
                  <a:pt x="3409705" y="630503"/>
                  <a:pt x="3376698" y="663510"/>
                  <a:pt x="3335983" y="663510"/>
                </a:cubicBezTo>
                <a:lnTo>
                  <a:pt x="73723" y="663510"/>
                </a:lnTo>
                <a:cubicBezTo>
                  <a:pt x="33007" y="663510"/>
                  <a:pt x="0" y="630503"/>
                  <a:pt x="0" y="589788"/>
                </a:cubicBezTo>
                <a:lnTo>
                  <a:pt x="0" y="73723"/>
                </a:lnTo>
                <a:cubicBezTo>
                  <a:pt x="0" y="33007"/>
                  <a:pt x="33007" y="0"/>
                  <a:pt x="73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35864" y="3455782"/>
            <a:ext cx="3262259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匹配长度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864" y="3713814"/>
            <a:ext cx="325304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整个前缀序列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39597" y="1902984"/>
            <a:ext cx="3713814" cy="2257778"/>
          </a:xfrm>
          <a:custGeom>
            <a:avLst/>
            <a:gdLst/>
            <a:ahLst/>
            <a:cxnLst/>
            <a:rect l="l" t="t" r="r" b="b"/>
            <a:pathLst>
              <a:path w="3713814" h="2257778">
                <a:moveTo>
                  <a:pt x="73716" y="0"/>
                </a:moveTo>
                <a:lnTo>
                  <a:pt x="3640098" y="0"/>
                </a:lnTo>
                <a:cubicBezTo>
                  <a:pt x="3680810" y="0"/>
                  <a:pt x="3713814" y="33004"/>
                  <a:pt x="3713814" y="73716"/>
                </a:cubicBezTo>
                <a:lnTo>
                  <a:pt x="3713814" y="2184061"/>
                </a:lnTo>
                <a:cubicBezTo>
                  <a:pt x="3713814" y="2224774"/>
                  <a:pt x="3680810" y="2257778"/>
                  <a:pt x="3640098" y="2257778"/>
                </a:cubicBezTo>
                <a:lnTo>
                  <a:pt x="73716" y="2257778"/>
                </a:lnTo>
                <a:cubicBezTo>
                  <a:pt x="33004" y="2257778"/>
                  <a:pt x="0" y="2224774"/>
                  <a:pt x="0" y="2184061"/>
                </a:cubicBezTo>
                <a:lnTo>
                  <a:pt x="0" y="73716"/>
                </a:lnTo>
                <a:cubicBezTo>
                  <a:pt x="0" y="33031"/>
                  <a:pt x="33031" y="0"/>
                  <a:pt x="73716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391651" y="2055039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73725" y="0"/>
                </a:moveTo>
                <a:lnTo>
                  <a:pt x="368615" y="0"/>
                </a:lnTo>
                <a:cubicBezTo>
                  <a:pt x="409305" y="0"/>
                  <a:pt x="442340" y="33035"/>
                  <a:pt x="442340" y="73725"/>
                </a:cubicBezTo>
                <a:lnTo>
                  <a:pt x="442340" y="368615"/>
                </a:lnTo>
                <a:cubicBezTo>
                  <a:pt x="442340" y="409305"/>
                  <a:pt x="409305" y="442340"/>
                  <a:pt x="368615" y="442340"/>
                </a:cubicBezTo>
                <a:lnTo>
                  <a:pt x="73725" y="442340"/>
                </a:lnTo>
                <a:cubicBezTo>
                  <a:pt x="33035" y="442340"/>
                  <a:pt x="0" y="409305"/>
                  <a:pt x="0" y="368615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509148" y="2184054"/>
            <a:ext cx="207347" cy="184308"/>
          </a:xfrm>
          <a:custGeom>
            <a:avLst/>
            <a:gdLst/>
            <a:ahLst/>
            <a:cxnLst/>
            <a:rect l="l" t="t" r="r" b="b"/>
            <a:pathLst>
              <a:path w="207347" h="184308">
                <a:moveTo>
                  <a:pt x="184308" y="34558"/>
                </a:moveTo>
                <a:lnTo>
                  <a:pt x="57596" y="34558"/>
                </a:lnTo>
                <a:cubicBezTo>
                  <a:pt x="57596" y="21851"/>
                  <a:pt x="67928" y="11519"/>
                  <a:pt x="80635" y="11519"/>
                </a:cubicBezTo>
                <a:lnTo>
                  <a:pt x="184308" y="11519"/>
                </a:lnTo>
                <a:cubicBezTo>
                  <a:pt x="197016" y="11519"/>
                  <a:pt x="207347" y="21851"/>
                  <a:pt x="207347" y="34558"/>
                </a:cubicBezTo>
                <a:lnTo>
                  <a:pt x="207347" y="103673"/>
                </a:lnTo>
                <a:cubicBezTo>
                  <a:pt x="207347" y="116381"/>
                  <a:pt x="197016" y="126712"/>
                  <a:pt x="184308" y="126712"/>
                </a:cubicBezTo>
                <a:lnTo>
                  <a:pt x="167029" y="126712"/>
                </a:lnTo>
                <a:lnTo>
                  <a:pt x="167029" y="103673"/>
                </a:lnTo>
                <a:lnTo>
                  <a:pt x="184308" y="103673"/>
                </a:lnTo>
                <a:lnTo>
                  <a:pt x="184308" y="34558"/>
                </a:lnTo>
                <a:close/>
                <a:moveTo>
                  <a:pt x="0" y="80635"/>
                </a:moveTo>
                <a:cubicBezTo>
                  <a:pt x="0" y="67928"/>
                  <a:pt x="10331" y="57596"/>
                  <a:pt x="23039" y="57596"/>
                </a:cubicBezTo>
                <a:lnTo>
                  <a:pt x="126712" y="57596"/>
                </a:lnTo>
                <a:cubicBezTo>
                  <a:pt x="139419" y="57596"/>
                  <a:pt x="149751" y="67928"/>
                  <a:pt x="149751" y="80635"/>
                </a:cubicBezTo>
                <a:lnTo>
                  <a:pt x="149751" y="149751"/>
                </a:lnTo>
                <a:cubicBezTo>
                  <a:pt x="149751" y="162458"/>
                  <a:pt x="139419" y="172789"/>
                  <a:pt x="126712" y="172789"/>
                </a:cubicBezTo>
                <a:lnTo>
                  <a:pt x="23039" y="172789"/>
                </a:lnTo>
                <a:cubicBezTo>
                  <a:pt x="10331" y="172789"/>
                  <a:pt x="0" y="162458"/>
                  <a:pt x="0" y="149751"/>
                </a:cubicBezTo>
                <a:lnTo>
                  <a:pt x="0" y="80635"/>
                </a:lnTo>
                <a:close/>
                <a:moveTo>
                  <a:pt x="23039" y="95034"/>
                </a:moveTo>
                <a:cubicBezTo>
                  <a:pt x="23039" y="99822"/>
                  <a:pt x="26890" y="103673"/>
                  <a:pt x="31678" y="103673"/>
                </a:cubicBezTo>
                <a:lnTo>
                  <a:pt x="118073" y="103673"/>
                </a:lnTo>
                <a:cubicBezTo>
                  <a:pt x="122860" y="103673"/>
                  <a:pt x="126712" y="99822"/>
                  <a:pt x="126712" y="95034"/>
                </a:cubicBezTo>
                <a:cubicBezTo>
                  <a:pt x="126712" y="90246"/>
                  <a:pt x="122860" y="86395"/>
                  <a:pt x="118073" y="86395"/>
                </a:cubicBezTo>
                <a:lnTo>
                  <a:pt x="31678" y="86395"/>
                </a:lnTo>
                <a:cubicBezTo>
                  <a:pt x="26890" y="86395"/>
                  <a:pt x="23039" y="90246"/>
                  <a:pt x="23039" y="95034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944577" y="2147193"/>
            <a:ext cx="152054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Sliding Window 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91651" y="2607964"/>
            <a:ext cx="3409705" cy="663510"/>
          </a:xfrm>
          <a:custGeom>
            <a:avLst/>
            <a:gdLst/>
            <a:ahLst/>
            <a:cxnLst/>
            <a:rect l="l" t="t" r="r" b="b"/>
            <a:pathLst>
              <a:path w="3409705" h="663510">
                <a:moveTo>
                  <a:pt x="73723" y="0"/>
                </a:moveTo>
                <a:lnTo>
                  <a:pt x="3335983" y="0"/>
                </a:lnTo>
                <a:cubicBezTo>
                  <a:pt x="3376698" y="0"/>
                  <a:pt x="3409705" y="33007"/>
                  <a:pt x="3409705" y="73723"/>
                </a:cubicBezTo>
                <a:lnTo>
                  <a:pt x="3409705" y="589788"/>
                </a:lnTo>
                <a:cubicBezTo>
                  <a:pt x="3409705" y="630503"/>
                  <a:pt x="3376698" y="663510"/>
                  <a:pt x="3335983" y="663510"/>
                </a:cubicBezTo>
                <a:lnTo>
                  <a:pt x="73723" y="663510"/>
                </a:lnTo>
                <a:cubicBezTo>
                  <a:pt x="33007" y="663510"/>
                  <a:pt x="0" y="630503"/>
                  <a:pt x="0" y="589788"/>
                </a:cubicBezTo>
                <a:lnTo>
                  <a:pt x="0" y="73723"/>
                </a:lnTo>
                <a:cubicBezTo>
                  <a:pt x="0" y="33007"/>
                  <a:pt x="33007" y="0"/>
                  <a:pt x="73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502236" y="2718549"/>
            <a:ext cx="3262259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匹配方向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02236" y="2976580"/>
            <a:ext cx="325304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从右到左</a:t>
            </a: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匹配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91651" y="3345197"/>
            <a:ext cx="3409705" cy="663510"/>
          </a:xfrm>
          <a:custGeom>
            <a:avLst/>
            <a:gdLst/>
            <a:ahLst/>
            <a:cxnLst/>
            <a:rect l="l" t="t" r="r" b="b"/>
            <a:pathLst>
              <a:path w="3409705" h="663510">
                <a:moveTo>
                  <a:pt x="73723" y="0"/>
                </a:moveTo>
                <a:lnTo>
                  <a:pt x="3335983" y="0"/>
                </a:lnTo>
                <a:cubicBezTo>
                  <a:pt x="3376698" y="0"/>
                  <a:pt x="3409705" y="33007"/>
                  <a:pt x="3409705" y="73723"/>
                </a:cubicBezTo>
                <a:lnTo>
                  <a:pt x="3409705" y="589788"/>
                </a:lnTo>
                <a:cubicBezTo>
                  <a:pt x="3409705" y="630503"/>
                  <a:pt x="3376698" y="663510"/>
                  <a:pt x="3335983" y="663510"/>
                </a:cubicBezTo>
                <a:lnTo>
                  <a:pt x="73723" y="663510"/>
                </a:lnTo>
                <a:cubicBezTo>
                  <a:pt x="33007" y="663510"/>
                  <a:pt x="0" y="630503"/>
                  <a:pt x="0" y="589788"/>
                </a:cubicBezTo>
                <a:lnTo>
                  <a:pt x="0" y="73723"/>
                </a:lnTo>
                <a:cubicBezTo>
                  <a:pt x="0" y="33007"/>
                  <a:pt x="33007" y="0"/>
                  <a:pt x="73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502236" y="3455782"/>
            <a:ext cx="3262259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匹配长度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02236" y="3713814"/>
            <a:ext cx="325304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最近 </a:t>
            </a:r>
            <a:r>
              <a:rPr lang="en-US" sz="1016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sliding_window_size</a:t>
            </a: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个 token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5969" y="1902984"/>
            <a:ext cx="3713814" cy="2257778"/>
          </a:xfrm>
          <a:custGeom>
            <a:avLst/>
            <a:gdLst/>
            <a:ahLst/>
            <a:cxnLst/>
            <a:rect l="l" t="t" r="r" b="b"/>
            <a:pathLst>
              <a:path w="3713814" h="2257778">
                <a:moveTo>
                  <a:pt x="73716" y="0"/>
                </a:moveTo>
                <a:lnTo>
                  <a:pt x="3640098" y="0"/>
                </a:lnTo>
                <a:cubicBezTo>
                  <a:pt x="3680810" y="0"/>
                  <a:pt x="3713814" y="33004"/>
                  <a:pt x="3713814" y="73716"/>
                </a:cubicBezTo>
                <a:lnTo>
                  <a:pt x="3713814" y="2184061"/>
                </a:lnTo>
                <a:cubicBezTo>
                  <a:pt x="3713814" y="2224774"/>
                  <a:pt x="3680810" y="2257778"/>
                  <a:pt x="3640098" y="2257778"/>
                </a:cubicBezTo>
                <a:lnTo>
                  <a:pt x="73716" y="2257778"/>
                </a:lnTo>
                <a:cubicBezTo>
                  <a:pt x="33004" y="2257778"/>
                  <a:pt x="0" y="2224774"/>
                  <a:pt x="0" y="2184061"/>
                </a:cubicBezTo>
                <a:lnTo>
                  <a:pt x="0" y="73716"/>
                </a:lnTo>
                <a:cubicBezTo>
                  <a:pt x="0" y="33031"/>
                  <a:pt x="33031" y="0"/>
                  <a:pt x="73716" y="0"/>
                </a:cubicBezTo>
                <a:close/>
              </a:path>
            </a:pathLst>
          </a:custGeom>
          <a:solidFill>
            <a:srgbClr val="8E8E93">
              <a:alpha val="10196"/>
            </a:srgbClr>
          </a:solidFill>
          <a:ln w="12700">
            <a:solidFill>
              <a:srgbClr val="8E8E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258024" y="2055039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73725" y="0"/>
                </a:moveTo>
                <a:lnTo>
                  <a:pt x="368615" y="0"/>
                </a:lnTo>
                <a:cubicBezTo>
                  <a:pt x="409305" y="0"/>
                  <a:pt x="442340" y="33035"/>
                  <a:pt x="442340" y="73725"/>
                </a:cubicBezTo>
                <a:lnTo>
                  <a:pt x="442340" y="368615"/>
                </a:lnTo>
                <a:cubicBezTo>
                  <a:pt x="442340" y="409305"/>
                  <a:pt x="409305" y="442340"/>
                  <a:pt x="368615" y="442340"/>
                </a:cubicBezTo>
                <a:lnTo>
                  <a:pt x="73725" y="442340"/>
                </a:lnTo>
                <a:cubicBezTo>
                  <a:pt x="33035" y="442340"/>
                  <a:pt x="0" y="409305"/>
                  <a:pt x="0" y="368615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8E8E9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87040" y="2184054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69116" y="23039"/>
                </a:moveTo>
                <a:cubicBezTo>
                  <a:pt x="69116" y="16667"/>
                  <a:pt x="74263" y="11519"/>
                  <a:pt x="80635" y="11519"/>
                </a:cubicBezTo>
                <a:lnTo>
                  <a:pt x="103673" y="11519"/>
                </a:lnTo>
                <a:cubicBezTo>
                  <a:pt x="110045" y="11519"/>
                  <a:pt x="115193" y="16667"/>
                  <a:pt x="115193" y="23039"/>
                </a:cubicBezTo>
                <a:lnTo>
                  <a:pt x="115193" y="46077"/>
                </a:lnTo>
                <a:cubicBezTo>
                  <a:pt x="115193" y="52449"/>
                  <a:pt x="110045" y="57596"/>
                  <a:pt x="103673" y="57596"/>
                </a:cubicBezTo>
                <a:lnTo>
                  <a:pt x="100794" y="57596"/>
                </a:lnTo>
                <a:lnTo>
                  <a:pt x="100794" y="80635"/>
                </a:lnTo>
                <a:lnTo>
                  <a:pt x="143991" y="80635"/>
                </a:lnTo>
                <a:cubicBezTo>
                  <a:pt x="158318" y="80635"/>
                  <a:pt x="169909" y="92226"/>
                  <a:pt x="169909" y="106553"/>
                </a:cubicBezTo>
                <a:lnTo>
                  <a:pt x="169909" y="126712"/>
                </a:lnTo>
                <a:lnTo>
                  <a:pt x="172789" y="126712"/>
                </a:lnTo>
                <a:cubicBezTo>
                  <a:pt x="179161" y="126712"/>
                  <a:pt x="184308" y="131860"/>
                  <a:pt x="184308" y="138231"/>
                </a:cubicBezTo>
                <a:lnTo>
                  <a:pt x="184308" y="161270"/>
                </a:lnTo>
                <a:cubicBezTo>
                  <a:pt x="184308" y="167641"/>
                  <a:pt x="179161" y="172789"/>
                  <a:pt x="172789" y="172789"/>
                </a:cubicBezTo>
                <a:lnTo>
                  <a:pt x="149751" y="172789"/>
                </a:lnTo>
                <a:cubicBezTo>
                  <a:pt x="143379" y="172789"/>
                  <a:pt x="138231" y="167641"/>
                  <a:pt x="138231" y="161270"/>
                </a:cubicBezTo>
                <a:lnTo>
                  <a:pt x="138231" y="138231"/>
                </a:lnTo>
                <a:cubicBezTo>
                  <a:pt x="138231" y="131860"/>
                  <a:pt x="143379" y="126712"/>
                  <a:pt x="149751" y="126712"/>
                </a:cubicBezTo>
                <a:lnTo>
                  <a:pt x="152630" y="126712"/>
                </a:lnTo>
                <a:lnTo>
                  <a:pt x="152630" y="106553"/>
                </a:lnTo>
                <a:cubicBezTo>
                  <a:pt x="152630" y="101766"/>
                  <a:pt x="148779" y="97914"/>
                  <a:pt x="143991" y="97914"/>
                </a:cubicBezTo>
                <a:lnTo>
                  <a:pt x="100794" y="97914"/>
                </a:lnTo>
                <a:lnTo>
                  <a:pt x="100794" y="126712"/>
                </a:lnTo>
                <a:lnTo>
                  <a:pt x="103673" y="126712"/>
                </a:lnTo>
                <a:cubicBezTo>
                  <a:pt x="110045" y="126712"/>
                  <a:pt x="115193" y="131860"/>
                  <a:pt x="115193" y="138231"/>
                </a:cubicBezTo>
                <a:lnTo>
                  <a:pt x="115193" y="161270"/>
                </a:lnTo>
                <a:cubicBezTo>
                  <a:pt x="115193" y="167641"/>
                  <a:pt x="110045" y="172789"/>
                  <a:pt x="103673" y="172789"/>
                </a:cubicBezTo>
                <a:lnTo>
                  <a:pt x="80635" y="172789"/>
                </a:lnTo>
                <a:cubicBezTo>
                  <a:pt x="74263" y="172789"/>
                  <a:pt x="69116" y="167641"/>
                  <a:pt x="69116" y="161270"/>
                </a:cubicBezTo>
                <a:lnTo>
                  <a:pt x="69116" y="138231"/>
                </a:lnTo>
                <a:cubicBezTo>
                  <a:pt x="69116" y="131860"/>
                  <a:pt x="74263" y="126712"/>
                  <a:pt x="80635" y="126712"/>
                </a:cubicBezTo>
                <a:lnTo>
                  <a:pt x="83515" y="126712"/>
                </a:lnTo>
                <a:lnTo>
                  <a:pt x="83515" y="97914"/>
                </a:lnTo>
                <a:lnTo>
                  <a:pt x="40317" y="97914"/>
                </a:lnTo>
                <a:cubicBezTo>
                  <a:pt x="35530" y="97914"/>
                  <a:pt x="31678" y="101766"/>
                  <a:pt x="31678" y="106553"/>
                </a:cubicBezTo>
                <a:lnTo>
                  <a:pt x="31678" y="126712"/>
                </a:lnTo>
                <a:lnTo>
                  <a:pt x="34558" y="126712"/>
                </a:lnTo>
                <a:cubicBezTo>
                  <a:pt x="40929" y="126712"/>
                  <a:pt x="46077" y="131860"/>
                  <a:pt x="46077" y="138231"/>
                </a:cubicBezTo>
                <a:lnTo>
                  <a:pt x="46077" y="161270"/>
                </a:lnTo>
                <a:cubicBezTo>
                  <a:pt x="46077" y="167641"/>
                  <a:pt x="40929" y="172789"/>
                  <a:pt x="34558" y="172789"/>
                </a:cubicBezTo>
                <a:lnTo>
                  <a:pt x="11519" y="172789"/>
                </a:lnTo>
                <a:cubicBezTo>
                  <a:pt x="5148" y="172789"/>
                  <a:pt x="0" y="167641"/>
                  <a:pt x="0" y="161270"/>
                </a:cubicBezTo>
                <a:lnTo>
                  <a:pt x="0" y="138231"/>
                </a:lnTo>
                <a:cubicBezTo>
                  <a:pt x="0" y="131860"/>
                  <a:pt x="5148" y="126712"/>
                  <a:pt x="11519" y="126712"/>
                </a:cubicBezTo>
                <a:lnTo>
                  <a:pt x="14399" y="126712"/>
                </a:lnTo>
                <a:lnTo>
                  <a:pt x="14399" y="106553"/>
                </a:lnTo>
                <a:cubicBezTo>
                  <a:pt x="14399" y="92226"/>
                  <a:pt x="25990" y="80635"/>
                  <a:pt x="40317" y="80635"/>
                </a:cubicBezTo>
                <a:lnTo>
                  <a:pt x="83515" y="80635"/>
                </a:lnTo>
                <a:lnTo>
                  <a:pt x="83515" y="57596"/>
                </a:lnTo>
                <a:lnTo>
                  <a:pt x="80635" y="57596"/>
                </a:lnTo>
                <a:cubicBezTo>
                  <a:pt x="74263" y="57596"/>
                  <a:pt x="69116" y="52449"/>
                  <a:pt x="69116" y="46077"/>
                </a:cubicBezTo>
                <a:lnTo>
                  <a:pt x="69116" y="23039"/>
                </a:lnTo>
                <a:close/>
              </a:path>
            </a:pathLst>
          </a:custGeom>
          <a:solidFill>
            <a:srgbClr val="8E8E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810949" y="2147193"/>
            <a:ext cx="74644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混合模型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58024" y="2607964"/>
            <a:ext cx="3409705" cy="663510"/>
          </a:xfrm>
          <a:custGeom>
            <a:avLst/>
            <a:gdLst/>
            <a:ahLst/>
            <a:cxnLst/>
            <a:rect l="l" t="t" r="r" b="b"/>
            <a:pathLst>
              <a:path w="3409705" h="663510">
                <a:moveTo>
                  <a:pt x="73723" y="0"/>
                </a:moveTo>
                <a:lnTo>
                  <a:pt x="3335983" y="0"/>
                </a:lnTo>
                <a:cubicBezTo>
                  <a:pt x="3376698" y="0"/>
                  <a:pt x="3409705" y="33007"/>
                  <a:pt x="3409705" y="73723"/>
                </a:cubicBezTo>
                <a:lnTo>
                  <a:pt x="3409705" y="589788"/>
                </a:lnTo>
                <a:cubicBezTo>
                  <a:pt x="3409705" y="630503"/>
                  <a:pt x="3376698" y="663510"/>
                  <a:pt x="3335983" y="663510"/>
                </a:cubicBezTo>
                <a:lnTo>
                  <a:pt x="73723" y="663510"/>
                </a:lnTo>
                <a:cubicBezTo>
                  <a:pt x="33007" y="663510"/>
                  <a:pt x="0" y="630503"/>
                  <a:pt x="0" y="589788"/>
                </a:cubicBezTo>
                <a:lnTo>
                  <a:pt x="0" y="73723"/>
                </a:lnTo>
                <a:cubicBezTo>
                  <a:pt x="0" y="33007"/>
                  <a:pt x="33007" y="0"/>
                  <a:pt x="73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368609" y="2718549"/>
            <a:ext cx="3262259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有效匹配长度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68609" y="2976580"/>
            <a:ext cx="325304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取 Full Attention 和 Sliding Window 匹配长度的</a:t>
            </a:r>
            <a:r>
              <a:rPr lang="en-US" sz="1016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较小值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58024" y="3345197"/>
            <a:ext cx="3409705" cy="663510"/>
          </a:xfrm>
          <a:custGeom>
            <a:avLst/>
            <a:gdLst/>
            <a:ahLst/>
            <a:cxnLst/>
            <a:rect l="l" t="t" r="r" b="b"/>
            <a:pathLst>
              <a:path w="3409705" h="663510">
                <a:moveTo>
                  <a:pt x="73723" y="0"/>
                </a:moveTo>
                <a:lnTo>
                  <a:pt x="3335983" y="0"/>
                </a:lnTo>
                <a:cubicBezTo>
                  <a:pt x="3376698" y="0"/>
                  <a:pt x="3409705" y="33007"/>
                  <a:pt x="3409705" y="73723"/>
                </a:cubicBezTo>
                <a:lnTo>
                  <a:pt x="3409705" y="589788"/>
                </a:lnTo>
                <a:cubicBezTo>
                  <a:pt x="3409705" y="630503"/>
                  <a:pt x="3376698" y="663510"/>
                  <a:pt x="3335983" y="663510"/>
                </a:cubicBezTo>
                <a:lnTo>
                  <a:pt x="73723" y="663510"/>
                </a:lnTo>
                <a:cubicBezTo>
                  <a:pt x="33007" y="663510"/>
                  <a:pt x="0" y="630503"/>
                  <a:pt x="0" y="589788"/>
                </a:cubicBezTo>
                <a:lnTo>
                  <a:pt x="0" y="73723"/>
                </a:lnTo>
                <a:cubicBezTo>
                  <a:pt x="0" y="33007"/>
                  <a:pt x="33007" y="0"/>
                  <a:pt x="73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368609" y="3455782"/>
            <a:ext cx="3262259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策略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68609" y="3713814"/>
            <a:ext cx="325304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保守但安全的匹配策略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73224" y="4317424"/>
            <a:ext cx="11445551" cy="1778576"/>
          </a:xfrm>
          <a:custGeom>
            <a:avLst/>
            <a:gdLst/>
            <a:ahLst/>
            <a:cxnLst/>
            <a:rect l="l" t="t" r="r" b="b"/>
            <a:pathLst>
              <a:path w="11445551" h="1778576">
                <a:moveTo>
                  <a:pt x="73722" y="0"/>
                </a:moveTo>
                <a:lnTo>
                  <a:pt x="11371829" y="0"/>
                </a:lnTo>
                <a:cubicBezTo>
                  <a:pt x="11412545" y="0"/>
                  <a:pt x="11445551" y="33006"/>
                  <a:pt x="11445551" y="73722"/>
                </a:cubicBezTo>
                <a:lnTo>
                  <a:pt x="11445551" y="1704854"/>
                </a:lnTo>
                <a:cubicBezTo>
                  <a:pt x="11445551" y="1745570"/>
                  <a:pt x="11412545" y="1778576"/>
                  <a:pt x="11371829" y="1778576"/>
                </a:cubicBezTo>
                <a:lnTo>
                  <a:pt x="73722" y="1778576"/>
                </a:lnTo>
                <a:cubicBezTo>
                  <a:pt x="33006" y="1778576"/>
                  <a:pt x="0" y="1745570"/>
                  <a:pt x="0" y="1704854"/>
                </a:cubicBezTo>
                <a:lnTo>
                  <a:pt x="0" y="73722"/>
                </a:lnTo>
                <a:cubicBezTo>
                  <a:pt x="0" y="33006"/>
                  <a:pt x="33006" y="0"/>
                  <a:pt x="73722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36798" y="4506340"/>
            <a:ext cx="207347" cy="184308"/>
          </a:xfrm>
          <a:custGeom>
            <a:avLst/>
            <a:gdLst/>
            <a:ahLst/>
            <a:cxnLst/>
            <a:rect l="l" t="t" r="r" b="b"/>
            <a:pathLst>
              <a:path w="207347" h="184308">
                <a:moveTo>
                  <a:pt x="129880" y="432"/>
                </a:moveTo>
                <a:cubicBezTo>
                  <a:pt x="123760" y="-1332"/>
                  <a:pt x="117389" y="2232"/>
                  <a:pt x="115625" y="8351"/>
                </a:cubicBezTo>
                <a:lnTo>
                  <a:pt x="69548" y="169621"/>
                </a:lnTo>
                <a:cubicBezTo>
                  <a:pt x="67784" y="175741"/>
                  <a:pt x="71348" y="182113"/>
                  <a:pt x="77467" y="183876"/>
                </a:cubicBezTo>
                <a:cubicBezTo>
                  <a:pt x="83587" y="185640"/>
                  <a:pt x="89958" y="182077"/>
                  <a:pt x="91722" y="175957"/>
                </a:cubicBezTo>
                <a:lnTo>
                  <a:pt x="137799" y="14687"/>
                </a:lnTo>
                <a:cubicBezTo>
                  <a:pt x="139563" y="8567"/>
                  <a:pt x="135999" y="2196"/>
                  <a:pt x="129880" y="432"/>
                </a:cubicBezTo>
                <a:close/>
                <a:moveTo>
                  <a:pt x="153134" y="49425"/>
                </a:moveTo>
                <a:cubicBezTo>
                  <a:pt x="148635" y="53925"/>
                  <a:pt x="148635" y="61232"/>
                  <a:pt x="153134" y="65732"/>
                </a:cubicBezTo>
                <a:lnTo>
                  <a:pt x="179557" y="92154"/>
                </a:lnTo>
                <a:lnTo>
                  <a:pt x="153134" y="118577"/>
                </a:lnTo>
                <a:cubicBezTo>
                  <a:pt x="148635" y="123076"/>
                  <a:pt x="148635" y="130384"/>
                  <a:pt x="153134" y="134884"/>
                </a:cubicBezTo>
                <a:cubicBezTo>
                  <a:pt x="157634" y="139383"/>
                  <a:pt x="164942" y="139383"/>
                  <a:pt x="169441" y="134884"/>
                </a:cubicBezTo>
                <a:lnTo>
                  <a:pt x="203999" y="100326"/>
                </a:lnTo>
                <a:cubicBezTo>
                  <a:pt x="208499" y="95826"/>
                  <a:pt x="208499" y="88518"/>
                  <a:pt x="203999" y="84019"/>
                </a:cubicBezTo>
                <a:lnTo>
                  <a:pt x="169441" y="49461"/>
                </a:lnTo>
                <a:cubicBezTo>
                  <a:pt x="164942" y="44961"/>
                  <a:pt x="157634" y="44961"/>
                  <a:pt x="153134" y="49461"/>
                </a:cubicBezTo>
                <a:close/>
                <a:moveTo>
                  <a:pt x="54249" y="49425"/>
                </a:moveTo>
                <a:cubicBezTo>
                  <a:pt x="49749" y="44925"/>
                  <a:pt x="42441" y="44925"/>
                  <a:pt x="37942" y="49425"/>
                </a:cubicBezTo>
                <a:lnTo>
                  <a:pt x="3384" y="83983"/>
                </a:lnTo>
                <a:cubicBezTo>
                  <a:pt x="-1116" y="88482"/>
                  <a:pt x="-1116" y="95790"/>
                  <a:pt x="3384" y="100290"/>
                </a:cubicBezTo>
                <a:lnTo>
                  <a:pt x="37942" y="134848"/>
                </a:lnTo>
                <a:cubicBezTo>
                  <a:pt x="42441" y="139347"/>
                  <a:pt x="49749" y="139347"/>
                  <a:pt x="54249" y="134848"/>
                </a:cubicBezTo>
                <a:cubicBezTo>
                  <a:pt x="58748" y="130348"/>
                  <a:pt x="58748" y="123040"/>
                  <a:pt x="54249" y="118541"/>
                </a:cubicBezTo>
                <a:lnTo>
                  <a:pt x="27826" y="92154"/>
                </a:lnTo>
                <a:lnTo>
                  <a:pt x="54213" y="65732"/>
                </a:lnTo>
                <a:cubicBezTo>
                  <a:pt x="58712" y="61232"/>
                  <a:pt x="58712" y="53925"/>
                  <a:pt x="54213" y="49425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66249" y="4469478"/>
            <a:ext cx="156662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匹配长度计算示例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25279" y="4838095"/>
            <a:ext cx="11141442" cy="1105850"/>
          </a:xfrm>
          <a:custGeom>
            <a:avLst/>
            <a:gdLst/>
            <a:ahLst/>
            <a:cxnLst/>
            <a:rect l="l" t="t" r="r" b="b"/>
            <a:pathLst>
              <a:path w="11141442" h="1105850">
                <a:moveTo>
                  <a:pt x="73727" y="0"/>
                </a:moveTo>
                <a:lnTo>
                  <a:pt x="11067715" y="0"/>
                </a:lnTo>
                <a:cubicBezTo>
                  <a:pt x="11108433" y="0"/>
                  <a:pt x="11141442" y="33009"/>
                  <a:pt x="11141442" y="73727"/>
                </a:cubicBezTo>
                <a:lnTo>
                  <a:pt x="11141442" y="1032123"/>
                </a:lnTo>
                <a:cubicBezTo>
                  <a:pt x="11141442" y="1072842"/>
                  <a:pt x="11108433" y="1105850"/>
                  <a:pt x="11067715" y="1105850"/>
                </a:cubicBezTo>
                <a:lnTo>
                  <a:pt x="73727" y="1105850"/>
                </a:lnTo>
                <a:cubicBezTo>
                  <a:pt x="33009" y="1105850"/>
                  <a:pt x="0" y="1072842"/>
                  <a:pt x="0" y="1032123"/>
                </a:cubicBezTo>
                <a:lnTo>
                  <a:pt x="0" y="73727"/>
                </a:lnTo>
                <a:cubicBezTo>
                  <a:pt x="0" y="33036"/>
                  <a:pt x="33036" y="0"/>
                  <a:pt x="7372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35864" y="4948680"/>
            <a:ext cx="1098478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假设: Full Attention 匹配长度 = 1000, Sliding Window 大小 = 512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5864" y="5206712"/>
            <a:ext cx="1098478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full_attn_match = 1000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864" y="5391020"/>
            <a:ext cx="1098478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sliding_window_match = 512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5864" y="5649052"/>
            <a:ext cx="1098478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effective_match = min(full_attn_match, sliding_window_match) # = 512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783" y="367783"/>
            <a:ext cx="1152999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kern="0" spc="58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783" y="662009"/>
            <a:ext cx="11621937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APC 的局限性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2380" y="1181502"/>
            <a:ext cx="3714606" cy="3061792"/>
          </a:xfrm>
          <a:custGeom>
            <a:avLst/>
            <a:gdLst/>
            <a:ahLst/>
            <a:cxnLst/>
            <a:rect l="l" t="t" r="r" b="b"/>
            <a:pathLst>
              <a:path w="3714606" h="3061792">
                <a:moveTo>
                  <a:pt x="73544" y="0"/>
                </a:moveTo>
                <a:lnTo>
                  <a:pt x="3641062" y="0"/>
                </a:lnTo>
                <a:cubicBezTo>
                  <a:pt x="3681679" y="0"/>
                  <a:pt x="3714606" y="32927"/>
                  <a:pt x="3714606" y="73544"/>
                </a:cubicBezTo>
                <a:lnTo>
                  <a:pt x="3714606" y="2988248"/>
                </a:lnTo>
                <a:cubicBezTo>
                  <a:pt x="3714606" y="3028865"/>
                  <a:pt x="3681679" y="3061792"/>
                  <a:pt x="3641062" y="3061792"/>
                </a:cubicBezTo>
                <a:lnTo>
                  <a:pt x="73544" y="3061792"/>
                </a:lnTo>
                <a:cubicBezTo>
                  <a:pt x="32927" y="3061792"/>
                  <a:pt x="0" y="3028865"/>
                  <a:pt x="0" y="2988248"/>
                </a:cubicBezTo>
                <a:lnTo>
                  <a:pt x="0" y="73544"/>
                </a:lnTo>
                <a:cubicBezTo>
                  <a:pt x="0" y="32954"/>
                  <a:pt x="32954" y="0"/>
                  <a:pt x="73544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4090" y="1333213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73558" y="0"/>
                </a:moveTo>
                <a:lnTo>
                  <a:pt x="367781" y="0"/>
                </a:lnTo>
                <a:cubicBezTo>
                  <a:pt x="408406" y="0"/>
                  <a:pt x="441339" y="32933"/>
                  <a:pt x="441339" y="73558"/>
                </a:cubicBezTo>
                <a:lnTo>
                  <a:pt x="441339" y="367781"/>
                </a:lnTo>
                <a:cubicBezTo>
                  <a:pt x="441339" y="408406"/>
                  <a:pt x="408406" y="441339"/>
                  <a:pt x="367781" y="441339"/>
                </a:cubicBezTo>
                <a:lnTo>
                  <a:pt x="73558" y="441339"/>
                </a:lnTo>
                <a:cubicBezTo>
                  <a:pt x="32933" y="441339"/>
                  <a:pt x="0" y="408406"/>
                  <a:pt x="0" y="367781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52814" y="1461937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22986" y="22986"/>
                </a:moveTo>
                <a:cubicBezTo>
                  <a:pt x="10308" y="22986"/>
                  <a:pt x="0" y="33294"/>
                  <a:pt x="0" y="45973"/>
                </a:cubicBezTo>
                <a:lnTo>
                  <a:pt x="0" y="48631"/>
                </a:lnTo>
                <a:cubicBezTo>
                  <a:pt x="0" y="51073"/>
                  <a:pt x="1580" y="53156"/>
                  <a:pt x="3628" y="54485"/>
                </a:cubicBezTo>
                <a:cubicBezTo>
                  <a:pt x="8368" y="57574"/>
                  <a:pt x="11493" y="62889"/>
                  <a:pt x="11493" y="68959"/>
                </a:cubicBezTo>
                <a:cubicBezTo>
                  <a:pt x="11493" y="75029"/>
                  <a:pt x="8368" y="80345"/>
                  <a:pt x="3628" y="83434"/>
                </a:cubicBezTo>
                <a:cubicBezTo>
                  <a:pt x="1580" y="84762"/>
                  <a:pt x="0" y="86846"/>
                  <a:pt x="0" y="89288"/>
                </a:cubicBezTo>
                <a:lnTo>
                  <a:pt x="0" y="109186"/>
                </a:lnTo>
                <a:lnTo>
                  <a:pt x="183891" y="109186"/>
                </a:lnTo>
                <a:lnTo>
                  <a:pt x="183891" y="89288"/>
                </a:lnTo>
                <a:cubicBezTo>
                  <a:pt x="183891" y="86846"/>
                  <a:pt x="182311" y="84762"/>
                  <a:pt x="180264" y="83434"/>
                </a:cubicBezTo>
                <a:cubicBezTo>
                  <a:pt x="175523" y="80345"/>
                  <a:pt x="172398" y="75029"/>
                  <a:pt x="172398" y="68959"/>
                </a:cubicBezTo>
                <a:cubicBezTo>
                  <a:pt x="172398" y="62889"/>
                  <a:pt x="175523" y="57574"/>
                  <a:pt x="180264" y="54485"/>
                </a:cubicBezTo>
                <a:cubicBezTo>
                  <a:pt x="182311" y="53156"/>
                  <a:pt x="183891" y="51073"/>
                  <a:pt x="183891" y="48631"/>
                </a:cubicBezTo>
                <a:lnTo>
                  <a:pt x="183891" y="45973"/>
                </a:lnTo>
                <a:cubicBezTo>
                  <a:pt x="183891" y="33294"/>
                  <a:pt x="173583" y="22986"/>
                  <a:pt x="160905" y="22986"/>
                </a:cubicBezTo>
                <a:lnTo>
                  <a:pt x="22986" y="22986"/>
                </a:lnTo>
                <a:close/>
                <a:moveTo>
                  <a:pt x="183891" y="149412"/>
                </a:moveTo>
                <a:lnTo>
                  <a:pt x="183891" y="126425"/>
                </a:lnTo>
                <a:lnTo>
                  <a:pt x="0" y="126425"/>
                </a:lnTo>
                <a:lnTo>
                  <a:pt x="0" y="149412"/>
                </a:lnTo>
                <a:cubicBezTo>
                  <a:pt x="0" y="155769"/>
                  <a:pt x="5136" y="160905"/>
                  <a:pt x="11493" y="160905"/>
                </a:cubicBezTo>
                <a:lnTo>
                  <a:pt x="34480" y="160905"/>
                </a:lnTo>
                <a:lnTo>
                  <a:pt x="34480" y="152285"/>
                </a:lnTo>
                <a:cubicBezTo>
                  <a:pt x="34480" y="147508"/>
                  <a:pt x="38323" y="143665"/>
                  <a:pt x="43100" y="143665"/>
                </a:cubicBezTo>
                <a:cubicBezTo>
                  <a:pt x="47876" y="143665"/>
                  <a:pt x="51719" y="147508"/>
                  <a:pt x="51719" y="152285"/>
                </a:cubicBezTo>
                <a:lnTo>
                  <a:pt x="51719" y="160905"/>
                </a:lnTo>
                <a:lnTo>
                  <a:pt x="83326" y="160905"/>
                </a:lnTo>
                <a:lnTo>
                  <a:pt x="83326" y="152285"/>
                </a:lnTo>
                <a:cubicBezTo>
                  <a:pt x="83326" y="147508"/>
                  <a:pt x="87169" y="143665"/>
                  <a:pt x="91946" y="143665"/>
                </a:cubicBezTo>
                <a:cubicBezTo>
                  <a:pt x="96723" y="143665"/>
                  <a:pt x="100566" y="147508"/>
                  <a:pt x="100566" y="152285"/>
                </a:cubicBezTo>
                <a:lnTo>
                  <a:pt x="100566" y="160905"/>
                </a:lnTo>
                <a:lnTo>
                  <a:pt x="132172" y="160905"/>
                </a:lnTo>
                <a:lnTo>
                  <a:pt x="132172" y="152285"/>
                </a:lnTo>
                <a:cubicBezTo>
                  <a:pt x="132172" y="147508"/>
                  <a:pt x="136015" y="143665"/>
                  <a:pt x="140792" y="143665"/>
                </a:cubicBezTo>
                <a:cubicBezTo>
                  <a:pt x="145569" y="143665"/>
                  <a:pt x="149412" y="147508"/>
                  <a:pt x="149412" y="152285"/>
                </a:cubicBezTo>
                <a:lnTo>
                  <a:pt x="149412" y="160905"/>
                </a:lnTo>
                <a:lnTo>
                  <a:pt x="172398" y="160905"/>
                </a:lnTo>
                <a:cubicBezTo>
                  <a:pt x="178755" y="160905"/>
                  <a:pt x="183891" y="155769"/>
                  <a:pt x="183891" y="149412"/>
                </a:cubicBezTo>
                <a:close/>
                <a:moveTo>
                  <a:pt x="57466" y="57466"/>
                </a:moveTo>
                <a:lnTo>
                  <a:pt x="57466" y="80452"/>
                </a:lnTo>
                <a:cubicBezTo>
                  <a:pt x="57466" y="86810"/>
                  <a:pt x="52330" y="91946"/>
                  <a:pt x="45973" y="91946"/>
                </a:cubicBezTo>
                <a:cubicBezTo>
                  <a:pt x="39616" y="91946"/>
                  <a:pt x="34480" y="86810"/>
                  <a:pt x="34480" y="80452"/>
                </a:cubicBezTo>
                <a:lnTo>
                  <a:pt x="34480" y="57466"/>
                </a:lnTo>
                <a:cubicBezTo>
                  <a:pt x="34480" y="51109"/>
                  <a:pt x="39616" y="45973"/>
                  <a:pt x="45973" y="45973"/>
                </a:cubicBezTo>
                <a:cubicBezTo>
                  <a:pt x="52330" y="45973"/>
                  <a:pt x="57466" y="51109"/>
                  <a:pt x="57466" y="57466"/>
                </a:cubicBezTo>
                <a:close/>
                <a:moveTo>
                  <a:pt x="103439" y="57466"/>
                </a:moveTo>
                <a:lnTo>
                  <a:pt x="103439" y="80452"/>
                </a:lnTo>
                <a:cubicBezTo>
                  <a:pt x="103439" y="86810"/>
                  <a:pt x="98303" y="91946"/>
                  <a:pt x="91946" y="91946"/>
                </a:cubicBezTo>
                <a:cubicBezTo>
                  <a:pt x="85589" y="91946"/>
                  <a:pt x="80452" y="86810"/>
                  <a:pt x="80452" y="80452"/>
                </a:cubicBezTo>
                <a:lnTo>
                  <a:pt x="80452" y="57466"/>
                </a:lnTo>
                <a:cubicBezTo>
                  <a:pt x="80452" y="51109"/>
                  <a:pt x="85589" y="45973"/>
                  <a:pt x="91946" y="45973"/>
                </a:cubicBezTo>
                <a:cubicBezTo>
                  <a:pt x="98303" y="45973"/>
                  <a:pt x="103439" y="51109"/>
                  <a:pt x="103439" y="57466"/>
                </a:cubicBezTo>
                <a:close/>
                <a:moveTo>
                  <a:pt x="149412" y="57466"/>
                </a:moveTo>
                <a:lnTo>
                  <a:pt x="149412" y="80452"/>
                </a:lnTo>
                <a:cubicBezTo>
                  <a:pt x="149412" y="86810"/>
                  <a:pt x="144276" y="91946"/>
                  <a:pt x="137919" y="91946"/>
                </a:cubicBezTo>
                <a:cubicBezTo>
                  <a:pt x="131561" y="91946"/>
                  <a:pt x="126425" y="86810"/>
                  <a:pt x="126425" y="80452"/>
                </a:cubicBezTo>
                <a:lnTo>
                  <a:pt x="126425" y="57466"/>
                </a:lnTo>
                <a:cubicBezTo>
                  <a:pt x="126425" y="51109"/>
                  <a:pt x="131561" y="45973"/>
                  <a:pt x="137919" y="45973"/>
                </a:cubicBezTo>
                <a:cubicBezTo>
                  <a:pt x="144276" y="45973"/>
                  <a:pt x="149412" y="51109"/>
                  <a:pt x="149412" y="57466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75765" y="1425158"/>
            <a:ext cx="134240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仅限 GPU 显存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4090" y="1884887"/>
            <a:ext cx="3411186" cy="689593"/>
          </a:xfrm>
          <a:custGeom>
            <a:avLst/>
            <a:gdLst/>
            <a:ahLst/>
            <a:cxnLst/>
            <a:rect l="l" t="t" r="r" b="b"/>
            <a:pathLst>
              <a:path w="3411186" h="689593">
                <a:moveTo>
                  <a:pt x="73559" y="0"/>
                </a:moveTo>
                <a:lnTo>
                  <a:pt x="3337627" y="0"/>
                </a:lnTo>
                <a:cubicBezTo>
                  <a:pt x="3378252" y="0"/>
                  <a:pt x="3411186" y="32933"/>
                  <a:pt x="3411186" y="73559"/>
                </a:cubicBezTo>
                <a:lnTo>
                  <a:pt x="3411186" y="616034"/>
                </a:lnTo>
                <a:cubicBezTo>
                  <a:pt x="3411186" y="656659"/>
                  <a:pt x="3378252" y="689593"/>
                  <a:pt x="3337627" y="689593"/>
                </a:cubicBezTo>
                <a:lnTo>
                  <a:pt x="73559" y="689593"/>
                </a:lnTo>
                <a:cubicBezTo>
                  <a:pt x="32933" y="689593"/>
                  <a:pt x="0" y="656659"/>
                  <a:pt x="0" y="616034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34425" y="1995222"/>
            <a:ext cx="326407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容量限制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4425" y="2252670"/>
            <a:ext cx="3254878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缓存存储在 GPU 显存中,受容量限制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4090" y="2645738"/>
            <a:ext cx="3411186" cy="689593"/>
          </a:xfrm>
          <a:custGeom>
            <a:avLst/>
            <a:gdLst/>
            <a:ahLst/>
            <a:cxnLst/>
            <a:rect l="l" t="t" r="r" b="b"/>
            <a:pathLst>
              <a:path w="3411186" h="689593">
                <a:moveTo>
                  <a:pt x="73559" y="0"/>
                </a:moveTo>
                <a:lnTo>
                  <a:pt x="3337627" y="0"/>
                </a:lnTo>
                <a:cubicBezTo>
                  <a:pt x="3378252" y="0"/>
                  <a:pt x="3411186" y="32933"/>
                  <a:pt x="3411186" y="73559"/>
                </a:cubicBezTo>
                <a:lnTo>
                  <a:pt x="3411186" y="616034"/>
                </a:lnTo>
                <a:cubicBezTo>
                  <a:pt x="3411186" y="656659"/>
                  <a:pt x="3378252" y="689593"/>
                  <a:pt x="3337627" y="689593"/>
                </a:cubicBezTo>
                <a:lnTo>
                  <a:pt x="73559" y="689593"/>
                </a:lnTo>
                <a:cubicBezTo>
                  <a:pt x="32933" y="689593"/>
                  <a:pt x="0" y="656659"/>
                  <a:pt x="0" y="616034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34425" y="2756072"/>
            <a:ext cx="326407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碎片化问题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4425" y="3013520"/>
            <a:ext cx="3254878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大量短前缀缓存占据显存,可能导致 Block Table 碎片化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4090" y="3406588"/>
            <a:ext cx="3411186" cy="689593"/>
          </a:xfrm>
          <a:custGeom>
            <a:avLst/>
            <a:gdLst/>
            <a:ahLst/>
            <a:cxnLst/>
            <a:rect l="l" t="t" r="r" b="b"/>
            <a:pathLst>
              <a:path w="3411186" h="689593">
                <a:moveTo>
                  <a:pt x="73559" y="0"/>
                </a:moveTo>
                <a:lnTo>
                  <a:pt x="3337627" y="0"/>
                </a:lnTo>
                <a:cubicBezTo>
                  <a:pt x="3378252" y="0"/>
                  <a:pt x="3411186" y="32933"/>
                  <a:pt x="3411186" y="73559"/>
                </a:cubicBezTo>
                <a:lnTo>
                  <a:pt x="3411186" y="616034"/>
                </a:lnTo>
                <a:cubicBezTo>
                  <a:pt x="3411186" y="656659"/>
                  <a:pt x="3378252" y="689593"/>
                  <a:pt x="3337627" y="689593"/>
                </a:cubicBezTo>
                <a:lnTo>
                  <a:pt x="73559" y="689593"/>
                </a:lnTo>
                <a:cubicBezTo>
                  <a:pt x="32933" y="689593"/>
                  <a:pt x="0" y="656659"/>
                  <a:pt x="0" y="616034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34425" y="3516923"/>
            <a:ext cx="326407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425" y="3774371"/>
            <a:ext cx="3254878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影响大 batch 的分配效率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0852" y="1181502"/>
            <a:ext cx="3714606" cy="3061792"/>
          </a:xfrm>
          <a:custGeom>
            <a:avLst/>
            <a:gdLst/>
            <a:ahLst/>
            <a:cxnLst/>
            <a:rect l="l" t="t" r="r" b="b"/>
            <a:pathLst>
              <a:path w="3714606" h="3061792">
                <a:moveTo>
                  <a:pt x="73544" y="0"/>
                </a:moveTo>
                <a:lnTo>
                  <a:pt x="3641062" y="0"/>
                </a:lnTo>
                <a:cubicBezTo>
                  <a:pt x="3681679" y="0"/>
                  <a:pt x="3714606" y="32927"/>
                  <a:pt x="3714606" y="73544"/>
                </a:cubicBezTo>
                <a:lnTo>
                  <a:pt x="3714606" y="2988248"/>
                </a:lnTo>
                <a:cubicBezTo>
                  <a:pt x="3714606" y="3028865"/>
                  <a:pt x="3681679" y="3061792"/>
                  <a:pt x="3641062" y="3061792"/>
                </a:cubicBezTo>
                <a:lnTo>
                  <a:pt x="73544" y="3061792"/>
                </a:lnTo>
                <a:cubicBezTo>
                  <a:pt x="32927" y="3061792"/>
                  <a:pt x="0" y="3028865"/>
                  <a:pt x="0" y="2988248"/>
                </a:cubicBezTo>
                <a:lnTo>
                  <a:pt x="0" y="73544"/>
                </a:lnTo>
                <a:cubicBezTo>
                  <a:pt x="0" y="32954"/>
                  <a:pt x="32954" y="0"/>
                  <a:pt x="73544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392562" y="1333213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73558" y="0"/>
                </a:moveTo>
                <a:lnTo>
                  <a:pt x="367781" y="0"/>
                </a:lnTo>
                <a:cubicBezTo>
                  <a:pt x="408406" y="0"/>
                  <a:pt x="441339" y="32933"/>
                  <a:pt x="441339" y="73558"/>
                </a:cubicBezTo>
                <a:lnTo>
                  <a:pt x="441339" y="367781"/>
                </a:lnTo>
                <a:cubicBezTo>
                  <a:pt x="441339" y="408406"/>
                  <a:pt x="408406" y="441339"/>
                  <a:pt x="367781" y="441339"/>
                </a:cubicBezTo>
                <a:lnTo>
                  <a:pt x="73558" y="441339"/>
                </a:lnTo>
                <a:cubicBezTo>
                  <a:pt x="32933" y="441339"/>
                  <a:pt x="0" y="408406"/>
                  <a:pt x="0" y="367781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32779" y="1461937"/>
            <a:ext cx="160905" cy="183891"/>
          </a:xfrm>
          <a:custGeom>
            <a:avLst/>
            <a:gdLst/>
            <a:ahLst/>
            <a:cxnLst/>
            <a:rect l="l" t="t" r="r" b="b"/>
            <a:pathLst>
              <a:path w="160905" h="183891">
                <a:moveTo>
                  <a:pt x="22986" y="11493"/>
                </a:moveTo>
                <a:cubicBezTo>
                  <a:pt x="10308" y="11493"/>
                  <a:pt x="0" y="21801"/>
                  <a:pt x="0" y="34480"/>
                </a:cubicBezTo>
                <a:lnTo>
                  <a:pt x="0" y="57466"/>
                </a:lnTo>
                <a:cubicBezTo>
                  <a:pt x="0" y="70145"/>
                  <a:pt x="10308" y="80452"/>
                  <a:pt x="22986" y="80452"/>
                </a:cubicBezTo>
                <a:lnTo>
                  <a:pt x="137919" y="80452"/>
                </a:lnTo>
                <a:cubicBezTo>
                  <a:pt x="150597" y="80452"/>
                  <a:pt x="160905" y="70145"/>
                  <a:pt x="160905" y="57466"/>
                </a:cubicBezTo>
                <a:lnTo>
                  <a:pt x="160905" y="34480"/>
                </a:lnTo>
                <a:cubicBezTo>
                  <a:pt x="160905" y="21801"/>
                  <a:pt x="150597" y="11493"/>
                  <a:pt x="137919" y="11493"/>
                </a:cubicBezTo>
                <a:lnTo>
                  <a:pt x="22986" y="11493"/>
                </a:lnTo>
                <a:close/>
                <a:moveTo>
                  <a:pt x="100566" y="37353"/>
                </a:moveTo>
                <a:cubicBezTo>
                  <a:pt x="105323" y="37353"/>
                  <a:pt x="109186" y="41215"/>
                  <a:pt x="109186" y="45973"/>
                </a:cubicBezTo>
                <a:cubicBezTo>
                  <a:pt x="109186" y="50730"/>
                  <a:pt x="105323" y="54593"/>
                  <a:pt x="100566" y="54593"/>
                </a:cubicBezTo>
                <a:cubicBezTo>
                  <a:pt x="95808" y="54593"/>
                  <a:pt x="91946" y="50730"/>
                  <a:pt x="91946" y="45973"/>
                </a:cubicBezTo>
                <a:cubicBezTo>
                  <a:pt x="91946" y="41215"/>
                  <a:pt x="95808" y="37353"/>
                  <a:pt x="100566" y="37353"/>
                </a:cubicBezTo>
                <a:close/>
                <a:moveTo>
                  <a:pt x="120679" y="45973"/>
                </a:moveTo>
                <a:cubicBezTo>
                  <a:pt x="120679" y="41215"/>
                  <a:pt x="124541" y="37353"/>
                  <a:pt x="129299" y="37353"/>
                </a:cubicBezTo>
                <a:cubicBezTo>
                  <a:pt x="134056" y="37353"/>
                  <a:pt x="137919" y="41215"/>
                  <a:pt x="137919" y="45973"/>
                </a:cubicBezTo>
                <a:cubicBezTo>
                  <a:pt x="137919" y="50730"/>
                  <a:pt x="134056" y="54593"/>
                  <a:pt x="129299" y="54593"/>
                </a:cubicBezTo>
                <a:cubicBezTo>
                  <a:pt x="124541" y="54593"/>
                  <a:pt x="120679" y="50730"/>
                  <a:pt x="120679" y="45973"/>
                </a:cubicBezTo>
                <a:close/>
                <a:moveTo>
                  <a:pt x="22986" y="103439"/>
                </a:moveTo>
                <a:cubicBezTo>
                  <a:pt x="10308" y="103439"/>
                  <a:pt x="0" y="113747"/>
                  <a:pt x="0" y="126425"/>
                </a:cubicBezTo>
                <a:lnTo>
                  <a:pt x="0" y="149412"/>
                </a:lnTo>
                <a:cubicBezTo>
                  <a:pt x="0" y="162090"/>
                  <a:pt x="10308" y="172398"/>
                  <a:pt x="22986" y="172398"/>
                </a:cubicBezTo>
                <a:lnTo>
                  <a:pt x="137919" y="172398"/>
                </a:lnTo>
                <a:cubicBezTo>
                  <a:pt x="150597" y="172398"/>
                  <a:pt x="160905" y="162090"/>
                  <a:pt x="160905" y="149412"/>
                </a:cubicBezTo>
                <a:lnTo>
                  <a:pt x="160905" y="126425"/>
                </a:lnTo>
                <a:cubicBezTo>
                  <a:pt x="160905" y="113747"/>
                  <a:pt x="150597" y="103439"/>
                  <a:pt x="137919" y="103439"/>
                </a:cubicBezTo>
                <a:lnTo>
                  <a:pt x="22986" y="103439"/>
                </a:lnTo>
                <a:close/>
                <a:moveTo>
                  <a:pt x="100566" y="129299"/>
                </a:moveTo>
                <a:cubicBezTo>
                  <a:pt x="105323" y="129299"/>
                  <a:pt x="109186" y="133161"/>
                  <a:pt x="109186" y="137919"/>
                </a:cubicBezTo>
                <a:cubicBezTo>
                  <a:pt x="109186" y="142676"/>
                  <a:pt x="105323" y="146538"/>
                  <a:pt x="100566" y="146538"/>
                </a:cubicBezTo>
                <a:cubicBezTo>
                  <a:pt x="95808" y="146538"/>
                  <a:pt x="91946" y="142676"/>
                  <a:pt x="91946" y="137919"/>
                </a:cubicBezTo>
                <a:cubicBezTo>
                  <a:pt x="91946" y="133161"/>
                  <a:pt x="95808" y="129299"/>
                  <a:pt x="100566" y="129299"/>
                </a:cubicBezTo>
                <a:close/>
                <a:moveTo>
                  <a:pt x="120679" y="137919"/>
                </a:moveTo>
                <a:cubicBezTo>
                  <a:pt x="120679" y="133161"/>
                  <a:pt x="124541" y="129299"/>
                  <a:pt x="129299" y="129299"/>
                </a:cubicBezTo>
                <a:cubicBezTo>
                  <a:pt x="134056" y="129299"/>
                  <a:pt x="137919" y="133161"/>
                  <a:pt x="137919" y="137919"/>
                </a:cubicBezTo>
                <a:cubicBezTo>
                  <a:pt x="137919" y="142676"/>
                  <a:pt x="134056" y="146538"/>
                  <a:pt x="129299" y="146538"/>
                </a:cubicBezTo>
                <a:cubicBezTo>
                  <a:pt x="124541" y="146538"/>
                  <a:pt x="120679" y="142676"/>
                  <a:pt x="120679" y="137919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44236" y="1425158"/>
            <a:ext cx="101140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单实例隔离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92562" y="1884887"/>
            <a:ext cx="3411186" cy="689593"/>
          </a:xfrm>
          <a:custGeom>
            <a:avLst/>
            <a:gdLst/>
            <a:ahLst/>
            <a:cxnLst/>
            <a:rect l="l" t="t" r="r" b="b"/>
            <a:pathLst>
              <a:path w="3411186" h="689593">
                <a:moveTo>
                  <a:pt x="73559" y="0"/>
                </a:moveTo>
                <a:lnTo>
                  <a:pt x="3337627" y="0"/>
                </a:lnTo>
                <a:cubicBezTo>
                  <a:pt x="3378252" y="0"/>
                  <a:pt x="3411186" y="32933"/>
                  <a:pt x="3411186" y="73559"/>
                </a:cubicBezTo>
                <a:lnTo>
                  <a:pt x="3411186" y="616034"/>
                </a:lnTo>
                <a:cubicBezTo>
                  <a:pt x="3411186" y="656659"/>
                  <a:pt x="3378252" y="689593"/>
                  <a:pt x="3337627" y="689593"/>
                </a:cubicBezTo>
                <a:lnTo>
                  <a:pt x="73559" y="689593"/>
                </a:lnTo>
                <a:cubicBezTo>
                  <a:pt x="32933" y="689593"/>
                  <a:pt x="0" y="656659"/>
                  <a:pt x="0" y="616034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502897" y="1995222"/>
            <a:ext cx="326407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无法共享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02897" y="2252670"/>
            <a:ext cx="3254878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 vLLM 实例之间无法共享缓存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92562" y="2645738"/>
            <a:ext cx="3411186" cy="689593"/>
          </a:xfrm>
          <a:custGeom>
            <a:avLst/>
            <a:gdLst/>
            <a:ahLst/>
            <a:cxnLst/>
            <a:rect l="l" t="t" r="r" b="b"/>
            <a:pathLst>
              <a:path w="3411186" h="689593">
                <a:moveTo>
                  <a:pt x="73559" y="0"/>
                </a:moveTo>
                <a:lnTo>
                  <a:pt x="3337627" y="0"/>
                </a:lnTo>
                <a:cubicBezTo>
                  <a:pt x="3378252" y="0"/>
                  <a:pt x="3411186" y="32933"/>
                  <a:pt x="3411186" y="73559"/>
                </a:cubicBezTo>
                <a:lnTo>
                  <a:pt x="3411186" y="616034"/>
                </a:lnTo>
                <a:cubicBezTo>
                  <a:pt x="3411186" y="656659"/>
                  <a:pt x="3378252" y="689593"/>
                  <a:pt x="3337627" y="689593"/>
                </a:cubicBezTo>
                <a:lnTo>
                  <a:pt x="73559" y="689593"/>
                </a:lnTo>
                <a:cubicBezTo>
                  <a:pt x="32933" y="689593"/>
                  <a:pt x="0" y="656659"/>
                  <a:pt x="0" y="616034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502897" y="2756072"/>
            <a:ext cx="326407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重复计算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02897" y="3013520"/>
            <a:ext cx="3254878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每个实例独立维护自己的缓存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92562" y="3406588"/>
            <a:ext cx="3411186" cy="689593"/>
          </a:xfrm>
          <a:custGeom>
            <a:avLst/>
            <a:gdLst/>
            <a:ahLst/>
            <a:cxnLst/>
            <a:rect l="l" t="t" r="r" b="b"/>
            <a:pathLst>
              <a:path w="3411186" h="689593">
                <a:moveTo>
                  <a:pt x="73559" y="0"/>
                </a:moveTo>
                <a:lnTo>
                  <a:pt x="3337627" y="0"/>
                </a:lnTo>
                <a:cubicBezTo>
                  <a:pt x="3378252" y="0"/>
                  <a:pt x="3411186" y="32933"/>
                  <a:pt x="3411186" y="73559"/>
                </a:cubicBezTo>
                <a:lnTo>
                  <a:pt x="3411186" y="616034"/>
                </a:lnTo>
                <a:cubicBezTo>
                  <a:pt x="3411186" y="656659"/>
                  <a:pt x="3378252" y="689593"/>
                  <a:pt x="3337627" y="689593"/>
                </a:cubicBezTo>
                <a:lnTo>
                  <a:pt x="73559" y="689593"/>
                </a:lnTo>
                <a:cubicBezTo>
                  <a:pt x="32933" y="689593"/>
                  <a:pt x="0" y="656659"/>
                  <a:pt x="0" y="616034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502897" y="3516923"/>
            <a:ext cx="326407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资源浪费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02897" y="3774371"/>
            <a:ext cx="3254878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相同前缀在多个实例中重复缓存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09395" y="1181502"/>
            <a:ext cx="3714606" cy="3061792"/>
          </a:xfrm>
          <a:custGeom>
            <a:avLst/>
            <a:gdLst/>
            <a:ahLst/>
            <a:cxnLst/>
            <a:rect l="l" t="t" r="r" b="b"/>
            <a:pathLst>
              <a:path w="3714606" h="3061792">
                <a:moveTo>
                  <a:pt x="73544" y="0"/>
                </a:moveTo>
                <a:lnTo>
                  <a:pt x="3641062" y="0"/>
                </a:lnTo>
                <a:cubicBezTo>
                  <a:pt x="3681679" y="0"/>
                  <a:pt x="3714606" y="32927"/>
                  <a:pt x="3714606" y="73544"/>
                </a:cubicBezTo>
                <a:lnTo>
                  <a:pt x="3714606" y="2988248"/>
                </a:lnTo>
                <a:cubicBezTo>
                  <a:pt x="3714606" y="3028865"/>
                  <a:pt x="3681679" y="3061792"/>
                  <a:pt x="3641062" y="3061792"/>
                </a:cubicBezTo>
                <a:lnTo>
                  <a:pt x="73544" y="3061792"/>
                </a:lnTo>
                <a:cubicBezTo>
                  <a:pt x="32927" y="3061792"/>
                  <a:pt x="0" y="3028865"/>
                  <a:pt x="0" y="2988248"/>
                </a:cubicBezTo>
                <a:lnTo>
                  <a:pt x="0" y="73544"/>
                </a:lnTo>
                <a:cubicBezTo>
                  <a:pt x="0" y="32954"/>
                  <a:pt x="32954" y="0"/>
                  <a:pt x="73544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261106" y="1333213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73558" y="0"/>
                </a:moveTo>
                <a:lnTo>
                  <a:pt x="367781" y="0"/>
                </a:lnTo>
                <a:cubicBezTo>
                  <a:pt x="408406" y="0"/>
                  <a:pt x="441339" y="32933"/>
                  <a:pt x="441339" y="73558"/>
                </a:cubicBezTo>
                <a:lnTo>
                  <a:pt x="441339" y="367781"/>
                </a:lnTo>
                <a:cubicBezTo>
                  <a:pt x="441339" y="408406"/>
                  <a:pt x="408406" y="441339"/>
                  <a:pt x="367781" y="441339"/>
                </a:cubicBezTo>
                <a:lnTo>
                  <a:pt x="73558" y="441339"/>
                </a:lnTo>
                <a:cubicBezTo>
                  <a:pt x="32933" y="441339"/>
                  <a:pt x="0" y="408406"/>
                  <a:pt x="0" y="367781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389830" y="1461937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156846" y="26829"/>
                </a:moveTo>
                <a:lnTo>
                  <a:pt x="160905" y="30673"/>
                </a:lnTo>
                <a:lnTo>
                  <a:pt x="160905" y="11493"/>
                </a:lnTo>
                <a:cubicBezTo>
                  <a:pt x="160905" y="5136"/>
                  <a:pt x="166041" y="0"/>
                  <a:pt x="172398" y="0"/>
                </a:cubicBezTo>
                <a:cubicBezTo>
                  <a:pt x="178755" y="0"/>
                  <a:pt x="183891" y="5136"/>
                  <a:pt x="183891" y="11493"/>
                </a:cubicBezTo>
                <a:lnTo>
                  <a:pt x="183891" y="57466"/>
                </a:lnTo>
                <a:cubicBezTo>
                  <a:pt x="183891" y="63823"/>
                  <a:pt x="178755" y="68959"/>
                  <a:pt x="172398" y="68959"/>
                </a:cubicBezTo>
                <a:lnTo>
                  <a:pt x="126425" y="68959"/>
                </a:lnTo>
                <a:cubicBezTo>
                  <a:pt x="120068" y="68959"/>
                  <a:pt x="114932" y="63823"/>
                  <a:pt x="114932" y="57466"/>
                </a:cubicBezTo>
                <a:cubicBezTo>
                  <a:pt x="114932" y="51109"/>
                  <a:pt x="120068" y="45973"/>
                  <a:pt x="126425" y="45973"/>
                </a:cubicBezTo>
                <a:lnTo>
                  <a:pt x="143629" y="45973"/>
                </a:lnTo>
                <a:lnTo>
                  <a:pt x="140900" y="43387"/>
                </a:lnTo>
                <a:cubicBezTo>
                  <a:pt x="140828" y="43315"/>
                  <a:pt x="140756" y="43243"/>
                  <a:pt x="140684" y="43171"/>
                </a:cubicBezTo>
                <a:cubicBezTo>
                  <a:pt x="113747" y="16234"/>
                  <a:pt x="70109" y="16234"/>
                  <a:pt x="43171" y="43171"/>
                </a:cubicBezTo>
                <a:cubicBezTo>
                  <a:pt x="16234" y="70109"/>
                  <a:pt x="16234" y="113747"/>
                  <a:pt x="43171" y="140684"/>
                </a:cubicBezTo>
                <a:cubicBezTo>
                  <a:pt x="70109" y="167621"/>
                  <a:pt x="113747" y="167621"/>
                  <a:pt x="140684" y="140684"/>
                </a:cubicBezTo>
                <a:cubicBezTo>
                  <a:pt x="143629" y="137739"/>
                  <a:pt x="146251" y="134614"/>
                  <a:pt x="148550" y="131310"/>
                </a:cubicBezTo>
                <a:cubicBezTo>
                  <a:pt x="152177" y="126102"/>
                  <a:pt x="159361" y="124845"/>
                  <a:pt x="164568" y="128473"/>
                </a:cubicBezTo>
                <a:cubicBezTo>
                  <a:pt x="169776" y="132100"/>
                  <a:pt x="171033" y="139283"/>
                  <a:pt x="167406" y="144491"/>
                </a:cubicBezTo>
                <a:cubicBezTo>
                  <a:pt x="164353" y="148873"/>
                  <a:pt x="160869" y="153039"/>
                  <a:pt x="156954" y="156954"/>
                </a:cubicBezTo>
                <a:cubicBezTo>
                  <a:pt x="121038" y="192870"/>
                  <a:pt x="62818" y="192870"/>
                  <a:pt x="26937" y="156954"/>
                </a:cubicBezTo>
                <a:cubicBezTo>
                  <a:pt x="-8943" y="121038"/>
                  <a:pt x="-8979" y="62854"/>
                  <a:pt x="26937" y="26937"/>
                </a:cubicBezTo>
                <a:cubicBezTo>
                  <a:pt x="62818" y="-8943"/>
                  <a:pt x="120930" y="-8979"/>
                  <a:pt x="156846" y="26829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812780" y="1425158"/>
            <a:ext cx="827511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重启丢失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61106" y="1884887"/>
            <a:ext cx="3411186" cy="689593"/>
          </a:xfrm>
          <a:custGeom>
            <a:avLst/>
            <a:gdLst/>
            <a:ahLst/>
            <a:cxnLst/>
            <a:rect l="l" t="t" r="r" b="b"/>
            <a:pathLst>
              <a:path w="3411186" h="689593">
                <a:moveTo>
                  <a:pt x="73559" y="0"/>
                </a:moveTo>
                <a:lnTo>
                  <a:pt x="3337627" y="0"/>
                </a:lnTo>
                <a:cubicBezTo>
                  <a:pt x="3378252" y="0"/>
                  <a:pt x="3411186" y="32933"/>
                  <a:pt x="3411186" y="73559"/>
                </a:cubicBezTo>
                <a:lnTo>
                  <a:pt x="3411186" y="616034"/>
                </a:lnTo>
                <a:cubicBezTo>
                  <a:pt x="3411186" y="656659"/>
                  <a:pt x="3378252" y="689593"/>
                  <a:pt x="3337627" y="689593"/>
                </a:cubicBezTo>
                <a:lnTo>
                  <a:pt x="73559" y="689593"/>
                </a:lnTo>
                <a:cubicBezTo>
                  <a:pt x="32933" y="689593"/>
                  <a:pt x="0" y="656659"/>
                  <a:pt x="0" y="616034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371441" y="1995222"/>
            <a:ext cx="326407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易失性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71441" y="2252670"/>
            <a:ext cx="3254878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进程重启后缓存完全丢失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61106" y="2645738"/>
            <a:ext cx="3411186" cy="689593"/>
          </a:xfrm>
          <a:custGeom>
            <a:avLst/>
            <a:gdLst/>
            <a:ahLst/>
            <a:cxnLst/>
            <a:rect l="l" t="t" r="r" b="b"/>
            <a:pathLst>
              <a:path w="3411186" h="689593">
                <a:moveTo>
                  <a:pt x="73559" y="0"/>
                </a:moveTo>
                <a:lnTo>
                  <a:pt x="3337627" y="0"/>
                </a:lnTo>
                <a:cubicBezTo>
                  <a:pt x="3378252" y="0"/>
                  <a:pt x="3411186" y="32933"/>
                  <a:pt x="3411186" y="73559"/>
                </a:cubicBezTo>
                <a:lnTo>
                  <a:pt x="3411186" y="616034"/>
                </a:lnTo>
                <a:cubicBezTo>
                  <a:pt x="3411186" y="656659"/>
                  <a:pt x="3378252" y="689593"/>
                  <a:pt x="3337627" y="689593"/>
                </a:cubicBezTo>
                <a:lnTo>
                  <a:pt x="73559" y="689593"/>
                </a:lnTo>
                <a:cubicBezTo>
                  <a:pt x="32933" y="689593"/>
                  <a:pt x="0" y="656659"/>
                  <a:pt x="0" y="616034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371441" y="2756072"/>
            <a:ext cx="326407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冷启动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71441" y="3013520"/>
            <a:ext cx="3254878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需要重新计算和填充缓存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61106" y="3406588"/>
            <a:ext cx="3411186" cy="689593"/>
          </a:xfrm>
          <a:custGeom>
            <a:avLst/>
            <a:gdLst/>
            <a:ahLst/>
            <a:cxnLst/>
            <a:rect l="l" t="t" r="r" b="b"/>
            <a:pathLst>
              <a:path w="3411186" h="689593">
                <a:moveTo>
                  <a:pt x="73559" y="0"/>
                </a:moveTo>
                <a:lnTo>
                  <a:pt x="3337627" y="0"/>
                </a:lnTo>
                <a:cubicBezTo>
                  <a:pt x="3378252" y="0"/>
                  <a:pt x="3411186" y="32933"/>
                  <a:pt x="3411186" y="73559"/>
                </a:cubicBezTo>
                <a:lnTo>
                  <a:pt x="3411186" y="616034"/>
                </a:lnTo>
                <a:cubicBezTo>
                  <a:pt x="3411186" y="656659"/>
                  <a:pt x="3378252" y="689593"/>
                  <a:pt x="3337627" y="689593"/>
                </a:cubicBezTo>
                <a:lnTo>
                  <a:pt x="73559" y="689593"/>
                </a:lnTo>
                <a:cubicBezTo>
                  <a:pt x="32933" y="689593"/>
                  <a:pt x="0" y="656659"/>
                  <a:pt x="0" y="616034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371441" y="3516923"/>
            <a:ext cx="326407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延迟增加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71441" y="3774371"/>
            <a:ext cx="3254878" cy="21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重启后初始请求 TTFT 较高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72380" y="4401900"/>
            <a:ext cx="11447240" cy="1875692"/>
          </a:xfrm>
          <a:custGeom>
            <a:avLst/>
            <a:gdLst/>
            <a:ahLst/>
            <a:cxnLst/>
            <a:rect l="l" t="t" r="r" b="b"/>
            <a:pathLst>
              <a:path w="11447240" h="1875692">
                <a:moveTo>
                  <a:pt x="73565" y="0"/>
                </a:moveTo>
                <a:lnTo>
                  <a:pt x="11373675" y="0"/>
                </a:lnTo>
                <a:cubicBezTo>
                  <a:pt x="11414304" y="0"/>
                  <a:pt x="11447240" y="32936"/>
                  <a:pt x="11447240" y="73565"/>
                </a:cubicBezTo>
                <a:lnTo>
                  <a:pt x="11447240" y="1802128"/>
                </a:lnTo>
                <a:cubicBezTo>
                  <a:pt x="11447240" y="1842756"/>
                  <a:pt x="11414304" y="1875692"/>
                  <a:pt x="11373675" y="1875692"/>
                </a:cubicBezTo>
                <a:lnTo>
                  <a:pt x="73565" y="1875692"/>
                </a:lnTo>
                <a:cubicBezTo>
                  <a:pt x="32936" y="1875692"/>
                  <a:pt x="0" y="1842756"/>
                  <a:pt x="0" y="1802128"/>
                </a:cubicBezTo>
                <a:lnTo>
                  <a:pt x="0" y="73565"/>
                </a:lnTo>
                <a:cubicBezTo>
                  <a:pt x="0" y="32963"/>
                  <a:pt x="32963" y="0"/>
                  <a:pt x="73565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6">
                  <a:alpha val="20000"/>
                </a:srgbClr>
              </a:gs>
              <a:gs pos="100000">
                <a:srgbClr val="D9A467">
                  <a:alpha val="20000"/>
                </a:srgbClr>
              </a:gs>
            </a:gsLst>
            <a:lin ang="0" scaled="1"/>
          </a:gradFill>
          <a:ln w="12700">
            <a:solidFill>
              <a:srgbClr val="5C7A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70063" y="4599584"/>
            <a:ext cx="496507" cy="496507"/>
          </a:xfrm>
          <a:custGeom>
            <a:avLst/>
            <a:gdLst/>
            <a:ahLst/>
            <a:cxnLst/>
            <a:rect l="l" t="t" r="r" b="b"/>
            <a:pathLst>
              <a:path w="496507" h="496507">
                <a:moveTo>
                  <a:pt x="248253" y="0"/>
                </a:moveTo>
                <a:lnTo>
                  <a:pt x="248253" y="0"/>
                </a:lnTo>
                <a:cubicBezTo>
                  <a:pt x="385360" y="0"/>
                  <a:pt x="496507" y="111147"/>
                  <a:pt x="496507" y="248253"/>
                </a:cubicBezTo>
                <a:lnTo>
                  <a:pt x="496507" y="248253"/>
                </a:lnTo>
                <a:cubicBezTo>
                  <a:pt x="496507" y="385360"/>
                  <a:pt x="385360" y="496507"/>
                  <a:pt x="248253" y="496507"/>
                </a:cubicBezTo>
                <a:lnTo>
                  <a:pt x="248253" y="496507"/>
                </a:lnTo>
                <a:cubicBezTo>
                  <a:pt x="111147" y="496507"/>
                  <a:pt x="0" y="385360"/>
                  <a:pt x="0" y="248253"/>
                </a:cubicBezTo>
                <a:lnTo>
                  <a:pt x="0" y="248253"/>
                </a:lnTo>
                <a:cubicBezTo>
                  <a:pt x="0" y="111147"/>
                  <a:pt x="111147" y="0"/>
                  <a:pt x="248253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07982" y="4737502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216618" y="120075"/>
                </a:moveTo>
                <a:cubicBezTo>
                  <a:pt x="222006" y="114688"/>
                  <a:pt x="222006" y="105939"/>
                  <a:pt x="216618" y="100551"/>
                </a:cubicBezTo>
                <a:lnTo>
                  <a:pt x="147659" y="31592"/>
                </a:lnTo>
                <a:cubicBezTo>
                  <a:pt x="142272" y="26205"/>
                  <a:pt x="133522" y="26205"/>
                  <a:pt x="128135" y="31592"/>
                </a:cubicBezTo>
                <a:cubicBezTo>
                  <a:pt x="122748" y="36979"/>
                  <a:pt x="122748" y="45729"/>
                  <a:pt x="128135" y="51116"/>
                </a:cubicBezTo>
                <a:lnTo>
                  <a:pt x="173562" y="96543"/>
                </a:lnTo>
                <a:lnTo>
                  <a:pt x="13792" y="96543"/>
                </a:lnTo>
                <a:cubicBezTo>
                  <a:pt x="6163" y="96543"/>
                  <a:pt x="0" y="102706"/>
                  <a:pt x="0" y="110335"/>
                </a:cubicBezTo>
                <a:cubicBezTo>
                  <a:pt x="0" y="117963"/>
                  <a:pt x="6163" y="124127"/>
                  <a:pt x="13792" y="124127"/>
                </a:cubicBezTo>
                <a:lnTo>
                  <a:pt x="173562" y="124127"/>
                </a:lnTo>
                <a:lnTo>
                  <a:pt x="128135" y="169554"/>
                </a:lnTo>
                <a:cubicBezTo>
                  <a:pt x="122748" y="174941"/>
                  <a:pt x="122748" y="183690"/>
                  <a:pt x="128135" y="189078"/>
                </a:cubicBezTo>
                <a:cubicBezTo>
                  <a:pt x="133522" y="194465"/>
                  <a:pt x="142272" y="194465"/>
                  <a:pt x="147659" y="189078"/>
                </a:cubicBezTo>
                <a:lnTo>
                  <a:pt x="216618" y="120118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222878" y="4590389"/>
            <a:ext cx="10500199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解决方案: LMCache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22878" y="4921394"/>
            <a:ext cx="10481810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这些局限正是 </a:t>
            </a:r>
            <a:r>
              <a:rPr lang="en-US" sz="1158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 </a:t>
            </a:r>
            <a:r>
              <a:rPr lang="en-US" sz="1158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等外部 KV Cache 管理系统要解决的问题。LMCache 通过多级存储架构突破这些限制: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222878" y="5270787"/>
            <a:ext cx="2519312" cy="818317"/>
          </a:xfrm>
          <a:custGeom>
            <a:avLst/>
            <a:gdLst/>
            <a:ahLst/>
            <a:cxnLst/>
            <a:rect l="l" t="t" r="r" b="b"/>
            <a:pathLst>
              <a:path w="2519312" h="818317">
                <a:moveTo>
                  <a:pt x="73558" y="0"/>
                </a:moveTo>
                <a:lnTo>
                  <a:pt x="2445754" y="0"/>
                </a:lnTo>
                <a:cubicBezTo>
                  <a:pt x="2486379" y="0"/>
                  <a:pt x="2519312" y="32933"/>
                  <a:pt x="2519312" y="73558"/>
                </a:cubicBezTo>
                <a:lnTo>
                  <a:pt x="2519312" y="744758"/>
                </a:lnTo>
                <a:cubicBezTo>
                  <a:pt x="2519312" y="785383"/>
                  <a:pt x="2486379" y="818317"/>
                  <a:pt x="2445754" y="818317"/>
                </a:cubicBezTo>
                <a:lnTo>
                  <a:pt x="73558" y="818317"/>
                </a:lnTo>
                <a:cubicBezTo>
                  <a:pt x="32933" y="818317"/>
                  <a:pt x="0" y="785383"/>
                  <a:pt x="0" y="744758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2402297" y="5385719"/>
            <a:ext cx="160905" cy="183891"/>
          </a:xfrm>
          <a:custGeom>
            <a:avLst/>
            <a:gdLst/>
            <a:ahLst/>
            <a:cxnLst/>
            <a:rect l="l" t="t" r="r" b="b"/>
            <a:pathLst>
              <a:path w="160905" h="183891">
                <a:moveTo>
                  <a:pt x="60339" y="11493"/>
                </a:moveTo>
                <a:lnTo>
                  <a:pt x="8620" y="11493"/>
                </a:lnTo>
                <a:cubicBezTo>
                  <a:pt x="3843" y="11493"/>
                  <a:pt x="0" y="15336"/>
                  <a:pt x="0" y="20113"/>
                </a:cubicBezTo>
                <a:lnTo>
                  <a:pt x="0" y="71833"/>
                </a:lnTo>
                <a:cubicBezTo>
                  <a:pt x="0" y="75316"/>
                  <a:pt x="2083" y="78477"/>
                  <a:pt x="5316" y="79806"/>
                </a:cubicBezTo>
                <a:cubicBezTo>
                  <a:pt x="8548" y="81135"/>
                  <a:pt x="12247" y="80381"/>
                  <a:pt x="14726" y="77938"/>
                </a:cubicBezTo>
                <a:lnTo>
                  <a:pt x="29092" y="63572"/>
                </a:lnTo>
                <a:lnTo>
                  <a:pt x="57466" y="91946"/>
                </a:lnTo>
                <a:lnTo>
                  <a:pt x="29092" y="120320"/>
                </a:lnTo>
                <a:lnTo>
                  <a:pt x="14726" y="105953"/>
                </a:lnTo>
                <a:cubicBezTo>
                  <a:pt x="12247" y="103475"/>
                  <a:pt x="8548" y="102757"/>
                  <a:pt x="5316" y="104085"/>
                </a:cubicBezTo>
                <a:cubicBezTo>
                  <a:pt x="2083" y="105414"/>
                  <a:pt x="0" y="108575"/>
                  <a:pt x="0" y="112059"/>
                </a:cubicBezTo>
                <a:lnTo>
                  <a:pt x="0" y="163778"/>
                </a:lnTo>
                <a:cubicBezTo>
                  <a:pt x="0" y="168555"/>
                  <a:pt x="3843" y="172398"/>
                  <a:pt x="8620" y="172398"/>
                </a:cubicBezTo>
                <a:lnTo>
                  <a:pt x="60339" y="172398"/>
                </a:lnTo>
                <a:cubicBezTo>
                  <a:pt x="63823" y="172398"/>
                  <a:pt x="66984" y="170315"/>
                  <a:pt x="68313" y="167083"/>
                </a:cubicBezTo>
                <a:cubicBezTo>
                  <a:pt x="69642" y="163850"/>
                  <a:pt x="68923" y="160151"/>
                  <a:pt x="66445" y="157673"/>
                </a:cubicBezTo>
                <a:lnTo>
                  <a:pt x="52079" y="143306"/>
                </a:lnTo>
                <a:lnTo>
                  <a:pt x="80452" y="114932"/>
                </a:lnTo>
                <a:lnTo>
                  <a:pt x="108826" y="143306"/>
                </a:lnTo>
                <a:lnTo>
                  <a:pt x="94460" y="157673"/>
                </a:lnTo>
                <a:cubicBezTo>
                  <a:pt x="91982" y="160151"/>
                  <a:pt x="91263" y="163850"/>
                  <a:pt x="92592" y="167083"/>
                </a:cubicBezTo>
                <a:cubicBezTo>
                  <a:pt x="93921" y="170315"/>
                  <a:pt x="97082" y="172398"/>
                  <a:pt x="100566" y="172398"/>
                </a:cubicBezTo>
                <a:lnTo>
                  <a:pt x="152285" y="172398"/>
                </a:lnTo>
                <a:cubicBezTo>
                  <a:pt x="157062" y="172398"/>
                  <a:pt x="160905" y="168555"/>
                  <a:pt x="160905" y="163778"/>
                </a:cubicBezTo>
                <a:lnTo>
                  <a:pt x="160905" y="112059"/>
                </a:lnTo>
                <a:cubicBezTo>
                  <a:pt x="160905" y="108575"/>
                  <a:pt x="158822" y="105414"/>
                  <a:pt x="155589" y="104085"/>
                </a:cubicBezTo>
                <a:cubicBezTo>
                  <a:pt x="152357" y="102757"/>
                  <a:pt x="148658" y="103475"/>
                  <a:pt x="146179" y="105953"/>
                </a:cubicBezTo>
                <a:lnTo>
                  <a:pt x="131813" y="120320"/>
                </a:lnTo>
                <a:lnTo>
                  <a:pt x="103439" y="91946"/>
                </a:lnTo>
                <a:lnTo>
                  <a:pt x="131813" y="63572"/>
                </a:lnTo>
                <a:lnTo>
                  <a:pt x="146179" y="77938"/>
                </a:lnTo>
                <a:cubicBezTo>
                  <a:pt x="148658" y="80417"/>
                  <a:pt x="152357" y="81135"/>
                  <a:pt x="155589" y="79806"/>
                </a:cubicBezTo>
                <a:cubicBezTo>
                  <a:pt x="158822" y="78477"/>
                  <a:pt x="160905" y="75316"/>
                  <a:pt x="160905" y="71833"/>
                </a:cubicBezTo>
                <a:lnTo>
                  <a:pt x="160905" y="20113"/>
                </a:lnTo>
                <a:cubicBezTo>
                  <a:pt x="160905" y="15336"/>
                  <a:pt x="157062" y="11493"/>
                  <a:pt x="152285" y="11493"/>
                </a:cubicBezTo>
                <a:lnTo>
                  <a:pt x="100566" y="11493"/>
                </a:lnTo>
                <a:cubicBezTo>
                  <a:pt x="97082" y="11493"/>
                  <a:pt x="93921" y="13576"/>
                  <a:pt x="92592" y="16809"/>
                </a:cubicBezTo>
                <a:cubicBezTo>
                  <a:pt x="91263" y="20041"/>
                  <a:pt x="92018" y="23741"/>
                  <a:pt x="94460" y="26219"/>
                </a:cubicBezTo>
                <a:lnTo>
                  <a:pt x="108826" y="40585"/>
                </a:lnTo>
                <a:lnTo>
                  <a:pt x="80452" y="68959"/>
                </a:lnTo>
                <a:lnTo>
                  <a:pt x="52079" y="40585"/>
                </a:lnTo>
                <a:lnTo>
                  <a:pt x="66445" y="26219"/>
                </a:lnTo>
                <a:cubicBezTo>
                  <a:pt x="68923" y="23741"/>
                  <a:pt x="69642" y="20041"/>
                  <a:pt x="68313" y="16809"/>
                </a:cubicBezTo>
                <a:cubicBezTo>
                  <a:pt x="66984" y="13576"/>
                  <a:pt x="63823" y="11493"/>
                  <a:pt x="60339" y="11493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301032" y="5643167"/>
            <a:ext cx="2363005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跨介质存储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305629" y="5827059"/>
            <a:ext cx="2353810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CPU/磁盘/远程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853028" y="5270787"/>
            <a:ext cx="2519312" cy="818317"/>
          </a:xfrm>
          <a:custGeom>
            <a:avLst/>
            <a:gdLst/>
            <a:ahLst/>
            <a:cxnLst/>
            <a:rect l="l" t="t" r="r" b="b"/>
            <a:pathLst>
              <a:path w="2519312" h="818317">
                <a:moveTo>
                  <a:pt x="73558" y="0"/>
                </a:moveTo>
                <a:lnTo>
                  <a:pt x="2445754" y="0"/>
                </a:lnTo>
                <a:cubicBezTo>
                  <a:pt x="2486379" y="0"/>
                  <a:pt x="2519312" y="32933"/>
                  <a:pt x="2519312" y="73558"/>
                </a:cubicBezTo>
                <a:lnTo>
                  <a:pt x="2519312" y="744758"/>
                </a:lnTo>
                <a:cubicBezTo>
                  <a:pt x="2519312" y="785383"/>
                  <a:pt x="2486379" y="818317"/>
                  <a:pt x="2445754" y="818317"/>
                </a:cubicBezTo>
                <a:lnTo>
                  <a:pt x="73558" y="818317"/>
                </a:lnTo>
                <a:cubicBezTo>
                  <a:pt x="32933" y="818317"/>
                  <a:pt x="0" y="785383"/>
                  <a:pt x="0" y="744758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5009460" y="5385719"/>
            <a:ext cx="206878" cy="183891"/>
          </a:xfrm>
          <a:custGeom>
            <a:avLst/>
            <a:gdLst/>
            <a:ahLst/>
            <a:cxnLst/>
            <a:rect l="l" t="t" r="r" b="b"/>
            <a:pathLst>
              <a:path w="206878" h="183891">
                <a:moveTo>
                  <a:pt x="89072" y="31606"/>
                </a:moveTo>
                <a:lnTo>
                  <a:pt x="117805" y="31606"/>
                </a:lnTo>
                <a:lnTo>
                  <a:pt x="117805" y="48846"/>
                </a:lnTo>
                <a:lnTo>
                  <a:pt x="89072" y="48846"/>
                </a:lnTo>
                <a:lnTo>
                  <a:pt x="89072" y="31606"/>
                </a:lnTo>
                <a:close/>
                <a:moveTo>
                  <a:pt x="86199" y="11493"/>
                </a:moveTo>
                <a:cubicBezTo>
                  <a:pt x="76681" y="11493"/>
                  <a:pt x="68959" y="19215"/>
                  <a:pt x="68959" y="28733"/>
                </a:cubicBezTo>
                <a:lnTo>
                  <a:pt x="68959" y="51719"/>
                </a:lnTo>
                <a:cubicBezTo>
                  <a:pt x="68959" y="61237"/>
                  <a:pt x="76681" y="68959"/>
                  <a:pt x="86199" y="68959"/>
                </a:cubicBezTo>
                <a:lnTo>
                  <a:pt x="91946" y="68959"/>
                </a:lnTo>
                <a:lnTo>
                  <a:pt x="91946" y="80452"/>
                </a:lnTo>
                <a:lnTo>
                  <a:pt x="11493" y="80452"/>
                </a:lnTo>
                <a:cubicBezTo>
                  <a:pt x="5136" y="80452"/>
                  <a:pt x="0" y="85589"/>
                  <a:pt x="0" y="91946"/>
                </a:cubicBezTo>
                <a:cubicBezTo>
                  <a:pt x="0" y="98303"/>
                  <a:pt x="5136" y="103439"/>
                  <a:pt x="11493" y="103439"/>
                </a:cubicBezTo>
                <a:lnTo>
                  <a:pt x="45973" y="103439"/>
                </a:lnTo>
                <a:lnTo>
                  <a:pt x="45973" y="114932"/>
                </a:lnTo>
                <a:lnTo>
                  <a:pt x="40226" y="114932"/>
                </a:lnTo>
                <a:cubicBezTo>
                  <a:pt x="30708" y="114932"/>
                  <a:pt x="22986" y="122654"/>
                  <a:pt x="22986" y="132172"/>
                </a:cubicBezTo>
                <a:lnTo>
                  <a:pt x="22986" y="155158"/>
                </a:lnTo>
                <a:cubicBezTo>
                  <a:pt x="22986" y="164676"/>
                  <a:pt x="30708" y="172398"/>
                  <a:pt x="40226" y="172398"/>
                </a:cubicBezTo>
                <a:lnTo>
                  <a:pt x="74706" y="172398"/>
                </a:lnTo>
                <a:cubicBezTo>
                  <a:pt x="84224" y="172398"/>
                  <a:pt x="91946" y="164676"/>
                  <a:pt x="91946" y="155158"/>
                </a:cubicBezTo>
                <a:lnTo>
                  <a:pt x="91946" y="132172"/>
                </a:lnTo>
                <a:cubicBezTo>
                  <a:pt x="91946" y="122654"/>
                  <a:pt x="84224" y="114932"/>
                  <a:pt x="74706" y="114932"/>
                </a:cubicBezTo>
                <a:lnTo>
                  <a:pt x="68959" y="114932"/>
                </a:lnTo>
                <a:lnTo>
                  <a:pt x="68959" y="103439"/>
                </a:lnTo>
                <a:lnTo>
                  <a:pt x="137919" y="103439"/>
                </a:lnTo>
                <a:lnTo>
                  <a:pt x="137919" y="114932"/>
                </a:lnTo>
                <a:lnTo>
                  <a:pt x="132172" y="114932"/>
                </a:lnTo>
                <a:cubicBezTo>
                  <a:pt x="122654" y="114932"/>
                  <a:pt x="114932" y="122654"/>
                  <a:pt x="114932" y="132172"/>
                </a:cubicBezTo>
                <a:lnTo>
                  <a:pt x="114932" y="155158"/>
                </a:lnTo>
                <a:cubicBezTo>
                  <a:pt x="114932" y="164676"/>
                  <a:pt x="122654" y="172398"/>
                  <a:pt x="132172" y="172398"/>
                </a:cubicBezTo>
                <a:lnTo>
                  <a:pt x="166652" y="172398"/>
                </a:lnTo>
                <a:cubicBezTo>
                  <a:pt x="176169" y="172398"/>
                  <a:pt x="183891" y="164676"/>
                  <a:pt x="183891" y="155158"/>
                </a:cubicBezTo>
                <a:lnTo>
                  <a:pt x="183891" y="132172"/>
                </a:lnTo>
                <a:cubicBezTo>
                  <a:pt x="183891" y="122654"/>
                  <a:pt x="176169" y="114932"/>
                  <a:pt x="166652" y="114932"/>
                </a:cubicBezTo>
                <a:lnTo>
                  <a:pt x="160905" y="114932"/>
                </a:lnTo>
                <a:lnTo>
                  <a:pt x="160905" y="103439"/>
                </a:lnTo>
                <a:lnTo>
                  <a:pt x="195385" y="103439"/>
                </a:lnTo>
                <a:cubicBezTo>
                  <a:pt x="201742" y="103439"/>
                  <a:pt x="206878" y="98303"/>
                  <a:pt x="206878" y="91946"/>
                </a:cubicBezTo>
                <a:cubicBezTo>
                  <a:pt x="206878" y="85589"/>
                  <a:pt x="201742" y="80452"/>
                  <a:pt x="195385" y="80452"/>
                </a:cubicBezTo>
                <a:lnTo>
                  <a:pt x="114932" y="80452"/>
                </a:lnTo>
                <a:lnTo>
                  <a:pt x="114932" y="68959"/>
                </a:lnTo>
                <a:lnTo>
                  <a:pt x="120679" y="68959"/>
                </a:lnTo>
                <a:cubicBezTo>
                  <a:pt x="130197" y="68959"/>
                  <a:pt x="137919" y="61237"/>
                  <a:pt x="137919" y="51719"/>
                </a:cubicBezTo>
                <a:lnTo>
                  <a:pt x="137919" y="28733"/>
                </a:lnTo>
                <a:cubicBezTo>
                  <a:pt x="137919" y="19215"/>
                  <a:pt x="130197" y="11493"/>
                  <a:pt x="120679" y="11493"/>
                </a:cubicBezTo>
                <a:lnTo>
                  <a:pt x="86199" y="11493"/>
                </a:lnTo>
                <a:close/>
                <a:moveTo>
                  <a:pt x="160905" y="135045"/>
                </a:moveTo>
                <a:lnTo>
                  <a:pt x="163778" y="135045"/>
                </a:lnTo>
                <a:lnTo>
                  <a:pt x="163778" y="152285"/>
                </a:lnTo>
                <a:lnTo>
                  <a:pt x="135045" y="152285"/>
                </a:lnTo>
                <a:lnTo>
                  <a:pt x="135045" y="135045"/>
                </a:lnTo>
                <a:lnTo>
                  <a:pt x="160905" y="135045"/>
                </a:lnTo>
                <a:close/>
                <a:moveTo>
                  <a:pt x="68959" y="135045"/>
                </a:moveTo>
                <a:lnTo>
                  <a:pt x="71833" y="135045"/>
                </a:lnTo>
                <a:lnTo>
                  <a:pt x="71833" y="152285"/>
                </a:lnTo>
                <a:lnTo>
                  <a:pt x="43100" y="152285"/>
                </a:lnTo>
                <a:lnTo>
                  <a:pt x="43100" y="135045"/>
                </a:lnTo>
                <a:lnTo>
                  <a:pt x="68959" y="135045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3931182" y="5643167"/>
            <a:ext cx="2363005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跨实例共享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935779" y="5827059"/>
            <a:ext cx="2353810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P2P/Server 模式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83178" y="5270787"/>
            <a:ext cx="2519312" cy="818317"/>
          </a:xfrm>
          <a:custGeom>
            <a:avLst/>
            <a:gdLst/>
            <a:ahLst/>
            <a:cxnLst/>
            <a:rect l="l" t="t" r="r" b="b"/>
            <a:pathLst>
              <a:path w="2519312" h="818317">
                <a:moveTo>
                  <a:pt x="73558" y="0"/>
                </a:moveTo>
                <a:lnTo>
                  <a:pt x="2445754" y="0"/>
                </a:lnTo>
                <a:cubicBezTo>
                  <a:pt x="2486379" y="0"/>
                  <a:pt x="2519312" y="32933"/>
                  <a:pt x="2519312" y="73558"/>
                </a:cubicBezTo>
                <a:lnTo>
                  <a:pt x="2519312" y="744758"/>
                </a:lnTo>
                <a:cubicBezTo>
                  <a:pt x="2519312" y="785383"/>
                  <a:pt x="2486379" y="818317"/>
                  <a:pt x="2445754" y="818317"/>
                </a:cubicBezTo>
                <a:lnTo>
                  <a:pt x="73558" y="818317"/>
                </a:lnTo>
                <a:cubicBezTo>
                  <a:pt x="32933" y="818317"/>
                  <a:pt x="0" y="785383"/>
                  <a:pt x="0" y="744758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7662597" y="5385719"/>
            <a:ext cx="160905" cy="183891"/>
          </a:xfrm>
          <a:custGeom>
            <a:avLst/>
            <a:gdLst/>
            <a:ahLst/>
            <a:cxnLst/>
            <a:rect l="l" t="t" r="r" b="b"/>
            <a:pathLst>
              <a:path w="160905" h="183891">
                <a:moveTo>
                  <a:pt x="22986" y="11493"/>
                </a:moveTo>
                <a:cubicBezTo>
                  <a:pt x="10308" y="11493"/>
                  <a:pt x="0" y="21801"/>
                  <a:pt x="0" y="34480"/>
                </a:cubicBezTo>
                <a:lnTo>
                  <a:pt x="0" y="149412"/>
                </a:lnTo>
                <a:cubicBezTo>
                  <a:pt x="0" y="162090"/>
                  <a:pt x="10308" y="172398"/>
                  <a:pt x="22986" y="172398"/>
                </a:cubicBezTo>
                <a:lnTo>
                  <a:pt x="137919" y="172398"/>
                </a:lnTo>
                <a:cubicBezTo>
                  <a:pt x="150597" y="172398"/>
                  <a:pt x="160905" y="162090"/>
                  <a:pt x="160905" y="149412"/>
                </a:cubicBezTo>
                <a:lnTo>
                  <a:pt x="160905" y="62243"/>
                </a:lnTo>
                <a:cubicBezTo>
                  <a:pt x="160905" y="56137"/>
                  <a:pt x="158499" y="50283"/>
                  <a:pt x="154189" y="45973"/>
                </a:cubicBezTo>
                <a:lnTo>
                  <a:pt x="126425" y="18210"/>
                </a:lnTo>
                <a:cubicBezTo>
                  <a:pt x="122115" y="13900"/>
                  <a:pt x="116261" y="11493"/>
                  <a:pt x="110155" y="11493"/>
                </a:cubicBezTo>
                <a:lnTo>
                  <a:pt x="22986" y="11493"/>
                </a:lnTo>
                <a:close/>
                <a:moveTo>
                  <a:pt x="34480" y="45973"/>
                </a:moveTo>
                <a:cubicBezTo>
                  <a:pt x="34480" y="39616"/>
                  <a:pt x="39616" y="34480"/>
                  <a:pt x="45973" y="34480"/>
                </a:cubicBezTo>
                <a:lnTo>
                  <a:pt x="103439" y="34480"/>
                </a:lnTo>
                <a:cubicBezTo>
                  <a:pt x="109796" y="34480"/>
                  <a:pt x="114932" y="39616"/>
                  <a:pt x="114932" y="45973"/>
                </a:cubicBezTo>
                <a:lnTo>
                  <a:pt x="114932" y="68959"/>
                </a:lnTo>
                <a:cubicBezTo>
                  <a:pt x="114932" y="75316"/>
                  <a:pt x="109796" y="80452"/>
                  <a:pt x="103439" y="80452"/>
                </a:cubicBezTo>
                <a:lnTo>
                  <a:pt x="45973" y="80452"/>
                </a:lnTo>
                <a:cubicBezTo>
                  <a:pt x="39616" y="80452"/>
                  <a:pt x="34480" y="75316"/>
                  <a:pt x="34480" y="68959"/>
                </a:cubicBezTo>
                <a:lnTo>
                  <a:pt x="34480" y="45973"/>
                </a:lnTo>
                <a:close/>
                <a:moveTo>
                  <a:pt x="80452" y="103439"/>
                </a:moveTo>
                <a:cubicBezTo>
                  <a:pt x="93139" y="103439"/>
                  <a:pt x="103439" y="113739"/>
                  <a:pt x="103439" y="126425"/>
                </a:cubicBezTo>
                <a:cubicBezTo>
                  <a:pt x="103439" y="139112"/>
                  <a:pt x="93139" y="149412"/>
                  <a:pt x="80452" y="149412"/>
                </a:cubicBezTo>
                <a:cubicBezTo>
                  <a:pt x="67766" y="149412"/>
                  <a:pt x="57466" y="139112"/>
                  <a:pt x="57466" y="126425"/>
                </a:cubicBezTo>
                <a:cubicBezTo>
                  <a:pt x="57466" y="113739"/>
                  <a:pt x="67766" y="103439"/>
                  <a:pt x="80452" y="103439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561331" y="5643167"/>
            <a:ext cx="2363005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持久化缓存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565929" y="5827059"/>
            <a:ext cx="2353810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磁盘/远程存储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113327" y="5270787"/>
            <a:ext cx="2519312" cy="818317"/>
          </a:xfrm>
          <a:custGeom>
            <a:avLst/>
            <a:gdLst/>
            <a:ahLst/>
            <a:cxnLst/>
            <a:rect l="l" t="t" r="r" b="b"/>
            <a:pathLst>
              <a:path w="2519312" h="818317">
                <a:moveTo>
                  <a:pt x="73558" y="0"/>
                </a:moveTo>
                <a:lnTo>
                  <a:pt x="2445754" y="0"/>
                </a:lnTo>
                <a:cubicBezTo>
                  <a:pt x="2486379" y="0"/>
                  <a:pt x="2519312" y="32933"/>
                  <a:pt x="2519312" y="73558"/>
                </a:cubicBezTo>
                <a:lnTo>
                  <a:pt x="2519312" y="744758"/>
                </a:lnTo>
                <a:cubicBezTo>
                  <a:pt x="2519312" y="785383"/>
                  <a:pt x="2486379" y="818317"/>
                  <a:pt x="2445754" y="818317"/>
                </a:cubicBezTo>
                <a:lnTo>
                  <a:pt x="73558" y="818317"/>
                </a:lnTo>
                <a:cubicBezTo>
                  <a:pt x="32933" y="818317"/>
                  <a:pt x="0" y="785383"/>
                  <a:pt x="0" y="744758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0292747" y="5385719"/>
            <a:ext cx="160905" cy="183891"/>
          </a:xfrm>
          <a:custGeom>
            <a:avLst/>
            <a:gdLst/>
            <a:ahLst/>
            <a:cxnLst/>
            <a:rect l="l" t="t" r="r" b="b"/>
            <a:pathLst>
              <a:path w="160905" h="183891">
                <a:moveTo>
                  <a:pt x="121684" y="-3556"/>
                </a:moveTo>
                <a:cubicBezTo>
                  <a:pt x="125958" y="-467"/>
                  <a:pt x="127539" y="5136"/>
                  <a:pt x="125599" y="10021"/>
                </a:cubicBezTo>
                <a:lnTo>
                  <a:pt x="97441" y="80452"/>
                </a:lnTo>
                <a:lnTo>
                  <a:pt x="149412" y="80452"/>
                </a:lnTo>
                <a:cubicBezTo>
                  <a:pt x="154260" y="80452"/>
                  <a:pt x="158570" y="83469"/>
                  <a:pt x="160223" y="88031"/>
                </a:cubicBezTo>
                <a:cubicBezTo>
                  <a:pt x="161875" y="92592"/>
                  <a:pt x="160474" y="97692"/>
                  <a:pt x="156775" y="100781"/>
                </a:cubicBezTo>
                <a:lnTo>
                  <a:pt x="53336" y="186980"/>
                </a:lnTo>
                <a:cubicBezTo>
                  <a:pt x="49277" y="190356"/>
                  <a:pt x="43495" y="190536"/>
                  <a:pt x="39221" y="187447"/>
                </a:cubicBezTo>
                <a:cubicBezTo>
                  <a:pt x="34947" y="184358"/>
                  <a:pt x="33366" y="178755"/>
                  <a:pt x="35306" y="173871"/>
                </a:cubicBezTo>
                <a:lnTo>
                  <a:pt x="63464" y="103439"/>
                </a:lnTo>
                <a:lnTo>
                  <a:pt x="11493" y="103439"/>
                </a:lnTo>
                <a:cubicBezTo>
                  <a:pt x="6645" y="103439"/>
                  <a:pt x="2335" y="100422"/>
                  <a:pt x="682" y="95861"/>
                </a:cubicBezTo>
                <a:cubicBezTo>
                  <a:pt x="-970" y="91299"/>
                  <a:pt x="431" y="86199"/>
                  <a:pt x="4130" y="83110"/>
                </a:cubicBezTo>
                <a:lnTo>
                  <a:pt x="107569" y="-3089"/>
                </a:lnTo>
                <a:cubicBezTo>
                  <a:pt x="111628" y="-6465"/>
                  <a:pt x="117410" y="-6645"/>
                  <a:pt x="121684" y="-355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9191481" y="5643167"/>
            <a:ext cx="2363005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快速恢复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196079" y="5827059"/>
            <a:ext cx="2353810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避免冷启动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vkrusw4g4ilu/chapter4_lmcache.png"/>
          <p:cNvPicPr>
            <a:picLocks noChangeAspect="1"/>
          </p:cNvPicPr>
          <p:nvPr/>
        </p:nvPicPr>
        <p:blipFill>
          <a:blip r:embed="rId3">
            <a:alphaModFix amt="5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5763" y="2119313"/>
            <a:ext cx="1476375" cy="428625"/>
          </a:xfrm>
          <a:custGeom>
            <a:avLst/>
            <a:gdLst/>
            <a:ahLst/>
            <a:cxnLst/>
            <a:rect l="l" t="t" r="r" b="b"/>
            <a:pathLst>
              <a:path w="1476375" h="428625">
                <a:moveTo>
                  <a:pt x="76201" y="0"/>
                </a:moveTo>
                <a:lnTo>
                  <a:pt x="1400174" y="0"/>
                </a:lnTo>
                <a:cubicBezTo>
                  <a:pt x="1442259" y="0"/>
                  <a:pt x="1476375" y="34116"/>
                  <a:pt x="1476375" y="76201"/>
                </a:cubicBezTo>
                <a:lnTo>
                  <a:pt x="1476375" y="352424"/>
                </a:lnTo>
                <a:cubicBezTo>
                  <a:pt x="1476375" y="394509"/>
                  <a:pt x="1442259" y="428625"/>
                  <a:pt x="14001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 w="12700">
            <a:solidFill>
              <a:srgbClr val="D9A46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2214563"/>
            <a:ext cx="12497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1300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 架构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67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多级 Prefix Caching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5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9A46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 架构概览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11410950" cy="590550"/>
          </a:xfrm>
          <a:custGeom>
            <a:avLst/>
            <a:gdLst/>
            <a:ahLst/>
            <a:cxnLst/>
            <a:rect l="l" t="t" r="r" b="b"/>
            <a:pathLst>
              <a:path w="11410950" h="590550">
                <a:moveTo>
                  <a:pt x="38100" y="0"/>
                </a:moveTo>
                <a:lnTo>
                  <a:pt x="11334751" y="0"/>
                </a:lnTo>
                <a:cubicBezTo>
                  <a:pt x="11376835" y="0"/>
                  <a:pt x="11410950" y="34115"/>
                  <a:pt x="11410950" y="76199"/>
                </a:cubicBezTo>
                <a:lnTo>
                  <a:pt x="11410950" y="514351"/>
                </a:lnTo>
                <a:cubicBezTo>
                  <a:pt x="11410950" y="556435"/>
                  <a:pt x="11376835" y="590550"/>
                  <a:pt x="11334751" y="590550"/>
                </a:cubicBez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590550"/>
          </a:xfrm>
          <a:custGeom>
            <a:avLst/>
            <a:gdLst/>
            <a:ahLst/>
            <a:cxnLst/>
            <a:rect l="l" t="t" r="r" b="b"/>
            <a:pathLst>
              <a:path w="38100" h="590550">
                <a:moveTo>
                  <a:pt x="38100" y="0"/>
                </a:moveTo>
                <a:lnTo>
                  <a:pt x="38100" y="0"/>
                </a:lnTo>
                <a:lnTo>
                  <a:pt x="38100" y="590550"/>
                </a:ln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09600" y="1371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81088" y="1371600"/>
            <a:ext cx="10658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 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vLLM 的 GPU 显存缓存之外,提供了额外的</a:t>
            </a: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多级存储扩展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,实现</a:t>
            </a: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跨介质、跨实例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 Prefix Caching 能力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1966912"/>
            <a:ext cx="2762250" cy="2638425"/>
          </a:xfrm>
          <a:custGeom>
            <a:avLst/>
            <a:gdLst/>
            <a:ahLst/>
            <a:cxnLst/>
            <a:rect l="l" t="t" r="r" b="b"/>
            <a:pathLst>
              <a:path w="2762250" h="2638425">
                <a:moveTo>
                  <a:pt x="76198" y="0"/>
                </a:moveTo>
                <a:lnTo>
                  <a:pt x="2686052" y="0"/>
                </a:lnTo>
                <a:cubicBezTo>
                  <a:pt x="2728107" y="0"/>
                  <a:pt x="2762250" y="34143"/>
                  <a:pt x="2762250" y="76198"/>
                </a:cubicBezTo>
                <a:lnTo>
                  <a:pt x="2762250" y="2562227"/>
                </a:lnTo>
                <a:cubicBezTo>
                  <a:pt x="2762250" y="2604282"/>
                  <a:pt x="2728107" y="2638425"/>
                  <a:pt x="2686052" y="2638425"/>
                </a:cubicBezTo>
                <a:lnTo>
                  <a:pt x="76198" y="2638425"/>
                </a:lnTo>
                <a:cubicBezTo>
                  <a:pt x="34143" y="2638425"/>
                  <a:pt x="0" y="2604282"/>
                  <a:pt x="0" y="25622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42925" y="2124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7002" y="2200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8225" y="2181225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CPU 内存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619375"/>
            <a:ext cx="2447925" cy="571500"/>
          </a:xfrm>
          <a:custGeom>
            <a:avLst/>
            <a:gdLst/>
            <a:ahLst/>
            <a:cxnLst/>
            <a:rect l="l" t="t" r="r" b="b"/>
            <a:pathLst>
              <a:path w="2447925" h="571500">
                <a:moveTo>
                  <a:pt x="38102" y="0"/>
                </a:moveTo>
                <a:lnTo>
                  <a:pt x="2409823" y="0"/>
                </a:lnTo>
                <a:cubicBezTo>
                  <a:pt x="2430866" y="0"/>
                  <a:pt x="2447925" y="17059"/>
                  <a:pt x="2447925" y="38102"/>
                </a:cubicBezTo>
                <a:lnTo>
                  <a:pt x="2447925" y="533398"/>
                </a:lnTo>
                <a:cubicBezTo>
                  <a:pt x="2447925" y="554441"/>
                  <a:pt x="2430866" y="571500"/>
                  <a:pt x="24098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19125" y="26955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存储介质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9125" y="2886075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LocalCPUBackend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3267075"/>
            <a:ext cx="2447925" cy="571500"/>
          </a:xfrm>
          <a:custGeom>
            <a:avLst/>
            <a:gdLst/>
            <a:ahLst/>
            <a:cxnLst/>
            <a:rect l="l" t="t" r="r" b="b"/>
            <a:pathLst>
              <a:path w="2447925" h="571500">
                <a:moveTo>
                  <a:pt x="38102" y="0"/>
                </a:moveTo>
                <a:lnTo>
                  <a:pt x="2409823" y="0"/>
                </a:lnTo>
                <a:cubicBezTo>
                  <a:pt x="2430866" y="0"/>
                  <a:pt x="2447925" y="17059"/>
                  <a:pt x="2447925" y="38102"/>
                </a:cubicBezTo>
                <a:lnTo>
                  <a:pt x="2447925" y="533398"/>
                </a:lnTo>
                <a:cubicBezTo>
                  <a:pt x="2447925" y="554441"/>
                  <a:pt x="2430866" y="571500"/>
                  <a:pt x="24098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19125" y="33432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典型延迟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125" y="3533775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~100 μs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2925" y="3914775"/>
            <a:ext cx="2447925" cy="533400"/>
          </a:xfrm>
          <a:custGeom>
            <a:avLst/>
            <a:gdLst/>
            <a:ahLst/>
            <a:cxnLst/>
            <a:rect l="l" t="t" r="r" b="b"/>
            <a:pathLst>
              <a:path w="2447925" h="533400">
                <a:moveTo>
                  <a:pt x="38101" y="0"/>
                </a:moveTo>
                <a:lnTo>
                  <a:pt x="2409824" y="0"/>
                </a:lnTo>
                <a:cubicBezTo>
                  <a:pt x="2430867" y="0"/>
                  <a:pt x="2447925" y="17058"/>
                  <a:pt x="2447925" y="38101"/>
                </a:cubicBezTo>
                <a:lnTo>
                  <a:pt x="2447925" y="495299"/>
                </a:lnTo>
                <a:cubicBezTo>
                  <a:pt x="2447925" y="516342"/>
                  <a:pt x="2430867" y="533400"/>
                  <a:pt x="24098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19125" y="39909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125" y="41814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本地扩展缓存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71838" y="1966912"/>
            <a:ext cx="2762250" cy="2638425"/>
          </a:xfrm>
          <a:custGeom>
            <a:avLst/>
            <a:gdLst/>
            <a:ahLst/>
            <a:cxnLst/>
            <a:rect l="l" t="t" r="r" b="b"/>
            <a:pathLst>
              <a:path w="2762250" h="2638425">
                <a:moveTo>
                  <a:pt x="76198" y="0"/>
                </a:moveTo>
                <a:lnTo>
                  <a:pt x="2686052" y="0"/>
                </a:lnTo>
                <a:cubicBezTo>
                  <a:pt x="2728107" y="0"/>
                  <a:pt x="2762250" y="34143"/>
                  <a:pt x="2762250" y="76198"/>
                </a:cubicBezTo>
                <a:lnTo>
                  <a:pt x="2762250" y="2562227"/>
                </a:lnTo>
                <a:cubicBezTo>
                  <a:pt x="2762250" y="2604282"/>
                  <a:pt x="2728107" y="2638425"/>
                  <a:pt x="2686052" y="2638425"/>
                </a:cubicBezTo>
                <a:lnTo>
                  <a:pt x="76198" y="2638425"/>
                </a:lnTo>
                <a:cubicBezTo>
                  <a:pt x="34143" y="2638425"/>
                  <a:pt x="0" y="2604282"/>
                  <a:pt x="0" y="25622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429000" y="2124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528640" y="2200275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24300" y="2181225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P2P 网络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29000" y="2619375"/>
            <a:ext cx="2447925" cy="571500"/>
          </a:xfrm>
          <a:custGeom>
            <a:avLst/>
            <a:gdLst/>
            <a:ahLst/>
            <a:cxnLst/>
            <a:rect l="l" t="t" r="r" b="b"/>
            <a:pathLst>
              <a:path w="2447925" h="571500">
                <a:moveTo>
                  <a:pt x="38102" y="0"/>
                </a:moveTo>
                <a:lnTo>
                  <a:pt x="2409823" y="0"/>
                </a:lnTo>
                <a:cubicBezTo>
                  <a:pt x="2430866" y="0"/>
                  <a:pt x="2447925" y="17059"/>
                  <a:pt x="2447925" y="38102"/>
                </a:cubicBezTo>
                <a:lnTo>
                  <a:pt x="2447925" y="533398"/>
                </a:lnTo>
                <a:cubicBezTo>
                  <a:pt x="2447925" y="554441"/>
                  <a:pt x="2430866" y="571500"/>
                  <a:pt x="24098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505200" y="26955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存储介质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05200" y="2886075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P2PBackend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29000" y="3267075"/>
            <a:ext cx="2447925" cy="571500"/>
          </a:xfrm>
          <a:custGeom>
            <a:avLst/>
            <a:gdLst/>
            <a:ahLst/>
            <a:cxnLst/>
            <a:rect l="l" t="t" r="r" b="b"/>
            <a:pathLst>
              <a:path w="2447925" h="571500">
                <a:moveTo>
                  <a:pt x="38102" y="0"/>
                </a:moveTo>
                <a:lnTo>
                  <a:pt x="2409823" y="0"/>
                </a:lnTo>
                <a:cubicBezTo>
                  <a:pt x="2430866" y="0"/>
                  <a:pt x="2447925" y="17059"/>
                  <a:pt x="2447925" y="38102"/>
                </a:cubicBezTo>
                <a:lnTo>
                  <a:pt x="2447925" y="533398"/>
                </a:lnTo>
                <a:cubicBezTo>
                  <a:pt x="2447925" y="554441"/>
                  <a:pt x="2430866" y="571500"/>
                  <a:pt x="24098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505200" y="33432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典型延迟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05200" y="3533775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 ms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29000" y="3914775"/>
            <a:ext cx="2447925" cy="533400"/>
          </a:xfrm>
          <a:custGeom>
            <a:avLst/>
            <a:gdLst/>
            <a:ahLst/>
            <a:cxnLst/>
            <a:rect l="l" t="t" r="r" b="b"/>
            <a:pathLst>
              <a:path w="2447925" h="533400">
                <a:moveTo>
                  <a:pt x="38101" y="0"/>
                </a:moveTo>
                <a:lnTo>
                  <a:pt x="2409824" y="0"/>
                </a:lnTo>
                <a:cubicBezTo>
                  <a:pt x="2430867" y="0"/>
                  <a:pt x="2447925" y="17058"/>
                  <a:pt x="2447925" y="38101"/>
                </a:cubicBezTo>
                <a:lnTo>
                  <a:pt x="2447925" y="495299"/>
                </a:lnTo>
                <a:cubicBezTo>
                  <a:pt x="2447925" y="516342"/>
                  <a:pt x="2430867" y="533400"/>
                  <a:pt x="24098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505200" y="39909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05200" y="41814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跨实例共享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57913" y="1966912"/>
            <a:ext cx="2762250" cy="2638425"/>
          </a:xfrm>
          <a:custGeom>
            <a:avLst/>
            <a:gdLst/>
            <a:ahLst/>
            <a:cxnLst/>
            <a:rect l="l" t="t" r="r" b="b"/>
            <a:pathLst>
              <a:path w="2762250" h="2638425">
                <a:moveTo>
                  <a:pt x="76198" y="0"/>
                </a:moveTo>
                <a:lnTo>
                  <a:pt x="2686052" y="0"/>
                </a:lnTo>
                <a:cubicBezTo>
                  <a:pt x="2728107" y="0"/>
                  <a:pt x="2762250" y="34143"/>
                  <a:pt x="2762250" y="76198"/>
                </a:cubicBezTo>
                <a:lnTo>
                  <a:pt x="2762250" y="2562227"/>
                </a:lnTo>
                <a:cubicBezTo>
                  <a:pt x="2762250" y="2604282"/>
                  <a:pt x="2728107" y="2638425"/>
                  <a:pt x="2686052" y="2638425"/>
                </a:cubicBezTo>
                <a:lnTo>
                  <a:pt x="76198" y="2638425"/>
                </a:lnTo>
                <a:cubicBezTo>
                  <a:pt x="34143" y="2638425"/>
                  <a:pt x="0" y="2604282"/>
                  <a:pt x="0" y="25622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E8E93">
              <a:alpha val="10196"/>
            </a:srgbClr>
          </a:solidFill>
          <a:ln w="12700">
            <a:solidFill>
              <a:srgbClr val="8E8E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315075" y="2124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E8E9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14715" y="2200275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10375" y="21812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本地磁盘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15075" y="2619375"/>
            <a:ext cx="2447925" cy="571500"/>
          </a:xfrm>
          <a:custGeom>
            <a:avLst/>
            <a:gdLst/>
            <a:ahLst/>
            <a:cxnLst/>
            <a:rect l="l" t="t" r="r" b="b"/>
            <a:pathLst>
              <a:path w="2447925" h="571500">
                <a:moveTo>
                  <a:pt x="38102" y="0"/>
                </a:moveTo>
                <a:lnTo>
                  <a:pt x="2409823" y="0"/>
                </a:lnTo>
                <a:cubicBezTo>
                  <a:pt x="2430866" y="0"/>
                  <a:pt x="2447925" y="17059"/>
                  <a:pt x="2447925" y="38102"/>
                </a:cubicBezTo>
                <a:lnTo>
                  <a:pt x="2447925" y="533398"/>
                </a:lnTo>
                <a:cubicBezTo>
                  <a:pt x="2447925" y="554441"/>
                  <a:pt x="2430866" y="571500"/>
                  <a:pt x="24098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391275" y="26955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存储介质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91275" y="2886075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LocalDiskBackend/GDS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5075" y="3267075"/>
            <a:ext cx="2447925" cy="571500"/>
          </a:xfrm>
          <a:custGeom>
            <a:avLst/>
            <a:gdLst/>
            <a:ahLst/>
            <a:cxnLst/>
            <a:rect l="l" t="t" r="r" b="b"/>
            <a:pathLst>
              <a:path w="2447925" h="571500">
                <a:moveTo>
                  <a:pt x="38102" y="0"/>
                </a:moveTo>
                <a:lnTo>
                  <a:pt x="2409823" y="0"/>
                </a:lnTo>
                <a:cubicBezTo>
                  <a:pt x="2430866" y="0"/>
                  <a:pt x="2447925" y="17059"/>
                  <a:pt x="2447925" y="38102"/>
                </a:cubicBezTo>
                <a:lnTo>
                  <a:pt x="2447925" y="533398"/>
                </a:lnTo>
                <a:cubicBezTo>
                  <a:pt x="2447925" y="554441"/>
                  <a:pt x="2430866" y="571500"/>
                  <a:pt x="24098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391275" y="33432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典型延迟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91275" y="3533775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~10 ms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15075" y="3914775"/>
            <a:ext cx="2447925" cy="533400"/>
          </a:xfrm>
          <a:custGeom>
            <a:avLst/>
            <a:gdLst/>
            <a:ahLst/>
            <a:cxnLst/>
            <a:rect l="l" t="t" r="r" b="b"/>
            <a:pathLst>
              <a:path w="2447925" h="533400">
                <a:moveTo>
                  <a:pt x="38101" y="0"/>
                </a:moveTo>
                <a:lnTo>
                  <a:pt x="2409824" y="0"/>
                </a:lnTo>
                <a:cubicBezTo>
                  <a:pt x="2430867" y="0"/>
                  <a:pt x="2447925" y="17058"/>
                  <a:pt x="2447925" y="38101"/>
                </a:cubicBezTo>
                <a:lnTo>
                  <a:pt x="2447925" y="495299"/>
                </a:lnTo>
                <a:cubicBezTo>
                  <a:pt x="2447925" y="516342"/>
                  <a:pt x="2430867" y="533400"/>
                  <a:pt x="24098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391275" y="39909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91275" y="41814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持久化缓存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43988" y="1966912"/>
            <a:ext cx="2762250" cy="2638425"/>
          </a:xfrm>
          <a:custGeom>
            <a:avLst/>
            <a:gdLst/>
            <a:ahLst/>
            <a:cxnLst/>
            <a:rect l="l" t="t" r="r" b="b"/>
            <a:pathLst>
              <a:path w="2762250" h="2638425">
                <a:moveTo>
                  <a:pt x="76198" y="0"/>
                </a:moveTo>
                <a:lnTo>
                  <a:pt x="2686052" y="0"/>
                </a:lnTo>
                <a:cubicBezTo>
                  <a:pt x="2728107" y="0"/>
                  <a:pt x="2762250" y="34143"/>
                  <a:pt x="2762250" y="76198"/>
                </a:cubicBezTo>
                <a:lnTo>
                  <a:pt x="2762250" y="2562227"/>
                </a:lnTo>
                <a:cubicBezTo>
                  <a:pt x="2762250" y="2604282"/>
                  <a:pt x="2728107" y="2638425"/>
                  <a:pt x="2686052" y="2638425"/>
                </a:cubicBezTo>
                <a:lnTo>
                  <a:pt x="76198" y="2638425"/>
                </a:lnTo>
                <a:cubicBezTo>
                  <a:pt x="34143" y="2638425"/>
                  <a:pt x="0" y="2604282"/>
                  <a:pt x="0" y="25622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9201150" y="2124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300790" y="2200275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696450" y="21812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远程存储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201150" y="2619375"/>
            <a:ext cx="2447925" cy="571500"/>
          </a:xfrm>
          <a:custGeom>
            <a:avLst/>
            <a:gdLst/>
            <a:ahLst/>
            <a:cxnLst/>
            <a:rect l="l" t="t" r="r" b="b"/>
            <a:pathLst>
              <a:path w="2447925" h="571500">
                <a:moveTo>
                  <a:pt x="38102" y="0"/>
                </a:moveTo>
                <a:lnTo>
                  <a:pt x="2409823" y="0"/>
                </a:lnTo>
                <a:cubicBezTo>
                  <a:pt x="2430866" y="0"/>
                  <a:pt x="2447925" y="17059"/>
                  <a:pt x="2447925" y="38102"/>
                </a:cubicBezTo>
                <a:lnTo>
                  <a:pt x="2447925" y="533398"/>
                </a:lnTo>
                <a:cubicBezTo>
                  <a:pt x="2447925" y="554441"/>
                  <a:pt x="2430866" y="571500"/>
                  <a:pt x="24098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9277350" y="26955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存储介质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277350" y="2886075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Redis/S3/Mooncake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201150" y="3267075"/>
            <a:ext cx="2447925" cy="571500"/>
          </a:xfrm>
          <a:custGeom>
            <a:avLst/>
            <a:gdLst/>
            <a:ahLst/>
            <a:cxnLst/>
            <a:rect l="l" t="t" r="r" b="b"/>
            <a:pathLst>
              <a:path w="2447925" h="571500">
                <a:moveTo>
                  <a:pt x="38102" y="0"/>
                </a:moveTo>
                <a:lnTo>
                  <a:pt x="2409823" y="0"/>
                </a:lnTo>
                <a:cubicBezTo>
                  <a:pt x="2430866" y="0"/>
                  <a:pt x="2447925" y="17059"/>
                  <a:pt x="2447925" y="38102"/>
                </a:cubicBezTo>
                <a:lnTo>
                  <a:pt x="2447925" y="533398"/>
                </a:lnTo>
                <a:cubicBezTo>
                  <a:pt x="2447925" y="554441"/>
                  <a:pt x="2430866" y="571500"/>
                  <a:pt x="24098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9277350" y="33432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典型延迟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277350" y="3533775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~100 ms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201150" y="3914775"/>
            <a:ext cx="2447925" cy="533400"/>
          </a:xfrm>
          <a:custGeom>
            <a:avLst/>
            <a:gdLst/>
            <a:ahLst/>
            <a:cxnLst/>
            <a:rect l="l" t="t" r="r" b="b"/>
            <a:pathLst>
              <a:path w="2447925" h="533400">
                <a:moveTo>
                  <a:pt x="38101" y="0"/>
                </a:moveTo>
                <a:lnTo>
                  <a:pt x="2409824" y="0"/>
                </a:lnTo>
                <a:cubicBezTo>
                  <a:pt x="2430867" y="0"/>
                  <a:pt x="2447925" y="17058"/>
                  <a:pt x="2447925" y="38101"/>
                </a:cubicBezTo>
                <a:lnTo>
                  <a:pt x="2447925" y="495299"/>
                </a:lnTo>
                <a:cubicBezTo>
                  <a:pt x="2447925" y="516342"/>
                  <a:pt x="2430867" y="533400"/>
                  <a:pt x="24098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9277350" y="39909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277350" y="41814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集群级共享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85763" y="4767263"/>
            <a:ext cx="11420475" cy="1190625"/>
          </a:xfrm>
          <a:custGeom>
            <a:avLst/>
            <a:gdLst/>
            <a:ahLst/>
            <a:cxnLst/>
            <a:rect l="l" t="t" r="r" b="b"/>
            <a:pathLst>
              <a:path w="11420475" h="1190625">
                <a:moveTo>
                  <a:pt x="76200" y="0"/>
                </a:moveTo>
                <a:lnTo>
                  <a:pt x="11344275" y="0"/>
                </a:lnTo>
                <a:cubicBezTo>
                  <a:pt x="11386331" y="0"/>
                  <a:pt x="11420475" y="34144"/>
                  <a:pt x="11420475" y="76200"/>
                </a:cubicBezTo>
                <a:lnTo>
                  <a:pt x="11420475" y="1114425"/>
                </a:lnTo>
                <a:cubicBezTo>
                  <a:pt x="11420475" y="1156481"/>
                  <a:pt x="11386331" y="1190625"/>
                  <a:pt x="11344275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566738" y="4962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95350" y="49244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层级说明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42925" y="5305425"/>
            <a:ext cx="11182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GPU 显存中的 KV Cache 由 vLLM 的 PagedAttention 和 APC 机制管理,LMCache 负责 GPU 显存之外的存储层级。此表层级编号为 LMCache 扩展存储的编号,与经典缓存层级中的 L1/L2 含义略有不同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TOKEN HASH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Token Hash 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469" y="1019969"/>
            <a:ext cx="5707063" cy="3833812"/>
          </a:xfrm>
          <a:custGeom>
            <a:avLst/>
            <a:gdLst/>
            <a:ahLst/>
            <a:cxnLst/>
            <a:rect l="l" t="t" r="r" b="b"/>
            <a:pathLst>
              <a:path w="5707063" h="3833812">
                <a:moveTo>
                  <a:pt x="63488" y="0"/>
                </a:moveTo>
                <a:lnTo>
                  <a:pt x="5643575" y="0"/>
                </a:lnTo>
                <a:cubicBezTo>
                  <a:pt x="5678638" y="0"/>
                  <a:pt x="5707063" y="28425"/>
                  <a:pt x="5707063" y="63488"/>
                </a:cubicBezTo>
                <a:lnTo>
                  <a:pt x="5707063" y="3770325"/>
                </a:lnTo>
                <a:cubicBezTo>
                  <a:pt x="5707063" y="3805388"/>
                  <a:pt x="5678638" y="3833812"/>
                  <a:pt x="5643575" y="3833812"/>
                </a:cubicBezTo>
                <a:lnTo>
                  <a:pt x="63488" y="3833812"/>
                </a:lnTo>
                <a:cubicBezTo>
                  <a:pt x="28425" y="3833812"/>
                  <a:pt x="0" y="3805388"/>
                  <a:pt x="0" y="3770325"/>
                </a:cubicBezTo>
                <a:lnTo>
                  <a:pt x="0" y="63488"/>
                </a:lnTo>
                <a:cubicBezTo>
                  <a:pt x="0" y="28448"/>
                  <a:pt x="28448" y="0"/>
                  <a:pt x="63488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72281" y="1182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6570" y="217"/>
                </a:moveTo>
                <a:cubicBezTo>
                  <a:pt x="71934" y="1364"/>
                  <a:pt x="75344" y="6635"/>
                  <a:pt x="74197" y="11999"/>
                </a:cubicBezTo>
                <a:lnTo>
                  <a:pt x="68275" y="39688"/>
                </a:lnTo>
                <a:lnTo>
                  <a:pt x="107497" y="39688"/>
                </a:lnTo>
                <a:lnTo>
                  <a:pt x="114319" y="7844"/>
                </a:lnTo>
                <a:cubicBezTo>
                  <a:pt x="115466" y="2480"/>
                  <a:pt x="120737" y="-930"/>
                  <a:pt x="126101" y="217"/>
                </a:cubicBezTo>
                <a:cubicBezTo>
                  <a:pt x="131465" y="1364"/>
                  <a:pt x="134875" y="6635"/>
                  <a:pt x="133728" y="11999"/>
                </a:cubicBezTo>
                <a:lnTo>
                  <a:pt x="127806" y="39688"/>
                </a:lnTo>
                <a:lnTo>
                  <a:pt x="148828" y="39688"/>
                </a:lnTo>
                <a:cubicBezTo>
                  <a:pt x="154316" y="39688"/>
                  <a:pt x="158750" y="44121"/>
                  <a:pt x="158750" y="49609"/>
                </a:cubicBezTo>
                <a:cubicBezTo>
                  <a:pt x="158750" y="55097"/>
                  <a:pt x="154316" y="59531"/>
                  <a:pt x="148828" y="59531"/>
                </a:cubicBezTo>
                <a:lnTo>
                  <a:pt x="123527" y="59531"/>
                </a:lnTo>
                <a:lnTo>
                  <a:pt x="115032" y="99219"/>
                </a:lnTo>
                <a:lnTo>
                  <a:pt x="136054" y="99219"/>
                </a:lnTo>
                <a:cubicBezTo>
                  <a:pt x="141542" y="99219"/>
                  <a:pt x="145976" y="103653"/>
                  <a:pt x="145976" y="109141"/>
                </a:cubicBezTo>
                <a:cubicBezTo>
                  <a:pt x="145976" y="114629"/>
                  <a:pt x="141542" y="119062"/>
                  <a:pt x="136054" y="119062"/>
                </a:cubicBezTo>
                <a:lnTo>
                  <a:pt x="110753" y="119062"/>
                </a:lnTo>
                <a:lnTo>
                  <a:pt x="103932" y="150906"/>
                </a:lnTo>
                <a:cubicBezTo>
                  <a:pt x="102784" y="156270"/>
                  <a:pt x="97513" y="159680"/>
                  <a:pt x="92149" y="158533"/>
                </a:cubicBezTo>
                <a:cubicBezTo>
                  <a:pt x="86785" y="157386"/>
                  <a:pt x="83375" y="152115"/>
                  <a:pt x="84522" y="146751"/>
                </a:cubicBezTo>
                <a:lnTo>
                  <a:pt x="90444" y="119062"/>
                </a:lnTo>
                <a:lnTo>
                  <a:pt x="51222" y="119062"/>
                </a:lnTo>
                <a:lnTo>
                  <a:pt x="44400" y="150906"/>
                </a:lnTo>
                <a:cubicBezTo>
                  <a:pt x="43253" y="156270"/>
                  <a:pt x="37982" y="159680"/>
                  <a:pt x="32618" y="158533"/>
                </a:cubicBezTo>
                <a:cubicBezTo>
                  <a:pt x="27254" y="157386"/>
                  <a:pt x="23844" y="152115"/>
                  <a:pt x="24991" y="146751"/>
                </a:cubicBezTo>
                <a:lnTo>
                  <a:pt x="30944" y="119062"/>
                </a:lnTo>
                <a:lnTo>
                  <a:pt x="9922" y="119062"/>
                </a:lnTo>
                <a:cubicBezTo>
                  <a:pt x="4434" y="119062"/>
                  <a:pt x="0" y="114629"/>
                  <a:pt x="0" y="109141"/>
                </a:cubicBezTo>
                <a:cubicBezTo>
                  <a:pt x="0" y="103653"/>
                  <a:pt x="4434" y="99219"/>
                  <a:pt x="9922" y="99219"/>
                </a:cubicBezTo>
                <a:lnTo>
                  <a:pt x="35223" y="99219"/>
                </a:lnTo>
                <a:lnTo>
                  <a:pt x="43718" y="59531"/>
                </a:lnTo>
                <a:lnTo>
                  <a:pt x="22696" y="59531"/>
                </a:lnTo>
                <a:cubicBezTo>
                  <a:pt x="17208" y="59531"/>
                  <a:pt x="12774" y="55097"/>
                  <a:pt x="12774" y="49609"/>
                </a:cubicBezTo>
                <a:cubicBezTo>
                  <a:pt x="12774" y="44121"/>
                  <a:pt x="17208" y="39688"/>
                  <a:pt x="22696" y="39688"/>
                </a:cubicBezTo>
                <a:lnTo>
                  <a:pt x="47997" y="39688"/>
                </a:lnTo>
                <a:lnTo>
                  <a:pt x="54818" y="7844"/>
                </a:lnTo>
                <a:cubicBezTo>
                  <a:pt x="55935" y="2480"/>
                  <a:pt x="61206" y="-930"/>
                  <a:pt x="66570" y="217"/>
                </a:cubicBezTo>
                <a:close/>
                <a:moveTo>
                  <a:pt x="63996" y="59531"/>
                </a:moveTo>
                <a:lnTo>
                  <a:pt x="55500" y="99219"/>
                </a:lnTo>
                <a:lnTo>
                  <a:pt x="94723" y="99219"/>
                </a:lnTo>
                <a:lnTo>
                  <a:pt x="103219" y="59531"/>
                </a:lnTo>
                <a:lnTo>
                  <a:pt x="63996" y="59531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46125" y="1150938"/>
            <a:ext cx="174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 Token Hash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2438" y="1468438"/>
            <a:ext cx="5445125" cy="2794000"/>
          </a:xfrm>
          <a:custGeom>
            <a:avLst/>
            <a:gdLst/>
            <a:ahLst/>
            <a:cxnLst/>
            <a:rect l="l" t="t" r="r" b="b"/>
            <a:pathLst>
              <a:path w="5445125" h="2794000">
                <a:moveTo>
                  <a:pt x="63508" y="0"/>
                </a:moveTo>
                <a:lnTo>
                  <a:pt x="5381617" y="0"/>
                </a:lnTo>
                <a:cubicBezTo>
                  <a:pt x="5416692" y="0"/>
                  <a:pt x="5445125" y="28433"/>
                  <a:pt x="5445125" y="63508"/>
                </a:cubicBezTo>
                <a:lnTo>
                  <a:pt x="5445125" y="2730492"/>
                </a:lnTo>
                <a:cubicBezTo>
                  <a:pt x="5445125" y="2765567"/>
                  <a:pt x="5416692" y="2794000"/>
                  <a:pt x="5381617" y="2794000"/>
                </a:cubicBezTo>
                <a:lnTo>
                  <a:pt x="63508" y="2794000"/>
                </a:lnTo>
                <a:cubicBezTo>
                  <a:pt x="28433" y="2794000"/>
                  <a:pt x="0" y="2765567"/>
                  <a:pt x="0" y="2730492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7688" y="1563688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LMCache Token Hash 计算(简化)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7688" y="1785938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 TokenDatabase: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4688" y="1944688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get_cache_key(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4688" y="2103438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self,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4688" y="2262188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token_ids: List[int],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4688" y="2420938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chunk_size: int,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4688" y="2579688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-&gt; List[CacheKey]: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4688" y="2738438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"""将 Token 序列切分并计算增量哈希"""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4688" y="2897188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keys = []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4688" y="3055938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parent_hash = None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4688" y="3214688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i in range(0, len(token_ids), chunk_size):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1688" y="3373438"/>
            <a:ext cx="505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 = tuple(token_ids[i:i + chunk_size])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1688" y="3532188"/>
            <a:ext cx="505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chunk_hash = hash((parent_hash, chunk))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1688" y="3690937"/>
            <a:ext cx="505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keys.append(CacheKey(...))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1688" y="3849688"/>
            <a:ext cx="505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parent_hash = chunk_hash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4688" y="4008438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keys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6406" y="4361656"/>
            <a:ext cx="5437188" cy="357188"/>
          </a:xfrm>
          <a:custGeom>
            <a:avLst/>
            <a:gdLst/>
            <a:ahLst/>
            <a:cxnLst/>
            <a:rect l="l" t="t" r="r" b="b"/>
            <a:pathLst>
              <a:path w="5437188" h="357188">
                <a:moveTo>
                  <a:pt x="63501" y="0"/>
                </a:moveTo>
                <a:lnTo>
                  <a:pt x="5373687" y="0"/>
                </a:lnTo>
                <a:cubicBezTo>
                  <a:pt x="5408757" y="0"/>
                  <a:pt x="5437188" y="28430"/>
                  <a:pt x="5437188" y="63501"/>
                </a:cubicBezTo>
                <a:lnTo>
                  <a:pt x="5437188" y="293687"/>
                </a:lnTo>
                <a:cubicBezTo>
                  <a:pt x="5437188" y="328757"/>
                  <a:pt x="5408757" y="357188"/>
                  <a:pt x="53736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 w="12700">
            <a:solidFill>
              <a:srgbClr val="D9A46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71500" y="44846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38188" y="4460875"/>
            <a:ext cx="511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实际实现通常使用 XXHash 等高性能确定性哈希算法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63469" y="1019969"/>
            <a:ext cx="5707063" cy="3833812"/>
          </a:xfrm>
          <a:custGeom>
            <a:avLst/>
            <a:gdLst/>
            <a:ahLst/>
            <a:cxnLst/>
            <a:rect l="l" t="t" r="r" b="b"/>
            <a:pathLst>
              <a:path w="5707063" h="3833812">
                <a:moveTo>
                  <a:pt x="63488" y="0"/>
                </a:moveTo>
                <a:lnTo>
                  <a:pt x="5643575" y="0"/>
                </a:lnTo>
                <a:cubicBezTo>
                  <a:pt x="5678638" y="0"/>
                  <a:pt x="5707063" y="28425"/>
                  <a:pt x="5707063" y="63488"/>
                </a:cubicBezTo>
                <a:lnTo>
                  <a:pt x="5707063" y="3770325"/>
                </a:lnTo>
                <a:cubicBezTo>
                  <a:pt x="5707063" y="3805388"/>
                  <a:pt x="5678638" y="3833812"/>
                  <a:pt x="5643575" y="3833812"/>
                </a:cubicBezTo>
                <a:lnTo>
                  <a:pt x="63488" y="3833812"/>
                </a:lnTo>
                <a:cubicBezTo>
                  <a:pt x="28425" y="3833812"/>
                  <a:pt x="0" y="3805388"/>
                  <a:pt x="0" y="3770325"/>
                </a:cubicBezTo>
                <a:lnTo>
                  <a:pt x="0" y="63488"/>
                </a:lnTo>
                <a:cubicBezTo>
                  <a:pt x="0" y="28448"/>
                  <a:pt x="28448" y="0"/>
                  <a:pt x="63488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314281" y="1182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4180" y="109141"/>
                </a:moveTo>
                <a:cubicBezTo>
                  <a:pt x="134317" y="109141"/>
                  <a:pt x="158750" y="84708"/>
                  <a:pt x="158750" y="54570"/>
                </a:cubicBezTo>
                <a:cubicBezTo>
                  <a:pt x="158750" y="24433"/>
                  <a:pt x="134317" y="0"/>
                  <a:pt x="104180" y="0"/>
                </a:cubicBezTo>
                <a:cubicBezTo>
                  <a:pt x="74042" y="0"/>
                  <a:pt x="49609" y="24433"/>
                  <a:pt x="49609" y="54570"/>
                </a:cubicBezTo>
                <a:cubicBezTo>
                  <a:pt x="49609" y="60368"/>
                  <a:pt x="50509" y="65980"/>
                  <a:pt x="52183" y="71220"/>
                </a:cubicBezTo>
                <a:lnTo>
                  <a:pt x="2170" y="121233"/>
                </a:lnTo>
                <a:cubicBezTo>
                  <a:pt x="775" y="122628"/>
                  <a:pt x="0" y="124520"/>
                  <a:pt x="0" y="126504"/>
                </a:cubicBezTo>
                <a:lnTo>
                  <a:pt x="0" y="151309"/>
                </a:lnTo>
                <a:cubicBezTo>
                  <a:pt x="0" y="155432"/>
                  <a:pt x="3318" y="158750"/>
                  <a:pt x="7441" y="158750"/>
                </a:cubicBezTo>
                <a:lnTo>
                  <a:pt x="32246" y="158750"/>
                </a:lnTo>
                <a:cubicBezTo>
                  <a:pt x="36370" y="158750"/>
                  <a:pt x="39688" y="155432"/>
                  <a:pt x="39688" y="151309"/>
                </a:cubicBezTo>
                <a:lnTo>
                  <a:pt x="39688" y="138906"/>
                </a:lnTo>
                <a:lnTo>
                  <a:pt x="52090" y="138906"/>
                </a:lnTo>
                <a:cubicBezTo>
                  <a:pt x="56214" y="138906"/>
                  <a:pt x="59531" y="135589"/>
                  <a:pt x="59531" y="131465"/>
                </a:cubicBezTo>
                <a:lnTo>
                  <a:pt x="59531" y="119062"/>
                </a:lnTo>
                <a:lnTo>
                  <a:pt x="71934" y="119062"/>
                </a:lnTo>
                <a:cubicBezTo>
                  <a:pt x="73918" y="119062"/>
                  <a:pt x="75809" y="118287"/>
                  <a:pt x="77205" y="116892"/>
                </a:cubicBezTo>
                <a:lnTo>
                  <a:pt x="87530" y="106567"/>
                </a:lnTo>
                <a:cubicBezTo>
                  <a:pt x="92770" y="108241"/>
                  <a:pt x="98382" y="109141"/>
                  <a:pt x="104180" y="109141"/>
                </a:cubicBezTo>
                <a:close/>
                <a:moveTo>
                  <a:pt x="116582" y="29766"/>
                </a:moveTo>
                <a:cubicBezTo>
                  <a:pt x="123427" y="29766"/>
                  <a:pt x="128984" y="35323"/>
                  <a:pt x="128984" y="42168"/>
                </a:cubicBezTo>
                <a:cubicBezTo>
                  <a:pt x="128984" y="49013"/>
                  <a:pt x="123427" y="54570"/>
                  <a:pt x="116582" y="54570"/>
                </a:cubicBezTo>
                <a:cubicBezTo>
                  <a:pt x="109737" y="54570"/>
                  <a:pt x="104180" y="49013"/>
                  <a:pt x="104180" y="42168"/>
                </a:cubicBezTo>
                <a:cubicBezTo>
                  <a:pt x="104180" y="35323"/>
                  <a:pt x="109737" y="29766"/>
                  <a:pt x="116582" y="29766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88125" y="1150938"/>
            <a:ext cx="103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关键设计特点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94438" y="1468438"/>
            <a:ext cx="5445125" cy="809625"/>
          </a:xfrm>
          <a:custGeom>
            <a:avLst/>
            <a:gdLst/>
            <a:ahLst/>
            <a:cxnLst/>
            <a:rect l="l" t="t" r="r" b="b"/>
            <a:pathLst>
              <a:path w="5445125" h="809625">
                <a:moveTo>
                  <a:pt x="63499" y="0"/>
                </a:moveTo>
                <a:lnTo>
                  <a:pt x="5381626" y="0"/>
                </a:lnTo>
                <a:cubicBezTo>
                  <a:pt x="5416696" y="0"/>
                  <a:pt x="5445125" y="28429"/>
                  <a:pt x="5445125" y="63499"/>
                </a:cubicBezTo>
                <a:lnTo>
                  <a:pt x="5445125" y="746126"/>
                </a:lnTo>
                <a:cubicBezTo>
                  <a:pt x="5445125" y="781196"/>
                  <a:pt x="5416696" y="809625"/>
                  <a:pt x="5381626" y="809625"/>
                </a:cubicBezTo>
                <a:lnTo>
                  <a:pt x="63499" y="809625"/>
                </a:lnTo>
                <a:cubicBezTo>
                  <a:pt x="28429" y="809625"/>
                  <a:pt x="0" y="781196"/>
                  <a:pt x="0" y="74612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397625" y="159543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611938" y="1563688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增量确定性哈希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9688" y="1817688"/>
            <a:ext cx="5310188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 Chunk 的哈希值由当前 Chunk 的 token 内容与父 Chunk 的哈希值共同决定,相同的前缀序列始终产生相同的 Key 链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94438" y="2369344"/>
            <a:ext cx="5445125" cy="627063"/>
          </a:xfrm>
          <a:custGeom>
            <a:avLst/>
            <a:gdLst/>
            <a:ahLst/>
            <a:cxnLst/>
            <a:rect l="l" t="t" r="r" b="b"/>
            <a:pathLst>
              <a:path w="5445125" h="627063">
                <a:moveTo>
                  <a:pt x="63503" y="0"/>
                </a:moveTo>
                <a:lnTo>
                  <a:pt x="5381622" y="0"/>
                </a:lnTo>
                <a:cubicBezTo>
                  <a:pt x="5416694" y="0"/>
                  <a:pt x="5445125" y="28431"/>
                  <a:pt x="5445125" y="63503"/>
                </a:cubicBezTo>
                <a:lnTo>
                  <a:pt x="5445125" y="563560"/>
                </a:lnTo>
                <a:cubicBezTo>
                  <a:pt x="5445125" y="598631"/>
                  <a:pt x="5416694" y="627063"/>
                  <a:pt x="5381622" y="627063"/>
                </a:cubicBezTo>
                <a:lnTo>
                  <a:pt x="63503" y="627063"/>
                </a:lnTo>
                <a:cubicBezTo>
                  <a:pt x="28431" y="627063"/>
                  <a:pt x="0" y="598631"/>
                  <a:pt x="0" y="563560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397625" y="2496344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61516" y="21828"/>
                </a:moveTo>
                <a:lnTo>
                  <a:pt x="81359" y="21828"/>
                </a:lnTo>
                <a:lnTo>
                  <a:pt x="81359" y="33734"/>
                </a:lnTo>
                <a:lnTo>
                  <a:pt x="61516" y="33734"/>
                </a:lnTo>
                <a:lnTo>
                  <a:pt x="61516" y="21828"/>
                </a:lnTo>
                <a:close/>
                <a:moveTo>
                  <a:pt x="59531" y="7938"/>
                </a:moveTo>
                <a:cubicBezTo>
                  <a:pt x="52958" y="7938"/>
                  <a:pt x="47625" y="13271"/>
                  <a:pt x="47625" y="19844"/>
                </a:cubicBezTo>
                <a:lnTo>
                  <a:pt x="47625" y="35719"/>
                </a:lnTo>
                <a:cubicBezTo>
                  <a:pt x="47625" y="42292"/>
                  <a:pt x="52958" y="47625"/>
                  <a:pt x="59531" y="47625"/>
                </a:cubicBezTo>
                <a:lnTo>
                  <a:pt x="63500" y="47625"/>
                </a:lnTo>
                <a:lnTo>
                  <a:pt x="63500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31750" y="71438"/>
                </a:lnTo>
                <a:lnTo>
                  <a:pt x="31750" y="79375"/>
                </a:lnTo>
                <a:lnTo>
                  <a:pt x="27781" y="79375"/>
                </a:lnTo>
                <a:cubicBezTo>
                  <a:pt x="21208" y="79375"/>
                  <a:pt x="15875" y="84708"/>
                  <a:pt x="15875" y="91281"/>
                </a:cubicBezTo>
                <a:lnTo>
                  <a:pt x="15875" y="107156"/>
                </a:lnTo>
                <a:cubicBezTo>
                  <a:pt x="15875" y="113729"/>
                  <a:pt x="21208" y="119063"/>
                  <a:pt x="27781" y="119063"/>
                </a:cubicBezTo>
                <a:lnTo>
                  <a:pt x="51594" y="119063"/>
                </a:lnTo>
                <a:cubicBezTo>
                  <a:pt x="58167" y="119063"/>
                  <a:pt x="63500" y="113729"/>
                  <a:pt x="63500" y="107156"/>
                </a:cubicBezTo>
                <a:lnTo>
                  <a:pt x="63500" y="91281"/>
                </a:lnTo>
                <a:cubicBezTo>
                  <a:pt x="63500" y="84708"/>
                  <a:pt x="58167" y="79375"/>
                  <a:pt x="51594" y="79375"/>
                </a:cubicBezTo>
                <a:lnTo>
                  <a:pt x="47625" y="79375"/>
                </a:lnTo>
                <a:lnTo>
                  <a:pt x="47625" y="71438"/>
                </a:lnTo>
                <a:lnTo>
                  <a:pt x="95250" y="71438"/>
                </a:lnTo>
                <a:lnTo>
                  <a:pt x="95250" y="79375"/>
                </a:lnTo>
                <a:lnTo>
                  <a:pt x="91281" y="79375"/>
                </a:lnTo>
                <a:cubicBezTo>
                  <a:pt x="84708" y="79375"/>
                  <a:pt x="79375" y="84708"/>
                  <a:pt x="79375" y="91281"/>
                </a:cubicBezTo>
                <a:lnTo>
                  <a:pt x="79375" y="107156"/>
                </a:lnTo>
                <a:cubicBezTo>
                  <a:pt x="79375" y="113729"/>
                  <a:pt x="84708" y="119063"/>
                  <a:pt x="91281" y="119063"/>
                </a:cubicBezTo>
                <a:lnTo>
                  <a:pt x="115094" y="119063"/>
                </a:lnTo>
                <a:cubicBezTo>
                  <a:pt x="121667" y="119063"/>
                  <a:pt x="127000" y="113729"/>
                  <a:pt x="127000" y="107156"/>
                </a:cubicBezTo>
                <a:lnTo>
                  <a:pt x="127000" y="91281"/>
                </a:lnTo>
                <a:cubicBezTo>
                  <a:pt x="127000" y="84708"/>
                  <a:pt x="121667" y="79375"/>
                  <a:pt x="115094" y="79375"/>
                </a:cubicBezTo>
                <a:lnTo>
                  <a:pt x="111125" y="79375"/>
                </a:lnTo>
                <a:lnTo>
                  <a:pt x="111125" y="71438"/>
                </a:lnTo>
                <a:lnTo>
                  <a:pt x="134938" y="71438"/>
                </a:lnTo>
                <a:cubicBezTo>
                  <a:pt x="139328" y="71438"/>
                  <a:pt x="142875" y="67890"/>
                  <a:pt x="142875" y="63500"/>
                </a:cubicBezTo>
                <a:cubicBezTo>
                  <a:pt x="142875" y="59110"/>
                  <a:pt x="139328" y="55563"/>
                  <a:pt x="134938" y="55563"/>
                </a:cubicBezTo>
                <a:lnTo>
                  <a:pt x="79375" y="55563"/>
                </a:lnTo>
                <a:lnTo>
                  <a:pt x="79375" y="47625"/>
                </a:lnTo>
                <a:lnTo>
                  <a:pt x="83344" y="47625"/>
                </a:lnTo>
                <a:cubicBezTo>
                  <a:pt x="89917" y="47625"/>
                  <a:pt x="95250" y="42292"/>
                  <a:pt x="95250" y="35719"/>
                </a:cubicBezTo>
                <a:lnTo>
                  <a:pt x="95250" y="19844"/>
                </a:lnTo>
                <a:cubicBezTo>
                  <a:pt x="95250" y="13271"/>
                  <a:pt x="89917" y="7938"/>
                  <a:pt x="83344" y="7938"/>
                </a:cubicBezTo>
                <a:lnTo>
                  <a:pt x="59531" y="7938"/>
                </a:lnTo>
                <a:close/>
                <a:moveTo>
                  <a:pt x="111125" y="93266"/>
                </a:moveTo>
                <a:lnTo>
                  <a:pt x="113109" y="93266"/>
                </a:lnTo>
                <a:lnTo>
                  <a:pt x="113109" y="105172"/>
                </a:lnTo>
                <a:lnTo>
                  <a:pt x="93266" y="105172"/>
                </a:lnTo>
                <a:lnTo>
                  <a:pt x="93266" y="93266"/>
                </a:lnTo>
                <a:lnTo>
                  <a:pt x="111125" y="93266"/>
                </a:lnTo>
                <a:close/>
                <a:moveTo>
                  <a:pt x="47625" y="93266"/>
                </a:moveTo>
                <a:lnTo>
                  <a:pt x="49609" y="93266"/>
                </a:lnTo>
                <a:lnTo>
                  <a:pt x="49609" y="105172"/>
                </a:lnTo>
                <a:lnTo>
                  <a:pt x="29766" y="105172"/>
                </a:lnTo>
                <a:lnTo>
                  <a:pt x="29766" y="93266"/>
                </a:lnTo>
                <a:lnTo>
                  <a:pt x="47625" y="93266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611938" y="2464594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跨实例一致性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9688" y="2718594"/>
            <a:ext cx="53101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基于确定性哈希算法,同一模型的不同实例对相同 token 序列产生相同的 Key,天然支持跨实例缓存共享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94438" y="3089672"/>
            <a:ext cx="5445125" cy="627063"/>
          </a:xfrm>
          <a:custGeom>
            <a:avLst/>
            <a:gdLst/>
            <a:ahLst/>
            <a:cxnLst/>
            <a:rect l="l" t="t" r="r" b="b"/>
            <a:pathLst>
              <a:path w="5445125" h="627063">
                <a:moveTo>
                  <a:pt x="63503" y="0"/>
                </a:moveTo>
                <a:lnTo>
                  <a:pt x="5381622" y="0"/>
                </a:lnTo>
                <a:cubicBezTo>
                  <a:pt x="5416694" y="0"/>
                  <a:pt x="5445125" y="28431"/>
                  <a:pt x="5445125" y="63503"/>
                </a:cubicBezTo>
                <a:lnTo>
                  <a:pt x="5445125" y="563560"/>
                </a:lnTo>
                <a:cubicBezTo>
                  <a:pt x="5445125" y="598631"/>
                  <a:pt x="5416694" y="627063"/>
                  <a:pt x="5381622" y="627063"/>
                </a:cubicBezTo>
                <a:lnTo>
                  <a:pt x="63503" y="627063"/>
                </a:lnTo>
                <a:cubicBezTo>
                  <a:pt x="28431" y="627063"/>
                  <a:pt x="0" y="598631"/>
                  <a:pt x="0" y="563560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405563" y="321667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37356"/>
                </a:moveTo>
                <a:lnTo>
                  <a:pt x="100856" y="61168"/>
                </a:lnTo>
                <a:cubicBezTo>
                  <a:pt x="98574" y="63450"/>
                  <a:pt x="95176" y="64120"/>
                  <a:pt x="92199" y="62880"/>
                </a:cubicBezTo>
                <a:cubicBezTo>
                  <a:pt x="89222" y="61640"/>
                  <a:pt x="87313" y="58762"/>
                  <a:pt x="87313" y="55563"/>
                </a:cubicBezTo>
                <a:lnTo>
                  <a:pt x="87313" y="39688"/>
                </a:ln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87313" y="23812"/>
                </a:lnTo>
                <a:lnTo>
                  <a:pt x="87313" y="7938"/>
                </a:lnTo>
                <a:cubicBezTo>
                  <a:pt x="87313" y="4738"/>
                  <a:pt x="89247" y="1836"/>
                  <a:pt x="92224" y="595"/>
                </a:cubicBezTo>
                <a:cubicBezTo>
                  <a:pt x="95200" y="-645"/>
                  <a:pt x="98599" y="50"/>
                  <a:pt x="100881" y="2307"/>
                </a:cubicBezTo>
                <a:lnTo>
                  <a:pt x="124693" y="26119"/>
                </a:lnTo>
                <a:cubicBezTo>
                  <a:pt x="127794" y="29220"/>
                  <a:pt x="127794" y="34255"/>
                  <a:pt x="124693" y="37356"/>
                </a:cubicBezTo>
                <a:close/>
                <a:moveTo>
                  <a:pt x="26119" y="124668"/>
                </a:moveTo>
                <a:lnTo>
                  <a:pt x="2307" y="100856"/>
                </a:lnTo>
                <a:cubicBezTo>
                  <a:pt x="-794" y="97755"/>
                  <a:pt x="-794" y="92720"/>
                  <a:pt x="2307" y="89619"/>
                </a:cubicBezTo>
                <a:lnTo>
                  <a:pt x="26119" y="65807"/>
                </a:lnTo>
                <a:cubicBezTo>
                  <a:pt x="28401" y="63525"/>
                  <a:pt x="31800" y="62855"/>
                  <a:pt x="34776" y="64095"/>
                </a:cubicBezTo>
                <a:cubicBezTo>
                  <a:pt x="37753" y="65336"/>
                  <a:pt x="39688" y="68238"/>
                  <a:pt x="39688" y="71438"/>
                </a:cubicBezTo>
                <a:lnTo>
                  <a:pt x="39688" y="87313"/>
                </a:lnTo>
                <a:lnTo>
                  <a:pt x="119063" y="87313"/>
                </a:lnTo>
                <a:cubicBezTo>
                  <a:pt x="123453" y="87313"/>
                  <a:pt x="127000" y="90860"/>
                  <a:pt x="127000" y="95250"/>
                </a:cubicBezTo>
                <a:cubicBezTo>
                  <a:pt x="127000" y="99640"/>
                  <a:pt x="123453" y="103188"/>
                  <a:pt x="119063" y="103188"/>
                </a:cubicBezTo>
                <a:lnTo>
                  <a:pt x="39688" y="103188"/>
                </a:lnTo>
                <a:lnTo>
                  <a:pt x="39688" y="119063"/>
                </a:lnTo>
                <a:cubicBezTo>
                  <a:pt x="39688" y="122262"/>
                  <a:pt x="37753" y="125164"/>
                  <a:pt x="34776" y="126405"/>
                </a:cubicBezTo>
                <a:cubicBezTo>
                  <a:pt x="31800" y="127645"/>
                  <a:pt x="28401" y="126950"/>
                  <a:pt x="26119" y="124693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611938" y="3184922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可序列化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89688" y="3438922"/>
            <a:ext cx="53101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可以在网络中传输,支持分布式查找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1469" y="4988719"/>
            <a:ext cx="11549063" cy="1563688"/>
          </a:xfrm>
          <a:custGeom>
            <a:avLst/>
            <a:gdLst/>
            <a:ahLst/>
            <a:cxnLst/>
            <a:rect l="l" t="t" r="r" b="b"/>
            <a:pathLst>
              <a:path w="11549063" h="1563688">
                <a:moveTo>
                  <a:pt x="63501" y="0"/>
                </a:moveTo>
                <a:lnTo>
                  <a:pt x="11485561" y="0"/>
                </a:lnTo>
                <a:cubicBezTo>
                  <a:pt x="11520632" y="0"/>
                  <a:pt x="11549063" y="28431"/>
                  <a:pt x="11549063" y="63501"/>
                </a:cubicBezTo>
                <a:lnTo>
                  <a:pt x="11549063" y="1500186"/>
                </a:lnTo>
                <a:cubicBezTo>
                  <a:pt x="11549063" y="1535257"/>
                  <a:pt x="11520632" y="1563688"/>
                  <a:pt x="11485561" y="1563688"/>
                </a:cubicBezTo>
                <a:lnTo>
                  <a:pt x="63501" y="1563688"/>
                </a:lnTo>
                <a:cubicBezTo>
                  <a:pt x="28431" y="1563688"/>
                  <a:pt x="0" y="1535257"/>
                  <a:pt x="0" y="1500186"/>
                </a:cubicBezTo>
                <a:lnTo>
                  <a:pt x="0" y="63501"/>
                </a:lnTo>
                <a:cubicBezTo>
                  <a:pt x="0" y="28431"/>
                  <a:pt x="28431" y="0"/>
                  <a:pt x="63501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52438" y="515143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46125" y="5119688"/>
            <a:ext cx="2143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 vLLM Block Hash 的对比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2438" y="5437188"/>
            <a:ext cx="5580063" cy="984250"/>
          </a:xfrm>
          <a:custGeom>
            <a:avLst/>
            <a:gdLst/>
            <a:ahLst/>
            <a:cxnLst/>
            <a:rect l="l" t="t" r="r" b="b"/>
            <a:pathLst>
              <a:path w="5580063" h="984250">
                <a:moveTo>
                  <a:pt x="63504" y="0"/>
                </a:moveTo>
                <a:lnTo>
                  <a:pt x="5516559" y="0"/>
                </a:lnTo>
                <a:cubicBezTo>
                  <a:pt x="5551631" y="0"/>
                  <a:pt x="5580063" y="28432"/>
                  <a:pt x="5580063" y="63504"/>
                </a:cubicBezTo>
                <a:lnTo>
                  <a:pt x="5580063" y="920746"/>
                </a:lnTo>
                <a:cubicBezTo>
                  <a:pt x="5580062" y="955818"/>
                  <a:pt x="5551631" y="984250"/>
                  <a:pt x="5516559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547688" y="5532438"/>
            <a:ext cx="545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Block Hash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7688" y="5786438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以 Block(16-32 tokens)为单位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7688" y="5976938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与 PagedAttention 紧密集成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7688" y="6167438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主要用于 GPU 显存内缓存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59500" y="5437188"/>
            <a:ext cx="5580063" cy="984250"/>
          </a:xfrm>
          <a:custGeom>
            <a:avLst/>
            <a:gdLst/>
            <a:ahLst/>
            <a:cxnLst/>
            <a:rect l="l" t="t" r="r" b="b"/>
            <a:pathLst>
              <a:path w="5580063" h="984250">
                <a:moveTo>
                  <a:pt x="63504" y="0"/>
                </a:moveTo>
                <a:lnTo>
                  <a:pt x="5516559" y="0"/>
                </a:lnTo>
                <a:cubicBezTo>
                  <a:pt x="5551631" y="0"/>
                  <a:pt x="5580063" y="28432"/>
                  <a:pt x="5580063" y="63504"/>
                </a:cubicBezTo>
                <a:lnTo>
                  <a:pt x="5580063" y="920746"/>
                </a:lnTo>
                <a:cubicBezTo>
                  <a:pt x="5580062" y="955818"/>
                  <a:pt x="5551631" y="984250"/>
                  <a:pt x="5516559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254750" y="5532438"/>
            <a:ext cx="545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 Token Hash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54750" y="5786438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以 Chunk(256 tokens)为单位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54750" y="5976938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更灵活的粒度控制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54750" y="6167438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支持多级存储和跨实例共享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99" y="333799"/>
            <a:ext cx="11591162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kern="0" spc="53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MULTI-TIER LOOKUP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3799" y="600838"/>
            <a:ext cx="11674612" cy="33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66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多级缓存查找策略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489" y="1068156"/>
            <a:ext cx="11507713" cy="517388"/>
          </a:xfrm>
          <a:custGeom>
            <a:avLst/>
            <a:gdLst/>
            <a:ahLst/>
            <a:cxnLst/>
            <a:rect l="l" t="t" r="r" b="b"/>
            <a:pathLst>
              <a:path w="11507713" h="517388">
                <a:moveTo>
                  <a:pt x="33380" y="0"/>
                </a:moveTo>
                <a:lnTo>
                  <a:pt x="11440954" y="0"/>
                </a:lnTo>
                <a:cubicBezTo>
                  <a:pt x="11477824" y="0"/>
                  <a:pt x="11507713" y="29889"/>
                  <a:pt x="11507713" y="66759"/>
                </a:cubicBezTo>
                <a:lnTo>
                  <a:pt x="11507713" y="450630"/>
                </a:lnTo>
                <a:cubicBezTo>
                  <a:pt x="11507713" y="487499"/>
                  <a:pt x="11477824" y="517388"/>
                  <a:pt x="11440954" y="517388"/>
                </a:cubicBezTo>
                <a:lnTo>
                  <a:pt x="33380" y="517388"/>
                </a:lnTo>
                <a:cubicBezTo>
                  <a:pt x="14945" y="517388"/>
                  <a:pt x="0" y="502443"/>
                  <a:pt x="0" y="484008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50489" y="1068156"/>
            <a:ext cx="33380" cy="517388"/>
          </a:xfrm>
          <a:custGeom>
            <a:avLst/>
            <a:gdLst/>
            <a:ahLst/>
            <a:cxnLst/>
            <a:rect l="l" t="t" r="r" b="b"/>
            <a:pathLst>
              <a:path w="33380" h="517388">
                <a:moveTo>
                  <a:pt x="33380" y="0"/>
                </a:moveTo>
                <a:lnTo>
                  <a:pt x="33380" y="0"/>
                </a:lnTo>
                <a:lnTo>
                  <a:pt x="33380" y="517388"/>
                </a:lnTo>
                <a:lnTo>
                  <a:pt x="33380" y="517388"/>
                </a:lnTo>
                <a:cubicBezTo>
                  <a:pt x="14945" y="517388"/>
                  <a:pt x="0" y="502443"/>
                  <a:pt x="0" y="484008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4078" y="1201676"/>
            <a:ext cx="250349" cy="250349"/>
          </a:xfrm>
          <a:custGeom>
            <a:avLst/>
            <a:gdLst/>
            <a:ahLst/>
            <a:cxnLst/>
            <a:rect l="l" t="t" r="r" b="b"/>
            <a:pathLst>
              <a:path w="250349" h="250349">
                <a:moveTo>
                  <a:pt x="200768" y="60680"/>
                </a:moveTo>
                <a:cubicBezTo>
                  <a:pt x="210890" y="68308"/>
                  <a:pt x="223261" y="75691"/>
                  <a:pt x="237049" y="77550"/>
                </a:cubicBezTo>
                <a:cubicBezTo>
                  <a:pt x="243455" y="78430"/>
                  <a:pt x="249371" y="73882"/>
                  <a:pt x="250251" y="67477"/>
                </a:cubicBezTo>
                <a:cubicBezTo>
                  <a:pt x="251131" y="61071"/>
                  <a:pt x="246584" y="55155"/>
                  <a:pt x="240179" y="54275"/>
                </a:cubicBezTo>
                <a:cubicBezTo>
                  <a:pt x="232404" y="53248"/>
                  <a:pt x="223945" y="48750"/>
                  <a:pt x="214899" y="41953"/>
                </a:cubicBezTo>
                <a:cubicBezTo>
                  <a:pt x="196123" y="27773"/>
                  <a:pt x="170648" y="27773"/>
                  <a:pt x="151823" y="41953"/>
                </a:cubicBezTo>
                <a:cubicBezTo>
                  <a:pt x="140088" y="50803"/>
                  <a:pt x="131922" y="54813"/>
                  <a:pt x="125175" y="54813"/>
                </a:cubicBezTo>
                <a:cubicBezTo>
                  <a:pt x="118427" y="54813"/>
                  <a:pt x="110261" y="50803"/>
                  <a:pt x="98526" y="41953"/>
                </a:cubicBezTo>
                <a:cubicBezTo>
                  <a:pt x="79750" y="27773"/>
                  <a:pt x="54275" y="27773"/>
                  <a:pt x="35450" y="41953"/>
                </a:cubicBezTo>
                <a:cubicBezTo>
                  <a:pt x="26404" y="48750"/>
                  <a:pt x="17945" y="53248"/>
                  <a:pt x="10170" y="54275"/>
                </a:cubicBezTo>
                <a:cubicBezTo>
                  <a:pt x="3765" y="55155"/>
                  <a:pt x="-782" y="61023"/>
                  <a:pt x="98" y="67477"/>
                </a:cubicBezTo>
                <a:cubicBezTo>
                  <a:pt x="978" y="73931"/>
                  <a:pt x="6845" y="78430"/>
                  <a:pt x="13300" y="77550"/>
                </a:cubicBezTo>
                <a:cubicBezTo>
                  <a:pt x="27089" y="75691"/>
                  <a:pt x="39508" y="68308"/>
                  <a:pt x="49581" y="60680"/>
                </a:cubicBezTo>
                <a:cubicBezTo>
                  <a:pt x="59996" y="52808"/>
                  <a:pt x="73980" y="52808"/>
                  <a:pt x="84395" y="60680"/>
                </a:cubicBezTo>
                <a:cubicBezTo>
                  <a:pt x="96228" y="69628"/>
                  <a:pt x="109968" y="78234"/>
                  <a:pt x="125175" y="78234"/>
                </a:cubicBezTo>
                <a:cubicBezTo>
                  <a:pt x="140381" y="78234"/>
                  <a:pt x="154072" y="69579"/>
                  <a:pt x="165954" y="60680"/>
                </a:cubicBezTo>
                <a:cubicBezTo>
                  <a:pt x="176369" y="52808"/>
                  <a:pt x="190353" y="52808"/>
                  <a:pt x="200768" y="60680"/>
                </a:cubicBezTo>
                <a:close/>
                <a:moveTo>
                  <a:pt x="200768" y="131091"/>
                </a:moveTo>
                <a:cubicBezTo>
                  <a:pt x="210890" y="138719"/>
                  <a:pt x="223261" y="146102"/>
                  <a:pt x="237049" y="147960"/>
                </a:cubicBezTo>
                <a:cubicBezTo>
                  <a:pt x="243455" y="148840"/>
                  <a:pt x="249371" y="144293"/>
                  <a:pt x="250251" y="137888"/>
                </a:cubicBezTo>
                <a:cubicBezTo>
                  <a:pt x="251131" y="131482"/>
                  <a:pt x="246584" y="125566"/>
                  <a:pt x="240179" y="124686"/>
                </a:cubicBezTo>
                <a:cubicBezTo>
                  <a:pt x="232404" y="123659"/>
                  <a:pt x="223945" y="119160"/>
                  <a:pt x="214899" y="112364"/>
                </a:cubicBezTo>
                <a:cubicBezTo>
                  <a:pt x="196123" y="98184"/>
                  <a:pt x="170648" y="98184"/>
                  <a:pt x="151823" y="112364"/>
                </a:cubicBezTo>
                <a:cubicBezTo>
                  <a:pt x="140088" y="121214"/>
                  <a:pt x="131922" y="125223"/>
                  <a:pt x="125175" y="125223"/>
                </a:cubicBezTo>
                <a:cubicBezTo>
                  <a:pt x="118427" y="125223"/>
                  <a:pt x="110261" y="121214"/>
                  <a:pt x="98526" y="112364"/>
                </a:cubicBezTo>
                <a:cubicBezTo>
                  <a:pt x="79750" y="98184"/>
                  <a:pt x="54275" y="98184"/>
                  <a:pt x="35450" y="112364"/>
                </a:cubicBezTo>
                <a:cubicBezTo>
                  <a:pt x="26404" y="119160"/>
                  <a:pt x="17945" y="123659"/>
                  <a:pt x="10170" y="124686"/>
                </a:cubicBezTo>
                <a:cubicBezTo>
                  <a:pt x="3765" y="125517"/>
                  <a:pt x="-782" y="131433"/>
                  <a:pt x="98" y="137888"/>
                </a:cubicBezTo>
                <a:cubicBezTo>
                  <a:pt x="978" y="144342"/>
                  <a:pt x="6845" y="148840"/>
                  <a:pt x="13300" y="147960"/>
                </a:cubicBezTo>
                <a:cubicBezTo>
                  <a:pt x="27089" y="146102"/>
                  <a:pt x="39508" y="138719"/>
                  <a:pt x="49581" y="131091"/>
                </a:cubicBezTo>
                <a:cubicBezTo>
                  <a:pt x="59996" y="123219"/>
                  <a:pt x="73980" y="123219"/>
                  <a:pt x="84395" y="131091"/>
                </a:cubicBezTo>
                <a:cubicBezTo>
                  <a:pt x="96228" y="140039"/>
                  <a:pt x="109968" y="148645"/>
                  <a:pt x="125175" y="148645"/>
                </a:cubicBezTo>
                <a:cubicBezTo>
                  <a:pt x="140381" y="148645"/>
                  <a:pt x="154072" y="139990"/>
                  <a:pt x="165954" y="131091"/>
                </a:cubicBezTo>
                <a:cubicBezTo>
                  <a:pt x="176369" y="123219"/>
                  <a:pt x="190353" y="123219"/>
                  <a:pt x="200768" y="131091"/>
                </a:cubicBezTo>
                <a:close/>
                <a:moveTo>
                  <a:pt x="165954" y="201502"/>
                </a:moveTo>
                <a:cubicBezTo>
                  <a:pt x="176369" y="193629"/>
                  <a:pt x="190353" y="193629"/>
                  <a:pt x="200768" y="201502"/>
                </a:cubicBezTo>
                <a:cubicBezTo>
                  <a:pt x="210890" y="209129"/>
                  <a:pt x="223261" y="216513"/>
                  <a:pt x="237049" y="218371"/>
                </a:cubicBezTo>
                <a:cubicBezTo>
                  <a:pt x="243455" y="219251"/>
                  <a:pt x="249371" y="214704"/>
                  <a:pt x="250251" y="208298"/>
                </a:cubicBezTo>
                <a:cubicBezTo>
                  <a:pt x="251131" y="201893"/>
                  <a:pt x="246584" y="195976"/>
                  <a:pt x="240179" y="195096"/>
                </a:cubicBezTo>
                <a:cubicBezTo>
                  <a:pt x="232404" y="194069"/>
                  <a:pt x="223945" y="189571"/>
                  <a:pt x="214899" y="182774"/>
                </a:cubicBezTo>
                <a:cubicBezTo>
                  <a:pt x="196123" y="168594"/>
                  <a:pt x="170648" y="168594"/>
                  <a:pt x="151823" y="182774"/>
                </a:cubicBezTo>
                <a:cubicBezTo>
                  <a:pt x="140088" y="191625"/>
                  <a:pt x="131922" y="195634"/>
                  <a:pt x="125175" y="195634"/>
                </a:cubicBezTo>
                <a:cubicBezTo>
                  <a:pt x="118427" y="195634"/>
                  <a:pt x="110261" y="191625"/>
                  <a:pt x="98526" y="182774"/>
                </a:cubicBezTo>
                <a:cubicBezTo>
                  <a:pt x="79750" y="168594"/>
                  <a:pt x="54275" y="168594"/>
                  <a:pt x="35450" y="182774"/>
                </a:cubicBezTo>
                <a:cubicBezTo>
                  <a:pt x="26404" y="189571"/>
                  <a:pt x="17945" y="194069"/>
                  <a:pt x="10170" y="195096"/>
                </a:cubicBezTo>
                <a:cubicBezTo>
                  <a:pt x="3765" y="195976"/>
                  <a:pt x="-782" y="201844"/>
                  <a:pt x="98" y="208298"/>
                </a:cubicBezTo>
                <a:cubicBezTo>
                  <a:pt x="978" y="214753"/>
                  <a:pt x="6845" y="219251"/>
                  <a:pt x="13300" y="218371"/>
                </a:cubicBezTo>
                <a:cubicBezTo>
                  <a:pt x="27089" y="216513"/>
                  <a:pt x="39508" y="209129"/>
                  <a:pt x="49581" y="201502"/>
                </a:cubicBezTo>
                <a:cubicBezTo>
                  <a:pt x="59996" y="193629"/>
                  <a:pt x="73980" y="193629"/>
                  <a:pt x="84395" y="201502"/>
                </a:cubicBezTo>
                <a:cubicBezTo>
                  <a:pt x="96228" y="210450"/>
                  <a:pt x="109968" y="219055"/>
                  <a:pt x="125175" y="219055"/>
                </a:cubicBezTo>
                <a:cubicBezTo>
                  <a:pt x="140381" y="219055"/>
                  <a:pt x="154072" y="210401"/>
                  <a:pt x="165954" y="201502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47154" y="1201676"/>
            <a:ext cx="10848460" cy="2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 的 </a:t>
            </a:r>
            <a:r>
              <a:rPr lang="en-US" sz="1051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StorageManager </a:t>
            </a:r>
            <a:r>
              <a:rPr lang="en-US" sz="105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实现了 </a:t>
            </a:r>
            <a:r>
              <a:rPr lang="en-US" sz="1051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Waterfall(瀑布式)</a:t>
            </a:r>
            <a:r>
              <a:rPr lang="en-US" sz="105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检索策略,从 L1 到 L4 逐级查找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7971" y="1723236"/>
            <a:ext cx="5691269" cy="3413092"/>
          </a:xfrm>
          <a:custGeom>
            <a:avLst/>
            <a:gdLst/>
            <a:ahLst/>
            <a:cxnLst/>
            <a:rect l="l" t="t" r="r" b="b"/>
            <a:pathLst>
              <a:path w="5691269" h="3413092">
                <a:moveTo>
                  <a:pt x="66760" y="0"/>
                </a:moveTo>
                <a:lnTo>
                  <a:pt x="5624509" y="0"/>
                </a:lnTo>
                <a:cubicBezTo>
                  <a:pt x="5661379" y="0"/>
                  <a:pt x="5691269" y="29890"/>
                  <a:pt x="5691269" y="66760"/>
                </a:cubicBezTo>
                <a:lnTo>
                  <a:pt x="5691269" y="3346332"/>
                </a:lnTo>
                <a:cubicBezTo>
                  <a:pt x="5691269" y="3383203"/>
                  <a:pt x="5661379" y="3413092"/>
                  <a:pt x="5624509" y="3413092"/>
                </a:cubicBezTo>
                <a:lnTo>
                  <a:pt x="66760" y="3413092"/>
                </a:lnTo>
                <a:cubicBezTo>
                  <a:pt x="29890" y="3413092"/>
                  <a:pt x="0" y="3383203"/>
                  <a:pt x="0" y="3346332"/>
                </a:cubicBezTo>
                <a:lnTo>
                  <a:pt x="0" y="66760"/>
                </a:lnTo>
                <a:cubicBezTo>
                  <a:pt x="0" y="29890"/>
                  <a:pt x="29890" y="0"/>
                  <a:pt x="6676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96526" y="1894308"/>
            <a:ext cx="166899" cy="166899"/>
          </a:xfrm>
          <a:custGeom>
            <a:avLst/>
            <a:gdLst/>
            <a:ahLst/>
            <a:cxnLst/>
            <a:rect l="l" t="t" r="r" b="b"/>
            <a:pathLst>
              <a:path w="166899" h="166899">
                <a:moveTo>
                  <a:pt x="62587" y="20862"/>
                </a:moveTo>
                <a:cubicBezTo>
                  <a:pt x="62587" y="15093"/>
                  <a:pt x="67249" y="10431"/>
                  <a:pt x="73018" y="10431"/>
                </a:cubicBezTo>
                <a:lnTo>
                  <a:pt x="93881" y="10431"/>
                </a:lnTo>
                <a:cubicBezTo>
                  <a:pt x="99651" y="10431"/>
                  <a:pt x="104312" y="15093"/>
                  <a:pt x="104312" y="20862"/>
                </a:cubicBezTo>
                <a:lnTo>
                  <a:pt x="104312" y="41725"/>
                </a:lnTo>
                <a:cubicBezTo>
                  <a:pt x="104312" y="47495"/>
                  <a:pt x="99651" y="52156"/>
                  <a:pt x="93881" y="52156"/>
                </a:cubicBezTo>
                <a:lnTo>
                  <a:pt x="91273" y="52156"/>
                </a:lnTo>
                <a:lnTo>
                  <a:pt x="91273" y="73018"/>
                </a:lnTo>
                <a:lnTo>
                  <a:pt x="130390" y="73018"/>
                </a:lnTo>
                <a:cubicBezTo>
                  <a:pt x="143364" y="73018"/>
                  <a:pt x="153860" y="83515"/>
                  <a:pt x="153860" y="96489"/>
                </a:cubicBezTo>
                <a:lnTo>
                  <a:pt x="153860" y="114743"/>
                </a:lnTo>
                <a:lnTo>
                  <a:pt x="156468" y="114743"/>
                </a:lnTo>
                <a:cubicBezTo>
                  <a:pt x="162238" y="114743"/>
                  <a:pt x="166899" y="119405"/>
                  <a:pt x="166899" y="125175"/>
                </a:cubicBezTo>
                <a:lnTo>
                  <a:pt x="166899" y="146037"/>
                </a:lnTo>
                <a:cubicBezTo>
                  <a:pt x="166899" y="151807"/>
                  <a:pt x="162238" y="156468"/>
                  <a:pt x="156468" y="156468"/>
                </a:cubicBezTo>
                <a:lnTo>
                  <a:pt x="135606" y="156468"/>
                </a:lnTo>
                <a:cubicBezTo>
                  <a:pt x="129836" y="156468"/>
                  <a:pt x="125175" y="151807"/>
                  <a:pt x="125175" y="146037"/>
                </a:cubicBezTo>
                <a:lnTo>
                  <a:pt x="125175" y="125175"/>
                </a:lnTo>
                <a:cubicBezTo>
                  <a:pt x="125175" y="119405"/>
                  <a:pt x="129836" y="114743"/>
                  <a:pt x="135606" y="114743"/>
                </a:cubicBezTo>
                <a:lnTo>
                  <a:pt x="138214" y="114743"/>
                </a:lnTo>
                <a:lnTo>
                  <a:pt x="138214" y="96489"/>
                </a:lnTo>
                <a:cubicBezTo>
                  <a:pt x="138214" y="92153"/>
                  <a:pt x="134726" y="88665"/>
                  <a:pt x="130390" y="88665"/>
                </a:cubicBezTo>
                <a:lnTo>
                  <a:pt x="91273" y="88665"/>
                </a:lnTo>
                <a:lnTo>
                  <a:pt x="91273" y="114743"/>
                </a:lnTo>
                <a:lnTo>
                  <a:pt x="93881" y="114743"/>
                </a:lnTo>
                <a:cubicBezTo>
                  <a:pt x="99651" y="114743"/>
                  <a:pt x="104312" y="119405"/>
                  <a:pt x="104312" y="125175"/>
                </a:cubicBezTo>
                <a:lnTo>
                  <a:pt x="104312" y="146037"/>
                </a:lnTo>
                <a:cubicBezTo>
                  <a:pt x="104312" y="151807"/>
                  <a:pt x="99651" y="156468"/>
                  <a:pt x="93881" y="156468"/>
                </a:cubicBezTo>
                <a:lnTo>
                  <a:pt x="73018" y="156468"/>
                </a:lnTo>
                <a:cubicBezTo>
                  <a:pt x="67249" y="156468"/>
                  <a:pt x="62587" y="151807"/>
                  <a:pt x="62587" y="146037"/>
                </a:cubicBezTo>
                <a:lnTo>
                  <a:pt x="62587" y="125175"/>
                </a:lnTo>
                <a:cubicBezTo>
                  <a:pt x="62587" y="119405"/>
                  <a:pt x="67249" y="114743"/>
                  <a:pt x="73018" y="114743"/>
                </a:cubicBezTo>
                <a:lnTo>
                  <a:pt x="75626" y="114743"/>
                </a:lnTo>
                <a:lnTo>
                  <a:pt x="75626" y="88665"/>
                </a:lnTo>
                <a:lnTo>
                  <a:pt x="36509" y="88665"/>
                </a:lnTo>
                <a:cubicBezTo>
                  <a:pt x="32174" y="88665"/>
                  <a:pt x="28686" y="92153"/>
                  <a:pt x="28686" y="96489"/>
                </a:cubicBezTo>
                <a:lnTo>
                  <a:pt x="28686" y="114743"/>
                </a:lnTo>
                <a:lnTo>
                  <a:pt x="31294" y="114743"/>
                </a:lnTo>
                <a:cubicBezTo>
                  <a:pt x="37063" y="114743"/>
                  <a:pt x="41725" y="119405"/>
                  <a:pt x="41725" y="125175"/>
                </a:cubicBezTo>
                <a:lnTo>
                  <a:pt x="41725" y="146037"/>
                </a:lnTo>
                <a:cubicBezTo>
                  <a:pt x="41725" y="151807"/>
                  <a:pt x="37063" y="156468"/>
                  <a:pt x="31294" y="156468"/>
                </a:cubicBezTo>
                <a:lnTo>
                  <a:pt x="10431" y="156468"/>
                </a:lnTo>
                <a:cubicBezTo>
                  <a:pt x="4661" y="156468"/>
                  <a:pt x="0" y="151807"/>
                  <a:pt x="0" y="146037"/>
                </a:cubicBezTo>
                <a:lnTo>
                  <a:pt x="0" y="125175"/>
                </a:lnTo>
                <a:cubicBezTo>
                  <a:pt x="0" y="119405"/>
                  <a:pt x="4661" y="114743"/>
                  <a:pt x="10431" y="114743"/>
                </a:cubicBezTo>
                <a:lnTo>
                  <a:pt x="13039" y="114743"/>
                </a:lnTo>
                <a:lnTo>
                  <a:pt x="13039" y="96489"/>
                </a:lnTo>
                <a:cubicBezTo>
                  <a:pt x="13039" y="83515"/>
                  <a:pt x="23535" y="73018"/>
                  <a:pt x="36509" y="73018"/>
                </a:cubicBezTo>
                <a:lnTo>
                  <a:pt x="75626" y="73018"/>
                </a:lnTo>
                <a:lnTo>
                  <a:pt x="75626" y="52156"/>
                </a:lnTo>
                <a:lnTo>
                  <a:pt x="73018" y="52156"/>
                </a:lnTo>
                <a:cubicBezTo>
                  <a:pt x="67249" y="52156"/>
                  <a:pt x="62587" y="47495"/>
                  <a:pt x="62587" y="41725"/>
                </a:cubicBezTo>
                <a:lnTo>
                  <a:pt x="62587" y="20862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84427" y="1860928"/>
            <a:ext cx="1518784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Waterfall 检索流程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663" y="2194727"/>
            <a:ext cx="5415885" cy="500698"/>
          </a:xfrm>
          <a:custGeom>
            <a:avLst/>
            <a:gdLst/>
            <a:ahLst/>
            <a:cxnLst/>
            <a:rect l="l" t="t" r="r" b="b"/>
            <a:pathLst>
              <a:path w="5415885" h="500698">
                <a:moveTo>
                  <a:pt x="66758" y="0"/>
                </a:moveTo>
                <a:lnTo>
                  <a:pt x="5349127" y="0"/>
                </a:lnTo>
                <a:cubicBezTo>
                  <a:pt x="5385996" y="0"/>
                  <a:pt x="5415885" y="29889"/>
                  <a:pt x="5415885" y="66758"/>
                </a:cubicBezTo>
                <a:lnTo>
                  <a:pt x="5415885" y="433940"/>
                </a:lnTo>
                <a:cubicBezTo>
                  <a:pt x="5415885" y="470810"/>
                  <a:pt x="5385996" y="500698"/>
                  <a:pt x="5349127" y="500698"/>
                </a:cubicBezTo>
                <a:lnTo>
                  <a:pt x="66758" y="500698"/>
                </a:lnTo>
                <a:cubicBezTo>
                  <a:pt x="29913" y="500698"/>
                  <a:pt x="0" y="470785"/>
                  <a:pt x="0" y="433940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42423" y="2278177"/>
            <a:ext cx="333799" cy="333799"/>
          </a:xfrm>
          <a:custGeom>
            <a:avLst/>
            <a:gdLst/>
            <a:ahLst/>
            <a:cxnLst/>
            <a:rect l="l" t="t" r="r" b="b"/>
            <a:pathLst>
              <a:path w="333799" h="333799">
                <a:moveTo>
                  <a:pt x="66760" y="0"/>
                </a:moveTo>
                <a:lnTo>
                  <a:pt x="267039" y="0"/>
                </a:lnTo>
                <a:cubicBezTo>
                  <a:pt x="303885" y="0"/>
                  <a:pt x="333799" y="29914"/>
                  <a:pt x="333799" y="66760"/>
                </a:cubicBezTo>
                <a:lnTo>
                  <a:pt x="333799" y="267039"/>
                </a:lnTo>
                <a:cubicBezTo>
                  <a:pt x="333799" y="303885"/>
                  <a:pt x="303885" y="333799"/>
                  <a:pt x="267039" y="333799"/>
                </a:cubicBezTo>
                <a:lnTo>
                  <a:pt x="66760" y="333799"/>
                </a:lnTo>
                <a:cubicBezTo>
                  <a:pt x="29914" y="333799"/>
                  <a:pt x="0" y="303885"/>
                  <a:pt x="0" y="267039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5C7A96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9043" y="2278177"/>
            <a:ext cx="400559" cy="33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6361" y="2261487"/>
            <a:ext cx="4915187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GPU 显存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6361" y="2461766"/>
            <a:ext cx="4906842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命中? → 直接使用 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32102" y="2762185"/>
            <a:ext cx="100140" cy="133520"/>
          </a:xfrm>
          <a:custGeom>
            <a:avLst/>
            <a:gdLst/>
            <a:ahLst/>
            <a:cxnLst/>
            <a:rect l="l" t="t" r="r" b="b"/>
            <a:pathLst>
              <a:path w="100140" h="133520">
                <a:moveTo>
                  <a:pt x="44176" y="131068"/>
                </a:moveTo>
                <a:cubicBezTo>
                  <a:pt x="47436" y="134328"/>
                  <a:pt x="52730" y="134328"/>
                  <a:pt x="55990" y="131068"/>
                </a:cubicBezTo>
                <a:lnTo>
                  <a:pt x="97714" y="89343"/>
                </a:lnTo>
                <a:cubicBezTo>
                  <a:pt x="100974" y="86084"/>
                  <a:pt x="100974" y="80790"/>
                  <a:pt x="97714" y="77530"/>
                </a:cubicBezTo>
                <a:cubicBezTo>
                  <a:pt x="94455" y="74270"/>
                  <a:pt x="89161" y="74270"/>
                  <a:pt x="85901" y="77530"/>
                </a:cubicBezTo>
                <a:lnTo>
                  <a:pt x="58415" y="105016"/>
                </a:lnTo>
                <a:lnTo>
                  <a:pt x="58415" y="8345"/>
                </a:lnTo>
                <a:cubicBezTo>
                  <a:pt x="58415" y="3729"/>
                  <a:pt x="54686" y="0"/>
                  <a:pt x="50070" y="0"/>
                </a:cubicBezTo>
                <a:cubicBezTo>
                  <a:pt x="45454" y="0"/>
                  <a:pt x="41725" y="3729"/>
                  <a:pt x="41725" y="8345"/>
                </a:cubicBezTo>
                <a:lnTo>
                  <a:pt x="41725" y="105016"/>
                </a:lnTo>
                <a:lnTo>
                  <a:pt x="14239" y="77530"/>
                </a:lnTo>
                <a:cubicBezTo>
                  <a:pt x="10979" y="74270"/>
                  <a:pt x="5685" y="74270"/>
                  <a:pt x="2425" y="77530"/>
                </a:cubicBezTo>
                <a:cubicBezTo>
                  <a:pt x="-834" y="80790"/>
                  <a:pt x="-834" y="86084"/>
                  <a:pt x="2425" y="89343"/>
                </a:cubicBezTo>
                <a:lnTo>
                  <a:pt x="44150" y="131068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75663" y="2962464"/>
            <a:ext cx="5415885" cy="500698"/>
          </a:xfrm>
          <a:custGeom>
            <a:avLst/>
            <a:gdLst/>
            <a:ahLst/>
            <a:cxnLst/>
            <a:rect l="l" t="t" r="r" b="b"/>
            <a:pathLst>
              <a:path w="5415885" h="500698">
                <a:moveTo>
                  <a:pt x="66758" y="0"/>
                </a:moveTo>
                <a:lnTo>
                  <a:pt x="5349127" y="0"/>
                </a:lnTo>
                <a:cubicBezTo>
                  <a:pt x="5385996" y="0"/>
                  <a:pt x="5415885" y="29889"/>
                  <a:pt x="5415885" y="66758"/>
                </a:cubicBezTo>
                <a:lnTo>
                  <a:pt x="5415885" y="433940"/>
                </a:lnTo>
                <a:cubicBezTo>
                  <a:pt x="5415885" y="470810"/>
                  <a:pt x="5385996" y="500698"/>
                  <a:pt x="5349127" y="500698"/>
                </a:cubicBezTo>
                <a:lnTo>
                  <a:pt x="66758" y="500698"/>
                </a:lnTo>
                <a:cubicBezTo>
                  <a:pt x="29913" y="500698"/>
                  <a:pt x="0" y="470785"/>
                  <a:pt x="0" y="433940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42423" y="3045914"/>
            <a:ext cx="333799" cy="333799"/>
          </a:xfrm>
          <a:custGeom>
            <a:avLst/>
            <a:gdLst/>
            <a:ahLst/>
            <a:cxnLst/>
            <a:rect l="l" t="t" r="r" b="b"/>
            <a:pathLst>
              <a:path w="333799" h="333799">
                <a:moveTo>
                  <a:pt x="66760" y="0"/>
                </a:moveTo>
                <a:lnTo>
                  <a:pt x="267039" y="0"/>
                </a:lnTo>
                <a:cubicBezTo>
                  <a:pt x="303885" y="0"/>
                  <a:pt x="333799" y="29914"/>
                  <a:pt x="333799" y="66760"/>
                </a:cubicBezTo>
                <a:lnTo>
                  <a:pt x="333799" y="267039"/>
                </a:lnTo>
                <a:cubicBezTo>
                  <a:pt x="333799" y="303885"/>
                  <a:pt x="303885" y="333799"/>
                  <a:pt x="267039" y="333799"/>
                </a:cubicBezTo>
                <a:lnTo>
                  <a:pt x="66760" y="333799"/>
                </a:lnTo>
                <a:cubicBezTo>
                  <a:pt x="29914" y="333799"/>
                  <a:pt x="0" y="303885"/>
                  <a:pt x="0" y="267039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D9A467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09043" y="3045914"/>
            <a:ext cx="400559" cy="33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6361" y="3029224"/>
            <a:ext cx="4915187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CPU 内存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6361" y="3229503"/>
            <a:ext cx="4906842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命中? → 加载到 GPU 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32102" y="3529922"/>
            <a:ext cx="100140" cy="133520"/>
          </a:xfrm>
          <a:custGeom>
            <a:avLst/>
            <a:gdLst/>
            <a:ahLst/>
            <a:cxnLst/>
            <a:rect l="l" t="t" r="r" b="b"/>
            <a:pathLst>
              <a:path w="100140" h="133520">
                <a:moveTo>
                  <a:pt x="44176" y="131068"/>
                </a:moveTo>
                <a:cubicBezTo>
                  <a:pt x="47436" y="134328"/>
                  <a:pt x="52730" y="134328"/>
                  <a:pt x="55990" y="131068"/>
                </a:cubicBezTo>
                <a:lnTo>
                  <a:pt x="97714" y="89343"/>
                </a:lnTo>
                <a:cubicBezTo>
                  <a:pt x="100974" y="86084"/>
                  <a:pt x="100974" y="80790"/>
                  <a:pt x="97714" y="77530"/>
                </a:cubicBezTo>
                <a:cubicBezTo>
                  <a:pt x="94455" y="74270"/>
                  <a:pt x="89161" y="74270"/>
                  <a:pt x="85901" y="77530"/>
                </a:cubicBezTo>
                <a:lnTo>
                  <a:pt x="58415" y="105016"/>
                </a:lnTo>
                <a:lnTo>
                  <a:pt x="58415" y="8345"/>
                </a:lnTo>
                <a:cubicBezTo>
                  <a:pt x="58415" y="3729"/>
                  <a:pt x="54686" y="0"/>
                  <a:pt x="50070" y="0"/>
                </a:cubicBezTo>
                <a:cubicBezTo>
                  <a:pt x="45454" y="0"/>
                  <a:pt x="41725" y="3729"/>
                  <a:pt x="41725" y="8345"/>
                </a:cubicBezTo>
                <a:lnTo>
                  <a:pt x="41725" y="105016"/>
                </a:lnTo>
                <a:lnTo>
                  <a:pt x="14239" y="77530"/>
                </a:lnTo>
                <a:cubicBezTo>
                  <a:pt x="10979" y="74270"/>
                  <a:pt x="5685" y="74270"/>
                  <a:pt x="2425" y="77530"/>
                </a:cubicBezTo>
                <a:cubicBezTo>
                  <a:pt x="-834" y="80790"/>
                  <a:pt x="-834" y="86084"/>
                  <a:pt x="2425" y="89343"/>
                </a:cubicBezTo>
                <a:lnTo>
                  <a:pt x="44150" y="131068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75663" y="3730201"/>
            <a:ext cx="5415885" cy="500698"/>
          </a:xfrm>
          <a:custGeom>
            <a:avLst/>
            <a:gdLst/>
            <a:ahLst/>
            <a:cxnLst/>
            <a:rect l="l" t="t" r="r" b="b"/>
            <a:pathLst>
              <a:path w="5415885" h="500698">
                <a:moveTo>
                  <a:pt x="66758" y="0"/>
                </a:moveTo>
                <a:lnTo>
                  <a:pt x="5349127" y="0"/>
                </a:lnTo>
                <a:cubicBezTo>
                  <a:pt x="5385996" y="0"/>
                  <a:pt x="5415885" y="29889"/>
                  <a:pt x="5415885" y="66758"/>
                </a:cubicBezTo>
                <a:lnTo>
                  <a:pt x="5415885" y="433940"/>
                </a:lnTo>
                <a:cubicBezTo>
                  <a:pt x="5415885" y="470810"/>
                  <a:pt x="5385996" y="500698"/>
                  <a:pt x="5349127" y="500698"/>
                </a:cubicBezTo>
                <a:lnTo>
                  <a:pt x="66758" y="500698"/>
                </a:lnTo>
                <a:cubicBezTo>
                  <a:pt x="29913" y="500698"/>
                  <a:pt x="0" y="470785"/>
                  <a:pt x="0" y="433940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42423" y="3813651"/>
            <a:ext cx="333799" cy="333799"/>
          </a:xfrm>
          <a:custGeom>
            <a:avLst/>
            <a:gdLst/>
            <a:ahLst/>
            <a:cxnLst/>
            <a:rect l="l" t="t" r="r" b="b"/>
            <a:pathLst>
              <a:path w="333799" h="333799">
                <a:moveTo>
                  <a:pt x="66760" y="0"/>
                </a:moveTo>
                <a:lnTo>
                  <a:pt x="267039" y="0"/>
                </a:lnTo>
                <a:cubicBezTo>
                  <a:pt x="303885" y="0"/>
                  <a:pt x="333799" y="29914"/>
                  <a:pt x="333799" y="66760"/>
                </a:cubicBezTo>
                <a:lnTo>
                  <a:pt x="333799" y="267039"/>
                </a:lnTo>
                <a:cubicBezTo>
                  <a:pt x="333799" y="303885"/>
                  <a:pt x="303885" y="333799"/>
                  <a:pt x="267039" y="333799"/>
                </a:cubicBezTo>
                <a:lnTo>
                  <a:pt x="66760" y="333799"/>
                </a:lnTo>
                <a:cubicBezTo>
                  <a:pt x="29914" y="333799"/>
                  <a:pt x="0" y="303885"/>
                  <a:pt x="0" y="267039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8E8E93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09043" y="3813651"/>
            <a:ext cx="400559" cy="33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6361" y="3796961"/>
            <a:ext cx="4915187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P2P 网络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6361" y="3997240"/>
            <a:ext cx="4906842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命中? → 拉取并加载 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132102" y="4297659"/>
            <a:ext cx="100140" cy="133520"/>
          </a:xfrm>
          <a:custGeom>
            <a:avLst/>
            <a:gdLst/>
            <a:ahLst/>
            <a:cxnLst/>
            <a:rect l="l" t="t" r="r" b="b"/>
            <a:pathLst>
              <a:path w="100140" h="133520">
                <a:moveTo>
                  <a:pt x="44176" y="131068"/>
                </a:moveTo>
                <a:cubicBezTo>
                  <a:pt x="47436" y="134328"/>
                  <a:pt x="52730" y="134328"/>
                  <a:pt x="55990" y="131068"/>
                </a:cubicBezTo>
                <a:lnTo>
                  <a:pt x="97714" y="89343"/>
                </a:lnTo>
                <a:cubicBezTo>
                  <a:pt x="100974" y="86084"/>
                  <a:pt x="100974" y="80790"/>
                  <a:pt x="97714" y="77530"/>
                </a:cubicBezTo>
                <a:cubicBezTo>
                  <a:pt x="94455" y="74270"/>
                  <a:pt x="89161" y="74270"/>
                  <a:pt x="85901" y="77530"/>
                </a:cubicBezTo>
                <a:lnTo>
                  <a:pt x="58415" y="105016"/>
                </a:lnTo>
                <a:lnTo>
                  <a:pt x="58415" y="8345"/>
                </a:lnTo>
                <a:cubicBezTo>
                  <a:pt x="58415" y="3729"/>
                  <a:pt x="54686" y="0"/>
                  <a:pt x="50070" y="0"/>
                </a:cubicBezTo>
                <a:cubicBezTo>
                  <a:pt x="45454" y="0"/>
                  <a:pt x="41725" y="3729"/>
                  <a:pt x="41725" y="8345"/>
                </a:cubicBezTo>
                <a:lnTo>
                  <a:pt x="41725" y="105016"/>
                </a:lnTo>
                <a:lnTo>
                  <a:pt x="14239" y="77530"/>
                </a:lnTo>
                <a:cubicBezTo>
                  <a:pt x="10979" y="74270"/>
                  <a:pt x="5685" y="74270"/>
                  <a:pt x="2425" y="77530"/>
                </a:cubicBezTo>
                <a:cubicBezTo>
                  <a:pt x="-834" y="80790"/>
                  <a:pt x="-834" y="86084"/>
                  <a:pt x="2425" y="89343"/>
                </a:cubicBezTo>
                <a:lnTo>
                  <a:pt x="44150" y="131068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75663" y="4497938"/>
            <a:ext cx="5415885" cy="500698"/>
          </a:xfrm>
          <a:custGeom>
            <a:avLst/>
            <a:gdLst/>
            <a:ahLst/>
            <a:cxnLst/>
            <a:rect l="l" t="t" r="r" b="b"/>
            <a:pathLst>
              <a:path w="5415885" h="500698">
                <a:moveTo>
                  <a:pt x="66758" y="0"/>
                </a:moveTo>
                <a:lnTo>
                  <a:pt x="5349127" y="0"/>
                </a:lnTo>
                <a:cubicBezTo>
                  <a:pt x="5385996" y="0"/>
                  <a:pt x="5415885" y="29889"/>
                  <a:pt x="5415885" y="66758"/>
                </a:cubicBezTo>
                <a:lnTo>
                  <a:pt x="5415885" y="433940"/>
                </a:lnTo>
                <a:cubicBezTo>
                  <a:pt x="5415885" y="470810"/>
                  <a:pt x="5385996" y="500698"/>
                  <a:pt x="5349127" y="500698"/>
                </a:cubicBezTo>
                <a:lnTo>
                  <a:pt x="66758" y="500698"/>
                </a:lnTo>
                <a:cubicBezTo>
                  <a:pt x="29913" y="500698"/>
                  <a:pt x="0" y="470785"/>
                  <a:pt x="0" y="433940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42423" y="4581388"/>
            <a:ext cx="333799" cy="333799"/>
          </a:xfrm>
          <a:custGeom>
            <a:avLst/>
            <a:gdLst/>
            <a:ahLst/>
            <a:cxnLst/>
            <a:rect l="l" t="t" r="r" b="b"/>
            <a:pathLst>
              <a:path w="333799" h="333799">
                <a:moveTo>
                  <a:pt x="66760" y="0"/>
                </a:moveTo>
                <a:lnTo>
                  <a:pt x="267039" y="0"/>
                </a:lnTo>
                <a:cubicBezTo>
                  <a:pt x="303885" y="0"/>
                  <a:pt x="333799" y="29914"/>
                  <a:pt x="333799" y="66760"/>
                </a:cubicBezTo>
                <a:lnTo>
                  <a:pt x="333799" y="267039"/>
                </a:lnTo>
                <a:cubicBezTo>
                  <a:pt x="333799" y="303885"/>
                  <a:pt x="303885" y="333799"/>
                  <a:pt x="267039" y="333799"/>
                </a:cubicBezTo>
                <a:lnTo>
                  <a:pt x="66760" y="333799"/>
                </a:lnTo>
                <a:cubicBezTo>
                  <a:pt x="29914" y="333799"/>
                  <a:pt x="0" y="303885"/>
                  <a:pt x="0" y="267039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5C7A96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09043" y="4581388"/>
            <a:ext cx="400559" cy="33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6361" y="4564698"/>
            <a:ext cx="4915187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本地磁盘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6361" y="4764977"/>
            <a:ext cx="4906842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命中? → 读取并加载 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68301" y="1723236"/>
            <a:ext cx="5691269" cy="3413092"/>
          </a:xfrm>
          <a:custGeom>
            <a:avLst/>
            <a:gdLst/>
            <a:ahLst/>
            <a:cxnLst/>
            <a:rect l="l" t="t" r="r" b="b"/>
            <a:pathLst>
              <a:path w="5691269" h="3413092">
                <a:moveTo>
                  <a:pt x="66760" y="0"/>
                </a:moveTo>
                <a:lnTo>
                  <a:pt x="5624509" y="0"/>
                </a:lnTo>
                <a:cubicBezTo>
                  <a:pt x="5661379" y="0"/>
                  <a:pt x="5691269" y="29890"/>
                  <a:pt x="5691269" y="66760"/>
                </a:cubicBezTo>
                <a:lnTo>
                  <a:pt x="5691269" y="3346332"/>
                </a:lnTo>
                <a:cubicBezTo>
                  <a:pt x="5691269" y="3383203"/>
                  <a:pt x="5661379" y="3413092"/>
                  <a:pt x="5624509" y="3413092"/>
                </a:cubicBezTo>
                <a:lnTo>
                  <a:pt x="66760" y="3413092"/>
                </a:lnTo>
                <a:cubicBezTo>
                  <a:pt x="29890" y="3413092"/>
                  <a:pt x="0" y="3383203"/>
                  <a:pt x="0" y="3346332"/>
                </a:cubicBezTo>
                <a:lnTo>
                  <a:pt x="0" y="66760"/>
                </a:lnTo>
                <a:cubicBezTo>
                  <a:pt x="0" y="29890"/>
                  <a:pt x="29890" y="0"/>
                  <a:pt x="66760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347718" y="1894308"/>
            <a:ext cx="125175" cy="166899"/>
          </a:xfrm>
          <a:custGeom>
            <a:avLst/>
            <a:gdLst/>
            <a:ahLst/>
            <a:cxnLst/>
            <a:rect l="l" t="t" r="r" b="b"/>
            <a:pathLst>
              <a:path w="125175" h="166899">
                <a:moveTo>
                  <a:pt x="20862" y="0"/>
                </a:moveTo>
                <a:cubicBezTo>
                  <a:pt x="9355" y="0"/>
                  <a:pt x="0" y="9355"/>
                  <a:pt x="0" y="20862"/>
                </a:cubicBezTo>
                <a:lnTo>
                  <a:pt x="0" y="146037"/>
                </a:lnTo>
                <a:cubicBezTo>
                  <a:pt x="0" y="157544"/>
                  <a:pt x="9355" y="166899"/>
                  <a:pt x="20862" y="166899"/>
                </a:cubicBezTo>
                <a:lnTo>
                  <a:pt x="104312" y="166899"/>
                </a:lnTo>
                <a:cubicBezTo>
                  <a:pt x="115819" y="166899"/>
                  <a:pt x="125175" y="157544"/>
                  <a:pt x="125175" y="146037"/>
                </a:cubicBezTo>
                <a:lnTo>
                  <a:pt x="125175" y="20862"/>
                </a:lnTo>
                <a:cubicBezTo>
                  <a:pt x="125175" y="9355"/>
                  <a:pt x="115819" y="0"/>
                  <a:pt x="104312" y="0"/>
                </a:cubicBezTo>
                <a:lnTo>
                  <a:pt x="20862" y="0"/>
                </a:lnTo>
                <a:close/>
                <a:moveTo>
                  <a:pt x="31294" y="20862"/>
                </a:moveTo>
                <a:lnTo>
                  <a:pt x="93881" y="20862"/>
                </a:lnTo>
                <a:cubicBezTo>
                  <a:pt x="99651" y="20862"/>
                  <a:pt x="104312" y="25524"/>
                  <a:pt x="104312" y="31294"/>
                </a:cubicBezTo>
                <a:lnTo>
                  <a:pt x="104312" y="41725"/>
                </a:lnTo>
                <a:cubicBezTo>
                  <a:pt x="104312" y="47495"/>
                  <a:pt x="99651" y="52156"/>
                  <a:pt x="93881" y="52156"/>
                </a:cubicBezTo>
                <a:lnTo>
                  <a:pt x="31294" y="52156"/>
                </a:lnTo>
                <a:cubicBezTo>
                  <a:pt x="25524" y="52156"/>
                  <a:pt x="20862" y="47495"/>
                  <a:pt x="20862" y="41725"/>
                </a:cubicBezTo>
                <a:lnTo>
                  <a:pt x="20862" y="31294"/>
                </a:lnTo>
                <a:cubicBezTo>
                  <a:pt x="20862" y="25524"/>
                  <a:pt x="25524" y="20862"/>
                  <a:pt x="31294" y="20862"/>
                </a:cubicBezTo>
                <a:close/>
                <a:moveTo>
                  <a:pt x="36509" y="75626"/>
                </a:moveTo>
                <a:cubicBezTo>
                  <a:pt x="36509" y="79944"/>
                  <a:pt x="33004" y="83450"/>
                  <a:pt x="28686" y="83450"/>
                </a:cubicBezTo>
                <a:cubicBezTo>
                  <a:pt x="24368" y="83450"/>
                  <a:pt x="20862" y="79944"/>
                  <a:pt x="20862" y="75626"/>
                </a:cubicBezTo>
                <a:cubicBezTo>
                  <a:pt x="20862" y="71308"/>
                  <a:pt x="24368" y="67803"/>
                  <a:pt x="28686" y="67803"/>
                </a:cubicBezTo>
                <a:cubicBezTo>
                  <a:pt x="33004" y="67803"/>
                  <a:pt x="36509" y="71308"/>
                  <a:pt x="36509" y="75626"/>
                </a:cubicBezTo>
                <a:close/>
                <a:moveTo>
                  <a:pt x="62587" y="83450"/>
                </a:moveTo>
                <a:cubicBezTo>
                  <a:pt x="58269" y="83450"/>
                  <a:pt x="54764" y="79944"/>
                  <a:pt x="54764" y="75626"/>
                </a:cubicBezTo>
                <a:cubicBezTo>
                  <a:pt x="54764" y="71308"/>
                  <a:pt x="58269" y="67803"/>
                  <a:pt x="62587" y="67803"/>
                </a:cubicBezTo>
                <a:cubicBezTo>
                  <a:pt x="66905" y="67803"/>
                  <a:pt x="70411" y="71308"/>
                  <a:pt x="70411" y="75626"/>
                </a:cubicBezTo>
                <a:cubicBezTo>
                  <a:pt x="70411" y="79944"/>
                  <a:pt x="66905" y="83450"/>
                  <a:pt x="62587" y="83450"/>
                </a:cubicBezTo>
                <a:close/>
                <a:moveTo>
                  <a:pt x="104312" y="75626"/>
                </a:moveTo>
                <a:cubicBezTo>
                  <a:pt x="104312" y="79944"/>
                  <a:pt x="100807" y="83450"/>
                  <a:pt x="96489" y="83450"/>
                </a:cubicBezTo>
                <a:cubicBezTo>
                  <a:pt x="92171" y="83450"/>
                  <a:pt x="88665" y="79944"/>
                  <a:pt x="88665" y="75626"/>
                </a:cubicBezTo>
                <a:cubicBezTo>
                  <a:pt x="88665" y="71308"/>
                  <a:pt x="92171" y="67803"/>
                  <a:pt x="96489" y="67803"/>
                </a:cubicBezTo>
                <a:cubicBezTo>
                  <a:pt x="100807" y="67803"/>
                  <a:pt x="104312" y="71308"/>
                  <a:pt x="104312" y="75626"/>
                </a:cubicBezTo>
                <a:close/>
                <a:moveTo>
                  <a:pt x="28686" y="114743"/>
                </a:moveTo>
                <a:cubicBezTo>
                  <a:pt x="24368" y="114743"/>
                  <a:pt x="20862" y="111238"/>
                  <a:pt x="20862" y="106920"/>
                </a:cubicBezTo>
                <a:cubicBezTo>
                  <a:pt x="20862" y="102602"/>
                  <a:pt x="24368" y="99097"/>
                  <a:pt x="28686" y="99097"/>
                </a:cubicBezTo>
                <a:cubicBezTo>
                  <a:pt x="33004" y="99097"/>
                  <a:pt x="36509" y="102602"/>
                  <a:pt x="36509" y="106920"/>
                </a:cubicBezTo>
                <a:cubicBezTo>
                  <a:pt x="36509" y="111238"/>
                  <a:pt x="33004" y="114743"/>
                  <a:pt x="28686" y="114743"/>
                </a:cubicBezTo>
                <a:close/>
                <a:moveTo>
                  <a:pt x="70411" y="106920"/>
                </a:moveTo>
                <a:cubicBezTo>
                  <a:pt x="70411" y="111238"/>
                  <a:pt x="66905" y="114743"/>
                  <a:pt x="62587" y="114743"/>
                </a:cubicBezTo>
                <a:cubicBezTo>
                  <a:pt x="58269" y="114743"/>
                  <a:pt x="54764" y="111238"/>
                  <a:pt x="54764" y="106920"/>
                </a:cubicBezTo>
                <a:cubicBezTo>
                  <a:pt x="54764" y="102602"/>
                  <a:pt x="58269" y="99097"/>
                  <a:pt x="62587" y="99097"/>
                </a:cubicBezTo>
                <a:cubicBezTo>
                  <a:pt x="66905" y="99097"/>
                  <a:pt x="70411" y="102602"/>
                  <a:pt x="70411" y="106920"/>
                </a:cubicBezTo>
                <a:close/>
                <a:moveTo>
                  <a:pt x="96489" y="114743"/>
                </a:moveTo>
                <a:cubicBezTo>
                  <a:pt x="92171" y="114743"/>
                  <a:pt x="88665" y="111238"/>
                  <a:pt x="88665" y="106920"/>
                </a:cubicBezTo>
                <a:cubicBezTo>
                  <a:pt x="88665" y="102602"/>
                  <a:pt x="92171" y="99097"/>
                  <a:pt x="96489" y="99097"/>
                </a:cubicBezTo>
                <a:cubicBezTo>
                  <a:pt x="100807" y="99097"/>
                  <a:pt x="104312" y="102602"/>
                  <a:pt x="104312" y="106920"/>
                </a:cubicBezTo>
                <a:cubicBezTo>
                  <a:pt x="104312" y="111238"/>
                  <a:pt x="100807" y="114743"/>
                  <a:pt x="96489" y="114743"/>
                </a:cubicBezTo>
                <a:close/>
                <a:moveTo>
                  <a:pt x="20862" y="138214"/>
                </a:moveTo>
                <a:cubicBezTo>
                  <a:pt x="20862" y="133878"/>
                  <a:pt x="24350" y="130390"/>
                  <a:pt x="28686" y="130390"/>
                </a:cubicBezTo>
                <a:lnTo>
                  <a:pt x="65195" y="130390"/>
                </a:lnTo>
                <a:cubicBezTo>
                  <a:pt x="69531" y="130390"/>
                  <a:pt x="73018" y="133878"/>
                  <a:pt x="73018" y="138214"/>
                </a:cubicBezTo>
                <a:cubicBezTo>
                  <a:pt x="73018" y="142549"/>
                  <a:pt x="69531" y="146037"/>
                  <a:pt x="65195" y="146037"/>
                </a:cubicBezTo>
                <a:lnTo>
                  <a:pt x="28686" y="146037"/>
                </a:lnTo>
                <a:cubicBezTo>
                  <a:pt x="24350" y="146037"/>
                  <a:pt x="20862" y="142549"/>
                  <a:pt x="20862" y="138214"/>
                </a:cubicBezTo>
                <a:close/>
                <a:moveTo>
                  <a:pt x="96489" y="130390"/>
                </a:moveTo>
                <a:cubicBezTo>
                  <a:pt x="100824" y="130390"/>
                  <a:pt x="104312" y="133878"/>
                  <a:pt x="104312" y="138214"/>
                </a:cubicBezTo>
                <a:cubicBezTo>
                  <a:pt x="104312" y="142549"/>
                  <a:pt x="100824" y="146037"/>
                  <a:pt x="96489" y="146037"/>
                </a:cubicBezTo>
                <a:cubicBezTo>
                  <a:pt x="92153" y="146037"/>
                  <a:pt x="88665" y="142549"/>
                  <a:pt x="88665" y="138214"/>
                </a:cubicBezTo>
                <a:cubicBezTo>
                  <a:pt x="88665" y="133878"/>
                  <a:pt x="92153" y="130390"/>
                  <a:pt x="96489" y="13039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614757" y="1860928"/>
            <a:ext cx="917947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未命中处理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05993" y="2194727"/>
            <a:ext cx="5415885" cy="659253"/>
          </a:xfrm>
          <a:custGeom>
            <a:avLst/>
            <a:gdLst/>
            <a:ahLst/>
            <a:cxnLst/>
            <a:rect l="l" t="t" r="r" b="b"/>
            <a:pathLst>
              <a:path w="5415885" h="659253">
                <a:moveTo>
                  <a:pt x="66763" y="0"/>
                </a:moveTo>
                <a:lnTo>
                  <a:pt x="5349123" y="0"/>
                </a:lnTo>
                <a:cubicBezTo>
                  <a:pt x="5385994" y="0"/>
                  <a:pt x="5415885" y="29891"/>
                  <a:pt x="5415885" y="66763"/>
                </a:cubicBezTo>
                <a:lnTo>
                  <a:pt x="5415885" y="592490"/>
                </a:lnTo>
                <a:cubicBezTo>
                  <a:pt x="5415885" y="629362"/>
                  <a:pt x="5385994" y="659253"/>
                  <a:pt x="5349123" y="659253"/>
                </a:cubicBezTo>
                <a:lnTo>
                  <a:pt x="66763" y="659253"/>
                </a:lnTo>
                <a:cubicBezTo>
                  <a:pt x="29915" y="659253"/>
                  <a:pt x="0" y="629337"/>
                  <a:pt x="0" y="592490"/>
                </a:cubicBezTo>
                <a:lnTo>
                  <a:pt x="0" y="66763"/>
                </a:lnTo>
                <a:cubicBezTo>
                  <a:pt x="0" y="29915"/>
                  <a:pt x="29915" y="0"/>
                  <a:pt x="667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422823" y="2328246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43550" y="43550"/>
                </a:moveTo>
                <a:cubicBezTo>
                  <a:pt x="46002" y="41099"/>
                  <a:pt x="49966" y="41099"/>
                  <a:pt x="52391" y="43550"/>
                </a:cubicBezTo>
                <a:lnTo>
                  <a:pt x="66734" y="57893"/>
                </a:lnTo>
                <a:lnTo>
                  <a:pt x="81077" y="43550"/>
                </a:lnTo>
                <a:cubicBezTo>
                  <a:pt x="83528" y="41099"/>
                  <a:pt x="87492" y="41099"/>
                  <a:pt x="89917" y="43550"/>
                </a:cubicBezTo>
                <a:cubicBezTo>
                  <a:pt x="92342" y="46002"/>
                  <a:pt x="92368" y="49966"/>
                  <a:pt x="89917" y="52391"/>
                </a:cubicBezTo>
                <a:lnTo>
                  <a:pt x="75574" y="66734"/>
                </a:lnTo>
                <a:lnTo>
                  <a:pt x="89917" y="81077"/>
                </a:lnTo>
                <a:cubicBezTo>
                  <a:pt x="92368" y="83528"/>
                  <a:pt x="92368" y="87492"/>
                  <a:pt x="89917" y="89917"/>
                </a:cubicBezTo>
                <a:cubicBezTo>
                  <a:pt x="87466" y="92342"/>
                  <a:pt x="83502" y="92368"/>
                  <a:pt x="81077" y="89917"/>
                </a:cubicBezTo>
                <a:lnTo>
                  <a:pt x="66734" y="75574"/>
                </a:lnTo>
                <a:lnTo>
                  <a:pt x="52391" y="89917"/>
                </a:lnTo>
                <a:cubicBezTo>
                  <a:pt x="49939" y="92368"/>
                  <a:pt x="45976" y="92368"/>
                  <a:pt x="43550" y="89917"/>
                </a:cubicBezTo>
                <a:cubicBezTo>
                  <a:pt x="41125" y="87466"/>
                  <a:pt x="41099" y="83502"/>
                  <a:pt x="43550" y="81077"/>
                </a:cubicBezTo>
                <a:lnTo>
                  <a:pt x="57893" y="66734"/>
                </a:lnTo>
                <a:lnTo>
                  <a:pt x="43550" y="52391"/>
                </a:lnTo>
                <a:cubicBezTo>
                  <a:pt x="41099" y="49939"/>
                  <a:pt x="41099" y="45976"/>
                  <a:pt x="43550" y="4355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639792" y="2294867"/>
            <a:ext cx="1001396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所有层级未命中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6133" y="2561906"/>
            <a:ext cx="5274021" cy="19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 Prefill 计算,生成 KV Cache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05993" y="2952033"/>
            <a:ext cx="5415885" cy="659253"/>
          </a:xfrm>
          <a:custGeom>
            <a:avLst/>
            <a:gdLst/>
            <a:ahLst/>
            <a:cxnLst/>
            <a:rect l="l" t="t" r="r" b="b"/>
            <a:pathLst>
              <a:path w="5415885" h="659253">
                <a:moveTo>
                  <a:pt x="66763" y="0"/>
                </a:moveTo>
                <a:lnTo>
                  <a:pt x="5349123" y="0"/>
                </a:lnTo>
                <a:cubicBezTo>
                  <a:pt x="5385994" y="0"/>
                  <a:pt x="5415885" y="29891"/>
                  <a:pt x="5415885" y="66763"/>
                </a:cubicBezTo>
                <a:lnTo>
                  <a:pt x="5415885" y="592490"/>
                </a:lnTo>
                <a:cubicBezTo>
                  <a:pt x="5415885" y="629362"/>
                  <a:pt x="5385994" y="659253"/>
                  <a:pt x="5349123" y="659253"/>
                </a:cubicBezTo>
                <a:lnTo>
                  <a:pt x="66763" y="659253"/>
                </a:lnTo>
                <a:cubicBezTo>
                  <a:pt x="29915" y="659253"/>
                  <a:pt x="0" y="629337"/>
                  <a:pt x="0" y="592490"/>
                </a:cubicBezTo>
                <a:lnTo>
                  <a:pt x="0" y="66763"/>
                </a:lnTo>
                <a:cubicBezTo>
                  <a:pt x="0" y="29915"/>
                  <a:pt x="29915" y="0"/>
                  <a:pt x="667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431168" y="3085552"/>
            <a:ext cx="116830" cy="133520"/>
          </a:xfrm>
          <a:custGeom>
            <a:avLst/>
            <a:gdLst/>
            <a:ahLst/>
            <a:cxnLst/>
            <a:rect l="l" t="t" r="r" b="b"/>
            <a:pathLst>
              <a:path w="116830" h="133520">
                <a:moveTo>
                  <a:pt x="16690" y="8345"/>
                </a:moveTo>
                <a:cubicBezTo>
                  <a:pt x="7484" y="8345"/>
                  <a:pt x="0" y="15829"/>
                  <a:pt x="0" y="25035"/>
                </a:cubicBezTo>
                <a:lnTo>
                  <a:pt x="0" y="108485"/>
                </a:lnTo>
                <a:cubicBezTo>
                  <a:pt x="0" y="117690"/>
                  <a:pt x="7484" y="125175"/>
                  <a:pt x="16690" y="125175"/>
                </a:cubicBezTo>
                <a:lnTo>
                  <a:pt x="100140" y="125175"/>
                </a:lnTo>
                <a:cubicBezTo>
                  <a:pt x="109345" y="125175"/>
                  <a:pt x="116830" y="117690"/>
                  <a:pt x="116830" y="108485"/>
                </a:cubicBezTo>
                <a:lnTo>
                  <a:pt x="116830" y="45193"/>
                </a:lnTo>
                <a:cubicBezTo>
                  <a:pt x="116830" y="40760"/>
                  <a:pt x="115082" y="36509"/>
                  <a:pt x="111953" y="33380"/>
                </a:cubicBezTo>
                <a:lnTo>
                  <a:pt x="91795" y="13222"/>
                </a:lnTo>
                <a:cubicBezTo>
                  <a:pt x="88665" y="10092"/>
                  <a:pt x="84415" y="8345"/>
                  <a:pt x="79981" y="8345"/>
                </a:cubicBezTo>
                <a:lnTo>
                  <a:pt x="16690" y="8345"/>
                </a:lnTo>
                <a:close/>
                <a:moveTo>
                  <a:pt x="25035" y="33380"/>
                </a:moveTo>
                <a:cubicBezTo>
                  <a:pt x="25035" y="28764"/>
                  <a:pt x="28764" y="25035"/>
                  <a:pt x="33380" y="25035"/>
                </a:cubicBezTo>
                <a:lnTo>
                  <a:pt x="75105" y="25035"/>
                </a:lnTo>
                <a:cubicBezTo>
                  <a:pt x="79721" y="25035"/>
                  <a:pt x="83450" y="28764"/>
                  <a:pt x="83450" y="33380"/>
                </a:cubicBezTo>
                <a:lnTo>
                  <a:pt x="83450" y="50070"/>
                </a:lnTo>
                <a:cubicBezTo>
                  <a:pt x="83450" y="54686"/>
                  <a:pt x="79721" y="58415"/>
                  <a:pt x="75105" y="58415"/>
                </a:cubicBezTo>
                <a:lnTo>
                  <a:pt x="33380" y="58415"/>
                </a:lnTo>
                <a:cubicBezTo>
                  <a:pt x="28764" y="58415"/>
                  <a:pt x="25035" y="54686"/>
                  <a:pt x="25035" y="50070"/>
                </a:cubicBezTo>
                <a:lnTo>
                  <a:pt x="25035" y="33380"/>
                </a:lnTo>
                <a:close/>
                <a:moveTo>
                  <a:pt x="58415" y="75105"/>
                </a:moveTo>
                <a:cubicBezTo>
                  <a:pt x="67626" y="75105"/>
                  <a:pt x="75105" y="82583"/>
                  <a:pt x="75105" y="91795"/>
                </a:cubicBezTo>
                <a:cubicBezTo>
                  <a:pt x="75105" y="101006"/>
                  <a:pt x="67626" y="108485"/>
                  <a:pt x="58415" y="108485"/>
                </a:cubicBezTo>
                <a:cubicBezTo>
                  <a:pt x="49203" y="108485"/>
                  <a:pt x="41725" y="101006"/>
                  <a:pt x="41725" y="91795"/>
                </a:cubicBezTo>
                <a:cubicBezTo>
                  <a:pt x="41725" y="82583"/>
                  <a:pt x="49203" y="75105"/>
                  <a:pt x="58415" y="75105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639792" y="3052172"/>
            <a:ext cx="867877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存入多级缓存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6133" y="3319211"/>
            <a:ext cx="5274021" cy="19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将计算结果同时存入所有启用的存储层级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05993" y="3709339"/>
            <a:ext cx="5415885" cy="659253"/>
          </a:xfrm>
          <a:custGeom>
            <a:avLst/>
            <a:gdLst/>
            <a:ahLst/>
            <a:cxnLst/>
            <a:rect l="l" t="t" r="r" b="b"/>
            <a:pathLst>
              <a:path w="5415885" h="659253">
                <a:moveTo>
                  <a:pt x="66763" y="0"/>
                </a:moveTo>
                <a:lnTo>
                  <a:pt x="5349123" y="0"/>
                </a:lnTo>
                <a:cubicBezTo>
                  <a:pt x="5385994" y="0"/>
                  <a:pt x="5415885" y="29891"/>
                  <a:pt x="5415885" y="66763"/>
                </a:cubicBezTo>
                <a:lnTo>
                  <a:pt x="5415885" y="592490"/>
                </a:lnTo>
                <a:cubicBezTo>
                  <a:pt x="5415885" y="629362"/>
                  <a:pt x="5385994" y="659253"/>
                  <a:pt x="5349123" y="659253"/>
                </a:cubicBezTo>
                <a:lnTo>
                  <a:pt x="66763" y="659253"/>
                </a:lnTo>
                <a:cubicBezTo>
                  <a:pt x="29915" y="659253"/>
                  <a:pt x="0" y="629337"/>
                  <a:pt x="0" y="592490"/>
                </a:cubicBezTo>
                <a:lnTo>
                  <a:pt x="0" y="66763"/>
                </a:lnTo>
                <a:cubicBezTo>
                  <a:pt x="0" y="29915"/>
                  <a:pt x="29915" y="0"/>
                  <a:pt x="667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431168" y="3842858"/>
            <a:ext cx="116830" cy="133520"/>
          </a:xfrm>
          <a:custGeom>
            <a:avLst/>
            <a:gdLst/>
            <a:ahLst/>
            <a:cxnLst/>
            <a:rect l="l" t="t" r="r" b="b"/>
            <a:pathLst>
              <a:path w="116830" h="133520">
                <a:moveTo>
                  <a:pt x="88352" y="-2582"/>
                </a:moveTo>
                <a:cubicBezTo>
                  <a:pt x="91456" y="-339"/>
                  <a:pt x="92603" y="3729"/>
                  <a:pt x="91195" y="7276"/>
                </a:cubicBezTo>
                <a:lnTo>
                  <a:pt x="70750" y="58415"/>
                </a:lnTo>
                <a:lnTo>
                  <a:pt x="108485" y="58415"/>
                </a:lnTo>
                <a:cubicBezTo>
                  <a:pt x="112005" y="58415"/>
                  <a:pt x="115134" y="60605"/>
                  <a:pt x="116334" y="63917"/>
                </a:cubicBezTo>
                <a:cubicBezTo>
                  <a:pt x="117534" y="67229"/>
                  <a:pt x="116517" y="70932"/>
                  <a:pt x="113831" y="73175"/>
                </a:cubicBezTo>
                <a:lnTo>
                  <a:pt x="38726" y="135762"/>
                </a:lnTo>
                <a:cubicBezTo>
                  <a:pt x="35779" y="138214"/>
                  <a:pt x="31580" y="138344"/>
                  <a:pt x="28477" y="136101"/>
                </a:cubicBezTo>
                <a:cubicBezTo>
                  <a:pt x="25374" y="133859"/>
                  <a:pt x="24226" y="129790"/>
                  <a:pt x="25635" y="126244"/>
                </a:cubicBezTo>
                <a:lnTo>
                  <a:pt x="46080" y="75105"/>
                </a:lnTo>
                <a:lnTo>
                  <a:pt x="8345" y="75105"/>
                </a:lnTo>
                <a:cubicBezTo>
                  <a:pt x="4824" y="75105"/>
                  <a:pt x="1695" y="72914"/>
                  <a:pt x="495" y="69602"/>
                </a:cubicBezTo>
                <a:cubicBezTo>
                  <a:pt x="-704" y="66290"/>
                  <a:pt x="313" y="62587"/>
                  <a:pt x="2999" y="60345"/>
                </a:cubicBezTo>
                <a:lnTo>
                  <a:pt x="78104" y="-2243"/>
                </a:lnTo>
                <a:cubicBezTo>
                  <a:pt x="81051" y="-4694"/>
                  <a:pt x="85249" y="-4824"/>
                  <a:pt x="88352" y="-2582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639792" y="3809478"/>
            <a:ext cx="867877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后续请求受益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6133" y="4076517"/>
            <a:ext cx="5274021" cy="19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相同前缀的请求可以直接从缓存加载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37971" y="5278193"/>
            <a:ext cx="11516057" cy="1243400"/>
          </a:xfrm>
          <a:custGeom>
            <a:avLst/>
            <a:gdLst/>
            <a:ahLst/>
            <a:cxnLst/>
            <a:rect l="l" t="t" r="r" b="b"/>
            <a:pathLst>
              <a:path w="11516057" h="1243400">
                <a:moveTo>
                  <a:pt x="66758" y="0"/>
                </a:moveTo>
                <a:lnTo>
                  <a:pt x="11449299" y="0"/>
                </a:lnTo>
                <a:cubicBezTo>
                  <a:pt x="11486169" y="0"/>
                  <a:pt x="11516057" y="29889"/>
                  <a:pt x="11516057" y="66758"/>
                </a:cubicBezTo>
                <a:lnTo>
                  <a:pt x="11516057" y="1176642"/>
                </a:lnTo>
                <a:cubicBezTo>
                  <a:pt x="11516057" y="1213512"/>
                  <a:pt x="11486169" y="1243400"/>
                  <a:pt x="11449299" y="1243400"/>
                </a:cubicBezTo>
                <a:lnTo>
                  <a:pt x="66758" y="1243400"/>
                </a:lnTo>
                <a:cubicBezTo>
                  <a:pt x="29889" y="1243400"/>
                  <a:pt x="0" y="1213512"/>
                  <a:pt x="0" y="1176642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496526" y="5449265"/>
            <a:ext cx="166899" cy="166899"/>
          </a:xfrm>
          <a:custGeom>
            <a:avLst/>
            <a:gdLst/>
            <a:ahLst/>
            <a:cxnLst/>
            <a:rect l="l" t="t" r="r" b="b"/>
            <a:pathLst>
              <a:path w="166899" h="166899">
                <a:moveTo>
                  <a:pt x="10431" y="10431"/>
                </a:moveTo>
                <a:cubicBezTo>
                  <a:pt x="16201" y="10431"/>
                  <a:pt x="20862" y="15093"/>
                  <a:pt x="20862" y="20862"/>
                </a:cubicBezTo>
                <a:lnTo>
                  <a:pt x="20862" y="130390"/>
                </a:lnTo>
                <a:cubicBezTo>
                  <a:pt x="20862" y="133259"/>
                  <a:pt x="23209" y="135606"/>
                  <a:pt x="26078" y="135606"/>
                </a:cubicBezTo>
                <a:lnTo>
                  <a:pt x="156468" y="135606"/>
                </a:lnTo>
                <a:cubicBezTo>
                  <a:pt x="162238" y="135606"/>
                  <a:pt x="166899" y="140267"/>
                  <a:pt x="166899" y="146037"/>
                </a:cubicBezTo>
                <a:cubicBezTo>
                  <a:pt x="166899" y="151807"/>
                  <a:pt x="162238" y="156468"/>
                  <a:pt x="156468" y="156468"/>
                </a:cubicBezTo>
                <a:lnTo>
                  <a:pt x="26078" y="156468"/>
                </a:lnTo>
                <a:cubicBezTo>
                  <a:pt x="11670" y="156468"/>
                  <a:pt x="0" y="144798"/>
                  <a:pt x="0" y="130390"/>
                </a:cubicBezTo>
                <a:lnTo>
                  <a:pt x="0" y="20862"/>
                </a:lnTo>
                <a:cubicBezTo>
                  <a:pt x="0" y="15093"/>
                  <a:pt x="4661" y="10431"/>
                  <a:pt x="10431" y="10431"/>
                </a:cubicBezTo>
                <a:close/>
                <a:moveTo>
                  <a:pt x="41725" y="31294"/>
                </a:moveTo>
                <a:cubicBezTo>
                  <a:pt x="41725" y="25524"/>
                  <a:pt x="46386" y="20862"/>
                  <a:pt x="52156" y="20862"/>
                </a:cubicBezTo>
                <a:lnTo>
                  <a:pt x="114743" y="20862"/>
                </a:lnTo>
                <a:cubicBezTo>
                  <a:pt x="120513" y="20862"/>
                  <a:pt x="125175" y="25524"/>
                  <a:pt x="125175" y="31294"/>
                </a:cubicBezTo>
                <a:cubicBezTo>
                  <a:pt x="125175" y="37063"/>
                  <a:pt x="120513" y="41725"/>
                  <a:pt x="114743" y="41725"/>
                </a:cubicBezTo>
                <a:lnTo>
                  <a:pt x="52156" y="41725"/>
                </a:lnTo>
                <a:cubicBezTo>
                  <a:pt x="46386" y="41725"/>
                  <a:pt x="41725" y="37063"/>
                  <a:pt x="41725" y="31294"/>
                </a:cubicBezTo>
                <a:close/>
                <a:moveTo>
                  <a:pt x="52156" y="57372"/>
                </a:moveTo>
                <a:lnTo>
                  <a:pt x="93881" y="57372"/>
                </a:lnTo>
                <a:cubicBezTo>
                  <a:pt x="99651" y="57372"/>
                  <a:pt x="104312" y="62033"/>
                  <a:pt x="104312" y="67803"/>
                </a:cubicBezTo>
                <a:cubicBezTo>
                  <a:pt x="104312" y="73573"/>
                  <a:pt x="99651" y="78234"/>
                  <a:pt x="93881" y="78234"/>
                </a:cubicBezTo>
                <a:lnTo>
                  <a:pt x="52156" y="78234"/>
                </a:lnTo>
                <a:cubicBezTo>
                  <a:pt x="46386" y="78234"/>
                  <a:pt x="41725" y="73573"/>
                  <a:pt x="41725" y="67803"/>
                </a:cubicBezTo>
                <a:cubicBezTo>
                  <a:pt x="41725" y="62033"/>
                  <a:pt x="46386" y="57372"/>
                  <a:pt x="52156" y="57372"/>
                </a:cubicBezTo>
                <a:close/>
                <a:moveTo>
                  <a:pt x="52156" y="93881"/>
                </a:moveTo>
                <a:lnTo>
                  <a:pt x="135606" y="93881"/>
                </a:lnTo>
                <a:cubicBezTo>
                  <a:pt x="141376" y="93881"/>
                  <a:pt x="146037" y="98542"/>
                  <a:pt x="146037" y="104312"/>
                </a:cubicBezTo>
                <a:cubicBezTo>
                  <a:pt x="146037" y="110082"/>
                  <a:pt x="141376" y="114743"/>
                  <a:pt x="135606" y="114743"/>
                </a:cubicBezTo>
                <a:lnTo>
                  <a:pt x="52156" y="114743"/>
                </a:lnTo>
                <a:cubicBezTo>
                  <a:pt x="46386" y="114743"/>
                  <a:pt x="41725" y="110082"/>
                  <a:pt x="41725" y="104312"/>
                </a:cubicBezTo>
                <a:cubicBezTo>
                  <a:pt x="41725" y="98542"/>
                  <a:pt x="46386" y="93881"/>
                  <a:pt x="52156" y="93881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784427" y="5415885"/>
            <a:ext cx="751047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延迟对比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75663" y="5749684"/>
            <a:ext cx="2169692" cy="634218"/>
          </a:xfrm>
          <a:custGeom>
            <a:avLst/>
            <a:gdLst/>
            <a:ahLst/>
            <a:cxnLst/>
            <a:rect l="l" t="t" r="r" b="b"/>
            <a:pathLst>
              <a:path w="2169692" h="634218">
                <a:moveTo>
                  <a:pt x="66758" y="0"/>
                </a:moveTo>
                <a:lnTo>
                  <a:pt x="2102934" y="0"/>
                </a:lnTo>
                <a:cubicBezTo>
                  <a:pt x="2139804" y="0"/>
                  <a:pt x="2169692" y="29888"/>
                  <a:pt x="2169692" y="66758"/>
                </a:cubicBezTo>
                <a:lnTo>
                  <a:pt x="2169692" y="567460"/>
                </a:lnTo>
                <a:cubicBezTo>
                  <a:pt x="2169692" y="604329"/>
                  <a:pt x="2139804" y="634218"/>
                  <a:pt x="2102934" y="634218"/>
                </a:cubicBezTo>
                <a:lnTo>
                  <a:pt x="66758" y="634218"/>
                </a:lnTo>
                <a:cubicBezTo>
                  <a:pt x="29888" y="634218"/>
                  <a:pt x="0" y="604329"/>
                  <a:pt x="0" y="567460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546595" y="5849823"/>
            <a:ext cx="202782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GPU 显存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34078" y="6050103"/>
            <a:ext cx="2052862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4" b="1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 μs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2744321" y="5749684"/>
            <a:ext cx="2169692" cy="634218"/>
          </a:xfrm>
          <a:custGeom>
            <a:avLst/>
            <a:gdLst/>
            <a:ahLst/>
            <a:cxnLst/>
            <a:rect l="l" t="t" r="r" b="b"/>
            <a:pathLst>
              <a:path w="2169692" h="634218">
                <a:moveTo>
                  <a:pt x="66758" y="0"/>
                </a:moveTo>
                <a:lnTo>
                  <a:pt x="2102934" y="0"/>
                </a:lnTo>
                <a:cubicBezTo>
                  <a:pt x="2139804" y="0"/>
                  <a:pt x="2169692" y="29888"/>
                  <a:pt x="2169692" y="66758"/>
                </a:cubicBezTo>
                <a:lnTo>
                  <a:pt x="2169692" y="567460"/>
                </a:lnTo>
                <a:cubicBezTo>
                  <a:pt x="2169692" y="604329"/>
                  <a:pt x="2139804" y="634218"/>
                  <a:pt x="2102934" y="634218"/>
                </a:cubicBezTo>
                <a:lnTo>
                  <a:pt x="66758" y="634218"/>
                </a:lnTo>
                <a:cubicBezTo>
                  <a:pt x="29888" y="634218"/>
                  <a:pt x="0" y="604329"/>
                  <a:pt x="0" y="567460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2815254" y="5849823"/>
            <a:ext cx="202782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CPU 内存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2802736" y="6050103"/>
            <a:ext cx="2052862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4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~100 μs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013045" y="5749684"/>
            <a:ext cx="2169692" cy="634218"/>
          </a:xfrm>
          <a:custGeom>
            <a:avLst/>
            <a:gdLst/>
            <a:ahLst/>
            <a:cxnLst/>
            <a:rect l="l" t="t" r="r" b="b"/>
            <a:pathLst>
              <a:path w="2169692" h="634218">
                <a:moveTo>
                  <a:pt x="66758" y="0"/>
                </a:moveTo>
                <a:lnTo>
                  <a:pt x="2102934" y="0"/>
                </a:lnTo>
                <a:cubicBezTo>
                  <a:pt x="2139804" y="0"/>
                  <a:pt x="2169692" y="29888"/>
                  <a:pt x="2169692" y="66758"/>
                </a:cubicBezTo>
                <a:lnTo>
                  <a:pt x="2169692" y="567460"/>
                </a:lnTo>
                <a:cubicBezTo>
                  <a:pt x="2169692" y="604329"/>
                  <a:pt x="2139804" y="634218"/>
                  <a:pt x="2102934" y="634218"/>
                </a:cubicBezTo>
                <a:lnTo>
                  <a:pt x="66758" y="634218"/>
                </a:lnTo>
                <a:cubicBezTo>
                  <a:pt x="29888" y="634218"/>
                  <a:pt x="0" y="604329"/>
                  <a:pt x="0" y="567460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5083977" y="5849823"/>
            <a:ext cx="202782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P2P 网络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071459" y="6050103"/>
            <a:ext cx="2052862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4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 ms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281768" y="5749684"/>
            <a:ext cx="2169692" cy="634218"/>
          </a:xfrm>
          <a:custGeom>
            <a:avLst/>
            <a:gdLst/>
            <a:ahLst/>
            <a:cxnLst/>
            <a:rect l="l" t="t" r="r" b="b"/>
            <a:pathLst>
              <a:path w="2169692" h="634218">
                <a:moveTo>
                  <a:pt x="66758" y="0"/>
                </a:moveTo>
                <a:lnTo>
                  <a:pt x="2102934" y="0"/>
                </a:lnTo>
                <a:cubicBezTo>
                  <a:pt x="2139804" y="0"/>
                  <a:pt x="2169692" y="29888"/>
                  <a:pt x="2169692" y="66758"/>
                </a:cubicBezTo>
                <a:lnTo>
                  <a:pt x="2169692" y="567460"/>
                </a:lnTo>
                <a:cubicBezTo>
                  <a:pt x="2169692" y="604329"/>
                  <a:pt x="2139804" y="634218"/>
                  <a:pt x="2102934" y="634218"/>
                </a:cubicBezTo>
                <a:lnTo>
                  <a:pt x="66758" y="634218"/>
                </a:lnTo>
                <a:cubicBezTo>
                  <a:pt x="29888" y="634218"/>
                  <a:pt x="0" y="604329"/>
                  <a:pt x="0" y="567460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7352700" y="5849823"/>
            <a:ext cx="202782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本地磁盘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40183" y="6050103"/>
            <a:ext cx="2052862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4" b="1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~10 ms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550491" y="5749684"/>
            <a:ext cx="2169692" cy="634218"/>
          </a:xfrm>
          <a:custGeom>
            <a:avLst/>
            <a:gdLst/>
            <a:ahLst/>
            <a:cxnLst/>
            <a:rect l="l" t="t" r="r" b="b"/>
            <a:pathLst>
              <a:path w="2169692" h="634218">
                <a:moveTo>
                  <a:pt x="66758" y="0"/>
                </a:moveTo>
                <a:lnTo>
                  <a:pt x="2102934" y="0"/>
                </a:lnTo>
                <a:cubicBezTo>
                  <a:pt x="2139804" y="0"/>
                  <a:pt x="2169692" y="29888"/>
                  <a:pt x="2169692" y="66758"/>
                </a:cubicBezTo>
                <a:lnTo>
                  <a:pt x="2169692" y="567460"/>
                </a:lnTo>
                <a:cubicBezTo>
                  <a:pt x="2169692" y="604329"/>
                  <a:pt x="2139804" y="634218"/>
                  <a:pt x="2102934" y="634218"/>
                </a:cubicBezTo>
                <a:lnTo>
                  <a:pt x="66758" y="634218"/>
                </a:lnTo>
                <a:cubicBezTo>
                  <a:pt x="29888" y="634218"/>
                  <a:pt x="0" y="604329"/>
                  <a:pt x="0" y="567460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9621424" y="5849823"/>
            <a:ext cx="202782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Prefill 计算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608906" y="6050103"/>
            <a:ext cx="2052862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4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~100 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51" y="365851"/>
            <a:ext cx="1153346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kern="0" spc="58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CROSS-INSTANCE SHARING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851" y="658533"/>
            <a:ext cx="1162493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3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跨实例共享:集中式模式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44" y="1170725"/>
            <a:ext cx="11442005" cy="567070"/>
          </a:xfrm>
          <a:custGeom>
            <a:avLst/>
            <a:gdLst/>
            <a:ahLst/>
            <a:cxnLst/>
            <a:rect l="l" t="t" r="r" b="b"/>
            <a:pathLst>
              <a:path w="11442005" h="567070">
                <a:moveTo>
                  <a:pt x="36585" y="0"/>
                </a:moveTo>
                <a:lnTo>
                  <a:pt x="11368835" y="0"/>
                </a:lnTo>
                <a:cubicBezTo>
                  <a:pt x="11409246" y="0"/>
                  <a:pt x="11442005" y="32759"/>
                  <a:pt x="11442005" y="73169"/>
                </a:cubicBezTo>
                <a:lnTo>
                  <a:pt x="11442005" y="493901"/>
                </a:lnTo>
                <a:cubicBezTo>
                  <a:pt x="11442005" y="534311"/>
                  <a:pt x="11409246" y="567070"/>
                  <a:pt x="11368835" y="567070"/>
                </a:cubicBezTo>
                <a:lnTo>
                  <a:pt x="36585" y="567070"/>
                </a:lnTo>
                <a:cubicBezTo>
                  <a:pt x="16393" y="567070"/>
                  <a:pt x="0" y="550677"/>
                  <a:pt x="0" y="530485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4144" y="1170725"/>
            <a:ext cx="36585" cy="567070"/>
          </a:xfrm>
          <a:custGeom>
            <a:avLst/>
            <a:gdLst/>
            <a:ahLst/>
            <a:cxnLst/>
            <a:rect l="l" t="t" r="r" b="b"/>
            <a:pathLst>
              <a:path w="36585" h="567070">
                <a:moveTo>
                  <a:pt x="36585" y="0"/>
                </a:moveTo>
                <a:lnTo>
                  <a:pt x="36585" y="0"/>
                </a:lnTo>
                <a:lnTo>
                  <a:pt x="36585" y="567070"/>
                </a:lnTo>
                <a:lnTo>
                  <a:pt x="36585" y="567070"/>
                </a:lnTo>
                <a:cubicBezTo>
                  <a:pt x="16393" y="567070"/>
                  <a:pt x="0" y="550677"/>
                  <a:pt x="0" y="530485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02512" y="1317065"/>
            <a:ext cx="240090" cy="274389"/>
          </a:xfrm>
          <a:custGeom>
            <a:avLst/>
            <a:gdLst/>
            <a:ahLst/>
            <a:cxnLst/>
            <a:rect l="l" t="t" r="r" b="b"/>
            <a:pathLst>
              <a:path w="240090" h="274389">
                <a:moveTo>
                  <a:pt x="34299" y="17149"/>
                </a:moveTo>
                <a:cubicBezTo>
                  <a:pt x="15381" y="17149"/>
                  <a:pt x="0" y="32530"/>
                  <a:pt x="0" y="51448"/>
                </a:cubicBezTo>
                <a:lnTo>
                  <a:pt x="0" y="85746"/>
                </a:lnTo>
                <a:cubicBezTo>
                  <a:pt x="0" y="104664"/>
                  <a:pt x="15381" y="120045"/>
                  <a:pt x="34299" y="120045"/>
                </a:cubicBezTo>
                <a:lnTo>
                  <a:pt x="205791" y="120045"/>
                </a:lnTo>
                <a:cubicBezTo>
                  <a:pt x="224709" y="120045"/>
                  <a:pt x="240090" y="104664"/>
                  <a:pt x="240090" y="85746"/>
                </a:cubicBezTo>
                <a:lnTo>
                  <a:pt x="240090" y="51448"/>
                </a:lnTo>
                <a:cubicBezTo>
                  <a:pt x="240090" y="32530"/>
                  <a:pt x="224709" y="17149"/>
                  <a:pt x="205791" y="17149"/>
                </a:cubicBezTo>
                <a:lnTo>
                  <a:pt x="34299" y="17149"/>
                </a:lnTo>
                <a:close/>
                <a:moveTo>
                  <a:pt x="150056" y="55735"/>
                </a:moveTo>
                <a:cubicBezTo>
                  <a:pt x="157155" y="55735"/>
                  <a:pt x="162918" y="61498"/>
                  <a:pt x="162918" y="68597"/>
                </a:cubicBezTo>
                <a:cubicBezTo>
                  <a:pt x="162918" y="75696"/>
                  <a:pt x="157155" y="81459"/>
                  <a:pt x="150056" y="81459"/>
                </a:cubicBezTo>
                <a:cubicBezTo>
                  <a:pt x="142958" y="81459"/>
                  <a:pt x="137194" y="75696"/>
                  <a:pt x="137194" y="68597"/>
                </a:cubicBezTo>
                <a:cubicBezTo>
                  <a:pt x="137194" y="61498"/>
                  <a:pt x="142958" y="55735"/>
                  <a:pt x="150056" y="55735"/>
                </a:cubicBezTo>
                <a:close/>
                <a:moveTo>
                  <a:pt x="180068" y="68597"/>
                </a:moveTo>
                <a:cubicBezTo>
                  <a:pt x="180068" y="61498"/>
                  <a:pt x="185831" y="55735"/>
                  <a:pt x="192929" y="55735"/>
                </a:cubicBezTo>
                <a:cubicBezTo>
                  <a:pt x="200028" y="55735"/>
                  <a:pt x="205791" y="61498"/>
                  <a:pt x="205791" y="68597"/>
                </a:cubicBezTo>
                <a:cubicBezTo>
                  <a:pt x="205791" y="75696"/>
                  <a:pt x="200028" y="81459"/>
                  <a:pt x="192929" y="81459"/>
                </a:cubicBezTo>
                <a:cubicBezTo>
                  <a:pt x="185831" y="81459"/>
                  <a:pt x="180068" y="75696"/>
                  <a:pt x="180068" y="68597"/>
                </a:cubicBezTo>
                <a:close/>
                <a:moveTo>
                  <a:pt x="34299" y="154344"/>
                </a:moveTo>
                <a:cubicBezTo>
                  <a:pt x="15381" y="154344"/>
                  <a:pt x="0" y="169724"/>
                  <a:pt x="0" y="188642"/>
                </a:cubicBezTo>
                <a:lnTo>
                  <a:pt x="0" y="222941"/>
                </a:lnTo>
                <a:cubicBezTo>
                  <a:pt x="0" y="241859"/>
                  <a:pt x="15381" y="257239"/>
                  <a:pt x="34299" y="257239"/>
                </a:cubicBezTo>
                <a:lnTo>
                  <a:pt x="205791" y="257239"/>
                </a:lnTo>
                <a:cubicBezTo>
                  <a:pt x="224709" y="257239"/>
                  <a:pt x="240090" y="241859"/>
                  <a:pt x="240090" y="222941"/>
                </a:cubicBezTo>
                <a:lnTo>
                  <a:pt x="240090" y="188642"/>
                </a:lnTo>
                <a:cubicBezTo>
                  <a:pt x="240090" y="169724"/>
                  <a:pt x="224709" y="154344"/>
                  <a:pt x="205791" y="154344"/>
                </a:cubicBezTo>
                <a:lnTo>
                  <a:pt x="34299" y="154344"/>
                </a:lnTo>
                <a:close/>
                <a:moveTo>
                  <a:pt x="150056" y="192929"/>
                </a:moveTo>
                <a:cubicBezTo>
                  <a:pt x="157155" y="192929"/>
                  <a:pt x="162918" y="198693"/>
                  <a:pt x="162918" y="205791"/>
                </a:cubicBezTo>
                <a:cubicBezTo>
                  <a:pt x="162918" y="212890"/>
                  <a:pt x="157155" y="218653"/>
                  <a:pt x="150056" y="218653"/>
                </a:cubicBezTo>
                <a:cubicBezTo>
                  <a:pt x="142958" y="218653"/>
                  <a:pt x="137194" y="212890"/>
                  <a:pt x="137194" y="205791"/>
                </a:cubicBezTo>
                <a:cubicBezTo>
                  <a:pt x="137194" y="198693"/>
                  <a:pt x="142958" y="192929"/>
                  <a:pt x="150056" y="192929"/>
                </a:cubicBezTo>
                <a:close/>
                <a:moveTo>
                  <a:pt x="180068" y="205791"/>
                </a:moveTo>
                <a:cubicBezTo>
                  <a:pt x="180068" y="198693"/>
                  <a:pt x="185831" y="192929"/>
                  <a:pt x="192929" y="192929"/>
                </a:cubicBezTo>
                <a:cubicBezTo>
                  <a:pt x="200028" y="192929"/>
                  <a:pt x="205791" y="198693"/>
                  <a:pt x="205791" y="205791"/>
                </a:cubicBezTo>
                <a:cubicBezTo>
                  <a:pt x="205791" y="212890"/>
                  <a:pt x="200028" y="218653"/>
                  <a:pt x="192929" y="218653"/>
                </a:cubicBezTo>
                <a:cubicBezTo>
                  <a:pt x="185831" y="218653"/>
                  <a:pt x="180068" y="212890"/>
                  <a:pt x="180068" y="205791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38104" y="1317065"/>
            <a:ext cx="10719448" cy="237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所有实例通过一个</a:t>
            </a:r>
            <a:r>
              <a:rPr lang="en-US" sz="1152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中心化的缓存服务 </a:t>
            </a:r>
            <a:r>
              <a:rPr lang="en-US" sz="1152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(如 Redis 或 S3)进行 KV Cache 的读写,即 </a:t>
            </a:r>
            <a:r>
              <a:rPr lang="en-US" sz="1152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Hub-and-Spoke</a:t>
            </a:r>
            <a:r>
              <a:rPr lang="en-US" sz="1152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模式,适合部署简单、实例数量适中的场景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0425" y="1888708"/>
            <a:ext cx="5652405" cy="3082299"/>
          </a:xfrm>
          <a:custGeom>
            <a:avLst/>
            <a:gdLst/>
            <a:ahLst/>
            <a:cxnLst/>
            <a:rect l="l" t="t" r="r" b="b"/>
            <a:pathLst>
              <a:path w="5652405" h="3082299">
                <a:moveTo>
                  <a:pt x="73174" y="0"/>
                </a:moveTo>
                <a:lnTo>
                  <a:pt x="5579231" y="0"/>
                </a:lnTo>
                <a:cubicBezTo>
                  <a:pt x="5619644" y="0"/>
                  <a:pt x="5652405" y="32761"/>
                  <a:pt x="5652405" y="73174"/>
                </a:cubicBezTo>
                <a:lnTo>
                  <a:pt x="5652405" y="3009125"/>
                </a:lnTo>
                <a:cubicBezTo>
                  <a:pt x="5652405" y="3049538"/>
                  <a:pt x="5619644" y="3082299"/>
                  <a:pt x="5579231" y="3082299"/>
                </a:cubicBezTo>
                <a:lnTo>
                  <a:pt x="73174" y="3082299"/>
                </a:lnTo>
                <a:cubicBezTo>
                  <a:pt x="32761" y="3082299"/>
                  <a:pt x="0" y="3049538"/>
                  <a:pt x="0" y="3009125"/>
                </a:cubicBezTo>
                <a:lnTo>
                  <a:pt x="0" y="73174"/>
                </a:lnTo>
                <a:cubicBezTo>
                  <a:pt x="0" y="32761"/>
                  <a:pt x="32761" y="0"/>
                  <a:pt x="73174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44204" y="2076207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68597" y="22866"/>
                </a:moveTo>
                <a:cubicBezTo>
                  <a:pt x="68597" y="16542"/>
                  <a:pt x="73706" y="11433"/>
                  <a:pt x="80030" y="11433"/>
                </a:cubicBezTo>
                <a:lnTo>
                  <a:pt x="102896" y="11433"/>
                </a:lnTo>
                <a:cubicBezTo>
                  <a:pt x="109220" y="11433"/>
                  <a:pt x="114329" y="16542"/>
                  <a:pt x="114329" y="22866"/>
                </a:cubicBezTo>
                <a:lnTo>
                  <a:pt x="114329" y="45731"/>
                </a:lnTo>
                <a:cubicBezTo>
                  <a:pt x="114329" y="52055"/>
                  <a:pt x="109220" y="57164"/>
                  <a:pt x="102896" y="57164"/>
                </a:cubicBezTo>
                <a:lnTo>
                  <a:pt x="100038" y="57164"/>
                </a:lnTo>
                <a:lnTo>
                  <a:pt x="100038" y="80030"/>
                </a:lnTo>
                <a:lnTo>
                  <a:pt x="142911" y="80030"/>
                </a:lnTo>
                <a:cubicBezTo>
                  <a:pt x="157130" y="80030"/>
                  <a:pt x="168635" y="91534"/>
                  <a:pt x="168635" y="105754"/>
                </a:cubicBezTo>
                <a:lnTo>
                  <a:pt x="168635" y="125761"/>
                </a:lnTo>
                <a:lnTo>
                  <a:pt x="171493" y="125761"/>
                </a:lnTo>
                <a:cubicBezTo>
                  <a:pt x="177817" y="125761"/>
                  <a:pt x="182926" y="130870"/>
                  <a:pt x="182926" y="137194"/>
                </a:cubicBezTo>
                <a:lnTo>
                  <a:pt x="182926" y="160060"/>
                </a:lnTo>
                <a:cubicBezTo>
                  <a:pt x="182926" y="166384"/>
                  <a:pt x="177817" y="171493"/>
                  <a:pt x="171493" y="171493"/>
                </a:cubicBezTo>
                <a:lnTo>
                  <a:pt x="148627" y="171493"/>
                </a:lnTo>
                <a:cubicBezTo>
                  <a:pt x="142303" y="171493"/>
                  <a:pt x="137194" y="166384"/>
                  <a:pt x="137194" y="160060"/>
                </a:cubicBezTo>
                <a:lnTo>
                  <a:pt x="137194" y="137194"/>
                </a:lnTo>
                <a:cubicBezTo>
                  <a:pt x="137194" y="130870"/>
                  <a:pt x="142303" y="125761"/>
                  <a:pt x="148627" y="125761"/>
                </a:cubicBezTo>
                <a:lnTo>
                  <a:pt x="151485" y="125761"/>
                </a:lnTo>
                <a:lnTo>
                  <a:pt x="151485" y="105754"/>
                </a:lnTo>
                <a:cubicBezTo>
                  <a:pt x="151485" y="101002"/>
                  <a:pt x="147663" y="97179"/>
                  <a:pt x="142911" y="97179"/>
                </a:cubicBezTo>
                <a:lnTo>
                  <a:pt x="100038" y="97179"/>
                </a:lnTo>
                <a:lnTo>
                  <a:pt x="100038" y="125761"/>
                </a:lnTo>
                <a:lnTo>
                  <a:pt x="102896" y="125761"/>
                </a:lnTo>
                <a:cubicBezTo>
                  <a:pt x="109220" y="125761"/>
                  <a:pt x="114329" y="130870"/>
                  <a:pt x="114329" y="137194"/>
                </a:cubicBezTo>
                <a:lnTo>
                  <a:pt x="114329" y="160060"/>
                </a:lnTo>
                <a:cubicBezTo>
                  <a:pt x="114329" y="166384"/>
                  <a:pt x="109220" y="171493"/>
                  <a:pt x="102896" y="171493"/>
                </a:cubicBezTo>
                <a:lnTo>
                  <a:pt x="80030" y="171493"/>
                </a:lnTo>
                <a:cubicBezTo>
                  <a:pt x="73706" y="171493"/>
                  <a:pt x="68597" y="166384"/>
                  <a:pt x="68597" y="160060"/>
                </a:cubicBezTo>
                <a:lnTo>
                  <a:pt x="68597" y="137194"/>
                </a:lnTo>
                <a:cubicBezTo>
                  <a:pt x="68597" y="130870"/>
                  <a:pt x="73706" y="125761"/>
                  <a:pt x="80030" y="125761"/>
                </a:cubicBezTo>
                <a:lnTo>
                  <a:pt x="82888" y="125761"/>
                </a:lnTo>
                <a:lnTo>
                  <a:pt x="82888" y="97179"/>
                </a:lnTo>
                <a:lnTo>
                  <a:pt x="40015" y="97179"/>
                </a:lnTo>
                <a:cubicBezTo>
                  <a:pt x="35263" y="97179"/>
                  <a:pt x="31440" y="101002"/>
                  <a:pt x="31440" y="105754"/>
                </a:cubicBezTo>
                <a:lnTo>
                  <a:pt x="31440" y="125761"/>
                </a:lnTo>
                <a:lnTo>
                  <a:pt x="34299" y="125761"/>
                </a:lnTo>
                <a:cubicBezTo>
                  <a:pt x="40622" y="125761"/>
                  <a:pt x="45731" y="130870"/>
                  <a:pt x="45731" y="137194"/>
                </a:cubicBezTo>
                <a:lnTo>
                  <a:pt x="45731" y="160060"/>
                </a:lnTo>
                <a:cubicBezTo>
                  <a:pt x="45731" y="166384"/>
                  <a:pt x="40622" y="171493"/>
                  <a:pt x="34299" y="171493"/>
                </a:cubicBezTo>
                <a:lnTo>
                  <a:pt x="11433" y="171493"/>
                </a:lnTo>
                <a:cubicBezTo>
                  <a:pt x="5109" y="171493"/>
                  <a:pt x="0" y="166384"/>
                  <a:pt x="0" y="160060"/>
                </a:cubicBezTo>
                <a:lnTo>
                  <a:pt x="0" y="137194"/>
                </a:lnTo>
                <a:cubicBezTo>
                  <a:pt x="0" y="130870"/>
                  <a:pt x="5109" y="125761"/>
                  <a:pt x="11433" y="125761"/>
                </a:cubicBezTo>
                <a:lnTo>
                  <a:pt x="14291" y="125761"/>
                </a:lnTo>
                <a:lnTo>
                  <a:pt x="14291" y="105754"/>
                </a:lnTo>
                <a:cubicBezTo>
                  <a:pt x="14291" y="91534"/>
                  <a:pt x="25795" y="80030"/>
                  <a:pt x="40015" y="80030"/>
                </a:cubicBezTo>
                <a:lnTo>
                  <a:pt x="82888" y="80030"/>
                </a:lnTo>
                <a:lnTo>
                  <a:pt x="82888" y="57164"/>
                </a:lnTo>
                <a:lnTo>
                  <a:pt x="80030" y="57164"/>
                </a:lnTo>
                <a:cubicBezTo>
                  <a:pt x="73706" y="57164"/>
                  <a:pt x="68597" y="52055"/>
                  <a:pt x="68597" y="45731"/>
                </a:cubicBezTo>
                <a:lnTo>
                  <a:pt x="68597" y="22866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751" y="2039622"/>
            <a:ext cx="640240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1338" y="2405473"/>
            <a:ext cx="5350578" cy="1829257"/>
          </a:xfrm>
          <a:custGeom>
            <a:avLst/>
            <a:gdLst/>
            <a:ahLst/>
            <a:cxnLst/>
            <a:rect l="l" t="t" r="r" b="b"/>
            <a:pathLst>
              <a:path w="5350578" h="1829257">
                <a:moveTo>
                  <a:pt x="73170" y="0"/>
                </a:moveTo>
                <a:lnTo>
                  <a:pt x="5277407" y="0"/>
                </a:lnTo>
                <a:cubicBezTo>
                  <a:pt x="5317818" y="0"/>
                  <a:pt x="5350578" y="32759"/>
                  <a:pt x="5350578" y="73170"/>
                </a:cubicBezTo>
                <a:lnTo>
                  <a:pt x="5350578" y="1756087"/>
                </a:lnTo>
                <a:cubicBezTo>
                  <a:pt x="5350578" y="1796498"/>
                  <a:pt x="5317818" y="1829257"/>
                  <a:pt x="5277407" y="1829257"/>
                </a:cubicBezTo>
                <a:lnTo>
                  <a:pt x="73170" y="1829257"/>
                </a:lnTo>
                <a:cubicBezTo>
                  <a:pt x="32759" y="1829257"/>
                  <a:pt x="0" y="1796498"/>
                  <a:pt x="0" y="1756087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002965" y="2551814"/>
            <a:ext cx="2387181" cy="439022"/>
          </a:xfrm>
          <a:custGeom>
            <a:avLst/>
            <a:gdLst/>
            <a:ahLst/>
            <a:cxnLst/>
            <a:rect l="l" t="t" r="r" b="b"/>
            <a:pathLst>
              <a:path w="2387181" h="439022">
                <a:moveTo>
                  <a:pt x="73172" y="0"/>
                </a:moveTo>
                <a:lnTo>
                  <a:pt x="2314009" y="0"/>
                </a:lnTo>
                <a:cubicBezTo>
                  <a:pt x="2354421" y="0"/>
                  <a:pt x="2387181" y="32760"/>
                  <a:pt x="2387181" y="73172"/>
                </a:cubicBezTo>
                <a:lnTo>
                  <a:pt x="2387181" y="365850"/>
                </a:lnTo>
                <a:cubicBezTo>
                  <a:pt x="2387181" y="406262"/>
                  <a:pt x="2354421" y="439022"/>
                  <a:pt x="2314009" y="439022"/>
                </a:cubicBezTo>
                <a:lnTo>
                  <a:pt x="73172" y="439022"/>
                </a:lnTo>
                <a:cubicBezTo>
                  <a:pt x="32787" y="439022"/>
                  <a:pt x="0" y="406235"/>
                  <a:pt x="0" y="365850"/>
                </a:cubicBezTo>
                <a:lnTo>
                  <a:pt x="0" y="73172"/>
                </a:lnTo>
                <a:cubicBezTo>
                  <a:pt x="0" y="32787"/>
                  <a:pt x="32787" y="0"/>
                  <a:pt x="73172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002965" y="2551814"/>
            <a:ext cx="2460351" cy="439022"/>
          </a:xfrm>
          <a:prstGeom prst="rect">
            <a:avLst/>
          </a:prstGeom>
          <a:noFill/>
          <a:ln/>
        </p:spPr>
        <p:txBody>
          <a:bodyPr wrap="square" lIns="219511" tIns="109755" rIns="219511" bIns="109755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 Server (Redis/S3)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85909" y="3137176"/>
            <a:ext cx="18293" cy="292681"/>
          </a:xfrm>
          <a:custGeom>
            <a:avLst/>
            <a:gdLst/>
            <a:ahLst/>
            <a:cxnLst/>
            <a:rect l="l" t="t" r="r" b="b"/>
            <a:pathLst>
              <a:path w="18293" h="292681">
                <a:moveTo>
                  <a:pt x="0" y="0"/>
                </a:moveTo>
                <a:lnTo>
                  <a:pt x="18293" y="0"/>
                </a:lnTo>
                <a:lnTo>
                  <a:pt x="18293" y="292681"/>
                </a:lnTo>
                <a:lnTo>
                  <a:pt x="0" y="292681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896568" y="3429857"/>
            <a:ext cx="1152432" cy="658533"/>
          </a:xfrm>
          <a:custGeom>
            <a:avLst/>
            <a:gdLst/>
            <a:ahLst/>
            <a:cxnLst/>
            <a:rect l="l" t="t" r="r" b="b"/>
            <a:pathLst>
              <a:path w="1152432" h="658533">
                <a:moveTo>
                  <a:pt x="73170" y="0"/>
                </a:moveTo>
                <a:lnTo>
                  <a:pt x="1079263" y="0"/>
                </a:lnTo>
                <a:cubicBezTo>
                  <a:pt x="1119673" y="0"/>
                  <a:pt x="1152432" y="32759"/>
                  <a:pt x="1152432" y="73170"/>
                </a:cubicBezTo>
                <a:lnTo>
                  <a:pt x="1152432" y="585363"/>
                </a:lnTo>
                <a:cubicBezTo>
                  <a:pt x="1152432" y="625774"/>
                  <a:pt x="1119673" y="658533"/>
                  <a:pt x="1079263" y="658533"/>
                </a:cubicBezTo>
                <a:lnTo>
                  <a:pt x="73170" y="658533"/>
                </a:lnTo>
                <a:cubicBezTo>
                  <a:pt x="32759" y="658533"/>
                  <a:pt x="0" y="625774"/>
                  <a:pt x="0" y="585363"/>
                </a:cubicBezTo>
                <a:lnTo>
                  <a:pt x="0" y="73170"/>
                </a:lnTo>
                <a:cubicBezTo>
                  <a:pt x="0" y="32786"/>
                  <a:pt x="32786" y="0"/>
                  <a:pt x="7317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896568" y="3429857"/>
            <a:ext cx="1225602" cy="658533"/>
          </a:xfrm>
          <a:prstGeom prst="rect">
            <a:avLst/>
          </a:prstGeom>
          <a:noFill/>
          <a:ln/>
        </p:spPr>
        <p:txBody>
          <a:bodyPr wrap="square" lIns="146341" tIns="109755" rIns="146341" bIns="109755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实例 A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LMCache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9967" y="3429857"/>
            <a:ext cx="1152432" cy="658533"/>
          </a:xfrm>
          <a:custGeom>
            <a:avLst/>
            <a:gdLst/>
            <a:ahLst/>
            <a:cxnLst/>
            <a:rect l="l" t="t" r="r" b="b"/>
            <a:pathLst>
              <a:path w="1152432" h="658533">
                <a:moveTo>
                  <a:pt x="73170" y="0"/>
                </a:moveTo>
                <a:lnTo>
                  <a:pt x="1079263" y="0"/>
                </a:lnTo>
                <a:cubicBezTo>
                  <a:pt x="1119673" y="0"/>
                  <a:pt x="1152432" y="32759"/>
                  <a:pt x="1152432" y="73170"/>
                </a:cubicBezTo>
                <a:lnTo>
                  <a:pt x="1152432" y="585363"/>
                </a:lnTo>
                <a:cubicBezTo>
                  <a:pt x="1152432" y="625774"/>
                  <a:pt x="1119673" y="658533"/>
                  <a:pt x="1079263" y="658533"/>
                </a:cubicBezTo>
                <a:lnTo>
                  <a:pt x="73170" y="658533"/>
                </a:lnTo>
                <a:cubicBezTo>
                  <a:pt x="32759" y="658533"/>
                  <a:pt x="0" y="625774"/>
                  <a:pt x="0" y="585363"/>
                </a:cubicBezTo>
                <a:lnTo>
                  <a:pt x="0" y="73170"/>
                </a:lnTo>
                <a:cubicBezTo>
                  <a:pt x="0" y="32786"/>
                  <a:pt x="32786" y="0"/>
                  <a:pt x="7317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339967" y="3429857"/>
            <a:ext cx="1225602" cy="658533"/>
          </a:xfrm>
          <a:prstGeom prst="rect">
            <a:avLst/>
          </a:prstGeom>
          <a:noFill/>
          <a:ln/>
        </p:spPr>
        <p:txBody>
          <a:bodyPr wrap="square" lIns="146341" tIns="109755" rIns="146341" bIns="109755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实例 B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LMCache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5244" y="1888708"/>
            <a:ext cx="5652405" cy="3082299"/>
          </a:xfrm>
          <a:custGeom>
            <a:avLst/>
            <a:gdLst/>
            <a:ahLst/>
            <a:cxnLst/>
            <a:rect l="l" t="t" r="r" b="b"/>
            <a:pathLst>
              <a:path w="5652405" h="3082299">
                <a:moveTo>
                  <a:pt x="73174" y="0"/>
                </a:moveTo>
                <a:lnTo>
                  <a:pt x="5579231" y="0"/>
                </a:lnTo>
                <a:cubicBezTo>
                  <a:pt x="5619644" y="0"/>
                  <a:pt x="5652405" y="32761"/>
                  <a:pt x="5652405" y="73174"/>
                </a:cubicBezTo>
                <a:lnTo>
                  <a:pt x="5652405" y="3009125"/>
                </a:lnTo>
                <a:cubicBezTo>
                  <a:pt x="5652405" y="3049538"/>
                  <a:pt x="5619644" y="3082299"/>
                  <a:pt x="5579231" y="3082299"/>
                </a:cubicBezTo>
                <a:lnTo>
                  <a:pt x="73174" y="3082299"/>
                </a:lnTo>
                <a:cubicBezTo>
                  <a:pt x="32761" y="3082299"/>
                  <a:pt x="0" y="3049538"/>
                  <a:pt x="0" y="3009125"/>
                </a:cubicBezTo>
                <a:lnTo>
                  <a:pt x="0" y="73174"/>
                </a:lnTo>
                <a:cubicBezTo>
                  <a:pt x="0" y="32761"/>
                  <a:pt x="32761" y="0"/>
                  <a:pt x="73174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349023" y="2076207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179567" y="53806"/>
                </a:moveTo>
                <a:lnTo>
                  <a:pt x="145269" y="88104"/>
                </a:lnTo>
                <a:cubicBezTo>
                  <a:pt x="141982" y="91391"/>
                  <a:pt x="137087" y="92356"/>
                  <a:pt x="132800" y="90570"/>
                </a:cubicBezTo>
                <a:cubicBezTo>
                  <a:pt x="128512" y="88783"/>
                  <a:pt x="125761" y="84639"/>
                  <a:pt x="125761" y="80030"/>
                </a:cubicBezTo>
                <a:lnTo>
                  <a:pt x="125761" y="57164"/>
                </a:lnTo>
                <a:lnTo>
                  <a:pt x="11433" y="57164"/>
                </a:lnTo>
                <a:cubicBezTo>
                  <a:pt x="5109" y="57164"/>
                  <a:pt x="0" y="52055"/>
                  <a:pt x="0" y="45731"/>
                </a:cubicBezTo>
                <a:cubicBezTo>
                  <a:pt x="0" y="39408"/>
                  <a:pt x="5109" y="34299"/>
                  <a:pt x="11433" y="34299"/>
                </a:cubicBezTo>
                <a:lnTo>
                  <a:pt x="125761" y="34299"/>
                </a:lnTo>
                <a:lnTo>
                  <a:pt x="125761" y="11433"/>
                </a:lnTo>
                <a:cubicBezTo>
                  <a:pt x="125761" y="6824"/>
                  <a:pt x="128548" y="2644"/>
                  <a:pt x="132836" y="857"/>
                </a:cubicBezTo>
                <a:cubicBezTo>
                  <a:pt x="137123" y="-929"/>
                  <a:pt x="142018" y="71"/>
                  <a:pt x="145304" y="3323"/>
                </a:cubicBezTo>
                <a:lnTo>
                  <a:pt x="179603" y="37621"/>
                </a:lnTo>
                <a:cubicBezTo>
                  <a:pt x="184069" y="42087"/>
                  <a:pt x="184069" y="49340"/>
                  <a:pt x="179603" y="53806"/>
                </a:cubicBezTo>
                <a:close/>
                <a:moveTo>
                  <a:pt x="37621" y="179567"/>
                </a:moveTo>
                <a:lnTo>
                  <a:pt x="3323" y="145269"/>
                </a:lnTo>
                <a:cubicBezTo>
                  <a:pt x="-1143" y="140803"/>
                  <a:pt x="-1143" y="133550"/>
                  <a:pt x="3323" y="129084"/>
                </a:cubicBezTo>
                <a:lnTo>
                  <a:pt x="37621" y="94786"/>
                </a:lnTo>
                <a:cubicBezTo>
                  <a:pt x="40908" y="91499"/>
                  <a:pt x="45803" y="90534"/>
                  <a:pt x="50090" y="92320"/>
                </a:cubicBezTo>
                <a:cubicBezTo>
                  <a:pt x="54378" y="94107"/>
                  <a:pt x="57164" y="98287"/>
                  <a:pt x="57164" y="102896"/>
                </a:cubicBezTo>
                <a:lnTo>
                  <a:pt x="57164" y="125761"/>
                </a:lnTo>
                <a:lnTo>
                  <a:pt x="171493" y="125761"/>
                </a:lnTo>
                <a:cubicBezTo>
                  <a:pt x="177817" y="125761"/>
                  <a:pt x="182926" y="130870"/>
                  <a:pt x="182926" y="137194"/>
                </a:cubicBezTo>
                <a:cubicBezTo>
                  <a:pt x="182926" y="143518"/>
                  <a:pt x="177817" y="148627"/>
                  <a:pt x="171493" y="148627"/>
                </a:cubicBezTo>
                <a:lnTo>
                  <a:pt x="57164" y="148627"/>
                </a:lnTo>
                <a:lnTo>
                  <a:pt x="57164" y="171493"/>
                </a:lnTo>
                <a:cubicBezTo>
                  <a:pt x="57164" y="176102"/>
                  <a:pt x="54378" y="180282"/>
                  <a:pt x="50090" y="182068"/>
                </a:cubicBezTo>
                <a:cubicBezTo>
                  <a:pt x="45803" y="183855"/>
                  <a:pt x="40908" y="182854"/>
                  <a:pt x="37621" y="179603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664570" y="2039622"/>
            <a:ext cx="100609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数据流流程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26158" y="2405473"/>
            <a:ext cx="5350578" cy="548777"/>
          </a:xfrm>
          <a:custGeom>
            <a:avLst/>
            <a:gdLst/>
            <a:ahLst/>
            <a:cxnLst/>
            <a:rect l="l" t="t" r="r" b="b"/>
            <a:pathLst>
              <a:path w="5350578" h="548777">
                <a:moveTo>
                  <a:pt x="73168" y="0"/>
                </a:moveTo>
                <a:lnTo>
                  <a:pt x="5277409" y="0"/>
                </a:lnTo>
                <a:cubicBezTo>
                  <a:pt x="5317819" y="0"/>
                  <a:pt x="5350578" y="32759"/>
                  <a:pt x="5350578" y="73168"/>
                </a:cubicBezTo>
                <a:lnTo>
                  <a:pt x="5350578" y="475609"/>
                </a:lnTo>
                <a:cubicBezTo>
                  <a:pt x="5350578" y="516019"/>
                  <a:pt x="5317819" y="548777"/>
                  <a:pt x="5277409" y="548777"/>
                </a:cubicBezTo>
                <a:lnTo>
                  <a:pt x="73168" y="548777"/>
                </a:lnTo>
                <a:cubicBezTo>
                  <a:pt x="32759" y="548777"/>
                  <a:pt x="0" y="516019"/>
                  <a:pt x="0" y="475609"/>
                </a:cubicBezTo>
                <a:lnTo>
                  <a:pt x="0" y="73168"/>
                </a:lnTo>
                <a:cubicBezTo>
                  <a:pt x="0" y="32786"/>
                  <a:pt x="32786" y="0"/>
                  <a:pt x="731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399328" y="2478644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362743" y="2478644"/>
            <a:ext cx="365851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01765" y="2478644"/>
            <a:ext cx="2085353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实例 A 计算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01765" y="2698155"/>
            <a:ext cx="2076207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 System Prompt 的 KV Cache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26158" y="3027421"/>
            <a:ext cx="5350578" cy="548777"/>
          </a:xfrm>
          <a:custGeom>
            <a:avLst/>
            <a:gdLst/>
            <a:ahLst/>
            <a:cxnLst/>
            <a:rect l="l" t="t" r="r" b="b"/>
            <a:pathLst>
              <a:path w="5350578" h="548777">
                <a:moveTo>
                  <a:pt x="73168" y="0"/>
                </a:moveTo>
                <a:lnTo>
                  <a:pt x="5277409" y="0"/>
                </a:lnTo>
                <a:cubicBezTo>
                  <a:pt x="5317819" y="0"/>
                  <a:pt x="5350578" y="32759"/>
                  <a:pt x="5350578" y="73168"/>
                </a:cubicBezTo>
                <a:lnTo>
                  <a:pt x="5350578" y="475609"/>
                </a:lnTo>
                <a:cubicBezTo>
                  <a:pt x="5350578" y="516019"/>
                  <a:pt x="5317819" y="548777"/>
                  <a:pt x="5277409" y="548777"/>
                </a:cubicBezTo>
                <a:lnTo>
                  <a:pt x="73168" y="548777"/>
                </a:lnTo>
                <a:cubicBezTo>
                  <a:pt x="32759" y="548777"/>
                  <a:pt x="0" y="516019"/>
                  <a:pt x="0" y="475609"/>
                </a:cubicBezTo>
                <a:lnTo>
                  <a:pt x="0" y="73168"/>
                </a:lnTo>
                <a:cubicBezTo>
                  <a:pt x="0" y="32786"/>
                  <a:pt x="32786" y="0"/>
                  <a:pt x="731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399328" y="3100591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362743" y="3100591"/>
            <a:ext cx="365851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01765" y="3100591"/>
            <a:ext cx="2158524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写入中心服务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01765" y="3320102"/>
            <a:ext cx="2149377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 KV Cache 写入 LMCache Server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6158" y="3649368"/>
            <a:ext cx="5350578" cy="548777"/>
          </a:xfrm>
          <a:custGeom>
            <a:avLst/>
            <a:gdLst/>
            <a:ahLst/>
            <a:cxnLst/>
            <a:rect l="l" t="t" r="r" b="b"/>
            <a:pathLst>
              <a:path w="5350578" h="548777">
                <a:moveTo>
                  <a:pt x="73168" y="0"/>
                </a:moveTo>
                <a:lnTo>
                  <a:pt x="5277409" y="0"/>
                </a:lnTo>
                <a:cubicBezTo>
                  <a:pt x="5317819" y="0"/>
                  <a:pt x="5350578" y="32759"/>
                  <a:pt x="5350578" y="73168"/>
                </a:cubicBezTo>
                <a:lnTo>
                  <a:pt x="5350578" y="475609"/>
                </a:lnTo>
                <a:cubicBezTo>
                  <a:pt x="5350578" y="516019"/>
                  <a:pt x="5317819" y="548777"/>
                  <a:pt x="5277409" y="548777"/>
                </a:cubicBezTo>
                <a:lnTo>
                  <a:pt x="73168" y="548777"/>
                </a:lnTo>
                <a:cubicBezTo>
                  <a:pt x="32759" y="548777"/>
                  <a:pt x="0" y="516019"/>
                  <a:pt x="0" y="475609"/>
                </a:cubicBezTo>
                <a:lnTo>
                  <a:pt x="0" y="73168"/>
                </a:lnTo>
                <a:cubicBezTo>
                  <a:pt x="0" y="32786"/>
                  <a:pt x="32786" y="0"/>
                  <a:pt x="731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399328" y="3722539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362743" y="3722539"/>
            <a:ext cx="365851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01765" y="3722539"/>
            <a:ext cx="2222548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实例 B 请求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01765" y="3942050"/>
            <a:ext cx="2213401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收到包含相同 System Prompt 的请求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26158" y="4271316"/>
            <a:ext cx="5350578" cy="548777"/>
          </a:xfrm>
          <a:custGeom>
            <a:avLst/>
            <a:gdLst/>
            <a:ahLst/>
            <a:cxnLst/>
            <a:rect l="l" t="t" r="r" b="b"/>
            <a:pathLst>
              <a:path w="5350578" h="548777">
                <a:moveTo>
                  <a:pt x="73168" y="0"/>
                </a:moveTo>
                <a:lnTo>
                  <a:pt x="5277409" y="0"/>
                </a:lnTo>
                <a:cubicBezTo>
                  <a:pt x="5317819" y="0"/>
                  <a:pt x="5350578" y="32759"/>
                  <a:pt x="5350578" y="73168"/>
                </a:cubicBezTo>
                <a:lnTo>
                  <a:pt x="5350578" y="475609"/>
                </a:lnTo>
                <a:cubicBezTo>
                  <a:pt x="5350578" y="516019"/>
                  <a:pt x="5317819" y="548777"/>
                  <a:pt x="5277409" y="548777"/>
                </a:cubicBezTo>
                <a:lnTo>
                  <a:pt x="73168" y="548777"/>
                </a:lnTo>
                <a:cubicBezTo>
                  <a:pt x="32759" y="548777"/>
                  <a:pt x="0" y="516019"/>
                  <a:pt x="0" y="475609"/>
                </a:cubicBezTo>
                <a:lnTo>
                  <a:pt x="0" y="73168"/>
                </a:lnTo>
                <a:cubicBezTo>
                  <a:pt x="0" y="32786"/>
                  <a:pt x="32786" y="0"/>
                  <a:pt x="731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399328" y="4344486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362743" y="4344486"/>
            <a:ext cx="365851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1A1D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01765" y="4344486"/>
            <a:ext cx="283534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读取复用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01765" y="4563997"/>
            <a:ext cx="2826203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 LMCache Server 读取 KV Cache,跳过 Prefill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70425" y="5126494"/>
            <a:ext cx="3713392" cy="1362797"/>
          </a:xfrm>
          <a:custGeom>
            <a:avLst/>
            <a:gdLst/>
            <a:ahLst/>
            <a:cxnLst/>
            <a:rect l="l" t="t" r="r" b="b"/>
            <a:pathLst>
              <a:path w="3713392" h="1362797">
                <a:moveTo>
                  <a:pt x="73169" y="0"/>
                </a:moveTo>
                <a:lnTo>
                  <a:pt x="3640224" y="0"/>
                </a:lnTo>
                <a:cubicBezTo>
                  <a:pt x="3680634" y="0"/>
                  <a:pt x="3713392" y="32759"/>
                  <a:pt x="3713392" y="73169"/>
                </a:cubicBezTo>
                <a:lnTo>
                  <a:pt x="3713392" y="1289628"/>
                </a:lnTo>
                <a:cubicBezTo>
                  <a:pt x="3713392" y="1330038"/>
                  <a:pt x="3680634" y="1362797"/>
                  <a:pt x="3640224" y="1362797"/>
                </a:cubicBezTo>
                <a:lnTo>
                  <a:pt x="73169" y="1362797"/>
                </a:lnTo>
                <a:cubicBezTo>
                  <a:pt x="32759" y="1362797"/>
                  <a:pt x="0" y="1330038"/>
                  <a:pt x="0" y="1289628"/>
                </a:cubicBezTo>
                <a:lnTo>
                  <a:pt x="0" y="73169"/>
                </a:lnTo>
                <a:cubicBezTo>
                  <a:pt x="0" y="32759"/>
                  <a:pt x="32759" y="0"/>
                  <a:pt x="73169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44204" y="5313992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91463" y="182926"/>
                </a:moveTo>
                <a:cubicBezTo>
                  <a:pt x="141943" y="182926"/>
                  <a:pt x="182926" y="141943"/>
                  <a:pt x="182926" y="91463"/>
                </a:cubicBezTo>
                <a:cubicBezTo>
                  <a:pt x="182926" y="40983"/>
                  <a:pt x="141943" y="0"/>
                  <a:pt x="91463" y="0"/>
                </a:cubicBezTo>
                <a:cubicBezTo>
                  <a:pt x="40983" y="0"/>
                  <a:pt x="0" y="40983"/>
                  <a:pt x="0" y="91463"/>
                </a:cubicBezTo>
                <a:cubicBezTo>
                  <a:pt x="0" y="141943"/>
                  <a:pt x="40983" y="182926"/>
                  <a:pt x="91463" y="182926"/>
                </a:cubicBezTo>
                <a:close/>
                <a:moveTo>
                  <a:pt x="82888" y="122903"/>
                </a:moveTo>
                <a:lnTo>
                  <a:pt x="82888" y="100038"/>
                </a:lnTo>
                <a:lnTo>
                  <a:pt x="60023" y="100038"/>
                </a:lnTo>
                <a:cubicBezTo>
                  <a:pt x="55271" y="100038"/>
                  <a:pt x="51448" y="96215"/>
                  <a:pt x="51448" y="91463"/>
                </a:cubicBezTo>
                <a:cubicBezTo>
                  <a:pt x="51448" y="86711"/>
                  <a:pt x="55271" y="82888"/>
                  <a:pt x="60023" y="82888"/>
                </a:cubicBezTo>
                <a:lnTo>
                  <a:pt x="82888" y="82888"/>
                </a:lnTo>
                <a:lnTo>
                  <a:pt x="82888" y="60023"/>
                </a:lnTo>
                <a:cubicBezTo>
                  <a:pt x="82888" y="55271"/>
                  <a:pt x="86711" y="51448"/>
                  <a:pt x="91463" y="51448"/>
                </a:cubicBezTo>
                <a:cubicBezTo>
                  <a:pt x="96215" y="51448"/>
                  <a:pt x="100038" y="55271"/>
                  <a:pt x="100038" y="60023"/>
                </a:cubicBezTo>
                <a:lnTo>
                  <a:pt x="100038" y="82888"/>
                </a:lnTo>
                <a:lnTo>
                  <a:pt x="122903" y="82888"/>
                </a:lnTo>
                <a:cubicBezTo>
                  <a:pt x="127655" y="82888"/>
                  <a:pt x="131478" y="86711"/>
                  <a:pt x="131478" y="91463"/>
                </a:cubicBezTo>
                <a:cubicBezTo>
                  <a:pt x="131478" y="96215"/>
                  <a:pt x="127655" y="100038"/>
                  <a:pt x="122903" y="100038"/>
                </a:cubicBezTo>
                <a:lnTo>
                  <a:pt x="100038" y="100038"/>
                </a:lnTo>
                <a:lnTo>
                  <a:pt x="100038" y="122903"/>
                </a:lnTo>
                <a:cubicBezTo>
                  <a:pt x="100038" y="127655"/>
                  <a:pt x="96215" y="131478"/>
                  <a:pt x="91463" y="131478"/>
                </a:cubicBezTo>
                <a:cubicBezTo>
                  <a:pt x="86711" y="131478"/>
                  <a:pt x="82888" y="127655"/>
                  <a:pt x="82888" y="122903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59751" y="5277407"/>
            <a:ext cx="411583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21338" y="5643259"/>
            <a:ext cx="347558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部署简单,配置方便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1338" y="5899355"/>
            <a:ext cx="347558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集中管理,易于监控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21338" y="6155451"/>
            <a:ext cx="347558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适合中小规模集群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40304" y="5126494"/>
            <a:ext cx="3713392" cy="1362797"/>
          </a:xfrm>
          <a:custGeom>
            <a:avLst/>
            <a:gdLst/>
            <a:ahLst/>
            <a:cxnLst/>
            <a:rect l="l" t="t" r="r" b="b"/>
            <a:pathLst>
              <a:path w="3713392" h="1362797">
                <a:moveTo>
                  <a:pt x="73169" y="0"/>
                </a:moveTo>
                <a:lnTo>
                  <a:pt x="3640224" y="0"/>
                </a:lnTo>
                <a:cubicBezTo>
                  <a:pt x="3680634" y="0"/>
                  <a:pt x="3713392" y="32759"/>
                  <a:pt x="3713392" y="73169"/>
                </a:cubicBezTo>
                <a:lnTo>
                  <a:pt x="3713392" y="1289628"/>
                </a:lnTo>
                <a:cubicBezTo>
                  <a:pt x="3713392" y="1330038"/>
                  <a:pt x="3680634" y="1362797"/>
                  <a:pt x="3640224" y="1362797"/>
                </a:cubicBezTo>
                <a:lnTo>
                  <a:pt x="73169" y="1362797"/>
                </a:lnTo>
                <a:cubicBezTo>
                  <a:pt x="32759" y="1362797"/>
                  <a:pt x="0" y="1330038"/>
                  <a:pt x="0" y="1289628"/>
                </a:cubicBezTo>
                <a:lnTo>
                  <a:pt x="0" y="73169"/>
                </a:lnTo>
                <a:cubicBezTo>
                  <a:pt x="0" y="32759"/>
                  <a:pt x="32759" y="0"/>
                  <a:pt x="73169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4414084" y="5313992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91463" y="182926"/>
                </a:moveTo>
                <a:cubicBezTo>
                  <a:pt x="141943" y="182926"/>
                  <a:pt x="182926" y="141943"/>
                  <a:pt x="182926" y="91463"/>
                </a:cubicBezTo>
                <a:cubicBezTo>
                  <a:pt x="182926" y="40983"/>
                  <a:pt x="141943" y="0"/>
                  <a:pt x="91463" y="0"/>
                </a:cubicBezTo>
                <a:cubicBezTo>
                  <a:pt x="40983" y="0"/>
                  <a:pt x="0" y="40983"/>
                  <a:pt x="0" y="91463"/>
                </a:cubicBezTo>
                <a:cubicBezTo>
                  <a:pt x="0" y="141943"/>
                  <a:pt x="40983" y="182926"/>
                  <a:pt x="91463" y="182926"/>
                </a:cubicBezTo>
                <a:close/>
                <a:moveTo>
                  <a:pt x="60023" y="82888"/>
                </a:moveTo>
                <a:lnTo>
                  <a:pt x="122903" y="82888"/>
                </a:lnTo>
                <a:cubicBezTo>
                  <a:pt x="127655" y="82888"/>
                  <a:pt x="131478" y="86711"/>
                  <a:pt x="131478" y="91463"/>
                </a:cubicBezTo>
                <a:cubicBezTo>
                  <a:pt x="131478" y="96215"/>
                  <a:pt x="127655" y="100038"/>
                  <a:pt x="122903" y="100038"/>
                </a:cubicBezTo>
                <a:lnTo>
                  <a:pt x="60023" y="100038"/>
                </a:lnTo>
                <a:cubicBezTo>
                  <a:pt x="55271" y="100038"/>
                  <a:pt x="51448" y="96215"/>
                  <a:pt x="51448" y="91463"/>
                </a:cubicBezTo>
                <a:cubicBezTo>
                  <a:pt x="51448" y="86711"/>
                  <a:pt x="55271" y="82888"/>
                  <a:pt x="60023" y="82888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4729631" y="5277407"/>
            <a:ext cx="411583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391218" y="5643259"/>
            <a:ext cx="347558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单点瓶颈风险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391218" y="5899355"/>
            <a:ext cx="347558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网络延迟相对较高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391218" y="6155451"/>
            <a:ext cx="347558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大规模扩展受限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10184" y="5126494"/>
            <a:ext cx="3713392" cy="1362797"/>
          </a:xfrm>
          <a:custGeom>
            <a:avLst/>
            <a:gdLst/>
            <a:ahLst/>
            <a:cxnLst/>
            <a:rect l="l" t="t" r="r" b="b"/>
            <a:pathLst>
              <a:path w="3713392" h="1362797">
                <a:moveTo>
                  <a:pt x="73169" y="0"/>
                </a:moveTo>
                <a:lnTo>
                  <a:pt x="3640224" y="0"/>
                </a:lnTo>
                <a:cubicBezTo>
                  <a:pt x="3680634" y="0"/>
                  <a:pt x="3713392" y="32759"/>
                  <a:pt x="3713392" y="73169"/>
                </a:cubicBezTo>
                <a:lnTo>
                  <a:pt x="3713392" y="1289628"/>
                </a:lnTo>
                <a:cubicBezTo>
                  <a:pt x="3713392" y="1330038"/>
                  <a:pt x="3680634" y="1362797"/>
                  <a:pt x="3640224" y="1362797"/>
                </a:cubicBezTo>
                <a:lnTo>
                  <a:pt x="73169" y="1362797"/>
                </a:lnTo>
                <a:cubicBezTo>
                  <a:pt x="32759" y="1362797"/>
                  <a:pt x="0" y="1330038"/>
                  <a:pt x="0" y="1289628"/>
                </a:cubicBezTo>
                <a:lnTo>
                  <a:pt x="0" y="73169"/>
                </a:lnTo>
                <a:cubicBezTo>
                  <a:pt x="0" y="32759"/>
                  <a:pt x="32759" y="0"/>
                  <a:pt x="73169" y="0"/>
                </a:cubicBezTo>
                <a:close/>
              </a:path>
            </a:pathLst>
          </a:custGeom>
          <a:solidFill>
            <a:srgbClr val="8E8E93">
              <a:alpha val="10196"/>
            </a:srgbClr>
          </a:solidFill>
          <a:ln w="12700">
            <a:solidFill>
              <a:srgbClr val="8E8E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306829" y="5313992"/>
            <a:ext cx="137194" cy="182926"/>
          </a:xfrm>
          <a:custGeom>
            <a:avLst/>
            <a:gdLst/>
            <a:ahLst/>
            <a:cxnLst/>
            <a:rect l="l" t="t" r="r" b="b"/>
            <a:pathLst>
              <a:path w="137194" h="182926">
                <a:moveTo>
                  <a:pt x="104646" y="137194"/>
                </a:moveTo>
                <a:cubicBezTo>
                  <a:pt x="107255" y="129227"/>
                  <a:pt x="112471" y="122010"/>
                  <a:pt x="118366" y="115793"/>
                </a:cubicBezTo>
                <a:cubicBezTo>
                  <a:pt x="130049" y="103503"/>
                  <a:pt x="137194" y="86890"/>
                  <a:pt x="137194" y="68597"/>
                </a:cubicBezTo>
                <a:cubicBezTo>
                  <a:pt x="137194" y="30726"/>
                  <a:pt x="106468" y="0"/>
                  <a:pt x="68597" y="0"/>
                </a:cubicBezTo>
                <a:cubicBezTo>
                  <a:pt x="30726" y="0"/>
                  <a:pt x="0" y="30726"/>
                  <a:pt x="0" y="68597"/>
                </a:cubicBezTo>
                <a:cubicBezTo>
                  <a:pt x="0" y="86890"/>
                  <a:pt x="7146" y="103503"/>
                  <a:pt x="18828" y="115793"/>
                </a:cubicBezTo>
                <a:cubicBezTo>
                  <a:pt x="24724" y="122010"/>
                  <a:pt x="29976" y="129227"/>
                  <a:pt x="32548" y="137194"/>
                </a:cubicBezTo>
                <a:lnTo>
                  <a:pt x="104611" y="137194"/>
                </a:lnTo>
                <a:close/>
                <a:moveTo>
                  <a:pt x="102896" y="154344"/>
                </a:moveTo>
                <a:lnTo>
                  <a:pt x="34299" y="154344"/>
                </a:lnTo>
                <a:lnTo>
                  <a:pt x="34299" y="160060"/>
                </a:lnTo>
                <a:cubicBezTo>
                  <a:pt x="34299" y="175852"/>
                  <a:pt x="47089" y="188642"/>
                  <a:pt x="62881" y="188642"/>
                </a:cubicBezTo>
                <a:lnTo>
                  <a:pt x="74314" y="188642"/>
                </a:lnTo>
                <a:cubicBezTo>
                  <a:pt x="90105" y="188642"/>
                  <a:pt x="102896" y="175852"/>
                  <a:pt x="102896" y="160060"/>
                </a:cubicBezTo>
                <a:lnTo>
                  <a:pt x="102896" y="154344"/>
                </a:lnTo>
                <a:close/>
                <a:moveTo>
                  <a:pt x="65739" y="40015"/>
                </a:moveTo>
                <a:cubicBezTo>
                  <a:pt x="51519" y="40015"/>
                  <a:pt x="40015" y="51519"/>
                  <a:pt x="40015" y="65739"/>
                </a:cubicBezTo>
                <a:cubicBezTo>
                  <a:pt x="40015" y="70491"/>
                  <a:pt x="36192" y="74314"/>
                  <a:pt x="31440" y="74314"/>
                </a:cubicBezTo>
                <a:cubicBezTo>
                  <a:pt x="26689" y="74314"/>
                  <a:pt x="22866" y="70491"/>
                  <a:pt x="22866" y="65739"/>
                </a:cubicBezTo>
                <a:cubicBezTo>
                  <a:pt x="22866" y="42051"/>
                  <a:pt x="42051" y="22866"/>
                  <a:pt x="65739" y="22866"/>
                </a:cubicBezTo>
                <a:cubicBezTo>
                  <a:pt x="70491" y="22866"/>
                  <a:pt x="74314" y="26689"/>
                  <a:pt x="74314" y="31440"/>
                </a:cubicBezTo>
                <a:cubicBezTo>
                  <a:pt x="74314" y="36192"/>
                  <a:pt x="70491" y="40015"/>
                  <a:pt x="65739" y="40015"/>
                </a:cubicBezTo>
                <a:close/>
              </a:path>
            </a:pathLst>
          </a:custGeom>
          <a:solidFill>
            <a:srgbClr val="8E8E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599510" y="5277407"/>
            <a:ext cx="740849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61098" y="5643259"/>
            <a:ext cx="347558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实例数量适中(&lt;10)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261098" y="5899355"/>
            <a:ext cx="347558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网络带宽充足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261098" y="6155451"/>
            <a:ext cx="347558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需要集中管理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P2P SHARING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跨实例共享:P2P 模式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11410950" cy="590550"/>
          </a:xfrm>
          <a:custGeom>
            <a:avLst/>
            <a:gdLst/>
            <a:ahLst/>
            <a:cxnLst/>
            <a:rect l="l" t="t" r="r" b="b"/>
            <a:pathLst>
              <a:path w="11410950" h="590550">
                <a:moveTo>
                  <a:pt x="38100" y="0"/>
                </a:moveTo>
                <a:lnTo>
                  <a:pt x="11334751" y="0"/>
                </a:lnTo>
                <a:cubicBezTo>
                  <a:pt x="11376835" y="0"/>
                  <a:pt x="11410950" y="34115"/>
                  <a:pt x="11410950" y="76199"/>
                </a:cubicBezTo>
                <a:lnTo>
                  <a:pt x="11410950" y="514351"/>
                </a:lnTo>
                <a:cubicBezTo>
                  <a:pt x="11410950" y="556435"/>
                  <a:pt x="11376835" y="590550"/>
                  <a:pt x="11334751" y="590550"/>
                </a:cubicBez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590550"/>
          </a:xfrm>
          <a:custGeom>
            <a:avLst/>
            <a:gdLst/>
            <a:ahLst/>
            <a:cxnLst/>
            <a:rect l="l" t="t" r="r" b="b"/>
            <a:pathLst>
              <a:path w="38100" h="590550">
                <a:moveTo>
                  <a:pt x="38100" y="0"/>
                </a:moveTo>
                <a:lnTo>
                  <a:pt x="38100" y="0"/>
                </a:lnTo>
                <a:lnTo>
                  <a:pt x="38100" y="590550"/>
                </a:ln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91741" y="137160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38410" y="49113"/>
                </a:moveTo>
                <a:lnTo>
                  <a:pt x="183059" y="49113"/>
                </a:lnTo>
                <a:lnTo>
                  <a:pt x="183059" y="75902"/>
                </a:lnTo>
                <a:lnTo>
                  <a:pt x="138410" y="75902"/>
                </a:lnTo>
                <a:lnTo>
                  <a:pt x="138410" y="49113"/>
                </a:lnTo>
                <a:close/>
                <a:moveTo>
                  <a:pt x="133945" y="17859"/>
                </a:moveTo>
                <a:cubicBezTo>
                  <a:pt x="119156" y="17859"/>
                  <a:pt x="107156" y="29859"/>
                  <a:pt x="107156" y="44648"/>
                </a:cubicBezTo>
                <a:lnTo>
                  <a:pt x="107156" y="80367"/>
                </a:lnTo>
                <a:cubicBezTo>
                  <a:pt x="107156" y="95157"/>
                  <a:pt x="119156" y="107156"/>
                  <a:pt x="133945" y="107156"/>
                </a:cubicBezTo>
                <a:lnTo>
                  <a:pt x="142875" y="107156"/>
                </a:lnTo>
                <a:lnTo>
                  <a:pt x="142875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71438" y="160734"/>
                </a:lnTo>
                <a:lnTo>
                  <a:pt x="71438" y="178594"/>
                </a:lnTo>
                <a:lnTo>
                  <a:pt x="62508" y="178594"/>
                </a:lnTo>
                <a:cubicBezTo>
                  <a:pt x="47718" y="178594"/>
                  <a:pt x="35719" y="190593"/>
                  <a:pt x="35719" y="205383"/>
                </a:cubicBezTo>
                <a:lnTo>
                  <a:pt x="35719" y="241102"/>
                </a:lnTo>
                <a:cubicBezTo>
                  <a:pt x="35719" y="255891"/>
                  <a:pt x="47718" y="267891"/>
                  <a:pt x="62508" y="267891"/>
                </a:cubicBezTo>
                <a:lnTo>
                  <a:pt x="116086" y="267891"/>
                </a:lnTo>
                <a:cubicBezTo>
                  <a:pt x="130876" y="267891"/>
                  <a:pt x="142875" y="255891"/>
                  <a:pt x="142875" y="241102"/>
                </a:cubicBezTo>
                <a:lnTo>
                  <a:pt x="142875" y="205383"/>
                </a:lnTo>
                <a:cubicBezTo>
                  <a:pt x="142875" y="190593"/>
                  <a:pt x="130876" y="178594"/>
                  <a:pt x="116086" y="178594"/>
                </a:cubicBezTo>
                <a:lnTo>
                  <a:pt x="107156" y="178594"/>
                </a:lnTo>
                <a:lnTo>
                  <a:pt x="107156" y="160734"/>
                </a:lnTo>
                <a:lnTo>
                  <a:pt x="214313" y="160734"/>
                </a:lnTo>
                <a:lnTo>
                  <a:pt x="214313" y="178594"/>
                </a:lnTo>
                <a:lnTo>
                  <a:pt x="205383" y="178594"/>
                </a:lnTo>
                <a:cubicBezTo>
                  <a:pt x="190593" y="178594"/>
                  <a:pt x="178594" y="190593"/>
                  <a:pt x="178594" y="205383"/>
                </a:cubicBezTo>
                <a:lnTo>
                  <a:pt x="178594" y="241102"/>
                </a:lnTo>
                <a:cubicBezTo>
                  <a:pt x="178594" y="255891"/>
                  <a:pt x="190593" y="267891"/>
                  <a:pt x="205383" y="267891"/>
                </a:cubicBezTo>
                <a:lnTo>
                  <a:pt x="258961" y="267891"/>
                </a:lnTo>
                <a:cubicBezTo>
                  <a:pt x="273751" y="267891"/>
                  <a:pt x="285750" y="255891"/>
                  <a:pt x="285750" y="241102"/>
                </a:cubicBezTo>
                <a:lnTo>
                  <a:pt x="285750" y="205383"/>
                </a:lnTo>
                <a:cubicBezTo>
                  <a:pt x="285750" y="190593"/>
                  <a:pt x="273751" y="178594"/>
                  <a:pt x="258961" y="178594"/>
                </a:cubicBezTo>
                <a:lnTo>
                  <a:pt x="250031" y="178594"/>
                </a:lnTo>
                <a:lnTo>
                  <a:pt x="250031" y="160734"/>
                </a:lnTo>
                <a:lnTo>
                  <a:pt x="303609" y="160734"/>
                </a:lnTo>
                <a:cubicBezTo>
                  <a:pt x="313488" y="160734"/>
                  <a:pt x="321469" y="152753"/>
                  <a:pt x="321469" y="142875"/>
                </a:cubicBezTo>
                <a:cubicBezTo>
                  <a:pt x="321469" y="132997"/>
                  <a:pt x="313488" y="125016"/>
                  <a:pt x="303609" y="125016"/>
                </a:cubicBezTo>
                <a:lnTo>
                  <a:pt x="178594" y="125016"/>
                </a:lnTo>
                <a:lnTo>
                  <a:pt x="178594" y="107156"/>
                </a:lnTo>
                <a:lnTo>
                  <a:pt x="187523" y="107156"/>
                </a:lnTo>
                <a:cubicBezTo>
                  <a:pt x="202313" y="107156"/>
                  <a:pt x="214313" y="95157"/>
                  <a:pt x="214313" y="80367"/>
                </a:cubicBezTo>
                <a:lnTo>
                  <a:pt x="214313" y="44648"/>
                </a:lnTo>
                <a:cubicBezTo>
                  <a:pt x="214313" y="29859"/>
                  <a:pt x="202313" y="17859"/>
                  <a:pt x="187523" y="17859"/>
                </a:cubicBezTo>
                <a:lnTo>
                  <a:pt x="133945" y="17859"/>
                </a:lnTo>
                <a:close/>
                <a:moveTo>
                  <a:pt x="250031" y="209848"/>
                </a:moveTo>
                <a:lnTo>
                  <a:pt x="254496" y="209848"/>
                </a:lnTo>
                <a:lnTo>
                  <a:pt x="254496" y="236637"/>
                </a:lnTo>
                <a:lnTo>
                  <a:pt x="209848" y="236637"/>
                </a:lnTo>
                <a:lnTo>
                  <a:pt x="209848" y="209848"/>
                </a:lnTo>
                <a:lnTo>
                  <a:pt x="250031" y="209848"/>
                </a:lnTo>
                <a:close/>
                <a:moveTo>
                  <a:pt x="107156" y="209848"/>
                </a:moveTo>
                <a:lnTo>
                  <a:pt x="111621" y="209848"/>
                </a:lnTo>
                <a:lnTo>
                  <a:pt x="111621" y="236637"/>
                </a:lnTo>
                <a:lnTo>
                  <a:pt x="66973" y="236637"/>
                </a:lnTo>
                <a:lnTo>
                  <a:pt x="66973" y="209848"/>
                </a:lnTo>
                <a:lnTo>
                  <a:pt x="107156" y="209848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81088" y="1371600"/>
            <a:ext cx="10658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实例之间通过 </a:t>
            </a:r>
            <a:r>
              <a:rPr lang="en-US" sz="1200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P2P 网络 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直接传输 KV Cache 数据,即 </a:t>
            </a: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Mesh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模式,由一个轻量的 Cache Controller 管理元数据,适合对延迟敏感、实例间网络带宽充足的场景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1966912"/>
            <a:ext cx="5629275" cy="2562225"/>
          </a:xfrm>
          <a:custGeom>
            <a:avLst/>
            <a:gdLst/>
            <a:ahLst/>
            <a:cxnLst/>
            <a:rect l="l" t="t" r="r" b="b"/>
            <a:pathLst>
              <a:path w="5629275" h="2562225">
                <a:moveTo>
                  <a:pt x="76201" y="0"/>
                </a:moveTo>
                <a:lnTo>
                  <a:pt x="5553074" y="0"/>
                </a:lnTo>
                <a:cubicBezTo>
                  <a:pt x="5595131" y="0"/>
                  <a:pt x="5629275" y="34144"/>
                  <a:pt x="5629275" y="76201"/>
                </a:cubicBezTo>
                <a:lnTo>
                  <a:pt x="5629275" y="2486024"/>
                </a:lnTo>
                <a:cubicBezTo>
                  <a:pt x="5629275" y="2528081"/>
                  <a:pt x="5595131" y="2562225"/>
                  <a:pt x="5553074" y="2562225"/>
                </a:cubicBezTo>
                <a:lnTo>
                  <a:pt x="76201" y="2562225"/>
                </a:lnTo>
                <a:cubicBezTo>
                  <a:pt x="34144" y="2562225"/>
                  <a:pt x="0" y="2528081"/>
                  <a:pt x="0" y="24860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738" y="2162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95350" y="2124075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505075"/>
            <a:ext cx="5314950" cy="1714500"/>
          </a:xfrm>
          <a:custGeom>
            <a:avLst/>
            <a:gdLst/>
            <a:ahLst/>
            <a:cxnLst/>
            <a:rect l="l" t="t" r="r" b="b"/>
            <a:pathLst>
              <a:path w="5314950" h="1714500">
                <a:moveTo>
                  <a:pt x="76192" y="0"/>
                </a:moveTo>
                <a:lnTo>
                  <a:pt x="5238758" y="0"/>
                </a:lnTo>
                <a:cubicBezTo>
                  <a:pt x="5280838" y="0"/>
                  <a:pt x="5314950" y="34112"/>
                  <a:pt x="5314950" y="76192"/>
                </a:cubicBezTo>
                <a:lnTo>
                  <a:pt x="5314950" y="1638308"/>
                </a:lnTo>
                <a:cubicBezTo>
                  <a:pt x="5314950" y="1680388"/>
                  <a:pt x="5280838" y="1714500"/>
                  <a:pt x="5238758" y="1714500"/>
                </a:cubicBezTo>
                <a:lnTo>
                  <a:pt x="76192" y="1714500"/>
                </a:lnTo>
                <a:cubicBezTo>
                  <a:pt x="34112" y="1714500"/>
                  <a:pt x="0" y="1680388"/>
                  <a:pt x="0" y="1638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412751" y="2657475"/>
            <a:ext cx="1200150" cy="685800"/>
          </a:xfrm>
          <a:custGeom>
            <a:avLst/>
            <a:gdLst/>
            <a:ahLst/>
            <a:cxnLst/>
            <a:rect l="l" t="t" r="r" b="b"/>
            <a:pathLst>
              <a:path w="1200150" h="685800">
                <a:moveTo>
                  <a:pt x="76199" y="0"/>
                </a:moveTo>
                <a:lnTo>
                  <a:pt x="1123951" y="0"/>
                </a:lnTo>
                <a:cubicBezTo>
                  <a:pt x="1166034" y="0"/>
                  <a:pt x="1200150" y="34116"/>
                  <a:pt x="1200150" y="76199"/>
                </a:cubicBezTo>
                <a:lnTo>
                  <a:pt x="1200150" y="609601"/>
                </a:lnTo>
                <a:cubicBezTo>
                  <a:pt x="1200150" y="651656"/>
                  <a:pt x="1166006" y="685800"/>
                  <a:pt x="11239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374651" y="2657475"/>
            <a:ext cx="1276350" cy="685800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实例 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LMCache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15915" y="290512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P2P 传输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86560" y="2657475"/>
            <a:ext cx="1200150" cy="685800"/>
          </a:xfrm>
          <a:custGeom>
            <a:avLst/>
            <a:gdLst/>
            <a:ahLst/>
            <a:cxnLst/>
            <a:rect l="l" t="t" r="r" b="b"/>
            <a:pathLst>
              <a:path w="1200150" h="685800">
                <a:moveTo>
                  <a:pt x="76199" y="0"/>
                </a:moveTo>
                <a:lnTo>
                  <a:pt x="1123951" y="0"/>
                </a:lnTo>
                <a:cubicBezTo>
                  <a:pt x="1166034" y="0"/>
                  <a:pt x="1200150" y="34116"/>
                  <a:pt x="1200150" y="76199"/>
                </a:cubicBezTo>
                <a:lnTo>
                  <a:pt x="1200150" y="609601"/>
                </a:lnTo>
                <a:cubicBezTo>
                  <a:pt x="1200150" y="651656"/>
                  <a:pt x="1166006" y="685800"/>
                  <a:pt x="11239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748460" y="2657475"/>
            <a:ext cx="1276350" cy="685800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实例 B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LMCache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90875" y="3495675"/>
            <a:ext cx="19050" cy="228600"/>
          </a:xfrm>
          <a:custGeom>
            <a:avLst/>
            <a:gdLst/>
            <a:ahLst/>
            <a:cxnLst/>
            <a:rect l="l" t="t" r="r" b="b"/>
            <a:pathLst>
              <a:path w="19050" h="228600">
                <a:moveTo>
                  <a:pt x="0" y="0"/>
                </a:moveTo>
                <a:lnTo>
                  <a:pt x="19050" y="0"/>
                </a:lnTo>
                <a:lnTo>
                  <a:pt x="190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8E8E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048545" y="3724275"/>
            <a:ext cx="2305050" cy="342900"/>
          </a:xfrm>
          <a:custGeom>
            <a:avLst/>
            <a:gdLst/>
            <a:ahLst/>
            <a:cxnLst/>
            <a:rect l="l" t="t" r="r" b="b"/>
            <a:pathLst>
              <a:path w="2305050" h="342900">
                <a:moveTo>
                  <a:pt x="76199" y="0"/>
                </a:moveTo>
                <a:lnTo>
                  <a:pt x="2228851" y="0"/>
                </a:lnTo>
                <a:cubicBezTo>
                  <a:pt x="2270934" y="0"/>
                  <a:pt x="2305050" y="34116"/>
                  <a:pt x="2305050" y="76199"/>
                </a:cubicBezTo>
                <a:lnTo>
                  <a:pt x="2305050" y="266701"/>
                </a:lnTo>
                <a:cubicBezTo>
                  <a:pt x="2305050" y="308784"/>
                  <a:pt x="2270934" y="342900"/>
                  <a:pt x="22288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E8E9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048545" y="3724275"/>
            <a:ext cx="2371725" cy="3429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Cache Controller (元数据管理)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963" y="1966912"/>
            <a:ext cx="5629275" cy="2562225"/>
          </a:xfrm>
          <a:custGeom>
            <a:avLst/>
            <a:gdLst/>
            <a:ahLst/>
            <a:cxnLst/>
            <a:rect l="l" t="t" r="r" b="b"/>
            <a:pathLst>
              <a:path w="5629275" h="2562225">
                <a:moveTo>
                  <a:pt x="76201" y="0"/>
                </a:moveTo>
                <a:lnTo>
                  <a:pt x="5553074" y="0"/>
                </a:lnTo>
                <a:cubicBezTo>
                  <a:pt x="5595131" y="0"/>
                  <a:pt x="5629275" y="34144"/>
                  <a:pt x="5629275" y="76201"/>
                </a:cubicBezTo>
                <a:lnTo>
                  <a:pt x="5629275" y="2486024"/>
                </a:lnTo>
                <a:cubicBezTo>
                  <a:pt x="5629275" y="2528081"/>
                  <a:pt x="5595131" y="2562225"/>
                  <a:pt x="5553074" y="2562225"/>
                </a:cubicBezTo>
                <a:lnTo>
                  <a:pt x="76201" y="2562225"/>
                </a:lnTo>
                <a:cubicBezTo>
                  <a:pt x="34144" y="2562225"/>
                  <a:pt x="0" y="2528081"/>
                  <a:pt x="0" y="24860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357938" y="2162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86550" y="212407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数据流流程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34125" y="2505075"/>
            <a:ext cx="5314950" cy="571500"/>
          </a:xfrm>
          <a:custGeom>
            <a:avLst/>
            <a:gdLst/>
            <a:ahLst/>
            <a:cxnLst/>
            <a:rect l="l" t="t" r="r" b="b"/>
            <a:pathLst>
              <a:path w="5314950" h="571500">
                <a:moveTo>
                  <a:pt x="76198" y="0"/>
                </a:moveTo>
                <a:lnTo>
                  <a:pt x="5238752" y="0"/>
                </a:lnTo>
                <a:cubicBezTo>
                  <a:pt x="5280835" y="0"/>
                  <a:pt x="5314950" y="34115"/>
                  <a:pt x="5314950" y="76198"/>
                </a:cubicBezTo>
                <a:lnTo>
                  <a:pt x="5314950" y="495302"/>
                </a:lnTo>
                <a:cubicBezTo>
                  <a:pt x="5314950" y="537385"/>
                  <a:pt x="5280835" y="571500"/>
                  <a:pt x="52387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10325" y="25812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372225" y="25812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29425" y="2581275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计算并注册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29425" y="2809875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实例 A 计算 KV Cache,向 Controller 注册元数据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4125" y="3152775"/>
            <a:ext cx="5314950" cy="571500"/>
          </a:xfrm>
          <a:custGeom>
            <a:avLst/>
            <a:gdLst/>
            <a:ahLst/>
            <a:cxnLst/>
            <a:rect l="l" t="t" r="r" b="b"/>
            <a:pathLst>
              <a:path w="5314950" h="571500">
                <a:moveTo>
                  <a:pt x="76198" y="0"/>
                </a:moveTo>
                <a:lnTo>
                  <a:pt x="5238752" y="0"/>
                </a:lnTo>
                <a:cubicBezTo>
                  <a:pt x="5280835" y="0"/>
                  <a:pt x="5314950" y="34115"/>
                  <a:pt x="5314950" y="76198"/>
                </a:cubicBezTo>
                <a:lnTo>
                  <a:pt x="5314950" y="495302"/>
                </a:lnTo>
                <a:cubicBezTo>
                  <a:pt x="5314950" y="537385"/>
                  <a:pt x="5280835" y="571500"/>
                  <a:pt x="52387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410325" y="3228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372225" y="32289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29425" y="3228975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查询位置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29425" y="3457575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实例 B 查询 Controller 获取缓存位置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4125" y="3800475"/>
            <a:ext cx="5314950" cy="571500"/>
          </a:xfrm>
          <a:custGeom>
            <a:avLst/>
            <a:gdLst/>
            <a:ahLst/>
            <a:cxnLst/>
            <a:rect l="l" t="t" r="r" b="b"/>
            <a:pathLst>
              <a:path w="5314950" h="571500">
                <a:moveTo>
                  <a:pt x="76198" y="0"/>
                </a:moveTo>
                <a:lnTo>
                  <a:pt x="5238752" y="0"/>
                </a:lnTo>
                <a:cubicBezTo>
                  <a:pt x="5280835" y="0"/>
                  <a:pt x="5314950" y="34115"/>
                  <a:pt x="5314950" y="76198"/>
                </a:cubicBezTo>
                <a:lnTo>
                  <a:pt x="5314950" y="495302"/>
                </a:lnTo>
                <a:cubicBezTo>
                  <a:pt x="5314950" y="537385"/>
                  <a:pt x="5280835" y="571500"/>
                  <a:pt x="52387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410325" y="38766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372225" y="38766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29425" y="3876675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直接拉取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29425" y="4105275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实例 B 直接从实例 A 拉取数据(RDMA/TCP)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5763" y="4691063"/>
            <a:ext cx="5629275" cy="1685925"/>
          </a:xfrm>
          <a:custGeom>
            <a:avLst/>
            <a:gdLst/>
            <a:ahLst/>
            <a:cxnLst/>
            <a:rect l="l" t="t" r="r" b="b"/>
            <a:pathLst>
              <a:path w="5629275" h="1685925">
                <a:moveTo>
                  <a:pt x="76204" y="0"/>
                </a:moveTo>
                <a:lnTo>
                  <a:pt x="5553071" y="0"/>
                </a:lnTo>
                <a:cubicBezTo>
                  <a:pt x="5595157" y="0"/>
                  <a:pt x="5629275" y="34118"/>
                  <a:pt x="5629275" y="76204"/>
                </a:cubicBezTo>
                <a:lnTo>
                  <a:pt x="5629275" y="1609721"/>
                </a:lnTo>
                <a:cubicBezTo>
                  <a:pt x="5629275" y="1651807"/>
                  <a:pt x="5595157" y="1685925"/>
                  <a:pt x="5553071" y="1685925"/>
                </a:cubicBezTo>
                <a:lnTo>
                  <a:pt x="76204" y="1685925"/>
                </a:lnTo>
                <a:cubicBezTo>
                  <a:pt x="34118" y="1685925"/>
                  <a:pt x="0" y="1651807"/>
                  <a:pt x="0" y="1609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66738" y="4886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6320" y="127992"/>
                </a:moveTo>
                <a:lnTo>
                  <a:pt x="86320" y="104180"/>
                </a:lnTo>
                <a:lnTo>
                  <a:pt x="62508" y="104180"/>
                </a:lnTo>
                <a:cubicBezTo>
                  <a:pt x="57559" y="104180"/>
                  <a:pt x="53578" y="100199"/>
                  <a:pt x="53578" y="95250"/>
                </a:cubicBezTo>
                <a:cubicBezTo>
                  <a:pt x="53578" y="90301"/>
                  <a:pt x="57559" y="86320"/>
                  <a:pt x="62508" y="86320"/>
                </a:cubicBezTo>
                <a:lnTo>
                  <a:pt x="86320" y="86320"/>
                </a:lnTo>
                <a:lnTo>
                  <a:pt x="86320" y="62508"/>
                </a:lnTo>
                <a:cubicBezTo>
                  <a:pt x="86320" y="57559"/>
                  <a:pt x="90301" y="53578"/>
                  <a:pt x="95250" y="53578"/>
                </a:cubicBezTo>
                <a:cubicBezTo>
                  <a:pt x="100199" y="53578"/>
                  <a:pt x="104180" y="57559"/>
                  <a:pt x="104180" y="62508"/>
                </a:cubicBezTo>
                <a:lnTo>
                  <a:pt x="104180" y="86320"/>
                </a:lnTo>
                <a:lnTo>
                  <a:pt x="127992" y="86320"/>
                </a:lnTo>
                <a:cubicBezTo>
                  <a:pt x="132941" y="86320"/>
                  <a:pt x="136922" y="90301"/>
                  <a:pt x="136922" y="95250"/>
                </a:cubicBezTo>
                <a:cubicBezTo>
                  <a:pt x="136922" y="100199"/>
                  <a:pt x="132941" y="104180"/>
                  <a:pt x="127992" y="104180"/>
                </a:cubicBezTo>
                <a:lnTo>
                  <a:pt x="104180" y="104180"/>
                </a:lnTo>
                <a:lnTo>
                  <a:pt x="104180" y="127992"/>
                </a:lnTo>
                <a:cubicBezTo>
                  <a:pt x="104180" y="132941"/>
                  <a:pt x="100199" y="136922"/>
                  <a:pt x="95250" y="136922"/>
                </a:cubicBezTo>
                <a:cubicBezTo>
                  <a:pt x="90301" y="136922"/>
                  <a:pt x="86320" y="132941"/>
                  <a:pt x="86320" y="127992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95350" y="4848225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2925" y="52292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低延迟(RDMA ~1-2 μs)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2925" y="54959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无单点瓶颈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2925" y="57626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可扩展性强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2925" y="60293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带宽利用率高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6963" y="4691063"/>
            <a:ext cx="5629275" cy="1685925"/>
          </a:xfrm>
          <a:custGeom>
            <a:avLst/>
            <a:gdLst/>
            <a:ahLst/>
            <a:cxnLst/>
            <a:rect l="l" t="t" r="r" b="b"/>
            <a:pathLst>
              <a:path w="5629275" h="1685925">
                <a:moveTo>
                  <a:pt x="76204" y="0"/>
                </a:moveTo>
                <a:lnTo>
                  <a:pt x="5553071" y="0"/>
                </a:lnTo>
                <a:cubicBezTo>
                  <a:pt x="5595157" y="0"/>
                  <a:pt x="5629275" y="34118"/>
                  <a:pt x="5629275" y="76204"/>
                </a:cubicBezTo>
                <a:lnTo>
                  <a:pt x="5629275" y="1609721"/>
                </a:lnTo>
                <a:cubicBezTo>
                  <a:pt x="5629275" y="1651807"/>
                  <a:pt x="5595157" y="1685925"/>
                  <a:pt x="5553071" y="1685925"/>
                </a:cubicBezTo>
                <a:lnTo>
                  <a:pt x="76204" y="1685925"/>
                </a:lnTo>
                <a:cubicBezTo>
                  <a:pt x="34118" y="1685925"/>
                  <a:pt x="0" y="1651807"/>
                  <a:pt x="0" y="1609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381750" y="48863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686550" y="48482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34125" y="52292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对延迟敏感的场景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34125" y="54959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实例间网络带宽充足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34125" y="57626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大规模集群部署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34125" y="60293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需要高吞吐量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 配置示例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5629275" cy="3095625"/>
          </a:xfrm>
          <a:custGeom>
            <a:avLst/>
            <a:gdLst/>
            <a:ahLst/>
            <a:cxnLst/>
            <a:rect l="l" t="t" r="r" b="b"/>
            <a:pathLst>
              <a:path w="5629275" h="3095625">
                <a:moveTo>
                  <a:pt x="76214" y="0"/>
                </a:moveTo>
                <a:lnTo>
                  <a:pt x="5553061" y="0"/>
                </a:lnTo>
                <a:cubicBezTo>
                  <a:pt x="5595153" y="0"/>
                  <a:pt x="5629275" y="34122"/>
                  <a:pt x="5629275" y="76214"/>
                </a:cubicBezTo>
                <a:lnTo>
                  <a:pt x="5629275" y="3019411"/>
                </a:lnTo>
                <a:cubicBezTo>
                  <a:pt x="5629275" y="3061503"/>
                  <a:pt x="5595153" y="3095625"/>
                  <a:pt x="5553061" y="3095625"/>
                </a:cubicBezTo>
                <a:lnTo>
                  <a:pt x="76214" y="3095625"/>
                </a:lnTo>
                <a:cubicBezTo>
                  <a:pt x="34122" y="3095625"/>
                  <a:pt x="0" y="3061503"/>
                  <a:pt x="0" y="3019411"/>
                </a:cubicBezTo>
                <a:lnTo>
                  <a:pt x="0" y="76214"/>
                </a:lnTo>
                <a:cubicBezTo>
                  <a:pt x="0" y="34122"/>
                  <a:pt x="34122" y="0"/>
                  <a:pt x="76214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0550" y="14192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95350" y="1381125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YAML 配置文件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2925" y="1762125"/>
            <a:ext cx="5314950" cy="2400300"/>
          </a:xfrm>
          <a:custGeom>
            <a:avLst/>
            <a:gdLst/>
            <a:ahLst/>
            <a:cxnLst/>
            <a:rect l="l" t="t" r="r" b="b"/>
            <a:pathLst>
              <a:path w="5314950" h="2400300">
                <a:moveTo>
                  <a:pt x="76210" y="0"/>
                </a:moveTo>
                <a:lnTo>
                  <a:pt x="5238740" y="0"/>
                </a:lnTo>
                <a:cubicBezTo>
                  <a:pt x="5280830" y="0"/>
                  <a:pt x="5314950" y="34120"/>
                  <a:pt x="5314950" y="76210"/>
                </a:cubicBezTo>
                <a:lnTo>
                  <a:pt x="5314950" y="2324090"/>
                </a:lnTo>
                <a:cubicBezTo>
                  <a:pt x="5314950" y="2366180"/>
                  <a:pt x="5280830" y="2400300"/>
                  <a:pt x="5238740" y="2400300"/>
                </a:cubicBezTo>
                <a:lnTo>
                  <a:pt x="76210" y="2400300"/>
                </a:lnTo>
                <a:cubicBezTo>
                  <a:pt x="34120" y="2400300"/>
                  <a:pt x="0" y="2366180"/>
                  <a:pt x="0" y="23240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7225" y="18764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LMCache 配置示例:启用多级 Prefix Caching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7225" y="21431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chunk_size: 256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9625" y="2333625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每个 Chunk 的 Token 数量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225" y="25241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local_cpu: true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625" y="2714625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启用 CPU 内存缓存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225" y="29051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local_disk: /mnt/nvme/lmcache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9625" y="3095625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启用本地磁盘缓存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2861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remote_url: redis://cache-server:6379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9625" y="3476625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启用远程缓存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7225" y="36671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p2p_enabled: true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9625" y="3857625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启用 P2P 共享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6963" y="1223963"/>
            <a:ext cx="5629275" cy="3095625"/>
          </a:xfrm>
          <a:custGeom>
            <a:avLst/>
            <a:gdLst/>
            <a:ahLst/>
            <a:cxnLst/>
            <a:rect l="l" t="t" r="r" b="b"/>
            <a:pathLst>
              <a:path w="5629275" h="3095625">
                <a:moveTo>
                  <a:pt x="76214" y="0"/>
                </a:moveTo>
                <a:lnTo>
                  <a:pt x="5553061" y="0"/>
                </a:lnTo>
                <a:cubicBezTo>
                  <a:pt x="5595153" y="0"/>
                  <a:pt x="5629275" y="34122"/>
                  <a:pt x="5629275" y="76214"/>
                </a:cubicBezTo>
                <a:lnTo>
                  <a:pt x="5629275" y="3019411"/>
                </a:lnTo>
                <a:cubicBezTo>
                  <a:pt x="5629275" y="3061503"/>
                  <a:pt x="5595153" y="3095625"/>
                  <a:pt x="5553061" y="3095625"/>
                </a:cubicBezTo>
                <a:lnTo>
                  <a:pt x="76214" y="3095625"/>
                </a:lnTo>
                <a:cubicBezTo>
                  <a:pt x="34122" y="3095625"/>
                  <a:pt x="0" y="3061503"/>
                  <a:pt x="0" y="3019411"/>
                </a:cubicBezTo>
                <a:lnTo>
                  <a:pt x="0" y="76214"/>
                </a:lnTo>
                <a:cubicBezTo>
                  <a:pt x="0" y="34122"/>
                  <a:pt x="34122" y="0"/>
                  <a:pt x="76214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357938" y="1419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497" y="44128"/>
                </a:moveTo>
                <a:cubicBezTo>
                  <a:pt x="-1153" y="39477"/>
                  <a:pt x="-1153" y="31924"/>
                  <a:pt x="3497" y="27273"/>
                </a:cubicBezTo>
                <a:cubicBezTo>
                  <a:pt x="8148" y="22622"/>
                  <a:pt x="15701" y="22622"/>
                  <a:pt x="20352" y="27273"/>
                </a:cubicBezTo>
                <a:lnTo>
                  <a:pt x="79883" y="86804"/>
                </a:lnTo>
                <a:cubicBezTo>
                  <a:pt x="84534" y="91455"/>
                  <a:pt x="84534" y="99008"/>
                  <a:pt x="79883" y="103659"/>
                </a:cubicBezTo>
                <a:lnTo>
                  <a:pt x="20352" y="163190"/>
                </a:lnTo>
                <a:cubicBezTo>
                  <a:pt x="15701" y="167841"/>
                  <a:pt x="8148" y="167841"/>
                  <a:pt x="3497" y="163190"/>
                </a:cubicBezTo>
                <a:cubicBezTo>
                  <a:pt x="-1153" y="158539"/>
                  <a:pt x="-1153" y="150986"/>
                  <a:pt x="3497" y="146335"/>
                </a:cubicBezTo>
                <a:lnTo>
                  <a:pt x="54583" y="95250"/>
                </a:lnTo>
                <a:lnTo>
                  <a:pt x="3497" y="44128"/>
                </a:ln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686550" y="13811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启动命令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34125" y="1762125"/>
            <a:ext cx="5314950" cy="2019300"/>
          </a:xfrm>
          <a:custGeom>
            <a:avLst/>
            <a:gdLst/>
            <a:ahLst/>
            <a:cxnLst/>
            <a:rect l="l" t="t" r="r" b="b"/>
            <a:pathLst>
              <a:path w="5314950" h="2019300">
                <a:moveTo>
                  <a:pt x="76208" y="0"/>
                </a:moveTo>
                <a:lnTo>
                  <a:pt x="5238742" y="0"/>
                </a:lnTo>
                <a:cubicBezTo>
                  <a:pt x="5280830" y="0"/>
                  <a:pt x="5314950" y="34120"/>
                  <a:pt x="5314950" y="76208"/>
                </a:cubicBezTo>
                <a:lnTo>
                  <a:pt x="5314950" y="1943092"/>
                </a:lnTo>
                <a:cubicBezTo>
                  <a:pt x="5314950" y="1985180"/>
                  <a:pt x="5280830" y="2019300"/>
                  <a:pt x="5238742" y="2019300"/>
                </a:cubicBezTo>
                <a:lnTo>
                  <a:pt x="76208" y="2019300"/>
                </a:lnTo>
                <a:cubicBezTo>
                  <a:pt x="34120" y="2019300"/>
                  <a:pt x="0" y="1985180"/>
                  <a:pt x="0" y="19430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48425" y="18764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启动带 LMCache 的 vLLM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8425" y="21431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LMCACHE_CONFIG_FILE=lmcache_config.yaml \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00825" y="2333625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 serve meta-llama/Llama-2-7b-hf \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00825" y="2524125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--enable-prefix-caching \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53225" y="271462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启用 vLLM 内置 APC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00825" y="2905125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--kv-transfer-config \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53225" y="309562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'{"kv_connector":"LMCacheConnectorV1",\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53225" y="328612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"kv_role":"kv_both"}'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53225" y="347662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启用 LMCache 连接器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5763" y="4481513"/>
            <a:ext cx="2733675" cy="1000125"/>
          </a:xfrm>
          <a:custGeom>
            <a:avLst/>
            <a:gdLst/>
            <a:ahLst/>
            <a:cxnLst/>
            <a:rect l="l" t="t" r="r" b="b"/>
            <a:pathLst>
              <a:path w="2733675" h="1000125">
                <a:moveTo>
                  <a:pt x="76200" y="0"/>
                </a:moveTo>
                <a:lnTo>
                  <a:pt x="2657475" y="0"/>
                </a:lnTo>
                <a:cubicBezTo>
                  <a:pt x="2699559" y="0"/>
                  <a:pt x="2733675" y="34116"/>
                  <a:pt x="2733675" y="76200"/>
                </a:cubicBezTo>
                <a:lnTo>
                  <a:pt x="2733675" y="923925"/>
                </a:lnTo>
                <a:cubicBezTo>
                  <a:pt x="2733675" y="966009"/>
                  <a:pt x="2699559" y="1000125"/>
                  <a:pt x="26574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61975" y="4676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76200"/>
                </a:moveTo>
                <a:lnTo>
                  <a:pt x="45393" y="87957"/>
                </a:lnTo>
                <a:cubicBezTo>
                  <a:pt x="41642" y="86499"/>
                  <a:pt x="37594" y="85725"/>
                  <a:pt x="33338" y="85725"/>
                </a:cubicBezTo>
                <a:cubicBezTo>
                  <a:pt x="14913" y="85725"/>
                  <a:pt x="0" y="100638"/>
                  <a:pt x="0" y="119062"/>
                </a:cubicBezTo>
                <a:cubicBezTo>
                  <a:pt x="0" y="137487"/>
                  <a:pt x="14913" y="152400"/>
                  <a:pt x="33338" y="152400"/>
                </a:cubicBezTo>
                <a:cubicBezTo>
                  <a:pt x="51762" y="152400"/>
                  <a:pt x="66675" y="137487"/>
                  <a:pt x="66675" y="119062"/>
                </a:cubicBezTo>
                <a:cubicBezTo>
                  <a:pt x="66675" y="114806"/>
                  <a:pt x="65871" y="110758"/>
                  <a:pt x="64443" y="107007"/>
                </a:cubicBezTo>
                <a:lnTo>
                  <a:pt x="148590" y="22860"/>
                </a:lnTo>
                <a:cubicBezTo>
                  <a:pt x="150703" y="20747"/>
                  <a:pt x="150703" y="17353"/>
                  <a:pt x="148590" y="15240"/>
                </a:cubicBezTo>
                <a:cubicBezTo>
                  <a:pt x="140166" y="6816"/>
                  <a:pt x="126534" y="6816"/>
                  <a:pt x="118110" y="15240"/>
                </a:cubicBezTo>
                <a:lnTo>
                  <a:pt x="76200" y="57150"/>
                </a:lnTo>
                <a:lnTo>
                  <a:pt x="64443" y="45393"/>
                </a:lnTo>
                <a:cubicBezTo>
                  <a:pt x="65901" y="41642"/>
                  <a:pt x="66675" y="37594"/>
                  <a:pt x="66675" y="33338"/>
                </a:cubicBezTo>
                <a:cubicBezTo>
                  <a:pt x="66675" y="14913"/>
                  <a:pt x="51762" y="0"/>
                  <a:pt x="33338" y="0"/>
                </a:cubicBezTo>
                <a:cubicBezTo>
                  <a:pt x="14913" y="0"/>
                  <a:pt x="0" y="14913"/>
                  <a:pt x="0" y="33338"/>
                </a:cubicBezTo>
                <a:cubicBezTo>
                  <a:pt x="0" y="51762"/>
                  <a:pt x="14913" y="66675"/>
                  <a:pt x="33338" y="66675"/>
                </a:cubicBezTo>
                <a:cubicBezTo>
                  <a:pt x="37594" y="66675"/>
                  <a:pt x="41642" y="65871"/>
                  <a:pt x="45393" y="64443"/>
                </a:cubicBezTo>
                <a:lnTo>
                  <a:pt x="57150" y="76200"/>
                </a:lnTo>
                <a:close/>
                <a:moveTo>
                  <a:pt x="86291" y="105341"/>
                </a:moveTo>
                <a:lnTo>
                  <a:pt x="118110" y="137160"/>
                </a:lnTo>
                <a:cubicBezTo>
                  <a:pt x="126534" y="145584"/>
                  <a:pt x="140166" y="145584"/>
                  <a:pt x="148590" y="137160"/>
                </a:cubicBezTo>
                <a:cubicBezTo>
                  <a:pt x="150703" y="135047"/>
                  <a:pt x="150703" y="131653"/>
                  <a:pt x="148590" y="129540"/>
                </a:cubicBezTo>
                <a:lnTo>
                  <a:pt x="105341" y="86291"/>
                </a:lnTo>
                <a:lnTo>
                  <a:pt x="86291" y="105341"/>
                </a:lnTo>
                <a:close/>
                <a:moveTo>
                  <a:pt x="19050" y="33338"/>
                </a:moveTo>
                <a:cubicBezTo>
                  <a:pt x="19050" y="25452"/>
                  <a:pt x="25452" y="19050"/>
                  <a:pt x="33337" y="19050"/>
                </a:cubicBezTo>
                <a:cubicBezTo>
                  <a:pt x="41223" y="19050"/>
                  <a:pt x="47625" y="25452"/>
                  <a:pt x="47625" y="33337"/>
                </a:cubicBezTo>
                <a:cubicBezTo>
                  <a:pt x="47625" y="41223"/>
                  <a:pt x="41223" y="47625"/>
                  <a:pt x="33338" y="47625"/>
                </a:cubicBezTo>
                <a:cubicBezTo>
                  <a:pt x="25452" y="47625"/>
                  <a:pt x="19050" y="41223"/>
                  <a:pt x="19050" y="33338"/>
                </a:cubicBezTo>
                <a:close/>
                <a:moveTo>
                  <a:pt x="33338" y="104775"/>
                </a:moveTo>
                <a:cubicBezTo>
                  <a:pt x="41223" y="104775"/>
                  <a:pt x="47625" y="111177"/>
                  <a:pt x="47625" y="119062"/>
                </a:cubicBezTo>
                <a:cubicBezTo>
                  <a:pt x="47625" y="126948"/>
                  <a:pt x="41223" y="133350"/>
                  <a:pt x="33338" y="133350"/>
                </a:cubicBezTo>
                <a:cubicBezTo>
                  <a:pt x="25452" y="133350"/>
                  <a:pt x="19050" y="126948"/>
                  <a:pt x="19050" y="119062"/>
                </a:cubicBezTo>
                <a:cubicBezTo>
                  <a:pt x="19050" y="111177"/>
                  <a:pt x="25452" y="104775"/>
                  <a:pt x="33337" y="104775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09625" y="4638675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chunk_size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2925" y="4943475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 Chunk 的 token 数量,推荐 256-512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81363" y="4481513"/>
            <a:ext cx="2733675" cy="1000125"/>
          </a:xfrm>
          <a:custGeom>
            <a:avLst/>
            <a:gdLst/>
            <a:ahLst/>
            <a:cxnLst/>
            <a:rect l="l" t="t" r="r" b="b"/>
            <a:pathLst>
              <a:path w="2733675" h="1000125">
                <a:moveTo>
                  <a:pt x="76200" y="0"/>
                </a:moveTo>
                <a:lnTo>
                  <a:pt x="2657475" y="0"/>
                </a:lnTo>
                <a:cubicBezTo>
                  <a:pt x="2699559" y="0"/>
                  <a:pt x="2733675" y="34116"/>
                  <a:pt x="2733675" y="76200"/>
                </a:cubicBezTo>
                <a:lnTo>
                  <a:pt x="2733675" y="923925"/>
                </a:lnTo>
                <a:cubicBezTo>
                  <a:pt x="2733675" y="966009"/>
                  <a:pt x="2699559" y="1000125"/>
                  <a:pt x="26574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3457575" y="4676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40303"/>
                </a:lnTo>
                <a:cubicBezTo>
                  <a:pt x="0" y="42327"/>
                  <a:pt x="1310" y="44053"/>
                  <a:pt x="3006" y="45154"/>
                </a:cubicBezTo>
                <a:cubicBezTo>
                  <a:pt x="6935" y="47714"/>
                  <a:pt x="9525" y="52120"/>
                  <a:pt x="9525" y="57150"/>
                </a:cubicBezTo>
                <a:cubicBezTo>
                  <a:pt x="9525" y="62180"/>
                  <a:pt x="6935" y="66586"/>
                  <a:pt x="3006" y="69146"/>
                </a:cubicBezTo>
                <a:cubicBezTo>
                  <a:pt x="1310" y="70247"/>
                  <a:pt x="0" y="71973"/>
                  <a:pt x="0" y="73997"/>
                </a:cubicBezTo>
                <a:lnTo>
                  <a:pt x="0" y="90488"/>
                </a:lnTo>
                <a:lnTo>
                  <a:pt x="152400" y="90488"/>
                </a:lnTo>
                <a:lnTo>
                  <a:pt x="152400" y="73997"/>
                </a:lnTo>
                <a:cubicBezTo>
                  <a:pt x="152400" y="71973"/>
                  <a:pt x="151090" y="70247"/>
                  <a:pt x="149394" y="69146"/>
                </a:cubicBezTo>
                <a:cubicBezTo>
                  <a:pt x="145465" y="66586"/>
                  <a:pt x="142875" y="62180"/>
                  <a:pt x="142875" y="57150"/>
                </a:cubicBezTo>
                <a:cubicBezTo>
                  <a:pt x="142875" y="52120"/>
                  <a:pt x="145465" y="47714"/>
                  <a:pt x="149394" y="45154"/>
                </a:cubicBezTo>
                <a:cubicBezTo>
                  <a:pt x="151090" y="44053"/>
                  <a:pt x="152400" y="42327"/>
                  <a:pt x="152400" y="40303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152400" y="123825"/>
                </a:moveTo>
                <a:lnTo>
                  <a:pt x="152400" y="104775"/>
                </a:lnTo>
                <a:lnTo>
                  <a:pt x="0" y="104775"/>
                </a:lnTo>
                <a:lnTo>
                  <a:pt x="0" y="123825"/>
                </a:lnTo>
                <a:cubicBezTo>
                  <a:pt x="0" y="129094"/>
                  <a:pt x="4256" y="133350"/>
                  <a:pt x="9525" y="133350"/>
                </a:cubicBezTo>
                <a:lnTo>
                  <a:pt x="28575" y="133350"/>
                </a:lnTo>
                <a:lnTo>
                  <a:pt x="28575" y="126206"/>
                </a:lnTo>
                <a:cubicBezTo>
                  <a:pt x="28575" y="122247"/>
                  <a:pt x="31760" y="119062"/>
                  <a:pt x="35719" y="119062"/>
                </a:cubicBezTo>
                <a:cubicBezTo>
                  <a:pt x="39678" y="119062"/>
                  <a:pt x="42863" y="122247"/>
                  <a:pt x="42863" y="126206"/>
                </a:cubicBezTo>
                <a:lnTo>
                  <a:pt x="42863" y="133350"/>
                </a:lnTo>
                <a:lnTo>
                  <a:pt x="69056" y="133350"/>
                </a:lnTo>
                <a:lnTo>
                  <a:pt x="69056" y="126206"/>
                </a:lnTo>
                <a:cubicBezTo>
                  <a:pt x="69056" y="122247"/>
                  <a:pt x="72241" y="119062"/>
                  <a:pt x="76200" y="119062"/>
                </a:cubicBezTo>
                <a:cubicBezTo>
                  <a:pt x="80159" y="119062"/>
                  <a:pt x="83344" y="122247"/>
                  <a:pt x="83344" y="126206"/>
                </a:cubicBezTo>
                <a:lnTo>
                  <a:pt x="83344" y="133350"/>
                </a:lnTo>
                <a:lnTo>
                  <a:pt x="109537" y="133350"/>
                </a:lnTo>
                <a:lnTo>
                  <a:pt x="109537" y="126206"/>
                </a:lnTo>
                <a:cubicBezTo>
                  <a:pt x="109537" y="122247"/>
                  <a:pt x="112722" y="119062"/>
                  <a:pt x="116681" y="119062"/>
                </a:cubicBezTo>
                <a:cubicBezTo>
                  <a:pt x="120640" y="119062"/>
                  <a:pt x="123825" y="122247"/>
                  <a:pt x="123825" y="126206"/>
                </a:cubicBezTo>
                <a:lnTo>
                  <a:pt x="123825" y="133350"/>
                </a:ln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lose/>
                <a:moveTo>
                  <a:pt x="47625" y="47625"/>
                </a:moveTo>
                <a:lnTo>
                  <a:pt x="47625" y="66675"/>
                </a:lnTo>
                <a:cubicBezTo>
                  <a:pt x="47625" y="71944"/>
                  <a:pt x="43369" y="76200"/>
                  <a:pt x="38100" y="76200"/>
                </a:cubicBezTo>
                <a:cubicBezTo>
                  <a:pt x="32831" y="76200"/>
                  <a:pt x="28575" y="71944"/>
                  <a:pt x="28575" y="66675"/>
                </a:cubicBezTo>
                <a:lnTo>
                  <a:pt x="28575" y="47625"/>
                </a:lnTo>
                <a:cubicBezTo>
                  <a:pt x="28575" y="42356"/>
                  <a:pt x="32831" y="38100"/>
                  <a:pt x="38100" y="38100"/>
                </a:cubicBezTo>
                <a:cubicBezTo>
                  <a:pt x="43369" y="38100"/>
                  <a:pt x="47625" y="42356"/>
                  <a:pt x="47625" y="47625"/>
                </a:cubicBezTo>
                <a:close/>
                <a:moveTo>
                  <a:pt x="85725" y="47625"/>
                </a:moveTo>
                <a:lnTo>
                  <a:pt x="85725" y="66675"/>
                </a:lnTo>
                <a:cubicBezTo>
                  <a:pt x="85725" y="71944"/>
                  <a:pt x="81469" y="76200"/>
                  <a:pt x="76200" y="76200"/>
                </a:cubicBezTo>
                <a:cubicBezTo>
                  <a:pt x="70931" y="76200"/>
                  <a:pt x="66675" y="71944"/>
                  <a:pt x="66675" y="66675"/>
                </a:cubicBezTo>
                <a:lnTo>
                  <a:pt x="66675" y="47625"/>
                </a:lnTo>
                <a:cubicBezTo>
                  <a:pt x="66675" y="42356"/>
                  <a:pt x="70931" y="38100"/>
                  <a:pt x="76200" y="38100"/>
                </a:cubicBezTo>
                <a:cubicBezTo>
                  <a:pt x="81469" y="38100"/>
                  <a:pt x="85725" y="42356"/>
                  <a:pt x="85725" y="47625"/>
                </a:cubicBezTo>
                <a:close/>
                <a:moveTo>
                  <a:pt x="123825" y="47625"/>
                </a:moveTo>
                <a:lnTo>
                  <a:pt x="123825" y="66675"/>
                </a:lnTo>
                <a:cubicBezTo>
                  <a:pt x="123825" y="71944"/>
                  <a:pt x="119569" y="76200"/>
                  <a:pt x="114300" y="76200"/>
                </a:cubicBezTo>
                <a:cubicBezTo>
                  <a:pt x="109031" y="76200"/>
                  <a:pt x="104775" y="71944"/>
                  <a:pt x="104775" y="66675"/>
                </a:cubicBezTo>
                <a:lnTo>
                  <a:pt x="104775" y="47625"/>
                </a:lnTo>
                <a:cubicBezTo>
                  <a:pt x="104775" y="42356"/>
                  <a:pt x="109031" y="38100"/>
                  <a:pt x="114300" y="38100"/>
                </a:cubicBezTo>
                <a:cubicBezTo>
                  <a:pt x="119569" y="38100"/>
                  <a:pt x="123825" y="42356"/>
                  <a:pt x="123825" y="47625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705225" y="4638675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local_cpu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38525" y="494347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启用 CPU 内存作为 L1 缓存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6963" y="4481513"/>
            <a:ext cx="2733675" cy="1000125"/>
          </a:xfrm>
          <a:custGeom>
            <a:avLst/>
            <a:gdLst/>
            <a:ahLst/>
            <a:cxnLst/>
            <a:rect l="l" t="t" r="r" b="b"/>
            <a:pathLst>
              <a:path w="2733675" h="1000125">
                <a:moveTo>
                  <a:pt x="76200" y="0"/>
                </a:moveTo>
                <a:lnTo>
                  <a:pt x="2657475" y="0"/>
                </a:lnTo>
                <a:cubicBezTo>
                  <a:pt x="2699559" y="0"/>
                  <a:pt x="2733675" y="34116"/>
                  <a:pt x="2733675" y="76200"/>
                </a:cubicBezTo>
                <a:lnTo>
                  <a:pt x="2733675" y="923925"/>
                </a:lnTo>
                <a:cubicBezTo>
                  <a:pt x="2733675" y="966009"/>
                  <a:pt x="2699559" y="1000125"/>
                  <a:pt x="26574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362700" y="46767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77420"/>
                </a:lnTo>
                <a:cubicBezTo>
                  <a:pt x="5388" y="73640"/>
                  <a:pt x="11966" y="71438"/>
                  <a:pt x="19050" y="71438"/>
                </a:cubicBezTo>
                <a:lnTo>
                  <a:pt x="114300" y="71438"/>
                </a:lnTo>
                <a:cubicBezTo>
                  <a:pt x="121384" y="71438"/>
                  <a:pt x="127962" y="73640"/>
                  <a:pt x="133350" y="77420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133350" y="104775"/>
                </a:move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lose/>
                <a:moveTo>
                  <a:pt x="66675" y="114300"/>
                </a:moveTo>
                <a:cubicBezTo>
                  <a:pt x="66675" y="109043"/>
                  <a:pt x="70943" y="104775"/>
                  <a:pt x="76200" y="104775"/>
                </a:cubicBezTo>
                <a:cubicBezTo>
                  <a:pt x="81457" y="104775"/>
                  <a:pt x="85725" y="109043"/>
                  <a:pt x="85725" y="114300"/>
                </a:cubicBezTo>
                <a:cubicBezTo>
                  <a:pt x="85725" y="119557"/>
                  <a:pt x="81457" y="123825"/>
                  <a:pt x="76200" y="123825"/>
                </a:cubicBezTo>
                <a:cubicBezTo>
                  <a:pt x="70943" y="123825"/>
                  <a:pt x="66675" y="119557"/>
                  <a:pt x="66675" y="114300"/>
                </a:cubicBezTo>
                <a:close/>
                <a:moveTo>
                  <a:pt x="104775" y="104775"/>
                </a:moveTo>
                <a:cubicBezTo>
                  <a:pt x="110032" y="104775"/>
                  <a:pt x="114300" y="109043"/>
                  <a:pt x="114300" y="114300"/>
                </a:cubicBezTo>
                <a:cubicBezTo>
                  <a:pt x="114300" y="119557"/>
                  <a:pt x="110032" y="123825"/>
                  <a:pt x="104775" y="123825"/>
                </a:cubicBezTo>
                <a:cubicBezTo>
                  <a:pt x="99518" y="123825"/>
                  <a:pt x="95250" y="119557"/>
                  <a:pt x="95250" y="114300"/>
                </a:cubicBezTo>
                <a:cubicBezTo>
                  <a:pt x="95250" y="109043"/>
                  <a:pt x="99518" y="104775"/>
                  <a:pt x="104775" y="104775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600825" y="4638675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local_disk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34125" y="494347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本地磁盘缓存路径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72563" y="4481513"/>
            <a:ext cx="2733675" cy="1000125"/>
          </a:xfrm>
          <a:custGeom>
            <a:avLst/>
            <a:gdLst/>
            <a:ahLst/>
            <a:cxnLst/>
            <a:rect l="l" t="t" r="r" b="b"/>
            <a:pathLst>
              <a:path w="2733675" h="1000125">
                <a:moveTo>
                  <a:pt x="76200" y="0"/>
                </a:moveTo>
                <a:lnTo>
                  <a:pt x="2657475" y="0"/>
                </a:lnTo>
                <a:cubicBezTo>
                  <a:pt x="2699559" y="0"/>
                  <a:pt x="2733675" y="34116"/>
                  <a:pt x="2733675" y="76200"/>
                </a:cubicBezTo>
                <a:lnTo>
                  <a:pt x="2733675" y="923925"/>
                </a:lnTo>
                <a:cubicBezTo>
                  <a:pt x="2733675" y="966009"/>
                  <a:pt x="2699559" y="1000125"/>
                  <a:pt x="26574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9239250" y="46767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9496425" y="4638675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remote_url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229725" y="494347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远程缓存服务地址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2119313"/>
            <a:ext cx="1476375" cy="428625"/>
          </a:xfrm>
          <a:custGeom>
            <a:avLst/>
            <a:gdLst/>
            <a:ahLst/>
            <a:cxnLst/>
            <a:rect l="l" t="t" r="r" b="b"/>
            <a:pathLst>
              <a:path w="1476375" h="428625">
                <a:moveTo>
                  <a:pt x="76201" y="0"/>
                </a:moveTo>
                <a:lnTo>
                  <a:pt x="1400174" y="0"/>
                </a:lnTo>
                <a:cubicBezTo>
                  <a:pt x="1442259" y="0"/>
                  <a:pt x="1476375" y="34116"/>
                  <a:pt x="1476375" y="76201"/>
                </a:cubicBezTo>
                <a:lnTo>
                  <a:pt x="1476375" y="352424"/>
                </a:lnTo>
                <a:cubicBezTo>
                  <a:pt x="1476375" y="394509"/>
                  <a:pt x="1442259" y="428625"/>
                  <a:pt x="14001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8E8E93">
              <a:alpha val="30196"/>
            </a:srgbClr>
          </a:solidFill>
          <a:ln w="12700">
            <a:solidFill>
              <a:srgbClr val="8E8E9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2214563"/>
            <a:ext cx="12497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1300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性能分析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67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Prefix Caching 的收益评估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5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E8E9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382" y="345382"/>
            <a:ext cx="11570312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kern="0" spc="54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THEORETICAL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5382" y="621688"/>
            <a:ext cx="11656657" cy="34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理论加速比分析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652" y="1105224"/>
            <a:ext cx="11483966" cy="535343"/>
          </a:xfrm>
          <a:custGeom>
            <a:avLst/>
            <a:gdLst/>
            <a:ahLst/>
            <a:cxnLst/>
            <a:rect l="l" t="t" r="r" b="b"/>
            <a:pathLst>
              <a:path w="11483966" h="535343">
                <a:moveTo>
                  <a:pt x="34538" y="0"/>
                </a:moveTo>
                <a:lnTo>
                  <a:pt x="11414891" y="0"/>
                </a:lnTo>
                <a:cubicBezTo>
                  <a:pt x="11453040" y="0"/>
                  <a:pt x="11483966" y="30926"/>
                  <a:pt x="11483966" y="69075"/>
                </a:cubicBezTo>
                <a:lnTo>
                  <a:pt x="11483966" y="466267"/>
                </a:lnTo>
                <a:cubicBezTo>
                  <a:pt x="11483966" y="504417"/>
                  <a:pt x="11453040" y="535343"/>
                  <a:pt x="11414891" y="535343"/>
                </a:cubicBezTo>
                <a:lnTo>
                  <a:pt x="34538" y="535343"/>
                </a:lnTo>
                <a:cubicBezTo>
                  <a:pt x="15463" y="535343"/>
                  <a:pt x="0" y="519879"/>
                  <a:pt x="0" y="500805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62652" y="1105224"/>
            <a:ext cx="34538" cy="535343"/>
          </a:xfrm>
          <a:custGeom>
            <a:avLst/>
            <a:gdLst/>
            <a:ahLst/>
            <a:cxnLst/>
            <a:rect l="l" t="t" r="r" b="b"/>
            <a:pathLst>
              <a:path w="34538" h="535343">
                <a:moveTo>
                  <a:pt x="34538" y="0"/>
                </a:moveTo>
                <a:lnTo>
                  <a:pt x="34538" y="0"/>
                </a:lnTo>
                <a:lnTo>
                  <a:pt x="34538" y="535343"/>
                </a:lnTo>
                <a:lnTo>
                  <a:pt x="34538" y="535343"/>
                </a:lnTo>
                <a:cubicBezTo>
                  <a:pt x="15463" y="535343"/>
                  <a:pt x="0" y="519879"/>
                  <a:pt x="0" y="500805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84992" y="1243377"/>
            <a:ext cx="194278" cy="259037"/>
          </a:xfrm>
          <a:custGeom>
            <a:avLst/>
            <a:gdLst/>
            <a:ahLst/>
            <a:cxnLst/>
            <a:rect l="l" t="t" r="r" b="b"/>
            <a:pathLst>
              <a:path w="194278" h="259037">
                <a:moveTo>
                  <a:pt x="32380" y="0"/>
                </a:moveTo>
                <a:cubicBezTo>
                  <a:pt x="14520" y="0"/>
                  <a:pt x="0" y="14520"/>
                  <a:pt x="0" y="32380"/>
                </a:cubicBezTo>
                <a:lnTo>
                  <a:pt x="0" y="226657"/>
                </a:lnTo>
                <a:cubicBezTo>
                  <a:pt x="0" y="244517"/>
                  <a:pt x="14520" y="259037"/>
                  <a:pt x="32380" y="259037"/>
                </a:cubicBezTo>
                <a:lnTo>
                  <a:pt x="161898" y="259037"/>
                </a:lnTo>
                <a:cubicBezTo>
                  <a:pt x="179757" y="259037"/>
                  <a:pt x="194278" y="244517"/>
                  <a:pt x="194278" y="226657"/>
                </a:cubicBezTo>
                <a:lnTo>
                  <a:pt x="194278" y="32380"/>
                </a:lnTo>
                <a:cubicBezTo>
                  <a:pt x="194278" y="14520"/>
                  <a:pt x="179757" y="0"/>
                  <a:pt x="161898" y="0"/>
                </a:cubicBezTo>
                <a:lnTo>
                  <a:pt x="32380" y="0"/>
                </a:lnTo>
                <a:close/>
                <a:moveTo>
                  <a:pt x="48569" y="32380"/>
                </a:moveTo>
                <a:lnTo>
                  <a:pt x="145708" y="32380"/>
                </a:lnTo>
                <a:cubicBezTo>
                  <a:pt x="154663" y="32380"/>
                  <a:pt x="161898" y="39614"/>
                  <a:pt x="161898" y="48569"/>
                </a:cubicBezTo>
                <a:lnTo>
                  <a:pt x="161898" y="64759"/>
                </a:lnTo>
                <a:cubicBezTo>
                  <a:pt x="161898" y="73714"/>
                  <a:pt x="154663" y="80949"/>
                  <a:pt x="145708" y="80949"/>
                </a:cubicBezTo>
                <a:lnTo>
                  <a:pt x="48569" y="80949"/>
                </a:lnTo>
                <a:cubicBezTo>
                  <a:pt x="39614" y="80949"/>
                  <a:pt x="32380" y="73714"/>
                  <a:pt x="32380" y="64759"/>
                </a:cubicBezTo>
                <a:lnTo>
                  <a:pt x="32380" y="48569"/>
                </a:lnTo>
                <a:cubicBezTo>
                  <a:pt x="32380" y="39614"/>
                  <a:pt x="39614" y="32380"/>
                  <a:pt x="48569" y="32380"/>
                </a:cubicBezTo>
                <a:close/>
                <a:moveTo>
                  <a:pt x="56664" y="117376"/>
                </a:moveTo>
                <a:cubicBezTo>
                  <a:pt x="56664" y="124078"/>
                  <a:pt x="51224" y="129518"/>
                  <a:pt x="44522" y="129518"/>
                </a:cubicBezTo>
                <a:cubicBezTo>
                  <a:pt x="37820" y="129518"/>
                  <a:pt x="32380" y="124078"/>
                  <a:pt x="32380" y="117376"/>
                </a:cubicBezTo>
                <a:cubicBezTo>
                  <a:pt x="32380" y="110675"/>
                  <a:pt x="37820" y="105234"/>
                  <a:pt x="44522" y="105234"/>
                </a:cubicBezTo>
                <a:cubicBezTo>
                  <a:pt x="51224" y="105234"/>
                  <a:pt x="56664" y="110675"/>
                  <a:pt x="56664" y="117376"/>
                </a:cubicBezTo>
                <a:close/>
                <a:moveTo>
                  <a:pt x="97139" y="129518"/>
                </a:moveTo>
                <a:cubicBezTo>
                  <a:pt x="90437" y="129518"/>
                  <a:pt x="84996" y="124078"/>
                  <a:pt x="84996" y="117376"/>
                </a:cubicBezTo>
                <a:cubicBezTo>
                  <a:pt x="84996" y="110675"/>
                  <a:pt x="90437" y="105234"/>
                  <a:pt x="97139" y="105234"/>
                </a:cubicBezTo>
                <a:cubicBezTo>
                  <a:pt x="103840" y="105234"/>
                  <a:pt x="109281" y="110675"/>
                  <a:pt x="109281" y="117376"/>
                </a:cubicBezTo>
                <a:cubicBezTo>
                  <a:pt x="109281" y="124078"/>
                  <a:pt x="103840" y="129518"/>
                  <a:pt x="97139" y="129518"/>
                </a:cubicBezTo>
                <a:close/>
                <a:moveTo>
                  <a:pt x="161898" y="117376"/>
                </a:moveTo>
                <a:cubicBezTo>
                  <a:pt x="161898" y="124078"/>
                  <a:pt x="156457" y="129518"/>
                  <a:pt x="149756" y="129518"/>
                </a:cubicBezTo>
                <a:cubicBezTo>
                  <a:pt x="143054" y="129518"/>
                  <a:pt x="137613" y="124078"/>
                  <a:pt x="137613" y="117376"/>
                </a:cubicBezTo>
                <a:cubicBezTo>
                  <a:pt x="137613" y="110675"/>
                  <a:pt x="143054" y="105234"/>
                  <a:pt x="149756" y="105234"/>
                </a:cubicBezTo>
                <a:cubicBezTo>
                  <a:pt x="156457" y="105234"/>
                  <a:pt x="161898" y="110675"/>
                  <a:pt x="161898" y="117376"/>
                </a:cubicBezTo>
                <a:close/>
                <a:moveTo>
                  <a:pt x="44522" y="178088"/>
                </a:moveTo>
                <a:cubicBezTo>
                  <a:pt x="37820" y="178088"/>
                  <a:pt x="32380" y="172647"/>
                  <a:pt x="32380" y="165945"/>
                </a:cubicBezTo>
                <a:cubicBezTo>
                  <a:pt x="32380" y="159244"/>
                  <a:pt x="37820" y="153803"/>
                  <a:pt x="44522" y="153803"/>
                </a:cubicBezTo>
                <a:cubicBezTo>
                  <a:pt x="51224" y="153803"/>
                  <a:pt x="56664" y="159244"/>
                  <a:pt x="56664" y="165945"/>
                </a:cubicBezTo>
                <a:cubicBezTo>
                  <a:pt x="56664" y="172647"/>
                  <a:pt x="51224" y="178088"/>
                  <a:pt x="44522" y="178088"/>
                </a:cubicBezTo>
                <a:close/>
                <a:moveTo>
                  <a:pt x="109281" y="165945"/>
                </a:moveTo>
                <a:cubicBezTo>
                  <a:pt x="109281" y="172647"/>
                  <a:pt x="103840" y="178088"/>
                  <a:pt x="97139" y="178088"/>
                </a:cubicBezTo>
                <a:cubicBezTo>
                  <a:pt x="90437" y="178088"/>
                  <a:pt x="84996" y="172647"/>
                  <a:pt x="84996" y="165945"/>
                </a:cubicBezTo>
                <a:cubicBezTo>
                  <a:pt x="84996" y="159244"/>
                  <a:pt x="90437" y="153803"/>
                  <a:pt x="97139" y="153803"/>
                </a:cubicBezTo>
                <a:cubicBezTo>
                  <a:pt x="103840" y="153803"/>
                  <a:pt x="109281" y="159244"/>
                  <a:pt x="109281" y="165945"/>
                </a:cubicBezTo>
                <a:close/>
                <a:moveTo>
                  <a:pt x="149756" y="178088"/>
                </a:moveTo>
                <a:cubicBezTo>
                  <a:pt x="143054" y="178088"/>
                  <a:pt x="137613" y="172647"/>
                  <a:pt x="137613" y="165945"/>
                </a:cubicBezTo>
                <a:cubicBezTo>
                  <a:pt x="137613" y="159244"/>
                  <a:pt x="143054" y="153803"/>
                  <a:pt x="149756" y="153803"/>
                </a:cubicBezTo>
                <a:cubicBezTo>
                  <a:pt x="156457" y="153803"/>
                  <a:pt x="161898" y="159244"/>
                  <a:pt x="161898" y="165945"/>
                </a:cubicBezTo>
                <a:cubicBezTo>
                  <a:pt x="161898" y="172647"/>
                  <a:pt x="156457" y="178088"/>
                  <a:pt x="149756" y="178088"/>
                </a:cubicBezTo>
                <a:close/>
                <a:moveTo>
                  <a:pt x="32380" y="214515"/>
                </a:moveTo>
                <a:cubicBezTo>
                  <a:pt x="32380" y="207786"/>
                  <a:pt x="37793" y="202373"/>
                  <a:pt x="44522" y="202373"/>
                </a:cubicBezTo>
                <a:lnTo>
                  <a:pt x="101186" y="202373"/>
                </a:lnTo>
                <a:cubicBezTo>
                  <a:pt x="107915" y="202373"/>
                  <a:pt x="113329" y="207786"/>
                  <a:pt x="113329" y="214515"/>
                </a:cubicBezTo>
                <a:cubicBezTo>
                  <a:pt x="113329" y="221244"/>
                  <a:pt x="107915" y="226657"/>
                  <a:pt x="101186" y="226657"/>
                </a:cubicBezTo>
                <a:lnTo>
                  <a:pt x="44522" y="226657"/>
                </a:lnTo>
                <a:cubicBezTo>
                  <a:pt x="37793" y="226657"/>
                  <a:pt x="32380" y="221244"/>
                  <a:pt x="32380" y="214515"/>
                </a:cubicBezTo>
                <a:close/>
                <a:moveTo>
                  <a:pt x="149756" y="202373"/>
                </a:moveTo>
                <a:cubicBezTo>
                  <a:pt x="156485" y="202373"/>
                  <a:pt x="161898" y="207786"/>
                  <a:pt x="161898" y="214515"/>
                </a:cubicBezTo>
                <a:cubicBezTo>
                  <a:pt x="161898" y="221244"/>
                  <a:pt x="156485" y="226657"/>
                  <a:pt x="149756" y="226657"/>
                </a:cubicBezTo>
                <a:cubicBezTo>
                  <a:pt x="143027" y="226657"/>
                  <a:pt x="137613" y="221244"/>
                  <a:pt x="137613" y="214515"/>
                </a:cubicBezTo>
                <a:cubicBezTo>
                  <a:pt x="137613" y="207786"/>
                  <a:pt x="143027" y="202373"/>
                  <a:pt x="149756" y="202373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80023" y="1243377"/>
            <a:ext cx="10793201" cy="224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8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为了量化 Prefix Caching 的加速效果,建立如下简化模型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9700" y="1783037"/>
            <a:ext cx="5672907" cy="2391773"/>
          </a:xfrm>
          <a:custGeom>
            <a:avLst/>
            <a:gdLst/>
            <a:ahLst/>
            <a:cxnLst/>
            <a:rect l="l" t="t" r="r" b="b"/>
            <a:pathLst>
              <a:path w="5672907" h="2391773">
                <a:moveTo>
                  <a:pt x="69074" y="0"/>
                </a:moveTo>
                <a:lnTo>
                  <a:pt x="5603832" y="0"/>
                </a:lnTo>
                <a:cubicBezTo>
                  <a:pt x="5641981" y="0"/>
                  <a:pt x="5672907" y="30926"/>
                  <a:pt x="5672907" y="69074"/>
                </a:cubicBezTo>
                <a:lnTo>
                  <a:pt x="5672907" y="2322699"/>
                </a:lnTo>
                <a:cubicBezTo>
                  <a:pt x="5672907" y="2360848"/>
                  <a:pt x="5641981" y="2391773"/>
                  <a:pt x="5603832" y="2391773"/>
                </a:cubicBezTo>
                <a:lnTo>
                  <a:pt x="69074" y="2391773"/>
                </a:lnTo>
                <a:cubicBezTo>
                  <a:pt x="30926" y="2391773"/>
                  <a:pt x="0" y="2360848"/>
                  <a:pt x="0" y="2322699"/>
                </a:cubicBezTo>
                <a:lnTo>
                  <a:pt x="0" y="69074"/>
                </a:lnTo>
                <a:cubicBezTo>
                  <a:pt x="0" y="30926"/>
                  <a:pt x="30926" y="0"/>
                  <a:pt x="69074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3756" y="1960045"/>
            <a:ext cx="172691" cy="172691"/>
          </a:xfrm>
          <a:custGeom>
            <a:avLst/>
            <a:gdLst/>
            <a:ahLst/>
            <a:cxnLst/>
            <a:rect l="l" t="t" r="r" b="b"/>
            <a:pathLst>
              <a:path w="172691" h="172691">
                <a:moveTo>
                  <a:pt x="22227" y="77070"/>
                </a:moveTo>
                <a:cubicBezTo>
                  <a:pt x="26713" y="45702"/>
                  <a:pt x="53730" y="21586"/>
                  <a:pt x="86346" y="21586"/>
                </a:cubicBezTo>
                <a:cubicBezTo>
                  <a:pt x="104222" y="21586"/>
                  <a:pt x="120412" y="28838"/>
                  <a:pt x="132149" y="40542"/>
                </a:cubicBezTo>
                <a:cubicBezTo>
                  <a:pt x="132217" y="40609"/>
                  <a:pt x="132284" y="40677"/>
                  <a:pt x="132352" y="40744"/>
                </a:cubicBezTo>
                <a:lnTo>
                  <a:pt x="134915" y="43173"/>
                </a:lnTo>
                <a:lnTo>
                  <a:pt x="118759" y="43173"/>
                </a:lnTo>
                <a:cubicBezTo>
                  <a:pt x="112789" y="43173"/>
                  <a:pt x="107966" y="47996"/>
                  <a:pt x="107966" y="53966"/>
                </a:cubicBezTo>
                <a:cubicBezTo>
                  <a:pt x="107966" y="59936"/>
                  <a:pt x="112789" y="64759"/>
                  <a:pt x="118759" y="64759"/>
                </a:cubicBezTo>
                <a:lnTo>
                  <a:pt x="161932" y="64759"/>
                </a:lnTo>
                <a:cubicBezTo>
                  <a:pt x="167902" y="64759"/>
                  <a:pt x="172725" y="59936"/>
                  <a:pt x="172725" y="53966"/>
                </a:cubicBezTo>
                <a:lnTo>
                  <a:pt x="172725" y="10793"/>
                </a:lnTo>
                <a:cubicBezTo>
                  <a:pt x="172725" y="4823"/>
                  <a:pt x="167902" y="0"/>
                  <a:pt x="161932" y="0"/>
                </a:cubicBezTo>
                <a:cubicBezTo>
                  <a:pt x="155962" y="0"/>
                  <a:pt x="151139" y="4823"/>
                  <a:pt x="151139" y="10793"/>
                </a:cubicBezTo>
                <a:lnTo>
                  <a:pt x="151139" y="28804"/>
                </a:lnTo>
                <a:lnTo>
                  <a:pt x="147327" y="25195"/>
                </a:lnTo>
                <a:cubicBezTo>
                  <a:pt x="131711" y="9646"/>
                  <a:pt x="110124" y="0"/>
                  <a:pt x="86346" y="0"/>
                </a:cubicBezTo>
                <a:cubicBezTo>
                  <a:pt x="42836" y="0"/>
                  <a:pt x="6847" y="32177"/>
                  <a:pt x="877" y="74035"/>
                </a:cubicBezTo>
                <a:cubicBezTo>
                  <a:pt x="34" y="79937"/>
                  <a:pt x="4115" y="85401"/>
                  <a:pt x="10017" y="86244"/>
                </a:cubicBezTo>
                <a:cubicBezTo>
                  <a:pt x="15920" y="87088"/>
                  <a:pt x="21384" y="82973"/>
                  <a:pt x="22227" y="77104"/>
                </a:cubicBezTo>
                <a:close/>
                <a:moveTo>
                  <a:pt x="171814" y="98657"/>
                </a:moveTo>
                <a:cubicBezTo>
                  <a:pt x="172657" y="92754"/>
                  <a:pt x="168543" y="87290"/>
                  <a:pt x="162674" y="86447"/>
                </a:cubicBezTo>
                <a:cubicBezTo>
                  <a:pt x="156805" y="85604"/>
                  <a:pt x="151307" y="89718"/>
                  <a:pt x="150464" y="95587"/>
                </a:cubicBezTo>
                <a:cubicBezTo>
                  <a:pt x="145978" y="126955"/>
                  <a:pt x="118961" y="151071"/>
                  <a:pt x="86346" y="151071"/>
                </a:cubicBezTo>
                <a:cubicBezTo>
                  <a:pt x="68469" y="151071"/>
                  <a:pt x="52280" y="143819"/>
                  <a:pt x="40542" y="132116"/>
                </a:cubicBezTo>
                <a:cubicBezTo>
                  <a:pt x="40475" y="132048"/>
                  <a:pt x="40407" y="131981"/>
                  <a:pt x="40340" y="131913"/>
                </a:cubicBezTo>
                <a:lnTo>
                  <a:pt x="37776" y="129485"/>
                </a:lnTo>
                <a:lnTo>
                  <a:pt x="53932" y="129485"/>
                </a:lnTo>
                <a:cubicBezTo>
                  <a:pt x="59902" y="129485"/>
                  <a:pt x="64725" y="124661"/>
                  <a:pt x="64725" y="118691"/>
                </a:cubicBezTo>
                <a:cubicBezTo>
                  <a:pt x="64725" y="112721"/>
                  <a:pt x="59902" y="107898"/>
                  <a:pt x="53932" y="107898"/>
                </a:cubicBezTo>
                <a:lnTo>
                  <a:pt x="10793" y="107932"/>
                </a:lnTo>
                <a:cubicBezTo>
                  <a:pt x="7926" y="107932"/>
                  <a:pt x="5160" y="109079"/>
                  <a:pt x="3137" y="111136"/>
                </a:cubicBezTo>
                <a:cubicBezTo>
                  <a:pt x="1113" y="113194"/>
                  <a:pt x="-34" y="115926"/>
                  <a:pt x="0" y="118826"/>
                </a:cubicBezTo>
                <a:lnTo>
                  <a:pt x="337" y="161662"/>
                </a:lnTo>
                <a:cubicBezTo>
                  <a:pt x="371" y="167632"/>
                  <a:pt x="5262" y="172421"/>
                  <a:pt x="11232" y="172354"/>
                </a:cubicBezTo>
                <a:cubicBezTo>
                  <a:pt x="17202" y="172286"/>
                  <a:pt x="21991" y="167430"/>
                  <a:pt x="21924" y="161460"/>
                </a:cubicBezTo>
                <a:lnTo>
                  <a:pt x="21789" y="144089"/>
                </a:lnTo>
                <a:lnTo>
                  <a:pt x="25398" y="147496"/>
                </a:lnTo>
                <a:cubicBezTo>
                  <a:pt x="41014" y="163045"/>
                  <a:pt x="62567" y="172691"/>
                  <a:pt x="86346" y="172691"/>
                </a:cubicBezTo>
                <a:cubicBezTo>
                  <a:pt x="129856" y="172691"/>
                  <a:pt x="165844" y="140514"/>
                  <a:pt x="171814" y="98657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1649" y="1925507"/>
            <a:ext cx="777110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假设条件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2170" y="2270890"/>
            <a:ext cx="5387966" cy="483535"/>
          </a:xfrm>
          <a:custGeom>
            <a:avLst/>
            <a:gdLst/>
            <a:ahLst/>
            <a:cxnLst/>
            <a:rect l="l" t="t" r="r" b="b"/>
            <a:pathLst>
              <a:path w="5387966" h="483535">
                <a:moveTo>
                  <a:pt x="69078" y="0"/>
                </a:moveTo>
                <a:lnTo>
                  <a:pt x="5318888" y="0"/>
                </a:lnTo>
                <a:cubicBezTo>
                  <a:pt x="5357039" y="0"/>
                  <a:pt x="5387966" y="30927"/>
                  <a:pt x="5387966" y="69078"/>
                </a:cubicBezTo>
                <a:lnTo>
                  <a:pt x="5387966" y="414458"/>
                </a:lnTo>
                <a:cubicBezTo>
                  <a:pt x="5387966" y="452608"/>
                  <a:pt x="5357039" y="483535"/>
                  <a:pt x="5318888" y="483535"/>
                </a:cubicBezTo>
                <a:lnTo>
                  <a:pt x="69078" y="483535"/>
                </a:lnTo>
                <a:cubicBezTo>
                  <a:pt x="30927" y="483535"/>
                  <a:pt x="0" y="452608"/>
                  <a:pt x="0" y="414458"/>
                </a:cubicBezTo>
                <a:lnTo>
                  <a:pt x="0" y="69078"/>
                </a:lnTo>
                <a:cubicBezTo>
                  <a:pt x="0" y="30927"/>
                  <a:pt x="30927" y="0"/>
                  <a:pt x="690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95785" y="2391773"/>
            <a:ext cx="1372895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Prompt 长度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5489" y="2374504"/>
            <a:ext cx="725303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 tokens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2170" y="2823501"/>
            <a:ext cx="5387966" cy="483535"/>
          </a:xfrm>
          <a:custGeom>
            <a:avLst/>
            <a:gdLst/>
            <a:ahLst/>
            <a:cxnLst/>
            <a:rect l="l" t="t" r="r" b="b"/>
            <a:pathLst>
              <a:path w="5387966" h="483535">
                <a:moveTo>
                  <a:pt x="69078" y="0"/>
                </a:moveTo>
                <a:lnTo>
                  <a:pt x="5318888" y="0"/>
                </a:lnTo>
                <a:cubicBezTo>
                  <a:pt x="5357039" y="0"/>
                  <a:pt x="5387966" y="30927"/>
                  <a:pt x="5387966" y="69078"/>
                </a:cubicBezTo>
                <a:lnTo>
                  <a:pt x="5387966" y="414458"/>
                </a:lnTo>
                <a:cubicBezTo>
                  <a:pt x="5387966" y="452608"/>
                  <a:pt x="5357039" y="483535"/>
                  <a:pt x="5318888" y="483535"/>
                </a:cubicBezTo>
                <a:lnTo>
                  <a:pt x="69078" y="483535"/>
                </a:lnTo>
                <a:cubicBezTo>
                  <a:pt x="30927" y="483535"/>
                  <a:pt x="0" y="452608"/>
                  <a:pt x="0" y="414458"/>
                </a:cubicBezTo>
                <a:lnTo>
                  <a:pt x="0" y="69078"/>
                </a:lnTo>
                <a:cubicBezTo>
                  <a:pt x="0" y="30927"/>
                  <a:pt x="30927" y="0"/>
                  <a:pt x="690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95785" y="2944385"/>
            <a:ext cx="1096589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 Query 长度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06871" y="2927116"/>
            <a:ext cx="742572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 tokens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2170" y="3376113"/>
            <a:ext cx="5387966" cy="656227"/>
          </a:xfrm>
          <a:custGeom>
            <a:avLst/>
            <a:gdLst/>
            <a:ahLst/>
            <a:cxnLst/>
            <a:rect l="l" t="t" r="r" b="b"/>
            <a:pathLst>
              <a:path w="5387966" h="656227">
                <a:moveTo>
                  <a:pt x="69074" y="0"/>
                </a:moveTo>
                <a:lnTo>
                  <a:pt x="5318892" y="0"/>
                </a:lnTo>
                <a:cubicBezTo>
                  <a:pt x="5357040" y="0"/>
                  <a:pt x="5387966" y="30926"/>
                  <a:pt x="5387966" y="69074"/>
                </a:cubicBezTo>
                <a:lnTo>
                  <a:pt x="5387966" y="587152"/>
                </a:lnTo>
                <a:cubicBezTo>
                  <a:pt x="5387966" y="625301"/>
                  <a:pt x="5357040" y="656227"/>
                  <a:pt x="5318892" y="656227"/>
                </a:cubicBezTo>
                <a:lnTo>
                  <a:pt x="69074" y="656227"/>
                </a:lnTo>
                <a:cubicBezTo>
                  <a:pt x="30926" y="656227"/>
                  <a:pt x="0" y="625301"/>
                  <a:pt x="0" y="587152"/>
                </a:cubicBezTo>
                <a:lnTo>
                  <a:pt x="0" y="69074"/>
                </a:lnTo>
                <a:cubicBezTo>
                  <a:pt x="0" y="30951"/>
                  <a:pt x="30951" y="0"/>
                  <a:pt x="6907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95785" y="3496997"/>
            <a:ext cx="897994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Prefill 复杂度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59094" y="3479728"/>
            <a:ext cx="492170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O(N²)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5785" y="3756034"/>
            <a:ext cx="524117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其中 N = P + Q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7438" y="1783037"/>
            <a:ext cx="5672907" cy="2391773"/>
          </a:xfrm>
          <a:custGeom>
            <a:avLst/>
            <a:gdLst/>
            <a:ahLst/>
            <a:cxnLst/>
            <a:rect l="l" t="t" r="r" b="b"/>
            <a:pathLst>
              <a:path w="5672907" h="2391773">
                <a:moveTo>
                  <a:pt x="69074" y="0"/>
                </a:moveTo>
                <a:lnTo>
                  <a:pt x="5603832" y="0"/>
                </a:lnTo>
                <a:cubicBezTo>
                  <a:pt x="5641981" y="0"/>
                  <a:pt x="5672907" y="30926"/>
                  <a:pt x="5672907" y="69074"/>
                </a:cubicBezTo>
                <a:lnTo>
                  <a:pt x="5672907" y="2322699"/>
                </a:lnTo>
                <a:cubicBezTo>
                  <a:pt x="5672907" y="2360848"/>
                  <a:pt x="5641981" y="2391773"/>
                  <a:pt x="5603832" y="2391773"/>
                </a:cubicBezTo>
                <a:lnTo>
                  <a:pt x="69074" y="2391773"/>
                </a:lnTo>
                <a:cubicBezTo>
                  <a:pt x="30926" y="2391773"/>
                  <a:pt x="0" y="2360848"/>
                  <a:pt x="0" y="2322699"/>
                </a:cubicBezTo>
                <a:lnTo>
                  <a:pt x="0" y="69074"/>
                </a:lnTo>
                <a:cubicBezTo>
                  <a:pt x="0" y="30926"/>
                  <a:pt x="30926" y="0"/>
                  <a:pt x="69074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331494" y="1960045"/>
            <a:ext cx="172691" cy="172691"/>
          </a:xfrm>
          <a:custGeom>
            <a:avLst/>
            <a:gdLst/>
            <a:ahLst/>
            <a:cxnLst/>
            <a:rect l="l" t="t" r="r" b="b"/>
            <a:pathLst>
              <a:path w="172691" h="172691">
                <a:moveTo>
                  <a:pt x="21586" y="21586"/>
                </a:moveTo>
                <a:cubicBezTo>
                  <a:pt x="21586" y="15616"/>
                  <a:pt x="16763" y="10793"/>
                  <a:pt x="10793" y="10793"/>
                </a:cubicBezTo>
                <a:cubicBezTo>
                  <a:pt x="4823" y="10793"/>
                  <a:pt x="0" y="15616"/>
                  <a:pt x="0" y="21586"/>
                </a:cubicBezTo>
                <a:lnTo>
                  <a:pt x="0" y="134915"/>
                </a:lnTo>
                <a:cubicBezTo>
                  <a:pt x="0" y="149823"/>
                  <a:pt x="12075" y="161898"/>
                  <a:pt x="26983" y="161898"/>
                </a:cubicBezTo>
                <a:lnTo>
                  <a:pt x="161898" y="161898"/>
                </a:lnTo>
                <a:cubicBezTo>
                  <a:pt x="167868" y="161898"/>
                  <a:pt x="172691" y="157075"/>
                  <a:pt x="172691" y="151105"/>
                </a:cubicBezTo>
                <a:cubicBezTo>
                  <a:pt x="172691" y="145135"/>
                  <a:pt x="167868" y="140312"/>
                  <a:pt x="161898" y="140312"/>
                </a:cubicBezTo>
                <a:lnTo>
                  <a:pt x="26983" y="140312"/>
                </a:lnTo>
                <a:cubicBezTo>
                  <a:pt x="24015" y="140312"/>
                  <a:pt x="21586" y="137883"/>
                  <a:pt x="21586" y="134915"/>
                </a:cubicBezTo>
                <a:lnTo>
                  <a:pt x="21586" y="21586"/>
                </a:lnTo>
                <a:close/>
                <a:moveTo>
                  <a:pt x="158728" y="50796"/>
                </a:moveTo>
                <a:cubicBezTo>
                  <a:pt x="162944" y="46579"/>
                  <a:pt x="162944" y="39732"/>
                  <a:pt x="158728" y="35516"/>
                </a:cubicBezTo>
                <a:cubicBezTo>
                  <a:pt x="154511" y="31300"/>
                  <a:pt x="147664" y="31300"/>
                  <a:pt x="143448" y="35516"/>
                </a:cubicBezTo>
                <a:lnTo>
                  <a:pt x="107932" y="71066"/>
                </a:lnTo>
                <a:lnTo>
                  <a:pt x="88572" y="51740"/>
                </a:lnTo>
                <a:cubicBezTo>
                  <a:pt x="84356" y="47524"/>
                  <a:pt x="77509" y="47524"/>
                  <a:pt x="73293" y="51740"/>
                </a:cubicBezTo>
                <a:lnTo>
                  <a:pt x="40913" y="84120"/>
                </a:lnTo>
                <a:cubicBezTo>
                  <a:pt x="36697" y="88336"/>
                  <a:pt x="36697" y="95183"/>
                  <a:pt x="40913" y="99399"/>
                </a:cubicBezTo>
                <a:cubicBezTo>
                  <a:pt x="45129" y="103615"/>
                  <a:pt x="51976" y="103615"/>
                  <a:pt x="56192" y="99399"/>
                </a:cubicBezTo>
                <a:lnTo>
                  <a:pt x="80949" y="74642"/>
                </a:lnTo>
                <a:lnTo>
                  <a:pt x="100309" y="94002"/>
                </a:lnTo>
                <a:cubicBezTo>
                  <a:pt x="104525" y="98218"/>
                  <a:pt x="111372" y="98218"/>
                  <a:pt x="115588" y="94002"/>
                </a:cubicBezTo>
                <a:lnTo>
                  <a:pt x="158761" y="50829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629387" y="1925507"/>
            <a:ext cx="777110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计算对比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908" y="2270890"/>
            <a:ext cx="5387966" cy="794380"/>
          </a:xfrm>
          <a:custGeom>
            <a:avLst/>
            <a:gdLst/>
            <a:ahLst/>
            <a:cxnLst/>
            <a:rect l="l" t="t" r="r" b="b"/>
            <a:pathLst>
              <a:path w="5387966" h="794380">
                <a:moveTo>
                  <a:pt x="69079" y="0"/>
                </a:moveTo>
                <a:lnTo>
                  <a:pt x="5318887" y="0"/>
                </a:lnTo>
                <a:cubicBezTo>
                  <a:pt x="5357038" y="0"/>
                  <a:pt x="5387966" y="30928"/>
                  <a:pt x="5387966" y="69079"/>
                </a:cubicBezTo>
                <a:lnTo>
                  <a:pt x="5387966" y="725300"/>
                </a:lnTo>
                <a:cubicBezTo>
                  <a:pt x="5387966" y="763452"/>
                  <a:pt x="5357038" y="794380"/>
                  <a:pt x="5318887" y="794380"/>
                </a:cubicBezTo>
                <a:lnTo>
                  <a:pt x="69079" y="794380"/>
                </a:lnTo>
                <a:cubicBezTo>
                  <a:pt x="30928" y="794380"/>
                  <a:pt x="0" y="763452"/>
                  <a:pt x="0" y="725300"/>
                </a:cubicBezTo>
                <a:lnTo>
                  <a:pt x="0" y="69079"/>
                </a:lnTo>
                <a:cubicBezTo>
                  <a:pt x="0" y="30953"/>
                  <a:pt x="30953" y="0"/>
                  <a:pt x="6907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13522" y="2374504"/>
            <a:ext cx="5249813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 Prefix Caching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3522" y="2616272"/>
            <a:ext cx="524117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= ½(P + Q)² ≈ ½P²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13522" y="2823501"/>
            <a:ext cx="5232544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(当 P » Q)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9908" y="3134346"/>
            <a:ext cx="5387966" cy="794380"/>
          </a:xfrm>
          <a:custGeom>
            <a:avLst/>
            <a:gdLst/>
            <a:ahLst/>
            <a:cxnLst/>
            <a:rect l="l" t="t" r="r" b="b"/>
            <a:pathLst>
              <a:path w="5387966" h="794380">
                <a:moveTo>
                  <a:pt x="69079" y="0"/>
                </a:moveTo>
                <a:lnTo>
                  <a:pt x="5318887" y="0"/>
                </a:lnTo>
                <a:cubicBezTo>
                  <a:pt x="5357038" y="0"/>
                  <a:pt x="5387966" y="30928"/>
                  <a:pt x="5387966" y="69079"/>
                </a:cubicBezTo>
                <a:lnTo>
                  <a:pt x="5387966" y="725300"/>
                </a:lnTo>
                <a:cubicBezTo>
                  <a:pt x="5387966" y="763452"/>
                  <a:pt x="5357038" y="794380"/>
                  <a:pt x="5318887" y="794380"/>
                </a:cubicBezTo>
                <a:lnTo>
                  <a:pt x="69079" y="794380"/>
                </a:lnTo>
                <a:cubicBezTo>
                  <a:pt x="30928" y="794380"/>
                  <a:pt x="0" y="763452"/>
                  <a:pt x="0" y="725300"/>
                </a:cubicBezTo>
                <a:lnTo>
                  <a:pt x="0" y="69079"/>
                </a:lnTo>
                <a:cubicBezTo>
                  <a:pt x="0" y="30953"/>
                  <a:pt x="30953" y="0"/>
                  <a:pt x="6907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13522" y="3237960"/>
            <a:ext cx="5249813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 Prefix Caching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3522" y="3479728"/>
            <a:ext cx="524117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8E8E9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= Q·P + ½Q² ≈ Q(P + 0.5Q)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13522" y="3686958"/>
            <a:ext cx="5232544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(当 P » Q)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9700" y="4321598"/>
            <a:ext cx="11492601" cy="2184544"/>
          </a:xfrm>
          <a:custGeom>
            <a:avLst/>
            <a:gdLst/>
            <a:ahLst/>
            <a:cxnLst/>
            <a:rect l="l" t="t" r="r" b="b"/>
            <a:pathLst>
              <a:path w="11492601" h="2184544">
                <a:moveTo>
                  <a:pt x="69075" y="0"/>
                </a:moveTo>
                <a:lnTo>
                  <a:pt x="11423525" y="0"/>
                </a:lnTo>
                <a:cubicBezTo>
                  <a:pt x="11461675" y="0"/>
                  <a:pt x="11492601" y="30926"/>
                  <a:pt x="11492601" y="69075"/>
                </a:cubicBezTo>
                <a:lnTo>
                  <a:pt x="11492601" y="2115469"/>
                </a:lnTo>
                <a:cubicBezTo>
                  <a:pt x="11492601" y="2153618"/>
                  <a:pt x="11461675" y="2184544"/>
                  <a:pt x="11423525" y="2184544"/>
                </a:cubicBezTo>
                <a:lnTo>
                  <a:pt x="69075" y="2184544"/>
                </a:lnTo>
                <a:cubicBezTo>
                  <a:pt x="30926" y="2184544"/>
                  <a:pt x="0" y="2153618"/>
                  <a:pt x="0" y="2115469"/>
                </a:cubicBezTo>
                <a:lnTo>
                  <a:pt x="0" y="69075"/>
                </a:lnTo>
                <a:cubicBezTo>
                  <a:pt x="0" y="30952"/>
                  <a:pt x="30952" y="0"/>
                  <a:pt x="69075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6">
                  <a:alpha val="20000"/>
                </a:srgbClr>
              </a:gs>
              <a:gs pos="100000">
                <a:srgbClr val="D9A467">
                  <a:alpha val="20000"/>
                </a:srgbClr>
              </a:gs>
            </a:gsLst>
            <a:lin ang="0" scaled="1"/>
          </a:gradFill>
          <a:ln w="12700">
            <a:solidFill>
              <a:srgbClr val="5C7A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35343" y="4507241"/>
            <a:ext cx="466266" cy="466266"/>
          </a:xfrm>
          <a:custGeom>
            <a:avLst/>
            <a:gdLst/>
            <a:ahLst/>
            <a:cxnLst/>
            <a:rect l="l" t="t" r="r" b="b"/>
            <a:pathLst>
              <a:path w="466266" h="466266">
                <a:moveTo>
                  <a:pt x="233133" y="0"/>
                </a:moveTo>
                <a:lnTo>
                  <a:pt x="233133" y="0"/>
                </a:lnTo>
                <a:cubicBezTo>
                  <a:pt x="361889" y="0"/>
                  <a:pt x="466266" y="104377"/>
                  <a:pt x="466266" y="233133"/>
                </a:cubicBezTo>
                <a:lnTo>
                  <a:pt x="466266" y="233133"/>
                </a:lnTo>
                <a:cubicBezTo>
                  <a:pt x="466266" y="361889"/>
                  <a:pt x="361889" y="466266"/>
                  <a:pt x="233133" y="466266"/>
                </a:cubicBezTo>
                <a:lnTo>
                  <a:pt x="233133" y="466266"/>
                </a:lnTo>
                <a:cubicBezTo>
                  <a:pt x="104377" y="466266"/>
                  <a:pt x="0" y="361889"/>
                  <a:pt x="0" y="233133"/>
                </a:cubicBezTo>
                <a:lnTo>
                  <a:pt x="0" y="233133"/>
                </a:lnTo>
                <a:cubicBezTo>
                  <a:pt x="0" y="104377"/>
                  <a:pt x="104377" y="0"/>
                  <a:pt x="233133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 w="25400">
            <a:solidFill>
              <a:srgbClr val="D9A4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64861" y="4636759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51807" y="129518"/>
                </a:moveTo>
                <a:lnTo>
                  <a:pt x="9916" y="129518"/>
                </a:lnTo>
                <a:cubicBezTo>
                  <a:pt x="-162" y="129518"/>
                  <a:pt x="-6354" y="118550"/>
                  <a:pt x="-1174" y="109888"/>
                </a:cubicBezTo>
                <a:lnTo>
                  <a:pt x="20237" y="74190"/>
                </a:lnTo>
                <a:cubicBezTo>
                  <a:pt x="23759" y="68321"/>
                  <a:pt x="30073" y="64759"/>
                  <a:pt x="36913" y="64759"/>
                </a:cubicBezTo>
                <a:lnTo>
                  <a:pt x="75364" y="64759"/>
                </a:lnTo>
                <a:cubicBezTo>
                  <a:pt x="106165" y="12588"/>
                  <a:pt x="152103" y="9957"/>
                  <a:pt x="182823" y="14449"/>
                </a:cubicBezTo>
                <a:cubicBezTo>
                  <a:pt x="188004" y="15218"/>
                  <a:pt x="192052" y="19266"/>
                  <a:pt x="192780" y="24406"/>
                </a:cubicBezTo>
                <a:cubicBezTo>
                  <a:pt x="197273" y="55126"/>
                  <a:pt x="194642" y="101065"/>
                  <a:pt x="142470" y="131866"/>
                </a:cubicBezTo>
                <a:lnTo>
                  <a:pt x="142470" y="170317"/>
                </a:lnTo>
                <a:cubicBezTo>
                  <a:pt x="142470" y="177157"/>
                  <a:pt x="138908" y="183471"/>
                  <a:pt x="133040" y="186992"/>
                </a:cubicBezTo>
                <a:lnTo>
                  <a:pt x="97341" y="208403"/>
                </a:lnTo>
                <a:cubicBezTo>
                  <a:pt x="88720" y="213584"/>
                  <a:pt x="77711" y="207351"/>
                  <a:pt x="77711" y="197313"/>
                </a:cubicBezTo>
                <a:lnTo>
                  <a:pt x="77711" y="155422"/>
                </a:lnTo>
                <a:cubicBezTo>
                  <a:pt x="77711" y="141135"/>
                  <a:pt x="66095" y="129518"/>
                  <a:pt x="51807" y="129518"/>
                </a:cubicBezTo>
                <a:lnTo>
                  <a:pt x="51767" y="129518"/>
                </a:lnTo>
                <a:close/>
                <a:moveTo>
                  <a:pt x="161898" y="64759"/>
                </a:moveTo>
                <a:cubicBezTo>
                  <a:pt x="161898" y="54037"/>
                  <a:pt x="153193" y="45331"/>
                  <a:pt x="142470" y="45331"/>
                </a:cubicBezTo>
                <a:cubicBezTo>
                  <a:pt x="131748" y="45331"/>
                  <a:pt x="123042" y="54037"/>
                  <a:pt x="123042" y="64759"/>
                </a:cubicBezTo>
                <a:cubicBezTo>
                  <a:pt x="123042" y="75482"/>
                  <a:pt x="131748" y="84187"/>
                  <a:pt x="142470" y="84187"/>
                </a:cubicBezTo>
                <a:cubicBezTo>
                  <a:pt x="153193" y="84187"/>
                  <a:pt x="161898" y="75482"/>
                  <a:pt x="161898" y="64759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48397" y="4498606"/>
            <a:ext cx="10603241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加速比计算 (P = 8192, Q = 256)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48397" y="4843989"/>
            <a:ext cx="10516895" cy="759841"/>
          </a:xfrm>
          <a:custGeom>
            <a:avLst/>
            <a:gdLst/>
            <a:ahLst/>
            <a:cxnLst/>
            <a:rect l="l" t="t" r="r" b="b"/>
            <a:pathLst>
              <a:path w="10516895" h="759841">
                <a:moveTo>
                  <a:pt x="69077" y="0"/>
                </a:moveTo>
                <a:lnTo>
                  <a:pt x="10447818" y="0"/>
                </a:lnTo>
                <a:cubicBezTo>
                  <a:pt x="10485968" y="0"/>
                  <a:pt x="10516895" y="30927"/>
                  <a:pt x="10516895" y="69077"/>
                </a:cubicBezTo>
                <a:lnTo>
                  <a:pt x="10516895" y="690764"/>
                </a:lnTo>
                <a:cubicBezTo>
                  <a:pt x="10516895" y="728914"/>
                  <a:pt x="10485968" y="759841"/>
                  <a:pt x="10447818" y="759841"/>
                </a:cubicBezTo>
                <a:lnTo>
                  <a:pt x="69077" y="759841"/>
                </a:lnTo>
                <a:cubicBezTo>
                  <a:pt x="30927" y="759841"/>
                  <a:pt x="0" y="728914"/>
                  <a:pt x="0" y="690764"/>
                </a:cubicBezTo>
                <a:lnTo>
                  <a:pt x="0" y="69077"/>
                </a:lnTo>
                <a:cubicBezTo>
                  <a:pt x="0" y="30952"/>
                  <a:pt x="30952" y="0"/>
                  <a:pt x="6907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52011" y="4947603"/>
            <a:ext cx="10378742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Speedup = (P + Q)² / (2Q(P + Q)) = (P + Q) / 2Q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52011" y="5223909"/>
            <a:ext cx="10378742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 8448 / 512 = </a:t>
            </a:r>
            <a:r>
              <a:rPr lang="en-US" sz="1632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16.5×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48397" y="5707445"/>
            <a:ext cx="5206640" cy="621688"/>
          </a:xfrm>
          <a:custGeom>
            <a:avLst/>
            <a:gdLst/>
            <a:ahLst/>
            <a:cxnLst/>
            <a:rect l="l" t="t" r="r" b="b"/>
            <a:pathLst>
              <a:path w="5206640" h="621688">
                <a:moveTo>
                  <a:pt x="69076" y="0"/>
                </a:moveTo>
                <a:lnTo>
                  <a:pt x="5137564" y="0"/>
                </a:lnTo>
                <a:cubicBezTo>
                  <a:pt x="5175714" y="0"/>
                  <a:pt x="5206640" y="30926"/>
                  <a:pt x="5206640" y="69076"/>
                </a:cubicBezTo>
                <a:lnTo>
                  <a:pt x="5206640" y="552613"/>
                </a:lnTo>
                <a:cubicBezTo>
                  <a:pt x="5206640" y="590762"/>
                  <a:pt x="5175714" y="621688"/>
                  <a:pt x="5137564" y="621688"/>
                </a:cubicBezTo>
                <a:lnTo>
                  <a:pt x="69076" y="621688"/>
                </a:lnTo>
                <a:cubicBezTo>
                  <a:pt x="30952" y="621688"/>
                  <a:pt x="0" y="590737"/>
                  <a:pt x="0" y="552613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252011" y="5811059"/>
            <a:ext cx="5059853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直观理解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52011" y="6018289"/>
            <a:ext cx="5068487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加速比 ≈ 总长度 / (2 × 用户输入长度)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56695" y="5707445"/>
            <a:ext cx="5206640" cy="621688"/>
          </a:xfrm>
          <a:custGeom>
            <a:avLst/>
            <a:gdLst/>
            <a:ahLst/>
            <a:cxnLst/>
            <a:rect l="l" t="t" r="r" b="b"/>
            <a:pathLst>
              <a:path w="5206640" h="621688">
                <a:moveTo>
                  <a:pt x="69076" y="0"/>
                </a:moveTo>
                <a:lnTo>
                  <a:pt x="5137564" y="0"/>
                </a:lnTo>
                <a:cubicBezTo>
                  <a:pt x="5175714" y="0"/>
                  <a:pt x="5206640" y="30926"/>
                  <a:pt x="5206640" y="69076"/>
                </a:cubicBezTo>
                <a:lnTo>
                  <a:pt x="5206640" y="552613"/>
                </a:lnTo>
                <a:cubicBezTo>
                  <a:pt x="5206640" y="590762"/>
                  <a:pt x="5175714" y="621688"/>
                  <a:pt x="5137564" y="621688"/>
                </a:cubicBezTo>
                <a:lnTo>
                  <a:pt x="69076" y="621688"/>
                </a:lnTo>
                <a:cubicBezTo>
                  <a:pt x="30952" y="621688"/>
                  <a:pt x="0" y="590737"/>
                  <a:pt x="0" y="552613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560310" y="5811059"/>
            <a:ext cx="5059853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线性增长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60310" y="6018289"/>
            <a:ext cx="5068487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随前缀长度线性增长,前缀越长收益越大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BENCHMARK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实测性能数据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11410950" cy="590550"/>
          </a:xfrm>
          <a:custGeom>
            <a:avLst/>
            <a:gdLst/>
            <a:ahLst/>
            <a:cxnLst/>
            <a:rect l="l" t="t" r="r" b="b"/>
            <a:pathLst>
              <a:path w="11410950" h="590550">
                <a:moveTo>
                  <a:pt x="38100" y="0"/>
                </a:moveTo>
                <a:lnTo>
                  <a:pt x="11334751" y="0"/>
                </a:lnTo>
                <a:cubicBezTo>
                  <a:pt x="11376835" y="0"/>
                  <a:pt x="11410950" y="34115"/>
                  <a:pt x="11410950" y="76199"/>
                </a:cubicBezTo>
                <a:lnTo>
                  <a:pt x="11410950" y="514351"/>
                </a:lnTo>
                <a:cubicBezTo>
                  <a:pt x="11410950" y="556435"/>
                  <a:pt x="11376835" y="590550"/>
                  <a:pt x="11334751" y="590550"/>
                </a:cubicBez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590550"/>
          </a:xfrm>
          <a:custGeom>
            <a:avLst/>
            <a:gdLst/>
            <a:ahLst/>
            <a:cxnLst/>
            <a:rect l="l" t="t" r="r" b="b"/>
            <a:pathLst>
              <a:path w="38100" h="590550">
                <a:moveTo>
                  <a:pt x="38100" y="0"/>
                </a:moveTo>
                <a:lnTo>
                  <a:pt x="38100" y="0"/>
                </a:lnTo>
                <a:lnTo>
                  <a:pt x="38100" y="590550"/>
                </a:ln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09600" y="1371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81088" y="1371600"/>
            <a:ext cx="10658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 LMCache 官方文档的基准测试数据,在典型场景下的性能提升如下(测试基于 </a:t>
            </a:r>
            <a:r>
              <a:rPr lang="en-US" sz="1200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Llama-2-7B 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模型,单 </a:t>
            </a:r>
            <a:r>
              <a:rPr lang="en-US" sz="1200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A100 GPU 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环境)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1966912"/>
            <a:ext cx="3695700" cy="2714625"/>
          </a:xfrm>
          <a:custGeom>
            <a:avLst/>
            <a:gdLst/>
            <a:ahLst/>
            <a:cxnLst/>
            <a:rect l="l" t="t" r="r" b="b"/>
            <a:pathLst>
              <a:path w="3695700" h="271462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2638425"/>
                </a:lnTo>
                <a:cubicBezTo>
                  <a:pt x="3695700" y="2680509"/>
                  <a:pt x="3661584" y="2714625"/>
                  <a:pt x="3619500" y="2714625"/>
                </a:cubicBezTo>
                <a:lnTo>
                  <a:pt x="76200" y="2714625"/>
                </a:lnTo>
                <a:cubicBezTo>
                  <a:pt x="34116" y="2714625"/>
                  <a:pt x="0" y="2680509"/>
                  <a:pt x="0" y="2638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42925" y="2124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64369" y="22574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14425" y="22193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多轮对话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69557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57225" y="28289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前缀长度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2796" y="2809875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334327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7225" y="3476625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TTFT 降低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50902" y="345757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60-80%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2925" y="399097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57225" y="412432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吞吐量提升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53991" y="4105275"/>
            <a:ext cx="55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2-3×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46513" y="1966912"/>
            <a:ext cx="3695700" cy="2714625"/>
          </a:xfrm>
          <a:custGeom>
            <a:avLst/>
            <a:gdLst/>
            <a:ahLst/>
            <a:cxnLst/>
            <a:rect l="l" t="t" r="r" b="b"/>
            <a:pathLst>
              <a:path w="3695700" h="271462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2638425"/>
                </a:lnTo>
                <a:cubicBezTo>
                  <a:pt x="3695700" y="2680509"/>
                  <a:pt x="3661584" y="2714625"/>
                  <a:pt x="3619500" y="2714625"/>
                </a:cubicBezTo>
                <a:lnTo>
                  <a:pt x="76200" y="2714625"/>
                </a:lnTo>
                <a:cubicBezTo>
                  <a:pt x="34116" y="2714625"/>
                  <a:pt x="0" y="2680509"/>
                  <a:pt x="0" y="2638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403675" y="2124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548932" y="22574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975175" y="2219325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应用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03675" y="269557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517975" y="28289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前缀长度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23621" y="2809875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03675" y="334327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517975" y="3476625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TTFT 降低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20657" y="3457575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70-85%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03675" y="399097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517975" y="412432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吞吐量提升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14815" y="4105275"/>
            <a:ext cx="55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3-5×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7338" y="1966912"/>
            <a:ext cx="3695700" cy="2714625"/>
          </a:xfrm>
          <a:custGeom>
            <a:avLst/>
            <a:gdLst/>
            <a:ahLst/>
            <a:cxnLst/>
            <a:rect l="l" t="t" r="r" b="b"/>
            <a:pathLst>
              <a:path w="3695700" h="271462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2638425"/>
                </a:lnTo>
                <a:cubicBezTo>
                  <a:pt x="3695700" y="2680509"/>
                  <a:pt x="3661584" y="2714625"/>
                  <a:pt x="3619500" y="2714625"/>
                </a:cubicBezTo>
                <a:lnTo>
                  <a:pt x="76200" y="2714625"/>
                </a:lnTo>
                <a:cubicBezTo>
                  <a:pt x="34116" y="2714625"/>
                  <a:pt x="0" y="2680509"/>
                  <a:pt x="0" y="2638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E8E93">
              <a:alpha val="10196"/>
            </a:srgbClr>
          </a:solidFill>
          <a:ln w="12700">
            <a:solidFill>
              <a:srgbClr val="8E8E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64500" y="2124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E8E9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421663" y="22574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8E8E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836000" y="221932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长文档处理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64500" y="269557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378800" y="28289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前缀长度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169179" y="2809875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8K+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64500" y="334327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378800" y="3476625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TTFT 降低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772552" y="345757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80-95%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64500" y="399097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457198"/>
                </a:lnTo>
                <a:cubicBezTo>
                  <a:pt x="3381375" y="499283"/>
                  <a:pt x="3347258" y="533400"/>
                  <a:pt x="33051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378800" y="412432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吞吐量提升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997505" y="4105275"/>
            <a:ext cx="62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5-10×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5763" y="4843463"/>
            <a:ext cx="11420475" cy="1381125"/>
          </a:xfrm>
          <a:custGeom>
            <a:avLst/>
            <a:gdLst/>
            <a:ahLst/>
            <a:cxnLst/>
            <a:rect l="l" t="t" r="r" b="b"/>
            <a:pathLst>
              <a:path w="11420475" h="1381125">
                <a:moveTo>
                  <a:pt x="76197" y="0"/>
                </a:moveTo>
                <a:lnTo>
                  <a:pt x="11344278" y="0"/>
                </a:lnTo>
                <a:cubicBezTo>
                  <a:pt x="11386361" y="0"/>
                  <a:pt x="11420475" y="34114"/>
                  <a:pt x="11420475" y="76197"/>
                </a:cubicBezTo>
                <a:lnTo>
                  <a:pt x="11420475" y="1304928"/>
                </a:lnTo>
                <a:cubicBezTo>
                  <a:pt x="11420475" y="1347011"/>
                  <a:pt x="11386361" y="1381125"/>
                  <a:pt x="113442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590550" y="50387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95350" y="50006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42925" y="5381625"/>
            <a:ext cx="3600450" cy="685800"/>
          </a:xfrm>
          <a:custGeom>
            <a:avLst/>
            <a:gdLst/>
            <a:ahLst/>
            <a:cxnLst/>
            <a:rect l="l" t="t" r="r" b="b"/>
            <a:pathLst>
              <a:path w="3600450" h="685800">
                <a:moveTo>
                  <a:pt x="76199" y="0"/>
                </a:moveTo>
                <a:lnTo>
                  <a:pt x="3524251" y="0"/>
                </a:lnTo>
                <a:cubicBezTo>
                  <a:pt x="3566334" y="0"/>
                  <a:pt x="3600450" y="34116"/>
                  <a:pt x="3600450" y="76199"/>
                </a:cubicBezTo>
                <a:lnTo>
                  <a:pt x="3600450" y="609601"/>
                </a:lnTo>
                <a:cubicBezTo>
                  <a:pt x="3600450" y="651684"/>
                  <a:pt x="3566334" y="685800"/>
                  <a:pt x="35242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57225" y="5495925"/>
            <a:ext cx="344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前缀越长,收益越大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7225" y="5762625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8K+ tokens 场景可获得 5-10 倍吞吐量提升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295775" y="5381625"/>
            <a:ext cx="3600450" cy="685800"/>
          </a:xfrm>
          <a:custGeom>
            <a:avLst/>
            <a:gdLst/>
            <a:ahLst/>
            <a:cxnLst/>
            <a:rect l="l" t="t" r="r" b="b"/>
            <a:pathLst>
              <a:path w="3600450" h="685800">
                <a:moveTo>
                  <a:pt x="76199" y="0"/>
                </a:moveTo>
                <a:lnTo>
                  <a:pt x="3524251" y="0"/>
                </a:lnTo>
                <a:cubicBezTo>
                  <a:pt x="3566334" y="0"/>
                  <a:pt x="3600450" y="34116"/>
                  <a:pt x="3600450" y="76199"/>
                </a:cubicBezTo>
                <a:lnTo>
                  <a:pt x="3600450" y="609601"/>
                </a:lnTo>
                <a:cubicBezTo>
                  <a:pt x="3600450" y="651684"/>
                  <a:pt x="3566334" y="685800"/>
                  <a:pt x="35242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4410075" y="5495925"/>
            <a:ext cx="344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TTFT 显著降低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410075" y="5762625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用户体验改善明显,首 token 延迟降低 60%-95%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048625" y="5381625"/>
            <a:ext cx="3600450" cy="685800"/>
          </a:xfrm>
          <a:custGeom>
            <a:avLst/>
            <a:gdLst/>
            <a:ahLst/>
            <a:cxnLst/>
            <a:rect l="l" t="t" r="r" b="b"/>
            <a:pathLst>
              <a:path w="3600450" h="685800">
                <a:moveTo>
                  <a:pt x="76199" y="0"/>
                </a:moveTo>
                <a:lnTo>
                  <a:pt x="3524251" y="0"/>
                </a:lnTo>
                <a:cubicBezTo>
                  <a:pt x="3566334" y="0"/>
                  <a:pt x="3600450" y="34116"/>
                  <a:pt x="3600450" y="76199"/>
                </a:cubicBezTo>
                <a:lnTo>
                  <a:pt x="3600450" y="609601"/>
                </a:lnTo>
                <a:cubicBezTo>
                  <a:pt x="3600450" y="651684"/>
                  <a:pt x="3566334" y="685800"/>
                  <a:pt x="35242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162925" y="5495925"/>
            <a:ext cx="344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适用场景广泛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162925" y="5762625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多轮对话、RAG、长文档等场景均有显著收益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最佳实践建议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3695700" cy="3305175"/>
          </a:xfrm>
          <a:custGeom>
            <a:avLst/>
            <a:gdLst/>
            <a:ahLst/>
            <a:cxnLst/>
            <a:rect l="l" t="t" r="r" b="b"/>
            <a:pathLst>
              <a:path w="3695700" h="3305175">
                <a:moveTo>
                  <a:pt x="76184" y="0"/>
                </a:moveTo>
                <a:lnTo>
                  <a:pt x="3619516" y="0"/>
                </a:lnTo>
                <a:cubicBezTo>
                  <a:pt x="3661563" y="0"/>
                  <a:pt x="3695700" y="34137"/>
                  <a:pt x="3695700" y="76184"/>
                </a:cubicBezTo>
                <a:lnTo>
                  <a:pt x="3695700" y="3228991"/>
                </a:lnTo>
                <a:cubicBezTo>
                  <a:pt x="3695700" y="3271066"/>
                  <a:pt x="3661591" y="3305175"/>
                  <a:pt x="3619516" y="3305175"/>
                </a:cubicBezTo>
                <a:lnTo>
                  <a:pt x="76184" y="3305175"/>
                </a:lnTo>
                <a:cubicBezTo>
                  <a:pt x="34137" y="3305175"/>
                  <a:pt x="0" y="3271038"/>
                  <a:pt x="0" y="3228991"/>
                </a:cubicBezTo>
                <a:lnTo>
                  <a:pt x="0" y="76184"/>
                </a:lnTo>
                <a:cubicBezTo>
                  <a:pt x="0" y="34109"/>
                  <a:pt x="34109" y="0"/>
                  <a:pt x="76184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292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7627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95250"/>
                </a:moveTo>
                <a:lnTo>
                  <a:pt x="56741" y="109947"/>
                </a:lnTo>
                <a:cubicBezTo>
                  <a:pt x="52053" y="108124"/>
                  <a:pt x="46992" y="107156"/>
                  <a:pt x="41672" y="107156"/>
                </a:cubicBezTo>
                <a:cubicBezTo>
                  <a:pt x="18641" y="107156"/>
                  <a:pt x="0" y="125797"/>
                  <a:pt x="0" y="148828"/>
                </a:cubicBezTo>
                <a:cubicBezTo>
                  <a:pt x="0" y="171859"/>
                  <a:pt x="18641" y="190500"/>
                  <a:pt x="41672" y="190500"/>
                </a:cubicBezTo>
                <a:cubicBezTo>
                  <a:pt x="64703" y="190500"/>
                  <a:pt x="83344" y="171859"/>
                  <a:pt x="83344" y="148828"/>
                </a:cubicBezTo>
                <a:cubicBezTo>
                  <a:pt x="83344" y="143508"/>
                  <a:pt x="82339" y="138447"/>
                  <a:pt x="80553" y="133759"/>
                </a:cubicBezTo>
                <a:lnTo>
                  <a:pt x="185738" y="28575"/>
                </a:lnTo>
                <a:cubicBezTo>
                  <a:pt x="188379" y="25933"/>
                  <a:pt x="188379" y="21692"/>
                  <a:pt x="185738" y="19050"/>
                </a:cubicBezTo>
                <a:cubicBezTo>
                  <a:pt x="175208" y="8520"/>
                  <a:pt x="158167" y="8520"/>
                  <a:pt x="147637" y="19050"/>
                </a:cubicBezTo>
                <a:lnTo>
                  <a:pt x="95250" y="71438"/>
                </a:lnTo>
                <a:lnTo>
                  <a:pt x="80553" y="56741"/>
                </a:lnTo>
                <a:cubicBezTo>
                  <a:pt x="82376" y="52053"/>
                  <a:pt x="83344" y="46992"/>
                  <a:pt x="83344" y="41672"/>
                </a:cubicBezTo>
                <a:cubicBezTo>
                  <a:pt x="83344" y="18641"/>
                  <a:pt x="64703" y="0"/>
                  <a:pt x="41672" y="0"/>
                </a:cubicBezTo>
                <a:cubicBezTo>
                  <a:pt x="18641" y="0"/>
                  <a:pt x="0" y="18641"/>
                  <a:pt x="0" y="41672"/>
                </a:cubicBezTo>
                <a:cubicBezTo>
                  <a:pt x="0" y="64703"/>
                  <a:pt x="18641" y="83344"/>
                  <a:pt x="41672" y="83344"/>
                </a:cubicBezTo>
                <a:cubicBezTo>
                  <a:pt x="46992" y="83344"/>
                  <a:pt x="52053" y="82339"/>
                  <a:pt x="56741" y="80553"/>
                </a:cubicBezTo>
                <a:lnTo>
                  <a:pt x="71438" y="95250"/>
                </a:lnTo>
                <a:close/>
                <a:moveTo>
                  <a:pt x="107863" y="131676"/>
                </a:moveTo>
                <a:lnTo>
                  <a:pt x="147638" y="171450"/>
                </a:lnTo>
                <a:cubicBezTo>
                  <a:pt x="158167" y="181980"/>
                  <a:pt x="175208" y="181980"/>
                  <a:pt x="185738" y="171450"/>
                </a:cubicBezTo>
                <a:cubicBezTo>
                  <a:pt x="188379" y="168808"/>
                  <a:pt x="188379" y="164567"/>
                  <a:pt x="185738" y="161925"/>
                </a:cubicBezTo>
                <a:lnTo>
                  <a:pt x="131676" y="107863"/>
                </a:lnTo>
                <a:lnTo>
                  <a:pt x="107863" y="131676"/>
                </a:lnTo>
                <a:close/>
                <a:moveTo>
                  <a:pt x="23812" y="41672"/>
                </a:moveTo>
                <a:cubicBezTo>
                  <a:pt x="23812" y="31815"/>
                  <a:pt x="31815" y="23812"/>
                  <a:pt x="41672" y="23812"/>
                </a:cubicBezTo>
                <a:cubicBezTo>
                  <a:pt x="51529" y="23812"/>
                  <a:pt x="59531" y="31815"/>
                  <a:pt x="59531" y="41672"/>
                </a:cubicBezTo>
                <a:cubicBezTo>
                  <a:pt x="59531" y="51529"/>
                  <a:pt x="51529" y="59531"/>
                  <a:pt x="41672" y="59531"/>
                </a:cubicBezTo>
                <a:cubicBezTo>
                  <a:pt x="31815" y="59531"/>
                  <a:pt x="23812" y="51529"/>
                  <a:pt x="23812" y="41672"/>
                </a:cubicBezTo>
                <a:close/>
                <a:moveTo>
                  <a:pt x="41672" y="130969"/>
                </a:moveTo>
                <a:cubicBezTo>
                  <a:pt x="51529" y="130969"/>
                  <a:pt x="59531" y="138971"/>
                  <a:pt x="59531" y="148828"/>
                </a:cubicBezTo>
                <a:cubicBezTo>
                  <a:pt x="59531" y="158685"/>
                  <a:pt x="51529" y="166688"/>
                  <a:pt x="41672" y="166688"/>
                </a:cubicBezTo>
                <a:cubicBezTo>
                  <a:pt x="31815" y="166688"/>
                  <a:pt x="23812" y="158685"/>
                  <a:pt x="23812" y="148828"/>
                </a:cubicBezTo>
                <a:cubicBezTo>
                  <a:pt x="23812" y="138971"/>
                  <a:pt x="31815" y="130969"/>
                  <a:pt x="41672" y="130969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14425" y="1476375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Chunk Size 选择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2925" y="1952625"/>
            <a:ext cx="3381375" cy="685800"/>
          </a:xfrm>
          <a:custGeom>
            <a:avLst/>
            <a:gdLst/>
            <a:ahLst/>
            <a:cxnLst/>
            <a:rect l="l" t="t" r="r" b="b"/>
            <a:pathLst>
              <a:path w="3381375" h="685800">
                <a:moveTo>
                  <a:pt x="76199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609601"/>
                </a:lnTo>
                <a:cubicBezTo>
                  <a:pt x="3381375" y="651684"/>
                  <a:pt x="3347259" y="685800"/>
                  <a:pt x="33051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57225" y="206692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太小的问题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225" y="233362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哈希计算开销大,缓存管理复杂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714625"/>
            <a:ext cx="3381375" cy="685800"/>
          </a:xfrm>
          <a:custGeom>
            <a:avLst/>
            <a:gdLst/>
            <a:ahLst/>
            <a:cxnLst/>
            <a:rect l="l" t="t" r="r" b="b"/>
            <a:pathLst>
              <a:path w="3381375" h="685800">
                <a:moveTo>
                  <a:pt x="76199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609601"/>
                </a:lnTo>
                <a:cubicBezTo>
                  <a:pt x="3381375" y="651684"/>
                  <a:pt x="3347259" y="685800"/>
                  <a:pt x="33051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57225" y="282892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太大的问题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225" y="309562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命中粒度粗,内存利用率低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7688" y="3481388"/>
            <a:ext cx="3371850" cy="885825"/>
          </a:xfrm>
          <a:custGeom>
            <a:avLst/>
            <a:gdLst/>
            <a:ahLst/>
            <a:cxnLst/>
            <a:rect l="l" t="t" r="r" b="b"/>
            <a:pathLst>
              <a:path w="3371850" h="885825">
                <a:moveTo>
                  <a:pt x="76199" y="0"/>
                </a:moveTo>
                <a:lnTo>
                  <a:pt x="3295651" y="0"/>
                </a:lnTo>
                <a:cubicBezTo>
                  <a:pt x="3337735" y="0"/>
                  <a:pt x="3371850" y="34115"/>
                  <a:pt x="3371850" y="76199"/>
                </a:cubicBezTo>
                <a:lnTo>
                  <a:pt x="3371850" y="809626"/>
                </a:lnTo>
                <a:cubicBezTo>
                  <a:pt x="3371850" y="851710"/>
                  <a:pt x="3337735" y="885825"/>
                  <a:pt x="32956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 w="12700">
            <a:solidFill>
              <a:srgbClr val="D9A46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66750" y="360045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推荐值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6750" y="38671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256-512 tokens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6750" y="4095750"/>
            <a:ext cx="3190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 vLLM Block Size 的整数倍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6513" y="1223963"/>
            <a:ext cx="3695700" cy="3305175"/>
          </a:xfrm>
          <a:custGeom>
            <a:avLst/>
            <a:gdLst/>
            <a:ahLst/>
            <a:cxnLst/>
            <a:rect l="l" t="t" r="r" b="b"/>
            <a:pathLst>
              <a:path w="3695700" h="3305175">
                <a:moveTo>
                  <a:pt x="76184" y="0"/>
                </a:moveTo>
                <a:lnTo>
                  <a:pt x="3619516" y="0"/>
                </a:lnTo>
                <a:cubicBezTo>
                  <a:pt x="3661563" y="0"/>
                  <a:pt x="3695700" y="34137"/>
                  <a:pt x="3695700" y="76184"/>
                </a:cubicBezTo>
                <a:lnTo>
                  <a:pt x="3695700" y="3228991"/>
                </a:lnTo>
                <a:cubicBezTo>
                  <a:pt x="3695700" y="3271066"/>
                  <a:pt x="3661591" y="3305175"/>
                  <a:pt x="3619516" y="3305175"/>
                </a:cubicBezTo>
                <a:lnTo>
                  <a:pt x="76184" y="3305175"/>
                </a:lnTo>
                <a:cubicBezTo>
                  <a:pt x="34137" y="3305175"/>
                  <a:pt x="0" y="3271038"/>
                  <a:pt x="0" y="3228991"/>
                </a:cubicBezTo>
                <a:lnTo>
                  <a:pt x="0" y="76184"/>
                </a:lnTo>
                <a:cubicBezTo>
                  <a:pt x="0" y="34109"/>
                  <a:pt x="34109" y="0"/>
                  <a:pt x="76184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40367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53702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8968" y="10083"/>
                </a:moveTo>
                <a:cubicBezTo>
                  <a:pt x="144549" y="3683"/>
                  <a:pt x="152623" y="0"/>
                  <a:pt x="161144" y="0"/>
                </a:cubicBezTo>
                <a:cubicBezTo>
                  <a:pt x="177366" y="0"/>
                  <a:pt x="190537" y="13171"/>
                  <a:pt x="190537" y="29394"/>
                </a:cubicBezTo>
                <a:cubicBezTo>
                  <a:pt x="190537" y="37877"/>
                  <a:pt x="186854" y="45988"/>
                  <a:pt x="180454" y="51569"/>
                </a:cubicBezTo>
                <a:lnTo>
                  <a:pt x="105556" y="116756"/>
                </a:lnTo>
                <a:lnTo>
                  <a:pt x="101575" y="112737"/>
                </a:lnTo>
                <a:lnTo>
                  <a:pt x="77763" y="88925"/>
                </a:lnTo>
                <a:lnTo>
                  <a:pt x="73744" y="84944"/>
                </a:lnTo>
                <a:lnTo>
                  <a:pt x="138968" y="10083"/>
                </a:lnTo>
                <a:close/>
                <a:moveTo>
                  <a:pt x="59941" y="96366"/>
                </a:moveTo>
                <a:cubicBezTo>
                  <a:pt x="60275" y="96738"/>
                  <a:pt x="69949" y="106412"/>
                  <a:pt x="88925" y="125388"/>
                </a:cubicBezTo>
                <a:lnTo>
                  <a:pt x="94097" y="130559"/>
                </a:lnTo>
                <a:lnTo>
                  <a:pt x="87734" y="158167"/>
                </a:lnTo>
                <a:cubicBezTo>
                  <a:pt x="86283" y="164529"/>
                  <a:pt x="81446" y="169590"/>
                  <a:pt x="75158" y="171338"/>
                </a:cubicBezTo>
                <a:lnTo>
                  <a:pt x="11981" y="189012"/>
                </a:lnTo>
                <a:lnTo>
                  <a:pt x="46323" y="154670"/>
                </a:lnTo>
                <a:cubicBezTo>
                  <a:pt x="46769" y="154707"/>
                  <a:pt x="47179" y="154744"/>
                  <a:pt x="47625" y="154744"/>
                </a:cubicBezTo>
                <a:cubicBezTo>
                  <a:pt x="54211" y="154744"/>
                  <a:pt x="59531" y="149423"/>
                  <a:pt x="59531" y="142838"/>
                </a:cubicBezTo>
                <a:cubicBezTo>
                  <a:pt x="59531" y="136252"/>
                  <a:pt x="54211" y="130932"/>
                  <a:pt x="47625" y="130932"/>
                </a:cubicBezTo>
                <a:cubicBezTo>
                  <a:pt x="41039" y="130932"/>
                  <a:pt x="35719" y="136252"/>
                  <a:pt x="35719" y="142838"/>
                </a:cubicBezTo>
                <a:cubicBezTo>
                  <a:pt x="35719" y="143284"/>
                  <a:pt x="35756" y="143731"/>
                  <a:pt x="35793" y="144140"/>
                </a:cubicBezTo>
                <a:lnTo>
                  <a:pt x="1451" y="178519"/>
                </a:lnTo>
                <a:lnTo>
                  <a:pt x="19162" y="115342"/>
                </a:lnTo>
                <a:cubicBezTo>
                  <a:pt x="20910" y="109054"/>
                  <a:pt x="25971" y="104217"/>
                  <a:pt x="32333" y="102766"/>
                </a:cubicBezTo>
                <a:lnTo>
                  <a:pt x="59941" y="96366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975175" y="1476375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Prompt 设计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03675" y="195262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537025" y="2105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784675" y="2066925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将稳定的指令放在前面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03675" y="244792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537025" y="2600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784675" y="2562225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动态内容(用户名、时间戳)放在后面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03675" y="294322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537025" y="3095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784675" y="3057525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避免在中间插入变化内容(会破坏后续前缀)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7338" y="1223963"/>
            <a:ext cx="3695700" cy="3305175"/>
          </a:xfrm>
          <a:custGeom>
            <a:avLst/>
            <a:gdLst/>
            <a:ahLst/>
            <a:cxnLst/>
            <a:rect l="l" t="t" r="r" b="b"/>
            <a:pathLst>
              <a:path w="3695700" h="3305175">
                <a:moveTo>
                  <a:pt x="76184" y="0"/>
                </a:moveTo>
                <a:lnTo>
                  <a:pt x="3619516" y="0"/>
                </a:lnTo>
                <a:cubicBezTo>
                  <a:pt x="3661563" y="0"/>
                  <a:pt x="3695700" y="34137"/>
                  <a:pt x="3695700" y="76184"/>
                </a:cubicBezTo>
                <a:lnTo>
                  <a:pt x="3695700" y="3228991"/>
                </a:lnTo>
                <a:cubicBezTo>
                  <a:pt x="3695700" y="3271066"/>
                  <a:pt x="3661591" y="3305175"/>
                  <a:pt x="3619516" y="3305175"/>
                </a:cubicBezTo>
                <a:lnTo>
                  <a:pt x="76184" y="3305175"/>
                </a:lnTo>
                <a:cubicBezTo>
                  <a:pt x="34137" y="3305175"/>
                  <a:pt x="0" y="3271038"/>
                  <a:pt x="0" y="3228991"/>
                </a:cubicBezTo>
                <a:lnTo>
                  <a:pt x="0" y="76184"/>
                </a:lnTo>
                <a:cubicBezTo>
                  <a:pt x="0" y="34109"/>
                  <a:pt x="34109" y="0"/>
                  <a:pt x="76184" y="0"/>
                </a:cubicBezTo>
                <a:close/>
              </a:path>
            </a:pathLst>
          </a:custGeom>
          <a:solidFill>
            <a:srgbClr val="8E8E93">
              <a:alpha val="10196"/>
            </a:srgbClr>
          </a:solidFill>
          <a:ln w="12700">
            <a:solidFill>
              <a:srgbClr val="8E8E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264500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E8E9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409756" y="15144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9717" y="-9823"/>
                </a:moveTo>
                <a:cubicBezTo>
                  <a:pt x="63178" y="-12725"/>
                  <a:pt x="68275" y="-12613"/>
                  <a:pt x="71586" y="-9488"/>
                </a:cubicBezTo>
                <a:cubicBezTo>
                  <a:pt x="76163" y="-5172"/>
                  <a:pt x="80256" y="-409"/>
                  <a:pt x="84200" y="4428"/>
                </a:cubicBezTo>
                <a:cubicBezTo>
                  <a:pt x="89222" y="10567"/>
                  <a:pt x="95250" y="18678"/>
                  <a:pt x="101054" y="28315"/>
                </a:cubicBezTo>
                <a:cubicBezTo>
                  <a:pt x="102989" y="25784"/>
                  <a:pt x="104775" y="23552"/>
                  <a:pt x="106338" y="21654"/>
                </a:cubicBezTo>
                <a:cubicBezTo>
                  <a:pt x="106747" y="21171"/>
                  <a:pt x="107156" y="20650"/>
                  <a:pt x="107566" y="20129"/>
                </a:cubicBezTo>
                <a:cubicBezTo>
                  <a:pt x="110505" y="16483"/>
                  <a:pt x="114151" y="11906"/>
                  <a:pt x="119025" y="11906"/>
                </a:cubicBezTo>
                <a:cubicBezTo>
                  <a:pt x="124011" y="11906"/>
                  <a:pt x="127508" y="16334"/>
                  <a:pt x="130485" y="20129"/>
                </a:cubicBezTo>
                <a:cubicBezTo>
                  <a:pt x="130969" y="20762"/>
                  <a:pt x="131452" y="21357"/>
                  <a:pt x="131936" y="21915"/>
                </a:cubicBezTo>
                <a:cubicBezTo>
                  <a:pt x="135768" y="26529"/>
                  <a:pt x="140866" y="33189"/>
                  <a:pt x="145963" y="41411"/>
                </a:cubicBezTo>
                <a:cubicBezTo>
                  <a:pt x="156083" y="57745"/>
                  <a:pt x="166650" y="81000"/>
                  <a:pt x="166650" y="107119"/>
                </a:cubicBezTo>
                <a:cubicBezTo>
                  <a:pt x="166650" y="153144"/>
                  <a:pt x="129332" y="190463"/>
                  <a:pt x="83307" y="190463"/>
                </a:cubicBezTo>
                <a:cubicBezTo>
                  <a:pt x="37281" y="190463"/>
                  <a:pt x="0" y="153181"/>
                  <a:pt x="0" y="107156"/>
                </a:cubicBezTo>
                <a:cubicBezTo>
                  <a:pt x="0" y="73261"/>
                  <a:pt x="15292" y="43904"/>
                  <a:pt x="29952" y="23440"/>
                </a:cubicBezTo>
                <a:cubicBezTo>
                  <a:pt x="37356" y="13134"/>
                  <a:pt x="44723" y="4874"/>
                  <a:pt x="50267" y="-781"/>
                </a:cubicBezTo>
                <a:cubicBezTo>
                  <a:pt x="53318" y="-3907"/>
                  <a:pt x="56406" y="-6995"/>
                  <a:pt x="59754" y="-9785"/>
                </a:cubicBezTo>
                <a:close/>
                <a:moveTo>
                  <a:pt x="83976" y="154781"/>
                </a:moveTo>
                <a:cubicBezTo>
                  <a:pt x="93390" y="154781"/>
                  <a:pt x="101724" y="152177"/>
                  <a:pt x="109575" y="146968"/>
                </a:cubicBezTo>
                <a:cubicBezTo>
                  <a:pt x="125239" y="136029"/>
                  <a:pt x="129443" y="114151"/>
                  <a:pt x="120030" y="96962"/>
                </a:cubicBezTo>
                <a:cubicBezTo>
                  <a:pt x="118356" y="93613"/>
                  <a:pt x="114077" y="93390"/>
                  <a:pt x="111658" y="96217"/>
                </a:cubicBezTo>
                <a:lnTo>
                  <a:pt x="102282" y="107119"/>
                </a:lnTo>
                <a:cubicBezTo>
                  <a:pt x="99826" y="109947"/>
                  <a:pt x="95399" y="109872"/>
                  <a:pt x="93092" y="106933"/>
                </a:cubicBezTo>
                <a:cubicBezTo>
                  <a:pt x="86655" y="98710"/>
                  <a:pt x="74823" y="83716"/>
                  <a:pt x="68796" y="76051"/>
                </a:cubicBezTo>
                <a:cubicBezTo>
                  <a:pt x="66787" y="73484"/>
                  <a:pt x="63140" y="73075"/>
                  <a:pt x="60796" y="75344"/>
                </a:cubicBezTo>
                <a:cubicBezTo>
                  <a:pt x="53987" y="81967"/>
                  <a:pt x="41635" y="96478"/>
                  <a:pt x="41635" y="114151"/>
                </a:cubicBezTo>
                <a:cubicBezTo>
                  <a:pt x="41635" y="139675"/>
                  <a:pt x="60461" y="154781"/>
                  <a:pt x="83939" y="154781"/>
                </a:cubicBezTo>
                <a:close/>
              </a:path>
            </a:pathLst>
          </a:custGeom>
          <a:solidFill>
            <a:srgbClr val="8E8E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836000" y="147637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缓存预热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64500" y="1952625"/>
            <a:ext cx="3381375" cy="685800"/>
          </a:xfrm>
          <a:custGeom>
            <a:avLst/>
            <a:gdLst/>
            <a:ahLst/>
            <a:cxnLst/>
            <a:rect l="l" t="t" r="r" b="b"/>
            <a:pathLst>
              <a:path w="3381375" h="685800">
                <a:moveTo>
                  <a:pt x="76199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609601"/>
                </a:lnTo>
                <a:cubicBezTo>
                  <a:pt x="3381375" y="651684"/>
                  <a:pt x="3347259" y="685800"/>
                  <a:pt x="33051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378800" y="206692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服务启动时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78800" y="233362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预先计算常用前缀的 KV Cache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64500" y="2714625"/>
            <a:ext cx="3381375" cy="685800"/>
          </a:xfrm>
          <a:custGeom>
            <a:avLst/>
            <a:gdLst/>
            <a:ahLst/>
            <a:cxnLst/>
            <a:rect l="l" t="t" r="r" b="b"/>
            <a:pathLst>
              <a:path w="3381375" h="685800">
                <a:moveTo>
                  <a:pt x="76199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609601"/>
                </a:lnTo>
                <a:cubicBezTo>
                  <a:pt x="3381375" y="651684"/>
                  <a:pt x="3347259" y="685800"/>
                  <a:pt x="33051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378800" y="282892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 LMCache Server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78800" y="309562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持久化缓存,避免冷启动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64500" y="3476625"/>
            <a:ext cx="3381375" cy="685800"/>
          </a:xfrm>
          <a:custGeom>
            <a:avLst/>
            <a:gdLst/>
            <a:ahLst/>
            <a:cxnLst/>
            <a:rect l="l" t="t" r="r" b="b"/>
            <a:pathLst>
              <a:path w="3381375" h="685800">
                <a:moveTo>
                  <a:pt x="76199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609601"/>
                </a:lnTo>
                <a:cubicBezTo>
                  <a:pt x="3381375" y="651684"/>
                  <a:pt x="3347259" y="685800"/>
                  <a:pt x="33051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378800" y="359092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定期更新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78800" y="385762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根据访问模式动态调整缓存内容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5763" y="4691063"/>
            <a:ext cx="11420475" cy="1447800"/>
          </a:xfrm>
          <a:custGeom>
            <a:avLst/>
            <a:gdLst/>
            <a:ahLst/>
            <a:cxnLst/>
            <a:rect l="l" t="t" r="r" b="b"/>
            <a:pathLst>
              <a:path w="11420475" h="1447800">
                <a:moveTo>
                  <a:pt x="76198" y="0"/>
                </a:moveTo>
                <a:lnTo>
                  <a:pt x="11344277" y="0"/>
                </a:lnTo>
                <a:cubicBezTo>
                  <a:pt x="11386332" y="0"/>
                  <a:pt x="11420475" y="34143"/>
                  <a:pt x="11420475" y="76198"/>
                </a:cubicBezTo>
                <a:lnTo>
                  <a:pt x="11420475" y="1371602"/>
                </a:lnTo>
                <a:cubicBezTo>
                  <a:pt x="11420475" y="1413657"/>
                  <a:pt x="11386332" y="1447800"/>
                  <a:pt x="11344277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566738" y="4886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95350" y="4848225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缓存失效与一致性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42925" y="5229225"/>
            <a:ext cx="5476875" cy="752475"/>
          </a:xfrm>
          <a:custGeom>
            <a:avLst/>
            <a:gdLst/>
            <a:ahLst/>
            <a:cxnLst/>
            <a:rect l="l" t="t" r="r" b="b"/>
            <a:pathLst>
              <a:path w="5476875" h="752475">
                <a:moveTo>
                  <a:pt x="76203" y="0"/>
                </a:moveTo>
                <a:lnTo>
                  <a:pt x="5400672" y="0"/>
                </a:lnTo>
                <a:cubicBezTo>
                  <a:pt x="5442730" y="0"/>
                  <a:pt x="5476875" y="34145"/>
                  <a:pt x="5476875" y="76203"/>
                </a:cubicBezTo>
                <a:lnTo>
                  <a:pt x="5476875" y="676272"/>
                </a:lnTo>
                <a:cubicBezTo>
                  <a:pt x="5476875" y="718330"/>
                  <a:pt x="5442730" y="752475"/>
                  <a:pt x="5400672" y="752475"/>
                </a:cubicBezTo>
                <a:lnTo>
                  <a:pt x="76203" y="752475"/>
                </a:lnTo>
                <a:cubicBezTo>
                  <a:pt x="34145" y="752475"/>
                  <a:pt x="0" y="718330"/>
                  <a:pt x="0" y="6762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76275" y="5381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674" y="28575"/>
                </a:moveTo>
                <a:lnTo>
                  <a:pt x="9674" y="73075"/>
                </a:lnTo>
                <a:cubicBezTo>
                  <a:pt x="9674" y="78135"/>
                  <a:pt x="11668" y="82987"/>
                  <a:pt x="15240" y="86558"/>
                </a:cubicBezTo>
                <a:lnTo>
                  <a:pt x="72390" y="143708"/>
                </a:lnTo>
                <a:cubicBezTo>
                  <a:pt x="79831" y="151150"/>
                  <a:pt x="91886" y="151150"/>
                  <a:pt x="99328" y="143708"/>
                </a:cubicBezTo>
                <a:lnTo>
                  <a:pt x="143828" y="99209"/>
                </a:lnTo>
                <a:cubicBezTo>
                  <a:pt x="151269" y="91767"/>
                  <a:pt x="151269" y="79712"/>
                  <a:pt x="143828" y="72271"/>
                </a:cubicBezTo>
                <a:lnTo>
                  <a:pt x="86678" y="15121"/>
                </a:lnTo>
                <a:cubicBezTo>
                  <a:pt x="83106" y="11519"/>
                  <a:pt x="78284" y="9525"/>
                  <a:pt x="73223" y="9525"/>
                </a:cubicBezTo>
                <a:lnTo>
                  <a:pt x="28724" y="9525"/>
                </a:lnTo>
                <a:cubicBezTo>
                  <a:pt x="18217" y="9525"/>
                  <a:pt x="9674" y="18068"/>
                  <a:pt x="9674" y="28575"/>
                </a:cubicBezTo>
                <a:close/>
                <a:moveTo>
                  <a:pt x="43011" y="33338"/>
                </a:moveTo>
                <a:cubicBezTo>
                  <a:pt x="48268" y="33338"/>
                  <a:pt x="52536" y="37606"/>
                  <a:pt x="52536" y="42863"/>
                </a:cubicBezTo>
                <a:cubicBezTo>
                  <a:pt x="52536" y="48119"/>
                  <a:pt x="48268" y="52388"/>
                  <a:pt x="43011" y="52388"/>
                </a:cubicBezTo>
                <a:cubicBezTo>
                  <a:pt x="37754" y="52388"/>
                  <a:pt x="33486" y="48119"/>
                  <a:pt x="33486" y="42863"/>
                </a:cubicBezTo>
                <a:cubicBezTo>
                  <a:pt x="33486" y="37606"/>
                  <a:pt x="37754" y="33338"/>
                  <a:pt x="43011" y="33338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23925" y="53435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Version Tag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7225" y="5648325"/>
            <a:ext cx="5314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在缓存 Key 中引入模型版本或哈希标识,隔离不同版本模型的缓存空间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2200" y="5229225"/>
            <a:ext cx="5476875" cy="752475"/>
          </a:xfrm>
          <a:custGeom>
            <a:avLst/>
            <a:gdLst/>
            <a:ahLst/>
            <a:cxnLst/>
            <a:rect l="l" t="t" r="r" b="b"/>
            <a:pathLst>
              <a:path w="5476875" h="752475">
                <a:moveTo>
                  <a:pt x="76203" y="0"/>
                </a:moveTo>
                <a:lnTo>
                  <a:pt x="5400672" y="0"/>
                </a:lnTo>
                <a:cubicBezTo>
                  <a:pt x="5442730" y="0"/>
                  <a:pt x="5476875" y="34145"/>
                  <a:pt x="5476875" y="76203"/>
                </a:cubicBezTo>
                <a:lnTo>
                  <a:pt x="5476875" y="676272"/>
                </a:lnTo>
                <a:cubicBezTo>
                  <a:pt x="5476875" y="718330"/>
                  <a:pt x="5442730" y="752475"/>
                  <a:pt x="5400672" y="752475"/>
                </a:cubicBezTo>
                <a:lnTo>
                  <a:pt x="76203" y="752475"/>
                </a:lnTo>
                <a:cubicBezTo>
                  <a:pt x="34145" y="752475"/>
                  <a:pt x="0" y="718330"/>
                  <a:pt x="0" y="6762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305550" y="5381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553200" y="5343525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TTL 淘汰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86500" y="5648325"/>
            <a:ext cx="5314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为长期未访问的缓存设置过期时间,结合 LRU 策略自动清理失效数据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2119313"/>
            <a:ext cx="1476375" cy="428625"/>
          </a:xfrm>
          <a:custGeom>
            <a:avLst/>
            <a:gdLst/>
            <a:ahLst/>
            <a:cxnLst/>
            <a:rect l="l" t="t" r="r" b="b"/>
            <a:pathLst>
              <a:path w="1476375" h="428625">
                <a:moveTo>
                  <a:pt x="76201" y="0"/>
                </a:moveTo>
                <a:lnTo>
                  <a:pt x="1400174" y="0"/>
                </a:lnTo>
                <a:cubicBezTo>
                  <a:pt x="1442259" y="0"/>
                  <a:pt x="1476375" y="34116"/>
                  <a:pt x="1476375" y="76201"/>
                </a:cubicBezTo>
                <a:lnTo>
                  <a:pt x="1476375" y="352424"/>
                </a:lnTo>
                <a:cubicBezTo>
                  <a:pt x="1476375" y="394509"/>
                  <a:pt x="1442259" y="428625"/>
                  <a:pt x="14001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8E8E93">
              <a:alpha val="30196"/>
            </a:srgbClr>
          </a:solidFill>
          <a:ln w="12700">
            <a:solidFill>
              <a:srgbClr val="8E8E9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2214563"/>
            <a:ext cx="12497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1300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进阶话题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67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扩展应用与技术选型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5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E8E9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ADVANCED TOPICS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 Chunked Prefill 的协同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11410950" cy="590550"/>
          </a:xfrm>
          <a:custGeom>
            <a:avLst/>
            <a:gdLst/>
            <a:ahLst/>
            <a:cxnLst/>
            <a:rect l="l" t="t" r="r" b="b"/>
            <a:pathLst>
              <a:path w="11410950" h="590550">
                <a:moveTo>
                  <a:pt x="38100" y="0"/>
                </a:moveTo>
                <a:lnTo>
                  <a:pt x="11334751" y="0"/>
                </a:lnTo>
                <a:cubicBezTo>
                  <a:pt x="11376835" y="0"/>
                  <a:pt x="11410950" y="34115"/>
                  <a:pt x="11410950" y="76199"/>
                </a:cubicBezTo>
                <a:lnTo>
                  <a:pt x="11410950" y="514351"/>
                </a:lnTo>
                <a:cubicBezTo>
                  <a:pt x="11410950" y="556435"/>
                  <a:pt x="11376835" y="590550"/>
                  <a:pt x="11334751" y="590550"/>
                </a:cubicBez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590550"/>
          </a:xfrm>
          <a:custGeom>
            <a:avLst/>
            <a:gdLst/>
            <a:ahLst/>
            <a:cxnLst/>
            <a:rect l="l" t="t" r="r" b="b"/>
            <a:pathLst>
              <a:path w="38100" h="590550">
                <a:moveTo>
                  <a:pt x="38100" y="0"/>
                </a:moveTo>
                <a:lnTo>
                  <a:pt x="38100" y="0"/>
                </a:lnTo>
                <a:lnTo>
                  <a:pt x="38100" y="590550"/>
                </a:ln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09600" y="1371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cubicBezTo>
                  <a:pt x="144717" y="0"/>
                  <a:pt x="160734" y="11999"/>
                  <a:pt x="160734" y="26789"/>
                </a:cubicBezTo>
                <a:cubicBezTo>
                  <a:pt x="160734" y="32593"/>
                  <a:pt x="158279" y="37951"/>
                  <a:pt x="154037" y="42360"/>
                </a:cubicBezTo>
                <a:cubicBezTo>
                  <a:pt x="150354" y="46211"/>
                  <a:pt x="147340" y="50899"/>
                  <a:pt x="147340" y="56257"/>
                </a:cubicBezTo>
                <a:cubicBezTo>
                  <a:pt x="147340" y="64629"/>
                  <a:pt x="154149" y="71438"/>
                  <a:pt x="162520" y="71438"/>
                </a:cubicBezTo>
                <a:lnTo>
                  <a:pt x="187523" y="71438"/>
                </a:lnTo>
                <a:cubicBezTo>
                  <a:pt x="202313" y="71438"/>
                  <a:pt x="214313" y="83437"/>
                  <a:pt x="214313" y="98227"/>
                </a:cubicBezTo>
                <a:lnTo>
                  <a:pt x="214313" y="123230"/>
                </a:lnTo>
                <a:cubicBezTo>
                  <a:pt x="214313" y="131601"/>
                  <a:pt x="221121" y="138410"/>
                  <a:pt x="229493" y="138410"/>
                </a:cubicBezTo>
                <a:cubicBezTo>
                  <a:pt x="234795" y="138410"/>
                  <a:pt x="239539" y="135396"/>
                  <a:pt x="243390" y="131713"/>
                </a:cubicBezTo>
                <a:cubicBezTo>
                  <a:pt x="247799" y="127527"/>
                  <a:pt x="253157" y="125016"/>
                  <a:pt x="258961" y="125016"/>
                </a:cubicBezTo>
                <a:cubicBezTo>
                  <a:pt x="273751" y="125016"/>
                  <a:pt x="285750" y="141033"/>
                  <a:pt x="285750" y="160734"/>
                </a:cubicBezTo>
                <a:cubicBezTo>
                  <a:pt x="285750" y="180435"/>
                  <a:pt x="273751" y="196453"/>
                  <a:pt x="258961" y="196453"/>
                </a:cubicBezTo>
                <a:cubicBezTo>
                  <a:pt x="253157" y="196453"/>
                  <a:pt x="247743" y="193997"/>
                  <a:pt x="243390" y="189756"/>
                </a:cubicBezTo>
                <a:cubicBezTo>
                  <a:pt x="239539" y="186072"/>
                  <a:pt x="234851" y="183059"/>
                  <a:pt x="229493" y="183059"/>
                </a:cubicBezTo>
                <a:cubicBezTo>
                  <a:pt x="221121" y="183059"/>
                  <a:pt x="214313" y="189867"/>
                  <a:pt x="214313" y="198239"/>
                </a:cubicBezTo>
                <a:lnTo>
                  <a:pt x="214313" y="258961"/>
                </a:lnTo>
                <a:cubicBezTo>
                  <a:pt x="214313" y="273751"/>
                  <a:pt x="202313" y="285750"/>
                  <a:pt x="187523" y="285750"/>
                </a:cubicBezTo>
                <a:lnTo>
                  <a:pt x="155823" y="285750"/>
                </a:lnTo>
                <a:cubicBezTo>
                  <a:pt x="148679" y="285750"/>
                  <a:pt x="142875" y="279946"/>
                  <a:pt x="142875" y="272802"/>
                </a:cubicBezTo>
                <a:cubicBezTo>
                  <a:pt x="142875" y="267667"/>
                  <a:pt x="146112" y="263147"/>
                  <a:pt x="150242" y="260077"/>
                </a:cubicBezTo>
                <a:cubicBezTo>
                  <a:pt x="156716" y="255222"/>
                  <a:pt x="160734" y="248524"/>
                  <a:pt x="160734" y="241102"/>
                </a:cubicBezTo>
                <a:cubicBezTo>
                  <a:pt x="160734" y="226312"/>
                  <a:pt x="144717" y="214313"/>
                  <a:pt x="125016" y="214313"/>
                </a:cubicBezTo>
                <a:cubicBezTo>
                  <a:pt x="105315" y="214313"/>
                  <a:pt x="89297" y="226312"/>
                  <a:pt x="89297" y="241102"/>
                </a:cubicBezTo>
                <a:cubicBezTo>
                  <a:pt x="89297" y="248524"/>
                  <a:pt x="93315" y="255222"/>
                  <a:pt x="99789" y="260077"/>
                </a:cubicBezTo>
                <a:cubicBezTo>
                  <a:pt x="103919" y="263147"/>
                  <a:pt x="107156" y="267612"/>
                  <a:pt x="107156" y="272802"/>
                </a:cubicBezTo>
                <a:cubicBezTo>
                  <a:pt x="107156" y="279946"/>
                  <a:pt x="101352" y="285750"/>
                  <a:pt x="94208" y="285750"/>
                </a:cubicBezTo>
                <a:lnTo>
                  <a:pt x="26789" y="285750"/>
                </a:lnTo>
                <a:cubicBezTo>
                  <a:pt x="11999" y="285750"/>
                  <a:pt x="0" y="273751"/>
                  <a:pt x="0" y="258961"/>
                </a:cubicBezTo>
                <a:lnTo>
                  <a:pt x="0" y="191542"/>
                </a:lnTo>
                <a:cubicBezTo>
                  <a:pt x="0" y="184398"/>
                  <a:pt x="5804" y="178594"/>
                  <a:pt x="12948" y="178594"/>
                </a:cubicBezTo>
                <a:cubicBezTo>
                  <a:pt x="18083" y="178594"/>
                  <a:pt x="22603" y="181831"/>
                  <a:pt x="25673" y="185961"/>
                </a:cubicBezTo>
                <a:cubicBezTo>
                  <a:pt x="30528" y="192435"/>
                  <a:pt x="37226" y="196453"/>
                  <a:pt x="44648" y="196453"/>
                </a:cubicBezTo>
                <a:cubicBezTo>
                  <a:pt x="59438" y="196453"/>
                  <a:pt x="71438" y="180435"/>
                  <a:pt x="71438" y="160734"/>
                </a:cubicBezTo>
                <a:cubicBezTo>
                  <a:pt x="71438" y="141033"/>
                  <a:pt x="59438" y="125016"/>
                  <a:pt x="44648" y="125016"/>
                </a:cubicBezTo>
                <a:cubicBezTo>
                  <a:pt x="37226" y="125016"/>
                  <a:pt x="30528" y="129034"/>
                  <a:pt x="25673" y="135508"/>
                </a:cubicBezTo>
                <a:cubicBezTo>
                  <a:pt x="22603" y="139638"/>
                  <a:pt x="18138" y="142875"/>
                  <a:pt x="12948" y="142875"/>
                </a:cubicBezTo>
                <a:cubicBezTo>
                  <a:pt x="5804" y="142875"/>
                  <a:pt x="0" y="137071"/>
                  <a:pt x="0" y="129927"/>
                </a:cubicBezTo>
                <a:lnTo>
                  <a:pt x="0" y="98227"/>
                </a:lnTo>
                <a:cubicBezTo>
                  <a:pt x="0" y="83437"/>
                  <a:pt x="11999" y="71438"/>
                  <a:pt x="26789" y="71438"/>
                </a:cubicBezTo>
                <a:lnTo>
                  <a:pt x="87511" y="71438"/>
                </a:lnTo>
                <a:cubicBezTo>
                  <a:pt x="95883" y="71438"/>
                  <a:pt x="102691" y="64629"/>
                  <a:pt x="102691" y="56257"/>
                </a:cubicBezTo>
                <a:cubicBezTo>
                  <a:pt x="102691" y="50955"/>
                  <a:pt x="99678" y="46211"/>
                  <a:pt x="95994" y="42360"/>
                </a:cubicBezTo>
                <a:cubicBezTo>
                  <a:pt x="91808" y="37951"/>
                  <a:pt x="89297" y="32593"/>
                  <a:pt x="89297" y="26789"/>
                </a:cubicBezTo>
                <a:cubicBezTo>
                  <a:pt x="89297" y="11999"/>
                  <a:pt x="105315" y="0"/>
                  <a:pt x="125016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81088" y="1371600"/>
            <a:ext cx="10658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Chunked Prefill 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将长 Prefill 拆分为多个小批次执行,与 Decode 请求交替调度。Prefix Caching 可以与 Chunked Prefill </a:t>
            </a: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协同工作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1966912"/>
            <a:ext cx="5629275" cy="2295525"/>
          </a:xfrm>
          <a:custGeom>
            <a:avLst/>
            <a:gdLst/>
            <a:ahLst/>
            <a:cxnLst/>
            <a:rect l="l" t="t" r="r" b="b"/>
            <a:pathLst>
              <a:path w="5629275" h="2295525">
                <a:moveTo>
                  <a:pt x="76211" y="0"/>
                </a:moveTo>
                <a:lnTo>
                  <a:pt x="5553064" y="0"/>
                </a:lnTo>
                <a:cubicBezTo>
                  <a:pt x="5595154" y="0"/>
                  <a:pt x="5629275" y="34121"/>
                  <a:pt x="5629275" y="76211"/>
                </a:cubicBezTo>
                <a:lnTo>
                  <a:pt x="5629275" y="2219314"/>
                </a:lnTo>
                <a:cubicBezTo>
                  <a:pt x="5629275" y="2261404"/>
                  <a:pt x="5595154" y="2295525"/>
                  <a:pt x="555306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738" y="2162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95350" y="212407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缓存命中处理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505075"/>
            <a:ext cx="5314950" cy="457200"/>
          </a:xfrm>
          <a:custGeom>
            <a:avLst/>
            <a:gdLst/>
            <a:ahLst/>
            <a:cxnLst/>
            <a:rect l="l" t="t" r="r" b="b"/>
            <a:pathLst>
              <a:path w="5314950" h="4572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380998"/>
                </a:lnTo>
                <a:cubicBezTo>
                  <a:pt x="5314950" y="423083"/>
                  <a:pt x="5280833" y="457200"/>
                  <a:pt x="5238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57225" y="2619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3888" y="2619375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2025" y="2619375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缓存命中的 Chunk </a:t>
            </a: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完全跳过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3076575"/>
            <a:ext cx="5314950" cy="457200"/>
          </a:xfrm>
          <a:custGeom>
            <a:avLst/>
            <a:gdLst/>
            <a:ahLst/>
            <a:cxnLst/>
            <a:rect l="l" t="t" r="r" b="b"/>
            <a:pathLst>
              <a:path w="5314950" h="4572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380998"/>
                </a:lnTo>
                <a:cubicBezTo>
                  <a:pt x="5314950" y="423083"/>
                  <a:pt x="5280833" y="457200"/>
                  <a:pt x="5238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57225" y="3190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23888" y="3190875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2025" y="3190875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无需执行任何计算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925" y="3648075"/>
            <a:ext cx="5314950" cy="457200"/>
          </a:xfrm>
          <a:custGeom>
            <a:avLst/>
            <a:gdLst/>
            <a:ahLst/>
            <a:cxnLst/>
            <a:rect l="l" t="t" r="r" b="b"/>
            <a:pathLst>
              <a:path w="5314950" h="4572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380998"/>
                </a:lnTo>
                <a:cubicBezTo>
                  <a:pt x="5314950" y="423083"/>
                  <a:pt x="5280833" y="457200"/>
                  <a:pt x="5238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57225" y="3762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23888" y="3762375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2025" y="3762375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直接从缓存加载 KV Cache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6963" y="1966912"/>
            <a:ext cx="5629275" cy="2295525"/>
          </a:xfrm>
          <a:custGeom>
            <a:avLst/>
            <a:gdLst/>
            <a:ahLst/>
            <a:cxnLst/>
            <a:rect l="l" t="t" r="r" b="b"/>
            <a:pathLst>
              <a:path w="5629275" h="2295525">
                <a:moveTo>
                  <a:pt x="76211" y="0"/>
                </a:moveTo>
                <a:lnTo>
                  <a:pt x="5553064" y="0"/>
                </a:lnTo>
                <a:cubicBezTo>
                  <a:pt x="5595154" y="0"/>
                  <a:pt x="5629275" y="34121"/>
                  <a:pt x="5629275" y="76211"/>
                </a:cubicBezTo>
                <a:lnTo>
                  <a:pt x="5629275" y="2219314"/>
                </a:lnTo>
                <a:cubicBezTo>
                  <a:pt x="5629275" y="2261404"/>
                  <a:pt x="5595154" y="2295525"/>
                  <a:pt x="555306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381750" y="21621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686550" y="212407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未命中处理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34125" y="2505075"/>
            <a:ext cx="5314950" cy="457200"/>
          </a:xfrm>
          <a:custGeom>
            <a:avLst/>
            <a:gdLst/>
            <a:ahLst/>
            <a:cxnLst/>
            <a:rect l="l" t="t" r="r" b="b"/>
            <a:pathLst>
              <a:path w="5314950" h="4572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380998"/>
                </a:lnTo>
                <a:cubicBezTo>
                  <a:pt x="5314950" y="423083"/>
                  <a:pt x="5280833" y="457200"/>
                  <a:pt x="5238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48425" y="2619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15088" y="2619375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53225" y="2619375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仅对</a:t>
            </a: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未命中的 Chunk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执行 Chunked Prefill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4125" y="3076575"/>
            <a:ext cx="5314950" cy="457200"/>
          </a:xfrm>
          <a:custGeom>
            <a:avLst/>
            <a:gdLst/>
            <a:ahLst/>
            <a:cxnLst/>
            <a:rect l="l" t="t" r="r" b="b"/>
            <a:pathLst>
              <a:path w="5314950" h="4572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380998"/>
                </a:lnTo>
                <a:cubicBezTo>
                  <a:pt x="5314950" y="423083"/>
                  <a:pt x="5280833" y="457200"/>
                  <a:pt x="5238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448425" y="3190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415088" y="3190875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53225" y="3190875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 Decode 请求交替调度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34125" y="3648075"/>
            <a:ext cx="5314950" cy="457200"/>
          </a:xfrm>
          <a:custGeom>
            <a:avLst/>
            <a:gdLst/>
            <a:ahLst/>
            <a:cxnLst/>
            <a:rect l="l" t="t" r="r" b="b"/>
            <a:pathLst>
              <a:path w="5314950" h="4572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380998"/>
                </a:lnTo>
                <a:cubicBezTo>
                  <a:pt x="5314950" y="423083"/>
                  <a:pt x="5280833" y="457200"/>
                  <a:pt x="5238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448425" y="3762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15088" y="3762375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53225" y="3762375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进一步降低长前缀场景的调度延迟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5763" y="4424363"/>
            <a:ext cx="11420475" cy="1419225"/>
          </a:xfrm>
          <a:custGeom>
            <a:avLst/>
            <a:gdLst/>
            <a:ahLst/>
            <a:cxnLst/>
            <a:rect l="l" t="t" r="r" b="b"/>
            <a:pathLst>
              <a:path w="11420475" h="141922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1343027"/>
                </a:lnTo>
                <a:cubicBezTo>
                  <a:pt x="11420475" y="1385110"/>
                  <a:pt x="11386360" y="1419225"/>
                  <a:pt x="1134427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66738" y="4619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95350" y="45815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协同收益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2925" y="4962525"/>
            <a:ext cx="3600450" cy="723900"/>
          </a:xfrm>
          <a:custGeom>
            <a:avLst/>
            <a:gdLst/>
            <a:ahLst/>
            <a:cxnLst/>
            <a:rect l="l" t="t" r="r" b="b"/>
            <a:pathLst>
              <a:path w="3600450" h="723900">
                <a:moveTo>
                  <a:pt x="76198" y="0"/>
                </a:moveTo>
                <a:lnTo>
                  <a:pt x="3524252" y="0"/>
                </a:lnTo>
                <a:cubicBezTo>
                  <a:pt x="3566307" y="0"/>
                  <a:pt x="3600450" y="34143"/>
                  <a:pt x="3600450" y="76198"/>
                </a:cubicBezTo>
                <a:lnTo>
                  <a:pt x="3600450" y="647702"/>
                </a:lnTo>
                <a:cubicBezTo>
                  <a:pt x="3600450" y="689757"/>
                  <a:pt x="3566307" y="723900"/>
                  <a:pt x="35242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85800" y="51149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23925" y="507682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更低的延迟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7225" y="5381625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缓存命中部分完全跳过,未命中部分细粒度调度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95775" y="4962525"/>
            <a:ext cx="3600450" cy="723900"/>
          </a:xfrm>
          <a:custGeom>
            <a:avLst/>
            <a:gdLst/>
            <a:ahLst/>
            <a:cxnLst/>
            <a:rect l="l" t="t" r="r" b="b"/>
            <a:pathLst>
              <a:path w="3600450" h="723900">
                <a:moveTo>
                  <a:pt x="76198" y="0"/>
                </a:moveTo>
                <a:lnTo>
                  <a:pt x="3524252" y="0"/>
                </a:lnTo>
                <a:cubicBezTo>
                  <a:pt x="3566307" y="0"/>
                  <a:pt x="3600450" y="34143"/>
                  <a:pt x="3600450" y="76198"/>
                </a:cubicBezTo>
                <a:lnTo>
                  <a:pt x="3600450" y="647702"/>
                </a:lnTo>
                <a:cubicBezTo>
                  <a:pt x="3600450" y="689757"/>
                  <a:pt x="3566307" y="723900"/>
                  <a:pt x="35242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4410075" y="51149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676775" y="50768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更好的公平性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410075" y="5381625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 Prefill 不会阻塞短 Decode 请求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048625" y="4962525"/>
            <a:ext cx="3600450" cy="723900"/>
          </a:xfrm>
          <a:custGeom>
            <a:avLst/>
            <a:gdLst/>
            <a:ahLst/>
            <a:cxnLst/>
            <a:rect l="l" t="t" r="r" b="b"/>
            <a:pathLst>
              <a:path w="3600450" h="723900">
                <a:moveTo>
                  <a:pt x="76198" y="0"/>
                </a:moveTo>
                <a:lnTo>
                  <a:pt x="3524252" y="0"/>
                </a:lnTo>
                <a:cubicBezTo>
                  <a:pt x="3566307" y="0"/>
                  <a:pt x="3600450" y="34143"/>
                  <a:pt x="3600450" y="76198"/>
                </a:cubicBezTo>
                <a:lnTo>
                  <a:pt x="3600450" y="647702"/>
                </a:lnTo>
                <a:cubicBezTo>
                  <a:pt x="3600450" y="689757"/>
                  <a:pt x="3566307" y="723900"/>
                  <a:pt x="35242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181975" y="5114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429625" y="50768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更高的吞吐量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162925" y="5381625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GPU 利用率最大化,减少空闲等待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PD SEPARATION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 PD 分离架构的结合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11410950" cy="590550"/>
          </a:xfrm>
          <a:custGeom>
            <a:avLst/>
            <a:gdLst/>
            <a:ahLst/>
            <a:cxnLst/>
            <a:rect l="l" t="t" r="r" b="b"/>
            <a:pathLst>
              <a:path w="11410950" h="590550">
                <a:moveTo>
                  <a:pt x="38100" y="0"/>
                </a:moveTo>
                <a:lnTo>
                  <a:pt x="11334751" y="0"/>
                </a:lnTo>
                <a:cubicBezTo>
                  <a:pt x="11376835" y="0"/>
                  <a:pt x="11410950" y="34115"/>
                  <a:pt x="11410950" y="76199"/>
                </a:cubicBezTo>
                <a:lnTo>
                  <a:pt x="11410950" y="514351"/>
                </a:lnTo>
                <a:cubicBezTo>
                  <a:pt x="11410950" y="556435"/>
                  <a:pt x="11376835" y="590550"/>
                  <a:pt x="11334751" y="590550"/>
                </a:cubicBez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590550"/>
          </a:xfrm>
          <a:custGeom>
            <a:avLst/>
            <a:gdLst/>
            <a:ahLst/>
            <a:cxnLst/>
            <a:rect l="l" t="t" r="r" b="b"/>
            <a:pathLst>
              <a:path w="38100" h="590550">
                <a:moveTo>
                  <a:pt x="38100" y="0"/>
                </a:moveTo>
                <a:lnTo>
                  <a:pt x="38100" y="0"/>
                </a:lnTo>
                <a:lnTo>
                  <a:pt x="38100" y="590550"/>
                </a:ln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09600" y="1371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07156" y="35719"/>
                </a:moveTo>
                <a:cubicBezTo>
                  <a:pt x="107156" y="25840"/>
                  <a:pt x="115137" y="17859"/>
                  <a:pt x="125016" y="17859"/>
                </a:cubicBezTo>
                <a:lnTo>
                  <a:pt x="160734" y="17859"/>
                </a:lnTo>
                <a:cubicBezTo>
                  <a:pt x="170613" y="17859"/>
                  <a:pt x="178594" y="25840"/>
                  <a:pt x="178594" y="35719"/>
                </a:cubicBezTo>
                <a:lnTo>
                  <a:pt x="178594" y="71438"/>
                </a:lnTo>
                <a:cubicBezTo>
                  <a:pt x="178594" y="81316"/>
                  <a:pt x="170613" y="89297"/>
                  <a:pt x="160734" y="89297"/>
                </a:cubicBezTo>
                <a:lnTo>
                  <a:pt x="156270" y="89297"/>
                </a:lnTo>
                <a:lnTo>
                  <a:pt x="156270" y="125016"/>
                </a:lnTo>
                <a:lnTo>
                  <a:pt x="223242" y="125016"/>
                </a:lnTo>
                <a:cubicBezTo>
                  <a:pt x="245455" y="125016"/>
                  <a:pt x="263426" y="142987"/>
                  <a:pt x="263426" y="165199"/>
                </a:cubicBezTo>
                <a:lnTo>
                  <a:pt x="263426" y="196453"/>
                </a:lnTo>
                <a:lnTo>
                  <a:pt x="267891" y="196453"/>
                </a:lnTo>
                <a:cubicBezTo>
                  <a:pt x="277769" y="196453"/>
                  <a:pt x="285750" y="204434"/>
                  <a:pt x="285750" y="214313"/>
                </a:cubicBezTo>
                <a:lnTo>
                  <a:pt x="285750" y="250031"/>
                </a:lnTo>
                <a:cubicBezTo>
                  <a:pt x="285750" y="259910"/>
                  <a:pt x="277769" y="267891"/>
                  <a:pt x="267891" y="267891"/>
                </a:cubicBezTo>
                <a:lnTo>
                  <a:pt x="232172" y="267891"/>
                </a:lnTo>
                <a:cubicBezTo>
                  <a:pt x="222293" y="267891"/>
                  <a:pt x="214313" y="259910"/>
                  <a:pt x="214313" y="250031"/>
                </a:cubicBezTo>
                <a:lnTo>
                  <a:pt x="214313" y="214313"/>
                </a:lnTo>
                <a:cubicBezTo>
                  <a:pt x="214313" y="204434"/>
                  <a:pt x="222293" y="196453"/>
                  <a:pt x="232172" y="196453"/>
                </a:cubicBezTo>
                <a:lnTo>
                  <a:pt x="236637" y="196453"/>
                </a:lnTo>
                <a:lnTo>
                  <a:pt x="236637" y="165199"/>
                </a:lnTo>
                <a:cubicBezTo>
                  <a:pt x="236637" y="157776"/>
                  <a:pt x="230665" y="151805"/>
                  <a:pt x="223242" y="151805"/>
                </a:cubicBezTo>
                <a:lnTo>
                  <a:pt x="156270" y="151805"/>
                </a:lnTo>
                <a:lnTo>
                  <a:pt x="156270" y="196453"/>
                </a:lnTo>
                <a:lnTo>
                  <a:pt x="160734" y="196453"/>
                </a:lnTo>
                <a:cubicBezTo>
                  <a:pt x="170613" y="196453"/>
                  <a:pt x="178594" y="204434"/>
                  <a:pt x="178594" y="214313"/>
                </a:cubicBezTo>
                <a:lnTo>
                  <a:pt x="178594" y="250031"/>
                </a:lnTo>
                <a:cubicBezTo>
                  <a:pt x="178594" y="259910"/>
                  <a:pt x="170613" y="267891"/>
                  <a:pt x="160734" y="267891"/>
                </a:cubicBezTo>
                <a:lnTo>
                  <a:pt x="125016" y="267891"/>
                </a:lnTo>
                <a:cubicBezTo>
                  <a:pt x="115137" y="267891"/>
                  <a:pt x="107156" y="259910"/>
                  <a:pt x="107156" y="250031"/>
                </a:cubicBezTo>
                <a:lnTo>
                  <a:pt x="107156" y="214313"/>
                </a:lnTo>
                <a:cubicBezTo>
                  <a:pt x="107156" y="204434"/>
                  <a:pt x="115137" y="196453"/>
                  <a:pt x="125016" y="196453"/>
                </a:cubicBezTo>
                <a:lnTo>
                  <a:pt x="129480" y="196453"/>
                </a:lnTo>
                <a:lnTo>
                  <a:pt x="129480" y="151805"/>
                </a:lnTo>
                <a:lnTo>
                  <a:pt x="62508" y="151805"/>
                </a:lnTo>
                <a:cubicBezTo>
                  <a:pt x="55085" y="151805"/>
                  <a:pt x="49113" y="157776"/>
                  <a:pt x="49113" y="165199"/>
                </a:cubicBezTo>
                <a:lnTo>
                  <a:pt x="49113" y="196453"/>
                </a:lnTo>
                <a:lnTo>
                  <a:pt x="53578" y="196453"/>
                </a:lnTo>
                <a:cubicBezTo>
                  <a:pt x="63457" y="196453"/>
                  <a:pt x="71438" y="204434"/>
                  <a:pt x="71438" y="214313"/>
                </a:cubicBezTo>
                <a:lnTo>
                  <a:pt x="71438" y="250031"/>
                </a:lnTo>
                <a:cubicBezTo>
                  <a:pt x="71438" y="259910"/>
                  <a:pt x="63457" y="267891"/>
                  <a:pt x="53578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14313"/>
                </a:lnTo>
                <a:cubicBezTo>
                  <a:pt x="0" y="204434"/>
                  <a:pt x="7981" y="196453"/>
                  <a:pt x="17859" y="196453"/>
                </a:cubicBezTo>
                <a:lnTo>
                  <a:pt x="22324" y="196453"/>
                </a:lnTo>
                <a:lnTo>
                  <a:pt x="22324" y="165199"/>
                </a:lnTo>
                <a:cubicBezTo>
                  <a:pt x="22324" y="142987"/>
                  <a:pt x="40295" y="125016"/>
                  <a:pt x="62508" y="125016"/>
                </a:cubicBezTo>
                <a:lnTo>
                  <a:pt x="129480" y="125016"/>
                </a:lnTo>
                <a:lnTo>
                  <a:pt x="129480" y="89297"/>
                </a:lnTo>
                <a:lnTo>
                  <a:pt x="125016" y="89297"/>
                </a:lnTo>
                <a:cubicBezTo>
                  <a:pt x="115137" y="89297"/>
                  <a:pt x="107156" y="81316"/>
                  <a:pt x="107156" y="71438"/>
                </a:cubicBezTo>
                <a:lnTo>
                  <a:pt x="107156" y="35719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81088" y="1371600"/>
            <a:ext cx="10658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</a:t>
            </a:r>
            <a:r>
              <a:rPr lang="en-US" sz="1200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Prefill-Decode 分离架构 </a:t>
            </a:r>
            <a:r>
              <a:rPr lang="en-US" sz="1200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中,Prefix Caching 可以</a:t>
            </a:r>
            <a:r>
              <a:rPr lang="en-US" sz="1200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显著优化 Prefill 节点的负载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1966912"/>
            <a:ext cx="3695700" cy="2295525"/>
          </a:xfrm>
          <a:custGeom>
            <a:avLst/>
            <a:gdLst/>
            <a:ahLst/>
            <a:cxnLst/>
            <a:rect l="l" t="t" r="r" b="b"/>
            <a:pathLst>
              <a:path w="3695700" h="2295525">
                <a:moveTo>
                  <a:pt x="76211" y="0"/>
                </a:moveTo>
                <a:lnTo>
                  <a:pt x="3619489" y="0"/>
                </a:lnTo>
                <a:cubicBezTo>
                  <a:pt x="3661579" y="0"/>
                  <a:pt x="3695700" y="34121"/>
                  <a:pt x="3695700" y="76211"/>
                </a:cubicBezTo>
                <a:lnTo>
                  <a:pt x="3695700" y="2219314"/>
                </a:lnTo>
                <a:cubicBezTo>
                  <a:pt x="3695700" y="2261404"/>
                  <a:pt x="3661579" y="2295525"/>
                  <a:pt x="3619489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42925" y="2124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88181" y="22574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14425" y="2219325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Prefill 节点缓存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69557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57225" y="280987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维护热门前缀的缓存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925" y="319087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7225" y="330517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减少重复计算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925" y="368617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57225" y="380047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降低 Prefill 节点负载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6513" y="1966912"/>
            <a:ext cx="3695700" cy="2295525"/>
          </a:xfrm>
          <a:custGeom>
            <a:avLst/>
            <a:gdLst/>
            <a:ahLst/>
            <a:cxnLst/>
            <a:rect l="l" t="t" r="r" b="b"/>
            <a:pathLst>
              <a:path w="3695700" h="2295525">
                <a:moveTo>
                  <a:pt x="76211" y="0"/>
                </a:moveTo>
                <a:lnTo>
                  <a:pt x="3619489" y="0"/>
                </a:lnTo>
                <a:cubicBezTo>
                  <a:pt x="3661579" y="0"/>
                  <a:pt x="3695700" y="34121"/>
                  <a:pt x="3695700" y="76211"/>
                </a:cubicBezTo>
                <a:lnTo>
                  <a:pt x="3695700" y="2219314"/>
                </a:lnTo>
                <a:cubicBezTo>
                  <a:pt x="3695700" y="2261404"/>
                  <a:pt x="3661579" y="2295525"/>
                  <a:pt x="3619489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403675" y="2124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537025" y="2257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975175" y="22193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智能路由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03675" y="269557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517975" y="280987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相同前缀请求路由到同一 Prefill 节点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03675" y="319087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517975" y="330517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最大化缓存命中率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03675" y="368617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17975" y="380047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负载均衡与缓存命中权衡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7338" y="1966912"/>
            <a:ext cx="3695700" cy="2295525"/>
          </a:xfrm>
          <a:custGeom>
            <a:avLst/>
            <a:gdLst/>
            <a:ahLst/>
            <a:cxnLst/>
            <a:rect l="l" t="t" r="r" b="b"/>
            <a:pathLst>
              <a:path w="3695700" h="2295525">
                <a:moveTo>
                  <a:pt x="76211" y="0"/>
                </a:moveTo>
                <a:lnTo>
                  <a:pt x="3619489" y="0"/>
                </a:lnTo>
                <a:cubicBezTo>
                  <a:pt x="3661579" y="0"/>
                  <a:pt x="3695700" y="34121"/>
                  <a:pt x="3695700" y="76211"/>
                </a:cubicBezTo>
                <a:lnTo>
                  <a:pt x="3695700" y="2219314"/>
                </a:lnTo>
                <a:cubicBezTo>
                  <a:pt x="3695700" y="2261404"/>
                  <a:pt x="3661579" y="2295525"/>
                  <a:pt x="3619489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8E8E93">
              <a:alpha val="10196"/>
            </a:srgbClr>
          </a:solidFill>
          <a:ln w="12700">
            <a:solidFill>
              <a:srgbClr val="8E8E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264500" y="2124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E8E9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97850" y="2257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8E8E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836000" y="2219325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 传输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64500" y="269557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378800" y="280987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 PDBackend 推送 KV Cache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64500" y="319087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378800" y="330517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 Prefill 节点到 Decode 节点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64500" y="3686175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76201" y="0"/>
                </a:moveTo>
                <a:lnTo>
                  <a:pt x="3305174" y="0"/>
                </a:lnTo>
                <a:cubicBezTo>
                  <a:pt x="3347259" y="0"/>
                  <a:pt x="3381375" y="34116"/>
                  <a:pt x="3381375" y="76201"/>
                </a:cubicBezTo>
                <a:lnTo>
                  <a:pt x="3381375" y="342899"/>
                </a:lnTo>
                <a:cubicBezTo>
                  <a:pt x="3381375" y="384984"/>
                  <a:pt x="3347259" y="419100"/>
                  <a:pt x="33051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378800" y="380047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 RDMA 高速传输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5763" y="4424363"/>
            <a:ext cx="11420475" cy="1952625"/>
          </a:xfrm>
          <a:custGeom>
            <a:avLst/>
            <a:gdLst/>
            <a:ahLst/>
            <a:cxnLst/>
            <a:rect l="l" t="t" r="r" b="b"/>
            <a:pathLst>
              <a:path w="11420475" h="1952625">
                <a:moveTo>
                  <a:pt x="76191" y="0"/>
                </a:moveTo>
                <a:lnTo>
                  <a:pt x="11344284" y="0"/>
                </a:lnTo>
                <a:cubicBezTo>
                  <a:pt x="11386335" y="0"/>
                  <a:pt x="11420475" y="34140"/>
                  <a:pt x="11420475" y="76191"/>
                </a:cubicBezTo>
                <a:lnTo>
                  <a:pt x="11420475" y="1876434"/>
                </a:lnTo>
                <a:cubicBezTo>
                  <a:pt x="11420475" y="1918485"/>
                  <a:pt x="11386335" y="1952625"/>
                  <a:pt x="11344284" y="1952625"/>
                </a:cubicBezTo>
                <a:lnTo>
                  <a:pt x="76191" y="1952625"/>
                </a:lnTo>
                <a:cubicBezTo>
                  <a:pt x="34140" y="1952625"/>
                  <a:pt x="0" y="1918485"/>
                  <a:pt x="0" y="187643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66738" y="4619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95350" y="458152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架构示意图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2925" y="4962525"/>
            <a:ext cx="11106150" cy="1257300"/>
          </a:xfrm>
          <a:custGeom>
            <a:avLst/>
            <a:gdLst/>
            <a:ahLst/>
            <a:cxnLst/>
            <a:rect l="l" t="t" r="r" b="b"/>
            <a:pathLst>
              <a:path w="11106150" h="1257300">
                <a:moveTo>
                  <a:pt x="76205" y="0"/>
                </a:moveTo>
                <a:lnTo>
                  <a:pt x="11029945" y="0"/>
                </a:lnTo>
                <a:cubicBezTo>
                  <a:pt x="11072032" y="0"/>
                  <a:pt x="11106150" y="34118"/>
                  <a:pt x="11106150" y="76205"/>
                </a:cubicBezTo>
                <a:lnTo>
                  <a:pt x="11106150" y="1181095"/>
                </a:lnTo>
                <a:cubicBezTo>
                  <a:pt x="11106150" y="1223182"/>
                  <a:pt x="11072032" y="1257300"/>
                  <a:pt x="1102994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802681" y="5114925"/>
            <a:ext cx="1562100" cy="762000"/>
          </a:xfrm>
          <a:custGeom>
            <a:avLst/>
            <a:gdLst/>
            <a:ahLst/>
            <a:cxnLst/>
            <a:rect l="l" t="t" r="r" b="b"/>
            <a:pathLst>
              <a:path w="1562100" h="762000">
                <a:moveTo>
                  <a:pt x="76200" y="0"/>
                </a:moveTo>
                <a:lnTo>
                  <a:pt x="1485900" y="0"/>
                </a:lnTo>
                <a:cubicBezTo>
                  <a:pt x="1527956" y="0"/>
                  <a:pt x="1562100" y="34144"/>
                  <a:pt x="1562100" y="76200"/>
                </a:cubicBezTo>
                <a:lnTo>
                  <a:pt x="1562100" y="685800"/>
                </a:lnTo>
                <a:cubicBezTo>
                  <a:pt x="1562100" y="727856"/>
                  <a:pt x="1527956" y="762000"/>
                  <a:pt x="14859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993181" y="5267325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Prefill 节点集群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997943" y="5534025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维护 Prefix Cache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336378" y="59531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2526878" y="59531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2717378" y="59531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5928568" y="5267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5580162" y="5572125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KV Cache 传输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698480" y="5762625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(PDBackend)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720435" y="5114925"/>
            <a:ext cx="1666875" cy="762000"/>
          </a:xfrm>
          <a:custGeom>
            <a:avLst/>
            <a:gdLst/>
            <a:ahLst/>
            <a:cxnLst/>
            <a:rect l="l" t="t" r="r" b="b"/>
            <a:pathLst>
              <a:path w="1666875" h="762000">
                <a:moveTo>
                  <a:pt x="76200" y="0"/>
                </a:moveTo>
                <a:lnTo>
                  <a:pt x="1590675" y="0"/>
                </a:lnTo>
                <a:cubicBezTo>
                  <a:pt x="1632731" y="0"/>
                  <a:pt x="1666875" y="34144"/>
                  <a:pt x="1666875" y="76200"/>
                </a:cubicBezTo>
                <a:lnTo>
                  <a:pt x="1666875" y="685800"/>
                </a:lnTo>
                <a:cubicBezTo>
                  <a:pt x="1666875" y="727856"/>
                  <a:pt x="1632731" y="762000"/>
                  <a:pt x="15906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910935" y="5267325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Decode 节点集群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915698" y="5534025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生成输出 token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307190" y="59531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9497690" y="59531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688190" y="59531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17" y="368617"/>
            <a:ext cx="1152849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kern="0" spc="58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CACHEBLEND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617" y="663510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非前缀复用与 CacheBlend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7048" y="1179574"/>
            <a:ext cx="11436336" cy="774095"/>
          </a:xfrm>
          <a:custGeom>
            <a:avLst/>
            <a:gdLst/>
            <a:ahLst/>
            <a:cxnLst/>
            <a:rect l="l" t="t" r="r" b="b"/>
            <a:pathLst>
              <a:path w="11436336" h="774095">
                <a:moveTo>
                  <a:pt x="36862" y="0"/>
                </a:moveTo>
                <a:lnTo>
                  <a:pt x="11362611" y="0"/>
                </a:lnTo>
                <a:cubicBezTo>
                  <a:pt x="11403328" y="0"/>
                  <a:pt x="11436336" y="33008"/>
                  <a:pt x="11436336" y="73725"/>
                </a:cubicBezTo>
                <a:lnTo>
                  <a:pt x="11436336" y="700370"/>
                </a:lnTo>
                <a:cubicBezTo>
                  <a:pt x="11436336" y="741088"/>
                  <a:pt x="11403328" y="774095"/>
                  <a:pt x="11362611" y="774095"/>
                </a:cubicBezTo>
                <a:lnTo>
                  <a:pt x="36862" y="774095"/>
                </a:lnTo>
                <a:cubicBezTo>
                  <a:pt x="16504" y="774095"/>
                  <a:pt x="0" y="757592"/>
                  <a:pt x="0" y="737234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7048" y="1179574"/>
            <a:ext cx="36862" cy="774095"/>
          </a:xfrm>
          <a:custGeom>
            <a:avLst/>
            <a:gdLst/>
            <a:ahLst/>
            <a:cxnLst/>
            <a:rect l="l" t="t" r="r" b="b"/>
            <a:pathLst>
              <a:path w="36862" h="774095">
                <a:moveTo>
                  <a:pt x="36862" y="0"/>
                </a:moveTo>
                <a:lnTo>
                  <a:pt x="36862" y="0"/>
                </a:lnTo>
                <a:lnTo>
                  <a:pt x="36862" y="774095"/>
                </a:lnTo>
                <a:lnTo>
                  <a:pt x="36862" y="774095"/>
                </a:lnTo>
                <a:cubicBezTo>
                  <a:pt x="16504" y="774095"/>
                  <a:pt x="0" y="757592"/>
                  <a:pt x="0" y="737234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89787" y="1327020"/>
            <a:ext cx="276463" cy="276463"/>
          </a:xfrm>
          <a:custGeom>
            <a:avLst/>
            <a:gdLst/>
            <a:ahLst/>
            <a:cxnLst/>
            <a:rect l="l" t="t" r="r" b="b"/>
            <a:pathLst>
              <a:path w="276463" h="276463">
                <a:moveTo>
                  <a:pt x="120952" y="0"/>
                </a:moveTo>
                <a:cubicBezTo>
                  <a:pt x="140013" y="0"/>
                  <a:pt x="155510" y="11609"/>
                  <a:pt x="155510" y="25918"/>
                </a:cubicBezTo>
                <a:cubicBezTo>
                  <a:pt x="155510" y="31534"/>
                  <a:pt x="153134" y="36718"/>
                  <a:pt x="149031" y="40983"/>
                </a:cubicBezTo>
                <a:cubicBezTo>
                  <a:pt x="145467" y="44709"/>
                  <a:pt x="142551" y="49245"/>
                  <a:pt x="142551" y="54429"/>
                </a:cubicBezTo>
                <a:cubicBezTo>
                  <a:pt x="142551" y="62528"/>
                  <a:pt x="149139" y="69116"/>
                  <a:pt x="157238" y="69116"/>
                </a:cubicBezTo>
                <a:lnTo>
                  <a:pt x="181429" y="69116"/>
                </a:lnTo>
                <a:cubicBezTo>
                  <a:pt x="195738" y="69116"/>
                  <a:pt x="207347" y="80725"/>
                  <a:pt x="207347" y="95034"/>
                </a:cubicBezTo>
                <a:lnTo>
                  <a:pt x="207347" y="119224"/>
                </a:lnTo>
                <a:cubicBezTo>
                  <a:pt x="207347" y="127324"/>
                  <a:pt x="213935" y="133912"/>
                  <a:pt x="222034" y="133912"/>
                </a:cubicBezTo>
                <a:cubicBezTo>
                  <a:pt x="227164" y="133912"/>
                  <a:pt x="231753" y="130996"/>
                  <a:pt x="235479" y="127432"/>
                </a:cubicBezTo>
                <a:cubicBezTo>
                  <a:pt x="239745" y="123382"/>
                  <a:pt x="244929" y="120952"/>
                  <a:pt x="250544" y="120952"/>
                </a:cubicBezTo>
                <a:cubicBezTo>
                  <a:pt x="264853" y="120952"/>
                  <a:pt x="276463" y="136449"/>
                  <a:pt x="276463" y="155510"/>
                </a:cubicBezTo>
                <a:cubicBezTo>
                  <a:pt x="276463" y="174571"/>
                  <a:pt x="264853" y="190068"/>
                  <a:pt x="250544" y="190068"/>
                </a:cubicBezTo>
                <a:cubicBezTo>
                  <a:pt x="244929" y="190068"/>
                  <a:pt x="239691" y="187692"/>
                  <a:pt x="235479" y="183588"/>
                </a:cubicBezTo>
                <a:cubicBezTo>
                  <a:pt x="231753" y="180025"/>
                  <a:pt x="227218" y="177109"/>
                  <a:pt x="222034" y="177109"/>
                </a:cubicBezTo>
                <a:cubicBezTo>
                  <a:pt x="213935" y="177109"/>
                  <a:pt x="207347" y="183696"/>
                  <a:pt x="207347" y="191796"/>
                </a:cubicBezTo>
                <a:lnTo>
                  <a:pt x="207347" y="250544"/>
                </a:lnTo>
                <a:cubicBezTo>
                  <a:pt x="207347" y="264853"/>
                  <a:pt x="195738" y="276463"/>
                  <a:pt x="181429" y="276463"/>
                </a:cubicBezTo>
                <a:lnTo>
                  <a:pt x="150759" y="276463"/>
                </a:lnTo>
                <a:cubicBezTo>
                  <a:pt x="143847" y="276463"/>
                  <a:pt x="138231" y="270847"/>
                  <a:pt x="138231" y="263935"/>
                </a:cubicBezTo>
                <a:cubicBezTo>
                  <a:pt x="138231" y="258968"/>
                  <a:pt x="141363" y="254594"/>
                  <a:pt x="145359" y="251624"/>
                </a:cubicBezTo>
                <a:cubicBezTo>
                  <a:pt x="151622" y="246926"/>
                  <a:pt x="155510" y="240447"/>
                  <a:pt x="155510" y="233265"/>
                </a:cubicBezTo>
                <a:cubicBezTo>
                  <a:pt x="155510" y="218956"/>
                  <a:pt x="140013" y="207347"/>
                  <a:pt x="120952" y="207347"/>
                </a:cubicBezTo>
                <a:cubicBezTo>
                  <a:pt x="101892" y="207347"/>
                  <a:pt x="86395" y="218956"/>
                  <a:pt x="86395" y="233265"/>
                </a:cubicBezTo>
                <a:cubicBezTo>
                  <a:pt x="86395" y="240447"/>
                  <a:pt x="90282" y="246926"/>
                  <a:pt x="96546" y="251624"/>
                </a:cubicBezTo>
                <a:cubicBezTo>
                  <a:pt x="100542" y="254594"/>
                  <a:pt x="103673" y="258914"/>
                  <a:pt x="103673" y="263935"/>
                </a:cubicBezTo>
                <a:cubicBezTo>
                  <a:pt x="103673" y="270847"/>
                  <a:pt x="98058" y="276463"/>
                  <a:pt x="91146" y="276463"/>
                </a:cubicBezTo>
                <a:lnTo>
                  <a:pt x="25918" y="276463"/>
                </a:lnTo>
                <a:cubicBezTo>
                  <a:pt x="11609" y="276463"/>
                  <a:pt x="0" y="264853"/>
                  <a:pt x="0" y="250544"/>
                </a:cubicBezTo>
                <a:lnTo>
                  <a:pt x="0" y="185316"/>
                </a:lnTo>
                <a:cubicBezTo>
                  <a:pt x="0" y="178405"/>
                  <a:pt x="5616" y="172789"/>
                  <a:pt x="12527" y="172789"/>
                </a:cubicBezTo>
                <a:cubicBezTo>
                  <a:pt x="17495" y="172789"/>
                  <a:pt x="21869" y="175921"/>
                  <a:pt x="24838" y="179917"/>
                </a:cubicBezTo>
                <a:cubicBezTo>
                  <a:pt x="29536" y="186180"/>
                  <a:pt x="36016" y="190068"/>
                  <a:pt x="43197" y="190068"/>
                </a:cubicBezTo>
                <a:cubicBezTo>
                  <a:pt x="57506" y="190068"/>
                  <a:pt x="69116" y="174571"/>
                  <a:pt x="69116" y="155510"/>
                </a:cubicBezTo>
                <a:cubicBezTo>
                  <a:pt x="69116" y="136449"/>
                  <a:pt x="57506" y="120952"/>
                  <a:pt x="43197" y="120952"/>
                </a:cubicBezTo>
                <a:cubicBezTo>
                  <a:pt x="36016" y="120952"/>
                  <a:pt x="29536" y="124840"/>
                  <a:pt x="24838" y="131104"/>
                </a:cubicBezTo>
                <a:cubicBezTo>
                  <a:pt x="21869" y="135099"/>
                  <a:pt x="17549" y="138231"/>
                  <a:pt x="12527" y="138231"/>
                </a:cubicBezTo>
                <a:cubicBezTo>
                  <a:pt x="5616" y="138231"/>
                  <a:pt x="0" y="132616"/>
                  <a:pt x="0" y="125704"/>
                </a:cubicBezTo>
                <a:lnTo>
                  <a:pt x="0" y="95034"/>
                </a:lnTo>
                <a:cubicBezTo>
                  <a:pt x="0" y="80725"/>
                  <a:pt x="11609" y="69116"/>
                  <a:pt x="25918" y="69116"/>
                </a:cubicBezTo>
                <a:lnTo>
                  <a:pt x="84667" y="69116"/>
                </a:lnTo>
                <a:cubicBezTo>
                  <a:pt x="92766" y="69116"/>
                  <a:pt x="99354" y="62528"/>
                  <a:pt x="99354" y="54429"/>
                </a:cubicBezTo>
                <a:cubicBezTo>
                  <a:pt x="99354" y="49299"/>
                  <a:pt x="96438" y="44709"/>
                  <a:pt x="92874" y="40983"/>
                </a:cubicBezTo>
                <a:cubicBezTo>
                  <a:pt x="88824" y="36718"/>
                  <a:pt x="86395" y="31534"/>
                  <a:pt x="86395" y="25918"/>
                </a:cubicBezTo>
                <a:cubicBezTo>
                  <a:pt x="86395" y="11609"/>
                  <a:pt x="101892" y="0"/>
                  <a:pt x="120952" y="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45950" y="1327020"/>
            <a:ext cx="10699102" cy="479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Prefix Caching 主要解决的是</a:t>
            </a:r>
            <a:r>
              <a:rPr lang="en-US" sz="1161" dirty="0">
                <a:solidFill>
                  <a:srgbClr val="D9A467"/>
                </a:solidFill>
                <a:highlight>
                  <a:srgbClr val="D9A467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严格前缀匹配 </a:t>
            </a:r>
            <a:r>
              <a:rPr lang="en-US" sz="116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的问题。对于 RAG 场景中检索文档</a:t>
            </a:r>
            <a:r>
              <a:rPr lang="en-US" sz="1161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顺序不固定</a:t>
            </a:r>
            <a:r>
              <a:rPr lang="en-US" sz="116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的情况,传统的前缀缓存会因为顺序打乱而失效。</a:t>
            </a:r>
            <a:r>
              <a:rPr lang="en-US" sz="1161" dirty="0">
                <a:solidFill>
                  <a:srgbClr val="5C7A96"/>
                </a:solidFill>
                <a:highlight>
                  <a:srgbClr val="5C7A96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CacheBlend </a:t>
            </a:r>
            <a:r>
              <a:rPr lang="en-US" sz="116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提供了一种创新的解决方案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3224" y="2105723"/>
            <a:ext cx="5639837" cy="2810703"/>
          </a:xfrm>
          <a:custGeom>
            <a:avLst/>
            <a:gdLst/>
            <a:ahLst/>
            <a:cxnLst/>
            <a:rect l="l" t="t" r="r" b="b"/>
            <a:pathLst>
              <a:path w="5639837" h="2810703">
                <a:moveTo>
                  <a:pt x="73725" y="0"/>
                </a:moveTo>
                <a:lnTo>
                  <a:pt x="5566112" y="0"/>
                </a:lnTo>
                <a:cubicBezTo>
                  <a:pt x="5606829" y="0"/>
                  <a:pt x="5639837" y="33008"/>
                  <a:pt x="5639837" y="73725"/>
                </a:cubicBezTo>
                <a:lnTo>
                  <a:pt x="5639837" y="2736978"/>
                </a:lnTo>
                <a:cubicBezTo>
                  <a:pt x="5639837" y="2777695"/>
                  <a:pt x="5606829" y="2810703"/>
                  <a:pt x="5566112" y="2810703"/>
                </a:cubicBezTo>
                <a:lnTo>
                  <a:pt x="73725" y="2810703"/>
                </a:lnTo>
                <a:cubicBezTo>
                  <a:pt x="33008" y="2810703"/>
                  <a:pt x="0" y="2777695"/>
                  <a:pt x="0" y="2736978"/>
                </a:cubicBezTo>
                <a:lnTo>
                  <a:pt x="0" y="73725"/>
                </a:lnTo>
                <a:cubicBezTo>
                  <a:pt x="0" y="33008"/>
                  <a:pt x="33008" y="0"/>
                  <a:pt x="73725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48317" y="2294639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92154" y="184308"/>
                </a:moveTo>
                <a:cubicBezTo>
                  <a:pt x="143015" y="184308"/>
                  <a:pt x="184308" y="143015"/>
                  <a:pt x="184308" y="92154"/>
                </a:cubicBezTo>
                <a:cubicBezTo>
                  <a:pt x="184308" y="41293"/>
                  <a:pt x="143015" y="0"/>
                  <a:pt x="92154" y="0"/>
                </a:cubicBezTo>
                <a:cubicBezTo>
                  <a:pt x="41293" y="0"/>
                  <a:pt x="0" y="41293"/>
                  <a:pt x="0" y="92154"/>
                </a:cubicBezTo>
                <a:cubicBezTo>
                  <a:pt x="0" y="143015"/>
                  <a:pt x="41293" y="184308"/>
                  <a:pt x="92154" y="184308"/>
                </a:cubicBezTo>
                <a:close/>
                <a:moveTo>
                  <a:pt x="60116" y="60116"/>
                </a:moveTo>
                <a:cubicBezTo>
                  <a:pt x="63500" y="56732"/>
                  <a:pt x="68972" y="56732"/>
                  <a:pt x="72319" y="60116"/>
                </a:cubicBezTo>
                <a:lnTo>
                  <a:pt x="92118" y="79915"/>
                </a:lnTo>
                <a:lnTo>
                  <a:pt x="111917" y="60116"/>
                </a:lnTo>
                <a:cubicBezTo>
                  <a:pt x="115301" y="56732"/>
                  <a:pt x="120772" y="56732"/>
                  <a:pt x="124120" y="60116"/>
                </a:cubicBezTo>
                <a:cubicBezTo>
                  <a:pt x="127468" y="63500"/>
                  <a:pt x="127504" y="68972"/>
                  <a:pt x="124120" y="72319"/>
                </a:cubicBezTo>
                <a:lnTo>
                  <a:pt x="104321" y="92118"/>
                </a:lnTo>
                <a:lnTo>
                  <a:pt x="124120" y="111917"/>
                </a:lnTo>
                <a:cubicBezTo>
                  <a:pt x="127504" y="115301"/>
                  <a:pt x="127504" y="120772"/>
                  <a:pt x="124120" y="124120"/>
                </a:cubicBezTo>
                <a:cubicBezTo>
                  <a:pt x="120736" y="127468"/>
                  <a:pt x="115265" y="127504"/>
                  <a:pt x="111917" y="124120"/>
                </a:cubicBezTo>
                <a:lnTo>
                  <a:pt x="92118" y="104321"/>
                </a:lnTo>
                <a:lnTo>
                  <a:pt x="72319" y="124120"/>
                </a:lnTo>
                <a:cubicBezTo>
                  <a:pt x="68936" y="127504"/>
                  <a:pt x="63464" y="127504"/>
                  <a:pt x="60116" y="124120"/>
                </a:cubicBezTo>
                <a:cubicBezTo>
                  <a:pt x="56768" y="120736"/>
                  <a:pt x="56732" y="115265"/>
                  <a:pt x="60116" y="111917"/>
                </a:cubicBezTo>
                <a:lnTo>
                  <a:pt x="79915" y="92118"/>
                </a:lnTo>
                <a:lnTo>
                  <a:pt x="60116" y="72319"/>
                </a:lnTo>
                <a:cubicBezTo>
                  <a:pt x="56732" y="68936"/>
                  <a:pt x="56732" y="63464"/>
                  <a:pt x="60116" y="60116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66249" y="2257778"/>
            <a:ext cx="1382313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传统方案的问题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5279" y="2626395"/>
            <a:ext cx="5335728" cy="663510"/>
          </a:xfrm>
          <a:custGeom>
            <a:avLst/>
            <a:gdLst/>
            <a:ahLst/>
            <a:cxnLst/>
            <a:rect l="l" t="t" r="r" b="b"/>
            <a:pathLst>
              <a:path w="5335728" h="663510">
                <a:moveTo>
                  <a:pt x="73723" y="0"/>
                </a:moveTo>
                <a:lnTo>
                  <a:pt x="5262005" y="0"/>
                </a:lnTo>
                <a:cubicBezTo>
                  <a:pt x="5302721" y="0"/>
                  <a:pt x="5335728" y="33007"/>
                  <a:pt x="5335728" y="73723"/>
                </a:cubicBezTo>
                <a:lnTo>
                  <a:pt x="5335728" y="589788"/>
                </a:lnTo>
                <a:cubicBezTo>
                  <a:pt x="5335728" y="630503"/>
                  <a:pt x="5302721" y="663510"/>
                  <a:pt x="5262005" y="663510"/>
                </a:cubicBezTo>
                <a:lnTo>
                  <a:pt x="73723" y="663510"/>
                </a:lnTo>
                <a:cubicBezTo>
                  <a:pt x="33007" y="663510"/>
                  <a:pt x="0" y="630503"/>
                  <a:pt x="0" y="589788"/>
                </a:cubicBezTo>
                <a:lnTo>
                  <a:pt x="0" y="73723"/>
                </a:lnTo>
                <a:cubicBezTo>
                  <a:pt x="0" y="33007"/>
                  <a:pt x="33007" y="0"/>
                  <a:pt x="73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35864" y="2736980"/>
            <a:ext cx="518828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场景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864" y="2995011"/>
            <a:ext cx="5179066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检索到的文档片段顺序不固定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5279" y="3363628"/>
            <a:ext cx="5335728" cy="663510"/>
          </a:xfrm>
          <a:custGeom>
            <a:avLst/>
            <a:gdLst/>
            <a:ahLst/>
            <a:cxnLst/>
            <a:rect l="l" t="t" r="r" b="b"/>
            <a:pathLst>
              <a:path w="5335728" h="663510">
                <a:moveTo>
                  <a:pt x="73723" y="0"/>
                </a:moveTo>
                <a:lnTo>
                  <a:pt x="5262005" y="0"/>
                </a:lnTo>
                <a:cubicBezTo>
                  <a:pt x="5302721" y="0"/>
                  <a:pt x="5335728" y="33007"/>
                  <a:pt x="5335728" y="73723"/>
                </a:cubicBezTo>
                <a:lnTo>
                  <a:pt x="5335728" y="589788"/>
                </a:lnTo>
                <a:cubicBezTo>
                  <a:pt x="5335728" y="630503"/>
                  <a:pt x="5302721" y="663510"/>
                  <a:pt x="5262005" y="663510"/>
                </a:cubicBezTo>
                <a:lnTo>
                  <a:pt x="73723" y="663510"/>
                </a:lnTo>
                <a:cubicBezTo>
                  <a:pt x="33007" y="663510"/>
                  <a:pt x="0" y="630503"/>
                  <a:pt x="0" y="589788"/>
                </a:cubicBezTo>
                <a:lnTo>
                  <a:pt x="0" y="73723"/>
                </a:lnTo>
                <a:cubicBezTo>
                  <a:pt x="0" y="33007"/>
                  <a:pt x="33007" y="0"/>
                  <a:pt x="73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35864" y="3474213"/>
            <a:ext cx="518828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前缀缓存失效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864" y="3732245"/>
            <a:ext cx="5179066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不同顺序导致前缀不匹配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5279" y="4100862"/>
            <a:ext cx="5335728" cy="663510"/>
          </a:xfrm>
          <a:custGeom>
            <a:avLst/>
            <a:gdLst/>
            <a:ahLst/>
            <a:cxnLst/>
            <a:rect l="l" t="t" r="r" b="b"/>
            <a:pathLst>
              <a:path w="5335728" h="663510">
                <a:moveTo>
                  <a:pt x="73723" y="0"/>
                </a:moveTo>
                <a:lnTo>
                  <a:pt x="5262005" y="0"/>
                </a:lnTo>
                <a:cubicBezTo>
                  <a:pt x="5302721" y="0"/>
                  <a:pt x="5335728" y="33007"/>
                  <a:pt x="5335728" y="73723"/>
                </a:cubicBezTo>
                <a:lnTo>
                  <a:pt x="5335728" y="589788"/>
                </a:lnTo>
                <a:cubicBezTo>
                  <a:pt x="5335728" y="630503"/>
                  <a:pt x="5302721" y="663510"/>
                  <a:pt x="5262005" y="663510"/>
                </a:cubicBezTo>
                <a:lnTo>
                  <a:pt x="73723" y="663510"/>
                </a:lnTo>
                <a:cubicBezTo>
                  <a:pt x="33007" y="663510"/>
                  <a:pt x="0" y="630503"/>
                  <a:pt x="0" y="589788"/>
                </a:cubicBezTo>
                <a:lnTo>
                  <a:pt x="0" y="73723"/>
                </a:lnTo>
                <a:cubicBezTo>
                  <a:pt x="0" y="33007"/>
                  <a:pt x="33007" y="0"/>
                  <a:pt x="73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35864" y="4211447"/>
            <a:ext cx="518828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重复计算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864" y="4469478"/>
            <a:ext cx="5179066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相同文档片段需要重复计算 KV Cache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747" y="2105723"/>
            <a:ext cx="5639837" cy="2810703"/>
          </a:xfrm>
          <a:custGeom>
            <a:avLst/>
            <a:gdLst/>
            <a:ahLst/>
            <a:cxnLst/>
            <a:rect l="l" t="t" r="r" b="b"/>
            <a:pathLst>
              <a:path w="5639837" h="2810703">
                <a:moveTo>
                  <a:pt x="73725" y="0"/>
                </a:moveTo>
                <a:lnTo>
                  <a:pt x="5566112" y="0"/>
                </a:lnTo>
                <a:cubicBezTo>
                  <a:pt x="5606829" y="0"/>
                  <a:pt x="5639837" y="33008"/>
                  <a:pt x="5639837" y="73725"/>
                </a:cubicBezTo>
                <a:lnTo>
                  <a:pt x="5639837" y="2736978"/>
                </a:lnTo>
                <a:cubicBezTo>
                  <a:pt x="5639837" y="2777695"/>
                  <a:pt x="5606829" y="2810703"/>
                  <a:pt x="5566112" y="2810703"/>
                </a:cubicBezTo>
                <a:lnTo>
                  <a:pt x="73725" y="2810703"/>
                </a:lnTo>
                <a:cubicBezTo>
                  <a:pt x="33008" y="2810703"/>
                  <a:pt x="0" y="2777695"/>
                  <a:pt x="0" y="2736978"/>
                </a:cubicBezTo>
                <a:lnTo>
                  <a:pt x="0" y="73725"/>
                </a:lnTo>
                <a:cubicBezTo>
                  <a:pt x="0" y="33008"/>
                  <a:pt x="33008" y="0"/>
                  <a:pt x="73725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347840" y="2294639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143451" y="4392"/>
                </a:moveTo>
                <a:lnTo>
                  <a:pt x="111701" y="36142"/>
                </a:lnTo>
                <a:lnTo>
                  <a:pt x="148167" y="72607"/>
                </a:lnTo>
                <a:lnTo>
                  <a:pt x="179917" y="40857"/>
                </a:lnTo>
                <a:cubicBezTo>
                  <a:pt x="182724" y="38014"/>
                  <a:pt x="184308" y="34198"/>
                  <a:pt x="184308" y="30238"/>
                </a:cubicBezTo>
                <a:cubicBezTo>
                  <a:pt x="184308" y="26278"/>
                  <a:pt x="182724" y="22463"/>
                  <a:pt x="179917" y="19619"/>
                </a:cubicBezTo>
                <a:lnTo>
                  <a:pt x="164690" y="4392"/>
                </a:lnTo>
                <a:cubicBezTo>
                  <a:pt x="161846" y="1584"/>
                  <a:pt x="158030" y="0"/>
                  <a:pt x="154070" y="0"/>
                </a:cubicBezTo>
                <a:cubicBezTo>
                  <a:pt x="150111" y="0"/>
                  <a:pt x="146295" y="1584"/>
                  <a:pt x="143451" y="4392"/>
                </a:cubicBezTo>
                <a:close/>
                <a:moveTo>
                  <a:pt x="99498" y="48345"/>
                </a:moveTo>
                <a:lnTo>
                  <a:pt x="4392" y="143451"/>
                </a:lnTo>
                <a:cubicBezTo>
                  <a:pt x="1584" y="146295"/>
                  <a:pt x="0" y="150111"/>
                  <a:pt x="0" y="154070"/>
                </a:cubicBezTo>
                <a:cubicBezTo>
                  <a:pt x="0" y="158030"/>
                  <a:pt x="1584" y="161846"/>
                  <a:pt x="4392" y="164690"/>
                </a:cubicBezTo>
                <a:lnTo>
                  <a:pt x="19619" y="179917"/>
                </a:lnTo>
                <a:cubicBezTo>
                  <a:pt x="22463" y="182724"/>
                  <a:pt x="26278" y="184308"/>
                  <a:pt x="30238" y="184308"/>
                </a:cubicBezTo>
                <a:cubicBezTo>
                  <a:pt x="34198" y="184308"/>
                  <a:pt x="38014" y="182724"/>
                  <a:pt x="40857" y="179917"/>
                </a:cubicBezTo>
                <a:lnTo>
                  <a:pt x="135963" y="84811"/>
                </a:lnTo>
                <a:lnTo>
                  <a:pt x="99498" y="48345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65772" y="2257778"/>
            <a:ext cx="1575837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CacheBlend 方案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24802" y="2626395"/>
            <a:ext cx="5335728" cy="405478"/>
          </a:xfrm>
          <a:custGeom>
            <a:avLst/>
            <a:gdLst/>
            <a:ahLst/>
            <a:cxnLst/>
            <a:rect l="l" t="t" r="r" b="b"/>
            <a:pathLst>
              <a:path w="5335728" h="405478">
                <a:moveTo>
                  <a:pt x="73724" y="0"/>
                </a:moveTo>
                <a:lnTo>
                  <a:pt x="5262004" y="0"/>
                </a:lnTo>
                <a:cubicBezTo>
                  <a:pt x="5302720" y="0"/>
                  <a:pt x="5335728" y="33007"/>
                  <a:pt x="5335728" y="73724"/>
                </a:cubicBezTo>
                <a:lnTo>
                  <a:pt x="5335728" y="331754"/>
                </a:lnTo>
                <a:cubicBezTo>
                  <a:pt x="5335728" y="372471"/>
                  <a:pt x="5302720" y="405478"/>
                  <a:pt x="5262004" y="405478"/>
                </a:cubicBezTo>
                <a:lnTo>
                  <a:pt x="73724" y="405478"/>
                </a:lnTo>
                <a:cubicBezTo>
                  <a:pt x="33007" y="405478"/>
                  <a:pt x="0" y="372471"/>
                  <a:pt x="0" y="331754"/>
                </a:cubicBezTo>
                <a:lnTo>
                  <a:pt x="0" y="73724"/>
                </a:lnTo>
                <a:cubicBezTo>
                  <a:pt x="0" y="33035"/>
                  <a:pt x="33035" y="0"/>
                  <a:pt x="7372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53817" y="2773841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693418" y="2736980"/>
            <a:ext cx="1990531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允许复用</a:t>
            </a:r>
            <a:r>
              <a:rPr lang="en-US" sz="1016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非前缀位置</a:t>
            </a: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 KV Cache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4802" y="3105596"/>
            <a:ext cx="5335728" cy="405478"/>
          </a:xfrm>
          <a:custGeom>
            <a:avLst/>
            <a:gdLst/>
            <a:ahLst/>
            <a:cxnLst/>
            <a:rect l="l" t="t" r="r" b="b"/>
            <a:pathLst>
              <a:path w="5335728" h="405478">
                <a:moveTo>
                  <a:pt x="73724" y="0"/>
                </a:moveTo>
                <a:lnTo>
                  <a:pt x="5262004" y="0"/>
                </a:lnTo>
                <a:cubicBezTo>
                  <a:pt x="5302720" y="0"/>
                  <a:pt x="5335728" y="33007"/>
                  <a:pt x="5335728" y="73724"/>
                </a:cubicBezTo>
                <a:lnTo>
                  <a:pt x="5335728" y="331754"/>
                </a:lnTo>
                <a:cubicBezTo>
                  <a:pt x="5335728" y="372471"/>
                  <a:pt x="5302720" y="405478"/>
                  <a:pt x="5262004" y="405478"/>
                </a:cubicBezTo>
                <a:lnTo>
                  <a:pt x="73724" y="405478"/>
                </a:lnTo>
                <a:cubicBezTo>
                  <a:pt x="33007" y="405478"/>
                  <a:pt x="0" y="372471"/>
                  <a:pt x="0" y="331754"/>
                </a:cubicBezTo>
                <a:lnTo>
                  <a:pt x="0" y="73724"/>
                </a:lnTo>
                <a:cubicBezTo>
                  <a:pt x="0" y="33035"/>
                  <a:pt x="33035" y="0"/>
                  <a:pt x="7372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53817" y="3253043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693418" y="3216181"/>
            <a:ext cx="2119546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</a:t>
            </a:r>
            <a:r>
              <a:rPr lang="en-US" sz="1016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选择性重算</a:t>
            </a: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修正 Attention 偏差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24802" y="3584798"/>
            <a:ext cx="5335728" cy="405478"/>
          </a:xfrm>
          <a:custGeom>
            <a:avLst/>
            <a:gdLst/>
            <a:ahLst/>
            <a:cxnLst/>
            <a:rect l="l" t="t" r="r" b="b"/>
            <a:pathLst>
              <a:path w="5335728" h="405478">
                <a:moveTo>
                  <a:pt x="73724" y="0"/>
                </a:moveTo>
                <a:lnTo>
                  <a:pt x="5262004" y="0"/>
                </a:lnTo>
                <a:cubicBezTo>
                  <a:pt x="5302720" y="0"/>
                  <a:pt x="5335728" y="33007"/>
                  <a:pt x="5335728" y="73724"/>
                </a:cubicBezTo>
                <a:lnTo>
                  <a:pt x="5335728" y="331754"/>
                </a:lnTo>
                <a:cubicBezTo>
                  <a:pt x="5335728" y="372471"/>
                  <a:pt x="5302720" y="405478"/>
                  <a:pt x="5262004" y="405478"/>
                </a:cubicBezTo>
                <a:lnTo>
                  <a:pt x="73724" y="405478"/>
                </a:lnTo>
                <a:cubicBezTo>
                  <a:pt x="33007" y="405478"/>
                  <a:pt x="0" y="372471"/>
                  <a:pt x="0" y="331754"/>
                </a:cubicBezTo>
                <a:lnTo>
                  <a:pt x="0" y="73724"/>
                </a:lnTo>
                <a:cubicBezTo>
                  <a:pt x="0" y="33035"/>
                  <a:pt x="33035" y="0"/>
                  <a:pt x="7372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53817" y="3732245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693418" y="3695383"/>
            <a:ext cx="1999746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在复用率和计算开销之间</a:t>
            </a:r>
            <a:r>
              <a:rPr lang="en-US" sz="1016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动态平衡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73224" y="5073088"/>
            <a:ext cx="11445551" cy="1409959"/>
          </a:xfrm>
          <a:custGeom>
            <a:avLst/>
            <a:gdLst/>
            <a:ahLst/>
            <a:cxnLst/>
            <a:rect l="l" t="t" r="r" b="b"/>
            <a:pathLst>
              <a:path w="11445551" h="1409959">
                <a:moveTo>
                  <a:pt x="73727" y="0"/>
                </a:moveTo>
                <a:lnTo>
                  <a:pt x="11371824" y="0"/>
                </a:lnTo>
                <a:cubicBezTo>
                  <a:pt x="11412542" y="0"/>
                  <a:pt x="11445551" y="33009"/>
                  <a:pt x="11445551" y="73727"/>
                </a:cubicBezTo>
                <a:lnTo>
                  <a:pt x="11445551" y="1336232"/>
                </a:lnTo>
                <a:cubicBezTo>
                  <a:pt x="11445551" y="1376951"/>
                  <a:pt x="11412542" y="1409959"/>
                  <a:pt x="11371824" y="1409959"/>
                </a:cubicBezTo>
                <a:lnTo>
                  <a:pt x="73727" y="1409959"/>
                </a:lnTo>
                <a:cubicBezTo>
                  <a:pt x="33009" y="1409959"/>
                  <a:pt x="0" y="1376951"/>
                  <a:pt x="0" y="1336232"/>
                </a:cubicBezTo>
                <a:lnTo>
                  <a:pt x="0" y="73727"/>
                </a:lnTo>
                <a:cubicBezTo>
                  <a:pt x="0" y="33036"/>
                  <a:pt x="33036" y="0"/>
                  <a:pt x="73727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71356" y="5262005"/>
            <a:ext cx="138231" cy="184308"/>
          </a:xfrm>
          <a:custGeom>
            <a:avLst/>
            <a:gdLst/>
            <a:ahLst/>
            <a:cxnLst/>
            <a:rect l="l" t="t" r="r" b="b"/>
            <a:pathLst>
              <a:path w="138231" h="184308">
                <a:moveTo>
                  <a:pt x="105437" y="138231"/>
                </a:moveTo>
                <a:cubicBezTo>
                  <a:pt x="108065" y="130204"/>
                  <a:pt x="113321" y="122932"/>
                  <a:pt x="119260" y="116669"/>
                </a:cubicBezTo>
                <a:cubicBezTo>
                  <a:pt x="131032" y="104285"/>
                  <a:pt x="138231" y="87546"/>
                  <a:pt x="138231" y="69116"/>
                </a:cubicBezTo>
                <a:cubicBezTo>
                  <a:pt x="138231" y="30958"/>
                  <a:pt x="107273" y="0"/>
                  <a:pt x="69116" y="0"/>
                </a:cubicBezTo>
                <a:cubicBezTo>
                  <a:pt x="30958" y="0"/>
                  <a:pt x="0" y="30958"/>
                  <a:pt x="0" y="69116"/>
                </a:cubicBezTo>
                <a:cubicBezTo>
                  <a:pt x="0" y="87546"/>
                  <a:pt x="7200" y="104285"/>
                  <a:pt x="18971" y="116669"/>
                </a:cubicBezTo>
                <a:cubicBezTo>
                  <a:pt x="24910" y="122932"/>
                  <a:pt x="30202" y="130204"/>
                  <a:pt x="32794" y="138231"/>
                </a:cubicBezTo>
                <a:lnTo>
                  <a:pt x="105401" y="138231"/>
                </a:lnTo>
                <a:close/>
                <a:moveTo>
                  <a:pt x="103673" y="155510"/>
                </a:moveTo>
                <a:lnTo>
                  <a:pt x="34558" y="155510"/>
                </a:lnTo>
                <a:lnTo>
                  <a:pt x="34558" y="161270"/>
                </a:lnTo>
                <a:cubicBezTo>
                  <a:pt x="34558" y="177181"/>
                  <a:pt x="47445" y="190068"/>
                  <a:pt x="63356" y="190068"/>
                </a:cubicBezTo>
                <a:lnTo>
                  <a:pt x="74875" y="190068"/>
                </a:lnTo>
                <a:cubicBezTo>
                  <a:pt x="90786" y="190068"/>
                  <a:pt x="103673" y="177181"/>
                  <a:pt x="103673" y="161270"/>
                </a:cubicBezTo>
                <a:lnTo>
                  <a:pt x="103673" y="155510"/>
                </a:lnTo>
                <a:close/>
                <a:moveTo>
                  <a:pt x="66236" y="40317"/>
                </a:moveTo>
                <a:cubicBezTo>
                  <a:pt x="51909" y="40317"/>
                  <a:pt x="40317" y="51909"/>
                  <a:pt x="40317" y="66236"/>
                </a:cubicBezTo>
                <a:cubicBezTo>
                  <a:pt x="40317" y="71024"/>
                  <a:pt x="36466" y="74875"/>
                  <a:pt x="31678" y="74875"/>
                </a:cubicBezTo>
                <a:cubicBezTo>
                  <a:pt x="26890" y="74875"/>
                  <a:pt x="23039" y="71024"/>
                  <a:pt x="23039" y="66236"/>
                </a:cubicBezTo>
                <a:cubicBezTo>
                  <a:pt x="23039" y="42369"/>
                  <a:pt x="42369" y="23039"/>
                  <a:pt x="66236" y="23039"/>
                </a:cubicBezTo>
                <a:cubicBezTo>
                  <a:pt x="71024" y="23039"/>
                  <a:pt x="74875" y="26890"/>
                  <a:pt x="74875" y="31678"/>
                </a:cubicBezTo>
                <a:cubicBezTo>
                  <a:pt x="74875" y="36466"/>
                  <a:pt x="71024" y="40317"/>
                  <a:pt x="66236" y="40317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6249" y="5225143"/>
            <a:ext cx="829388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5279" y="5593760"/>
            <a:ext cx="3612444" cy="737234"/>
          </a:xfrm>
          <a:custGeom>
            <a:avLst/>
            <a:gdLst/>
            <a:ahLst/>
            <a:cxnLst/>
            <a:rect l="l" t="t" r="r" b="b"/>
            <a:pathLst>
              <a:path w="3612444" h="737234">
                <a:moveTo>
                  <a:pt x="73723" y="0"/>
                </a:moveTo>
                <a:lnTo>
                  <a:pt x="3538721" y="0"/>
                </a:lnTo>
                <a:cubicBezTo>
                  <a:pt x="3579437" y="0"/>
                  <a:pt x="3612444" y="33007"/>
                  <a:pt x="3612444" y="73723"/>
                </a:cubicBezTo>
                <a:lnTo>
                  <a:pt x="3612444" y="663510"/>
                </a:lnTo>
                <a:cubicBezTo>
                  <a:pt x="3612444" y="704226"/>
                  <a:pt x="3579437" y="737234"/>
                  <a:pt x="3538721" y="737234"/>
                </a:cubicBezTo>
                <a:lnTo>
                  <a:pt x="73723" y="737234"/>
                </a:lnTo>
                <a:cubicBezTo>
                  <a:pt x="33007" y="737234"/>
                  <a:pt x="0" y="704226"/>
                  <a:pt x="0" y="663510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5864" y="5704345"/>
            <a:ext cx="276463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5768" y="5722776"/>
            <a:ext cx="110585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识别可复用片段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5864" y="6036100"/>
            <a:ext cx="345578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 token 序列,识别已缓存的文档片段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87186" y="5593760"/>
            <a:ext cx="3612444" cy="737234"/>
          </a:xfrm>
          <a:custGeom>
            <a:avLst/>
            <a:gdLst/>
            <a:ahLst/>
            <a:cxnLst/>
            <a:rect l="l" t="t" r="r" b="b"/>
            <a:pathLst>
              <a:path w="3612444" h="737234">
                <a:moveTo>
                  <a:pt x="73723" y="0"/>
                </a:moveTo>
                <a:lnTo>
                  <a:pt x="3538721" y="0"/>
                </a:lnTo>
                <a:cubicBezTo>
                  <a:pt x="3579437" y="0"/>
                  <a:pt x="3612444" y="33007"/>
                  <a:pt x="3612444" y="73723"/>
                </a:cubicBezTo>
                <a:lnTo>
                  <a:pt x="3612444" y="663510"/>
                </a:lnTo>
                <a:cubicBezTo>
                  <a:pt x="3612444" y="704226"/>
                  <a:pt x="3579437" y="737234"/>
                  <a:pt x="3538721" y="737234"/>
                </a:cubicBezTo>
                <a:lnTo>
                  <a:pt x="73723" y="737234"/>
                </a:lnTo>
                <a:cubicBezTo>
                  <a:pt x="33007" y="737234"/>
                  <a:pt x="0" y="704226"/>
                  <a:pt x="0" y="663510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397771" y="5704345"/>
            <a:ext cx="31332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92664" y="5722776"/>
            <a:ext cx="81095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选择性重算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397771" y="6036100"/>
            <a:ext cx="345578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仅重算受位置变化影响的 Attention 部分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49093" y="5593760"/>
            <a:ext cx="3612444" cy="737234"/>
          </a:xfrm>
          <a:custGeom>
            <a:avLst/>
            <a:gdLst/>
            <a:ahLst/>
            <a:cxnLst/>
            <a:rect l="l" t="t" r="r" b="b"/>
            <a:pathLst>
              <a:path w="3612444" h="737234">
                <a:moveTo>
                  <a:pt x="73723" y="0"/>
                </a:moveTo>
                <a:lnTo>
                  <a:pt x="3538721" y="0"/>
                </a:lnTo>
                <a:cubicBezTo>
                  <a:pt x="3579437" y="0"/>
                  <a:pt x="3612444" y="33007"/>
                  <a:pt x="3612444" y="73723"/>
                </a:cubicBezTo>
                <a:lnTo>
                  <a:pt x="3612444" y="663510"/>
                </a:lnTo>
                <a:cubicBezTo>
                  <a:pt x="3612444" y="704226"/>
                  <a:pt x="3579437" y="737234"/>
                  <a:pt x="3538721" y="737234"/>
                </a:cubicBezTo>
                <a:lnTo>
                  <a:pt x="73723" y="737234"/>
                </a:lnTo>
                <a:cubicBezTo>
                  <a:pt x="33007" y="737234"/>
                  <a:pt x="0" y="704226"/>
                  <a:pt x="0" y="663510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159678" y="5704345"/>
            <a:ext cx="31332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54571" y="5722776"/>
            <a:ext cx="66351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动态权衡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59678" y="6036100"/>
            <a:ext cx="345578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根据复用收益和重算开销动态决策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654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kern="0" spc="55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TECHNOLOGY SELECTION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626570"/>
            <a:ext cx="11652454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技术选型建议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2445" y="1118253"/>
            <a:ext cx="5665233" cy="2288719"/>
          </a:xfrm>
          <a:custGeom>
            <a:avLst/>
            <a:gdLst/>
            <a:ahLst/>
            <a:cxnLst/>
            <a:rect l="l" t="t" r="r" b="b"/>
            <a:pathLst>
              <a:path w="5665233" h="2288719">
                <a:moveTo>
                  <a:pt x="69623" y="0"/>
                </a:moveTo>
                <a:lnTo>
                  <a:pt x="5595611" y="0"/>
                </a:lnTo>
                <a:cubicBezTo>
                  <a:pt x="5634062" y="0"/>
                  <a:pt x="5665233" y="31171"/>
                  <a:pt x="5665233" y="69623"/>
                </a:cubicBezTo>
                <a:lnTo>
                  <a:pt x="5665233" y="2219097"/>
                </a:lnTo>
                <a:cubicBezTo>
                  <a:pt x="5665233" y="2257548"/>
                  <a:pt x="5634062" y="2288719"/>
                  <a:pt x="5595611" y="2288719"/>
                </a:cubicBezTo>
                <a:lnTo>
                  <a:pt x="69623" y="2288719"/>
                </a:lnTo>
                <a:cubicBezTo>
                  <a:pt x="31171" y="2288719"/>
                  <a:pt x="0" y="2257548"/>
                  <a:pt x="0" y="2219097"/>
                </a:cubicBezTo>
                <a:lnTo>
                  <a:pt x="0" y="69623"/>
                </a:lnTo>
                <a:cubicBezTo>
                  <a:pt x="0" y="31197"/>
                  <a:pt x="31197" y="0"/>
                  <a:pt x="69623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96034" y="1261842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28745" y="1383675"/>
            <a:ext cx="152291" cy="174047"/>
          </a:xfrm>
          <a:custGeom>
            <a:avLst/>
            <a:gdLst/>
            <a:ahLst/>
            <a:cxnLst/>
            <a:rect l="l" t="t" r="r" b="b"/>
            <a:pathLst>
              <a:path w="152291" h="174047">
                <a:moveTo>
                  <a:pt x="21756" y="10878"/>
                </a:moveTo>
                <a:cubicBezTo>
                  <a:pt x="9756" y="10878"/>
                  <a:pt x="0" y="20634"/>
                  <a:pt x="0" y="32634"/>
                </a:cubicBezTo>
                <a:lnTo>
                  <a:pt x="0" y="54390"/>
                </a:lnTo>
                <a:cubicBezTo>
                  <a:pt x="0" y="66389"/>
                  <a:pt x="9756" y="76146"/>
                  <a:pt x="21756" y="76146"/>
                </a:cubicBezTo>
                <a:lnTo>
                  <a:pt x="130535" y="76146"/>
                </a:lnTo>
                <a:cubicBezTo>
                  <a:pt x="142535" y="76146"/>
                  <a:pt x="152291" y="66389"/>
                  <a:pt x="152291" y="54390"/>
                </a:cubicBezTo>
                <a:lnTo>
                  <a:pt x="152291" y="32634"/>
                </a:lnTo>
                <a:cubicBezTo>
                  <a:pt x="152291" y="20634"/>
                  <a:pt x="142535" y="10878"/>
                  <a:pt x="130535" y="10878"/>
                </a:cubicBezTo>
                <a:lnTo>
                  <a:pt x="21756" y="10878"/>
                </a:lnTo>
                <a:close/>
                <a:moveTo>
                  <a:pt x="95182" y="35353"/>
                </a:moveTo>
                <a:cubicBezTo>
                  <a:pt x="99685" y="35353"/>
                  <a:pt x="103340" y="39009"/>
                  <a:pt x="103340" y="43512"/>
                </a:cubicBezTo>
                <a:cubicBezTo>
                  <a:pt x="103340" y="48015"/>
                  <a:pt x="99685" y="51670"/>
                  <a:pt x="95182" y="51670"/>
                </a:cubicBezTo>
                <a:cubicBezTo>
                  <a:pt x="90679" y="51670"/>
                  <a:pt x="87024" y="48015"/>
                  <a:pt x="87024" y="43512"/>
                </a:cubicBezTo>
                <a:cubicBezTo>
                  <a:pt x="87024" y="39009"/>
                  <a:pt x="90679" y="35353"/>
                  <a:pt x="95182" y="35353"/>
                </a:cubicBezTo>
                <a:close/>
                <a:moveTo>
                  <a:pt x="114218" y="43512"/>
                </a:moveTo>
                <a:cubicBezTo>
                  <a:pt x="114218" y="39009"/>
                  <a:pt x="117874" y="35353"/>
                  <a:pt x="122377" y="35353"/>
                </a:cubicBezTo>
                <a:cubicBezTo>
                  <a:pt x="126880" y="35353"/>
                  <a:pt x="130535" y="39009"/>
                  <a:pt x="130535" y="43512"/>
                </a:cubicBezTo>
                <a:cubicBezTo>
                  <a:pt x="130535" y="48015"/>
                  <a:pt x="126880" y="51670"/>
                  <a:pt x="122377" y="51670"/>
                </a:cubicBezTo>
                <a:cubicBezTo>
                  <a:pt x="117874" y="51670"/>
                  <a:pt x="114218" y="48015"/>
                  <a:pt x="114218" y="43512"/>
                </a:cubicBezTo>
                <a:close/>
                <a:moveTo>
                  <a:pt x="21756" y="97901"/>
                </a:moveTo>
                <a:cubicBezTo>
                  <a:pt x="9756" y="97901"/>
                  <a:pt x="0" y="107658"/>
                  <a:pt x="0" y="119657"/>
                </a:cubicBezTo>
                <a:lnTo>
                  <a:pt x="0" y="141413"/>
                </a:lnTo>
                <a:cubicBezTo>
                  <a:pt x="0" y="153413"/>
                  <a:pt x="9756" y="163169"/>
                  <a:pt x="21756" y="163169"/>
                </a:cubicBezTo>
                <a:lnTo>
                  <a:pt x="130535" y="163169"/>
                </a:lnTo>
                <a:cubicBezTo>
                  <a:pt x="142535" y="163169"/>
                  <a:pt x="152291" y="153413"/>
                  <a:pt x="152291" y="141413"/>
                </a:cubicBezTo>
                <a:lnTo>
                  <a:pt x="152291" y="119657"/>
                </a:lnTo>
                <a:cubicBezTo>
                  <a:pt x="152291" y="107658"/>
                  <a:pt x="142535" y="97901"/>
                  <a:pt x="130535" y="97901"/>
                </a:cubicBezTo>
                <a:lnTo>
                  <a:pt x="21756" y="97901"/>
                </a:lnTo>
                <a:close/>
                <a:moveTo>
                  <a:pt x="95182" y="122377"/>
                </a:moveTo>
                <a:cubicBezTo>
                  <a:pt x="99685" y="122377"/>
                  <a:pt x="103340" y="126033"/>
                  <a:pt x="103340" y="130535"/>
                </a:cubicBezTo>
                <a:cubicBezTo>
                  <a:pt x="103340" y="135038"/>
                  <a:pt x="99685" y="138694"/>
                  <a:pt x="95182" y="138694"/>
                </a:cubicBezTo>
                <a:cubicBezTo>
                  <a:pt x="90679" y="138694"/>
                  <a:pt x="87024" y="135038"/>
                  <a:pt x="87024" y="130535"/>
                </a:cubicBezTo>
                <a:cubicBezTo>
                  <a:pt x="87024" y="126033"/>
                  <a:pt x="90679" y="122377"/>
                  <a:pt x="95182" y="122377"/>
                </a:cubicBezTo>
                <a:close/>
                <a:moveTo>
                  <a:pt x="114218" y="130535"/>
                </a:moveTo>
                <a:cubicBezTo>
                  <a:pt x="114218" y="126033"/>
                  <a:pt x="117874" y="122377"/>
                  <a:pt x="122377" y="122377"/>
                </a:cubicBezTo>
                <a:cubicBezTo>
                  <a:pt x="126880" y="122377"/>
                  <a:pt x="130535" y="126033"/>
                  <a:pt x="130535" y="130535"/>
                </a:cubicBezTo>
                <a:cubicBezTo>
                  <a:pt x="130535" y="135038"/>
                  <a:pt x="126880" y="138694"/>
                  <a:pt x="122377" y="138694"/>
                </a:cubicBezTo>
                <a:cubicBezTo>
                  <a:pt x="117874" y="138694"/>
                  <a:pt x="114218" y="135038"/>
                  <a:pt x="114218" y="130535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18176" y="1348865"/>
            <a:ext cx="147940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单实例、显存充足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0385" y="1788334"/>
            <a:ext cx="5369353" cy="704891"/>
          </a:xfrm>
          <a:custGeom>
            <a:avLst/>
            <a:gdLst/>
            <a:ahLst/>
            <a:cxnLst/>
            <a:rect l="l" t="t" r="r" b="b"/>
            <a:pathLst>
              <a:path w="5369353" h="704891">
                <a:moveTo>
                  <a:pt x="69622" y="0"/>
                </a:moveTo>
                <a:lnTo>
                  <a:pt x="5299731" y="0"/>
                </a:lnTo>
                <a:cubicBezTo>
                  <a:pt x="5338182" y="0"/>
                  <a:pt x="5369353" y="31171"/>
                  <a:pt x="5369353" y="69622"/>
                </a:cubicBezTo>
                <a:lnTo>
                  <a:pt x="5369353" y="635269"/>
                </a:lnTo>
                <a:cubicBezTo>
                  <a:pt x="5369353" y="673720"/>
                  <a:pt x="5338182" y="704891"/>
                  <a:pt x="5299731" y="704891"/>
                </a:cubicBezTo>
                <a:lnTo>
                  <a:pt x="69622" y="704891"/>
                </a:lnTo>
                <a:cubicBezTo>
                  <a:pt x="31171" y="704891"/>
                  <a:pt x="0" y="673720"/>
                  <a:pt x="0" y="635269"/>
                </a:cubicBezTo>
                <a:lnTo>
                  <a:pt x="0" y="69622"/>
                </a:lnTo>
                <a:cubicBezTo>
                  <a:pt x="0" y="31171"/>
                  <a:pt x="31171" y="0"/>
                  <a:pt x="69622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 w="12700">
            <a:solidFill>
              <a:srgbClr val="D9A46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09165" y="1897113"/>
            <a:ext cx="5230116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推荐方案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165" y="2175589"/>
            <a:ext cx="522141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APC(内置)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2141" y="2636814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39700" y="2602004"/>
            <a:ext cx="107039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配置简单,开箱即用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2141" y="2880480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9700" y="2845670"/>
            <a:ext cx="79191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无需额外依赖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2141" y="3124146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9700" y="3089336"/>
            <a:ext cx="54824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性能优秀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69426" y="1118253"/>
            <a:ext cx="5665233" cy="2288719"/>
          </a:xfrm>
          <a:custGeom>
            <a:avLst/>
            <a:gdLst/>
            <a:ahLst/>
            <a:cxnLst/>
            <a:rect l="l" t="t" r="r" b="b"/>
            <a:pathLst>
              <a:path w="5665233" h="2288719">
                <a:moveTo>
                  <a:pt x="69623" y="0"/>
                </a:moveTo>
                <a:lnTo>
                  <a:pt x="5595611" y="0"/>
                </a:lnTo>
                <a:cubicBezTo>
                  <a:pt x="5634062" y="0"/>
                  <a:pt x="5665233" y="31171"/>
                  <a:pt x="5665233" y="69623"/>
                </a:cubicBezTo>
                <a:lnTo>
                  <a:pt x="5665233" y="2219097"/>
                </a:lnTo>
                <a:cubicBezTo>
                  <a:pt x="5665233" y="2257548"/>
                  <a:pt x="5634062" y="2288719"/>
                  <a:pt x="5595611" y="2288719"/>
                </a:cubicBezTo>
                <a:lnTo>
                  <a:pt x="69623" y="2288719"/>
                </a:lnTo>
                <a:cubicBezTo>
                  <a:pt x="31171" y="2288719"/>
                  <a:pt x="0" y="2257548"/>
                  <a:pt x="0" y="2219097"/>
                </a:cubicBezTo>
                <a:lnTo>
                  <a:pt x="0" y="69623"/>
                </a:lnTo>
                <a:cubicBezTo>
                  <a:pt x="0" y="31197"/>
                  <a:pt x="31197" y="0"/>
                  <a:pt x="69623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313015" y="1261842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45726" y="1383675"/>
            <a:ext cx="152291" cy="174047"/>
          </a:xfrm>
          <a:custGeom>
            <a:avLst/>
            <a:gdLst/>
            <a:ahLst/>
            <a:cxnLst/>
            <a:rect l="l" t="t" r="r" b="b"/>
            <a:pathLst>
              <a:path w="152291" h="174047">
                <a:moveTo>
                  <a:pt x="57109" y="10878"/>
                </a:moveTo>
                <a:lnTo>
                  <a:pt x="8158" y="10878"/>
                </a:lnTo>
                <a:cubicBezTo>
                  <a:pt x="3637" y="10878"/>
                  <a:pt x="0" y="14515"/>
                  <a:pt x="0" y="19036"/>
                </a:cubicBezTo>
                <a:lnTo>
                  <a:pt x="0" y="67987"/>
                </a:lnTo>
                <a:cubicBezTo>
                  <a:pt x="0" y="71285"/>
                  <a:pt x="1972" y="74276"/>
                  <a:pt x="5031" y="75534"/>
                </a:cubicBezTo>
                <a:cubicBezTo>
                  <a:pt x="8090" y="76791"/>
                  <a:pt x="11592" y="76078"/>
                  <a:pt x="13937" y="73766"/>
                </a:cubicBezTo>
                <a:lnTo>
                  <a:pt x="27535" y="60169"/>
                </a:lnTo>
                <a:lnTo>
                  <a:pt x="54390" y="87024"/>
                </a:lnTo>
                <a:lnTo>
                  <a:pt x="27535" y="113878"/>
                </a:lnTo>
                <a:lnTo>
                  <a:pt x="13937" y="100281"/>
                </a:lnTo>
                <a:cubicBezTo>
                  <a:pt x="11592" y="97935"/>
                  <a:pt x="8090" y="97256"/>
                  <a:pt x="5031" y="98513"/>
                </a:cubicBezTo>
                <a:cubicBezTo>
                  <a:pt x="1972" y="99771"/>
                  <a:pt x="0" y="102763"/>
                  <a:pt x="0" y="106060"/>
                </a:cubicBezTo>
                <a:lnTo>
                  <a:pt x="0" y="155011"/>
                </a:lnTo>
                <a:cubicBezTo>
                  <a:pt x="0" y="159532"/>
                  <a:pt x="3637" y="163169"/>
                  <a:pt x="8158" y="163169"/>
                </a:cubicBezTo>
                <a:lnTo>
                  <a:pt x="57109" y="163169"/>
                </a:lnTo>
                <a:cubicBezTo>
                  <a:pt x="60407" y="163169"/>
                  <a:pt x="63398" y="161198"/>
                  <a:pt x="64656" y="158138"/>
                </a:cubicBezTo>
                <a:cubicBezTo>
                  <a:pt x="65914" y="155079"/>
                  <a:pt x="65234" y="151577"/>
                  <a:pt x="62888" y="149232"/>
                </a:cubicBezTo>
                <a:lnTo>
                  <a:pt x="49291" y="135634"/>
                </a:lnTo>
                <a:lnTo>
                  <a:pt x="76146" y="108779"/>
                </a:lnTo>
                <a:lnTo>
                  <a:pt x="103001" y="135634"/>
                </a:lnTo>
                <a:lnTo>
                  <a:pt x="89403" y="149232"/>
                </a:lnTo>
                <a:cubicBezTo>
                  <a:pt x="87058" y="151577"/>
                  <a:pt x="86378" y="155079"/>
                  <a:pt x="87635" y="158138"/>
                </a:cubicBezTo>
                <a:cubicBezTo>
                  <a:pt x="88893" y="161198"/>
                  <a:pt x="91885" y="163169"/>
                  <a:pt x="95182" y="163169"/>
                </a:cubicBezTo>
                <a:lnTo>
                  <a:pt x="144133" y="163169"/>
                </a:lnTo>
                <a:cubicBezTo>
                  <a:pt x="148654" y="163169"/>
                  <a:pt x="152291" y="159532"/>
                  <a:pt x="152291" y="155011"/>
                </a:cubicBezTo>
                <a:lnTo>
                  <a:pt x="152291" y="106060"/>
                </a:lnTo>
                <a:cubicBezTo>
                  <a:pt x="152291" y="102763"/>
                  <a:pt x="150320" y="99771"/>
                  <a:pt x="147260" y="98513"/>
                </a:cubicBezTo>
                <a:cubicBezTo>
                  <a:pt x="144201" y="97256"/>
                  <a:pt x="140699" y="97935"/>
                  <a:pt x="138354" y="100281"/>
                </a:cubicBezTo>
                <a:lnTo>
                  <a:pt x="124756" y="113878"/>
                </a:lnTo>
                <a:lnTo>
                  <a:pt x="97901" y="87024"/>
                </a:lnTo>
                <a:lnTo>
                  <a:pt x="124756" y="60169"/>
                </a:lnTo>
                <a:lnTo>
                  <a:pt x="138354" y="73766"/>
                </a:lnTo>
                <a:cubicBezTo>
                  <a:pt x="140699" y="76112"/>
                  <a:pt x="144201" y="76791"/>
                  <a:pt x="147260" y="75534"/>
                </a:cubicBezTo>
                <a:cubicBezTo>
                  <a:pt x="150320" y="74276"/>
                  <a:pt x="152291" y="71285"/>
                  <a:pt x="152291" y="67987"/>
                </a:cubicBezTo>
                <a:lnTo>
                  <a:pt x="152291" y="19036"/>
                </a:lnTo>
                <a:cubicBezTo>
                  <a:pt x="152291" y="14515"/>
                  <a:pt x="148654" y="10878"/>
                  <a:pt x="144133" y="10878"/>
                </a:cubicBezTo>
                <a:lnTo>
                  <a:pt x="95182" y="10878"/>
                </a:lnTo>
                <a:cubicBezTo>
                  <a:pt x="91885" y="10878"/>
                  <a:pt x="88893" y="12850"/>
                  <a:pt x="87635" y="15909"/>
                </a:cubicBezTo>
                <a:cubicBezTo>
                  <a:pt x="86378" y="18968"/>
                  <a:pt x="87092" y="22470"/>
                  <a:pt x="89403" y="24815"/>
                </a:cubicBezTo>
                <a:lnTo>
                  <a:pt x="103001" y="38413"/>
                </a:lnTo>
                <a:lnTo>
                  <a:pt x="76146" y="65268"/>
                </a:lnTo>
                <a:lnTo>
                  <a:pt x="49291" y="38413"/>
                </a:lnTo>
                <a:lnTo>
                  <a:pt x="62888" y="24815"/>
                </a:lnTo>
                <a:cubicBezTo>
                  <a:pt x="65234" y="22470"/>
                  <a:pt x="65914" y="18968"/>
                  <a:pt x="64656" y="15909"/>
                </a:cubicBezTo>
                <a:cubicBezTo>
                  <a:pt x="63398" y="12850"/>
                  <a:pt x="60407" y="10878"/>
                  <a:pt x="57109" y="10878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35156" y="1348865"/>
            <a:ext cx="147940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单实例、显存不足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17366" y="1788334"/>
            <a:ext cx="5369353" cy="704891"/>
          </a:xfrm>
          <a:custGeom>
            <a:avLst/>
            <a:gdLst/>
            <a:ahLst/>
            <a:cxnLst/>
            <a:rect l="l" t="t" r="r" b="b"/>
            <a:pathLst>
              <a:path w="5369353" h="704891">
                <a:moveTo>
                  <a:pt x="69622" y="0"/>
                </a:moveTo>
                <a:lnTo>
                  <a:pt x="5299731" y="0"/>
                </a:lnTo>
                <a:cubicBezTo>
                  <a:pt x="5338182" y="0"/>
                  <a:pt x="5369353" y="31171"/>
                  <a:pt x="5369353" y="69622"/>
                </a:cubicBezTo>
                <a:lnTo>
                  <a:pt x="5369353" y="635269"/>
                </a:lnTo>
                <a:cubicBezTo>
                  <a:pt x="5369353" y="673720"/>
                  <a:pt x="5338182" y="704891"/>
                  <a:pt x="5299731" y="704891"/>
                </a:cubicBezTo>
                <a:lnTo>
                  <a:pt x="69622" y="704891"/>
                </a:lnTo>
                <a:cubicBezTo>
                  <a:pt x="31171" y="704891"/>
                  <a:pt x="0" y="673720"/>
                  <a:pt x="0" y="635269"/>
                </a:cubicBezTo>
                <a:lnTo>
                  <a:pt x="0" y="69622"/>
                </a:lnTo>
                <a:cubicBezTo>
                  <a:pt x="0" y="31171"/>
                  <a:pt x="31171" y="0"/>
                  <a:pt x="69622" y="0"/>
                </a:cubicBezTo>
                <a:close/>
              </a:path>
            </a:pathLst>
          </a:custGeom>
          <a:solidFill>
            <a:srgbClr val="5C7A96">
              <a:alpha val="20000"/>
            </a:srgbClr>
          </a:solidFill>
          <a:ln w="12700">
            <a:solidFill>
              <a:srgbClr val="5C7A9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26146" y="1897113"/>
            <a:ext cx="5230116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5C7A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推荐方案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26146" y="2175589"/>
            <a:ext cx="522141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+ LMCache(CPU/磁盘扩展)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39122" y="2636814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556681" y="2602004"/>
            <a:ext cx="137497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扩展到 CPU 内存和磁盘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39122" y="2880480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556681" y="2845670"/>
            <a:ext cx="91374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更大的缓存容量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9122" y="3124146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56681" y="3089336"/>
            <a:ext cx="67008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持久化缓存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2445" y="3554912"/>
            <a:ext cx="5665233" cy="2288719"/>
          </a:xfrm>
          <a:custGeom>
            <a:avLst/>
            <a:gdLst/>
            <a:ahLst/>
            <a:cxnLst/>
            <a:rect l="l" t="t" r="r" b="b"/>
            <a:pathLst>
              <a:path w="5665233" h="2288719">
                <a:moveTo>
                  <a:pt x="69623" y="0"/>
                </a:moveTo>
                <a:lnTo>
                  <a:pt x="5595611" y="0"/>
                </a:lnTo>
                <a:cubicBezTo>
                  <a:pt x="5634062" y="0"/>
                  <a:pt x="5665233" y="31171"/>
                  <a:pt x="5665233" y="69623"/>
                </a:cubicBezTo>
                <a:lnTo>
                  <a:pt x="5665233" y="2219097"/>
                </a:lnTo>
                <a:cubicBezTo>
                  <a:pt x="5665233" y="2257548"/>
                  <a:pt x="5634062" y="2288719"/>
                  <a:pt x="5595611" y="2288719"/>
                </a:cubicBezTo>
                <a:lnTo>
                  <a:pt x="69623" y="2288719"/>
                </a:lnTo>
                <a:cubicBezTo>
                  <a:pt x="31171" y="2288719"/>
                  <a:pt x="0" y="2257548"/>
                  <a:pt x="0" y="2219097"/>
                </a:cubicBezTo>
                <a:lnTo>
                  <a:pt x="0" y="69623"/>
                </a:lnTo>
                <a:cubicBezTo>
                  <a:pt x="0" y="31197"/>
                  <a:pt x="31197" y="0"/>
                  <a:pt x="69623" y="0"/>
                </a:cubicBezTo>
                <a:close/>
              </a:path>
            </a:pathLst>
          </a:custGeom>
          <a:solidFill>
            <a:srgbClr val="8E8E93">
              <a:alpha val="10196"/>
            </a:srgbClr>
          </a:solidFill>
          <a:ln w="12700">
            <a:solidFill>
              <a:srgbClr val="8E8E9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96034" y="3698501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8E8E9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06989" y="3820334"/>
            <a:ext cx="195803" cy="174047"/>
          </a:xfrm>
          <a:custGeom>
            <a:avLst/>
            <a:gdLst/>
            <a:ahLst/>
            <a:cxnLst/>
            <a:rect l="l" t="t" r="r" b="b"/>
            <a:pathLst>
              <a:path w="195803" h="174047">
                <a:moveTo>
                  <a:pt x="84304" y="29914"/>
                </a:moveTo>
                <a:lnTo>
                  <a:pt x="111499" y="29914"/>
                </a:lnTo>
                <a:lnTo>
                  <a:pt x="111499" y="46231"/>
                </a:lnTo>
                <a:lnTo>
                  <a:pt x="84304" y="46231"/>
                </a:lnTo>
                <a:lnTo>
                  <a:pt x="84304" y="29914"/>
                </a:lnTo>
                <a:close/>
                <a:moveTo>
                  <a:pt x="81585" y="10878"/>
                </a:moveTo>
                <a:cubicBezTo>
                  <a:pt x="72576" y="10878"/>
                  <a:pt x="65268" y="18187"/>
                  <a:pt x="65268" y="27195"/>
                </a:cubicBezTo>
                <a:lnTo>
                  <a:pt x="65268" y="48951"/>
                </a:lnTo>
                <a:cubicBezTo>
                  <a:pt x="65268" y="57959"/>
                  <a:pt x="72576" y="65268"/>
                  <a:pt x="81585" y="65268"/>
                </a:cubicBezTo>
                <a:lnTo>
                  <a:pt x="87024" y="65268"/>
                </a:lnTo>
                <a:lnTo>
                  <a:pt x="87024" y="76146"/>
                </a:lnTo>
                <a:lnTo>
                  <a:pt x="10878" y="76146"/>
                </a:lnTo>
                <a:cubicBezTo>
                  <a:pt x="4861" y="76146"/>
                  <a:pt x="0" y="81007"/>
                  <a:pt x="0" y="87024"/>
                </a:cubicBezTo>
                <a:cubicBezTo>
                  <a:pt x="0" y="93040"/>
                  <a:pt x="4861" y="97901"/>
                  <a:pt x="10878" y="97901"/>
                </a:cubicBezTo>
                <a:lnTo>
                  <a:pt x="43512" y="97901"/>
                </a:lnTo>
                <a:lnTo>
                  <a:pt x="43512" y="108779"/>
                </a:lnTo>
                <a:lnTo>
                  <a:pt x="38073" y="108779"/>
                </a:lnTo>
                <a:cubicBezTo>
                  <a:pt x="29065" y="108779"/>
                  <a:pt x="21756" y="116088"/>
                  <a:pt x="21756" y="125096"/>
                </a:cubicBezTo>
                <a:lnTo>
                  <a:pt x="21756" y="146852"/>
                </a:lnTo>
                <a:cubicBezTo>
                  <a:pt x="21756" y="155861"/>
                  <a:pt x="29065" y="163169"/>
                  <a:pt x="38073" y="163169"/>
                </a:cubicBezTo>
                <a:lnTo>
                  <a:pt x="70707" y="163169"/>
                </a:lnTo>
                <a:cubicBezTo>
                  <a:pt x="79715" y="163169"/>
                  <a:pt x="87024" y="155861"/>
                  <a:pt x="87024" y="146852"/>
                </a:cubicBezTo>
                <a:lnTo>
                  <a:pt x="87024" y="125096"/>
                </a:lnTo>
                <a:cubicBezTo>
                  <a:pt x="87024" y="116088"/>
                  <a:pt x="79715" y="108779"/>
                  <a:pt x="70707" y="108779"/>
                </a:cubicBezTo>
                <a:lnTo>
                  <a:pt x="65268" y="108779"/>
                </a:lnTo>
                <a:lnTo>
                  <a:pt x="65268" y="97901"/>
                </a:lnTo>
                <a:lnTo>
                  <a:pt x="130535" y="97901"/>
                </a:lnTo>
                <a:lnTo>
                  <a:pt x="130535" y="108779"/>
                </a:lnTo>
                <a:lnTo>
                  <a:pt x="125096" y="108779"/>
                </a:lnTo>
                <a:cubicBezTo>
                  <a:pt x="116088" y="108779"/>
                  <a:pt x="108779" y="116088"/>
                  <a:pt x="108779" y="125096"/>
                </a:cubicBezTo>
                <a:lnTo>
                  <a:pt x="108779" y="146852"/>
                </a:lnTo>
                <a:cubicBezTo>
                  <a:pt x="108779" y="155861"/>
                  <a:pt x="116088" y="163169"/>
                  <a:pt x="125096" y="163169"/>
                </a:cubicBezTo>
                <a:lnTo>
                  <a:pt x="157730" y="163169"/>
                </a:lnTo>
                <a:cubicBezTo>
                  <a:pt x="166738" y="163169"/>
                  <a:pt x="174047" y="155861"/>
                  <a:pt x="174047" y="146852"/>
                </a:cubicBezTo>
                <a:lnTo>
                  <a:pt x="174047" y="125096"/>
                </a:lnTo>
                <a:cubicBezTo>
                  <a:pt x="174047" y="116088"/>
                  <a:pt x="166738" y="108779"/>
                  <a:pt x="157730" y="108779"/>
                </a:cubicBezTo>
                <a:lnTo>
                  <a:pt x="152291" y="108779"/>
                </a:lnTo>
                <a:lnTo>
                  <a:pt x="152291" y="97901"/>
                </a:lnTo>
                <a:lnTo>
                  <a:pt x="184925" y="97901"/>
                </a:lnTo>
                <a:cubicBezTo>
                  <a:pt x="190942" y="97901"/>
                  <a:pt x="195803" y="93040"/>
                  <a:pt x="195803" y="87024"/>
                </a:cubicBezTo>
                <a:cubicBezTo>
                  <a:pt x="195803" y="81007"/>
                  <a:pt x="190942" y="76146"/>
                  <a:pt x="184925" y="76146"/>
                </a:cubicBezTo>
                <a:lnTo>
                  <a:pt x="108779" y="76146"/>
                </a:lnTo>
                <a:lnTo>
                  <a:pt x="108779" y="65268"/>
                </a:lnTo>
                <a:lnTo>
                  <a:pt x="114218" y="65268"/>
                </a:lnTo>
                <a:cubicBezTo>
                  <a:pt x="123227" y="65268"/>
                  <a:pt x="130535" y="57959"/>
                  <a:pt x="130535" y="48951"/>
                </a:cubicBezTo>
                <a:lnTo>
                  <a:pt x="130535" y="27195"/>
                </a:lnTo>
                <a:cubicBezTo>
                  <a:pt x="130535" y="18187"/>
                  <a:pt x="123227" y="10878"/>
                  <a:pt x="114218" y="10878"/>
                </a:cubicBezTo>
                <a:lnTo>
                  <a:pt x="81585" y="10878"/>
                </a:lnTo>
                <a:close/>
                <a:moveTo>
                  <a:pt x="152291" y="127816"/>
                </a:moveTo>
                <a:lnTo>
                  <a:pt x="155011" y="127816"/>
                </a:lnTo>
                <a:lnTo>
                  <a:pt x="155011" y="144133"/>
                </a:lnTo>
                <a:lnTo>
                  <a:pt x="127816" y="144133"/>
                </a:lnTo>
                <a:lnTo>
                  <a:pt x="127816" y="127816"/>
                </a:lnTo>
                <a:lnTo>
                  <a:pt x="152291" y="127816"/>
                </a:lnTo>
                <a:close/>
                <a:moveTo>
                  <a:pt x="65268" y="127816"/>
                </a:moveTo>
                <a:lnTo>
                  <a:pt x="67987" y="127816"/>
                </a:lnTo>
                <a:lnTo>
                  <a:pt x="67987" y="144133"/>
                </a:lnTo>
                <a:lnTo>
                  <a:pt x="40792" y="144133"/>
                </a:lnTo>
                <a:lnTo>
                  <a:pt x="40792" y="127816"/>
                </a:lnTo>
                <a:lnTo>
                  <a:pt x="65268" y="127816"/>
                </a:lnTo>
                <a:close/>
              </a:path>
            </a:pathLst>
          </a:custGeom>
          <a:solidFill>
            <a:srgbClr val="8E8E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18176" y="3785525"/>
            <a:ext cx="147940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多实例、需要共享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0385" y="4224994"/>
            <a:ext cx="5369353" cy="704891"/>
          </a:xfrm>
          <a:custGeom>
            <a:avLst/>
            <a:gdLst/>
            <a:ahLst/>
            <a:cxnLst/>
            <a:rect l="l" t="t" r="r" b="b"/>
            <a:pathLst>
              <a:path w="5369353" h="704891">
                <a:moveTo>
                  <a:pt x="69622" y="0"/>
                </a:moveTo>
                <a:lnTo>
                  <a:pt x="5299731" y="0"/>
                </a:lnTo>
                <a:cubicBezTo>
                  <a:pt x="5338182" y="0"/>
                  <a:pt x="5369353" y="31171"/>
                  <a:pt x="5369353" y="69622"/>
                </a:cubicBezTo>
                <a:lnTo>
                  <a:pt x="5369353" y="635269"/>
                </a:lnTo>
                <a:cubicBezTo>
                  <a:pt x="5369353" y="673720"/>
                  <a:pt x="5338182" y="704891"/>
                  <a:pt x="5299731" y="704891"/>
                </a:cubicBezTo>
                <a:lnTo>
                  <a:pt x="69622" y="704891"/>
                </a:lnTo>
                <a:cubicBezTo>
                  <a:pt x="31171" y="704891"/>
                  <a:pt x="0" y="673720"/>
                  <a:pt x="0" y="635269"/>
                </a:cubicBezTo>
                <a:lnTo>
                  <a:pt x="0" y="69622"/>
                </a:lnTo>
                <a:cubicBezTo>
                  <a:pt x="0" y="31171"/>
                  <a:pt x="31171" y="0"/>
                  <a:pt x="69622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 w="12700">
            <a:solidFill>
              <a:srgbClr val="D9A46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09165" y="4333773"/>
            <a:ext cx="5230116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推荐方案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9165" y="4612248"/>
            <a:ext cx="522141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+ LMCache(P2P 或 Server 模式)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2141" y="5073473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39700" y="5038664"/>
            <a:ext cx="91374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跨实例缓存共享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2141" y="5317139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39700" y="5282330"/>
            <a:ext cx="162734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P2P 低延迟或 Server 易管理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22141" y="5560805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39700" y="5525996"/>
            <a:ext cx="79191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避免重复计算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9426" y="3554912"/>
            <a:ext cx="5665233" cy="2288719"/>
          </a:xfrm>
          <a:custGeom>
            <a:avLst/>
            <a:gdLst/>
            <a:ahLst/>
            <a:cxnLst/>
            <a:rect l="l" t="t" r="r" b="b"/>
            <a:pathLst>
              <a:path w="5665233" h="2288719">
                <a:moveTo>
                  <a:pt x="69623" y="0"/>
                </a:moveTo>
                <a:lnTo>
                  <a:pt x="5595611" y="0"/>
                </a:lnTo>
                <a:cubicBezTo>
                  <a:pt x="5634062" y="0"/>
                  <a:pt x="5665233" y="31171"/>
                  <a:pt x="5665233" y="69623"/>
                </a:cubicBezTo>
                <a:lnTo>
                  <a:pt x="5665233" y="2219097"/>
                </a:lnTo>
                <a:cubicBezTo>
                  <a:pt x="5665233" y="2257548"/>
                  <a:pt x="5634062" y="2288719"/>
                  <a:pt x="5595611" y="2288719"/>
                </a:cubicBezTo>
                <a:lnTo>
                  <a:pt x="69623" y="2288719"/>
                </a:lnTo>
                <a:cubicBezTo>
                  <a:pt x="31171" y="2288719"/>
                  <a:pt x="0" y="2257548"/>
                  <a:pt x="0" y="2219097"/>
                </a:cubicBezTo>
                <a:lnTo>
                  <a:pt x="0" y="69623"/>
                </a:lnTo>
                <a:cubicBezTo>
                  <a:pt x="0" y="31197"/>
                  <a:pt x="31197" y="0"/>
                  <a:pt x="69623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313015" y="3698501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434848" y="3820334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87024" y="0"/>
                </a:moveTo>
                <a:cubicBezTo>
                  <a:pt x="88587" y="0"/>
                  <a:pt x="90151" y="340"/>
                  <a:pt x="91579" y="986"/>
                </a:cubicBezTo>
                <a:lnTo>
                  <a:pt x="155623" y="28147"/>
                </a:lnTo>
                <a:cubicBezTo>
                  <a:pt x="163101" y="31308"/>
                  <a:pt x="168676" y="38685"/>
                  <a:pt x="168642" y="47591"/>
                </a:cubicBezTo>
                <a:cubicBezTo>
                  <a:pt x="168472" y="81313"/>
                  <a:pt x="154603" y="143011"/>
                  <a:pt x="96032" y="171056"/>
                </a:cubicBezTo>
                <a:cubicBezTo>
                  <a:pt x="90355" y="173775"/>
                  <a:pt x="83760" y="173775"/>
                  <a:pt x="78083" y="171056"/>
                </a:cubicBezTo>
                <a:cubicBezTo>
                  <a:pt x="19478" y="143011"/>
                  <a:pt x="5643" y="81313"/>
                  <a:pt x="5473" y="47591"/>
                </a:cubicBezTo>
                <a:cubicBezTo>
                  <a:pt x="5439" y="38685"/>
                  <a:pt x="11014" y="31308"/>
                  <a:pt x="18493" y="28147"/>
                </a:cubicBezTo>
                <a:lnTo>
                  <a:pt x="82502" y="986"/>
                </a:lnTo>
                <a:cubicBezTo>
                  <a:pt x="83930" y="340"/>
                  <a:pt x="85460" y="0"/>
                  <a:pt x="87024" y="0"/>
                </a:cubicBezTo>
                <a:close/>
                <a:moveTo>
                  <a:pt x="87024" y="22708"/>
                </a:moveTo>
                <a:lnTo>
                  <a:pt x="87024" y="151237"/>
                </a:lnTo>
                <a:cubicBezTo>
                  <a:pt x="133935" y="128530"/>
                  <a:pt x="146546" y="78219"/>
                  <a:pt x="146852" y="48101"/>
                </a:cubicBezTo>
                <a:lnTo>
                  <a:pt x="87024" y="22742"/>
                </a:lnTo>
                <a:lnTo>
                  <a:pt x="87024" y="22742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835156" y="3785525"/>
            <a:ext cx="1131306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生产级高可用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17366" y="4224994"/>
            <a:ext cx="5369353" cy="704891"/>
          </a:xfrm>
          <a:custGeom>
            <a:avLst/>
            <a:gdLst/>
            <a:ahLst/>
            <a:cxnLst/>
            <a:rect l="l" t="t" r="r" b="b"/>
            <a:pathLst>
              <a:path w="5369353" h="704891">
                <a:moveTo>
                  <a:pt x="69622" y="0"/>
                </a:moveTo>
                <a:lnTo>
                  <a:pt x="5299731" y="0"/>
                </a:lnTo>
                <a:cubicBezTo>
                  <a:pt x="5338182" y="0"/>
                  <a:pt x="5369353" y="31171"/>
                  <a:pt x="5369353" y="69622"/>
                </a:cubicBezTo>
                <a:lnTo>
                  <a:pt x="5369353" y="635269"/>
                </a:lnTo>
                <a:cubicBezTo>
                  <a:pt x="5369353" y="673720"/>
                  <a:pt x="5338182" y="704891"/>
                  <a:pt x="5299731" y="704891"/>
                </a:cubicBezTo>
                <a:lnTo>
                  <a:pt x="69622" y="704891"/>
                </a:lnTo>
                <a:cubicBezTo>
                  <a:pt x="31171" y="704891"/>
                  <a:pt x="0" y="673720"/>
                  <a:pt x="0" y="635269"/>
                </a:cubicBezTo>
                <a:lnTo>
                  <a:pt x="0" y="69622"/>
                </a:lnTo>
                <a:cubicBezTo>
                  <a:pt x="0" y="31171"/>
                  <a:pt x="31171" y="0"/>
                  <a:pt x="69622" y="0"/>
                </a:cubicBezTo>
                <a:close/>
              </a:path>
            </a:pathLst>
          </a:custGeom>
          <a:solidFill>
            <a:srgbClr val="8E8E93">
              <a:alpha val="20000"/>
            </a:srgbClr>
          </a:solidFill>
          <a:ln w="12700">
            <a:solidFill>
              <a:srgbClr val="8E8E9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426146" y="4333773"/>
            <a:ext cx="5230116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推荐方案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26146" y="4612248"/>
            <a:ext cx="522141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+ LMCache(Redis/Mooncake 后端)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9122" y="5073473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556681" y="5038664"/>
            <a:ext cx="91374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企业级存储后端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39122" y="5317139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556681" y="5282330"/>
            <a:ext cx="79191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高可用和容错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39122" y="5560805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118243" y="19064"/>
                </a:moveTo>
                <a:cubicBezTo>
                  <a:pt x="122132" y="21892"/>
                  <a:pt x="123002" y="27331"/>
                  <a:pt x="120174" y="31220"/>
                </a:cubicBezTo>
                <a:lnTo>
                  <a:pt x="50555" y="126946"/>
                </a:lnTo>
                <a:cubicBezTo>
                  <a:pt x="49060" y="129012"/>
                  <a:pt x="46748" y="130291"/>
                  <a:pt x="44192" y="130508"/>
                </a:cubicBezTo>
                <a:cubicBezTo>
                  <a:pt x="41635" y="130726"/>
                  <a:pt x="39161" y="129774"/>
                  <a:pt x="37366" y="127979"/>
                </a:cubicBezTo>
                <a:lnTo>
                  <a:pt x="2556" y="93170"/>
                </a:lnTo>
                <a:cubicBezTo>
                  <a:pt x="-843" y="89770"/>
                  <a:pt x="-843" y="84250"/>
                  <a:pt x="2556" y="80850"/>
                </a:cubicBezTo>
                <a:cubicBezTo>
                  <a:pt x="5956" y="77451"/>
                  <a:pt x="11476" y="77451"/>
                  <a:pt x="14876" y="80850"/>
                </a:cubicBezTo>
                <a:lnTo>
                  <a:pt x="42478" y="108453"/>
                </a:lnTo>
                <a:lnTo>
                  <a:pt x="106114" y="20967"/>
                </a:lnTo>
                <a:cubicBezTo>
                  <a:pt x="108943" y="17078"/>
                  <a:pt x="114382" y="16208"/>
                  <a:pt x="118270" y="1903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556681" y="5525996"/>
            <a:ext cx="79191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专业运维支持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52445" y="5991572"/>
            <a:ext cx="11487109" cy="513439"/>
          </a:xfrm>
          <a:custGeom>
            <a:avLst/>
            <a:gdLst/>
            <a:ahLst/>
            <a:cxnLst/>
            <a:rect l="l" t="t" r="r" b="b"/>
            <a:pathLst>
              <a:path w="11487109" h="513439">
                <a:moveTo>
                  <a:pt x="69617" y="0"/>
                </a:moveTo>
                <a:lnTo>
                  <a:pt x="11417492" y="0"/>
                </a:lnTo>
                <a:cubicBezTo>
                  <a:pt x="11455941" y="0"/>
                  <a:pt x="11487109" y="31169"/>
                  <a:pt x="11487109" y="69617"/>
                </a:cubicBezTo>
                <a:lnTo>
                  <a:pt x="11487109" y="443822"/>
                </a:lnTo>
                <a:cubicBezTo>
                  <a:pt x="11487109" y="482270"/>
                  <a:pt x="11455941" y="513439"/>
                  <a:pt x="11417492" y="513439"/>
                </a:cubicBezTo>
                <a:lnTo>
                  <a:pt x="69617" y="513439"/>
                </a:lnTo>
                <a:cubicBezTo>
                  <a:pt x="31169" y="513439"/>
                  <a:pt x="0" y="482270"/>
                  <a:pt x="0" y="443822"/>
                </a:cubicBezTo>
                <a:lnTo>
                  <a:pt x="0" y="69617"/>
                </a:lnTo>
                <a:cubicBezTo>
                  <a:pt x="0" y="31169"/>
                  <a:pt x="31169" y="0"/>
                  <a:pt x="69617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6">
                  <a:alpha val="20000"/>
                </a:srgbClr>
              </a:gs>
              <a:gs pos="100000">
                <a:srgbClr val="D9A467">
                  <a:alpha val="20000"/>
                </a:srgbClr>
              </a:gs>
            </a:gsLst>
            <a:lin ang="0" scaled="1"/>
          </a:gradFill>
          <a:ln w="12700">
            <a:solidFill>
              <a:srgbClr val="5C7A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517790" y="6161268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87024" y="174047"/>
                </a:moveTo>
                <a:cubicBezTo>
                  <a:pt x="135053" y="174047"/>
                  <a:pt x="174047" y="135053"/>
                  <a:pt x="174047" y="87024"/>
                </a:cubicBezTo>
                <a:cubicBezTo>
                  <a:pt x="174047" y="38994"/>
                  <a:pt x="135053" y="0"/>
                  <a:pt x="87024" y="0"/>
                </a:cubicBezTo>
                <a:cubicBezTo>
                  <a:pt x="38994" y="0"/>
                  <a:pt x="0" y="38994"/>
                  <a:pt x="0" y="87024"/>
                </a:cubicBezTo>
                <a:cubicBezTo>
                  <a:pt x="0" y="135053"/>
                  <a:pt x="38994" y="174047"/>
                  <a:pt x="87024" y="174047"/>
                </a:cubicBezTo>
                <a:close/>
                <a:moveTo>
                  <a:pt x="76146" y="54390"/>
                </a:moveTo>
                <a:cubicBezTo>
                  <a:pt x="76146" y="48386"/>
                  <a:pt x="81020" y="43512"/>
                  <a:pt x="87024" y="43512"/>
                </a:cubicBezTo>
                <a:cubicBezTo>
                  <a:pt x="93027" y="43512"/>
                  <a:pt x="97901" y="48386"/>
                  <a:pt x="97901" y="54390"/>
                </a:cubicBezTo>
                <a:cubicBezTo>
                  <a:pt x="97901" y="60393"/>
                  <a:pt x="93027" y="65268"/>
                  <a:pt x="87024" y="65268"/>
                </a:cubicBezTo>
                <a:cubicBezTo>
                  <a:pt x="81020" y="65268"/>
                  <a:pt x="76146" y="60393"/>
                  <a:pt x="76146" y="54390"/>
                </a:cubicBezTo>
                <a:close/>
                <a:moveTo>
                  <a:pt x="73426" y="76146"/>
                </a:moveTo>
                <a:lnTo>
                  <a:pt x="89743" y="76146"/>
                </a:lnTo>
                <a:cubicBezTo>
                  <a:pt x="94264" y="76146"/>
                  <a:pt x="97901" y="79783"/>
                  <a:pt x="97901" y="84304"/>
                </a:cubicBezTo>
                <a:lnTo>
                  <a:pt x="97901" y="114218"/>
                </a:lnTo>
                <a:lnTo>
                  <a:pt x="100621" y="114218"/>
                </a:lnTo>
                <a:cubicBezTo>
                  <a:pt x="105142" y="114218"/>
                  <a:pt x="108779" y="117856"/>
                  <a:pt x="108779" y="122377"/>
                </a:cubicBezTo>
                <a:cubicBezTo>
                  <a:pt x="108779" y="126898"/>
                  <a:pt x="105142" y="130535"/>
                  <a:pt x="100621" y="130535"/>
                </a:cubicBezTo>
                <a:lnTo>
                  <a:pt x="73426" y="130535"/>
                </a:lnTo>
                <a:cubicBezTo>
                  <a:pt x="68905" y="130535"/>
                  <a:pt x="65268" y="126898"/>
                  <a:pt x="65268" y="122377"/>
                </a:cubicBezTo>
                <a:cubicBezTo>
                  <a:pt x="65268" y="117856"/>
                  <a:pt x="68905" y="114218"/>
                  <a:pt x="73426" y="114218"/>
                </a:cubicBezTo>
                <a:lnTo>
                  <a:pt x="81585" y="114218"/>
                </a:lnTo>
                <a:lnTo>
                  <a:pt x="81585" y="92463"/>
                </a:lnTo>
                <a:lnTo>
                  <a:pt x="73426" y="92463"/>
                </a:lnTo>
                <a:cubicBezTo>
                  <a:pt x="68905" y="92463"/>
                  <a:pt x="65268" y="88825"/>
                  <a:pt x="65268" y="84304"/>
                </a:cubicBezTo>
                <a:cubicBezTo>
                  <a:pt x="65268" y="79783"/>
                  <a:pt x="68905" y="76146"/>
                  <a:pt x="73426" y="76146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18021" y="6135161"/>
            <a:ext cx="6918373" cy="226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b="1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选型原则：</a:t>
            </a:r>
            <a:r>
              <a:rPr lang="en-US" sz="1096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根据实际场景的需求(延迟、容量、成本、运维复杂度)选择最合适的方案,可以从小规模开始,逐步演进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62538" y="409575"/>
            <a:ext cx="2066925" cy="504825"/>
          </a:xfrm>
          <a:custGeom>
            <a:avLst/>
            <a:gdLst/>
            <a:ahLst/>
            <a:cxnLst/>
            <a:rect l="l" t="t" r="r" b="b"/>
            <a:pathLst>
              <a:path w="2066925" h="504825">
                <a:moveTo>
                  <a:pt x="76198" y="0"/>
                </a:moveTo>
                <a:lnTo>
                  <a:pt x="1990727" y="0"/>
                </a:lnTo>
                <a:cubicBezTo>
                  <a:pt x="2032810" y="0"/>
                  <a:pt x="2066925" y="34115"/>
                  <a:pt x="2066925" y="76198"/>
                </a:cubicBezTo>
                <a:lnTo>
                  <a:pt x="2066925" y="428627"/>
                </a:lnTo>
                <a:cubicBezTo>
                  <a:pt x="2066925" y="470710"/>
                  <a:pt x="2032810" y="504825"/>
                  <a:pt x="1990727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 w="12700">
            <a:solidFill>
              <a:srgbClr val="D9A46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253038" y="542925"/>
            <a:ext cx="1685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D9A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38625" y="1223963"/>
            <a:ext cx="3714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核心要点回顾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71650" y="2243138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Prefix Caching 通过缓存和复用重复前缀的 KV Cache,显著降低 Prefill 计算开销,实测 TTFT 降低 60%-95%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33563" y="3295650"/>
            <a:ext cx="4181475" cy="1228725"/>
          </a:xfrm>
          <a:custGeom>
            <a:avLst/>
            <a:gdLst/>
            <a:ahLst/>
            <a:cxnLst/>
            <a:rect l="l" t="t" r="r" b="b"/>
            <a:pathLst>
              <a:path w="4181475" h="1228725">
                <a:moveTo>
                  <a:pt x="76206" y="0"/>
                </a:moveTo>
                <a:lnTo>
                  <a:pt x="4105269" y="0"/>
                </a:lnTo>
                <a:cubicBezTo>
                  <a:pt x="4147357" y="0"/>
                  <a:pt x="4181475" y="34118"/>
                  <a:pt x="4181475" y="76206"/>
                </a:cubicBezTo>
                <a:lnTo>
                  <a:pt x="4181475" y="1152519"/>
                </a:lnTo>
                <a:cubicBezTo>
                  <a:pt x="4181475" y="1194607"/>
                  <a:pt x="4147357" y="1228725"/>
                  <a:pt x="410526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990725" y="3452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2104206" y="352901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486025" y="3509963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990725" y="3910013"/>
            <a:ext cx="3943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 token 序列产生相同 KV Cache,利用哈希索引实现高效查找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6963" y="3295650"/>
            <a:ext cx="4181475" cy="1228725"/>
          </a:xfrm>
          <a:custGeom>
            <a:avLst/>
            <a:gdLst/>
            <a:ahLst/>
            <a:cxnLst/>
            <a:rect l="l" t="t" r="r" b="b"/>
            <a:pathLst>
              <a:path w="4181475" h="1228725">
                <a:moveTo>
                  <a:pt x="76206" y="0"/>
                </a:moveTo>
                <a:lnTo>
                  <a:pt x="4105269" y="0"/>
                </a:lnTo>
                <a:cubicBezTo>
                  <a:pt x="4147357" y="0"/>
                  <a:pt x="4181475" y="34118"/>
                  <a:pt x="4181475" y="76206"/>
                </a:cubicBezTo>
                <a:lnTo>
                  <a:pt x="4181475" y="1152519"/>
                </a:lnTo>
                <a:cubicBezTo>
                  <a:pt x="4181475" y="1194607"/>
                  <a:pt x="4147357" y="1228725"/>
                  <a:pt x="410526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5C7A96">
              <a:alpha val="10196"/>
            </a:srgbClr>
          </a:solidFill>
          <a:ln w="12700">
            <a:solidFill>
              <a:srgbClr val="5C7A9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6334125" y="3452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433170" y="3529013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29425" y="3509963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 APC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34125" y="3910013"/>
            <a:ext cx="3943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GPU 显存内的自动前缀缓存,以 Block 为粒度,使用哈希链确保正确性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833563" y="4686300"/>
            <a:ext cx="4181475" cy="1228725"/>
          </a:xfrm>
          <a:custGeom>
            <a:avLst/>
            <a:gdLst/>
            <a:ahLst/>
            <a:cxnLst/>
            <a:rect l="l" t="t" r="r" b="b"/>
            <a:pathLst>
              <a:path w="4181475" h="1228725">
                <a:moveTo>
                  <a:pt x="76206" y="0"/>
                </a:moveTo>
                <a:lnTo>
                  <a:pt x="4105269" y="0"/>
                </a:lnTo>
                <a:cubicBezTo>
                  <a:pt x="4147357" y="0"/>
                  <a:pt x="4181475" y="34118"/>
                  <a:pt x="4181475" y="76206"/>
                </a:cubicBezTo>
                <a:lnTo>
                  <a:pt x="4181475" y="1152519"/>
                </a:lnTo>
                <a:cubicBezTo>
                  <a:pt x="4181475" y="1194607"/>
                  <a:pt x="4147357" y="1228725"/>
                  <a:pt x="410526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1990725" y="48434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2089770" y="4919663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486025" y="4900613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LMCache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990725" y="5300663"/>
            <a:ext cx="3943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多级存储 + 跨实例共享,将 Prefix Caching 扩展到 CPU/磁盘/远程存储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76963" y="4686300"/>
            <a:ext cx="4181475" cy="1228725"/>
          </a:xfrm>
          <a:custGeom>
            <a:avLst/>
            <a:gdLst/>
            <a:ahLst/>
            <a:cxnLst/>
            <a:rect l="l" t="t" r="r" b="b"/>
            <a:pathLst>
              <a:path w="4181475" h="1228725">
                <a:moveTo>
                  <a:pt x="76206" y="0"/>
                </a:moveTo>
                <a:lnTo>
                  <a:pt x="4105269" y="0"/>
                </a:lnTo>
                <a:cubicBezTo>
                  <a:pt x="4147357" y="0"/>
                  <a:pt x="4181475" y="34118"/>
                  <a:pt x="4181475" y="76206"/>
                </a:cubicBezTo>
                <a:lnTo>
                  <a:pt x="4181475" y="1152519"/>
                </a:lnTo>
                <a:cubicBezTo>
                  <a:pt x="4181475" y="1194607"/>
                  <a:pt x="4147357" y="1228725"/>
                  <a:pt x="410526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 w="12700">
            <a:solidFill>
              <a:srgbClr val="D9A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6334125" y="48434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6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6433170" y="4919663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A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29425" y="4900613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34125" y="5300663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多轮对话、RAG、长文档处理、共享 System Prompt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505721" y="62626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3715271" y="6224588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16.5× 理论加速比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190232" y="62626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5399782" y="6224588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60%-95% TTFT 降低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216453" y="62626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D9A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7426003" y="6224588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E8E9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2-10× 吞吐量提升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2482</Words>
  <Application>Microsoft Macintosh PowerPoint</Application>
  <PresentationFormat>宽屏</PresentationFormat>
  <Paragraphs>749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6" baseType="lpstr">
      <vt:lpstr>Arial</vt:lpstr>
      <vt:lpstr>MiSans</vt:lpstr>
      <vt:lpstr>Noto Sans SC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Prefix Caching 技术详解</dc:title>
  <dc:subject>Prefix Caching 技术详解</dc:subject>
  <dc:creator>Kimi</dc:creator>
  <cp:lastModifiedBy>王 天青</cp:lastModifiedBy>
  <cp:revision>2</cp:revision>
  <dcterms:created xsi:type="dcterms:W3CDTF">2026-04-08T03:56:07Z</dcterms:created>
  <dcterms:modified xsi:type="dcterms:W3CDTF">2026-04-08T03:58:46Z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{"Label":"Prefix Caching 技术详解","ContentProducer":"001191110108MACG2KBH8F10000","ProduceID":"19d6b2d9-4c62-868f-8000-000011e53021","ReservedCode1":"","ContentPropagator":"001191110108MACG2KBH8F20000","PropagateID":"19d6b2d9-4c62-868f-8000-000011e53021","ReservedCode2":""}</vt:lpwstr>
  </property>
</Properties>
</file>